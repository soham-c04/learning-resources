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72" r:id="rId10"/>
    <p:sldId id="274" r:id="rId11"/>
    <p:sldId id="275" r:id="rId12"/>
    <p:sldId id="276" r:id="rId13"/>
    <p:sldId id="273" r:id="rId14"/>
    <p:sldId id="265" r:id="rId15"/>
    <p:sldId id="266" r:id="rId16"/>
    <p:sldId id="267" r:id="rId17"/>
    <p:sldId id="277" r:id="rId18"/>
    <p:sldId id="282"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ham Chakraborty" userId="364f2e957466cda3" providerId="LiveId" clId="{6924BA47-10B4-462B-A3F1-8C7A51DB4D71}"/>
    <pc:docChg chg="modSld">
      <pc:chgData name="Soham Chakraborty" userId="364f2e957466cda3" providerId="LiveId" clId="{6924BA47-10B4-462B-A3F1-8C7A51DB4D71}" dt="2024-03-18T19:35:49.979" v="14" actId="20577"/>
      <pc:docMkLst>
        <pc:docMk/>
      </pc:docMkLst>
      <pc:sldChg chg="modSp mod">
        <pc:chgData name="Soham Chakraborty" userId="364f2e957466cda3" providerId="LiveId" clId="{6924BA47-10B4-462B-A3F1-8C7A51DB4D71}" dt="2024-03-18T19:35:10.446" v="7" actId="20577"/>
        <pc:sldMkLst>
          <pc:docMk/>
          <pc:sldMk cId="2473535668" sldId="257"/>
        </pc:sldMkLst>
        <pc:spChg chg="mod">
          <ac:chgData name="Soham Chakraborty" userId="364f2e957466cda3" providerId="LiveId" clId="{6924BA47-10B4-462B-A3F1-8C7A51DB4D71}" dt="2024-03-18T19:35:10.446" v="7" actId="20577"/>
          <ac:spMkLst>
            <pc:docMk/>
            <pc:sldMk cId="2473535668" sldId="257"/>
            <ac:spMk id="10" creationId="{4CD9A8F9-CB81-F53A-233E-BE6B3DDE209E}"/>
          </ac:spMkLst>
        </pc:spChg>
        <pc:spChg chg="mod">
          <ac:chgData name="Soham Chakraborty" userId="364f2e957466cda3" providerId="LiveId" clId="{6924BA47-10B4-462B-A3F1-8C7A51DB4D71}" dt="2024-03-18T19:35:01.396" v="6" actId="20577"/>
          <ac:spMkLst>
            <pc:docMk/>
            <pc:sldMk cId="2473535668" sldId="257"/>
            <ac:spMk id="12" creationId="{B18AEB22-D6F0-5FD7-7BAD-5DEA81408C44}"/>
          </ac:spMkLst>
        </pc:spChg>
      </pc:sldChg>
      <pc:sldChg chg="modSp mod">
        <pc:chgData name="Soham Chakraborty" userId="364f2e957466cda3" providerId="LiveId" clId="{6924BA47-10B4-462B-A3F1-8C7A51DB4D71}" dt="2024-03-18T19:35:49.979" v="14" actId="20577"/>
        <pc:sldMkLst>
          <pc:docMk/>
          <pc:sldMk cId="2967709015" sldId="258"/>
        </pc:sldMkLst>
        <pc:spChg chg="mod">
          <ac:chgData name="Soham Chakraborty" userId="364f2e957466cda3" providerId="LiveId" clId="{6924BA47-10B4-462B-A3F1-8C7A51DB4D71}" dt="2024-03-18T19:35:49.979" v="14" actId="20577"/>
          <ac:spMkLst>
            <pc:docMk/>
            <pc:sldMk cId="2967709015" sldId="258"/>
            <ac:spMk id="2" creationId="{7E180E65-38E1-1D41-7A5F-96AA9EB2175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737815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4080740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1235692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3569D5-5B0F-4DCE-ACEA-A795552B71CB}" type="datetimeFigureOut">
              <a:rPr lang="en-IN" smtClean="0"/>
              <a:t>20-03-2024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739982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3569D5-5B0F-4DCE-ACEA-A795552B71CB}" type="datetimeFigureOut">
              <a:rPr lang="en-IN" smtClean="0"/>
              <a:t>20-03-2024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738938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795892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4098021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063191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3569D5-5B0F-4DCE-ACEA-A795552B71CB}" type="datetimeFigureOut">
              <a:rPr lang="en-IN" smtClean="0"/>
              <a:t>20-03-2024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145389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3569D5-5B0F-4DCE-ACEA-A795552B71CB}" type="datetimeFigureOut">
              <a:rPr lang="en-IN" smtClean="0"/>
              <a:t>20-03-2024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282514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3066177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47437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103875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6923695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41928795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388757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43563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73569D5-5B0F-4DCE-ACEA-A795552B71CB}" type="datetimeFigureOut">
              <a:rPr lang="en-IN" smtClean="0"/>
              <a:t>20-03-2024</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AC90E98-9B53-4820-AE64-57757480E48B}" type="slidenum">
              <a:rPr lang="en-IN" smtClean="0"/>
              <a:t>‹#›</a:t>
            </a:fld>
            <a:endParaRPr lang="en-IN"/>
          </a:p>
        </p:txBody>
      </p:sp>
    </p:spTree>
    <p:extLst>
      <p:ext uri="{BB962C8B-B14F-4D97-AF65-F5344CB8AC3E}">
        <p14:creationId xmlns:p14="http://schemas.microsoft.com/office/powerpoint/2010/main" val="174466126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en.wikipedia.org/wiki/Karp%27s_21_NP-complete_problems"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hyperlink" Target="http://www.personal.kent.edu/~rmuhamma/Algorithms/MyAlgorithms/AproxAlgor/vertexCover.ht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K%C5%91nig%27s_theorem_(graph_theory)"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hyperlink" Target="https://www.personal.kent.edu/~rmuhamma/Algorithms/MyAlgorithms/AproxAlgor/vertexCover.htm" TargetMode="External"/><Relationship Id="rId13" Type="http://schemas.openxmlformats.org/officeDocument/2006/relationships/hyperlink" Target="https://en.wikipedia.org/wiki/Clique_(graph_theory)" TargetMode="External"/><Relationship Id="rId3" Type="http://schemas.openxmlformats.org/officeDocument/2006/relationships/hyperlink" Target="https://www.geeksforgeeks.org/introduction-and-approximate-solution-for-vertex-cover-problem/" TargetMode="External"/><Relationship Id="rId7" Type="http://schemas.openxmlformats.org/officeDocument/2006/relationships/hyperlink" Target="https://www.javatpoint.com/daa-approximation-algorithm-vertex-cover" TargetMode="External"/><Relationship Id="rId12" Type="http://schemas.openxmlformats.org/officeDocument/2006/relationships/hyperlink" Target="https://en.wikipedia.org/wiki/NP-completeness" TargetMode="External"/><Relationship Id="rId2" Type="http://schemas.openxmlformats.org/officeDocument/2006/relationships/hyperlink" Target="https://www.cl.cam.ac.uk/teaching/1920/AdvAlgo/vertexcover_handout.pdf" TargetMode="External"/><Relationship Id="rId1" Type="http://schemas.openxmlformats.org/officeDocument/2006/relationships/slideLayout" Target="../slideLayouts/slideLayout1.xml"/><Relationship Id="rId6" Type="http://schemas.openxmlformats.org/officeDocument/2006/relationships/hyperlink" Target="https://www.geeksforgeeks.org/proof-that-vertex-cover-is-np-complete/" TargetMode="External"/><Relationship Id="rId11" Type="http://schemas.openxmlformats.org/officeDocument/2006/relationships/hyperlink" Target="https://en.wikipedia.org/wiki/K%C5%91nig%27s_theorem_(graph_theory)" TargetMode="External"/><Relationship Id="rId5" Type="http://schemas.openxmlformats.org/officeDocument/2006/relationships/hyperlink" Target="https://en.wikipedia.org/wiki/Karp%27s_21_NP-complete_problems" TargetMode="External"/><Relationship Id="rId15" Type="http://schemas.openxmlformats.org/officeDocument/2006/relationships/hyperlink" Target="https://www.geeksforgeeks.org/proof-that-clique-decision-problem-is-np-complete/" TargetMode="External"/><Relationship Id="rId10" Type="http://schemas.openxmlformats.org/officeDocument/2006/relationships/hyperlink" Target="https://www.youtube.com/" TargetMode="External"/><Relationship Id="rId4" Type="http://schemas.openxmlformats.org/officeDocument/2006/relationships/hyperlink" Target="https://en.wikipedia.org/wiki/Vertex_cover" TargetMode="External"/><Relationship Id="rId9" Type="http://schemas.openxmlformats.org/officeDocument/2006/relationships/hyperlink" Target="https://www.dharwadker.org/pirzada/applications/" TargetMode="External"/><Relationship Id="rId14" Type="http://schemas.openxmlformats.org/officeDocument/2006/relationships/hyperlink" Target="https://en.wikipedia.org/wiki/Cook%E2%80%93Levin_theore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66C98-DD00-AC32-BE18-5FF14CBCF2B5}"/>
              </a:ext>
            </a:extLst>
          </p:cNvPr>
          <p:cNvSpPr>
            <a:spLocks noGrp="1"/>
          </p:cNvSpPr>
          <p:nvPr>
            <p:ph type="ctrTitle"/>
          </p:nvPr>
        </p:nvSpPr>
        <p:spPr>
          <a:xfrm>
            <a:off x="2787812" y="468086"/>
            <a:ext cx="8825658" cy="3329581"/>
          </a:xfrm>
        </p:spPr>
        <p:txBody>
          <a:bodyPr/>
          <a:lstStyle/>
          <a:p>
            <a:r>
              <a:rPr lang="en-US" b="1" dirty="0">
                <a:effectLst>
                  <a:outerShdw blurRad="38100" dist="38100" dir="2700000" algn="tl">
                    <a:srgbClr val="000000">
                      <a:alpha val="43137"/>
                    </a:srgbClr>
                  </a:outerShdw>
                </a:effectLst>
              </a:rPr>
              <a:t>Vertex Cover</a:t>
            </a:r>
            <a:endParaRPr lang="en-IN" b="1" dirty="0">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51ECF183-A141-9BC3-82ED-D7845D935BAB}"/>
              </a:ext>
            </a:extLst>
          </p:cNvPr>
          <p:cNvSpPr txBox="1"/>
          <p:nvPr/>
        </p:nvSpPr>
        <p:spPr>
          <a:xfrm>
            <a:off x="424545" y="5682028"/>
            <a:ext cx="9437912" cy="707886"/>
          </a:xfrm>
          <a:prstGeom prst="rect">
            <a:avLst/>
          </a:prstGeom>
          <a:noFill/>
        </p:spPr>
        <p:txBody>
          <a:bodyPr wrap="square" rtlCol="0">
            <a:spAutoFit/>
          </a:bodyPr>
          <a:lstStyle/>
          <a:p>
            <a:pPr algn="just"/>
            <a:r>
              <a:rPr lang="en-US" sz="2000" dirty="0">
                <a:solidFill>
                  <a:srgbClr val="FFFF00"/>
                </a:solidFill>
                <a:effectLst>
                  <a:outerShdw blurRad="38100" dist="38100" dir="2700000" algn="tl">
                    <a:srgbClr val="000000">
                      <a:alpha val="43137"/>
                    </a:srgbClr>
                  </a:outerShdw>
                </a:effectLst>
              </a:rPr>
              <a:t>Soham Chakraborty</a:t>
            </a:r>
          </a:p>
          <a:p>
            <a:pPr algn="just"/>
            <a:r>
              <a:rPr lang="en-IN" sz="2000" dirty="0">
                <a:solidFill>
                  <a:srgbClr val="FFFF00"/>
                </a:solidFill>
              </a:rPr>
              <a:t>22CS02002</a:t>
            </a:r>
          </a:p>
        </p:txBody>
      </p:sp>
    </p:spTree>
    <p:extLst>
      <p:ext uri="{BB962C8B-B14F-4D97-AF65-F5344CB8AC3E}">
        <p14:creationId xmlns:p14="http://schemas.microsoft.com/office/powerpoint/2010/main" val="3807654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Definition</a:t>
            </a:r>
            <a:endParaRPr lang="en-IN" sz="4400" b="1" dirty="0">
              <a:solidFill>
                <a:srgbClr val="FFC000"/>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D9A8F9-CB81-F53A-233E-BE6B3DDE209E}"/>
                  </a:ext>
                </a:extLst>
              </p:cNvPr>
              <p:cNvSpPr txBox="1"/>
              <p:nvPr/>
            </p:nvSpPr>
            <p:spPr>
              <a:xfrm>
                <a:off x="914402" y="1034144"/>
                <a:ext cx="9437912" cy="2432654"/>
              </a:xfrm>
              <a:prstGeom prst="rect">
                <a:avLst/>
              </a:prstGeom>
              <a:noFill/>
            </p:spPr>
            <p:txBody>
              <a:bodyPr wrap="square" rtlCol="0">
                <a:spAutoFit/>
              </a:bodyPr>
              <a:lstStyle/>
              <a:p>
                <a:pPr algn="just"/>
                <a:r>
                  <a:rPr lang="en-US" sz="2800" b="1" dirty="0">
                    <a:solidFill>
                      <a:srgbClr val="FF0000"/>
                    </a:solidFill>
                    <a:effectLst>
                      <a:outerShdw blurRad="38100" dist="38100" dir="2700000" algn="tl">
                        <a:srgbClr val="000000">
                          <a:alpha val="43137"/>
                        </a:srgbClr>
                      </a:outerShdw>
                    </a:effectLst>
                  </a:rPr>
                  <a:t>Vertex Cover</a:t>
                </a:r>
                <a:r>
                  <a:rPr lang="en-US" sz="2800" dirty="0">
                    <a:solidFill>
                      <a:srgbClr val="FF0000"/>
                    </a:solidFill>
                  </a:rPr>
                  <a:t> </a:t>
                </a:r>
                <a:r>
                  <a:rPr lang="en-US" sz="2800" dirty="0"/>
                  <a:t>of a undirected graph is a set of vertices that includes at least one endpoint of every edge of the graph.</a:t>
                </a:r>
              </a:p>
              <a:p>
                <a:pPr algn="just"/>
                <a:r>
                  <a:rPr lang="en-IN" sz="2800" dirty="0"/>
                  <a:t>Vertex Cover U of an undirected graph G=(V,E) is such that </a:t>
                </a:r>
                <a:r>
                  <a:rPr lang="en-IN" sz="2800" b="1" dirty="0">
                    <a:effectLst>
                      <a:outerShdw blurRad="38100" dist="38100" dir="2700000" algn="tl">
                        <a:srgbClr val="000000">
                          <a:alpha val="43137"/>
                        </a:srgbClr>
                      </a:outerShdw>
                    </a:effectLst>
                  </a:rPr>
                  <a:t>U ⊆ V, </a:t>
                </a:r>
                <a14:m>
                  <m:oMath xmlns:m="http://schemas.openxmlformats.org/officeDocument/2006/math">
                    <m:r>
                      <a:rPr lang="en-IN"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begChr m:val="{"/>
                        <m:endChr m:val="}"/>
                        <m:ctrlP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e>
                    </m:d>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𝑬</m:t>
                    </m:r>
                    <m:groupChr>
                      <m:groupChrPr>
                        <m:chr m:val="⇒"/>
                        <m:vertJc m:val="bot"/>
                        <m:ctrlP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groupChrPr>
                      <m:e/>
                    </m:groupCh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ctrlP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𝑼</m:t>
                        </m:r>
                      </m:e>
                    </m:d>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𝑼</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oMath>
                </a14:m>
                <a:endParaRPr lang="en-IN" sz="2800" b="1" dirty="0"/>
              </a:p>
            </p:txBody>
          </p:sp>
        </mc:Choice>
        <mc:Fallback xmlns="">
          <p:sp>
            <p:nvSpPr>
              <p:cNvPr id="10" name="TextBox 9">
                <a:extLst>
                  <a:ext uri="{FF2B5EF4-FFF2-40B4-BE49-F238E27FC236}">
                    <a16:creationId xmlns:a16="http://schemas.microsoft.com/office/drawing/2014/main" id="{4CD9A8F9-CB81-F53A-233E-BE6B3DDE209E}"/>
                  </a:ext>
                </a:extLst>
              </p:cNvPr>
              <p:cNvSpPr txBox="1">
                <a:spLocks noRot="1" noChangeAspect="1" noMove="1" noResize="1" noEditPoints="1" noAdjustHandles="1" noChangeArrowheads="1" noChangeShapeType="1" noTextEdit="1"/>
              </p:cNvSpPr>
              <p:nvPr/>
            </p:nvSpPr>
            <p:spPr>
              <a:xfrm>
                <a:off x="914402" y="1034144"/>
                <a:ext cx="9437912" cy="2432654"/>
              </a:xfrm>
              <a:prstGeom prst="rect">
                <a:avLst/>
              </a:prstGeom>
              <a:blipFill>
                <a:blip r:embed="rId2"/>
                <a:stretch>
                  <a:fillRect l="-1357" t="-3008" r="-1292" b="-7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18AEB22-D6F0-5FD7-7BAD-5DEA81408C44}"/>
                  </a:ext>
                </a:extLst>
              </p:cNvPr>
              <p:cNvSpPr txBox="1"/>
              <p:nvPr/>
            </p:nvSpPr>
            <p:spPr>
              <a:xfrm>
                <a:off x="914402" y="3929746"/>
                <a:ext cx="9437912" cy="954107"/>
              </a:xfrm>
              <a:prstGeom prst="rect">
                <a:avLst/>
              </a:prstGeom>
              <a:noFill/>
            </p:spPr>
            <p:txBody>
              <a:bodyPr wrap="square" rtlCol="0">
                <a:spAutoFit/>
              </a:bodyPr>
              <a:lstStyle/>
              <a:p>
                <a:pPr algn="just"/>
                <a:r>
                  <a:rPr lang="en-US" sz="2800" b="1" dirty="0">
                    <a:solidFill>
                      <a:srgbClr val="FF0000"/>
                    </a:solidFill>
                    <a:effectLst>
                      <a:outerShdw blurRad="38100" dist="38100" dir="2700000" algn="tl">
                        <a:srgbClr val="000000">
                          <a:alpha val="43137"/>
                        </a:srgbClr>
                      </a:outerShdw>
                    </a:effectLst>
                  </a:rPr>
                  <a:t>Vertex Cover Problem</a:t>
                </a:r>
                <a:r>
                  <a:rPr lang="en-US" sz="2800" dirty="0">
                    <a:solidFill>
                      <a:srgbClr val="FF0000"/>
                    </a:solidFill>
                  </a:rPr>
                  <a:t> </a:t>
                </a:r>
                <a:r>
                  <a:rPr lang="en-US" sz="2800" dirty="0"/>
                  <a:t>is the problem of finding if there exists a Vertex Cover of size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oMath>
                </a14:m>
                <a:r>
                  <a:rPr lang="en-US" sz="2800" dirty="0"/>
                  <a:t> k.</a:t>
                </a:r>
                <a:endParaRPr lang="en-IN" sz="2800" b="1" dirty="0">
                  <a:effectLst>
                    <a:outerShdw blurRad="38100" dist="38100" dir="2700000" algn="tl">
                      <a:srgbClr val="000000">
                        <a:alpha val="43137"/>
                      </a:srgbClr>
                    </a:outerShdw>
                  </a:effectLst>
                </a:endParaRPr>
              </a:p>
            </p:txBody>
          </p:sp>
        </mc:Choice>
        <mc:Fallback xmlns="">
          <p:sp>
            <p:nvSpPr>
              <p:cNvPr id="12" name="TextBox 11">
                <a:extLst>
                  <a:ext uri="{FF2B5EF4-FFF2-40B4-BE49-F238E27FC236}">
                    <a16:creationId xmlns:a16="http://schemas.microsoft.com/office/drawing/2014/main" id="{B18AEB22-D6F0-5FD7-7BAD-5DEA81408C44}"/>
                  </a:ext>
                </a:extLst>
              </p:cNvPr>
              <p:cNvSpPr txBox="1">
                <a:spLocks noRot="1" noChangeAspect="1" noMove="1" noResize="1" noEditPoints="1" noAdjustHandles="1" noChangeArrowheads="1" noChangeShapeType="1" noTextEdit="1"/>
              </p:cNvSpPr>
              <p:nvPr/>
            </p:nvSpPr>
            <p:spPr>
              <a:xfrm>
                <a:off x="914402" y="3929746"/>
                <a:ext cx="9437912" cy="954107"/>
              </a:xfrm>
              <a:prstGeom prst="rect">
                <a:avLst/>
              </a:prstGeom>
              <a:blipFill>
                <a:blip r:embed="rId3"/>
                <a:stretch>
                  <a:fillRect l="-1357" t="-7692" r="-1292" b="-17308"/>
                </a:stretch>
              </a:blipFill>
            </p:spPr>
            <p:txBody>
              <a:bodyPr/>
              <a:lstStyle/>
              <a:p>
                <a:r>
                  <a:rPr lang="en-IN">
                    <a:noFill/>
                  </a:rPr>
                  <a:t> </a:t>
                </a:r>
              </a:p>
            </p:txBody>
          </p:sp>
        </mc:Fallback>
      </mc:AlternateContent>
      <p:sp>
        <p:nvSpPr>
          <p:cNvPr id="3" name="TextBox 2">
            <a:extLst>
              <a:ext uri="{FF2B5EF4-FFF2-40B4-BE49-F238E27FC236}">
                <a16:creationId xmlns:a16="http://schemas.microsoft.com/office/drawing/2014/main" id="{DD3AAA90-953E-A5BF-4475-6EBE93573942}"/>
              </a:ext>
            </a:extLst>
          </p:cNvPr>
          <p:cNvSpPr txBox="1"/>
          <p:nvPr/>
        </p:nvSpPr>
        <p:spPr>
          <a:xfrm>
            <a:off x="914402" y="5346802"/>
            <a:ext cx="9437912" cy="954107"/>
          </a:xfrm>
          <a:prstGeom prst="rect">
            <a:avLst/>
          </a:prstGeom>
          <a:noFill/>
        </p:spPr>
        <p:txBody>
          <a:bodyPr wrap="square" rtlCol="0">
            <a:spAutoFit/>
          </a:bodyPr>
          <a:lstStyle/>
          <a:p>
            <a:pPr algn="just"/>
            <a:r>
              <a:rPr lang="en-US" sz="2800" b="1" dirty="0" err="1">
                <a:solidFill>
                  <a:srgbClr val="FF0000"/>
                </a:solidFill>
                <a:effectLst>
                  <a:outerShdw blurRad="38100" dist="38100" dir="2700000" algn="tl">
                    <a:srgbClr val="000000">
                      <a:alpha val="43137"/>
                    </a:srgbClr>
                  </a:outerShdw>
                </a:effectLst>
              </a:rPr>
              <a:t>Minmum</a:t>
            </a:r>
            <a:r>
              <a:rPr lang="en-US" sz="2800" b="1" dirty="0">
                <a:solidFill>
                  <a:srgbClr val="FF0000"/>
                </a:solidFill>
                <a:effectLst>
                  <a:outerShdw blurRad="38100" dist="38100" dir="2700000" algn="tl">
                    <a:srgbClr val="000000">
                      <a:alpha val="43137"/>
                    </a:srgbClr>
                  </a:outerShdw>
                </a:effectLst>
              </a:rPr>
              <a:t> Vertex Cover Problem</a:t>
            </a:r>
            <a:r>
              <a:rPr lang="en-US" sz="2800" dirty="0">
                <a:solidFill>
                  <a:srgbClr val="FF0000"/>
                </a:solidFill>
              </a:rPr>
              <a:t> </a:t>
            </a:r>
            <a:r>
              <a:rPr lang="en-US" sz="2800" dirty="0"/>
              <a:t>is the problem of finding the Vertex Cover with minimum size.</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73535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Example</a:t>
            </a:r>
            <a:endParaRPr lang="en-IN" sz="44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739969" y="1045029"/>
            <a:ext cx="9982459"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      Vertex Cover	          			Minimum Vertex Cover</a:t>
            </a:r>
            <a:endParaRPr lang="en-IN" sz="2800" b="1" dirty="0">
              <a:effectLst>
                <a:outerShdw blurRad="38100" dist="38100" dir="2700000" algn="tl">
                  <a:srgbClr val="000000">
                    <a:alpha val="43137"/>
                  </a:srgbClr>
                </a:outerShdw>
              </a:effectLst>
            </a:endParaRPr>
          </a:p>
        </p:txBody>
      </p:sp>
      <p:pic>
        <p:nvPicPr>
          <p:cNvPr id="1028" name="Picture 4" descr="undefined">
            <a:extLst>
              <a:ext uri="{FF2B5EF4-FFF2-40B4-BE49-F238E27FC236}">
                <a16:creationId xmlns:a16="http://schemas.microsoft.com/office/drawing/2014/main" id="{9DC56BCF-1597-964E-C2BD-BCAB83F53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6011067" y="3300953"/>
            <a:ext cx="5171588" cy="15514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AB72041-E9AD-A59B-4522-9DAE9E22EB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12793" y="3271689"/>
            <a:ext cx="5366673" cy="1610002"/>
          </a:xfrm>
          <a:prstGeom prst="rect">
            <a:avLst/>
          </a:prstGeom>
        </p:spPr>
      </p:pic>
    </p:spTree>
    <p:extLst>
      <p:ext uri="{BB962C8B-B14F-4D97-AF65-F5344CB8AC3E}">
        <p14:creationId xmlns:p14="http://schemas.microsoft.com/office/powerpoint/2010/main" val="2967709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NP-Completeness</a:t>
            </a:r>
            <a:endParaRPr lang="en-IN" sz="4400" b="1" dirty="0">
              <a:solidFill>
                <a:srgbClr val="FFC000"/>
              </a:solidFill>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DCDE04EB-9E6F-A0C1-D5D7-9EF820A5700D}"/>
              </a:ext>
            </a:extLst>
          </p:cNvPr>
          <p:cNvSpPr txBox="1"/>
          <p:nvPr/>
        </p:nvSpPr>
        <p:spPr>
          <a:xfrm>
            <a:off x="739970" y="1164772"/>
            <a:ext cx="9437912" cy="5201424"/>
          </a:xfrm>
          <a:prstGeom prst="rect">
            <a:avLst/>
          </a:prstGeom>
          <a:noFill/>
        </p:spPr>
        <p:txBody>
          <a:bodyPr wrap="square" rtlCol="0">
            <a:spAutoFit/>
          </a:bodyPr>
          <a:lstStyle/>
          <a:p>
            <a:r>
              <a:rPr lang="en-US" sz="2800" dirty="0"/>
              <a:t>A problem T is called NP-complete if:</a:t>
            </a:r>
          </a:p>
          <a:p>
            <a:pPr marL="514350" indent="-514350">
              <a:buFont typeface="+mj-lt"/>
              <a:buAutoNum type="arabicPeriod"/>
            </a:pPr>
            <a:r>
              <a:rPr lang="en-US" sz="2800" dirty="0"/>
              <a:t>T is NP, i.e. the candidate solution to T can be verified in polynomial time.</a:t>
            </a:r>
          </a:p>
          <a:p>
            <a:pPr marL="514350" indent="-514350">
              <a:buFont typeface="+mj-lt"/>
              <a:buAutoNum type="arabicPeriod"/>
            </a:pPr>
            <a:r>
              <a:rPr lang="en-US" sz="2800" dirty="0"/>
              <a:t>T is NP-Hard i.e. </a:t>
            </a:r>
            <a:r>
              <a:rPr lang="en-US" sz="2800"/>
              <a:t>every </a:t>
            </a:r>
            <a:r>
              <a:rPr lang="en-US" sz="2800" dirty="0"/>
              <a:t>problem in NP can be reduced to T in polynomial time.</a:t>
            </a:r>
          </a:p>
          <a:p>
            <a:pPr marL="514350" indent="-514350">
              <a:buFont typeface="+mj-lt"/>
              <a:buAutoNum type="arabicPeriod"/>
            </a:pPr>
            <a:endParaRPr lang="en-US" sz="2800" b="1" dirty="0">
              <a:effectLst>
                <a:outerShdw blurRad="38100" dist="38100" dir="2700000" algn="tl">
                  <a:srgbClr val="000000">
                    <a:alpha val="43137"/>
                  </a:srgbClr>
                </a:outerShdw>
              </a:effectLst>
            </a:endParaRPr>
          </a:p>
          <a:p>
            <a:r>
              <a:rPr lang="en-US" sz="2800" b="1" dirty="0">
                <a:solidFill>
                  <a:srgbClr val="FF0000"/>
                </a:solidFill>
                <a:effectLst>
                  <a:outerShdw blurRad="38100" dist="38100" dir="2700000" algn="tl">
                    <a:srgbClr val="000000">
                      <a:alpha val="43137"/>
                    </a:srgbClr>
                  </a:outerShdw>
                </a:effectLst>
              </a:rPr>
              <a:t>Cook-Levin Theorem:</a:t>
            </a:r>
            <a:r>
              <a:rPr lang="en-US" sz="2800" dirty="0">
                <a:solidFill>
                  <a:srgbClr val="FF0000"/>
                </a:solidFill>
              </a:rPr>
              <a:t> </a:t>
            </a:r>
            <a:r>
              <a:rPr lang="en-US" sz="2800" dirty="0"/>
              <a:t>It states that SAT(Boolean-Satisfiability Problem) is NP-Complete and any problem in NP can be reduced to SAT in polynomial time.</a:t>
            </a:r>
          </a:p>
          <a:p>
            <a:r>
              <a:rPr lang="en-US" sz="2400" dirty="0"/>
              <a:t>Most commonly known are </a:t>
            </a:r>
            <a:r>
              <a:rPr lang="en-US" sz="2400" dirty="0">
                <a:hlinkClick r:id="rId2"/>
              </a:rPr>
              <a:t>Karp's 21 NP-Complete problems</a:t>
            </a:r>
            <a:r>
              <a:rPr lang="en-US" sz="2400" dirty="0"/>
              <a:t>. </a:t>
            </a:r>
          </a:p>
          <a:p>
            <a:r>
              <a:rPr lang="en-US" sz="2800" b="1" dirty="0">
                <a:effectLst>
                  <a:outerShdw blurRad="38100" dist="38100" dir="2700000" algn="tl">
                    <a:srgbClr val="000000">
                      <a:alpha val="43137"/>
                    </a:srgbClr>
                  </a:outerShdw>
                </a:effectLst>
              </a:rPr>
              <a:t>Example: </a:t>
            </a:r>
            <a:r>
              <a:rPr lang="en-US" sz="2400" dirty="0"/>
              <a:t>3-SAT, Vertex Cover Problem, 0-1 ILP, Knapsack.</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89028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76200" y="97972"/>
            <a:ext cx="10395857" cy="805543"/>
          </a:xfrm>
        </p:spPr>
        <p:txBody>
          <a:bodyPr/>
          <a:lstStyle/>
          <a:p>
            <a:pPr algn="ctr"/>
            <a:r>
              <a:rPr lang="en-US" sz="4000" b="1" dirty="0">
                <a:solidFill>
                  <a:srgbClr val="FFC000"/>
                </a:solidFill>
                <a:effectLst>
                  <a:outerShdw blurRad="38100" dist="38100" dir="2700000" algn="tl">
                    <a:srgbClr val="000000">
                      <a:alpha val="43137"/>
                    </a:srgbClr>
                  </a:outerShdw>
                </a:effectLst>
              </a:rPr>
              <a:t>Proof of Vertex Cover is NP-Complete</a:t>
            </a:r>
            <a:endParaRPr lang="en-IN" sz="40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805545" y="1197429"/>
            <a:ext cx="9437912" cy="6247864"/>
          </a:xfrm>
          <a:prstGeom prst="rect">
            <a:avLst/>
          </a:prstGeom>
          <a:noFill/>
        </p:spPr>
        <p:txBody>
          <a:bodyPr wrap="square" rtlCol="0">
            <a:spAutoFit/>
          </a:bodyPr>
          <a:lstStyle/>
          <a:p>
            <a:r>
              <a:rPr lang="en-US" sz="2400" dirty="0"/>
              <a:t>To show that Vertex Cover is NP-Complete we need to show that is:</a:t>
            </a:r>
          </a:p>
          <a:p>
            <a:r>
              <a:rPr lang="en-US" sz="2800" b="1" dirty="0">
                <a:solidFill>
                  <a:srgbClr val="FFFF00"/>
                </a:solidFill>
                <a:effectLst>
                  <a:outerShdw blurRad="38100" dist="38100" dir="2700000" algn="tl">
                    <a:srgbClr val="000000">
                      <a:alpha val="43137"/>
                    </a:srgbClr>
                  </a:outerShdw>
                </a:effectLst>
              </a:rPr>
              <a:t>1. NP</a:t>
            </a:r>
          </a:p>
          <a:p>
            <a:r>
              <a:rPr lang="en-US" sz="2400" dirty="0">
                <a:effectLst>
                  <a:outerShdw blurRad="38100" dist="38100" dir="2700000" algn="tl">
                    <a:srgbClr val="000000">
                      <a:alpha val="43137"/>
                    </a:srgbClr>
                  </a:outerShdw>
                </a:effectLst>
              </a:rPr>
              <a:t>	For a given solution to vertex cover, it is verifiable in linear 	time if the candidate solution is satisfiable or not by going 	through all the edges connected to the vertices in Vertex 	Cover and ensuring all the edges at covered at least once.</a:t>
            </a:r>
          </a:p>
          <a:p>
            <a:endParaRPr lang="en-US" sz="2800" b="1" dirty="0">
              <a:effectLst>
                <a:outerShdw blurRad="38100" dist="38100" dir="2700000" algn="tl">
                  <a:srgbClr val="000000">
                    <a:alpha val="43137"/>
                  </a:srgbClr>
                </a:outerShdw>
              </a:effectLst>
            </a:endParaRPr>
          </a:p>
          <a:p>
            <a:r>
              <a:rPr lang="en-US" sz="2800" b="1" dirty="0">
                <a:solidFill>
                  <a:srgbClr val="FFFF00"/>
                </a:solidFill>
                <a:effectLst>
                  <a:outerShdw blurRad="38100" dist="38100" dir="2700000" algn="tl">
                    <a:srgbClr val="000000">
                      <a:alpha val="43137"/>
                    </a:srgbClr>
                  </a:outerShdw>
                </a:effectLst>
              </a:rPr>
              <a:t>2. NP-Hard</a:t>
            </a:r>
          </a:p>
          <a:p>
            <a:r>
              <a:rPr lang="en-US" sz="2800" b="1" dirty="0">
                <a:effectLst>
                  <a:outerShdw blurRad="38100" dist="38100" dir="2700000" algn="tl">
                    <a:srgbClr val="000000">
                      <a:alpha val="43137"/>
                    </a:srgbClr>
                  </a:outerShdw>
                </a:effectLst>
              </a:rPr>
              <a:t>	</a:t>
            </a:r>
            <a:r>
              <a:rPr lang="en-US" sz="2400" dirty="0"/>
              <a:t>To show it is NP-hard we can either directly use the Cook-	Levin theorem and start from SAT or 3-SAT problem, or, we 	can use a previously known NP-Complete problem for this.</a:t>
            </a:r>
          </a:p>
          <a:p>
            <a:r>
              <a:rPr lang="en-US" sz="2400" dirty="0"/>
              <a:t>	Here, the </a:t>
            </a:r>
            <a:r>
              <a:rPr lang="en-US" sz="2400" b="1" dirty="0">
                <a:effectLst>
                  <a:outerShdw blurRad="38100" dist="38100" dir="2700000" algn="tl">
                    <a:srgbClr val="000000">
                      <a:alpha val="43137"/>
                    </a:srgbClr>
                  </a:outerShdw>
                </a:effectLst>
              </a:rPr>
              <a:t>Clique Problem </a:t>
            </a:r>
            <a:r>
              <a:rPr lang="en-US" sz="2400" dirty="0"/>
              <a:t>is used which is shown to be NP-	Complete from the 3-SAT problem.</a:t>
            </a:r>
          </a:p>
          <a:p>
            <a:br>
              <a:rPr lang="en-US" sz="2400" dirty="0">
                <a:effectLst>
                  <a:outerShdw blurRad="38100" dist="38100" dir="2700000" algn="tl">
                    <a:srgbClr val="000000">
                      <a:alpha val="43137"/>
                    </a:srgbClr>
                  </a:outerShdw>
                </a:effectLst>
              </a:rPr>
            </a:br>
            <a:endParaRPr lang="en-US" sz="2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31742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D9A8F9-CB81-F53A-233E-BE6B3DDE209E}"/>
                  </a:ext>
                </a:extLst>
              </p:cNvPr>
              <p:cNvSpPr txBox="1"/>
              <p:nvPr/>
            </p:nvSpPr>
            <p:spPr>
              <a:xfrm>
                <a:off x="468088" y="359229"/>
                <a:ext cx="9437912" cy="6320320"/>
              </a:xfrm>
              <a:prstGeom prst="rect">
                <a:avLst/>
              </a:prstGeom>
              <a:noFill/>
            </p:spPr>
            <p:txBody>
              <a:bodyPr wrap="square" rtlCol="0">
                <a:spAutoFit/>
              </a:bodyPr>
              <a:lstStyle/>
              <a:p>
                <a:r>
                  <a:rPr lang="en-US" sz="2400" dirty="0"/>
                  <a:t>Consider the undirected graph G=(V,E). Let there be clique consisting of vertices </a:t>
                </a:r>
                <a:r>
                  <a:rPr lang="en-US" sz="2400" b="1" dirty="0">
                    <a:effectLst>
                      <a:outerShdw blurRad="38100" dist="38100" dir="2700000" algn="tl">
                        <a:srgbClr val="000000">
                          <a:alpha val="43137"/>
                        </a:srgbClr>
                      </a:outerShdw>
                    </a:effectLst>
                  </a:rPr>
                  <a:t>C</a:t>
                </a:r>
                <a:r>
                  <a:rPr lang="en-US" sz="2400" dirty="0"/>
                  <a:t> </a:t>
                </a:r>
                <a:r>
                  <a:rPr lang="en-IN" sz="2400" b="1" dirty="0">
                    <a:effectLst>
                      <a:outerShdw blurRad="38100" dist="38100" dir="2700000" algn="tl">
                        <a:srgbClr val="000000">
                          <a:alpha val="43137"/>
                        </a:srgbClr>
                      </a:outerShdw>
                    </a:effectLst>
                  </a:rPr>
                  <a:t>⊆ V</a:t>
                </a:r>
                <a:r>
                  <a:rPr lang="en-US" sz="2400" dirty="0"/>
                  <a:t>, such that |C|= k.</a:t>
                </a:r>
              </a:p>
              <a:p>
                <a:r>
                  <a:rPr lang="en-US" sz="2400" dirty="0"/>
                  <a:t>Complement graph G</a:t>
                </a:r>
                <a:r>
                  <a:rPr lang="en-US" sz="2400" baseline="30000" dirty="0"/>
                  <a:t>c </a:t>
                </a:r>
                <a:r>
                  <a:rPr lang="en-US" sz="2400" dirty="0"/>
                  <a:t>= K</a:t>
                </a:r>
                <a:r>
                  <a:rPr lang="en-US" sz="2400" baseline="-25000" dirty="0"/>
                  <a:t>|V| </a:t>
                </a:r>
                <a:r>
                  <a:rPr lang="en-US" sz="2400" dirty="0"/>
                  <a:t>\ G. = (</a:t>
                </a:r>
                <a:r>
                  <a:rPr lang="en-US" sz="2400" dirty="0" err="1"/>
                  <a:t>V,E</a:t>
                </a:r>
                <a:r>
                  <a:rPr lang="en-US" sz="2400" baseline="30000" dirty="0" err="1"/>
                  <a:t>c</a:t>
                </a:r>
                <a:r>
                  <a:rPr lang="en-US" sz="2400" dirty="0"/>
                  <a:t>)</a:t>
                </a:r>
              </a:p>
              <a:p>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𝑢</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e>
                    </m:d>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𝑣</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e>
                    </m:d>
                  </m:oMath>
                </a14:m>
                <a:r>
                  <a:rPr lang="en-US" sz="2400" b="1" dirty="0">
                    <a:effectLst>
                      <a:outerShdw blurRad="38100" dist="38100" dir="2700000" algn="tl">
                        <a:srgbClr val="000000">
                          <a:alpha val="43137"/>
                        </a:srgbClr>
                      </a:outerShdw>
                    </a:effectLst>
                    <a:ea typeface="Cambria Math" panose="02040503050406030204" pitchFamily="18" charset="0"/>
                  </a:rPr>
                  <a:t> </a:t>
                </a:r>
                <a14:m>
                  <m:oMath xmlns:m="http://schemas.openxmlformats.org/officeDocument/2006/math">
                    <m:groupChr>
                      <m:groupChrPr>
                        <m:chr m:val="⇒"/>
                        <m:vertJc m:val="bot"/>
                        <m:ctrlP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groupChrPr>
                      <m:e/>
                    </m:groupCh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begChr m:val="{"/>
                        <m:endChr m:val="}"/>
                        <m:ctrl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e>
                    </m:d>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𝑬</m:t>
                    </m:r>
                  </m:oMath>
                </a14:m>
                <a:r>
                  <a:rPr lang="en-IN" sz="2400" dirty="0"/>
                  <a:t> </a:t>
                </a:r>
                <a:endParaRPr lang="en-US" sz="2400" dirty="0"/>
              </a:p>
              <a:p>
                <a14:m>
                  <m:oMath xmlns:m="http://schemas.openxmlformats.org/officeDocument/2006/math">
                    <m:r>
                      <a:rPr lang="en-IN"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begChr m:val="{"/>
                        <m:endChr m:val="}"/>
                        <m:ctrl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e>
                    </m:d>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oMath>
                </a14:m>
                <a:r>
                  <a:rPr lang="en-IN" sz="2400" dirty="0"/>
                  <a:t>E</a:t>
                </a:r>
                <a:r>
                  <a:rPr lang="en-IN" sz="2400" baseline="30000" dirty="0"/>
                  <a:t>c</a:t>
                </a:r>
                <a14:m>
                  <m:oMath xmlns:m="http://schemas.openxmlformats.org/officeDocument/2006/math">
                    <m:r>
                      <a:rPr lang="en-US" sz="2400" b="0" i="0"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groupChr>
                      <m:groupChrPr>
                        <m:chr m:val="⇒"/>
                        <m:vertJc m:val="bot"/>
                        <m:ctrlP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groupChrPr>
                      <m:e/>
                    </m:groupCh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ctrlP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𝑽</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m:rPr>
                            <m:sty m:val="p"/>
                          </m:r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C</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e>
                    </m:d>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𝑽</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m:rPr>
                        <m:sty m:val="p"/>
                      </m:r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C</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oMath>
                </a14:m>
                <a:endParaRPr lang="en-IN" sz="2400" dirty="0"/>
              </a:p>
              <a:p>
                <a:endParaRPr lang="en-IN" sz="2400" dirty="0"/>
              </a:p>
              <a:p>
                <a:r>
                  <a:rPr lang="en-IN" sz="2400" dirty="0"/>
                  <a:t>From this we can say that </a:t>
                </a:r>
                <a14:m>
                  <m:oMath xmlns:m="http://schemas.openxmlformats.org/officeDocument/2006/math">
                    <m:d>
                      <m:dPr>
                        <m:ctrl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𝑽</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m:rPr>
                            <m:sty m:val="p"/>
                          </m:r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C</m:t>
                        </m:r>
                      </m:e>
                    </m:d>
                  </m:oMath>
                </a14:m>
                <a:r>
                  <a:rPr lang="en-IN" sz="2400" dirty="0"/>
                  <a:t> is a Vertex Cover of size |V|- k for G</a:t>
                </a:r>
                <a:r>
                  <a:rPr lang="en-IN" sz="2400" baseline="30000" dirty="0"/>
                  <a:t>c</a:t>
                </a:r>
                <a:r>
                  <a:rPr lang="en-IN" sz="2400" dirty="0"/>
                  <a:t>.</a:t>
                </a:r>
              </a:p>
              <a:p>
                <a:endParaRPr lang="en-IN" sz="2400" dirty="0"/>
              </a:p>
              <a:p>
                <a:r>
                  <a:rPr lang="en-IN" sz="2400" dirty="0"/>
                  <a:t>Hence, if there exists a clique of size k in G, then there has to exist a Vertex cover of size |V|- k in G</a:t>
                </a:r>
                <a:r>
                  <a:rPr lang="en-IN" sz="2400" baseline="30000" dirty="0"/>
                  <a:t>c</a:t>
                </a:r>
                <a:r>
                  <a:rPr lang="en-IN" sz="2400" dirty="0"/>
                  <a:t>.</a:t>
                </a:r>
              </a:p>
              <a:p>
                <a:r>
                  <a:rPr lang="en-IN" sz="2400" dirty="0"/>
                  <a:t>Also, if there exists a Vertex Cover U, |U|= k, for G, then there will be a clique of size |V|- k in G</a:t>
                </a:r>
                <a:r>
                  <a:rPr lang="en-IN" sz="2400" baseline="30000" dirty="0"/>
                  <a:t>c</a:t>
                </a:r>
                <a:r>
                  <a:rPr lang="en-IN" sz="2400" dirty="0"/>
                  <a:t>.</a:t>
                </a:r>
              </a:p>
              <a:p>
                <a:r>
                  <a:rPr lang="en-IN" sz="2400" dirty="0"/>
                  <a:t>Thus, Clique problem can be reduced to Vertex Cover problem and hence Vertex Cover Problem is proven to be NP-Hard and consequently NP-Complete.</a:t>
                </a:r>
              </a:p>
            </p:txBody>
          </p:sp>
        </mc:Choice>
        <mc:Fallback xmlns="">
          <p:sp>
            <p:nvSpPr>
              <p:cNvPr id="10" name="TextBox 9">
                <a:extLst>
                  <a:ext uri="{FF2B5EF4-FFF2-40B4-BE49-F238E27FC236}">
                    <a16:creationId xmlns:a16="http://schemas.microsoft.com/office/drawing/2014/main" id="{4CD9A8F9-CB81-F53A-233E-BE6B3DDE209E}"/>
                  </a:ext>
                </a:extLst>
              </p:cNvPr>
              <p:cNvSpPr txBox="1">
                <a:spLocks noRot="1" noChangeAspect="1" noMove="1" noResize="1" noEditPoints="1" noAdjustHandles="1" noChangeArrowheads="1" noChangeShapeType="1" noTextEdit="1"/>
              </p:cNvSpPr>
              <p:nvPr/>
            </p:nvSpPr>
            <p:spPr>
              <a:xfrm>
                <a:off x="468088" y="359229"/>
                <a:ext cx="9437912" cy="6320320"/>
              </a:xfrm>
              <a:prstGeom prst="rect">
                <a:avLst/>
              </a:prstGeom>
              <a:blipFill>
                <a:blip r:embed="rId2"/>
                <a:stretch>
                  <a:fillRect l="-1034" t="-771" r="-1357" b="-1254"/>
                </a:stretch>
              </a:blipFill>
            </p:spPr>
            <p:txBody>
              <a:bodyPr/>
              <a:lstStyle/>
              <a:p>
                <a:r>
                  <a:rPr lang="en-IN">
                    <a:noFill/>
                  </a:rPr>
                  <a:t> </a:t>
                </a:r>
              </a:p>
            </p:txBody>
          </p:sp>
        </mc:Fallback>
      </mc:AlternateContent>
    </p:spTree>
    <p:extLst>
      <p:ext uri="{BB962C8B-B14F-4D97-AF65-F5344CB8AC3E}">
        <p14:creationId xmlns:p14="http://schemas.microsoft.com/office/powerpoint/2010/main" val="1483096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D9A8F9-CB81-F53A-233E-BE6B3DDE209E}"/>
              </a:ext>
            </a:extLst>
          </p:cNvPr>
          <p:cNvSpPr txBox="1"/>
          <p:nvPr/>
        </p:nvSpPr>
        <p:spPr>
          <a:xfrm>
            <a:off x="1088574" y="2305615"/>
            <a:ext cx="9437912" cy="2246769"/>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rPr>
              <a:t>Minimum Vertex Cover Optimization Problem </a:t>
            </a:r>
            <a:r>
              <a:rPr lang="en-US" sz="2800" dirty="0"/>
              <a:t>is a NP-Hard problem and can be found out from the Vertex Cover Decision Problem by applying binary search on the size of Vertex Cover and thus finding out the Minimum possible size of Vertex Cover </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37368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Approximation Algorithm</a:t>
            </a:r>
            <a:endParaRPr lang="en-IN" sz="4400" b="1" dirty="0">
              <a:solidFill>
                <a:srgbClr val="FFC000"/>
              </a:solidFill>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99B9383B-C7AD-F3BF-B685-AADC36F65A59}"/>
              </a:ext>
            </a:extLst>
          </p:cNvPr>
          <p:cNvSpPr txBox="1"/>
          <p:nvPr/>
        </p:nvSpPr>
        <p:spPr>
          <a:xfrm>
            <a:off x="478971" y="1077686"/>
            <a:ext cx="10005038" cy="2308324"/>
          </a:xfrm>
          <a:prstGeom prst="rect">
            <a:avLst/>
          </a:prstGeom>
          <a:noFill/>
        </p:spPr>
        <p:txBody>
          <a:bodyPr wrap="square" rtlCol="0">
            <a:spAutoFit/>
          </a:bodyPr>
          <a:lstStyle/>
          <a:p>
            <a:r>
              <a:rPr lang="en-US" sz="2400" dirty="0">
                <a:effectLst>
                  <a:outerShdw blurRad="38100" dist="38100" dir="2700000" algn="tl">
                    <a:srgbClr val="000000">
                      <a:alpha val="43137"/>
                    </a:srgbClr>
                  </a:outerShdw>
                </a:effectLst>
              </a:rPr>
              <a:t>Since finding an exact optimal solution to Minimum Vertex Cover is very expensive w.r.t time, hence, we use Approximations to find a solution that is close to the optimal solution in comparatively much less time O(V+E).</a:t>
            </a:r>
          </a:p>
          <a:p>
            <a:r>
              <a:rPr lang="en-US" sz="2400" dirty="0">
                <a:effectLst>
                  <a:outerShdw blurRad="38100" dist="38100" dir="2700000" algn="tl">
                    <a:srgbClr val="000000">
                      <a:alpha val="43137"/>
                    </a:srgbClr>
                  </a:outerShdw>
                </a:effectLst>
              </a:rPr>
              <a:t>Given is the Pseudocode for one such approximation:-</a:t>
            </a:r>
          </a:p>
          <a:p>
            <a:endParaRPr lang="en-IN" sz="2400" dirty="0"/>
          </a:p>
        </p:txBody>
      </p:sp>
      <p:pic>
        <p:nvPicPr>
          <p:cNvPr id="5" name="Picture 4">
            <a:extLst>
              <a:ext uri="{FF2B5EF4-FFF2-40B4-BE49-F238E27FC236}">
                <a16:creationId xmlns:a16="http://schemas.microsoft.com/office/drawing/2014/main" id="{FF1A892D-2E48-139D-8F36-B309B30E82D3}"/>
              </a:ext>
            </a:extLst>
          </p:cNvPr>
          <p:cNvPicPr>
            <a:picLocks noChangeAspect="1"/>
          </p:cNvPicPr>
          <p:nvPr/>
        </p:nvPicPr>
        <p:blipFill>
          <a:blip r:embed="rId2"/>
          <a:stretch>
            <a:fillRect/>
          </a:stretch>
        </p:blipFill>
        <p:spPr>
          <a:xfrm>
            <a:off x="592257" y="3101074"/>
            <a:ext cx="8401457" cy="3593239"/>
          </a:xfrm>
          <a:prstGeom prst="rect">
            <a:avLst/>
          </a:prstGeom>
        </p:spPr>
      </p:pic>
      <p:sp>
        <p:nvSpPr>
          <p:cNvPr id="6" name="TextBox 5">
            <a:extLst>
              <a:ext uri="{FF2B5EF4-FFF2-40B4-BE49-F238E27FC236}">
                <a16:creationId xmlns:a16="http://schemas.microsoft.com/office/drawing/2014/main" id="{33F9252A-435C-5909-1311-105DAB7BD21D}"/>
              </a:ext>
            </a:extLst>
          </p:cNvPr>
          <p:cNvSpPr txBox="1"/>
          <p:nvPr/>
        </p:nvSpPr>
        <p:spPr>
          <a:xfrm>
            <a:off x="8993714" y="3839832"/>
            <a:ext cx="3078543" cy="1200329"/>
          </a:xfrm>
          <a:prstGeom prst="rect">
            <a:avLst/>
          </a:prstGeom>
          <a:noFill/>
        </p:spPr>
        <p:txBody>
          <a:bodyPr wrap="square" rtlCol="0">
            <a:spAutoFit/>
          </a:bodyPr>
          <a:lstStyle/>
          <a:p>
            <a:r>
              <a:rPr lang="en-US" sz="2400" dirty="0" err="1">
                <a:effectLst>
                  <a:outerShdw blurRad="38100" dist="38100" dir="2700000" algn="tl">
                    <a:srgbClr val="000000">
                      <a:alpha val="43137"/>
                    </a:srgbClr>
                  </a:outerShdw>
                </a:effectLst>
              </a:rPr>
              <a:t>Fanica</a:t>
            </a:r>
            <a:r>
              <a:rPr lang="en-US" sz="2400" dirty="0">
                <a:effectLst>
                  <a:outerShdw blurRad="38100" dist="38100" dir="2700000" algn="tl">
                    <a:srgbClr val="000000">
                      <a:alpha val="43137"/>
                    </a:srgbClr>
                  </a:outerShdw>
                </a:effectLst>
              </a:rPr>
              <a:t> Gavril </a:t>
            </a:r>
          </a:p>
          <a:p>
            <a:r>
              <a:rPr lang="en-US" sz="2400" dirty="0">
                <a:effectLst>
                  <a:outerShdw blurRad="38100" dist="38100" dir="2700000" algn="tl">
                    <a:srgbClr val="000000">
                      <a:alpha val="43137"/>
                    </a:srgbClr>
                  </a:outerShdw>
                </a:effectLst>
              </a:rPr>
              <a:t>and </a:t>
            </a:r>
          </a:p>
          <a:p>
            <a:r>
              <a:rPr lang="en-US" sz="2400" dirty="0" err="1">
                <a:effectLst>
                  <a:outerShdw blurRad="38100" dist="38100" dir="2700000" algn="tl">
                    <a:srgbClr val="000000">
                      <a:alpha val="43137"/>
                    </a:srgbClr>
                  </a:outerShdw>
                </a:effectLst>
              </a:rPr>
              <a:t>Mihalis</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Yannakakis</a:t>
            </a:r>
            <a:endParaRPr lang="en-IN" sz="2400" dirty="0"/>
          </a:p>
        </p:txBody>
      </p:sp>
    </p:spTree>
    <p:extLst>
      <p:ext uri="{BB962C8B-B14F-4D97-AF65-F5344CB8AC3E}">
        <p14:creationId xmlns:p14="http://schemas.microsoft.com/office/powerpoint/2010/main" val="851463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2C295-5021-9A84-AF90-7F6AC5641AFB}"/>
              </a:ext>
            </a:extLst>
          </p:cNvPr>
          <p:cNvPicPr>
            <a:picLocks noChangeAspect="1"/>
          </p:cNvPicPr>
          <p:nvPr/>
        </p:nvPicPr>
        <p:blipFill>
          <a:blip r:embed="rId2"/>
          <a:stretch>
            <a:fillRect/>
          </a:stretch>
        </p:blipFill>
        <p:spPr>
          <a:xfrm>
            <a:off x="821404" y="1322614"/>
            <a:ext cx="9715968" cy="4212772"/>
          </a:xfrm>
          <a:prstGeom prst="rect">
            <a:avLst/>
          </a:prstGeom>
        </p:spPr>
      </p:pic>
      <p:pic>
        <p:nvPicPr>
          <p:cNvPr id="4" name="Picture 3">
            <a:extLst>
              <a:ext uri="{FF2B5EF4-FFF2-40B4-BE49-F238E27FC236}">
                <a16:creationId xmlns:a16="http://schemas.microsoft.com/office/drawing/2014/main" id="{007F6C0E-AE2C-D71E-A578-841F81BFA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404" y="1322613"/>
            <a:ext cx="9715968" cy="4212772"/>
          </a:xfrm>
          <a:prstGeom prst="rect">
            <a:avLst/>
          </a:prstGeom>
        </p:spPr>
      </p:pic>
      <p:pic>
        <p:nvPicPr>
          <p:cNvPr id="5" name="Picture 4">
            <a:extLst>
              <a:ext uri="{FF2B5EF4-FFF2-40B4-BE49-F238E27FC236}">
                <a16:creationId xmlns:a16="http://schemas.microsoft.com/office/drawing/2014/main" id="{5DB6B591-E336-08FF-2D34-0EF1DFBF44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403" y="1344384"/>
            <a:ext cx="9685743" cy="4212772"/>
          </a:xfrm>
          <a:prstGeom prst="rect">
            <a:avLst/>
          </a:prstGeom>
        </p:spPr>
      </p:pic>
    </p:spTree>
    <p:extLst>
      <p:ext uri="{BB962C8B-B14F-4D97-AF65-F5344CB8AC3E}">
        <p14:creationId xmlns:p14="http://schemas.microsoft.com/office/powerpoint/2010/main" val="2110074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2C295-5021-9A84-AF90-7F6AC5641AFB}"/>
              </a:ext>
            </a:extLst>
          </p:cNvPr>
          <p:cNvPicPr>
            <a:picLocks noChangeAspect="1"/>
          </p:cNvPicPr>
          <p:nvPr/>
        </p:nvPicPr>
        <p:blipFill>
          <a:blip r:embed="rId2"/>
          <a:stretch>
            <a:fillRect/>
          </a:stretch>
        </p:blipFill>
        <p:spPr>
          <a:xfrm>
            <a:off x="821403" y="1322614"/>
            <a:ext cx="10319657" cy="4212772"/>
          </a:xfrm>
          <a:prstGeom prst="rect">
            <a:avLst/>
          </a:prstGeom>
        </p:spPr>
      </p:pic>
      <p:pic>
        <p:nvPicPr>
          <p:cNvPr id="2" name="Picture 1">
            <a:extLst>
              <a:ext uri="{FF2B5EF4-FFF2-40B4-BE49-F238E27FC236}">
                <a16:creationId xmlns:a16="http://schemas.microsoft.com/office/drawing/2014/main" id="{C0ABA3EC-4517-981D-CF1A-C26054682272}"/>
              </a:ext>
            </a:extLst>
          </p:cNvPr>
          <p:cNvPicPr>
            <a:picLocks noChangeAspect="1"/>
          </p:cNvPicPr>
          <p:nvPr/>
        </p:nvPicPr>
        <p:blipFill>
          <a:blip r:embed="rId3"/>
          <a:stretch>
            <a:fillRect/>
          </a:stretch>
        </p:blipFill>
        <p:spPr>
          <a:xfrm>
            <a:off x="834662" y="1322614"/>
            <a:ext cx="10306398" cy="4212772"/>
          </a:xfrm>
          <a:prstGeom prst="rect">
            <a:avLst/>
          </a:prstGeom>
        </p:spPr>
      </p:pic>
    </p:spTree>
    <p:extLst>
      <p:ext uri="{BB962C8B-B14F-4D97-AF65-F5344CB8AC3E}">
        <p14:creationId xmlns:p14="http://schemas.microsoft.com/office/powerpoint/2010/main" val="3487057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2C295-5021-9A84-AF90-7F6AC5641AFB}"/>
              </a:ext>
            </a:extLst>
          </p:cNvPr>
          <p:cNvPicPr>
            <a:picLocks noChangeAspect="1"/>
          </p:cNvPicPr>
          <p:nvPr/>
        </p:nvPicPr>
        <p:blipFill>
          <a:blip r:embed="rId2"/>
          <a:stretch>
            <a:fillRect/>
          </a:stretch>
        </p:blipFill>
        <p:spPr>
          <a:xfrm>
            <a:off x="821403" y="1322614"/>
            <a:ext cx="10319657" cy="4212772"/>
          </a:xfrm>
          <a:prstGeom prst="rect">
            <a:avLst/>
          </a:prstGeom>
        </p:spPr>
      </p:pic>
      <p:pic>
        <p:nvPicPr>
          <p:cNvPr id="4" name="Picture 3">
            <a:extLst>
              <a:ext uri="{FF2B5EF4-FFF2-40B4-BE49-F238E27FC236}">
                <a16:creationId xmlns:a16="http://schemas.microsoft.com/office/drawing/2014/main" id="{3AA0756B-97A2-5855-7A59-E0D21D80E757}"/>
              </a:ext>
            </a:extLst>
          </p:cNvPr>
          <p:cNvPicPr>
            <a:picLocks noChangeAspect="1"/>
          </p:cNvPicPr>
          <p:nvPr/>
        </p:nvPicPr>
        <p:blipFill>
          <a:blip r:embed="rId3"/>
          <a:stretch>
            <a:fillRect/>
          </a:stretch>
        </p:blipFill>
        <p:spPr>
          <a:xfrm>
            <a:off x="821403" y="1322614"/>
            <a:ext cx="10328442" cy="4212772"/>
          </a:xfrm>
          <a:prstGeom prst="rect">
            <a:avLst/>
          </a:prstGeom>
        </p:spPr>
      </p:pic>
    </p:spTree>
    <p:extLst>
      <p:ext uri="{BB962C8B-B14F-4D97-AF65-F5344CB8AC3E}">
        <p14:creationId xmlns:p14="http://schemas.microsoft.com/office/powerpoint/2010/main" val="4149518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2C295-5021-9A84-AF90-7F6AC5641AFB}"/>
              </a:ext>
            </a:extLst>
          </p:cNvPr>
          <p:cNvPicPr>
            <a:picLocks noChangeAspect="1"/>
          </p:cNvPicPr>
          <p:nvPr/>
        </p:nvPicPr>
        <p:blipFill>
          <a:blip r:embed="rId2"/>
          <a:stretch>
            <a:fillRect/>
          </a:stretch>
        </p:blipFill>
        <p:spPr>
          <a:xfrm>
            <a:off x="821403" y="1322614"/>
            <a:ext cx="10319657" cy="4212772"/>
          </a:xfrm>
          <a:prstGeom prst="rect">
            <a:avLst/>
          </a:prstGeom>
        </p:spPr>
      </p:pic>
      <p:pic>
        <p:nvPicPr>
          <p:cNvPr id="4" name="Picture 3">
            <a:extLst>
              <a:ext uri="{FF2B5EF4-FFF2-40B4-BE49-F238E27FC236}">
                <a16:creationId xmlns:a16="http://schemas.microsoft.com/office/drawing/2014/main" id="{665C992B-EAE1-4035-FBA7-9DBB1BB42D12}"/>
              </a:ext>
            </a:extLst>
          </p:cNvPr>
          <p:cNvPicPr>
            <a:picLocks noChangeAspect="1"/>
          </p:cNvPicPr>
          <p:nvPr/>
        </p:nvPicPr>
        <p:blipFill>
          <a:blip r:embed="rId3"/>
          <a:stretch>
            <a:fillRect/>
          </a:stretch>
        </p:blipFill>
        <p:spPr>
          <a:xfrm>
            <a:off x="821403" y="1322613"/>
            <a:ext cx="10305484" cy="4212772"/>
          </a:xfrm>
          <a:prstGeom prst="rect">
            <a:avLst/>
          </a:prstGeom>
        </p:spPr>
      </p:pic>
      <p:sp>
        <p:nvSpPr>
          <p:cNvPr id="5" name="TextBox 4">
            <a:extLst>
              <a:ext uri="{FF2B5EF4-FFF2-40B4-BE49-F238E27FC236}">
                <a16:creationId xmlns:a16="http://schemas.microsoft.com/office/drawing/2014/main" id="{9F1CF31F-8621-8EAE-17BC-85C3632519F1}"/>
              </a:ext>
            </a:extLst>
          </p:cNvPr>
          <p:cNvSpPr txBox="1"/>
          <p:nvPr/>
        </p:nvSpPr>
        <p:spPr>
          <a:xfrm>
            <a:off x="821403" y="5747657"/>
            <a:ext cx="9437912"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Approximate Solution - 6</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08683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D7E703-6FC7-EE59-BC21-670D7B0A60D8}"/>
              </a:ext>
            </a:extLst>
          </p:cNvPr>
          <p:cNvPicPr>
            <a:picLocks noChangeAspect="1"/>
          </p:cNvPicPr>
          <p:nvPr/>
        </p:nvPicPr>
        <p:blipFill>
          <a:blip r:embed="rId2"/>
          <a:stretch>
            <a:fillRect/>
          </a:stretch>
        </p:blipFill>
        <p:spPr>
          <a:xfrm>
            <a:off x="801334" y="1175657"/>
            <a:ext cx="10405852" cy="4298575"/>
          </a:xfrm>
          <a:prstGeom prst="rect">
            <a:avLst/>
          </a:prstGeom>
        </p:spPr>
      </p:pic>
      <p:sp>
        <p:nvSpPr>
          <p:cNvPr id="4" name="TextBox 3">
            <a:extLst>
              <a:ext uri="{FF2B5EF4-FFF2-40B4-BE49-F238E27FC236}">
                <a16:creationId xmlns:a16="http://schemas.microsoft.com/office/drawing/2014/main" id="{FC0A5E95-51E6-3091-A38D-2B9CAB657576}"/>
              </a:ext>
            </a:extLst>
          </p:cNvPr>
          <p:cNvSpPr txBox="1"/>
          <p:nvPr/>
        </p:nvSpPr>
        <p:spPr>
          <a:xfrm>
            <a:off x="801334" y="5682343"/>
            <a:ext cx="9437912"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Optimal Solution - 3</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67767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D9A8F9-CB81-F53A-233E-BE6B3DDE209E}"/>
              </a:ext>
            </a:extLst>
          </p:cNvPr>
          <p:cNvSpPr txBox="1"/>
          <p:nvPr/>
        </p:nvSpPr>
        <p:spPr>
          <a:xfrm>
            <a:off x="718460" y="595537"/>
            <a:ext cx="9437912" cy="6001643"/>
          </a:xfrm>
          <a:prstGeom prst="rect">
            <a:avLst/>
          </a:prstGeom>
          <a:noFill/>
        </p:spPr>
        <p:txBody>
          <a:bodyPr wrap="square" rtlCol="0">
            <a:spAutoFit/>
          </a:bodyPr>
          <a:lstStyle/>
          <a:p>
            <a:pPr marL="342900" indent="-342900">
              <a:buFont typeface="Arial" panose="020B0604020202020204" pitchFamily="34" charset="0"/>
              <a:buChar char="•"/>
            </a:pPr>
            <a:r>
              <a:rPr lang="en-US" sz="2800" dirty="0"/>
              <a:t>The set of edges chosen is a maximal matching of the graph</a:t>
            </a:r>
          </a:p>
          <a:p>
            <a:endParaRPr lang="en-US" sz="2800" dirty="0"/>
          </a:p>
          <a:p>
            <a:pPr marL="342900" indent="-342900">
              <a:buFont typeface="Arial" panose="020B0604020202020204" pitchFamily="34" charset="0"/>
              <a:buChar char="•"/>
            </a:pPr>
            <a:r>
              <a:rPr lang="en-US" sz="2800" dirty="0"/>
              <a:t>This Approximate solution always has an approximation ratio </a:t>
            </a:r>
            <a:r>
              <a:rPr lang="el-GR" sz="2800" dirty="0"/>
              <a:t>ρ(</a:t>
            </a:r>
            <a:r>
              <a:rPr lang="en-IN" sz="2800" dirty="0"/>
              <a:t>n)</a:t>
            </a:r>
            <a:r>
              <a:rPr lang="en-US" sz="2800" dirty="0"/>
              <a:t> </a:t>
            </a:r>
            <a:r>
              <a:rPr lang="en-IN" sz="2800" dirty="0"/>
              <a:t>= 2. That is the optimal answer is always less than or equal to twice the Approximate Solution. </a:t>
            </a:r>
            <a:r>
              <a:rPr lang="en-IN" sz="2800" dirty="0">
                <a:hlinkClick r:id="rId2"/>
              </a:rPr>
              <a:t>Proof</a:t>
            </a:r>
            <a:endParaRPr lang="en-IN" sz="2800" dirty="0"/>
          </a:p>
          <a:p>
            <a:endParaRPr lang="en-IN" sz="2800" dirty="0"/>
          </a:p>
          <a:p>
            <a:pPr marL="342900" indent="-342900">
              <a:buFont typeface="Arial" panose="020B0604020202020204" pitchFamily="34" charset="0"/>
              <a:buChar char="•"/>
            </a:pPr>
            <a:r>
              <a:rPr lang="en-IN" sz="2800" dirty="0"/>
              <a:t>It is shown that </a:t>
            </a:r>
            <a:r>
              <a:rPr lang="el-GR" sz="2800" dirty="0"/>
              <a:t>ρ(</a:t>
            </a:r>
            <a:r>
              <a:rPr lang="en-IN" sz="2800" dirty="0"/>
              <a:t>n)</a:t>
            </a:r>
            <a:r>
              <a:rPr lang="en-US" sz="2800" dirty="0"/>
              <a:t> </a:t>
            </a:r>
            <a:r>
              <a:rPr lang="en-IN" sz="2800" b="0" i="0" dirty="0">
                <a:effectLst/>
                <a:latin typeface="Google Sans"/>
              </a:rPr>
              <a:t>≥ </a:t>
            </a:r>
            <a:r>
              <a:rPr lang="en-IN" sz="2800" b="0" i="0" dirty="0">
                <a:effectLst/>
                <a:latin typeface="Open Sans" panose="020B0606030504020204" pitchFamily="34" charset="0"/>
              </a:rPr>
              <a:t>√2 for any Polynomial Time Approximation and the Approximation cannot be improved further unless P=NP. </a:t>
            </a:r>
          </a:p>
          <a:p>
            <a:r>
              <a:rPr lang="en-IN" sz="2800" dirty="0">
                <a:latin typeface="Open Sans" panose="020B0606030504020204" pitchFamily="34" charset="0"/>
              </a:rPr>
              <a:t>    </a:t>
            </a:r>
            <a:r>
              <a:rPr lang="en-IN" sz="2800" b="0" i="0" dirty="0">
                <a:effectLst/>
                <a:latin typeface="Open Sans" panose="020B0606030504020204" pitchFamily="34" charset="0"/>
              </a:rPr>
              <a:t>[</a:t>
            </a:r>
            <a:r>
              <a:rPr lang="en-IN" sz="2800" b="0" i="0" dirty="0" err="1">
                <a:effectLst/>
                <a:latin typeface="Open Sans" panose="020B0606030504020204" pitchFamily="34" charset="0"/>
              </a:rPr>
              <a:t>Dinur</a:t>
            </a:r>
            <a:r>
              <a:rPr lang="en-IN" sz="2800" b="0" i="0" dirty="0">
                <a:effectLst/>
                <a:latin typeface="Open Sans" panose="020B0606030504020204" pitchFamily="34" charset="0"/>
              </a:rPr>
              <a:t> and </a:t>
            </a:r>
            <a:r>
              <a:rPr lang="en-IN" sz="2800" b="0" i="0" dirty="0" err="1">
                <a:effectLst/>
                <a:latin typeface="Open Sans" panose="020B0606030504020204" pitchFamily="34" charset="0"/>
              </a:rPr>
              <a:t>Safra</a:t>
            </a:r>
            <a:r>
              <a:rPr lang="en-IN" sz="2800" b="0" i="0" dirty="0">
                <a:effectLst/>
                <a:latin typeface="Open Sans" panose="020B0606030504020204" pitchFamily="34" charset="0"/>
              </a:rPr>
              <a:t>, 2005]</a:t>
            </a:r>
          </a:p>
          <a:p>
            <a:pPr marL="342900" indent="-342900">
              <a:buFont typeface="Arial" panose="020B0604020202020204" pitchFamily="34" charset="0"/>
              <a:buChar char="•"/>
            </a:pPr>
            <a:endParaRPr lang="en-IN" sz="2400" dirty="0">
              <a:latin typeface="Open Sans" panose="020B0606030504020204" pitchFamily="34" charset="0"/>
            </a:endParaRPr>
          </a:p>
          <a:p>
            <a:pPr marL="342900" indent="-342900">
              <a:buFont typeface="Arial" panose="020B0604020202020204" pitchFamily="34" charset="0"/>
              <a:buChar char="•"/>
            </a:pPr>
            <a:endParaRPr lang="en-IN" sz="2400" dirty="0"/>
          </a:p>
        </p:txBody>
      </p:sp>
    </p:spTree>
    <p:extLst>
      <p:ext uri="{BB962C8B-B14F-4D97-AF65-F5344CB8AC3E}">
        <p14:creationId xmlns:p14="http://schemas.microsoft.com/office/powerpoint/2010/main" val="3147283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Linear Programming</a:t>
            </a:r>
            <a:endParaRPr lang="en-IN" sz="4400" b="1" dirty="0">
              <a:solidFill>
                <a:srgbClr val="FFC000"/>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D9A8F9-CB81-F53A-233E-BE6B3DDE209E}"/>
                  </a:ext>
                </a:extLst>
              </p:cNvPr>
              <p:cNvSpPr txBox="1"/>
              <p:nvPr/>
            </p:nvSpPr>
            <p:spPr>
              <a:xfrm>
                <a:off x="739970" y="903515"/>
                <a:ext cx="9437912" cy="5632311"/>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Minimum Vertex Cover</a:t>
                </a:r>
                <a:r>
                  <a:rPr lang="en-US" sz="2400" dirty="0"/>
                  <a:t> can be formulated as an </a:t>
                </a:r>
                <a:r>
                  <a:rPr lang="en-US" sz="2400" b="1" dirty="0">
                    <a:effectLst>
                      <a:outerShdw blurRad="38100" dist="38100" dir="2700000" algn="tl">
                        <a:srgbClr val="000000">
                          <a:alpha val="43137"/>
                        </a:srgbClr>
                      </a:outerShdw>
                    </a:effectLst>
                  </a:rPr>
                  <a:t>Integer Linear Program (ILP) [ 0-1 LP] </a:t>
                </a:r>
                <a:r>
                  <a:rPr lang="en-US" sz="2400" dirty="0"/>
                  <a:t>as follows:</a:t>
                </a:r>
              </a:p>
              <a:p>
                <a:endParaRPr lang="en-US" sz="2400" dirty="0"/>
              </a:p>
              <a:p>
                <a:r>
                  <a:rPr lang="en-US" sz="2400" dirty="0"/>
                  <a:t>Minimize:</a:t>
                </a:r>
              </a:p>
              <a:p>
                <a:r>
                  <a:rPr lang="en-US" sz="2400" dirty="0"/>
                  <a:t>z = </a:t>
                </a:r>
                <a14:m>
                  <m:oMath xmlns:m="http://schemas.openxmlformats.org/officeDocument/2006/math">
                    <m:r>
                      <a:rPr lang="en-US" sz="2400" b="1" i="1" smtClean="0">
                        <a:effectLst>
                          <a:outerShdw blurRad="38100" dist="38100" dir="2700000" algn="tl">
                            <a:srgbClr val="000000">
                              <a:alpha val="43137"/>
                            </a:srgbClr>
                          </a:outerShdw>
                        </a:effectLst>
                        <a:latin typeface="Cambria Math" panose="02040503050406030204" pitchFamily="18" charset="0"/>
                      </a:rPr>
                      <m:t>∑</m:t>
                    </m:r>
                    <m:sSub>
                      <m:sSubPr>
                        <m:ctrlPr>
                          <a:rPr lang="en-US" sz="2400" b="1" i="1" smtClean="0">
                            <a:effectLst>
                              <a:outerShdw blurRad="38100" dist="38100" dir="2700000" algn="tl">
                                <a:srgbClr val="000000">
                                  <a:alpha val="43137"/>
                                </a:srgbClr>
                              </a:outerShdw>
                            </a:effectLst>
                            <a:latin typeface="Cambria Math" panose="02040503050406030204" pitchFamily="18" charset="0"/>
                          </a:rPr>
                        </m:ctrlPr>
                      </m:sSubPr>
                      <m:e>
                        <m:r>
                          <a:rPr lang="en-US" sz="2400" b="1" i="1" smtClean="0">
                            <a:effectLst>
                              <a:outerShdw blurRad="38100" dist="38100" dir="2700000" algn="tl">
                                <a:srgbClr val="000000">
                                  <a:alpha val="43137"/>
                                </a:srgbClr>
                              </a:outerShdw>
                            </a:effectLst>
                            <a:latin typeface="Cambria Math" panose="02040503050406030204" pitchFamily="18" charset="0"/>
                          </a:rPr>
                          <m:t>𝒘</m:t>
                        </m:r>
                        <m:d>
                          <m:dPr>
                            <m:ctrlPr>
                              <a:rPr lang="en-US" sz="2400" b="1" i="1" smtClean="0">
                                <a:effectLst>
                                  <a:outerShdw blurRad="38100" dist="38100" dir="2700000" algn="tl">
                                    <a:srgbClr val="000000">
                                      <a:alpha val="43137"/>
                                    </a:srgbClr>
                                  </a:outerShdw>
                                </a:effectLst>
                                <a:latin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rPr>
                              <m:t>𝒖</m:t>
                            </m:r>
                          </m:e>
                        </m:d>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rPr>
                          <m:t>𝒙</m:t>
                        </m:r>
                      </m:e>
                      <m:sub>
                        <m:r>
                          <a:rPr lang="en-US" sz="2400" b="1" i="1" smtClean="0">
                            <a:effectLst>
                              <a:outerShdw blurRad="38100" dist="38100" dir="2700000" algn="tl">
                                <a:srgbClr val="000000">
                                  <a:alpha val="43137"/>
                                </a:srgbClr>
                              </a:outerShdw>
                            </a:effectLst>
                            <a:latin typeface="Cambria Math" panose="02040503050406030204" pitchFamily="18" charset="0"/>
                          </a:rPr>
                          <m:t>𝒖</m:t>
                        </m:r>
                      </m:sub>
                    </m:sSub>
                    <m:r>
                      <a:rPr lang="en-US" sz="2400" b="1" i="1" smtClean="0">
                        <a:effectLst>
                          <a:outerShdw blurRad="38100" dist="38100" dir="2700000" algn="tl">
                            <a:srgbClr val="000000">
                              <a:alpha val="43137"/>
                            </a:srgbClr>
                          </a:outerShdw>
                        </a:effectLst>
                        <a:latin typeface="Cambria Math" panose="02040503050406030204" pitchFamily="18" charset="0"/>
                      </a:rPr>
                      <m:t> , </m:t>
                    </m:r>
                    <m:r>
                      <a:rPr lang="en-US" sz="2400" b="1" i="1" smtClean="0">
                        <a:effectLst>
                          <a:outerShdw blurRad="38100" dist="38100" dir="2700000" algn="tl">
                            <a:srgbClr val="000000">
                              <a:alpha val="43137"/>
                            </a:srgbClr>
                          </a:outerShdw>
                        </a:effectLst>
                        <a:latin typeface="Cambria Math" panose="02040503050406030204" pitchFamily="18" charset="0"/>
                      </a:rPr>
                      <m:t>𝒖</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𝑽</m:t>
                    </m:r>
                  </m:oMath>
                </a14:m>
                <a:r>
                  <a:rPr lang="en-US" sz="2400" b="1" dirty="0"/>
                  <a:t>  				[ Objective function ]</a:t>
                </a:r>
              </a:p>
              <a:p>
                <a:endParaRPr lang="en-US" sz="2400" b="1" dirty="0"/>
              </a:p>
              <a:p>
                <a:r>
                  <a:rPr lang="en-US" sz="2400" dirty="0"/>
                  <a:t>Subject to: </a:t>
                </a:r>
              </a:p>
              <a:p>
                <a14:m>
                  <m:oMath xmlns:m="http://schemas.openxmlformats.org/officeDocument/2006/math">
                    <m:sSub>
                      <m:sSubPr>
                        <m:ctrlPr>
                          <a:rPr lang="en-US" sz="2400" b="1" i="1" smtClean="0">
                            <a:effectLst>
                              <a:outerShdw blurRad="38100" dist="38100" dir="2700000" algn="tl">
                                <a:srgbClr val="000000">
                                  <a:alpha val="43137"/>
                                </a:srgbClr>
                              </a:outerShdw>
                            </a:effectLst>
                            <a:latin typeface="Cambria Math" panose="02040503050406030204" pitchFamily="18" charset="0"/>
                          </a:rPr>
                        </m:ctrlPr>
                      </m:sSubPr>
                      <m:e>
                        <m:r>
                          <a:rPr lang="en-US" sz="2400" b="1" i="1" smtClean="0">
                            <a:effectLst>
                              <a:outerShdw blurRad="38100" dist="38100" dir="2700000" algn="tl">
                                <a:srgbClr val="000000">
                                  <a:alpha val="43137"/>
                                </a:srgbClr>
                              </a:outerShdw>
                            </a:effectLst>
                            <a:latin typeface="Cambria Math" panose="02040503050406030204" pitchFamily="18" charset="0"/>
                          </a:rPr>
                          <m:t>𝒙</m:t>
                        </m:r>
                      </m:e>
                      <m:sub>
                        <m:r>
                          <a:rPr lang="en-US" sz="2400" b="1" i="1" smtClean="0">
                            <a:effectLst>
                              <a:outerShdw blurRad="38100" dist="38100" dir="2700000" algn="tl">
                                <a:srgbClr val="000000">
                                  <a:alpha val="43137"/>
                                </a:srgbClr>
                              </a:outerShdw>
                            </a:effectLst>
                            <a:latin typeface="Cambria Math" panose="02040503050406030204" pitchFamily="18" charset="0"/>
                          </a:rPr>
                          <m:t>𝒖</m:t>
                        </m:r>
                      </m:sub>
                    </m:sSub>
                    <m:r>
                      <a:rPr lang="en-US" sz="2400" b="1" i="1" smtClean="0">
                        <a:effectLst>
                          <a:outerShdw blurRad="38100" dist="38100" dir="2700000" algn="tl">
                            <a:srgbClr val="000000">
                              <a:alpha val="43137"/>
                            </a:srgbClr>
                          </a:outerShdw>
                        </a:effectLst>
                        <a:latin typeface="Cambria Math" panose="02040503050406030204" pitchFamily="18" charset="0"/>
                      </a:rPr>
                      <m:t>+</m:t>
                    </m:r>
                    <m:sSub>
                      <m:sSubPr>
                        <m:ctrlPr>
                          <a:rPr lang="en-US" sz="2400" b="1" i="1" smtClean="0">
                            <a:effectLst>
                              <a:outerShdw blurRad="38100" dist="38100" dir="2700000" algn="tl">
                                <a:srgbClr val="000000">
                                  <a:alpha val="43137"/>
                                </a:srgbClr>
                              </a:outerShdw>
                            </a:effectLst>
                            <a:latin typeface="Cambria Math" panose="02040503050406030204" pitchFamily="18" charset="0"/>
                          </a:rPr>
                        </m:ctrlPr>
                      </m:sSubPr>
                      <m:e>
                        <m:r>
                          <a:rPr lang="en-US" sz="2400" b="1" i="1" smtClean="0">
                            <a:effectLst>
                              <a:outerShdw blurRad="38100" dist="38100" dir="2700000" algn="tl">
                                <a:srgbClr val="000000">
                                  <a:alpha val="43137"/>
                                </a:srgbClr>
                              </a:outerShdw>
                            </a:effectLst>
                            <a:latin typeface="Cambria Math" panose="02040503050406030204" pitchFamily="18" charset="0"/>
                          </a:rPr>
                          <m:t>𝒙</m:t>
                        </m:r>
                      </m:e>
                      <m:sub>
                        <m:r>
                          <a:rPr lang="en-US" sz="2400" b="1" i="1" smtClean="0">
                            <a:effectLst>
                              <a:outerShdw blurRad="38100" dist="38100" dir="2700000" algn="tl">
                                <a:srgbClr val="000000">
                                  <a:alpha val="43137"/>
                                </a:srgbClr>
                              </a:outerShdw>
                            </a:effectLst>
                            <a:latin typeface="Cambria Math" panose="02040503050406030204" pitchFamily="18" charset="0"/>
                          </a:rPr>
                          <m:t>𝒗</m:t>
                        </m:r>
                      </m:sub>
                    </m:sSub>
                    <m:r>
                      <a:rPr lang="en-US" sz="2400" b="1" i="1" smtClean="0">
                        <a:effectLst>
                          <a:outerShdw blurRad="38100" dist="38100" dir="2700000" algn="tl">
                            <a:srgbClr val="000000">
                              <a:alpha val="43137"/>
                            </a:srgbClr>
                          </a:outerShdw>
                        </a:effectLst>
                        <a:latin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rPr>
                      <m:t>𝟏</m:t>
                    </m:r>
                  </m:oMath>
                </a14:m>
                <a:r>
                  <a:rPr lang="en-US" sz="2400" b="1" dirty="0">
                    <a:effectLst>
                      <a:outerShdw blurRad="38100" dist="38100" dir="2700000" algn="tl">
                        <a:srgbClr val="000000">
                          <a:alpha val="43137"/>
                        </a:srgbClr>
                      </a:outerShdw>
                    </a:effectLst>
                  </a:rPr>
                  <a:t>, </a:t>
                </a:r>
                <a14:m>
                  <m:oMath xmlns:m="http://schemas.openxmlformats.org/officeDocument/2006/math">
                    <m:r>
                      <a:rPr lang="en-IN"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begChr m:val="{"/>
                        <m:endChr m:val="}"/>
                        <m:ctrlP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e>
                    </m:d>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𝑬</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oMath>
                </a14:m>
                <a:r>
                  <a:rPr lang="en-US" sz="2400" b="1" dirty="0">
                    <a:effectLst>
                      <a:outerShdw blurRad="38100" dist="38100" dir="2700000" algn="tl">
                        <a:srgbClr val="000000">
                          <a:alpha val="43137"/>
                        </a:srgbClr>
                      </a:outerShdw>
                    </a:effectLst>
                  </a:rPr>
                  <a:t> 			[ Constraints ]</a:t>
                </a:r>
              </a:p>
              <a:p>
                <a14:m>
                  <m:oMath xmlns:m="http://schemas.openxmlformats.org/officeDocument/2006/math">
                    <m:sSub>
                      <m:sSubPr>
                        <m:ctrlPr>
                          <a:rPr lang="en-US" sz="2400" b="1" i="1" smtClean="0">
                            <a:effectLst>
                              <a:outerShdw blurRad="38100" dist="38100" dir="2700000" algn="tl">
                                <a:srgbClr val="000000">
                                  <a:alpha val="43137"/>
                                </a:srgbClr>
                              </a:outerShdw>
                            </a:effectLst>
                            <a:latin typeface="Cambria Math" panose="02040503050406030204" pitchFamily="18" charset="0"/>
                          </a:rPr>
                        </m:ctrlPr>
                      </m:sSubPr>
                      <m:e>
                        <m:r>
                          <a:rPr lang="en-US" sz="2400" b="1" i="1" smtClean="0">
                            <a:effectLst>
                              <a:outerShdw blurRad="38100" dist="38100" dir="2700000" algn="tl">
                                <a:srgbClr val="000000">
                                  <a:alpha val="43137"/>
                                </a:srgbClr>
                              </a:outerShdw>
                            </a:effectLst>
                            <a:latin typeface="Cambria Math" panose="02040503050406030204" pitchFamily="18" charset="0"/>
                          </a:rPr>
                          <m:t>𝒙</m:t>
                        </m:r>
                      </m:e>
                      <m:sub>
                        <m:r>
                          <a:rPr lang="en-US" sz="2400" b="1" i="1" smtClean="0">
                            <a:effectLst>
                              <a:outerShdw blurRad="38100" dist="38100" dir="2700000" algn="tl">
                                <a:srgbClr val="000000">
                                  <a:alpha val="43137"/>
                                </a:srgbClr>
                              </a:outerShdw>
                            </a:effectLst>
                            <a:latin typeface="Cambria Math" panose="02040503050406030204" pitchFamily="18" charset="0"/>
                          </a:rPr>
                          <m:t>𝒖</m:t>
                        </m:r>
                      </m:sub>
                    </m:sSub>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𝟎</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𝟏</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oMath>
                </a14:m>
                <a:r>
                  <a:rPr lang="en-US" sz="2400" b="1" dirty="0">
                    <a:effectLst>
                      <a:outerShdw blurRad="38100" dist="38100" dir="2700000" algn="tl">
                        <a:srgbClr val="000000">
                          <a:alpha val="43137"/>
                        </a:srgbClr>
                      </a:outerShdw>
                    </a:effectLst>
                  </a:rPr>
                  <a:t>, </a:t>
                </a:r>
                <a14:m>
                  <m:oMath xmlns:m="http://schemas.openxmlformats.org/officeDocument/2006/math">
                    <m:r>
                      <a:rPr lang="en-IN"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oMath>
                </a14:m>
                <a:endParaRPr lang="en-US" sz="2400" b="1" dirty="0">
                  <a:effectLst>
                    <a:outerShdw blurRad="38100" dist="38100" dir="2700000" algn="tl">
                      <a:srgbClr val="000000">
                        <a:alpha val="43137"/>
                      </a:srgbClr>
                    </a:outerShdw>
                  </a:effectLst>
                </a:endParaRPr>
              </a:p>
              <a:p>
                <a:endParaRPr lang="en-US" sz="2400" b="1" dirty="0">
                  <a:effectLst>
                    <a:outerShdw blurRad="38100" dist="38100" dir="2700000" algn="tl">
                      <a:srgbClr val="000000">
                        <a:alpha val="43137"/>
                      </a:srgbClr>
                    </a:outerShdw>
                  </a:effectLst>
                </a:endParaRPr>
              </a:p>
              <a:p>
                <a:r>
                  <a:rPr lang="en-US" sz="2400" dirty="0">
                    <a:effectLst>
                      <a:outerShdw blurRad="38100" dist="38100" dir="2700000" algn="tl">
                        <a:srgbClr val="000000">
                          <a:alpha val="43137"/>
                        </a:srgbClr>
                      </a:outerShdw>
                    </a:effectLst>
                  </a:rPr>
                  <a:t>Here, in this case,</a:t>
                </a:r>
                <a:r>
                  <a:rPr lang="en-US" sz="2400" i="1" dirty="0">
                    <a:effectLst>
                      <a:outerShdw blurRad="38100" dist="38100" dir="2700000" algn="tl">
                        <a:srgbClr val="000000">
                          <a:alpha val="43137"/>
                        </a:srgbClr>
                      </a:outerShdw>
                    </a:effectLst>
                  </a:rPr>
                  <a:t> </a:t>
                </a:r>
                <a14:m>
                  <m:oMath xmlns:m="http://schemas.openxmlformats.org/officeDocument/2006/math">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𝒘</m:t>
                    </m:r>
                    <m:d>
                      <m:dPr>
                        <m:ctrl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e>
                    </m:d>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𝟏</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 </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oMath>
                </a14:m>
                <a:endParaRPr lang="en-US" sz="2400" dirty="0"/>
              </a:p>
              <a:p>
                <a:r>
                  <a:rPr lang="en-US" sz="2400" dirty="0"/>
                  <a:t>Using this we can also solve another variant of Vertex Cover i.e. the Weighted Vertex Cover where each vertex has unequal weight w(u).</a:t>
                </a:r>
              </a:p>
              <a:p>
                <a:pPr marL="342900" indent="-342900">
                  <a:buFont typeface="Arial" panose="020B0604020202020204" pitchFamily="34" charset="0"/>
                  <a:buChar char="•"/>
                </a:pPr>
                <a:r>
                  <a:rPr lang="en-US" sz="2400" b="1" dirty="0">
                    <a:effectLst>
                      <a:outerShdw blurRad="38100" dist="38100" dir="2700000" algn="tl">
                        <a:srgbClr val="000000">
                          <a:alpha val="43137"/>
                        </a:srgbClr>
                      </a:outerShdw>
                    </a:effectLst>
                  </a:rPr>
                  <a:t>Branch and Bound</a:t>
                </a:r>
                <a:r>
                  <a:rPr lang="en-US" sz="2400" dirty="0"/>
                  <a:t> can be used to solve such LP.</a:t>
                </a:r>
              </a:p>
            </p:txBody>
          </p:sp>
        </mc:Choice>
        <mc:Fallback xmlns="">
          <p:sp>
            <p:nvSpPr>
              <p:cNvPr id="10" name="TextBox 9">
                <a:extLst>
                  <a:ext uri="{FF2B5EF4-FFF2-40B4-BE49-F238E27FC236}">
                    <a16:creationId xmlns:a16="http://schemas.microsoft.com/office/drawing/2014/main" id="{4CD9A8F9-CB81-F53A-233E-BE6B3DDE209E}"/>
                  </a:ext>
                </a:extLst>
              </p:cNvPr>
              <p:cNvSpPr txBox="1">
                <a:spLocks noRot="1" noChangeAspect="1" noMove="1" noResize="1" noEditPoints="1" noAdjustHandles="1" noChangeArrowheads="1" noChangeShapeType="1" noTextEdit="1"/>
              </p:cNvSpPr>
              <p:nvPr/>
            </p:nvSpPr>
            <p:spPr>
              <a:xfrm>
                <a:off x="739970" y="903515"/>
                <a:ext cx="9437912" cy="5632311"/>
              </a:xfrm>
              <a:prstGeom prst="rect">
                <a:avLst/>
              </a:prstGeom>
              <a:blipFill>
                <a:blip r:embed="rId2"/>
                <a:stretch>
                  <a:fillRect l="-1033" t="-974" b="-2056"/>
                </a:stretch>
              </a:blipFill>
            </p:spPr>
            <p:txBody>
              <a:bodyPr/>
              <a:lstStyle/>
              <a:p>
                <a:r>
                  <a:rPr lang="en-IN">
                    <a:noFill/>
                  </a:rPr>
                  <a:t> </a:t>
                </a:r>
              </a:p>
            </p:txBody>
          </p:sp>
        </mc:Fallback>
      </mc:AlternateContent>
    </p:spTree>
    <p:extLst>
      <p:ext uri="{BB962C8B-B14F-4D97-AF65-F5344CB8AC3E}">
        <p14:creationId xmlns:p14="http://schemas.microsoft.com/office/powerpoint/2010/main" val="2948328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Other Known Results</a:t>
            </a:r>
            <a:endParaRPr lang="en-IN" sz="44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739970" y="1883229"/>
            <a:ext cx="9437912" cy="2369880"/>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best known time for solving Vertex Cover is O(1.3</a:t>
            </a:r>
            <a:r>
              <a:rPr lang="en-US" sz="2400" baseline="30000" dirty="0"/>
              <a:t>k </a:t>
            </a:r>
            <a:r>
              <a:rPr lang="en-US" sz="2400" dirty="0"/>
              <a:t>+ </a:t>
            </a:r>
            <a:r>
              <a:rPr lang="en-US" sz="2400" dirty="0" err="1"/>
              <a:t>n.k</a:t>
            </a:r>
            <a:r>
              <a:rPr lang="en-US" sz="2400" dirty="0"/>
              <a:t>)</a:t>
            </a:r>
          </a:p>
          <a:p>
            <a:endParaRPr lang="en-US" sz="2400" dirty="0"/>
          </a:p>
          <a:p>
            <a:pPr marL="342900" indent="-342900">
              <a:buFont typeface="Arial" panose="020B0604020202020204" pitchFamily="34" charset="0"/>
              <a:buChar char="•"/>
            </a:pPr>
            <a:r>
              <a:rPr lang="en-US" sz="2400" dirty="0"/>
              <a:t>For Bipartite graphs (including Trees) there exists a polynomial time solution for finding Exact Solution to Vertex Cover </a:t>
            </a:r>
            <a:r>
              <a:rPr lang="en-IN" sz="2800" b="0" i="0" dirty="0">
                <a:solidFill>
                  <a:srgbClr val="FFFF00"/>
                </a:solidFill>
                <a:effectLst/>
                <a:latin typeface="Google Sans"/>
              </a:rPr>
              <a:t>O(E√V), using the </a:t>
            </a:r>
            <a:r>
              <a:rPr lang="en-IN" sz="2400" b="1" i="0" dirty="0" err="1">
                <a:solidFill>
                  <a:srgbClr val="FF0000"/>
                </a:solidFill>
                <a:effectLst>
                  <a:outerShdw blurRad="38100" dist="38100" dir="2700000" algn="tl">
                    <a:srgbClr val="000000">
                      <a:alpha val="43137"/>
                    </a:srgbClr>
                  </a:outerShdw>
                </a:effectLst>
                <a:latin typeface="Linux Libertine"/>
                <a:hlinkClick r:id="rId2">
                  <a:extLst>
                    <a:ext uri="{A12FA001-AC4F-418D-AE19-62706E023703}">
                      <ahyp:hlinkClr xmlns:ahyp="http://schemas.microsoft.com/office/drawing/2018/hyperlinkcolor" val="tx"/>
                    </a:ext>
                  </a:extLst>
                </a:hlinkClick>
              </a:rPr>
              <a:t>Kőnig's</a:t>
            </a:r>
            <a:r>
              <a:rPr lang="en-IN" sz="2400" b="1" i="0" dirty="0">
                <a:solidFill>
                  <a:srgbClr val="FF0000"/>
                </a:solidFill>
                <a:effectLst>
                  <a:outerShdw blurRad="38100" dist="38100" dir="2700000" algn="tl">
                    <a:srgbClr val="000000">
                      <a:alpha val="43137"/>
                    </a:srgbClr>
                  </a:outerShdw>
                </a:effectLst>
                <a:latin typeface="Linux Libertine"/>
                <a:hlinkClick r:id="rId2">
                  <a:extLst>
                    <a:ext uri="{A12FA001-AC4F-418D-AE19-62706E023703}">
                      <ahyp:hlinkClr xmlns:ahyp="http://schemas.microsoft.com/office/drawing/2018/hyperlinkcolor" val="tx"/>
                    </a:ext>
                  </a:extLst>
                </a:hlinkClick>
              </a:rPr>
              <a:t> theorem</a:t>
            </a:r>
            <a:r>
              <a:rPr lang="en-IN" sz="2400" b="1" i="0" dirty="0">
                <a:solidFill>
                  <a:srgbClr val="FF0000"/>
                </a:solidFill>
                <a:effectLst>
                  <a:outerShdw blurRad="38100" dist="38100" dir="2700000" algn="tl">
                    <a:srgbClr val="000000">
                      <a:alpha val="43137"/>
                    </a:srgbClr>
                  </a:outerShdw>
                </a:effectLst>
                <a:latin typeface="Linux Libertine"/>
              </a:rPr>
              <a:t>. </a:t>
            </a:r>
          </a:p>
          <a:p>
            <a:r>
              <a:rPr lang="en-IN" sz="2400" b="1" i="0" dirty="0">
                <a:solidFill>
                  <a:srgbClr val="FFFF00"/>
                </a:solidFill>
                <a:effectLst>
                  <a:outerShdw blurRad="38100" dist="38100" dir="2700000" algn="tl">
                    <a:srgbClr val="000000">
                      <a:alpha val="43137"/>
                    </a:srgbClr>
                  </a:outerShdw>
                </a:effectLst>
                <a:latin typeface="Linux Libertine"/>
              </a:rPr>
              <a:t>     ( </a:t>
            </a:r>
            <a:r>
              <a:rPr lang="en-IN" sz="2400" i="0" dirty="0">
                <a:solidFill>
                  <a:srgbClr val="FFFF00"/>
                </a:solidFill>
                <a:latin typeface="Linux Libertine"/>
              </a:rPr>
              <a:t>For Bipartite Graphs- min. Vertex Cover = max. Matching</a:t>
            </a:r>
            <a:r>
              <a:rPr lang="en-IN" sz="2400" b="1" i="0" dirty="0">
                <a:solidFill>
                  <a:srgbClr val="FFFF00"/>
                </a:solidFill>
                <a:effectLst>
                  <a:outerShdw blurRad="38100" dist="38100" dir="2700000" algn="tl">
                    <a:srgbClr val="000000">
                      <a:alpha val="43137"/>
                    </a:srgbClr>
                  </a:outerShdw>
                </a:effectLst>
                <a:latin typeface="Linux Libertine"/>
              </a:rPr>
              <a:t> )</a:t>
            </a:r>
            <a:endParaRPr lang="en-IN" sz="2400" dirty="0">
              <a:solidFill>
                <a:srgbClr val="FFFF00"/>
              </a:solidFill>
            </a:endParaRPr>
          </a:p>
        </p:txBody>
      </p:sp>
    </p:spTree>
    <p:extLst>
      <p:ext uri="{BB962C8B-B14F-4D97-AF65-F5344CB8AC3E}">
        <p14:creationId xmlns:p14="http://schemas.microsoft.com/office/powerpoint/2010/main" val="375952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609600" y="97972"/>
            <a:ext cx="9262155" cy="805543"/>
          </a:xfrm>
        </p:spPr>
        <p:txBody>
          <a:bodyPr/>
          <a:lstStyle/>
          <a:p>
            <a:pPr algn="ctr"/>
            <a:r>
              <a:rPr lang="en-US" sz="4000" b="1" dirty="0">
                <a:solidFill>
                  <a:srgbClr val="FFC000"/>
                </a:solidFill>
                <a:effectLst>
                  <a:outerShdw blurRad="38100" dist="38100" dir="2700000" algn="tl">
                    <a:srgbClr val="000000">
                      <a:alpha val="43137"/>
                    </a:srgbClr>
                  </a:outerShdw>
                </a:effectLst>
              </a:rPr>
              <a:t>Vertex Cover Problem in Real Life</a:t>
            </a:r>
            <a:endParaRPr lang="en-IN" sz="40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739970" y="1436916"/>
            <a:ext cx="9437912"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t> Commercial establishment in installing the fewest possible closed circuit cameras covering all the hallways connecting all rooms on that.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Vertex Cover has applications in DNA sequencing, SNP(Single Nucleotide </a:t>
            </a:r>
            <a:r>
              <a:rPr lang="en-US" sz="2400"/>
              <a:t>Processing) </a:t>
            </a:r>
            <a:r>
              <a:rPr lang="en-US" sz="2400" dirty="0"/>
              <a:t>and computer network security in the propagation of stealth worms.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Understanding vertex cover and finding efficient solutions to it helps to understand more generalized versions of it such as the set cover.</a:t>
            </a:r>
          </a:p>
          <a:p>
            <a:pPr marL="342900" indent="-342900">
              <a:buFont typeface="Arial" panose="020B0604020202020204" pitchFamily="34" charset="0"/>
              <a:buChar char="•"/>
            </a:pPr>
            <a:endParaRPr lang="en-IN" sz="2400" dirty="0">
              <a:solidFill>
                <a:srgbClr val="FFFF00"/>
              </a:solidFill>
            </a:endParaRPr>
          </a:p>
        </p:txBody>
      </p:sp>
    </p:spTree>
    <p:extLst>
      <p:ext uri="{BB962C8B-B14F-4D97-AF65-F5344CB8AC3E}">
        <p14:creationId xmlns:p14="http://schemas.microsoft.com/office/powerpoint/2010/main" val="3787473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609600" y="97972"/>
            <a:ext cx="9262155" cy="805543"/>
          </a:xfrm>
        </p:spPr>
        <p:txBody>
          <a:bodyPr/>
          <a:lstStyle/>
          <a:p>
            <a:pPr algn="ctr"/>
            <a:r>
              <a:rPr lang="en-US" sz="4000" b="1" dirty="0">
                <a:solidFill>
                  <a:srgbClr val="FFC000"/>
                </a:solidFill>
                <a:effectLst>
                  <a:outerShdw blurRad="38100" dist="38100" dir="2700000" algn="tl">
                    <a:srgbClr val="000000">
                      <a:alpha val="43137"/>
                    </a:srgbClr>
                  </a:outerShdw>
                </a:effectLst>
              </a:rPr>
              <a:t>References</a:t>
            </a:r>
            <a:endParaRPr lang="en-IN" sz="40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522515" y="903515"/>
            <a:ext cx="9731568" cy="5632311"/>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FFFF00"/>
                </a:solidFill>
                <a:hlinkClick r:id="rId2">
                  <a:extLst>
                    <a:ext uri="{A12FA001-AC4F-418D-AE19-62706E023703}">
                      <ahyp:hlinkClr xmlns:ahyp="http://schemas.microsoft.com/office/drawing/2018/hyperlinkcolor" val="tx"/>
                    </a:ext>
                  </a:extLst>
                </a:hlinkClick>
              </a:rPr>
              <a:t>https://www.cl.cam.ac.uk/teaching/1920/AdvAlgo/vertexcover_handout.pdf</a:t>
            </a:r>
            <a:endParaRPr lang="en-US" sz="2000" dirty="0">
              <a:solidFill>
                <a:srgbClr val="FFFF00"/>
              </a:solidFill>
            </a:endParaRPr>
          </a:p>
          <a:p>
            <a:pPr marL="342900" indent="-342900">
              <a:buFont typeface="Arial" panose="020B0604020202020204" pitchFamily="34" charset="0"/>
              <a:buChar char="•"/>
            </a:pPr>
            <a:r>
              <a:rPr lang="en-US" sz="2000" dirty="0">
                <a:hlinkClick r:id="rId3">
                  <a:extLst>
                    <a:ext uri="{A12FA001-AC4F-418D-AE19-62706E023703}">
                      <ahyp:hlinkClr xmlns:ahyp="http://schemas.microsoft.com/office/drawing/2018/hyperlinkcolor" val="tx"/>
                    </a:ext>
                  </a:extLst>
                </a:hlinkClick>
              </a:rPr>
              <a:t>https://www.geeksforgeeks.org/introduction-and-approximate-solution-for-vertex-cover-problem/</a:t>
            </a:r>
            <a:endParaRPr lang="en-US" sz="2000" dirty="0"/>
          </a:p>
          <a:p>
            <a:pPr marL="342900" indent="-342900">
              <a:buFont typeface="Arial" panose="020B0604020202020204" pitchFamily="34" charset="0"/>
              <a:buChar char="•"/>
            </a:pPr>
            <a:r>
              <a:rPr lang="en-US" sz="2000" dirty="0">
                <a:solidFill>
                  <a:srgbClr val="FFFF00"/>
                </a:solidFill>
                <a:hlinkClick r:id="rId4">
                  <a:extLst>
                    <a:ext uri="{A12FA001-AC4F-418D-AE19-62706E023703}">
                      <ahyp:hlinkClr xmlns:ahyp="http://schemas.microsoft.com/office/drawing/2018/hyperlinkcolor" val="tx"/>
                    </a:ext>
                  </a:extLst>
                </a:hlinkClick>
              </a:rPr>
              <a:t>https://en.wikipedia.org/wiki/Vertex_cover</a:t>
            </a:r>
            <a:endParaRPr lang="en-US" sz="2000" dirty="0">
              <a:solidFill>
                <a:srgbClr val="FFFF00"/>
              </a:solidFill>
            </a:endParaRPr>
          </a:p>
          <a:p>
            <a:pPr marL="342900" indent="-342900">
              <a:buFont typeface="Arial" panose="020B0604020202020204" pitchFamily="34" charset="0"/>
              <a:buChar char="•"/>
            </a:pPr>
            <a:r>
              <a:rPr lang="en-IN" sz="2000" dirty="0">
                <a:hlinkClick r:id="rId5">
                  <a:extLst>
                    <a:ext uri="{A12FA001-AC4F-418D-AE19-62706E023703}">
                      <ahyp:hlinkClr xmlns:ahyp="http://schemas.microsoft.com/office/drawing/2018/hyperlinkcolor" val="tx"/>
                    </a:ext>
                  </a:extLst>
                </a:hlinkClick>
              </a:rPr>
              <a:t>https://en.wikipedia.org/wiki/Karp%27s_21_NP-complete_problems</a:t>
            </a:r>
            <a:endParaRPr lang="en-US" sz="2000" dirty="0"/>
          </a:p>
          <a:p>
            <a:pPr marL="342900" indent="-342900">
              <a:buFont typeface="Arial" panose="020B0604020202020204" pitchFamily="34" charset="0"/>
              <a:buChar char="•"/>
            </a:pPr>
            <a:r>
              <a:rPr lang="en-IN" sz="2000" dirty="0">
                <a:solidFill>
                  <a:srgbClr val="FFFF00"/>
                </a:solidFill>
                <a:hlinkClick r:id="rId6">
                  <a:extLst>
                    <a:ext uri="{A12FA001-AC4F-418D-AE19-62706E023703}">
                      <ahyp:hlinkClr xmlns:ahyp="http://schemas.microsoft.com/office/drawing/2018/hyperlinkcolor" val="tx"/>
                    </a:ext>
                  </a:extLst>
                </a:hlinkClick>
              </a:rPr>
              <a:t>https://www.geeksforgeeks.org/proof-that-vertex-cover-is-np-complete/</a:t>
            </a:r>
            <a:endParaRPr lang="en-US" sz="2000" dirty="0">
              <a:solidFill>
                <a:srgbClr val="FFFF00"/>
              </a:solidFill>
            </a:endParaRPr>
          </a:p>
          <a:p>
            <a:pPr marL="342900" indent="-342900">
              <a:buFont typeface="Arial" panose="020B0604020202020204" pitchFamily="34" charset="0"/>
              <a:buChar char="•"/>
            </a:pPr>
            <a:r>
              <a:rPr lang="en-IN" sz="2000" dirty="0">
                <a:hlinkClick r:id="rId7">
                  <a:extLst>
                    <a:ext uri="{A12FA001-AC4F-418D-AE19-62706E023703}">
                      <ahyp:hlinkClr xmlns:ahyp="http://schemas.microsoft.com/office/drawing/2018/hyperlinkcolor" val="tx"/>
                    </a:ext>
                  </a:extLst>
                </a:hlinkClick>
              </a:rPr>
              <a:t>https://www.javatpoint.com/daa-approximation-algorithm-vertex-cover</a:t>
            </a:r>
            <a:endParaRPr lang="en-US" sz="2000" dirty="0"/>
          </a:p>
          <a:p>
            <a:pPr marL="342900" indent="-342900">
              <a:buFont typeface="Arial" panose="020B0604020202020204" pitchFamily="34" charset="0"/>
              <a:buChar char="•"/>
            </a:pPr>
            <a:r>
              <a:rPr lang="en-IN" sz="2000" dirty="0">
                <a:solidFill>
                  <a:srgbClr val="FFFF00"/>
                </a:solidFill>
                <a:hlinkClick r:id="rId8">
                  <a:extLst>
                    <a:ext uri="{A12FA001-AC4F-418D-AE19-62706E023703}">
                      <ahyp:hlinkClr xmlns:ahyp="http://schemas.microsoft.com/office/drawing/2018/hyperlinkcolor" val="tx"/>
                    </a:ext>
                  </a:extLst>
                </a:hlinkClick>
              </a:rPr>
              <a:t>https://www.personal.kent.edu/~rmuhamma/Algorithms/MyAlgorithms/AproxAlgor/vertexCover.htm</a:t>
            </a:r>
            <a:endParaRPr lang="en-US" sz="2000" dirty="0">
              <a:solidFill>
                <a:srgbClr val="FFFF00"/>
              </a:solidFill>
            </a:endParaRPr>
          </a:p>
          <a:p>
            <a:pPr marL="342900" indent="-342900">
              <a:buFont typeface="Arial" panose="020B0604020202020204" pitchFamily="34" charset="0"/>
              <a:buChar char="•"/>
            </a:pPr>
            <a:r>
              <a:rPr lang="en-IN" sz="2000" dirty="0">
                <a:hlinkClick r:id="rId9">
                  <a:extLst>
                    <a:ext uri="{A12FA001-AC4F-418D-AE19-62706E023703}">
                      <ahyp:hlinkClr xmlns:ahyp="http://schemas.microsoft.com/office/drawing/2018/hyperlinkcolor" val="tx"/>
                    </a:ext>
                  </a:extLst>
                </a:hlinkClick>
              </a:rPr>
              <a:t>https://www.dharwadker.org/pirzada/applications/</a:t>
            </a:r>
            <a:endParaRPr lang="en-US" sz="2000" dirty="0"/>
          </a:p>
          <a:p>
            <a:pPr marL="342900" indent="-342900">
              <a:buFont typeface="Arial" panose="020B0604020202020204" pitchFamily="34" charset="0"/>
              <a:buChar char="•"/>
            </a:pPr>
            <a:r>
              <a:rPr lang="en-IN" sz="2000" dirty="0">
                <a:solidFill>
                  <a:srgbClr val="FFFF00"/>
                </a:solidFill>
                <a:hlinkClick r:id="rId10">
                  <a:extLst>
                    <a:ext uri="{A12FA001-AC4F-418D-AE19-62706E023703}">
                      <ahyp:hlinkClr xmlns:ahyp="http://schemas.microsoft.com/office/drawing/2018/hyperlinkcolor" val="tx"/>
                    </a:ext>
                  </a:extLst>
                </a:hlinkClick>
              </a:rPr>
              <a:t>https://www.youtube.com/</a:t>
            </a:r>
            <a:endParaRPr lang="en-IN" sz="2000" dirty="0">
              <a:solidFill>
                <a:srgbClr val="FFFF00"/>
              </a:solidFill>
            </a:endParaRPr>
          </a:p>
          <a:p>
            <a:pPr marL="342900" indent="-342900">
              <a:buFont typeface="Arial" panose="020B0604020202020204" pitchFamily="34" charset="0"/>
              <a:buChar char="•"/>
            </a:pPr>
            <a:r>
              <a:rPr lang="en-IN" sz="2000" dirty="0">
                <a:hlinkClick r:id="rId11">
                  <a:extLst>
                    <a:ext uri="{A12FA001-AC4F-418D-AE19-62706E023703}">
                      <ahyp:hlinkClr xmlns:ahyp="http://schemas.microsoft.com/office/drawing/2018/hyperlinkcolor" val="tx"/>
                    </a:ext>
                  </a:extLst>
                </a:hlinkClick>
              </a:rPr>
              <a:t>https://en.wikipedia.org/wiki/K%C5%91nig%27s_theorem_(graph_theory)</a:t>
            </a:r>
            <a:endParaRPr lang="en-IN" sz="2000" dirty="0"/>
          </a:p>
          <a:p>
            <a:pPr marL="342900" indent="-342900">
              <a:buFont typeface="Arial" panose="020B0604020202020204" pitchFamily="34" charset="0"/>
              <a:buChar char="•"/>
            </a:pPr>
            <a:r>
              <a:rPr lang="en-IN" sz="2000" dirty="0">
                <a:solidFill>
                  <a:srgbClr val="FFFF00"/>
                </a:solidFill>
                <a:hlinkClick r:id="rId12">
                  <a:extLst>
                    <a:ext uri="{A12FA001-AC4F-418D-AE19-62706E023703}">
                      <ahyp:hlinkClr xmlns:ahyp="http://schemas.microsoft.com/office/drawing/2018/hyperlinkcolor" val="tx"/>
                    </a:ext>
                  </a:extLst>
                </a:hlinkClick>
              </a:rPr>
              <a:t>https://en.wikipedia.org/wiki/NP-completeness</a:t>
            </a:r>
            <a:endParaRPr lang="en-IN" sz="2000" dirty="0">
              <a:solidFill>
                <a:srgbClr val="FFFF00"/>
              </a:solidFill>
            </a:endParaRPr>
          </a:p>
          <a:p>
            <a:pPr marL="342900" indent="-342900">
              <a:buFont typeface="Arial" panose="020B0604020202020204" pitchFamily="34" charset="0"/>
              <a:buChar char="•"/>
            </a:pPr>
            <a:r>
              <a:rPr lang="en-IN" sz="2000" dirty="0">
                <a:hlinkClick r:id="rId13">
                  <a:extLst>
                    <a:ext uri="{A12FA001-AC4F-418D-AE19-62706E023703}">
                      <ahyp:hlinkClr xmlns:ahyp="http://schemas.microsoft.com/office/drawing/2018/hyperlinkcolor" val="tx"/>
                    </a:ext>
                  </a:extLst>
                </a:hlinkClick>
              </a:rPr>
              <a:t>https://en.wikipedia.org/wiki/Clique_(graph_theory)</a:t>
            </a:r>
            <a:endParaRPr lang="en-IN" sz="2000" dirty="0"/>
          </a:p>
          <a:p>
            <a:pPr marL="342900" indent="-342900">
              <a:buFont typeface="Arial" panose="020B0604020202020204" pitchFamily="34" charset="0"/>
              <a:buChar char="•"/>
            </a:pPr>
            <a:r>
              <a:rPr lang="en-IN" sz="2000" dirty="0">
                <a:solidFill>
                  <a:srgbClr val="FFFF00"/>
                </a:solidFill>
                <a:hlinkClick r:id="rId14">
                  <a:extLst>
                    <a:ext uri="{A12FA001-AC4F-418D-AE19-62706E023703}">
                      <ahyp:hlinkClr xmlns:ahyp="http://schemas.microsoft.com/office/drawing/2018/hyperlinkcolor" val="tx"/>
                    </a:ext>
                  </a:extLst>
                </a:hlinkClick>
              </a:rPr>
              <a:t>https://en.wikipedia.org/wiki/Cook%E2%80%93Levin_theorem</a:t>
            </a:r>
            <a:endParaRPr lang="en-IN" sz="2000" dirty="0">
              <a:solidFill>
                <a:srgbClr val="FFFF00"/>
              </a:solidFill>
            </a:endParaRPr>
          </a:p>
          <a:p>
            <a:pPr marL="342900" indent="-342900">
              <a:buFont typeface="Arial" panose="020B0604020202020204" pitchFamily="34" charset="0"/>
              <a:buChar char="•"/>
            </a:pPr>
            <a:r>
              <a:rPr lang="en-IN" sz="2000" dirty="0">
                <a:hlinkClick r:id="rId15">
                  <a:extLst>
                    <a:ext uri="{A12FA001-AC4F-418D-AE19-62706E023703}">
                      <ahyp:hlinkClr xmlns:ahyp="http://schemas.microsoft.com/office/drawing/2018/hyperlinkcolor" val="tx"/>
                    </a:ext>
                  </a:extLst>
                </a:hlinkClick>
              </a:rPr>
              <a:t>https://www.geeksforgeeks.org/proof-that-clique-decision-problem-is-np-complete/</a:t>
            </a:r>
            <a:endParaRPr lang="en-IN" sz="2000" dirty="0"/>
          </a:p>
        </p:txBody>
      </p:sp>
    </p:spTree>
    <p:extLst>
      <p:ext uri="{BB962C8B-B14F-4D97-AF65-F5344CB8AC3E}">
        <p14:creationId xmlns:p14="http://schemas.microsoft.com/office/powerpoint/2010/main" val="1858761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361783" y="2623458"/>
            <a:ext cx="8825658" cy="1208314"/>
          </a:xfrm>
        </p:spPr>
        <p:txBody>
          <a:bodyPr/>
          <a:lstStyle/>
          <a:p>
            <a:pPr algn="ctr"/>
            <a:r>
              <a:rPr lang="en-US" b="1" dirty="0">
                <a:solidFill>
                  <a:srgbClr val="FFFF00"/>
                </a:solidFill>
                <a:effectLst>
                  <a:outerShdw blurRad="38100" dist="38100" dir="2700000" algn="tl">
                    <a:srgbClr val="000000">
                      <a:alpha val="43137"/>
                    </a:srgbClr>
                  </a:outerShdw>
                </a:effectLst>
              </a:rPr>
              <a:t>Thank You</a:t>
            </a:r>
            <a:endParaRPr lang="en-IN" b="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67271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750</TotalTime>
  <Words>1175</Words>
  <Application>Microsoft Office PowerPoint</Application>
  <PresentationFormat>Widescreen</PresentationFormat>
  <Paragraphs>92</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Cambria Math</vt:lpstr>
      <vt:lpstr>Century Gothic</vt:lpstr>
      <vt:lpstr>Google Sans</vt:lpstr>
      <vt:lpstr>Linux Libertine</vt:lpstr>
      <vt:lpstr>Open Sans</vt:lpstr>
      <vt:lpstr>Wingdings 3</vt:lpstr>
      <vt:lpstr>Ion</vt:lpstr>
      <vt:lpstr>Vertex Cover</vt:lpstr>
      <vt:lpstr>Definition</vt:lpstr>
      <vt:lpstr>Example</vt:lpstr>
      <vt:lpstr>NP-Completeness</vt:lpstr>
      <vt:lpstr>Proof of Vertex Cover is NP-Complete</vt:lpstr>
      <vt:lpstr>PowerPoint Presentation</vt:lpstr>
      <vt:lpstr>PowerPoint Presentation</vt:lpstr>
      <vt:lpstr>Approximation Algorithm</vt:lpstr>
      <vt:lpstr>PowerPoint Presentation</vt:lpstr>
      <vt:lpstr>PowerPoint Presentation</vt:lpstr>
      <vt:lpstr>PowerPoint Presentation</vt:lpstr>
      <vt:lpstr>PowerPoint Presentation</vt:lpstr>
      <vt:lpstr>PowerPoint Presentation</vt:lpstr>
      <vt:lpstr>PowerPoint Presentation</vt:lpstr>
      <vt:lpstr>Linear Programming</vt:lpstr>
      <vt:lpstr>Other Known Results</vt:lpstr>
      <vt:lpstr>Vertex Cover Problem in Real Life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Vertex Cover</dc:title>
  <dc:creator>Soham Chakraborty</dc:creator>
  <cp:lastModifiedBy>Soham Chakraborty</cp:lastModifiedBy>
  <cp:revision>21</cp:revision>
  <dcterms:created xsi:type="dcterms:W3CDTF">2024-03-18T19:09:50Z</dcterms:created>
  <dcterms:modified xsi:type="dcterms:W3CDTF">2024-03-20T15:11:12Z</dcterms:modified>
</cp:coreProperties>
</file>