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6858000" cx="9144000"/>
  <p:notesSz cx="6858000" cy="9144000"/>
  <p:embeddedFontLst>
    <p:embeddedFont>
      <p:font typeface="Constantia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086D28-D93A-4FCE-869D-5543962329F2}">
  <a:tblStyle styleId="{F8086D28-D93A-4FCE-869D-5543962329F2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Constantia-regular.fntdata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Constantia-italic.fntdata"/><Relationship Id="rId47" Type="http://schemas.openxmlformats.org/officeDocument/2006/relationships/font" Target="fonts/Constantia-bold.fntdata"/><Relationship Id="rId49" Type="http://schemas.openxmlformats.org/officeDocument/2006/relationships/font" Target="fonts/Constantia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2667000" y="63563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12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12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5" name="Google Shape;95;p12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2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12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2667000" y="63563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7" name="Google Shape;17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4" name="Google Shape;34;p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plb@iitbbs.ac.i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swi-prolog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IN"/>
              <a:t>MFCS (CS6L015)</a:t>
            </a:r>
            <a:endParaRPr/>
          </a:p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en-IN"/>
              <a:t>Dr. Padmalochan Bera</a:t>
            </a:r>
            <a:endParaRPr/>
          </a:p>
          <a:p>
            <a:pPr indent="0" lvl="0" marL="0" rtl="0" algn="ctr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/>
              <a:t>Associate Professor (CSE)</a:t>
            </a:r>
            <a:endParaRPr/>
          </a:p>
          <a:p>
            <a:pPr indent="0" lvl="0" marL="0" rtl="0" algn="ctr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/>
              <a:t>School of Electrical and Computer Sciences</a:t>
            </a:r>
            <a:endParaRPr/>
          </a:p>
          <a:p>
            <a:pPr indent="0" lvl="0" marL="0" rtl="0" algn="ctr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/>
              <a:t>IIT Bhubaneswar</a:t>
            </a:r>
            <a:endParaRPr/>
          </a:p>
          <a:p>
            <a:pPr indent="0" lvl="0" marL="0" rtl="0" algn="ctr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 u="sng">
                <a:solidFill>
                  <a:schemeClr val="hlink"/>
                </a:solidFill>
                <a:hlinkClick r:id="rId3"/>
              </a:rPr>
              <a:t>plb@iitbbs.ac.in</a:t>
            </a:r>
            <a:r>
              <a:rPr lang="en-I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Lecture1: Foundation of Logic</a:t>
            </a:r>
            <a:endParaRPr/>
          </a:p>
        </p:txBody>
      </p:sp>
      <p:sp>
        <p:nvSpPr>
          <p:cNvPr id="121" name="Google Shape;121;p16"/>
          <p:cNvSpPr txBox="1"/>
          <p:nvPr>
            <p:ph idx="1" type="body"/>
          </p:nvPr>
        </p:nvSpPr>
        <p:spPr>
          <a:xfrm>
            <a:off x="457200" y="1142984"/>
            <a:ext cx="8229600" cy="498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lang="en-IN" sz="2400"/>
              <a:t>Coverage: Propositional logic, predicate logic, satisfiability, logic programming – prolog, proof techniques, etc.</a:t>
            </a:r>
            <a:endParaRPr/>
          </a:p>
          <a:p>
            <a:pPr indent="-274320" lvl="0" marL="274320" rtl="0" algn="just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274320" lvl="0" marL="274320" rtl="0" algn="just">
              <a:spcBef>
                <a:spcPts val="480"/>
              </a:spcBef>
              <a:spcAft>
                <a:spcPts val="0"/>
              </a:spcAft>
              <a:buSzPts val="2280"/>
              <a:buChar char="⚫"/>
            </a:pPr>
            <a:r>
              <a:rPr lang="en-IN" sz="2400"/>
              <a:t>Why study logic in computer science?</a:t>
            </a:r>
            <a:endParaRPr/>
          </a:p>
          <a:p>
            <a:pPr indent="-246888" lvl="1" marL="640080" rtl="0" algn="just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 sz="2400"/>
              <a:t>Proving correctness of a program</a:t>
            </a:r>
            <a:endParaRPr/>
          </a:p>
          <a:p>
            <a:pPr indent="-246888" lvl="1" marL="640080" rtl="0" algn="just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Circuit</a:t>
            </a:r>
            <a:r>
              <a:rPr lang="en-IN" sz="2400"/>
              <a:t> verification</a:t>
            </a:r>
            <a:endParaRPr/>
          </a:p>
          <a:p>
            <a:pPr indent="-246888" lvl="1" marL="640080" rtl="0" algn="just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 sz="2400"/>
              <a:t>Checking various properties of protocols and system specification</a:t>
            </a:r>
            <a:endParaRPr/>
          </a:p>
          <a:p>
            <a:pPr indent="-246888" lvl="1" marL="640080" rtl="0" algn="just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274320" lvl="0" marL="274320" rtl="0" algn="just">
              <a:spcBef>
                <a:spcPts val="480"/>
              </a:spcBef>
              <a:spcAft>
                <a:spcPts val="0"/>
              </a:spcAft>
              <a:buSzPts val="2280"/>
              <a:buChar char="⚫"/>
            </a:pPr>
            <a:r>
              <a:rPr lang="en-IN" sz="2400" u="sng">
                <a:solidFill>
                  <a:srgbClr val="7E9532"/>
                </a:solidFill>
              </a:rPr>
              <a:t>Definition:</a:t>
            </a:r>
            <a:r>
              <a:rPr lang="en-IN" sz="2400"/>
              <a:t> A proposition is a declarative statement (i.e., a sentence that declares a fact) that is either true (T) or false (F) but not both</a:t>
            </a:r>
            <a:endParaRPr sz="2400"/>
          </a:p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457200" y="274638"/>
            <a:ext cx="8229600" cy="8683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457200" y="1285860"/>
            <a:ext cx="8229600" cy="4840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Are these statements proposition?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Washington D. C is the capital of USA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What time is it?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2+2 =5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1+1 = 2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X+1 = 7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Propositional or statement variables to represent proposition – letters p, q, r, s,..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Truth values – true (T) or false (F)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Compound proposition formed of existing proposition using logical operators/connectives (	      )	</a:t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60" y="5500702"/>
            <a:ext cx="1450741" cy="285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457200" y="1142984"/>
            <a:ext cx="8229600" cy="498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lang="en-IN" sz="2400" u="sng">
                <a:solidFill>
                  <a:srgbClr val="00B050"/>
                </a:solidFill>
              </a:rPr>
              <a:t>Negation (¬):</a:t>
            </a:r>
            <a:r>
              <a:rPr lang="en-IN" sz="2400">
                <a:solidFill>
                  <a:srgbClr val="00B050"/>
                </a:solidFill>
              </a:rPr>
              <a:t> </a:t>
            </a:r>
            <a:r>
              <a:rPr lang="en-IN" sz="2400"/>
              <a:t>Let p be a proposition. The negation of p (denoted by ¬p), is the statement “it is not the case that p.”</a:t>
            </a:r>
            <a:endParaRPr/>
          </a:p>
          <a:p>
            <a:pPr indent="-274320" lvl="0" marL="274320" rtl="0" algn="just">
              <a:spcBef>
                <a:spcPts val="480"/>
              </a:spcBef>
              <a:spcAft>
                <a:spcPts val="0"/>
              </a:spcAft>
              <a:buSzPts val="2280"/>
              <a:buChar char="⚫"/>
            </a:pPr>
            <a:r>
              <a:rPr lang="en-IN" sz="2400"/>
              <a:t>The proposition ¬p is read as “not p”. The truth value of the ¬p is the opposite of the truth value of p.</a:t>
            </a:r>
            <a:endParaRPr/>
          </a:p>
          <a:p>
            <a:pPr indent="-274320" lvl="0" marL="274320" rtl="0" algn="just">
              <a:spcBef>
                <a:spcPts val="480"/>
              </a:spcBef>
              <a:spcAft>
                <a:spcPts val="0"/>
              </a:spcAft>
              <a:buSzPts val="2280"/>
              <a:buChar char="⚫"/>
            </a:pPr>
            <a:r>
              <a:rPr lang="en-IN" sz="2400"/>
              <a:t>Find the negation of the following propositions</a:t>
            </a:r>
            <a:endParaRPr/>
          </a:p>
          <a:p>
            <a:pPr indent="-246888" lvl="1" marL="640080" rtl="0" algn="just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IN" sz="2000"/>
              <a:t>Susanth’s PC runs Linux</a:t>
            </a:r>
            <a:endParaRPr/>
          </a:p>
          <a:p>
            <a:pPr indent="-246888" lvl="1" marL="640080" rtl="0" algn="just">
              <a:spcBef>
                <a:spcPts val="400"/>
              </a:spcBef>
              <a:spcAft>
                <a:spcPts val="0"/>
              </a:spcAft>
              <a:buSzPts val="1700"/>
              <a:buChar char="⚫"/>
            </a:pPr>
            <a:r>
              <a:rPr lang="en-IN" sz="2000"/>
              <a:t>Swapnil’s Smartphone has at least 32 GB memory</a:t>
            </a:r>
            <a:endParaRPr/>
          </a:p>
          <a:p>
            <a:pPr indent="-138938" lvl="1" marL="640080" rtl="0" algn="just"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000"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graphicFrame>
        <p:nvGraphicFramePr>
          <p:cNvPr id="137" name="Google Shape;137;p18"/>
          <p:cNvGraphicFramePr/>
          <p:nvPr/>
        </p:nvGraphicFramePr>
        <p:xfrm>
          <a:off x="2786050" y="42862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{F8086D28-D93A-4FCE-869D-5543962329F2}</a:tableStyleId>
              </a:tblPr>
              <a:tblGrid>
                <a:gridCol w="722325"/>
                <a:gridCol w="777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¬p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8" name="Google Shape;138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457200" y="274638"/>
            <a:ext cx="8229600" cy="7254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457200" y="1214422"/>
            <a:ext cx="8229600" cy="4911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IN" u="sng">
                <a:solidFill>
                  <a:srgbClr val="00B050"/>
                </a:solidFill>
              </a:rPr>
              <a:t>Conjunction (∧):</a:t>
            </a:r>
            <a:r>
              <a:rPr lang="en-IN"/>
              <a:t> Let p and q be propositions. The conjunction of p and q (denoted by p ∧ q) is the proposition “p and q”. The conjunction p ∧ q is true when both p and q are true and is false otherwise.</a:t>
            </a:r>
            <a:endParaRPr/>
          </a:p>
        </p:txBody>
      </p:sp>
      <p:graphicFrame>
        <p:nvGraphicFramePr>
          <p:cNvPr id="145" name="Google Shape;145;p19"/>
          <p:cNvGraphicFramePr/>
          <p:nvPr/>
        </p:nvGraphicFramePr>
        <p:xfrm>
          <a:off x="2143108" y="40005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{F8086D28-D93A-4FCE-869D-5543962329F2}</a:tableStyleId>
              </a:tblPr>
              <a:tblGrid>
                <a:gridCol w="467975"/>
                <a:gridCol w="503975"/>
                <a:gridCol w="2099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 ∧ 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457200" y="1142984"/>
            <a:ext cx="8229600" cy="498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 u="sng">
                <a:solidFill>
                  <a:srgbClr val="00B050"/>
                </a:solidFill>
              </a:rPr>
              <a:t>Disjunction (∨): </a:t>
            </a:r>
            <a:r>
              <a:rPr lang="en-IN"/>
              <a:t>Let p and q be propositions. The disjunction of p and q (denoted by p ∨ q) is the proposition “p or q”. The disjunction p ∨ q is false when both p and q are false and is true otherwise.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graphicFrame>
        <p:nvGraphicFramePr>
          <p:cNvPr id="153" name="Google Shape;153;p20"/>
          <p:cNvGraphicFramePr/>
          <p:nvPr/>
        </p:nvGraphicFramePr>
        <p:xfrm>
          <a:off x="2428860" y="35718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{F8086D28-D93A-4FCE-869D-5543962329F2}</a:tableStyleId>
              </a:tblPr>
              <a:tblGrid>
                <a:gridCol w="467975"/>
                <a:gridCol w="503975"/>
                <a:gridCol w="2099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 ∨ 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155" name="Google Shape;155;p20"/>
          <p:cNvGraphicFramePr/>
          <p:nvPr/>
        </p:nvGraphicFramePr>
        <p:xfrm>
          <a:off x="2411760" y="35730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{F8086D28-D93A-4FCE-869D-5543962329F2}</a:tableStyleId>
              </a:tblPr>
              <a:tblGrid>
                <a:gridCol w="467975"/>
                <a:gridCol w="503975"/>
                <a:gridCol w="2099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 ∨ 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457200" y="0"/>
            <a:ext cx="8229600" cy="8572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457200" y="928670"/>
            <a:ext cx="8229600" cy="5197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 u="sng">
                <a:solidFill>
                  <a:srgbClr val="00B050"/>
                </a:solidFill>
              </a:rPr>
              <a:t>Implication (→ ): </a:t>
            </a:r>
            <a:r>
              <a:rPr lang="en-IN"/>
              <a:t>Let p and q be propositions. The conditional statement p → q is the proposition that is  false when p is true and q is false, and true otherwise.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q is true on the condition that p is true. This is also called an implication.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There are various ways to express/read p → q: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“q if p”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“q when p”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“p is suﬃcient for q” or “a suﬃcient condition for q is p”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“q is necessary for p” or “a necessary condition for p is q”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“q unless ¬p”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“p implies q”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“p only if q”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“q whenever p”</a:t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“q follows from p”</a:t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68" name="Google Shape;168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If you get 100% in final exam you will get EX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/>
              <a:t>p- you get 100%in final exam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SzPct val="95000"/>
              <a:buNone/>
            </a:pPr>
            <a:r>
              <a:rPr lang="en-IN"/>
              <a:t>q- you will get EX                  p🡪q    == </a:t>
            </a:r>
            <a:r>
              <a:rPr lang="en-IN" sz="2800"/>
              <a:t>¬p </a:t>
            </a:r>
            <a:r>
              <a:rPr lang="en-IN"/>
              <a:t>∨ q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/>
              <a:t>you get 100% in final exam is sufficient that you get EX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rPr lang="en-IN"/>
              <a:t>You got EX, you get 100% in final exam is necessary but not sufficient (you may still score less)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Font typeface="Arial"/>
              <a:buChar char="•"/>
            </a:pPr>
            <a:r>
              <a:rPr lang="en-IN"/>
              <a:t>If elected, I will cut tax rates 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Font typeface="Arial"/>
              <a:buChar char="•"/>
            </a:pPr>
            <a:r>
              <a:rPr lang="en-IN"/>
              <a:t>If 2+2 = 4 then Delhi is capital of India ( T )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Font typeface="Arial"/>
              <a:buChar char="•"/>
            </a:pPr>
            <a:r>
              <a:rPr lang="en-IN"/>
              <a:t>If 2+2 = 5 then Delhi is capital of India  ( T )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Font typeface="Arial"/>
              <a:buChar char="•"/>
            </a:pPr>
            <a:r>
              <a:rPr lang="en-IN"/>
              <a:t>If 2+2 = 4 then Bhubaneswar is capital of India  ( F )</a:t>
            </a:r>
            <a:endParaRPr/>
          </a:p>
          <a:p>
            <a:pPr indent="0" lvl="0" marL="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aphicFrame>
        <p:nvGraphicFramePr>
          <p:cNvPr id="176" name="Google Shape;176;p23"/>
          <p:cNvGraphicFramePr/>
          <p:nvPr/>
        </p:nvGraphicFramePr>
        <p:xfrm>
          <a:off x="2051720" y="26183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{F8086D28-D93A-4FCE-869D-5543962329F2}</a:tableStyleId>
              </a:tblPr>
              <a:tblGrid>
                <a:gridCol w="374250"/>
                <a:gridCol w="476325"/>
                <a:gridCol w="1021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p🡪q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457200" y="1285860"/>
            <a:ext cx="8229600" cy="4840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 u="sng">
                <a:solidFill>
                  <a:srgbClr val="00B050"/>
                </a:solidFill>
              </a:rPr>
              <a:t>Exclusive or (⊕): </a:t>
            </a:r>
            <a:r>
              <a:rPr lang="en-IN"/>
              <a:t>Let p and q be propositions. The exclusive or of p and q (denoted by p ⊕ q) is the proposition that is true when either of the proposition is true but not both and is false otherwise.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rPr lang="en-IN" sz="2800"/>
              <a:t>     p ⊕ q 🡺 (¬p v </a:t>
            </a:r>
            <a:r>
              <a:rPr lang="en-IN" sz="2400"/>
              <a:t>¬</a:t>
            </a:r>
            <a:r>
              <a:rPr lang="en-IN"/>
              <a:t> q) ∧</a:t>
            </a:r>
            <a:r>
              <a:rPr lang="en-IN">
                <a:solidFill>
                  <a:srgbClr val="00B050"/>
                </a:solidFill>
              </a:rPr>
              <a:t> </a:t>
            </a:r>
            <a:r>
              <a:rPr lang="en-IN" sz="2400"/>
              <a:t>(p v </a:t>
            </a:r>
            <a:r>
              <a:rPr lang="en-IN"/>
              <a:t>q)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470"/>
              <a:buNone/>
            </a:pPr>
            <a:r>
              <a:rPr lang="en-IN"/>
              <a:t>      p🡨🡪q 🡺 (p🡪q) ∧ (q🡪p) = </a:t>
            </a:r>
            <a:r>
              <a:rPr lang="en-IN" sz="2400"/>
              <a:t>(¬p v </a:t>
            </a:r>
            <a:r>
              <a:rPr lang="en-IN"/>
              <a:t>q) ∧</a:t>
            </a:r>
            <a:r>
              <a:rPr lang="en-IN">
                <a:solidFill>
                  <a:srgbClr val="00B050"/>
                </a:solidFill>
              </a:rPr>
              <a:t> </a:t>
            </a:r>
            <a:r>
              <a:rPr lang="en-IN" sz="2800"/>
              <a:t>(¬q v p</a:t>
            </a:r>
            <a:r>
              <a:rPr lang="en-IN"/>
              <a:t>)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24"/>
          <p:cNvGraphicFramePr/>
          <p:nvPr/>
        </p:nvGraphicFramePr>
        <p:xfrm>
          <a:off x="2143108" y="40005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{F8086D28-D93A-4FCE-869D-5543962329F2}</a:tableStyleId>
              </a:tblPr>
              <a:tblGrid>
                <a:gridCol w="467975"/>
                <a:gridCol w="503975"/>
                <a:gridCol w="2099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 ⊕ 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2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457200" y="274638"/>
            <a:ext cx="8229600" cy="6540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457200" y="1071546"/>
            <a:ext cx="8229600" cy="50546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 u="sng">
                <a:solidFill>
                  <a:srgbClr val="00B050"/>
                </a:solidFill>
              </a:rPr>
              <a:t>Deﬁnition (Converse): </a:t>
            </a:r>
            <a:r>
              <a:rPr lang="en-IN"/>
              <a:t>The converse of a proposition p → q is the proposition q → p.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 u="sng">
                <a:solidFill>
                  <a:srgbClr val="00B050"/>
                </a:solidFill>
              </a:rPr>
              <a:t>Deﬁnition (Contrapositive): </a:t>
            </a:r>
            <a:r>
              <a:rPr lang="en-IN"/>
              <a:t>The contrapositive of a proposition p → q is the proposition ¬q → ¬p.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 u="sng">
                <a:solidFill>
                  <a:srgbClr val="00B050"/>
                </a:solidFill>
              </a:rPr>
              <a:t>Deﬁnition (Inverse): </a:t>
            </a:r>
            <a:r>
              <a:rPr lang="en-IN"/>
              <a:t>The inverse of a proposition p → q is the proposition ¬p → ¬q.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Show that the contrapositive of p → q always has the same truth value as p → q.     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Show that, neither converse nor inverse of p → q has the same truth value as p → q for all truth values of p and q.</a:t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57158" y="142852"/>
            <a:ext cx="8229600" cy="71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Lecture 1: Foundation of Logic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457200" y="1071546"/>
            <a:ext cx="8229600" cy="5253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Biconditional Statement: Let p and q be propositions. The bi-conditional statement p ↔ q is the proposition, p if and only if q. The bi-conditional statement p ↔ q is true if p and q both having the same truth value and false otherwise.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You can take the flight iff you buy a ticket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Compound proposition</a:t>
            </a:r>
            <a:endParaRPr/>
          </a:p>
        </p:txBody>
      </p:sp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57158" y="214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Lecture1: Foundation of Logic</a:t>
            </a: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57158" y="1571612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Application of Propositional Logic: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Translating English Sentences in logical form</a:t>
            </a:r>
            <a:endParaRPr/>
          </a:p>
          <a:p>
            <a:pPr indent="-246887" lvl="2" marL="914400" rtl="0" algn="l">
              <a:spcBef>
                <a:spcPts val="500"/>
              </a:spcBef>
              <a:spcAft>
                <a:spcPts val="0"/>
              </a:spcAft>
              <a:buSzPts val="1470"/>
              <a:buChar char="⚫"/>
            </a:pPr>
            <a:r>
              <a:rPr lang="en-IN"/>
              <a:t>“You can access the Internet from campus only if you are a computer science major or you are</a:t>
            </a:r>
            <a:r>
              <a:rPr lang="en-IN" sz="2500"/>
              <a:t> </a:t>
            </a:r>
            <a:r>
              <a:rPr lang="en-IN"/>
              <a:t>not a freshman.” 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IN"/>
              <a:t>You can access the internet from the campus – proposition a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IN"/>
              <a:t>You are a computer science major – proposition c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IN"/>
              <a:t>You are a freshman – proposition f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IN"/>
              <a:t>a → (c ∨ ¬f 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IN"/>
              <a:t>System requirement specification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IN"/>
              <a:t>System specification should be consistent</a:t>
            </a:r>
            <a:endParaRPr/>
          </a:p>
          <a:p>
            <a:pPr indent="-153543" lvl="2" marL="914400" rtl="0" algn="l">
              <a:spcBef>
                <a:spcPts val="420"/>
              </a:spcBef>
              <a:spcAft>
                <a:spcPts val="0"/>
              </a:spcAft>
              <a:buSzPts val="1470"/>
              <a:buNone/>
            </a:pPr>
            <a:r>
              <a:t/>
            </a:r>
            <a:endParaRPr/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428596" y="285728"/>
            <a:ext cx="8229600" cy="8572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Lecture1: Foundation of Logic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428596" y="1428736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Determine whether the following system specification is consistent: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“The diagnostic message is stored in the buffer (p) or it is retransmitted (q).” [pvq]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“The diagnostic message is not stored in the buffer.” (¬p)</a:t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⚫"/>
            </a:pPr>
            <a:r>
              <a:rPr lang="en-IN"/>
              <a:t>“If the diagnostic message is stored in the buffer, then it is retransmitted.” (p🡪q)</a:t>
            </a:r>
            <a:endParaRPr/>
          </a:p>
          <a:p>
            <a:pPr indent="0" lvl="1" marL="393192" rtl="0" algn="l">
              <a:spcBef>
                <a:spcPts val="4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0" lvl="1" marL="393192" rtl="0" algn="l">
              <a:spcBef>
                <a:spcPts val="408"/>
              </a:spcBef>
              <a:spcAft>
                <a:spcPts val="0"/>
              </a:spcAft>
              <a:buSzPct val="85000"/>
              <a:buNone/>
            </a:pPr>
            <a:r>
              <a:rPr lang="en-IN"/>
              <a:t>A specification is consistent if the conjunction of individual specification statement is true.</a:t>
            </a:r>
            <a:endParaRPr/>
          </a:p>
          <a:p>
            <a:pPr indent="0" lvl="1" marL="393192" rtl="0" algn="l">
              <a:spcBef>
                <a:spcPts val="4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Boolean Searches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Logic Puzzles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Designing digital circuit</a:t>
            </a:r>
            <a:endParaRPr/>
          </a:p>
          <a:p>
            <a:pPr indent="-136779" lvl="1" marL="640080" rtl="0" algn="l">
              <a:spcBef>
                <a:spcPts val="4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  <p:sp>
        <p:nvSpPr>
          <p:cNvPr id="212" name="Google Shape;212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Propositional Equivalence and Tautology</a:t>
            </a:r>
            <a:endParaRPr sz="3600"/>
          </a:p>
        </p:txBody>
      </p:sp>
      <p:sp>
        <p:nvSpPr>
          <p:cNvPr id="218" name="Google Shape;218;p29"/>
          <p:cNvSpPr txBox="1"/>
          <p:nvPr>
            <p:ph idx="1" type="body"/>
          </p:nvPr>
        </p:nvSpPr>
        <p:spPr>
          <a:xfrm>
            <a:off x="457200" y="1142984"/>
            <a:ext cx="8229600" cy="4983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 sz="2400" u="sng">
                <a:solidFill>
                  <a:srgbClr val="00B050"/>
                </a:solidFill>
              </a:rPr>
              <a:t>Deﬁnition [Tautology]:</a:t>
            </a:r>
            <a:r>
              <a:rPr lang="en-IN" sz="2400">
                <a:solidFill>
                  <a:srgbClr val="00B050"/>
                </a:solidFill>
              </a:rPr>
              <a:t> </a:t>
            </a:r>
            <a:r>
              <a:rPr lang="en-IN" sz="2400"/>
              <a:t>A compound proposition that is always true, no matter what the truth values of the proposition that occurs in it, is called a tautology. </a:t>
            </a:r>
            <a:endParaRPr/>
          </a:p>
          <a:p>
            <a:pPr indent="-274320" lvl="0" marL="274320" rtl="0" algn="just">
              <a:spcBef>
                <a:spcPts val="444"/>
              </a:spcBef>
              <a:spcAft>
                <a:spcPts val="0"/>
              </a:spcAft>
              <a:buSzPct val="95000"/>
              <a:buChar char="⚫"/>
            </a:pPr>
            <a:r>
              <a:rPr lang="en-IN" sz="2400" u="sng">
                <a:solidFill>
                  <a:srgbClr val="00B050"/>
                </a:solidFill>
              </a:rPr>
              <a:t>Definition [Contradiction]:</a:t>
            </a:r>
            <a:r>
              <a:rPr lang="en-IN" sz="2400">
                <a:solidFill>
                  <a:srgbClr val="00B050"/>
                </a:solidFill>
              </a:rPr>
              <a:t> </a:t>
            </a:r>
            <a:r>
              <a:rPr lang="en-IN" sz="2400"/>
              <a:t>A compound proposition that is always false is called a contradiction. A compound proposition that is neither a tautology nor a contradiction is called a contingency.</a:t>
            </a:r>
            <a:endParaRPr/>
          </a:p>
          <a:p>
            <a:pPr indent="-274320" lvl="0" marL="274320" rtl="0" algn="just">
              <a:spcBef>
                <a:spcPts val="444"/>
              </a:spcBef>
              <a:spcAft>
                <a:spcPts val="0"/>
              </a:spcAft>
              <a:buSzPct val="95000"/>
              <a:buChar char="⚫"/>
            </a:pPr>
            <a:r>
              <a:rPr lang="en-IN" sz="2400"/>
              <a:t>Examples:</a:t>
            </a:r>
            <a:endParaRPr/>
          </a:p>
          <a:p>
            <a:pPr indent="-246888" lvl="1" marL="640080" rtl="0" algn="just">
              <a:spcBef>
                <a:spcPts val="407"/>
              </a:spcBef>
              <a:spcAft>
                <a:spcPts val="0"/>
              </a:spcAft>
              <a:buSzPct val="85000"/>
              <a:buChar char="⚫"/>
            </a:pPr>
            <a:r>
              <a:rPr lang="en-IN" sz="2200"/>
              <a:t>(p ∨ ¬p) is a tautology.</a:t>
            </a:r>
            <a:endParaRPr/>
          </a:p>
          <a:p>
            <a:pPr indent="-246888" lvl="1" marL="640080" rtl="0" algn="just">
              <a:spcBef>
                <a:spcPts val="407"/>
              </a:spcBef>
              <a:spcAft>
                <a:spcPts val="0"/>
              </a:spcAft>
              <a:buSzPct val="85000"/>
              <a:buChar char="⚫"/>
            </a:pPr>
            <a:r>
              <a:rPr lang="en-IN" sz="2200"/>
              <a:t>(p ∧ ¬p) is a contradiction.</a:t>
            </a:r>
            <a:endParaRPr/>
          </a:p>
          <a:p>
            <a:pPr indent="-274320" lvl="0" marL="274320" rtl="0" algn="just">
              <a:spcBef>
                <a:spcPts val="444"/>
              </a:spcBef>
              <a:spcAft>
                <a:spcPts val="0"/>
              </a:spcAft>
              <a:buSzPct val="95000"/>
              <a:buChar char="⚫"/>
            </a:pPr>
            <a:r>
              <a:rPr lang="en-IN" sz="2400" u="sng">
                <a:solidFill>
                  <a:srgbClr val="00B050"/>
                </a:solidFill>
              </a:rPr>
              <a:t>Deﬁnition [Logical equivalence]:</a:t>
            </a:r>
            <a:r>
              <a:rPr lang="en-IN" sz="2400">
                <a:solidFill>
                  <a:srgbClr val="00B050"/>
                </a:solidFill>
              </a:rPr>
              <a:t>  </a:t>
            </a:r>
            <a:r>
              <a:rPr lang="en-IN" sz="2400"/>
              <a:t>A compound proposition p and q are called logically equivalent if p ↔ q is a tautology. The notation p ≡ q denotes that p and q are logically equivalent.</a:t>
            </a:r>
            <a:endParaRPr/>
          </a:p>
        </p:txBody>
      </p:sp>
      <p:sp>
        <p:nvSpPr>
          <p:cNvPr id="219" name="Google Shape;219;p2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357158" y="214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Propositional Equivalence and Tautology</a:t>
            </a:r>
            <a:endParaRPr sz="3600"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357158" y="1857364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129238" lvl="0" marL="27432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Show that p and q are logically equivalent if and only if the columns giving their truth values match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Show that ¬(p ∧ q) ≡ ¬p ∨ ¬q.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Show that ¬(p ∨ (¬p ∧ q)) and ¬p ∧ ¬q are logically equivalent by developing a series of logical equivalences.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(p ∧ q)🡪(p ∨ q) = ¬(p ∧ q) v (p ∨ q) = 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¬(p ∨ (¬p ∧ q)) = ¬p ∧ ¬ (¬p ∧ q) = ¬p ∧ (p v ¬q) = (¬p ∧ p) v (¬p ∧ ¬q) =  F V (¬p ∧ ¬q) = ¬p ∧ ¬q </a:t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title"/>
          </p:nvPr>
        </p:nvSpPr>
        <p:spPr>
          <a:xfrm>
            <a:off x="285720" y="214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Propositional Equivalence and Tautology</a:t>
            </a:r>
            <a:endParaRPr sz="3600"/>
          </a:p>
        </p:txBody>
      </p:sp>
      <p:sp>
        <p:nvSpPr>
          <p:cNvPr id="232" name="Google Shape;232;p3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33" name="Google Shape;233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6425" y="1513681"/>
            <a:ext cx="5191125" cy="42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285720" y="214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Propositional Equivalence and Tautology</a:t>
            </a:r>
            <a:endParaRPr sz="3600"/>
          </a:p>
        </p:txBody>
      </p:sp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40" name="Google Shape;240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04" y="1643050"/>
            <a:ext cx="495300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04" y="4643446"/>
            <a:ext cx="5072098" cy="1500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428596" y="2857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Satisfiability</a:t>
            </a:r>
            <a:endParaRPr sz="3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28596" y="1714488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A compound proposition is </a:t>
            </a:r>
            <a:r>
              <a:rPr b="1" lang="en-IN"/>
              <a:t>satisfiable if there is an assignment of truth values to its variables that </a:t>
            </a:r>
            <a:r>
              <a:rPr lang="en-IN"/>
              <a:t>makes it true. </a:t>
            </a:r>
            <a:endParaRPr/>
          </a:p>
          <a:p>
            <a:pPr indent="-274320" lvl="0" marL="274320" rtl="0" algn="just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When no such assignments exists, that is, when the compound proposition is false for all assignments of truth values to its variables, the compound proposition is </a:t>
            </a:r>
            <a:r>
              <a:rPr b="1" lang="en-IN"/>
              <a:t>unsatisfiable.</a:t>
            </a:r>
            <a:endParaRPr/>
          </a:p>
          <a:p>
            <a:pPr indent="-274320" lvl="0" marL="274320" rtl="0" algn="just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NB: a compound proposition is unsatisfiable if and only if its negation is true for all assignments of truth values to the variables, that is, if and only if its negation is a tautology.</a:t>
            </a:r>
            <a:endParaRPr/>
          </a:p>
        </p:txBody>
      </p: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428596" y="2857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Satisfiability</a:t>
            </a:r>
            <a:endParaRPr sz="3600"/>
          </a:p>
        </p:txBody>
      </p:sp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457200" y="1571612"/>
            <a:ext cx="8229600" cy="4752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en-IN">
                <a:solidFill>
                  <a:srgbClr val="00B050"/>
                </a:solidFill>
              </a:rPr>
              <a:t>Ex:</a:t>
            </a:r>
            <a:r>
              <a:rPr lang="en-IN"/>
              <a:t> Determine whether each of the compound propositions (p </a:t>
            </a:r>
            <a:r>
              <a:rPr lang="en-IN" sz="2800"/>
              <a:t>∨</a:t>
            </a:r>
            <a:r>
              <a:rPr lang="en-IN"/>
              <a:t>¬q) ∧ (q </a:t>
            </a:r>
            <a:r>
              <a:rPr lang="en-IN" sz="2800"/>
              <a:t>∨ </a:t>
            </a:r>
            <a:r>
              <a:rPr lang="en-IN"/>
              <a:t>¬r) ∧ (r </a:t>
            </a:r>
            <a:r>
              <a:rPr lang="en-IN" sz="2800"/>
              <a:t>∨ </a:t>
            </a:r>
            <a:r>
              <a:rPr lang="en-IN"/>
              <a:t>¬p), (p </a:t>
            </a:r>
            <a:r>
              <a:rPr lang="en-IN" sz="2800"/>
              <a:t>∨ </a:t>
            </a:r>
            <a:r>
              <a:rPr lang="en-IN"/>
              <a:t>q </a:t>
            </a:r>
            <a:r>
              <a:rPr lang="en-IN" sz="2800"/>
              <a:t>∨</a:t>
            </a:r>
            <a:r>
              <a:rPr lang="en-IN"/>
              <a:t> r) ∧ (¬p </a:t>
            </a:r>
            <a:r>
              <a:rPr lang="en-IN" sz="2800"/>
              <a:t>∨ </a:t>
            </a:r>
            <a:r>
              <a:rPr lang="en-IN"/>
              <a:t>¬q </a:t>
            </a:r>
            <a:r>
              <a:rPr lang="en-IN" sz="2800"/>
              <a:t>∨ </a:t>
            </a:r>
            <a:r>
              <a:rPr lang="en-IN"/>
              <a:t>¬r), and (p </a:t>
            </a:r>
            <a:r>
              <a:rPr lang="en-IN" sz="2800"/>
              <a:t>∨ </a:t>
            </a:r>
            <a:r>
              <a:rPr lang="en-IN"/>
              <a:t>¬q) ∧ (q </a:t>
            </a:r>
            <a:r>
              <a:rPr lang="en-IN" sz="2800"/>
              <a:t>∨ </a:t>
            </a:r>
            <a:r>
              <a:rPr lang="en-IN"/>
              <a:t>¬r) ∧ (r </a:t>
            </a:r>
            <a:r>
              <a:rPr lang="en-IN" sz="2800"/>
              <a:t>∨ </a:t>
            </a:r>
            <a:r>
              <a:rPr lang="en-IN"/>
              <a:t>¬p) ∧ (p </a:t>
            </a:r>
            <a:r>
              <a:rPr lang="en-IN" sz="2800"/>
              <a:t>∨</a:t>
            </a:r>
            <a:r>
              <a:rPr lang="en-IN"/>
              <a:t> q </a:t>
            </a:r>
            <a:r>
              <a:rPr lang="en-IN" sz="2800"/>
              <a:t>∨ </a:t>
            </a:r>
            <a:r>
              <a:rPr lang="en-IN"/>
              <a:t> r) ∧ (¬p </a:t>
            </a:r>
            <a:r>
              <a:rPr lang="en-IN" sz="2800"/>
              <a:t>∨ </a:t>
            </a:r>
            <a:r>
              <a:rPr lang="en-IN"/>
              <a:t>¬q </a:t>
            </a:r>
            <a:r>
              <a:rPr lang="en-IN" sz="2800"/>
              <a:t>∨ </a:t>
            </a:r>
            <a:r>
              <a:rPr lang="en-IN"/>
              <a:t>¬r) is satisfiable.</a:t>
            </a:r>
            <a:endParaRPr/>
          </a:p>
          <a:p>
            <a:pPr indent="-274320" lvl="0" marL="274320" rtl="0" algn="just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just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 u="sng">
                <a:solidFill>
                  <a:srgbClr val="00B050"/>
                </a:solidFill>
              </a:rPr>
              <a:t>Application of Satisfiability: </a:t>
            </a:r>
            <a:r>
              <a:rPr lang="en-IN"/>
              <a:t>many problems in digital circuit property verification, robotics, software testing, network security can be modelled as propositional satisfiability</a:t>
            </a:r>
            <a:endParaRPr/>
          </a:p>
          <a:p>
            <a:pPr indent="-274320" lvl="0" marL="274320" rtl="0" algn="just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just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>
                <a:solidFill>
                  <a:srgbClr val="00B050"/>
                </a:solidFill>
              </a:rPr>
              <a:t>Ex:</a:t>
            </a:r>
            <a:r>
              <a:rPr lang="en-IN"/>
              <a:t> Solve sudoku puzzle for 9x9 grid made up of 9 3x3 subgrids called blocks. – Write the propositions for modelling sudoku puzzle problem as propositional satisfiability.  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SAT Problem</a:t>
            </a:r>
            <a:endParaRPr/>
          </a:p>
        </p:txBody>
      </p:sp>
      <p:sp>
        <p:nvSpPr>
          <p:cNvPr id="261" name="Google Shape;261;p3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710"/>
              <a:buChar char="⚫"/>
            </a:pPr>
            <a:r>
              <a:rPr lang="en-IN" sz="1800"/>
              <a:t>A </a:t>
            </a:r>
            <a:r>
              <a:rPr i="1" lang="en-IN" sz="1800"/>
              <a:t>literal </a:t>
            </a:r>
            <a:r>
              <a:rPr lang="en-IN" sz="1800"/>
              <a:t>is either an atom A or a negation ￢A of an atom.</a:t>
            </a:r>
            <a:endParaRPr/>
          </a:p>
          <a:p>
            <a:pPr indent="-274320" lvl="0" marL="274320" rtl="0" algn="l">
              <a:spcBef>
                <a:spcPts val="360"/>
              </a:spcBef>
              <a:spcAft>
                <a:spcPts val="0"/>
              </a:spcAft>
              <a:buSzPts val="1710"/>
              <a:buChar char="⚫"/>
            </a:pPr>
            <a:r>
              <a:rPr lang="en-IN" sz="1800"/>
              <a:t>A </a:t>
            </a:r>
            <a:r>
              <a:rPr i="1" lang="en-IN" sz="1800"/>
              <a:t>clause </a:t>
            </a:r>
            <a:r>
              <a:rPr lang="en-IN" sz="1800"/>
              <a:t>is a disjunction L1 ∨. . .∨Ln, n ≥ 0 of literals. When n = 0, the clause is called </a:t>
            </a:r>
            <a:r>
              <a:rPr i="1" lang="en-IN" sz="1800"/>
              <a:t>empty </a:t>
            </a:r>
            <a:r>
              <a:rPr lang="en-IN" sz="1800"/>
              <a:t>and denoted by  When n = 1 we say that the clause is </a:t>
            </a:r>
            <a:r>
              <a:rPr i="1" lang="en-IN" sz="1800"/>
              <a:t>unit</a:t>
            </a:r>
            <a:r>
              <a:rPr lang="en-IN" sz="1800"/>
              <a:t>. The clause is </a:t>
            </a:r>
            <a:r>
              <a:rPr i="1" lang="en-IN" sz="1800"/>
              <a:t>Horn </a:t>
            </a:r>
            <a:r>
              <a:rPr lang="en-IN" sz="1800"/>
              <a:t>if at most one of the Li’s is a positive literal.</a:t>
            </a:r>
            <a:endParaRPr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274320" lvl="0" marL="274320" rtl="0" algn="l">
              <a:spcBef>
                <a:spcPts val="360"/>
              </a:spcBef>
              <a:spcAft>
                <a:spcPts val="0"/>
              </a:spcAft>
              <a:buSzPts val="1710"/>
              <a:buChar char="⚫"/>
            </a:pPr>
            <a:r>
              <a:rPr lang="en-IN" sz="1800"/>
              <a:t>(p v ¬q) ∧ (r v s v t)   </a:t>
            </a:r>
            <a:endParaRPr/>
          </a:p>
          <a:p>
            <a:pPr indent="-165735" lvl="0" marL="274320" rtl="0" algn="l">
              <a:spcBef>
                <a:spcPts val="36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274320" lvl="0" marL="274320" rtl="0" algn="l">
              <a:spcBef>
                <a:spcPts val="360"/>
              </a:spcBef>
              <a:spcAft>
                <a:spcPts val="0"/>
              </a:spcAft>
              <a:buSzPts val="1710"/>
              <a:buChar char="⚫"/>
            </a:pPr>
            <a:r>
              <a:rPr lang="en-IN" sz="1800"/>
              <a:t>CNF Transformation using rules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63" name="Google Shape;26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3212976"/>
            <a:ext cx="6990018" cy="1978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SAT problem</a:t>
            </a:r>
            <a:endParaRPr/>
          </a:p>
        </p:txBody>
      </p:sp>
      <p:pic>
        <p:nvPicPr>
          <p:cNvPr id="269" name="Google Shape;269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204864"/>
            <a:ext cx="8229600" cy="2811737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1" name="Google Shape;27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040" y="5374377"/>
            <a:ext cx="3651900" cy="46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7744" y="5875084"/>
            <a:ext cx="1592850" cy="42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4432" y="5840937"/>
            <a:ext cx="2059050" cy="408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457200" y="476672"/>
            <a:ext cx="8229600" cy="7920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Unit Propagation</a:t>
            </a:r>
            <a:endParaRPr/>
          </a:p>
        </p:txBody>
      </p:sp>
      <p:pic>
        <p:nvPicPr>
          <p:cNvPr id="279" name="Google Shape;279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3980831"/>
            <a:ext cx="4623151" cy="379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1" name="Google Shape;28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4855" y="4359911"/>
            <a:ext cx="3613050" cy="5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400" y="1412776"/>
            <a:ext cx="7344000" cy="2592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4088" y="4370175"/>
            <a:ext cx="3690750" cy="1730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>
            <p:ph type="title"/>
          </p:nvPr>
        </p:nvSpPr>
        <p:spPr>
          <a:xfrm>
            <a:off x="457200" y="4766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DPLL Algorithm for Satisfiability</a:t>
            </a:r>
            <a:endParaRPr/>
          </a:p>
        </p:txBody>
      </p:sp>
      <p:pic>
        <p:nvPicPr>
          <p:cNvPr id="289" name="Google Shape;289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649" y="1935163"/>
            <a:ext cx="4764702" cy="438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DPLL Example</a:t>
            </a:r>
            <a:endParaRPr/>
          </a:p>
        </p:txBody>
      </p:sp>
      <p:pic>
        <p:nvPicPr>
          <p:cNvPr id="296" name="Google Shape;296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2348880"/>
            <a:ext cx="3766088" cy="3078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8" name="Google Shape;29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2351" y="2516221"/>
            <a:ext cx="3343449" cy="2743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611560" y="446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SAT Problem</a:t>
            </a:r>
            <a:endParaRPr/>
          </a:p>
        </p:txBody>
      </p:sp>
      <p:sp>
        <p:nvSpPr>
          <p:cNvPr id="304" name="Google Shape;304;p40"/>
          <p:cNvSpPr txBox="1"/>
          <p:nvPr>
            <p:ph idx="1" type="body"/>
          </p:nvPr>
        </p:nvSpPr>
        <p:spPr>
          <a:xfrm>
            <a:off x="457200" y="1268760"/>
            <a:ext cx="8229600" cy="50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SAT is a typical search problem. We are given an instance I (that is, some input data specifying the problem at hand, in this case a Boolean formula in conjunctive normal form), and we are asked to find a solution S (an object that meets a particular specification, in this case an assignment that satisfies each clause). If no such solution exists, we must say so. </a:t>
            </a:r>
            <a:endParaRPr/>
          </a:p>
          <a:p>
            <a:pPr indent="0" lvl="0" marL="0" rtl="0" algn="just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just">
              <a:spcBef>
                <a:spcPts val="403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A search problem is specified by an algorithm C that takes two inputs, an instance I and a proposed solution S, and runs in time polynomial in |I|. We say S is a solution to I if and only if C(I, S) = true.</a:t>
            </a:r>
            <a:endParaRPr/>
          </a:p>
          <a:p>
            <a:pPr indent="0" lvl="0" marL="0" rtl="0" algn="just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just">
              <a:spcBef>
                <a:spcPts val="403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The fastest algorithms we have are still exponential on their worst-case inputs.</a:t>
            </a:r>
            <a:endParaRPr/>
          </a:p>
          <a:p>
            <a:pPr indent="0" lvl="0" marL="0" rtl="0" algn="just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just">
              <a:spcBef>
                <a:spcPts val="403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2-SAT problem is P - if all clauses have only two literals, then SAT can be solved in linear time by finding the strongly connected components of a particular graph constructed from the instance</a:t>
            </a:r>
            <a:endParaRPr/>
          </a:p>
          <a:p>
            <a:pPr indent="-152765" lvl="0" marL="274320" rtl="0" algn="just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Deterministic vs Nondeterministic Computation</a:t>
            </a:r>
            <a:endParaRPr/>
          </a:p>
        </p:txBody>
      </p:sp>
      <p:sp>
        <p:nvSpPr>
          <p:cNvPr id="311" name="Google Shape;311;p41"/>
          <p:cNvSpPr txBox="1"/>
          <p:nvPr>
            <p:ph idx="1" type="body"/>
          </p:nvPr>
        </p:nvSpPr>
        <p:spPr>
          <a:xfrm>
            <a:off x="251520" y="2034168"/>
            <a:ext cx="4978896" cy="336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just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A deterministic algorithm that performs </a:t>
            </a:r>
            <a:r>
              <a:rPr i="1"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) steps always finishes in </a:t>
            </a:r>
            <a:r>
              <a:rPr i="1"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) steps and always returns the same result. A non deterministic algorithm that has </a:t>
            </a:r>
            <a:r>
              <a:rPr i="1"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IN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) levels might not return the same result on different runs. A non deterministic algorithm may never finish due to the potentially infinite size of the fixed height tree.</a:t>
            </a:r>
            <a:endParaRPr/>
          </a:p>
        </p:txBody>
      </p:sp>
      <p:sp>
        <p:nvSpPr>
          <p:cNvPr id="312" name="Google Shape;312;p4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13" name="Google Shape;313;p41"/>
          <p:cNvSpPr txBox="1"/>
          <p:nvPr/>
        </p:nvSpPr>
        <p:spPr>
          <a:xfrm>
            <a:off x="6019800" y="1988840"/>
            <a:ext cx="2944688" cy="345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14" name="Google Shape;3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088" y="1935480"/>
            <a:ext cx="3866208" cy="2964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2SAT Problem (Linear Time Algo.) </a:t>
            </a:r>
            <a:endParaRPr/>
          </a:p>
        </p:txBody>
      </p:sp>
      <p:sp>
        <p:nvSpPr>
          <p:cNvPr id="320" name="Google Shape;320;p4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Think of clauses as implications      a v b’ = a’ 🡪 b’ 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 Think of a graph with literals as nodes 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 Find strongly connected components </a:t>
            </a:r>
            <a:endParaRPr/>
          </a:p>
          <a:p>
            <a:pPr indent="-274320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lang="en-IN"/>
              <a:t> Variable and its negation should not be in the same component 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• Example 1: (a’ + b) (b’ + c) (c’ + a) 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• Example 2: (a’ + b) (b’ + c) (c’ + a)</a:t>
            </a:r>
            <a:r>
              <a:rPr lang="en-IN">
                <a:solidFill>
                  <a:srgbClr val="FF0000"/>
                </a:solidFill>
              </a:rPr>
              <a:t> </a:t>
            </a:r>
            <a:r>
              <a:rPr lang="en-IN"/>
              <a:t>(a + b) (a’ + b’)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/* 6 vertices and 10 edges in the graph*/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a-&gt;b; b’-&gt;a’   /*cycle between a and a’*/ 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a’-&gt;b; b’-&gt;a   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a-&gt;b’; b-&gt;a’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rPr lang="en-IN"/>
              <a:t>b-&gt;c; c-&gt;a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321" name="Google Shape;321;p4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2SAT Problem </a:t>
            </a:r>
            <a:endParaRPr/>
          </a:p>
        </p:txBody>
      </p:sp>
      <p:sp>
        <p:nvSpPr>
          <p:cNvPr id="327" name="Google Shape;327;p4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https://media.geeksforgeeks.org/wp-content/uploads/2-Satisfiability-1.png" id="328" name="Google Shape;328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723" y="2060848"/>
            <a:ext cx="4104017" cy="3078013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3"/>
          <p:cNvSpPr txBox="1"/>
          <p:nvPr/>
        </p:nvSpPr>
        <p:spPr>
          <a:xfrm>
            <a:off x="4867896" y="4725144"/>
            <a:ext cx="424847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(x1 v x2) ∧ (x2’ v x3) ∧ (x1’ v x2’) ∧  (x3’ v x4) ∧ (x3’ v x5)  ∧ (x4’ v x5’) ∧ (x3 v x4)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30" name="Google Shape;330;p43"/>
          <p:cNvSpPr txBox="1"/>
          <p:nvPr/>
        </p:nvSpPr>
        <p:spPr>
          <a:xfrm>
            <a:off x="383568" y="1862549"/>
            <a:ext cx="4392488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strongly connected component in a graph is a sub-graph in which every node is reachable from other node in the sub-graph. For example: x3’, x4 and x5’ and the related edges forms a strongly connected component. Similarly, x1 and x2’ do.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NB: Here, the whole graph is a connected component of itself.  But, not a strongly connected component.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 2SAT problem, we look for the case, if a variable and its complement present in a strongly connected component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 other words, we look for finding a cycle between a variable and its complement in the graph.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Greedy Algorithm for finding SAT of Horn formula</a:t>
            </a:r>
            <a:endParaRPr/>
          </a:p>
        </p:txBody>
      </p:sp>
      <p:sp>
        <p:nvSpPr>
          <p:cNvPr id="336" name="Google Shape;336;p4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37" name="Google Shape;337;p44"/>
          <p:cNvSpPr/>
          <p:nvPr/>
        </p:nvSpPr>
        <p:spPr>
          <a:xfrm>
            <a:off x="827584" y="1744111"/>
            <a:ext cx="680918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Input: a Horn formula  /*satisfiability of horn clauses &lt; &gt; 2 SAT*/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Output: a satisfying assignment, if one exists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 u="sng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Algorithms</a:t>
            </a:r>
            <a:r>
              <a:rPr b="1"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set all variables to false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while there is an implication that is not satisfied: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set the right-hand variable of the implication to true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if all pure negative clauses are satisfied: return the assignment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else: return ‘‘formula is not satisfiable’’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 instance, suppose the formula is (w ∧ y ∧ z) ⇒ x, (x ∧ z) ⇒ w, x ⇒ y, ⇒ x, (x ∧ y) ⇒ w, (z). We start with everything false and then notice that x must be true on account of the singleton implication ⇒ x. Then we see that y must also be true, because of x ⇒ y. And so on.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(w’ v y’ v z’ v x) (x’ v z’ v w) (x’ v y) (F v x) (x’ v y’ v w) (z)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X = T, Z =T, Y =T, W = T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type="title"/>
          </p:nvPr>
        </p:nvSpPr>
        <p:spPr>
          <a:xfrm>
            <a:off x="457200" y="188640"/>
            <a:ext cx="8229600" cy="636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IN"/>
              <a:t>2SAT Example</a:t>
            </a:r>
            <a:endParaRPr/>
          </a:p>
        </p:txBody>
      </p:sp>
      <p:pic>
        <p:nvPicPr>
          <p:cNvPr id="343" name="Google Shape;343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56" y="764704"/>
            <a:ext cx="5773216" cy="5491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/>
          <p:nvPr>
            <p:ph type="title"/>
          </p:nvPr>
        </p:nvSpPr>
        <p:spPr>
          <a:xfrm>
            <a:off x="457200" y="42459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3 SAT is NP complete</a:t>
            </a:r>
            <a:endParaRPr/>
          </a:p>
        </p:txBody>
      </p:sp>
      <p:sp>
        <p:nvSpPr>
          <p:cNvPr id="350" name="Google Shape;350;p46"/>
          <p:cNvSpPr txBox="1"/>
          <p:nvPr>
            <p:ph idx="1" type="body"/>
          </p:nvPr>
        </p:nvSpPr>
        <p:spPr>
          <a:xfrm>
            <a:off x="457200" y="1700808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en-IN"/>
              <a:t>S is in exponential size of the Instance |I|</a:t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rPr lang="en-IN"/>
              <a:t>Can we design graph for 3-CNF clauses and decide??</a:t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rPr lang="en-IN"/>
              <a:t>Complexity:</a:t>
            </a:r>
            <a:endParaRPr/>
          </a:p>
          <a:p>
            <a:pPr indent="-514350" lvl="0" marL="514350" rtl="0" algn="l">
              <a:spcBef>
                <a:spcPts val="403"/>
              </a:spcBef>
              <a:spcAft>
                <a:spcPts val="0"/>
              </a:spcAft>
              <a:buSzPct val="95000"/>
              <a:buAutoNum type="arabicPeriod"/>
            </a:pPr>
            <a:r>
              <a:rPr lang="en-IN"/>
              <a:t>Selecting Literal (Branching)</a:t>
            </a:r>
            <a:endParaRPr/>
          </a:p>
          <a:p>
            <a:pPr indent="-514350" lvl="0" marL="514350" rtl="0" algn="l">
              <a:spcBef>
                <a:spcPts val="403"/>
              </a:spcBef>
              <a:spcAft>
                <a:spcPts val="0"/>
              </a:spcAft>
              <a:buSzPct val="95000"/>
              <a:buAutoNum type="arabicPeriod"/>
            </a:pPr>
            <a:r>
              <a:rPr lang="en-IN"/>
              <a:t>Backtracking. It is the backtracking that causes exponential behavior of the search procedure. (State based and conflict analysis driven)</a:t>
            </a:r>
            <a:endParaRPr/>
          </a:p>
          <a:p>
            <a:pPr indent="-342900" lvl="1" marL="708660" rtl="0" algn="l">
              <a:spcBef>
                <a:spcPts val="372"/>
              </a:spcBef>
              <a:spcAft>
                <a:spcPts val="0"/>
              </a:spcAft>
              <a:buSzPct val="85000"/>
              <a:buFont typeface="Noto Sans Symbols"/>
              <a:buChar char="⮚"/>
            </a:pPr>
            <a:r>
              <a:rPr lang="en-IN"/>
              <a:t>efforts in the satisﬁability checking community at reducing the amount of backtracking in search procedures. </a:t>
            </a:r>
            <a:endParaRPr/>
          </a:p>
          <a:p>
            <a:pPr indent="-274320" lvl="0" marL="274320" rtl="0" algn="l">
              <a:spcBef>
                <a:spcPts val="403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en-IN"/>
              <a:t>DPLL applies heuristics on Literal selection and backtracking</a:t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rPr lang="en-IN"/>
              <a:t>{¬p ∨ q, ¬p ∨ ¬q ∨ r, ¬p, ¬r}. /* Pure Literal Rule*/</a:t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03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en-IN"/>
              <a:t>Good Implementation of Unit propagation</a:t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3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sp>
        <p:nvSpPr>
          <p:cNvPr id="351" name="Google Shape;351;p4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type="title"/>
          </p:nvPr>
        </p:nvSpPr>
        <p:spPr>
          <a:xfrm>
            <a:off x="285720" y="21429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Application of Satisfiability # Solving Sudoku Puzzle</a:t>
            </a:r>
            <a:endParaRPr sz="3600"/>
          </a:p>
        </p:txBody>
      </p:sp>
      <p:sp>
        <p:nvSpPr>
          <p:cNvPr id="357" name="Google Shape;357;p4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8" name="Google Shape;358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04" y="1643050"/>
            <a:ext cx="5214974" cy="3929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500034" y="285728"/>
            <a:ext cx="8229600" cy="8572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Lecture1: Solving Sudoku puzzle</a:t>
            </a:r>
            <a:endParaRPr/>
          </a:p>
        </p:txBody>
      </p:sp>
      <p:sp>
        <p:nvSpPr>
          <p:cNvPr id="364" name="Google Shape;364;p48"/>
          <p:cNvSpPr txBox="1"/>
          <p:nvPr>
            <p:ph idx="1" type="body"/>
          </p:nvPr>
        </p:nvSpPr>
        <p:spPr>
          <a:xfrm>
            <a:off x="457200" y="1571612"/>
            <a:ext cx="8229600" cy="4752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For each cell with a given value, assert p(i, j, n) when the cell in row i and column j has the given value n.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Assert every row contains every number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Assert every column contains every number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65" name="Google Shape;365;p4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66" name="Google Shape;36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4678" y="2928934"/>
            <a:ext cx="2928958" cy="107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3240" y="4786322"/>
            <a:ext cx="3000396" cy="1000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IN" sz="3600"/>
              <a:t>Lecture1: Application of Satisfiability # Solving Sudoku Puzzle</a:t>
            </a:r>
            <a:endParaRPr sz="3600"/>
          </a:p>
        </p:txBody>
      </p:sp>
      <p:sp>
        <p:nvSpPr>
          <p:cNvPr id="373" name="Google Shape;373;p4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[p(1,1,1) ∨ p(1,2,1) ∨ …… ∨ p(1,9,1)] ∧ [p(1,1,2) ∨ p(1,2,2) ∨ …… ∨ p(1,9,2)] ∧ …… ∧[p(1,1,9) ∨ p(1,2,9) ∨ …… ∨ p(1,9,9)] ∧ [p(2,1,1) ∨ p(2,2,1) ∨ …… ∨ p(2,9,1)]…..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74" name="Google Shape;374;p4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0"/>
          <p:cNvSpPr txBox="1"/>
          <p:nvPr>
            <p:ph type="title"/>
          </p:nvPr>
        </p:nvSpPr>
        <p:spPr>
          <a:xfrm>
            <a:off x="500034" y="285728"/>
            <a:ext cx="8229600" cy="8572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Lecture1: Solving Sudoku puzzle</a:t>
            </a:r>
            <a:endParaRPr/>
          </a:p>
        </p:txBody>
      </p:sp>
      <p:sp>
        <p:nvSpPr>
          <p:cNvPr id="380" name="Google Shape;380;p50"/>
          <p:cNvSpPr txBox="1"/>
          <p:nvPr>
            <p:ph idx="1" type="body"/>
          </p:nvPr>
        </p:nvSpPr>
        <p:spPr>
          <a:xfrm>
            <a:off x="457200" y="1571612"/>
            <a:ext cx="8229600" cy="4752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Assert each of the 9 3x3 blocks contains every number.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No cell contains more than one number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81" name="Google Shape;381;p5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82" name="Google Shape;38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4988" y="2286000"/>
            <a:ext cx="5321300" cy="1071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48" y="4286256"/>
            <a:ext cx="7537450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Exercise </a:t>
            </a:r>
            <a:endParaRPr/>
          </a:p>
        </p:txBody>
      </p:sp>
      <p:sp>
        <p:nvSpPr>
          <p:cNvPr id="389" name="Google Shape;389;p5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Write down the clauses for 3 x 3 Sudoku puzzle.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IN"/>
              <a:t>Implement 2-SAT Algorithm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IN"/>
              <a:t>  </a:t>
            </a:r>
            <a:endParaRPr/>
          </a:p>
        </p:txBody>
      </p:sp>
      <p:sp>
        <p:nvSpPr>
          <p:cNvPr id="390" name="Google Shape;390;p5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IN"/>
              <a:t>Prolog</a:t>
            </a:r>
            <a:endParaRPr/>
          </a:p>
        </p:txBody>
      </p:sp>
      <p:sp>
        <p:nvSpPr>
          <p:cNvPr id="396" name="Google Shape;396;p5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IN" u="sng">
                <a:solidFill>
                  <a:schemeClr val="hlink"/>
                </a:solidFill>
                <a:hlinkClick r:id="rId3"/>
              </a:rPr>
              <a:t>https://www.swi-prolog.org/</a:t>
            </a:r>
            <a:endParaRPr/>
          </a:p>
        </p:txBody>
      </p:sp>
      <p:sp>
        <p:nvSpPr>
          <p:cNvPr id="397" name="Google Shape;397;p5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