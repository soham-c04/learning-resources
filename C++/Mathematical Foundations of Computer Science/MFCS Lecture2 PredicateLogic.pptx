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59"/>
  </p:notesMasterIdLst>
  <p:handoutMasterIdLst>
    <p:handoutMasterId r:id="rId60"/>
  </p:handoutMasterIdLst>
  <p:sldIdLst>
    <p:sldId id="256" r:id="rId5"/>
    <p:sldId id="265" r:id="rId6"/>
    <p:sldId id="266" r:id="rId7"/>
    <p:sldId id="267" r:id="rId8"/>
    <p:sldId id="270" r:id="rId9"/>
    <p:sldId id="271" r:id="rId10"/>
    <p:sldId id="272" r:id="rId11"/>
    <p:sldId id="273" r:id="rId12"/>
    <p:sldId id="274" r:id="rId13"/>
    <p:sldId id="275" r:id="rId14"/>
    <p:sldId id="311" r:id="rId15"/>
    <p:sldId id="289" r:id="rId16"/>
    <p:sldId id="291" r:id="rId17"/>
    <p:sldId id="368" r:id="rId18"/>
    <p:sldId id="288" r:id="rId19"/>
    <p:sldId id="286" r:id="rId20"/>
    <p:sldId id="290" r:id="rId21"/>
    <p:sldId id="287" r:id="rId22"/>
    <p:sldId id="332" r:id="rId23"/>
    <p:sldId id="333" r:id="rId24"/>
    <p:sldId id="334" r:id="rId25"/>
    <p:sldId id="335" r:id="rId26"/>
    <p:sldId id="336" r:id="rId27"/>
    <p:sldId id="337" r:id="rId28"/>
    <p:sldId id="338" r:id="rId29"/>
    <p:sldId id="339" r:id="rId30"/>
    <p:sldId id="340" r:id="rId31"/>
    <p:sldId id="341" r:id="rId32"/>
    <p:sldId id="342" r:id="rId33"/>
    <p:sldId id="343" r:id="rId34"/>
    <p:sldId id="344" r:id="rId35"/>
    <p:sldId id="345" r:id="rId36"/>
    <p:sldId id="346" r:id="rId37"/>
    <p:sldId id="347" r:id="rId38"/>
    <p:sldId id="348" r:id="rId39"/>
    <p:sldId id="349" r:id="rId40"/>
    <p:sldId id="350" r:id="rId41"/>
    <p:sldId id="351" r:id="rId42"/>
    <p:sldId id="352" r:id="rId43"/>
    <p:sldId id="353" r:id="rId44"/>
    <p:sldId id="354" r:id="rId45"/>
    <p:sldId id="355" r:id="rId46"/>
    <p:sldId id="356" r:id="rId47"/>
    <p:sldId id="357" r:id="rId48"/>
    <p:sldId id="358" r:id="rId49"/>
    <p:sldId id="359" r:id="rId50"/>
    <p:sldId id="360" r:id="rId51"/>
    <p:sldId id="361" r:id="rId52"/>
    <p:sldId id="362" r:id="rId53"/>
    <p:sldId id="363" r:id="rId54"/>
    <p:sldId id="364" r:id="rId55"/>
    <p:sldId id="365" r:id="rId56"/>
    <p:sldId id="366" r:id="rId57"/>
    <p:sldId id="367" r:id="rId58"/>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A30EFE-C600-4E63-89F1-79D476180080}" v="6" dt="2021-09-22T09:55:54.156"/>
    <p1510:client id="{C8A39FC1-88BB-4BBE-8FF6-BADCF506680C}" v="2" dt="2021-09-21T14:23:01.8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1674"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29761" y="0"/>
            <a:ext cx="2929837" cy="497126"/>
          </a:xfrm>
          <a:prstGeom prst="rect">
            <a:avLst/>
          </a:prstGeom>
        </p:spPr>
        <p:txBody>
          <a:bodyPr vert="horz" lIns="91440" tIns="45720" rIns="91440" bIns="45720" rtlCol="0"/>
          <a:lstStyle>
            <a:lvl1pPr algn="r">
              <a:defRPr sz="1200"/>
            </a:lvl1pPr>
          </a:lstStyle>
          <a:p>
            <a:fld id="{CB7EB511-1606-4127-8CF8-9E7772E6D55B}" type="datetimeFigureOut">
              <a:rPr lang="en-US" smtClean="0"/>
              <a:t>8/18/2025</a:t>
            </a:fld>
            <a:endParaRPr lang="en-IN"/>
          </a:p>
        </p:txBody>
      </p:sp>
      <p:sp>
        <p:nvSpPr>
          <p:cNvPr id="4" name="Footer Placeholder 3"/>
          <p:cNvSpPr>
            <a:spLocks noGrp="1"/>
          </p:cNvSpPr>
          <p:nvPr>
            <p:ph type="ftr" sz="quarter" idx="2"/>
          </p:nvPr>
        </p:nvSpPr>
        <p:spPr>
          <a:xfrm>
            <a:off x="0" y="9443662"/>
            <a:ext cx="2929837" cy="497126"/>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29761" y="9443662"/>
            <a:ext cx="2929837" cy="497126"/>
          </a:xfrm>
          <a:prstGeom prst="rect">
            <a:avLst/>
          </a:prstGeom>
        </p:spPr>
        <p:txBody>
          <a:bodyPr vert="horz" lIns="91440" tIns="45720" rIns="91440" bIns="45720" rtlCol="0" anchor="b"/>
          <a:lstStyle>
            <a:lvl1pPr algn="r">
              <a:defRPr sz="1200"/>
            </a:lvl1pPr>
          </a:lstStyle>
          <a:p>
            <a:fld id="{42F04780-033C-4F45-ACDD-C60242C01884}" type="slidenum">
              <a:rPr lang="en-IN" smtClean="0"/>
              <a:t>‹#›</a:t>
            </a:fld>
            <a:endParaRPr lang="en-IN"/>
          </a:p>
        </p:txBody>
      </p:sp>
    </p:spTree>
    <p:extLst>
      <p:ext uri="{BB962C8B-B14F-4D97-AF65-F5344CB8AC3E}">
        <p14:creationId xmlns:p14="http://schemas.microsoft.com/office/powerpoint/2010/main" val="208972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7126"/>
          </a:xfrm>
          <a:prstGeom prst="rect">
            <a:avLst/>
          </a:prstGeom>
        </p:spPr>
        <p:txBody>
          <a:bodyPr vert="horz" lIns="91440" tIns="45720" rIns="91440" bIns="45720" rtlCol="0"/>
          <a:lstStyle>
            <a:lvl1pPr algn="r">
              <a:defRPr sz="1200"/>
            </a:lvl1pPr>
          </a:lstStyle>
          <a:p>
            <a:fld id="{ECDE2CE6-63FC-43DF-9AAB-C5365EA0F611}" type="datetimeFigureOut">
              <a:rPr lang="en-US" smtClean="0"/>
              <a:pPr/>
              <a:t>8/18/2025</a:t>
            </a:fld>
            <a:endParaRPr lang="en-IN"/>
          </a:p>
        </p:txBody>
      </p:sp>
      <p:sp>
        <p:nvSpPr>
          <p:cNvPr id="4" name="Slide Image Placeholder 3"/>
          <p:cNvSpPr>
            <a:spLocks noGrp="1" noRot="1" noChangeAspect="1"/>
          </p:cNvSpPr>
          <p:nvPr>
            <p:ph type="sldImg" idx="2"/>
          </p:nvPr>
        </p:nvSpPr>
        <p:spPr>
          <a:xfrm>
            <a:off x="896938" y="746125"/>
            <a:ext cx="4967287" cy="37274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22694"/>
            <a:ext cx="5408930" cy="447413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7126"/>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7126"/>
          </a:xfrm>
          <a:prstGeom prst="rect">
            <a:avLst/>
          </a:prstGeom>
        </p:spPr>
        <p:txBody>
          <a:bodyPr vert="horz" lIns="91440" tIns="45720" rIns="91440" bIns="45720" rtlCol="0" anchor="b"/>
          <a:lstStyle>
            <a:lvl1pPr algn="r">
              <a:defRPr sz="1200"/>
            </a:lvl1pPr>
          </a:lstStyle>
          <a:p>
            <a:fld id="{90C27AF3-CAA0-473C-B04D-E6C99B80AFE4}" type="slidenum">
              <a:rPr lang="en-IN" smtClean="0"/>
              <a:pPr/>
              <a:t>‹#›</a:t>
            </a:fld>
            <a:endParaRPr lang="en-IN"/>
          </a:p>
        </p:txBody>
      </p:sp>
    </p:spTree>
    <p:extLst>
      <p:ext uri="{BB962C8B-B14F-4D97-AF65-F5344CB8AC3E}">
        <p14:creationId xmlns:p14="http://schemas.microsoft.com/office/powerpoint/2010/main" val="2817829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3234915F-1A46-477C-A4D9-05E8689FD477}" type="datetime1">
              <a:rPr lang="en-US" smtClean="0"/>
              <a:t>8/18/2025</a:t>
            </a:fld>
            <a:endParaRPr lang="en-IN"/>
          </a:p>
        </p:txBody>
      </p:sp>
      <p:sp>
        <p:nvSpPr>
          <p:cNvPr id="19" name="Footer Placeholder 18"/>
          <p:cNvSpPr>
            <a:spLocks noGrp="1"/>
          </p:cNvSpPr>
          <p:nvPr>
            <p:ph type="ftr" sz="quarter" idx="11"/>
          </p:nvPr>
        </p:nvSpPr>
        <p:spPr/>
        <p:txBody>
          <a:bodyPr/>
          <a:lstStyle/>
          <a:p>
            <a:r>
              <a:rPr lang="en-IN" smtClean="0"/>
              <a:t>Padmalochan Bera, SECS, IIT Bhubaneswar                         MFCS</a:t>
            </a:r>
            <a:endParaRPr lang="en-IN"/>
          </a:p>
        </p:txBody>
      </p:sp>
      <p:sp>
        <p:nvSpPr>
          <p:cNvPr id="27" name="Slide Number Placeholder 26"/>
          <p:cNvSpPr>
            <a:spLocks noGrp="1"/>
          </p:cNvSpPr>
          <p:nvPr>
            <p:ph type="sldNum" sz="quarter" idx="12"/>
          </p:nvPr>
        </p:nvSpPr>
        <p:spPr/>
        <p:txBody>
          <a:bodyPr/>
          <a:lstStyle/>
          <a:p>
            <a:fld id="{8CEFC2AB-1F7F-407C-A119-7B97A880C565}"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934C113-0D3A-4FDD-BC84-794A76F6B372}" type="datetime1">
              <a:rPr lang="en-US" smtClean="0"/>
              <a:t>8/18/2025</a:t>
            </a:fld>
            <a:endParaRPr lang="en-IN"/>
          </a:p>
        </p:txBody>
      </p:sp>
      <p:sp>
        <p:nvSpPr>
          <p:cNvPr id="5" name="Footer Placeholder 4"/>
          <p:cNvSpPr>
            <a:spLocks noGrp="1"/>
          </p:cNvSpPr>
          <p:nvPr>
            <p:ph type="ftr" sz="quarter" idx="11"/>
          </p:nvPr>
        </p:nvSpPr>
        <p:spPr/>
        <p:txBody>
          <a:bodyPr/>
          <a:lstStyle/>
          <a:p>
            <a:r>
              <a:rPr lang="en-IN" smtClean="0"/>
              <a:t>Padmalochan Bera, SECS, IIT Bhubaneswar                         MFCS</a:t>
            </a:r>
            <a:endParaRPr lang="en-IN"/>
          </a:p>
        </p:txBody>
      </p:sp>
      <p:sp>
        <p:nvSpPr>
          <p:cNvPr id="6" name="Slide Number Placeholder 5"/>
          <p:cNvSpPr>
            <a:spLocks noGrp="1"/>
          </p:cNvSpPr>
          <p:nvPr>
            <p:ph type="sldNum" sz="quarter" idx="12"/>
          </p:nvPr>
        </p:nvSpPr>
        <p:spPr/>
        <p:txBody>
          <a:bodyPr/>
          <a:lstStyle/>
          <a:p>
            <a:fld id="{8CEFC2AB-1F7F-407C-A119-7B97A880C565}"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97C077D-6C27-4BEE-8E63-5C8E5BAFC38A}" type="datetime1">
              <a:rPr lang="en-US" smtClean="0"/>
              <a:t>8/18/2025</a:t>
            </a:fld>
            <a:endParaRPr lang="en-IN"/>
          </a:p>
        </p:txBody>
      </p:sp>
      <p:sp>
        <p:nvSpPr>
          <p:cNvPr id="5" name="Footer Placeholder 4"/>
          <p:cNvSpPr>
            <a:spLocks noGrp="1"/>
          </p:cNvSpPr>
          <p:nvPr>
            <p:ph type="ftr" sz="quarter" idx="11"/>
          </p:nvPr>
        </p:nvSpPr>
        <p:spPr/>
        <p:txBody>
          <a:bodyPr/>
          <a:lstStyle/>
          <a:p>
            <a:r>
              <a:rPr lang="en-IN" smtClean="0"/>
              <a:t>Padmalochan Bera, SECS, IIT Bhubaneswar                         MFCS</a:t>
            </a:r>
            <a:endParaRPr lang="en-IN"/>
          </a:p>
        </p:txBody>
      </p:sp>
      <p:sp>
        <p:nvSpPr>
          <p:cNvPr id="6" name="Slide Number Placeholder 5"/>
          <p:cNvSpPr>
            <a:spLocks noGrp="1"/>
          </p:cNvSpPr>
          <p:nvPr>
            <p:ph type="sldNum" sz="quarter" idx="12"/>
          </p:nvPr>
        </p:nvSpPr>
        <p:spPr/>
        <p:txBody>
          <a:bodyPr/>
          <a:lstStyle/>
          <a:p>
            <a:fld id="{8CEFC2AB-1F7F-407C-A119-7B97A880C565}"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6E2A07A-3695-423C-B92D-78A38E399A6A}" type="datetime1">
              <a:rPr lang="en-US" smtClean="0"/>
              <a:t>8/18/2025</a:t>
            </a:fld>
            <a:endParaRPr lang="en-IN"/>
          </a:p>
        </p:txBody>
      </p:sp>
      <p:sp>
        <p:nvSpPr>
          <p:cNvPr id="6" name="Footer Placeholder 5"/>
          <p:cNvSpPr>
            <a:spLocks noGrp="1"/>
          </p:cNvSpPr>
          <p:nvPr>
            <p:ph type="ftr" sz="quarter" idx="11"/>
          </p:nvPr>
        </p:nvSpPr>
        <p:spPr/>
        <p:txBody>
          <a:bodyPr/>
          <a:lstStyle/>
          <a:p>
            <a:r>
              <a:rPr lang="en-IN" smtClean="0"/>
              <a:t>Padmalochan Bera, SECS, IIT Bhubaneswar                         MFCS</a:t>
            </a:r>
            <a:endParaRPr lang="en-IN"/>
          </a:p>
        </p:txBody>
      </p:sp>
      <p:sp>
        <p:nvSpPr>
          <p:cNvPr id="7" name="Slide Number Placeholder 6"/>
          <p:cNvSpPr>
            <a:spLocks noGrp="1"/>
          </p:cNvSpPr>
          <p:nvPr>
            <p:ph type="sldNum" sz="quarter" idx="12"/>
          </p:nvPr>
        </p:nvSpPr>
        <p:spPr/>
        <p:txBody>
          <a:bodyPr/>
          <a:lstStyle/>
          <a:p>
            <a:fld id="{8CEFC2AB-1F7F-407C-A119-7B97A880C565}"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3487CD27-C878-43B3-BAC3-D110302D0BCC}" type="datetime1">
              <a:rPr lang="en-US" smtClean="0"/>
              <a:t>8/18/2025</a:t>
            </a:fld>
            <a:endParaRPr lang="en-IN"/>
          </a:p>
        </p:txBody>
      </p:sp>
      <p:sp>
        <p:nvSpPr>
          <p:cNvPr id="8" name="Footer Placeholder 7"/>
          <p:cNvSpPr>
            <a:spLocks noGrp="1"/>
          </p:cNvSpPr>
          <p:nvPr>
            <p:ph type="ftr" sz="quarter" idx="11"/>
          </p:nvPr>
        </p:nvSpPr>
        <p:spPr/>
        <p:txBody>
          <a:bodyPr/>
          <a:lstStyle/>
          <a:p>
            <a:r>
              <a:rPr lang="en-IN" smtClean="0"/>
              <a:t>Padmalochan Bera, SECS, IIT Bhubaneswar                         MFCS</a:t>
            </a:r>
            <a:endParaRPr lang="en-IN"/>
          </a:p>
        </p:txBody>
      </p:sp>
      <p:sp>
        <p:nvSpPr>
          <p:cNvPr id="9" name="Slide Number Placeholder 8"/>
          <p:cNvSpPr>
            <a:spLocks noGrp="1"/>
          </p:cNvSpPr>
          <p:nvPr>
            <p:ph type="sldNum" sz="quarter" idx="12"/>
          </p:nvPr>
        </p:nvSpPr>
        <p:spPr/>
        <p:txBody>
          <a:bodyPr/>
          <a:lstStyle/>
          <a:p>
            <a:fld id="{8CEFC2AB-1F7F-407C-A119-7B97A880C565}"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F088D426-12EC-4CE4-95C6-37398937F2E9}" type="datetime1">
              <a:rPr lang="en-US" smtClean="0"/>
              <a:t>8/18/2025</a:t>
            </a:fld>
            <a:endParaRPr lang="en-IN"/>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02B28C-5469-47AD-93B2-1125D2F1F083}" type="datetime1">
              <a:rPr lang="en-US" smtClean="0"/>
              <a:t>8/18/2025</a:t>
            </a:fld>
            <a:endParaRPr lang="en-IN"/>
          </a:p>
        </p:txBody>
      </p:sp>
      <p:sp>
        <p:nvSpPr>
          <p:cNvPr id="3" name="Footer Placeholder 2"/>
          <p:cNvSpPr>
            <a:spLocks noGrp="1"/>
          </p:cNvSpPr>
          <p:nvPr>
            <p:ph type="ftr" sz="quarter" idx="11"/>
          </p:nvPr>
        </p:nvSpPr>
        <p:spPr/>
        <p:txBody>
          <a:bodyPr/>
          <a:lstStyle/>
          <a:p>
            <a:r>
              <a:rPr lang="en-IN" smtClean="0"/>
              <a:t>Padmalochan Bera, SECS, IIT Bhubaneswar                         MFCS</a:t>
            </a:r>
            <a:endParaRPr lang="en-IN"/>
          </a:p>
        </p:txBody>
      </p:sp>
      <p:sp>
        <p:nvSpPr>
          <p:cNvPr id="4" name="Slide Number Placeholder 3"/>
          <p:cNvSpPr>
            <a:spLocks noGrp="1"/>
          </p:cNvSpPr>
          <p:nvPr>
            <p:ph type="sldNum" sz="quarter" idx="12"/>
          </p:nvPr>
        </p:nvSpPr>
        <p:spPr/>
        <p:txBody>
          <a:bodyPr/>
          <a:lstStyle/>
          <a:p>
            <a:fld id="{8CEFC2AB-1F7F-407C-A119-7B97A880C565}"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9FC888A-04EF-4C22-B145-D6CC4618D7C5}" type="datetime1">
              <a:rPr lang="en-US" smtClean="0"/>
              <a:t>8/18/2025</a:t>
            </a:fld>
            <a:endParaRPr lang="en-IN"/>
          </a:p>
        </p:txBody>
      </p:sp>
      <p:sp>
        <p:nvSpPr>
          <p:cNvPr id="6" name="Footer Placeholder 5"/>
          <p:cNvSpPr>
            <a:spLocks noGrp="1"/>
          </p:cNvSpPr>
          <p:nvPr>
            <p:ph type="ftr" sz="quarter" idx="11"/>
          </p:nvPr>
        </p:nvSpPr>
        <p:spPr/>
        <p:txBody>
          <a:bodyPr/>
          <a:lstStyle/>
          <a:p>
            <a:r>
              <a:rPr lang="en-IN" smtClean="0"/>
              <a:t>Padmalochan Bera, SECS, IIT Bhubaneswar                         MFCS</a:t>
            </a:r>
            <a:endParaRPr lang="en-IN"/>
          </a:p>
        </p:txBody>
      </p:sp>
      <p:sp>
        <p:nvSpPr>
          <p:cNvPr id="7" name="Slide Number Placeholder 6"/>
          <p:cNvSpPr>
            <a:spLocks noGrp="1"/>
          </p:cNvSpPr>
          <p:nvPr>
            <p:ph type="sldNum" sz="quarter" idx="12"/>
          </p:nvPr>
        </p:nvSpPr>
        <p:spPr/>
        <p:txBody>
          <a:bodyPr/>
          <a:lstStyle/>
          <a:p>
            <a:fld id="{8CEFC2AB-1F7F-407C-A119-7B97A880C565}"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C11B000-B4B3-43D3-883C-0DED95B43D74}" type="datetime1">
              <a:rPr lang="en-US" smtClean="0"/>
              <a:t>8/18/2025</a:t>
            </a:fld>
            <a:endParaRPr lang="en-IN"/>
          </a:p>
        </p:txBody>
      </p:sp>
      <p:sp>
        <p:nvSpPr>
          <p:cNvPr id="6" name="Footer Placeholder 5"/>
          <p:cNvSpPr>
            <a:spLocks noGrp="1"/>
          </p:cNvSpPr>
          <p:nvPr>
            <p:ph type="ftr" sz="quarter" idx="11"/>
          </p:nvPr>
        </p:nvSpPr>
        <p:spPr/>
        <p:txBody>
          <a:bodyPr/>
          <a:lstStyle/>
          <a:p>
            <a:r>
              <a:rPr lang="en-IN" smtClean="0"/>
              <a:t>Padmalochan Bera, SECS, IIT Bhubaneswar                         MFCS</a:t>
            </a:r>
            <a:endParaRPr lang="en-IN"/>
          </a:p>
        </p:txBody>
      </p:sp>
      <p:sp>
        <p:nvSpPr>
          <p:cNvPr id="7" name="Slide Number Placeholder 6"/>
          <p:cNvSpPr>
            <a:spLocks noGrp="1"/>
          </p:cNvSpPr>
          <p:nvPr>
            <p:ph type="sldNum" sz="quarter" idx="12"/>
          </p:nvPr>
        </p:nvSpPr>
        <p:spPr>
          <a:xfrm>
            <a:off x="8077200" y="6356350"/>
            <a:ext cx="609600" cy="365125"/>
          </a:xfrm>
        </p:spPr>
        <p:txBody>
          <a:bodyPr/>
          <a:lstStyle/>
          <a:p>
            <a:fld id="{8CEFC2AB-1F7F-407C-A119-7B97A880C565}" type="slidenum">
              <a:rPr lang="en-IN" smtClean="0"/>
              <a:pPr/>
              <a:t>‹#›</a:t>
            </a:fld>
            <a:endParaRPr lang="en-IN"/>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F91E835-D520-421B-AEEF-BB6E7C229DEE}" type="datetime1">
              <a:rPr lang="en-US" smtClean="0"/>
              <a:t>8/18/2025</a:t>
            </a:fld>
            <a:endParaRPr lang="en-IN"/>
          </a:p>
        </p:txBody>
      </p:sp>
      <p:sp>
        <p:nvSpPr>
          <p:cNvPr id="5" name="Footer Placeholder 4"/>
          <p:cNvSpPr>
            <a:spLocks noGrp="1"/>
          </p:cNvSpPr>
          <p:nvPr>
            <p:ph type="ftr" sz="quarter" idx="11"/>
          </p:nvPr>
        </p:nvSpPr>
        <p:spPr/>
        <p:txBody>
          <a:bodyPr/>
          <a:lstStyle/>
          <a:p>
            <a:r>
              <a:rPr lang="en-IN" smtClean="0"/>
              <a:t>Padmalochan Bera, SECS, IIT Bhubaneswar                         MFCS</a:t>
            </a:r>
            <a:endParaRPr lang="en-IN"/>
          </a:p>
        </p:txBody>
      </p:sp>
      <p:sp>
        <p:nvSpPr>
          <p:cNvPr id="6" name="Slide Number Placeholder 5"/>
          <p:cNvSpPr>
            <a:spLocks noGrp="1"/>
          </p:cNvSpPr>
          <p:nvPr>
            <p:ph type="sldNum" sz="quarter" idx="12"/>
          </p:nvPr>
        </p:nvSpPr>
        <p:spPr/>
        <p:txBody>
          <a:bodyPr/>
          <a:lstStyle/>
          <a:p>
            <a:fld id="{8CEFC2AB-1F7F-407C-A119-7B97A880C565}"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B3FC4D8-42C2-4B54-8EEB-64C6214C1EEC}" type="datetime1">
              <a:rPr lang="en-US" smtClean="0"/>
              <a:t>8/18/2025</a:t>
            </a:fld>
            <a:endParaRPr lang="en-IN"/>
          </a:p>
        </p:txBody>
      </p:sp>
      <p:sp>
        <p:nvSpPr>
          <p:cNvPr id="5" name="Footer Placeholder 4"/>
          <p:cNvSpPr>
            <a:spLocks noGrp="1"/>
          </p:cNvSpPr>
          <p:nvPr>
            <p:ph type="ftr" sz="quarter" idx="11"/>
          </p:nvPr>
        </p:nvSpPr>
        <p:spPr/>
        <p:txBody>
          <a:bodyPr/>
          <a:lstStyle/>
          <a:p>
            <a:r>
              <a:rPr lang="en-IN" smtClean="0"/>
              <a:t>Padmalochan Bera, SECS, IIT Bhubaneswar                         MFCS</a:t>
            </a:r>
            <a:endParaRPr lang="en-IN"/>
          </a:p>
        </p:txBody>
      </p:sp>
      <p:sp>
        <p:nvSpPr>
          <p:cNvPr id="6" name="Slide Number Placeholder 5"/>
          <p:cNvSpPr>
            <a:spLocks noGrp="1"/>
          </p:cNvSpPr>
          <p:nvPr>
            <p:ph type="sldNum" sz="quarter" idx="12"/>
          </p:nvPr>
        </p:nvSpPr>
        <p:spPr/>
        <p:txBody>
          <a:bodyPr/>
          <a:lstStyle/>
          <a:p>
            <a:fld id="{8CEFC2AB-1F7F-407C-A119-7B97A880C565}"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FAD2ABE-3F9A-49C1-8579-52F67AA8022E}" type="datetime1">
              <a:rPr lang="en-US" smtClean="0"/>
              <a:t>8/18/2025</a:t>
            </a:fld>
            <a:endParaRPr lang="en-I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IN" smtClean="0"/>
              <a:t>Padmalochan Bera, SECS, IIT Bhubaneswar                         MFCS</a:t>
            </a:r>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CEFC2AB-1F7F-407C-A119-7B97A880C565}" type="slidenum">
              <a:rPr lang="en-IN" smtClean="0"/>
              <a:pPr/>
              <a:t>‹#›</a:t>
            </a:fld>
            <a:endParaRPr lang="en-IN"/>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plb@iitbbs.ac.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5.wmf"/><Relationship Id="rId5" Type="http://schemas.openxmlformats.org/officeDocument/2006/relationships/oleObject" Target="../embeddings/oleObject2.bin"/><Relationship Id="rId4" Type="http://schemas.openxmlformats.org/officeDocument/2006/relationships/image" Target="../media/image14.wmf"/></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MFCS – Lecture 2</a:t>
            </a:r>
            <a:endParaRPr lang="en-IN" dirty="0"/>
          </a:p>
        </p:txBody>
      </p:sp>
      <p:sp>
        <p:nvSpPr>
          <p:cNvPr id="4" name="Subtitle 3"/>
          <p:cNvSpPr>
            <a:spLocks noGrp="1"/>
          </p:cNvSpPr>
          <p:nvPr>
            <p:ph type="subTitle" idx="1"/>
          </p:nvPr>
        </p:nvSpPr>
        <p:spPr/>
        <p:txBody>
          <a:bodyPr>
            <a:normAutofit fontScale="85000" lnSpcReduction="20000"/>
          </a:bodyPr>
          <a:lstStyle/>
          <a:p>
            <a:pPr algn="ctr"/>
            <a:r>
              <a:rPr lang="en-IN" dirty="0"/>
              <a:t>Dr. </a:t>
            </a:r>
            <a:r>
              <a:rPr lang="en-IN" dirty="0" err="1" smtClean="0"/>
              <a:t>Padmalochan</a:t>
            </a:r>
            <a:r>
              <a:rPr lang="en-IN" dirty="0" smtClean="0"/>
              <a:t> Bera</a:t>
            </a:r>
            <a:endParaRPr lang="en-IN" dirty="0"/>
          </a:p>
          <a:p>
            <a:pPr algn="ctr"/>
            <a:r>
              <a:rPr lang="en-IN" dirty="0" smtClean="0"/>
              <a:t>Associate Professor, CSE</a:t>
            </a:r>
            <a:endParaRPr lang="en-IN" dirty="0"/>
          </a:p>
          <a:p>
            <a:pPr algn="ctr"/>
            <a:r>
              <a:rPr lang="en-IN" dirty="0"/>
              <a:t>School of Electrical </a:t>
            </a:r>
            <a:r>
              <a:rPr lang="en-IN" dirty="0" smtClean="0"/>
              <a:t>and Computer Sciences </a:t>
            </a:r>
            <a:endParaRPr lang="en-IN" dirty="0"/>
          </a:p>
          <a:p>
            <a:pPr algn="ctr"/>
            <a:r>
              <a:rPr lang="en-IN" dirty="0"/>
              <a:t>IIT Bhubaneswar</a:t>
            </a:r>
          </a:p>
          <a:p>
            <a:pPr algn="ctr"/>
            <a:r>
              <a:rPr lang="en-IN" dirty="0">
                <a:hlinkClick r:id="rId2"/>
              </a:rPr>
              <a:t>plb@iitbbs.ac.in</a:t>
            </a:r>
            <a:r>
              <a:rPr lang="en-IN" dirty="0"/>
              <a:t>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0"/>
            <a:ext cx="8229600" cy="1143000"/>
          </a:xfrm>
        </p:spPr>
        <p:txBody>
          <a:bodyPr/>
          <a:lstStyle/>
          <a:p>
            <a:r>
              <a:rPr lang="en-IN" dirty="0"/>
              <a:t>Lecture </a:t>
            </a:r>
            <a:r>
              <a:rPr lang="en-IN" dirty="0" smtClean="0"/>
              <a:t>2: </a:t>
            </a:r>
            <a:r>
              <a:rPr lang="en-IN" dirty="0"/>
              <a:t>Predicate Logic</a:t>
            </a:r>
          </a:p>
        </p:txBody>
      </p:sp>
      <p:sp>
        <p:nvSpPr>
          <p:cNvPr id="4" name="Footer Placeholder 3"/>
          <p:cNvSpPr>
            <a:spLocks noGrp="1"/>
          </p:cNvSpPr>
          <p:nvPr>
            <p:ph type="ftr" sz="quarter" idx="11"/>
          </p:nvPr>
        </p:nvSpPr>
        <p:spPr/>
        <p:txBody>
          <a:bodyPr/>
          <a:lstStyle/>
          <a:p>
            <a:r>
              <a:rPr lang="en-IN" dirty="0" err="1"/>
              <a:t>Padmalochan</a:t>
            </a:r>
            <a:r>
              <a:rPr lang="en-IN" dirty="0"/>
              <a:t> Bera, </a:t>
            </a:r>
            <a:r>
              <a:rPr lang="en-IN" dirty="0" smtClean="0"/>
              <a:t>SECS</a:t>
            </a:r>
            <a:r>
              <a:rPr lang="en-IN" dirty="0"/>
              <a:t>, IIT Bhubaneswar                         </a:t>
            </a:r>
            <a:r>
              <a:rPr lang="en-IN" dirty="0" smtClean="0"/>
              <a:t>MFCS</a:t>
            </a:r>
            <a:endParaRPr lang="en-IN" dirty="0"/>
          </a:p>
        </p:txBody>
      </p:sp>
      <p:sp>
        <p:nvSpPr>
          <p:cNvPr id="5" name="Slide Number Placeholder 4"/>
          <p:cNvSpPr>
            <a:spLocks noGrp="1"/>
          </p:cNvSpPr>
          <p:nvPr>
            <p:ph type="sldNum" sz="quarter" idx="12"/>
          </p:nvPr>
        </p:nvSpPr>
        <p:spPr/>
        <p:txBody>
          <a:bodyPr/>
          <a:lstStyle/>
          <a:p>
            <a:fld id="{8CEFC2AB-1F7F-407C-A119-7B97A880C565}" type="slidenum">
              <a:rPr lang="en-IN" smtClean="0"/>
              <a:pPr/>
              <a:t>2</a:t>
            </a:fld>
            <a:endParaRPr lang="en-IN"/>
          </a:p>
        </p:txBody>
      </p:sp>
      <p:pic>
        <p:nvPicPr>
          <p:cNvPr id="23554" name="Picture 2"/>
          <p:cNvPicPr>
            <a:picLocks noGrp="1" noChangeAspect="1" noChangeArrowheads="1"/>
          </p:cNvPicPr>
          <p:nvPr>
            <p:ph idx="1"/>
          </p:nvPr>
        </p:nvPicPr>
        <p:blipFill>
          <a:blip r:embed="rId2"/>
          <a:srcRect/>
          <a:stretch>
            <a:fillRect/>
          </a:stretch>
        </p:blipFill>
        <p:spPr bwMode="auto">
          <a:xfrm>
            <a:off x="210049" y="1348262"/>
            <a:ext cx="7929618" cy="50006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14290"/>
            <a:ext cx="8229600" cy="785818"/>
          </a:xfrm>
        </p:spPr>
        <p:txBody>
          <a:bodyPr>
            <a:normAutofit fontScale="90000"/>
          </a:bodyPr>
          <a:lstStyle/>
          <a:p>
            <a:r>
              <a:rPr lang="en-IN" dirty="0"/>
              <a:t>Lecture </a:t>
            </a:r>
            <a:r>
              <a:rPr lang="en-IN" dirty="0" smtClean="0"/>
              <a:t>2: </a:t>
            </a:r>
            <a:r>
              <a:rPr lang="en-IN" dirty="0"/>
              <a:t>Predicate Logic</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3</a:t>
            </a:fld>
            <a:endParaRPr lang="en-IN"/>
          </a:p>
        </p:txBody>
      </p:sp>
      <p:pic>
        <p:nvPicPr>
          <p:cNvPr id="24578" name="Picture 2"/>
          <p:cNvPicPr>
            <a:picLocks noGrp="1" noChangeAspect="1" noChangeArrowheads="1"/>
          </p:cNvPicPr>
          <p:nvPr>
            <p:ph idx="1"/>
          </p:nvPr>
        </p:nvPicPr>
        <p:blipFill>
          <a:blip r:embed="rId2"/>
          <a:srcRect/>
          <a:stretch>
            <a:fillRect/>
          </a:stretch>
        </p:blipFill>
        <p:spPr bwMode="auto">
          <a:xfrm>
            <a:off x="571472" y="1071546"/>
            <a:ext cx="8001056" cy="4786346"/>
          </a:xfrm>
          <a:prstGeom prst="rect">
            <a:avLst/>
          </a:prstGeom>
          <a:noFill/>
          <a:ln w="9525">
            <a:noFill/>
            <a:miter lim="800000"/>
            <a:headEnd/>
            <a:tailEnd/>
          </a:ln>
          <a:effectLst/>
        </p:spPr>
      </p:pic>
      <p:pic>
        <p:nvPicPr>
          <p:cNvPr id="24579" name="Picture 3"/>
          <p:cNvPicPr>
            <a:picLocks noChangeAspect="1" noChangeArrowheads="1"/>
          </p:cNvPicPr>
          <p:nvPr/>
        </p:nvPicPr>
        <p:blipFill>
          <a:blip r:embed="rId3"/>
          <a:srcRect/>
          <a:stretch>
            <a:fillRect/>
          </a:stretch>
        </p:blipFill>
        <p:spPr bwMode="auto">
          <a:xfrm>
            <a:off x="2000232" y="5643578"/>
            <a:ext cx="3071834" cy="50006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lstStyle/>
          <a:p>
            <a:r>
              <a:rPr lang="en-IN" dirty="0"/>
              <a:t>Lecture </a:t>
            </a:r>
            <a:r>
              <a:rPr lang="en-IN" dirty="0" smtClean="0"/>
              <a:t>2: </a:t>
            </a:r>
            <a:r>
              <a:rPr lang="en-IN" dirty="0"/>
              <a:t>Predicate Logic</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4</a:t>
            </a:fld>
            <a:endParaRPr lang="en-IN"/>
          </a:p>
        </p:txBody>
      </p:sp>
      <p:pic>
        <p:nvPicPr>
          <p:cNvPr id="25602" name="Picture 2"/>
          <p:cNvPicPr>
            <a:picLocks noGrp="1" noChangeAspect="1" noChangeArrowheads="1"/>
          </p:cNvPicPr>
          <p:nvPr>
            <p:ph idx="1"/>
          </p:nvPr>
        </p:nvPicPr>
        <p:blipFill>
          <a:blip r:embed="rId2"/>
          <a:srcRect/>
          <a:stretch>
            <a:fillRect/>
          </a:stretch>
        </p:blipFill>
        <p:spPr bwMode="auto">
          <a:xfrm>
            <a:off x="785786" y="1643050"/>
            <a:ext cx="6105525" cy="1238250"/>
          </a:xfrm>
          <a:prstGeom prst="rect">
            <a:avLst/>
          </a:prstGeom>
          <a:noFill/>
          <a:ln w="9525">
            <a:noFill/>
            <a:miter lim="800000"/>
            <a:headEnd/>
            <a:tailEnd/>
          </a:ln>
          <a:effectLst/>
        </p:spPr>
      </p:pic>
      <p:pic>
        <p:nvPicPr>
          <p:cNvPr id="25603" name="Picture 3"/>
          <p:cNvPicPr>
            <a:picLocks noChangeAspect="1" noChangeArrowheads="1"/>
          </p:cNvPicPr>
          <p:nvPr/>
        </p:nvPicPr>
        <p:blipFill>
          <a:blip r:embed="rId3"/>
          <a:srcRect/>
          <a:stretch>
            <a:fillRect/>
          </a:stretch>
        </p:blipFill>
        <p:spPr bwMode="auto">
          <a:xfrm>
            <a:off x="714348" y="3071810"/>
            <a:ext cx="6391275" cy="752475"/>
          </a:xfrm>
          <a:prstGeom prst="rect">
            <a:avLst/>
          </a:prstGeom>
          <a:noFill/>
          <a:ln w="9525">
            <a:noFill/>
            <a:miter lim="800000"/>
            <a:headEnd/>
            <a:tailEnd/>
          </a:ln>
          <a:effectLst/>
        </p:spPr>
      </p:pic>
      <p:pic>
        <p:nvPicPr>
          <p:cNvPr id="25604" name="Picture 4"/>
          <p:cNvPicPr>
            <a:picLocks noChangeAspect="1" noChangeArrowheads="1"/>
          </p:cNvPicPr>
          <p:nvPr/>
        </p:nvPicPr>
        <p:blipFill>
          <a:blip r:embed="rId4"/>
          <a:srcRect/>
          <a:stretch>
            <a:fillRect/>
          </a:stretch>
        </p:blipFill>
        <p:spPr bwMode="auto">
          <a:xfrm>
            <a:off x="785786" y="3857628"/>
            <a:ext cx="6372225" cy="7810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642942"/>
          </a:xfrm>
        </p:spPr>
        <p:txBody>
          <a:bodyPr>
            <a:normAutofit fontScale="90000"/>
          </a:bodyPr>
          <a:lstStyle/>
          <a:p>
            <a:r>
              <a:rPr lang="en-IN"/>
              <a:t>Lecture2: Predicate Logic</a:t>
            </a:r>
          </a:p>
        </p:txBody>
      </p:sp>
      <p:sp>
        <p:nvSpPr>
          <p:cNvPr id="3" name="Content Placeholder 2"/>
          <p:cNvSpPr>
            <a:spLocks noGrp="1"/>
          </p:cNvSpPr>
          <p:nvPr>
            <p:ph idx="1"/>
          </p:nvPr>
        </p:nvSpPr>
        <p:spPr>
          <a:xfrm>
            <a:off x="428596" y="1142984"/>
            <a:ext cx="8229600" cy="4824426"/>
          </a:xfrm>
        </p:spPr>
        <p:txBody>
          <a:bodyPr>
            <a:normAutofit fontScale="92500" lnSpcReduction="20000"/>
          </a:bodyPr>
          <a:lstStyle/>
          <a:p>
            <a:pPr algn="just">
              <a:buNone/>
            </a:pPr>
            <a:r>
              <a:rPr lang="en-IN"/>
              <a:t>Predicates:</a:t>
            </a:r>
          </a:p>
          <a:p>
            <a:pPr algn="just"/>
            <a:r>
              <a:rPr lang="en-IN"/>
              <a:t>Statements involving variables, such as</a:t>
            </a:r>
          </a:p>
          <a:p>
            <a:pPr lvl="1" algn="just"/>
            <a:r>
              <a:rPr lang="es-ES"/>
              <a:t>“x &gt; 3,” “x = y + 3,” “x + y = z”</a:t>
            </a:r>
          </a:p>
          <a:p>
            <a:pPr lvl="1" algn="just"/>
            <a:r>
              <a:rPr lang="en-IN"/>
              <a:t>“computer x is under attack by an intruder” </a:t>
            </a:r>
          </a:p>
          <a:p>
            <a:pPr marL="393192" lvl="1" indent="0" algn="just">
              <a:buNone/>
            </a:pPr>
            <a:r>
              <a:rPr lang="en-IN"/>
              <a:t>/P(x): x is under attack/</a:t>
            </a:r>
          </a:p>
          <a:p>
            <a:pPr lvl="1" algn="just"/>
            <a:r>
              <a:rPr lang="en-IN"/>
              <a:t>“computer x is functioning properly”</a:t>
            </a:r>
          </a:p>
          <a:p>
            <a:pPr algn="just"/>
            <a:r>
              <a:rPr lang="en-IN"/>
              <a:t>x is subject variable</a:t>
            </a:r>
          </a:p>
          <a:p>
            <a:pPr algn="just"/>
            <a:r>
              <a:rPr lang="en-IN"/>
              <a:t>greater than 3 is the property the subject can have - predicate </a:t>
            </a:r>
          </a:p>
          <a:p>
            <a:pPr algn="just"/>
            <a:r>
              <a:rPr lang="en-IN"/>
              <a:t>Statement P(x) can be also said to be the value of the propositional formula P at x</a:t>
            </a:r>
          </a:p>
          <a:p>
            <a:pPr algn="just"/>
            <a:r>
              <a:rPr lang="en-IN"/>
              <a:t>Once value is assigned to x, P(x) becomes a proposition</a:t>
            </a:r>
          </a:p>
          <a:p>
            <a:pPr algn="just"/>
            <a:r>
              <a:rPr lang="en-IN"/>
              <a:t>P(4), P(2) are propositions with truth values T and F respectively </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5</a:t>
            </a:fld>
            <a:endParaRPr lang="en-I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142852"/>
            <a:ext cx="8229600" cy="1143000"/>
          </a:xfrm>
        </p:spPr>
        <p:txBody>
          <a:bodyPr/>
          <a:lstStyle/>
          <a:p>
            <a:r>
              <a:rPr lang="en-IN" dirty="0"/>
              <a:t>Lecture </a:t>
            </a:r>
            <a:r>
              <a:rPr lang="en-IN" dirty="0" smtClean="0"/>
              <a:t>2: </a:t>
            </a:r>
            <a:r>
              <a:rPr lang="en-IN" dirty="0"/>
              <a:t>Predicate Logic</a:t>
            </a:r>
          </a:p>
        </p:txBody>
      </p:sp>
      <p:sp>
        <p:nvSpPr>
          <p:cNvPr id="3" name="Content Placeholder 2"/>
          <p:cNvSpPr>
            <a:spLocks noGrp="1"/>
          </p:cNvSpPr>
          <p:nvPr>
            <p:ph idx="1"/>
          </p:nvPr>
        </p:nvSpPr>
        <p:spPr>
          <a:xfrm>
            <a:off x="357158" y="1500174"/>
            <a:ext cx="8229600" cy="4389120"/>
          </a:xfrm>
        </p:spPr>
        <p:txBody>
          <a:bodyPr>
            <a:normAutofit/>
          </a:bodyPr>
          <a:lstStyle/>
          <a:p>
            <a:r>
              <a:rPr lang="en-IN" dirty="0"/>
              <a:t>a statement involving the n variables x1, x2, . . . , </a:t>
            </a:r>
            <a:r>
              <a:rPr lang="en-IN" dirty="0" err="1"/>
              <a:t>xn</a:t>
            </a:r>
            <a:r>
              <a:rPr lang="en-IN" dirty="0"/>
              <a:t> can be denoted by P(x1, x2, . . . , </a:t>
            </a:r>
            <a:r>
              <a:rPr lang="en-IN" dirty="0" err="1"/>
              <a:t>xn</a:t>
            </a:r>
            <a:r>
              <a:rPr lang="en-IN" dirty="0"/>
              <a:t>).</a:t>
            </a:r>
          </a:p>
          <a:p>
            <a:r>
              <a:rPr lang="en-IN" dirty="0"/>
              <a:t>A statement of the form P(x1, x2, . . . , </a:t>
            </a:r>
            <a:r>
              <a:rPr lang="en-IN" dirty="0" err="1"/>
              <a:t>xn</a:t>
            </a:r>
            <a:r>
              <a:rPr lang="en-IN" dirty="0"/>
              <a:t>) is the value of the propositional function P at the n-tuple (x1, x2, . . . , </a:t>
            </a:r>
            <a:r>
              <a:rPr lang="en-IN" dirty="0" err="1"/>
              <a:t>xn</a:t>
            </a:r>
            <a:r>
              <a:rPr lang="en-IN" dirty="0"/>
              <a:t>), and P is also called an n-place predicate or a n-</a:t>
            </a:r>
            <a:r>
              <a:rPr lang="en-IN" dirty="0" err="1"/>
              <a:t>ary</a:t>
            </a:r>
            <a:r>
              <a:rPr lang="en-IN" dirty="0"/>
              <a:t> predicate.</a:t>
            </a:r>
          </a:p>
          <a:p>
            <a:r>
              <a:rPr lang="en-IN" dirty="0"/>
              <a:t>Let Q(x, y) denote the statement “x = y + 3.” What are the truth values of the propositions Q(1, 2) and Q(3, 0)?</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6</a:t>
            </a:fld>
            <a:endParaRPr lang="en-I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571504"/>
          </a:xfrm>
        </p:spPr>
        <p:txBody>
          <a:bodyPr>
            <a:normAutofit fontScale="90000"/>
          </a:bodyPr>
          <a:lstStyle/>
          <a:p>
            <a:r>
              <a:rPr lang="en-IN" dirty="0"/>
              <a:t>Lecture </a:t>
            </a:r>
            <a:r>
              <a:rPr lang="en-IN" dirty="0" smtClean="0"/>
              <a:t>2: </a:t>
            </a:r>
            <a:r>
              <a:rPr lang="en-IN" dirty="0"/>
              <a:t>Predicate Logic</a:t>
            </a:r>
          </a:p>
        </p:txBody>
      </p:sp>
      <p:sp>
        <p:nvSpPr>
          <p:cNvPr id="3" name="Content Placeholder 2"/>
          <p:cNvSpPr>
            <a:spLocks noGrp="1"/>
          </p:cNvSpPr>
          <p:nvPr>
            <p:ph idx="1"/>
          </p:nvPr>
        </p:nvSpPr>
        <p:spPr>
          <a:xfrm>
            <a:off x="457200" y="1214422"/>
            <a:ext cx="8229600" cy="5110178"/>
          </a:xfrm>
        </p:spPr>
        <p:txBody>
          <a:bodyPr>
            <a:normAutofit fontScale="92500" lnSpcReduction="20000"/>
          </a:bodyPr>
          <a:lstStyle/>
          <a:p>
            <a:pPr algn="just"/>
            <a:r>
              <a:rPr lang="en-IN" u="sng" dirty="0"/>
              <a:t>Preconditions and </a:t>
            </a:r>
            <a:r>
              <a:rPr lang="en-IN" u="sng" dirty="0" err="1"/>
              <a:t>Postconditions</a:t>
            </a:r>
            <a:r>
              <a:rPr lang="en-IN" u="sng" dirty="0"/>
              <a:t>: </a:t>
            </a:r>
            <a:r>
              <a:rPr lang="en-IN" dirty="0"/>
              <a:t>Predicates are also used to establish the correctness of computer programs, that is, to show that computer programs always produce the desired output when given valid input.</a:t>
            </a:r>
          </a:p>
          <a:p>
            <a:pPr algn="just"/>
            <a:r>
              <a:rPr lang="en-IN" dirty="0"/>
              <a:t>Consider the following program, designed to swap the values of two variables x and y.</a:t>
            </a:r>
          </a:p>
          <a:p>
            <a:pPr lvl="1" algn="just"/>
            <a:r>
              <a:rPr lang="en-IN" dirty="0"/>
              <a:t>temp = x;    /* P(x, y): x=a, y = b     P(x, y): x &gt; y </a:t>
            </a:r>
          </a:p>
          <a:p>
            <a:pPr lvl="1" algn="just"/>
            <a:r>
              <a:rPr lang="en-IN" dirty="0"/>
              <a:t>x = y;</a:t>
            </a:r>
          </a:p>
          <a:p>
            <a:pPr lvl="1" algn="just"/>
            <a:r>
              <a:rPr lang="en-IN" dirty="0"/>
              <a:t>y = temp;  /*Q(x, y): x = b, y =a       Q(x, y): x &lt; y </a:t>
            </a:r>
          </a:p>
          <a:p>
            <a:pPr lvl="1" algn="just"/>
            <a:endParaRPr lang="en-IN" dirty="0"/>
          </a:p>
          <a:p>
            <a:pPr algn="just"/>
            <a:r>
              <a:rPr lang="en-IN" dirty="0"/>
              <a:t>Find predicates that we can use as the </a:t>
            </a:r>
            <a:r>
              <a:rPr lang="en-IN" dirty="0" smtClean="0"/>
              <a:t>pre-condition </a:t>
            </a:r>
            <a:r>
              <a:rPr lang="en-IN" dirty="0"/>
              <a:t>and the </a:t>
            </a:r>
            <a:r>
              <a:rPr lang="en-IN" dirty="0" smtClean="0"/>
              <a:t>post-condition </a:t>
            </a:r>
            <a:r>
              <a:rPr lang="en-IN" dirty="0"/>
              <a:t>to verify the correctness of this program.</a:t>
            </a:r>
          </a:p>
          <a:p>
            <a:pPr algn="just"/>
            <a:endParaRPr lang="en-IN" dirty="0"/>
          </a:p>
          <a:p>
            <a:pPr algn="just"/>
            <a:r>
              <a:rPr lang="en-US" sz="2800" dirty="0"/>
              <a:t>Example : {x&gt;-1} x := x * 2 + 3 {x &gt; 1} </a:t>
            </a:r>
          </a:p>
          <a:p>
            <a:pPr algn="just"/>
            <a:endParaRPr lang="en-IN" dirty="0"/>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7</a:t>
            </a:fld>
            <a:endParaRPr lang="en-I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8229600" cy="500066"/>
          </a:xfrm>
        </p:spPr>
        <p:txBody>
          <a:bodyPr>
            <a:normAutofit fontScale="90000"/>
          </a:bodyPr>
          <a:lstStyle/>
          <a:p>
            <a:r>
              <a:rPr lang="en-IN" dirty="0"/>
              <a:t>Lecture </a:t>
            </a:r>
            <a:r>
              <a:rPr lang="en-IN" dirty="0" smtClean="0"/>
              <a:t>2: </a:t>
            </a:r>
            <a:r>
              <a:rPr lang="en-IN" dirty="0"/>
              <a:t>Predicate Logic</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8</a:t>
            </a:fld>
            <a:endParaRPr lang="en-IN"/>
          </a:p>
        </p:txBody>
      </p:sp>
      <p:pic>
        <p:nvPicPr>
          <p:cNvPr id="26628" name="Picture 4"/>
          <p:cNvPicPr>
            <a:picLocks noChangeAspect="1" noChangeArrowheads="1"/>
          </p:cNvPicPr>
          <p:nvPr/>
        </p:nvPicPr>
        <p:blipFill>
          <a:blip r:embed="rId2"/>
          <a:srcRect/>
          <a:stretch>
            <a:fillRect/>
          </a:stretch>
        </p:blipFill>
        <p:spPr bwMode="auto">
          <a:xfrm>
            <a:off x="714348" y="1071546"/>
            <a:ext cx="7215238" cy="335758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14290"/>
            <a:ext cx="8229600" cy="1143000"/>
          </a:xfrm>
        </p:spPr>
        <p:txBody>
          <a:bodyPr/>
          <a:lstStyle/>
          <a:p>
            <a:r>
              <a:rPr lang="en-IN" dirty="0"/>
              <a:t>Lecture </a:t>
            </a:r>
            <a:r>
              <a:rPr lang="en-IN" dirty="0" smtClean="0"/>
              <a:t>2: </a:t>
            </a:r>
            <a:r>
              <a:rPr lang="en-IN" dirty="0"/>
              <a:t>Predicate Logic</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9</a:t>
            </a:fld>
            <a:endParaRPr lang="en-IN"/>
          </a:p>
        </p:txBody>
      </p:sp>
      <p:pic>
        <p:nvPicPr>
          <p:cNvPr id="27650" name="Picture 2"/>
          <p:cNvPicPr>
            <a:picLocks noGrp="1" noChangeAspect="1" noChangeArrowheads="1"/>
          </p:cNvPicPr>
          <p:nvPr>
            <p:ph idx="1"/>
          </p:nvPr>
        </p:nvPicPr>
        <p:blipFill>
          <a:blip r:embed="rId2"/>
          <a:srcRect/>
          <a:stretch>
            <a:fillRect/>
          </a:stretch>
        </p:blipFill>
        <p:spPr bwMode="auto">
          <a:xfrm>
            <a:off x="785786" y="1428736"/>
            <a:ext cx="6924675" cy="3276600"/>
          </a:xfrm>
          <a:prstGeom prst="rect">
            <a:avLst/>
          </a:prstGeom>
          <a:noFill/>
          <a:ln w="9525">
            <a:noFill/>
            <a:miter lim="800000"/>
            <a:headEnd/>
            <a:tailEnd/>
          </a:ln>
          <a:effectLst/>
        </p:spPr>
      </p:pic>
      <p:pic>
        <p:nvPicPr>
          <p:cNvPr id="27651" name="Picture 3"/>
          <p:cNvPicPr>
            <a:picLocks noChangeAspect="1" noChangeArrowheads="1"/>
          </p:cNvPicPr>
          <p:nvPr/>
        </p:nvPicPr>
        <p:blipFill>
          <a:blip r:embed="rId3"/>
          <a:srcRect/>
          <a:stretch>
            <a:fillRect/>
          </a:stretch>
        </p:blipFill>
        <p:spPr bwMode="auto">
          <a:xfrm>
            <a:off x="1571604" y="4572008"/>
            <a:ext cx="5629275" cy="485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14290"/>
            <a:ext cx="8229600" cy="714380"/>
          </a:xfrm>
        </p:spPr>
        <p:txBody>
          <a:bodyPr>
            <a:normAutofit fontScale="90000"/>
          </a:bodyPr>
          <a:lstStyle/>
          <a:p>
            <a:r>
              <a:rPr lang="en-IN" dirty="0"/>
              <a:t>Lecture </a:t>
            </a:r>
            <a:r>
              <a:rPr lang="en-IN" dirty="0" smtClean="0"/>
              <a:t>2: </a:t>
            </a:r>
            <a:r>
              <a:rPr lang="en-IN" dirty="0"/>
              <a:t>Predicate Logic</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10</a:t>
            </a:fld>
            <a:endParaRPr lang="en-IN"/>
          </a:p>
        </p:txBody>
      </p:sp>
      <p:pic>
        <p:nvPicPr>
          <p:cNvPr id="28674" name="Picture 2"/>
          <p:cNvPicPr>
            <a:picLocks noGrp="1" noChangeAspect="1" noChangeArrowheads="1"/>
          </p:cNvPicPr>
          <p:nvPr>
            <p:ph idx="1"/>
          </p:nvPr>
        </p:nvPicPr>
        <p:blipFill>
          <a:blip r:embed="rId2"/>
          <a:srcRect/>
          <a:stretch>
            <a:fillRect/>
          </a:stretch>
        </p:blipFill>
        <p:spPr bwMode="auto">
          <a:xfrm>
            <a:off x="928662" y="1071546"/>
            <a:ext cx="6800850" cy="2590800"/>
          </a:xfrm>
          <a:prstGeom prst="rect">
            <a:avLst/>
          </a:prstGeom>
          <a:noFill/>
          <a:ln w="9525">
            <a:noFill/>
            <a:miter lim="800000"/>
            <a:headEnd/>
            <a:tailEnd/>
          </a:ln>
          <a:effectLst/>
        </p:spPr>
      </p:pic>
      <p:pic>
        <p:nvPicPr>
          <p:cNvPr id="28675" name="Picture 3"/>
          <p:cNvPicPr>
            <a:picLocks noChangeAspect="1" noChangeArrowheads="1"/>
          </p:cNvPicPr>
          <p:nvPr/>
        </p:nvPicPr>
        <p:blipFill>
          <a:blip r:embed="rId3"/>
          <a:srcRect/>
          <a:stretch>
            <a:fillRect/>
          </a:stretch>
        </p:blipFill>
        <p:spPr bwMode="auto">
          <a:xfrm>
            <a:off x="1214414" y="3571876"/>
            <a:ext cx="6410325" cy="1447800"/>
          </a:xfrm>
          <a:prstGeom prst="rect">
            <a:avLst/>
          </a:prstGeom>
          <a:noFill/>
          <a:ln w="9525">
            <a:noFill/>
            <a:miter lim="800000"/>
            <a:headEnd/>
            <a:tailEnd/>
          </a:ln>
          <a:effectLst/>
        </p:spPr>
      </p:pic>
      <p:pic>
        <p:nvPicPr>
          <p:cNvPr id="28676" name="Picture 4"/>
          <p:cNvPicPr>
            <a:picLocks noChangeAspect="1" noChangeArrowheads="1"/>
          </p:cNvPicPr>
          <p:nvPr/>
        </p:nvPicPr>
        <p:blipFill>
          <a:blip r:embed="rId4"/>
          <a:srcRect/>
          <a:stretch>
            <a:fillRect/>
          </a:stretch>
        </p:blipFill>
        <p:spPr bwMode="auto">
          <a:xfrm>
            <a:off x="1214414" y="5143512"/>
            <a:ext cx="5915025" cy="1019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1914" y="532609"/>
            <a:ext cx="8229600" cy="1143000"/>
          </a:xfrm>
        </p:spPr>
        <p:txBody>
          <a:bodyPr/>
          <a:lstStyle/>
          <a:p>
            <a:r>
              <a:rPr lang="en-US"/>
              <a:t>Example</a:t>
            </a:r>
          </a:p>
        </p:txBody>
      </p:sp>
      <p:sp>
        <p:nvSpPr>
          <p:cNvPr id="3" name="Content Placeholder 2"/>
          <p:cNvSpPr>
            <a:spLocks noGrp="1"/>
          </p:cNvSpPr>
          <p:nvPr>
            <p:ph idx="1"/>
          </p:nvPr>
        </p:nvSpPr>
        <p:spPr>
          <a:xfrm>
            <a:off x="457200" y="1772816"/>
            <a:ext cx="8229600" cy="4389120"/>
          </a:xfrm>
        </p:spPr>
        <p:txBody>
          <a:bodyPr>
            <a:normAutofit/>
          </a:bodyPr>
          <a:lstStyle/>
          <a:p>
            <a:pPr marL="0" indent="0">
              <a:buNone/>
            </a:pPr>
            <a:r>
              <a:rPr lang="en-IN"/>
              <a:t>“The sum of two odd Integers is even.”</a:t>
            </a:r>
          </a:p>
          <a:p>
            <a:pPr marL="0" indent="0">
              <a:buNone/>
            </a:pPr>
            <a:r>
              <a:rPr lang="en-IN"/>
              <a:t>P(x): x is odd</a:t>
            </a:r>
          </a:p>
          <a:p>
            <a:pPr marL="0" indent="0">
              <a:buNone/>
            </a:pPr>
            <a:r>
              <a:rPr lang="en-IN"/>
              <a:t>E(x): x is even </a:t>
            </a:r>
          </a:p>
          <a:p>
            <a:pPr marL="0" indent="0">
              <a:buNone/>
            </a:pPr>
            <a:r>
              <a:rPr lang="en-IN"/>
              <a:t>(For all x belongs to Z), (For all y belongs to Z), p(x) ^ p(y) </a:t>
            </a:r>
            <a:r>
              <a:rPr lang="en-IN">
                <a:sym typeface="Wingdings" panose="05000000000000000000" pitchFamily="2" charset="2"/>
              </a:rPr>
              <a:t> E(</a:t>
            </a:r>
            <a:r>
              <a:rPr lang="en-IN" err="1">
                <a:sym typeface="Wingdings" panose="05000000000000000000" pitchFamily="2" charset="2"/>
              </a:rPr>
              <a:t>x+y</a:t>
            </a:r>
            <a:r>
              <a:rPr lang="en-IN">
                <a:sym typeface="Wingdings" panose="05000000000000000000" pitchFamily="2" charset="2"/>
              </a:rPr>
              <a:t>)</a:t>
            </a:r>
          </a:p>
          <a:p>
            <a:pPr marL="0" indent="0">
              <a:buNone/>
            </a:pPr>
            <a:r>
              <a:rPr lang="en-IN">
                <a:sym typeface="Wingdings" panose="05000000000000000000" pitchFamily="2" charset="2"/>
              </a:rPr>
              <a:t> 1, 2, -1,… </a:t>
            </a:r>
          </a:p>
          <a:p>
            <a:pPr marL="0" indent="0">
              <a:buNone/>
            </a:pPr>
            <a:r>
              <a:rPr lang="en-IN">
                <a:sym typeface="Wingdings" panose="05000000000000000000" pitchFamily="2" charset="2"/>
              </a:rPr>
              <a:t>Y = 1, -1, 2, 0</a:t>
            </a:r>
          </a:p>
          <a:p>
            <a:pPr marL="0" indent="0">
              <a:buNone/>
            </a:pPr>
            <a:r>
              <a:rPr lang="en-IN">
                <a:sym typeface="Wingdings" panose="05000000000000000000" pitchFamily="2" charset="2"/>
              </a:rPr>
              <a:t>Give an example of predicate     P(</a:t>
            </a:r>
            <a:r>
              <a:rPr lang="en-IN" err="1">
                <a:sym typeface="Wingdings" panose="05000000000000000000" pitchFamily="2" charset="2"/>
              </a:rPr>
              <a:t>x,y</a:t>
            </a:r>
            <a:r>
              <a:rPr lang="en-IN">
                <a:sym typeface="Wingdings" panose="05000000000000000000" pitchFamily="2" charset="2"/>
              </a:rPr>
              <a:t>): x&lt;y</a:t>
            </a:r>
          </a:p>
          <a:p>
            <a:pPr marL="0" indent="0">
              <a:buNone/>
            </a:pPr>
            <a:r>
              <a:rPr lang="en-IN">
                <a:sym typeface="Wingdings" panose="05000000000000000000" pitchFamily="2" charset="2"/>
              </a:rPr>
              <a:t>Such that            and             have different truth values</a:t>
            </a:r>
          </a:p>
          <a:p>
            <a:pPr marL="0" indent="0">
              <a:buNone/>
            </a:pPr>
            <a:endParaRPr lang="en-IN">
              <a:sym typeface="Wingdings" panose="05000000000000000000" pitchFamily="2" charset="2"/>
            </a:endParaRPr>
          </a:p>
          <a:p>
            <a:pPr marL="0" indent="0">
              <a:buNone/>
            </a:pPr>
            <a:endParaRPr lang="en-IN">
              <a:sym typeface="Wingdings" panose="05000000000000000000" pitchFamily="2" charset="2"/>
            </a:endParaRPr>
          </a:p>
          <a:p>
            <a:pPr marL="0" indent="0">
              <a:buNone/>
            </a:pPr>
            <a:endParaRPr lang="en-IN">
              <a:sym typeface="Wingdings" panose="05000000000000000000" pitchFamily="2" charset="2"/>
            </a:endParaRPr>
          </a:p>
          <a:p>
            <a:pPr marL="0" indent="0">
              <a:buNone/>
            </a:pPr>
            <a:endParaRPr lang="en-US"/>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11</a:t>
            </a:fld>
            <a:endParaRPr lang="en-IN"/>
          </a:p>
        </p:txBody>
      </p:sp>
      <p:graphicFrame>
        <p:nvGraphicFramePr>
          <p:cNvPr id="32" name="Object 31"/>
          <p:cNvGraphicFramePr>
            <a:graphicFrameLocks noChangeAspect="1"/>
          </p:cNvGraphicFramePr>
          <p:nvPr>
            <p:extLst>
              <p:ext uri="{D42A27DB-BD31-4B8C-83A1-F6EECF244321}">
                <p14:modId xmlns:p14="http://schemas.microsoft.com/office/powerpoint/2010/main" val="2497694563"/>
              </p:ext>
            </p:extLst>
          </p:nvPr>
        </p:nvGraphicFramePr>
        <p:xfrm>
          <a:off x="4716016" y="4713986"/>
          <a:ext cx="620881" cy="267831"/>
        </p:xfrm>
        <a:graphic>
          <a:graphicData uri="http://schemas.openxmlformats.org/presentationml/2006/ole">
            <mc:AlternateContent xmlns:mc="http://schemas.openxmlformats.org/markup-compatibility/2006">
              <mc:Choice xmlns:v="urn:schemas-microsoft-com:vml" Requires="v">
                <p:oleObj spid="_x0000_s25619" name="Equation" r:id="rId3" imgW="482391" imgH="203112" progId="Equation.3">
                  <p:embed/>
                </p:oleObj>
              </mc:Choice>
              <mc:Fallback>
                <p:oleObj name="Equation" r:id="rId3" imgW="482391" imgH="203112" progId="Equation.3">
                  <p:embed/>
                  <p:pic>
                    <p:nvPicPr>
                      <p:cNvPr id="32"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6" y="4713986"/>
                        <a:ext cx="620881" cy="267831"/>
                      </a:xfrm>
                      <a:prstGeom prst="rect">
                        <a:avLst/>
                      </a:prstGeom>
                      <a:noFill/>
                    </p:spPr>
                  </p:pic>
                </p:oleObj>
              </mc:Fallback>
            </mc:AlternateContent>
          </a:graphicData>
        </a:graphic>
      </p:graphicFrame>
      <p:graphicFrame>
        <p:nvGraphicFramePr>
          <p:cNvPr id="33" name="Object 32"/>
          <p:cNvGraphicFramePr>
            <a:graphicFrameLocks noChangeAspect="1"/>
          </p:cNvGraphicFramePr>
          <p:nvPr>
            <p:extLst>
              <p:ext uri="{D42A27DB-BD31-4B8C-83A1-F6EECF244321}">
                <p14:modId xmlns:p14="http://schemas.microsoft.com/office/powerpoint/2010/main" val="1827516231"/>
              </p:ext>
            </p:extLst>
          </p:nvPr>
        </p:nvGraphicFramePr>
        <p:xfrm>
          <a:off x="1979712" y="5686092"/>
          <a:ext cx="792088" cy="212511"/>
        </p:xfrm>
        <a:graphic>
          <a:graphicData uri="http://schemas.openxmlformats.org/presentationml/2006/ole">
            <mc:AlternateContent xmlns:mc="http://schemas.openxmlformats.org/markup-compatibility/2006">
              <mc:Choice xmlns:v="urn:schemas-microsoft-com:vml" Requires="v">
                <p:oleObj spid="_x0000_s25620" name="Equation" r:id="rId5" imgW="787058" imgH="203112" progId="Equation.3">
                  <p:embed/>
                </p:oleObj>
              </mc:Choice>
              <mc:Fallback>
                <p:oleObj name="Equation" r:id="rId5" imgW="787058" imgH="203112" progId="Equation.3">
                  <p:embed/>
                  <p:pic>
                    <p:nvPicPr>
                      <p:cNvPr id="33"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712" y="5686092"/>
                        <a:ext cx="792088" cy="212511"/>
                      </a:xfrm>
                      <a:prstGeom prst="rect">
                        <a:avLst/>
                      </a:prstGeom>
                      <a:noFill/>
                    </p:spPr>
                  </p:pic>
                </p:oleObj>
              </mc:Fallback>
            </mc:AlternateContent>
          </a:graphicData>
        </a:graphic>
      </p:graphicFrame>
      <p:graphicFrame>
        <p:nvGraphicFramePr>
          <p:cNvPr id="34" name="Object 33"/>
          <p:cNvGraphicFramePr>
            <a:graphicFrameLocks noChangeAspect="1"/>
          </p:cNvGraphicFramePr>
          <p:nvPr>
            <p:extLst>
              <p:ext uri="{D42A27DB-BD31-4B8C-83A1-F6EECF244321}">
                <p14:modId xmlns:p14="http://schemas.microsoft.com/office/powerpoint/2010/main" val="3287395589"/>
              </p:ext>
            </p:extLst>
          </p:nvPr>
        </p:nvGraphicFramePr>
        <p:xfrm>
          <a:off x="3469735" y="5671372"/>
          <a:ext cx="901814" cy="241950"/>
        </p:xfrm>
        <a:graphic>
          <a:graphicData uri="http://schemas.openxmlformats.org/presentationml/2006/ole">
            <mc:AlternateContent xmlns:mc="http://schemas.openxmlformats.org/markup-compatibility/2006">
              <mc:Choice xmlns:v="urn:schemas-microsoft-com:vml" Requires="v">
                <p:oleObj spid="_x0000_s25621" name="Equation" r:id="rId7" imgW="787058" imgH="203112" progId="Equation.3">
                  <p:embed/>
                </p:oleObj>
              </mc:Choice>
              <mc:Fallback>
                <p:oleObj name="Equation" r:id="rId7" imgW="787058" imgH="203112" progId="Equation.3">
                  <p:embed/>
                  <p:pic>
                    <p:nvPicPr>
                      <p:cNvPr id="34"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9735" y="5671372"/>
                        <a:ext cx="901814" cy="241950"/>
                      </a:xfrm>
                      <a:prstGeom prst="rect">
                        <a:avLst/>
                      </a:prstGeom>
                      <a:noFill/>
                    </p:spPr>
                  </p:pic>
                </p:oleObj>
              </mc:Fallback>
            </mc:AlternateContent>
          </a:graphicData>
        </a:graphic>
      </p:graphicFrame>
    </p:spTree>
    <p:extLst>
      <p:ext uri="{BB962C8B-B14F-4D97-AF65-F5344CB8AC3E}">
        <p14:creationId xmlns:p14="http://schemas.microsoft.com/office/powerpoint/2010/main" val="23615631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14290"/>
            <a:ext cx="8229600" cy="785818"/>
          </a:xfrm>
        </p:spPr>
        <p:txBody>
          <a:bodyPr>
            <a:normAutofit fontScale="90000"/>
          </a:bodyPr>
          <a:lstStyle/>
          <a:p>
            <a:r>
              <a:rPr lang="en-IN" dirty="0"/>
              <a:t>Lecture </a:t>
            </a:r>
            <a:r>
              <a:rPr lang="en-IN" dirty="0" smtClean="0"/>
              <a:t>2: </a:t>
            </a:r>
            <a:r>
              <a:rPr lang="en-IN" dirty="0"/>
              <a:t>Predicate Logic</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12</a:t>
            </a:fld>
            <a:endParaRPr lang="en-IN"/>
          </a:p>
        </p:txBody>
      </p:sp>
      <p:pic>
        <p:nvPicPr>
          <p:cNvPr id="36866" name="Picture 2"/>
          <p:cNvPicPr>
            <a:picLocks noGrp="1" noChangeAspect="1" noChangeArrowheads="1"/>
          </p:cNvPicPr>
          <p:nvPr>
            <p:ph idx="1"/>
          </p:nvPr>
        </p:nvPicPr>
        <p:blipFill>
          <a:blip r:embed="rId2"/>
          <a:srcRect/>
          <a:stretch>
            <a:fillRect/>
          </a:stretch>
        </p:blipFill>
        <p:spPr bwMode="auto">
          <a:xfrm>
            <a:off x="500034" y="1214422"/>
            <a:ext cx="8029575" cy="1866900"/>
          </a:xfrm>
          <a:prstGeom prst="rect">
            <a:avLst/>
          </a:prstGeom>
          <a:noFill/>
          <a:ln w="9525">
            <a:noFill/>
            <a:miter lim="800000"/>
            <a:headEnd/>
            <a:tailEnd/>
          </a:ln>
          <a:effectLst/>
        </p:spPr>
      </p:pic>
      <p:pic>
        <p:nvPicPr>
          <p:cNvPr id="36867" name="Picture 3"/>
          <p:cNvPicPr>
            <a:picLocks noChangeAspect="1" noChangeArrowheads="1"/>
          </p:cNvPicPr>
          <p:nvPr/>
        </p:nvPicPr>
        <p:blipFill>
          <a:blip r:embed="rId3"/>
          <a:srcRect/>
          <a:stretch>
            <a:fillRect/>
          </a:stretch>
        </p:blipFill>
        <p:spPr bwMode="auto">
          <a:xfrm>
            <a:off x="500034" y="3286124"/>
            <a:ext cx="7829550" cy="28670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1143000"/>
          </a:xfrm>
        </p:spPr>
        <p:txBody>
          <a:bodyPr/>
          <a:lstStyle/>
          <a:p>
            <a:r>
              <a:rPr lang="en-IN" dirty="0"/>
              <a:t>Lecture </a:t>
            </a:r>
            <a:r>
              <a:rPr lang="en-IN" dirty="0" smtClean="0"/>
              <a:t>2: </a:t>
            </a:r>
            <a:r>
              <a:rPr lang="en-IN" dirty="0"/>
              <a:t>Predicate Logic</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13</a:t>
            </a:fld>
            <a:endParaRPr lang="en-IN"/>
          </a:p>
        </p:txBody>
      </p:sp>
      <p:pic>
        <p:nvPicPr>
          <p:cNvPr id="32770" name="Picture 2"/>
          <p:cNvPicPr>
            <a:picLocks noGrp="1" noChangeAspect="1" noChangeArrowheads="1"/>
          </p:cNvPicPr>
          <p:nvPr>
            <p:ph idx="1"/>
          </p:nvPr>
        </p:nvPicPr>
        <p:blipFill>
          <a:blip r:embed="rId2"/>
          <a:srcRect/>
          <a:stretch>
            <a:fillRect/>
          </a:stretch>
        </p:blipFill>
        <p:spPr bwMode="auto">
          <a:xfrm>
            <a:off x="1042987" y="1594644"/>
            <a:ext cx="7000875" cy="4200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a:t>existential x universal y P(x, y): </a:t>
            </a:r>
            <a:r>
              <a:rPr lang="en-IN" err="1"/>
              <a:t>x+y</a:t>
            </a:r>
            <a:r>
              <a:rPr lang="en-IN"/>
              <a:t> is even // F</a:t>
            </a:r>
          </a:p>
          <a:p>
            <a:r>
              <a:rPr lang="en-IN"/>
              <a:t>universal y existential x P(x, y): </a:t>
            </a:r>
            <a:r>
              <a:rPr lang="en-IN" err="1"/>
              <a:t>x+y</a:t>
            </a:r>
            <a:r>
              <a:rPr lang="en-IN"/>
              <a:t> is even // T</a:t>
            </a:r>
          </a:p>
          <a:p>
            <a:endParaRPr lang="en-IN"/>
          </a:p>
          <a:p>
            <a:endParaRPr lang="en-IN"/>
          </a:p>
          <a:p>
            <a:pPr marL="0" indent="0">
              <a:buNone/>
            </a:pPr>
            <a:endParaRPr lang="en-IN"/>
          </a:p>
          <a:p>
            <a:endParaRPr lang="en-IN"/>
          </a:p>
          <a:p>
            <a:pPr marL="0" indent="0">
              <a:buNone/>
            </a:pPr>
            <a:r>
              <a:rPr lang="en-IN"/>
              <a:t> </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14</a:t>
            </a:fld>
            <a:endParaRPr lang="en-IN"/>
          </a:p>
        </p:txBody>
      </p:sp>
    </p:spTree>
    <p:extLst>
      <p:ext uri="{BB962C8B-B14F-4D97-AF65-F5344CB8AC3E}">
        <p14:creationId xmlns:p14="http://schemas.microsoft.com/office/powerpoint/2010/main" val="9014626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28"/>
            <a:ext cx="8229600" cy="928694"/>
          </a:xfrm>
        </p:spPr>
        <p:txBody>
          <a:bodyPr>
            <a:normAutofit/>
          </a:bodyPr>
          <a:lstStyle/>
          <a:p>
            <a:r>
              <a:rPr lang="en-IN" dirty="0"/>
              <a:t>Lecture </a:t>
            </a:r>
            <a:r>
              <a:rPr lang="en-IN" dirty="0" smtClean="0"/>
              <a:t>2: </a:t>
            </a:r>
            <a:r>
              <a:rPr lang="en-IN" dirty="0"/>
              <a:t>Predicate Logic</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15</a:t>
            </a:fld>
            <a:endParaRPr lang="en-IN"/>
          </a:p>
        </p:txBody>
      </p:sp>
      <p:pic>
        <p:nvPicPr>
          <p:cNvPr id="35842" name="Picture 2"/>
          <p:cNvPicPr>
            <a:picLocks noGrp="1" noChangeAspect="1" noChangeArrowheads="1"/>
          </p:cNvPicPr>
          <p:nvPr>
            <p:ph idx="1"/>
          </p:nvPr>
        </p:nvPicPr>
        <p:blipFill>
          <a:blip r:embed="rId2"/>
          <a:srcRect/>
          <a:stretch>
            <a:fillRect/>
          </a:stretch>
        </p:blipFill>
        <p:spPr bwMode="auto">
          <a:xfrm>
            <a:off x="1071538" y="1500174"/>
            <a:ext cx="4572032" cy="571504"/>
          </a:xfrm>
          <a:prstGeom prst="rect">
            <a:avLst/>
          </a:prstGeom>
          <a:noFill/>
          <a:ln w="9525">
            <a:noFill/>
            <a:miter lim="800000"/>
            <a:headEnd/>
            <a:tailEnd/>
          </a:ln>
          <a:effectLst/>
        </p:spPr>
      </p:pic>
      <p:pic>
        <p:nvPicPr>
          <p:cNvPr id="35843" name="Picture 3"/>
          <p:cNvPicPr>
            <a:picLocks noChangeAspect="1" noChangeArrowheads="1"/>
          </p:cNvPicPr>
          <p:nvPr/>
        </p:nvPicPr>
        <p:blipFill>
          <a:blip r:embed="rId3"/>
          <a:srcRect/>
          <a:stretch>
            <a:fillRect/>
          </a:stretch>
        </p:blipFill>
        <p:spPr bwMode="auto">
          <a:xfrm>
            <a:off x="857224" y="2357430"/>
            <a:ext cx="7924800" cy="771525"/>
          </a:xfrm>
          <a:prstGeom prst="rect">
            <a:avLst/>
          </a:prstGeom>
          <a:noFill/>
          <a:ln w="9525">
            <a:noFill/>
            <a:miter lim="800000"/>
            <a:headEnd/>
            <a:tailEnd/>
          </a:ln>
          <a:effectLst/>
        </p:spPr>
      </p:pic>
      <p:pic>
        <p:nvPicPr>
          <p:cNvPr id="35844" name="Picture 4"/>
          <p:cNvPicPr>
            <a:picLocks noChangeAspect="1" noChangeArrowheads="1"/>
          </p:cNvPicPr>
          <p:nvPr/>
        </p:nvPicPr>
        <p:blipFill>
          <a:blip r:embed="rId4"/>
          <a:srcRect/>
          <a:stretch>
            <a:fillRect/>
          </a:stretch>
        </p:blipFill>
        <p:spPr bwMode="auto">
          <a:xfrm>
            <a:off x="1142976" y="3571876"/>
            <a:ext cx="2786082" cy="571504"/>
          </a:xfrm>
          <a:prstGeom prst="rect">
            <a:avLst/>
          </a:prstGeom>
          <a:noFill/>
          <a:ln w="9525">
            <a:noFill/>
            <a:miter lim="800000"/>
            <a:headEnd/>
            <a:tailEnd/>
          </a:ln>
          <a:effectLst/>
        </p:spPr>
      </p:pic>
      <p:pic>
        <p:nvPicPr>
          <p:cNvPr id="35845" name="Picture 5"/>
          <p:cNvPicPr>
            <a:picLocks noChangeAspect="1" noChangeArrowheads="1"/>
          </p:cNvPicPr>
          <p:nvPr/>
        </p:nvPicPr>
        <p:blipFill>
          <a:blip r:embed="rId5"/>
          <a:srcRect/>
          <a:stretch>
            <a:fillRect/>
          </a:stretch>
        </p:blipFill>
        <p:spPr bwMode="auto">
          <a:xfrm>
            <a:off x="1142976" y="4214818"/>
            <a:ext cx="2786082" cy="5715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1143000"/>
          </a:xfrm>
        </p:spPr>
        <p:txBody>
          <a:bodyPr/>
          <a:lstStyle/>
          <a:p>
            <a:r>
              <a:rPr lang="en-IN" dirty="0"/>
              <a:t>Lecture </a:t>
            </a:r>
            <a:r>
              <a:rPr lang="en-IN" dirty="0" smtClean="0"/>
              <a:t>2: </a:t>
            </a:r>
            <a:r>
              <a:rPr lang="en-IN" dirty="0"/>
              <a:t>Predicate Logic</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16</a:t>
            </a:fld>
            <a:endParaRPr lang="en-IN"/>
          </a:p>
        </p:txBody>
      </p:sp>
      <p:pic>
        <p:nvPicPr>
          <p:cNvPr id="33795" name="Picture 3"/>
          <p:cNvPicPr>
            <a:picLocks noChangeAspect="1" noChangeArrowheads="1"/>
          </p:cNvPicPr>
          <p:nvPr/>
        </p:nvPicPr>
        <p:blipFill>
          <a:blip r:embed="rId2"/>
          <a:srcRect/>
          <a:stretch>
            <a:fillRect/>
          </a:stretch>
        </p:blipFill>
        <p:spPr bwMode="auto">
          <a:xfrm>
            <a:off x="928662" y="1857364"/>
            <a:ext cx="6762775" cy="288608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14290"/>
            <a:ext cx="8229600" cy="928694"/>
          </a:xfrm>
        </p:spPr>
        <p:txBody>
          <a:bodyPr/>
          <a:lstStyle/>
          <a:p>
            <a:r>
              <a:rPr lang="en-IN"/>
              <a:t>Lecture2: Predicate Logic</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17</a:t>
            </a:fld>
            <a:endParaRPr lang="en-IN"/>
          </a:p>
        </p:txBody>
      </p:sp>
      <p:pic>
        <p:nvPicPr>
          <p:cNvPr id="37890" name="Picture 2"/>
          <p:cNvPicPr>
            <a:picLocks noGrp="1" noChangeAspect="1" noChangeArrowheads="1"/>
          </p:cNvPicPr>
          <p:nvPr>
            <p:ph idx="1"/>
          </p:nvPr>
        </p:nvPicPr>
        <p:blipFill>
          <a:blip r:embed="rId2"/>
          <a:srcRect/>
          <a:stretch>
            <a:fillRect/>
          </a:stretch>
        </p:blipFill>
        <p:spPr bwMode="auto">
          <a:xfrm>
            <a:off x="357158" y="1500174"/>
            <a:ext cx="8329612" cy="396531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857256"/>
          </a:xfrm>
        </p:spPr>
        <p:txBody>
          <a:bodyPr/>
          <a:lstStyle/>
          <a:p>
            <a:r>
              <a:rPr lang="en-IN" dirty="0"/>
              <a:t>Lecture </a:t>
            </a:r>
            <a:r>
              <a:rPr lang="en-IN" dirty="0" smtClean="0"/>
              <a:t>2: </a:t>
            </a:r>
            <a:r>
              <a:rPr lang="en-IN" dirty="0"/>
              <a:t>Predicate Logic</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18</a:t>
            </a:fld>
            <a:endParaRPr lang="en-IN"/>
          </a:p>
        </p:txBody>
      </p:sp>
      <p:pic>
        <p:nvPicPr>
          <p:cNvPr id="34819" name="Picture 3"/>
          <p:cNvPicPr>
            <a:picLocks noChangeAspect="1" noChangeArrowheads="1"/>
          </p:cNvPicPr>
          <p:nvPr/>
        </p:nvPicPr>
        <p:blipFill>
          <a:blip r:embed="rId2"/>
          <a:srcRect/>
          <a:stretch>
            <a:fillRect/>
          </a:stretch>
        </p:blipFill>
        <p:spPr bwMode="auto">
          <a:xfrm>
            <a:off x="928662" y="1428736"/>
            <a:ext cx="6543675" cy="2047875"/>
          </a:xfrm>
          <a:prstGeom prst="rect">
            <a:avLst/>
          </a:prstGeom>
          <a:noFill/>
          <a:ln w="9525">
            <a:noFill/>
            <a:miter lim="800000"/>
            <a:headEnd/>
            <a:tailEnd/>
          </a:ln>
          <a:effectLst/>
        </p:spPr>
      </p:pic>
      <p:pic>
        <p:nvPicPr>
          <p:cNvPr id="34820" name="Picture 4"/>
          <p:cNvPicPr>
            <a:picLocks noChangeAspect="1" noChangeArrowheads="1"/>
          </p:cNvPicPr>
          <p:nvPr/>
        </p:nvPicPr>
        <p:blipFill>
          <a:blip r:embed="rId3"/>
          <a:srcRect/>
          <a:stretch>
            <a:fillRect/>
          </a:stretch>
        </p:blipFill>
        <p:spPr bwMode="auto">
          <a:xfrm>
            <a:off x="928662" y="3786190"/>
            <a:ext cx="6276975" cy="22479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en-IN" dirty="0" smtClean="0"/>
              <a:t>Lecture 2: </a:t>
            </a:r>
            <a:r>
              <a:rPr lang="en-IN" dirty="0"/>
              <a:t>Rules of Inferences</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19</a:t>
            </a:fld>
            <a:endParaRPr lang="en-IN"/>
          </a:p>
        </p:txBody>
      </p:sp>
      <p:sp>
        <p:nvSpPr>
          <p:cNvPr id="9" name="Content Placeholder 8"/>
          <p:cNvSpPr>
            <a:spLocks noGrp="1"/>
          </p:cNvSpPr>
          <p:nvPr>
            <p:ph idx="1"/>
          </p:nvPr>
        </p:nvSpPr>
        <p:spPr>
          <a:xfrm>
            <a:off x="500034" y="1571612"/>
            <a:ext cx="8229600" cy="3779536"/>
          </a:xfrm>
        </p:spPr>
        <p:txBody>
          <a:bodyPr>
            <a:normAutofit/>
          </a:bodyPr>
          <a:lstStyle/>
          <a:p>
            <a:r>
              <a:rPr lang="en-IN" dirty="0"/>
              <a:t>Consider the following argument.</a:t>
            </a:r>
          </a:p>
          <a:p>
            <a:pPr lvl="1"/>
            <a:r>
              <a:rPr lang="en-IN" dirty="0"/>
              <a:t>If you have a current password, then you can log onto the network.</a:t>
            </a:r>
          </a:p>
          <a:p>
            <a:pPr lvl="1"/>
            <a:r>
              <a:rPr lang="en-IN" dirty="0"/>
              <a:t>You have a current password.</a:t>
            </a:r>
          </a:p>
          <a:p>
            <a:pPr lvl="1"/>
            <a:r>
              <a:rPr lang="en-IN" dirty="0"/>
              <a:t>Therefore, you can log onto the network.</a:t>
            </a:r>
          </a:p>
          <a:p>
            <a:r>
              <a:rPr lang="en-IN" dirty="0"/>
              <a:t>Is this a valid argument? Why?</a:t>
            </a:r>
          </a:p>
        </p:txBody>
      </p:sp>
    </p:spTree>
    <p:extLst>
      <p:ext uri="{BB962C8B-B14F-4D97-AF65-F5344CB8AC3E}">
        <p14:creationId xmlns:p14="http://schemas.microsoft.com/office/powerpoint/2010/main" val="34777837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en-IN" dirty="0" smtClean="0"/>
              <a:t>Lecture 2: </a:t>
            </a:r>
            <a:r>
              <a:rPr lang="en-IN" dirty="0"/>
              <a:t>Rules of Inferences</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20</a:t>
            </a:fld>
            <a:endParaRPr lang="en-IN"/>
          </a:p>
        </p:txBody>
      </p:sp>
      <p:sp>
        <p:nvSpPr>
          <p:cNvPr id="9" name="Content Placeholder 8"/>
          <p:cNvSpPr>
            <a:spLocks noGrp="1"/>
          </p:cNvSpPr>
          <p:nvPr>
            <p:ph idx="1"/>
          </p:nvPr>
        </p:nvSpPr>
        <p:spPr>
          <a:xfrm>
            <a:off x="500034" y="1571612"/>
            <a:ext cx="8229600" cy="3779536"/>
          </a:xfrm>
        </p:spPr>
        <p:txBody>
          <a:bodyPr>
            <a:normAutofit fontScale="92500"/>
          </a:bodyPr>
          <a:lstStyle/>
          <a:p>
            <a:pPr algn="just"/>
            <a:r>
              <a:rPr lang="en-IN"/>
              <a:t>Argument: A sequence of statements that end with a conclusion.</a:t>
            </a:r>
          </a:p>
          <a:p>
            <a:pPr algn="just"/>
            <a:r>
              <a:rPr lang="en-IN"/>
              <a:t>Valid argument: The conclusion must follow from the truth of the preceding statements (known as premises). An argument is valid if and only if it is impossible for all the premises to be true and conclusion to be false.</a:t>
            </a:r>
          </a:p>
          <a:p>
            <a:pPr algn="just"/>
            <a:r>
              <a:rPr lang="en-IN"/>
              <a:t>Rules of inference: Templates for obtaining new statements from already available statements or in other words templates for constructing valid arguments.</a:t>
            </a:r>
          </a:p>
          <a:p>
            <a:pPr>
              <a:buNone/>
            </a:pPr>
            <a:endParaRPr lang="en-IN"/>
          </a:p>
        </p:txBody>
      </p:sp>
    </p:spTree>
    <p:extLst>
      <p:ext uri="{BB962C8B-B14F-4D97-AF65-F5344CB8AC3E}">
        <p14:creationId xmlns:p14="http://schemas.microsoft.com/office/powerpoint/2010/main" val="18065339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857256"/>
          </a:xfrm>
        </p:spPr>
        <p:txBody>
          <a:bodyPr>
            <a:normAutofit/>
          </a:bodyPr>
          <a:lstStyle/>
          <a:p>
            <a:r>
              <a:rPr lang="en-IN" dirty="0" smtClean="0"/>
              <a:t>Lecture 2: </a:t>
            </a:r>
            <a:r>
              <a:rPr lang="en-IN" dirty="0"/>
              <a:t>Rules of Inferences</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21</a:t>
            </a:fld>
            <a:endParaRPr lang="en-IN"/>
          </a:p>
        </p:txBody>
      </p:sp>
      <p:sp>
        <p:nvSpPr>
          <p:cNvPr id="9" name="Content Placeholder 8"/>
          <p:cNvSpPr>
            <a:spLocks noGrp="1"/>
          </p:cNvSpPr>
          <p:nvPr>
            <p:ph idx="1"/>
          </p:nvPr>
        </p:nvSpPr>
        <p:spPr>
          <a:xfrm>
            <a:off x="500034" y="1142984"/>
            <a:ext cx="8229600" cy="5214974"/>
          </a:xfrm>
        </p:spPr>
        <p:txBody>
          <a:bodyPr>
            <a:noAutofit/>
          </a:bodyPr>
          <a:lstStyle/>
          <a:p>
            <a:pPr algn="just"/>
            <a:r>
              <a:rPr lang="en-IN" sz="2000" dirty="0"/>
              <a:t>Let us write this argument more concisely.</a:t>
            </a:r>
          </a:p>
          <a:p>
            <a:pPr algn="just"/>
            <a:r>
              <a:rPr lang="en-IN" sz="2000" dirty="0"/>
              <a:t>Propositions:</a:t>
            </a:r>
          </a:p>
          <a:p>
            <a:pPr lvl="1" algn="just"/>
            <a:r>
              <a:rPr lang="en-IN" sz="2000" dirty="0"/>
              <a:t>p: You have a current password.</a:t>
            </a:r>
          </a:p>
          <a:p>
            <a:pPr lvl="1" algn="just"/>
            <a:r>
              <a:rPr lang="en-IN" sz="2000" dirty="0"/>
              <a:t>q: You can log onto the network.</a:t>
            </a:r>
          </a:p>
          <a:p>
            <a:pPr lvl="1" algn="just"/>
            <a:r>
              <a:rPr lang="en-IN" sz="2000" dirty="0"/>
              <a:t>Argument: </a:t>
            </a:r>
          </a:p>
          <a:p>
            <a:pPr lvl="1" algn="just">
              <a:spcBef>
                <a:spcPts val="0"/>
              </a:spcBef>
              <a:buNone/>
            </a:pPr>
            <a:r>
              <a:rPr lang="en-IN" sz="2000" dirty="0"/>
              <a:t>			p → q</a:t>
            </a:r>
          </a:p>
          <a:p>
            <a:pPr lvl="1" algn="just">
              <a:spcBef>
                <a:spcPts val="0"/>
              </a:spcBef>
              <a:buNone/>
            </a:pPr>
            <a:r>
              <a:rPr lang="en-IN" sz="2000" dirty="0"/>
              <a:t>			p </a:t>
            </a:r>
          </a:p>
          <a:p>
            <a:pPr lvl="1" algn="just">
              <a:spcBef>
                <a:spcPts val="0"/>
              </a:spcBef>
              <a:buNone/>
            </a:pPr>
            <a:r>
              <a:rPr lang="en-IN" sz="2000" dirty="0"/>
              <a:t>			---------</a:t>
            </a:r>
          </a:p>
          <a:p>
            <a:pPr lvl="1" algn="just">
              <a:spcBef>
                <a:spcPts val="0"/>
              </a:spcBef>
              <a:buNone/>
            </a:pPr>
            <a:r>
              <a:rPr lang="en-IN" sz="2000" dirty="0"/>
              <a:t>			 q</a:t>
            </a:r>
          </a:p>
          <a:p>
            <a:pPr algn="just"/>
            <a:r>
              <a:rPr lang="en-IN" sz="2000" dirty="0"/>
              <a:t>We know that for any propositions p; q; r , ((p → q) ^ p) → q is a tautology. So, the initial argument is a valid.</a:t>
            </a:r>
          </a:p>
          <a:p>
            <a:pPr algn="just"/>
            <a:r>
              <a:rPr lang="en-IN" sz="2000" dirty="0"/>
              <a:t>Moreover, if we plug in any propositions into p and q such that the premises p </a:t>
            </a:r>
            <a:r>
              <a:rPr lang="en-IN" sz="2000" dirty="0">
                <a:sym typeface="Wingdings" panose="05000000000000000000" pitchFamily="2" charset="2"/>
              </a:rPr>
              <a:t></a:t>
            </a:r>
            <a:r>
              <a:rPr lang="en-IN" sz="2000" dirty="0"/>
              <a:t> q and p are true for these propositions, then concluding q from these premises is a valid argument.</a:t>
            </a:r>
          </a:p>
          <a:p>
            <a:pPr>
              <a:buNone/>
            </a:pPr>
            <a:endParaRPr lang="en-IN" sz="2400" dirty="0"/>
          </a:p>
        </p:txBody>
      </p:sp>
    </p:spTree>
    <p:extLst>
      <p:ext uri="{BB962C8B-B14F-4D97-AF65-F5344CB8AC3E}">
        <p14:creationId xmlns:p14="http://schemas.microsoft.com/office/powerpoint/2010/main" val="39914646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857256"/>
          </a:xfrm>
        </p:spPr>
        <p:txBody>
          <a:bodyPr>
            <a:normAutofit/>
          </a:bodyPr>
          <a:lstStyle/>
          <a:p>
            <a:r>
              <a:rPr lang="en-IN" dirty="0" smtClean="0"/>
              <a:t>Lecture 2: </a:t>
            </a:r>
            <a:r>
              <a:rPr lang="en-IN" dirty="0"/>
              <a:t>Rules of Inferences</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22</a:t>
            </a:fld>
            <a:endParaRPr lang="en-IN"/>
          </a:p>
        </p:txBody>
      </p:sp>
      <p:sp>
        <p:nvSpPr>
          <p:cNvPr id="9" name="Content Placeholder 8"/>
          <p:cNvSpPr>
            <a:spLocks noGrp="1"/>
          </p:cNvSpPr>
          <p:nvPr>
            <p:ph idx="1"/>
          </p:nvPr>
        </p:nvSpPr>
        <p:spPr>
          <a:xfrm>
            <a:off x="500034" y="1142984"/>
            <a:ext cx="8229600" cy="5214974"/>
          </a:xfrm>
        </p:spPr>
        <p:txBody>
          <a:bodyPr>
            <a:noAutofit/>
          </a:bodyPr>
          <a:lstStyle/>
          <a:p>
            <a:pPr algn="just"/>
            <a:r>
              <a:rPr lang="en-IN" sz="2400" dirty="0"/>
              <a:t>Definition (Argument and argument form): An argument in propositional logic is a sequence of propositions. All but the final proposition in the argument are called premises and the final proposition is called the conclusion. An argument is valid if the truth of all its premises implies that the conclusion is true.</a:t>
            </a:r>
          </a:p>
          <a:p>
            <a:pPr algn="just"/>
            <a:r>
              <a:rPr lang="en-IN" sz="2400" dirty="0"/>
              <a:t>An argument form in propositional logic is a sequence of compound propositions involving propositional variables. An argument form is valid if no matter which particular propositions are substituted for the propositional variables in its premises, the conclusion is true if the premises are all true.</a:t>
            </a:r>
          </a:p>
          <a:p>
            <a:pPr algn="just">
              <a:buNone/>
            </a:pPr>
            <a:endParaRPr lang="en-IN" sz="2400" dirty="0"/>
          </a:p>
        </p:txBody>
      </p:sp>
    </p:spTree>
    <p:extLst>
      <p:ext uri="{BB962C8B-B14F-4D97-AF65-F5344CB8AC3E}">
        <p14:creationId xmlns:p14="http://schemas.microsoft.com/office/powerpoint/2010/main" val="3620574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928694"/>
          </a:xfrm>
        </p:spPr>
        <p:txBody>
          <a:bodyPr/>
          <a:lstStyle/>
          <a:p>
            <a:r>
              <a:rPr lang="en-IN" dirty="0" smtClean="0"/>
              <a:t>Lecture 2: </a:t>
            </a:r>
            <a:r>
              <a:rPr lang="en-IN" dirty="0"/>
              <a:t>Rules of Inferences</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23</a:t>
            </a:fld>
            <a:endParaRPr lang="en-IN"/>
          </a:p>
        </p:txBody>
      </p:sp>
      <p:pic>
        <p:nvPicPr>
          <p:cNvPr id="38914" name="Picture 2"/>
          <p:cNvPicPr>
            <a:picLocks noChangeAspect="1" noChangeArrowheads="1"/>
          </p:cNvPicPr>
          <p:nvPr/>
        </p:nvPicPr>
        <p:blipFill>
          <a:blip r:embed="rId2"/>
          <a:srcRect/>
          <a:stretch>
            <a:fillRect/>
          </a:stretch>
        </p:blipFill>
        <p:spPr bwMode="auto">
          <a:xfrm>
            <a:off x="1428728" y="1714488"/>
            <a:ext cx="4829175" cy="4324350"/>
          </a:xfrm>
          <a:prstGeom prst="rect">
            <a:avLst/>
          </a:prstGeom>
          <a:noFill/>
          <a:ln w="9525">
            <a:noFill/>
            <a:miter lim="800000"/>
            <a:headEnd/>
            <a:tailEnd/>
          </a:ln>
          <a:effectLst/>
        </p:spPr>
      </p:pic>
    </p:spTree>
    <p:extLst>
      <p:ext uri="{BB962C8B-B14F-4D97-AF65-F5344CB8AC3E}">
        <p14:creationId xmlns:p14="http://schemas.microsoft.com/office/powerpoint/2010/main" val="27398385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928694"/>
          </a:xfrm>
        </p:spPr>
        <p:txBody>
          <a:bodyPr/>
          <a:lstStyle/>
          <a:p>
            <a:r>
              <a:rPr lang="en-IN" dirty="0" smtClean="0"/>
              <a:t>Lecture 2: </a:t>
            </a:r>
            <a:r>
              <a:rPr lang="en-IN" dirty="0"/>
              <a:t>Rules of Inferences</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24</a:t>
            </a:fld>
            <a:endParaRPr lang="en-IN"/>
          </a:p>
        </p:txBody>
      </p:sp>
      <p:pic>
        <p:nvPicPr>
          <p:cNvPr id="40962" name="Picture 2"/>
          <p:cNvPicPr>
            <a:picLocks noChangeAspect="1" noChangeArrowheads="1"/>
          </p:cNvPicPr>
          <p:nvPr/>
        </p:nvPicPr>
        <p:blipFill>
          <a:blip r:embed="rId2"/>
          <a:srcRect/>
          <a:stretch>
            <a:fillRect/>
          </a:stretch>
        </p:blipFill>
        <p:spPr bwMode="auto">
          <a:xfrm>
            <a:off x="2066925" y="1285875"/>
            <a:ext cx="5010150" cy="4286250"/>
          </a:xfrm>
          <a:prstGeom prst="rect">
            <a:avLst/>
          </a:prstGeom>
          <a:noFill/>
          <a:ln w="9525">
            <a:noFill/>
            <a:miter lim="800000"/>
            <a:headEnd/>
            <a:tailEnd/>
          </a:ln>
          <a:effectLst/>
        </p:spPr>
      </p:pic>
      <p:pic>
        <p:nvPicPr>
          <p:cNvPr id="40964" name="Picture 4"/>
          <p:cNvPicPr>
            <a:picLocks noChangeAspect="1" noChangeArrowheads="1"/>
          </p:cNvPicPr>
          <p:nvPr/>
        </p:nvPicPr>
        <p:blipFill>
          <a:blip r:embed="rId2"/>
          <a:srcRect/>
          <a:stretch>
            <a:fillRect/>
          </a:stretch>
        </p:blipFill>
        <p:spPr bwMode="auto">
          <a:xfrm>
            <a:off x="2066925" y="1285875"/>
            <a:ext cx="5010150" cy="4286250"/>
          </a:xfrm>
          <a:prstGeom prst="rect">
            <a:avLst/>
          </a:prstGeom>
          <a:noFill/>
          <a:ln w="9525">
            <a:noFill/>
            <a:miter lim="800000"/>
            <a:headEnd/>
            <a:tailEnd/>
          </a:ln>
          <a:effectLst/>
        </p:spPr>
      </p:pic>
    </p:spTree>
    <p:extLst>
      <p:ext uri="{BB962C8B-B14F-4D97-AF65-F5344CB8AC3E}">
        <p14:creationId xmlns:p14="http://schemas.microsoft.com/office/powerpoint/2010/main" val="12187579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928694"/>
          </a:xfrm>
        </p:spPr>
        <p:txBody>
          <a:bodyPr/>
          <a:lstStyle/>
          <a:p>
            <a:r>
              <a:rPr lang="en-IN" dirty="0" smtClean="0"/>
              <a:t>Lecture 2: </a:t>
            </a:r>
            <a:r>
              <a:rPr lang="en-IN" dirty="0"/>
              <a:t>Rules of Inferences</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25</a:t>
            </a:fld>
            <a:endParaRPr lang="en-IN"/>
          </a:p>
        </p:txBody>
      </p:sp>
      <p:sp>
        <p:nvSpPr>
          <p:cNvPr id="7" name="Rectangle 6"/>
          <p:cNvSpPr/>
          <p:nvPr/>
        </p:nvSpPr>
        <p:spPr>
          <a:xfrm>
            <a:off x="571472" y="1214422"/>
            <a:ext cx="8001056" cy="5355312"/>
          </a:xfrm>
          <a:prstGeom prst="rect">
            <a:avLst/>
          </a:prstGeom>
        </p:spPr>
        <p:txBody>
          <a:bodyPr wrap="square">
            <a:spAutoFit/>
          </a:bodyPr>
          <a:lstStyle/>
          <a:p>
            <a:r>
              <a:rPr lang="en-IN" dirty="0"/>
              <a:t>Which rule of inference is used in the argument:</a:t>
            </a:r>
          </a:p>
          <a:p>
            <a:r>
              <a:rPr lang="en-IN" dirty="0"/>
              <a:t>If it rains today, then we will not have a barbecue today. If we do not have a barbecue today, then we will have a barbecue tomorrow. Therefore, if it rains today, then we will have barbecue tomorrow.</a:t>
            </a:r>
          </a:p>
          <a:p>
            <a:endParaRPr lang="en-IN" dirty="0"/>
          </a:p>
          <a:p>
            <a:r>
              <a:rPr lang="en-IN" dirty="0"/>
              <a:t>It rains today – p, we will have barbecue today – q, we will have barbecue tomorrow – r</a:t>
            </a:r>
          </a:p>
          <a:p>
            <a:endParaRPr lang="en-IN" dirty="0"/>
          </a:p>
          <a:p>
            <a:r>
              <a:rPr lang="en-IN" dirty="0" err="1"/>
              <a:t>p</a:t>
            </a:r>
            <a:r>
              <a:rPr lang="en-IN" dirty="0" err="1">
                <a:sym typeface="Wingdings" panose="05000000000000000000" pitchFamily="2" charset="2"/>
              </a:rPr>
              <a:t>neg</a:t>
            </a:r>
            <a:r>
              <a:rPr lang="en-IN" dirty="0">
                <a:sym typeface="Wingdings" panose="05000000000000000000" pitchFamily="2" charset="2"/>
              </a:rPr>
              <a:t>(q); </a:t>
            </a:r>
            <a:r>
              <a:rPr lang="en-IN" dirty="0" err="1">
                <a:sym typeface="Wingdings" panose="05000000000000000000" pitchFamily="2" charset="2"/>
              </a:rPr>
              <a:t>neg</a:t>
            </a:r>
            <a:r>
              <a:rPr lang="en-IN" dirty="0">
                <a:sym typeface="Wingdings" panose="05000000000000000000" pitchFamily="2" charset="2"/>
              </a:rPr>
              <a:t>(q)r;      //premise//      </a:t>
            </a:r>
          </a:p>
          <a:p>
            <a:r>
              <a:rPr lang="en-IN" dirty="0" err="1">
                <a:sym typeface="Wingdings" panose="05000000000000000000" pitchFamily="2" charset="2"/>
              </a:rPr>
              <a:t>pr</a:t>
            </a:r>
            <a:r>
              <a:rPr lang="en-IN" dirty="0">
                <a:sym typeface="Wingdings" panose="05000000000000000000" pitchFamily="2" charset="2"/>
              </a:rPr>
              <a:t>                               //conclusion//    hypothetical syllogism; valid argument</a:t>
            </a:r>
            <a:endParaRPr lang="en-IN" dirty="0"/>
          </a:p>
          <a:p>
            <a:endParaRPr lang="en-IN" dirty="0"/>
          </a:p>
          <a:p>
            <a:r>
              <a:rPr lang="en-IN" dirty="0"/>
              <a:t>Show that the hypothesis:</a:t>
            </a:r>
          </a:p>
          <a:p>
            <a:r>
              <a:rPr lang="en-IN" dirty="0"/>
              <a:t>- It is not sunny this afternoon and it is colder than yesterday.</a:t>
            </a:r>
          </a:p>
          <a:p>
            <a:r>
              <a:rPr lang="en-IN" dirty="0"/>
              <a:t>- We will go swimming only if it is sunny.</a:t>
            </a:r>
          </a:p>
          <a:p>
            <a:r>
              <a:rPr lang="en-IN" dirty="0"/>
              <a:t>- If we do not go swimming, then we will take a canoe trip.</a:t>
            </a:r>
          </a:p>
          <a:p>
            <a:r>
              <a:rPr lang="en-IN" dirty="0"/>
              <a:t>- If we take a canoe trip, then we will be home by sunset.</a:t>
            </a:r>
          </a:p>
          <a:p>
            <a:endParaRPr lang="en-IN" dirty="0"/>
          </a:p>
          <a:p>
            <a:r>
              <a:rPr lang="en-IN" dirty="0"/>
              <a:t>lead to the conclusion:</a:t>
            </a:r>
          </a:p>
          <a:p>
            <a:r>
              <a:rPr lang="en-IN" dirty="0">
                <a:solidFill>
                  <a:srgbClr val="00B050"/>
                </a:solidFill>
              </a:rPr>
              <a:t>We will be home by sunset.</a:t>
            </a:r>
          </a:p>
        </p:txBody>
      </p:sp>
    </p:spTree>
    <p:extLst>
      <p:ext uri="{BB962C8B-B14F-4D97-AF65-F5344CB8AC3E}">
        <p14:creationId xmlns:p14="http://schemas.microsoft.com/office/powerpoint/2010/main" val="26548229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749685" y="1556793"/>
            <a:ext cx="7082561" cy="4767808"/>
          </a:xfrm>
          <a:prstGeom prst="rect">
            <a:avLst/>
          </a:prstGeom>
        </p:spPr>
      </p:pic>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26</a:t>
            </a:fld>
            <a:endParaRPr lang="en-IN"/>
          </a:p>
        </p:txBody>
      </p:sp>
      <p:sp>
        <p:nvSpPr>
          <p:cNvPr id="7" name="Title 1"/>
          <p:cNvSpPr>
            <a:spLocks noGrp="1"/>
          </p:cNvSpPr>
          <p:nvPr>
            <p:ph type="title"/>
          </p:nvPr>
        </p:nvSpPr>
        <p:spPr>
          <a:xfrm>
            <a:off x="457200" y="214290"/>
            <a:ext cx="8229600" cy="928694"/>
          </a:xfrm>
        </p:spPr>
        <p:txBody>
          <a:bodyPr/>
          <a:lstStyle/>
          <a:p>
            <a:r>
              <a:rPr lang="en-IN" dirty="0" smtClean="0"/>
              <a:t>Lecture 2: </a:t>
            </a:r>
            <a:r>
              <a:rPr lang="en-IN" dirty="0"/>
              <a:t>Rules of Inferences</a:t>
            </a:r>
          </a:p>
        </p:txBody>
      </p:sp>
    </p:spTree>
    <p:extLst>
      <p:ext uri="{BB962C8B-B14F-4D97-AF65-F5344CB8AC3E}">
        <p14:creationId xmlns:p14="http://schemas.microsoft.com/office/powerpoint/2010/main" val="15401717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27</a:t>
            </a:fld>
            <a:endParaRPr lang="en-IN"/>
          </a:p>
        </p:txBody>
      </p:sp>
      <p:pic>
        <p:nvPicPr>
          <p:cNvPr id="6" name="Picture 5"/>
          <p:cNvPicPr>
            <a:picLocks noChangeAspect="1"/>
          </p:cNvPicPr>
          <p:nvPr/>
        </p:nvPicPr>
        <p:blipFill>
          <a:blip r:embed="rId2"/>
          <a:stretch>
            <a:fillRect/>
          </a:stretch>
        </p:blipFill>
        <p:spPr>
          <a:xfrm>
            <a:off x="488072" y="2081426"/>
            <a:ext cx="6483101" cy="4027617"/>
          </a:xfrm>
          <a:prstGeom prst="rect">
            <a:avLst/>
          </a:prstGeom>
        </p:spPr>
      </p:pic>
      <p:sp>
        <p:nvSpPr>
          <p:cNvPr id="7" name="Title 1"/>
          <p:cNvSpPr>
            <a:spLocks noGrp="1"/>
          </p:cNvSpPr>
          <p:nvPr>
            <p:ph type="title"/>
          </p:nvPr>
        </p:nvSpPr>
        <p:spPr/>
        <p:txBody>
          <a:bodyPr/>
          <a:lstStyle/>
          <a:p>
            <a:r>
              <a:rPr lang="en-IN" dirty="0" smtClean="0"/>
              <a:t>Lecture 2: </a:t>
            </a:r>
            <a:r>
              <a:rPr lang="en-IN" dirty="0"/>
              <a:t>Rules of Inferences</a:t>
            </a:r>
          </a:p>
        </p:txBody>
      </p:sp>
    </p:spTree>
    <p:extLst>
      <p:ext uri="{BB962C8B-B14F-4D97-AF65-F5344CB8AC3E}">
        <p14:creationId xmlns:p14="http://schemas.microsoft.com/office/powerpoint/2010/main" val="13985006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444664" y="2564904"/>
            <a:ext cx="8229600" cy="2014776"/>
          </a:xfrm>
          <a:prstGeom prst="rect">
            <a:avLst/>
          </a:prstGeom>
        </p:spPr>
      </p:pic>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28</a:t>
            </a:fld>
            <a:endParaRPr lang="en-IN"/>
          </a:p>
        </p:txBody>
      </p:sp>
      <p:sp>
        <p:nvSpPr>
          <p:cNvPr id="6" name="Title 1"/>
          <p:cNvSpPr>
            <a:spLocks noGrp="1"/>
          </p:cNvSpPr>
          <p:nvPr>
            <p:ph type="title"/>
          </p:nvPr>
        </p:nvSpPr>
        <p:spPr>
          <a:xfrm>
            <a:off x="457200" y="704088"/>
            <a:ext cx="8229600" cy="1143000"/>
          </a:xfrm>
        </p:spPr>
        <p:txBody>
          <a:bodyPr/>
          <a:lstStyle/>
          <a:p>
            <a:r>
              <a:rPr lang="en-IN" dirty="0" smtClean="0"/>
              <a:t>Lecture 2: </a:t>
            </a:r>
            <a:r>
              <a:rPr lang="en-IN" dirty="0"/>
              <a:t>Rules of Inferences</a:t>
            </a:r>
          </a:p>
        </p:txBody>
      </p:sp>
    </p:spTree>
    <p:extLst>
      <p:ext uri="{BB962C8B-B14F-4D97-AF65-F5344CB8AC3E}">
        <p14:creationId xmlns:p14="http://schemas.microsoft.com/office/powerpoint/2010/main" val="9184269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861608" y="1935163"/>
            <a:ext cx="7420784" cy="4389437"/>
          </a:xfrm>
          <a:prstGeom prst="rect">
            <a:avLst/>
          </a:prstGeom>
        </p:spPr>
      </p:pic>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29</a:t>
            </a:fld>
            <a:endParaRPr lang="en-IN"/>
          </a:p>
        </p:txBody>
      </p:sp>
      <p:sp>
        <p:nvSpPr>
          <p:cNvPr id="6" name="Title 1"/>
          <p:cNvSpPr>
            <a:spLocks noGrp="1"/>
          </p:cNvSpPr>
          <p:nvPr>
            <p:ph type="title"/>
          </p:nvPr>
        </p:nvSpPr>
        <p:spPr>
          <a:xfrm>
            <a:off x="457200" y="704088"/>
            <a:ext cx="8229600" cy="1143000"/>
          </a:xfrm>
        </p:spPr>
        <p:txBody>
          <a:bodyPr/>
          <a:lstStyle/>
          <a:p>
            <a:r>
              <a:rPr lang="en-IN" dirty="0" smtClean="0"/>
              <a:t>Lecture 2: </a:t>
            </a:r>
            <a:r>
              <a:rPr lang="en-IN" dirty="0"/>
              <a:t>Rules of Inferences</a:t>
            </a:r>
          </a:p>
        </p:txBody>
      </p:sp>
    </p:spTree>
    <p:extLst>
      <p:ext uri="{BB962C8B-B14F-4D97-AF65-F5344CB8AC3E}">
        <p14:creationId xmlns:p14="http://schemas.microsoft.com/office/powerpoint/2010/main" val="11016011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000132"/>
          </a:xfrm>
        </p:spPr>
        <p:txBody>
          <a:bodyPr/>
          <a:lstStyle/>
          <a:p>
            <a:r>
              <a:rPr lang="en-IN" dirty="0" smtClean="0"/>
              <a:t>Lecture 2: </a:t>
            </a:r>
            <a:r>
              <a:rPr lang="en-IN" dirty="0"/>
              <a:t>Rules of Inferences</a:t>
            </a:r>
          </a:p>
        </p:txBody>
      </p:sp>
      <p:sp>
        <p:nvSpPr>
          <p:cNvPr id="3" name="Content Placeholder 2"/>
          <p:cNvSpPr>
            <a:spLocks noGrp="1"/>
          </p:cNvSpPr>
          <p:nvPr>
            <p:ph idx="1"/>
          </p:nvPr>
        </p:nvSpPr>
        <p:spPr>
          <a:xfrm>
            <a:off x="500034" y="1357298"/>
            <a:ext cx="8229600" cy="4389120"/>
          </a:xfrm>
        </p:spPr>
        <p:txBody>
          <a:bodyPr>
            <a:normAutofit lnSpcReduction="10000"/>
          </a:bodyPr>
          <a:lstStyle/>
          <a:p>
            <a:pPr algn="just"/>
            <a:r>
              <a:rPr lang="en-IN" dirty="0"/>
              <a:t>Show that the following argument is valid. </a:t>
            </a:r>
          </a:p>
          <a:p>
            <a:pPr lvl="1" algn="just"/>
            <a:r>
              <a:rPr lang="en-IN" dirty="0"/>
              <a:t>If today is </a:t>
            </a:r>
            <a:r>
              <a:rPr lang="en-IN" dirty="0" err="1"/>
              <a:t>tuesday</a:t>
            </a:r>
            <a:r>
              <a:rPr lang="en-IN" dirty="0"/>
              <a:t>, I have a test in Mathematics or economics. If my Economics Professor is sick, I will not have a test in Economics. Today is </a:t>
            </a:r>
            <a:r>
              <a:rPr lang="en-IN" dirty="0" err="1"/>
              <a:t>tuesday</a:t>
            </a:r>
            <a:r>
              <a:rPr lang="en-IN" dirty="0"/>
              <a:t> and my Economics Professor is sick. Therefore I have a test in Mathematics.</a:t>
            </a:r>
          </a:p>
          <a:p>
            <a:pPr algn="just"/>
            <a:r>
              <a:rPr lang="en-IN" dirty="0"/>
              <a:t>Show that the following argument is valid. </a:t>
            </a:r>
          </a:p>
          <a:p>
            <a:pPr lvl="1" algn="just"/>
            <a:r>
              <a:rPr lang="en-IN" dirty="0"/>
              <a:t>If Mohan is a lawyer, then he is ambitious. If Mohan is an early riser, then he does not like </a:t>
            </a:r>
            <a:r>
              <a:rPr lang="en-IN" dirty="0" err="1"/>
              <a:t>idlies</a:t>
            </a:r>
            <a:r>
              <a:rPr lang="en-IN" dirty="0"/>
              <a:t>. If Mohan is ambitious, then he is an early riser. Then if Mohan is a lawyer, then he does not like </a:t>
            </a:r>
            <a:r>
              <a:rPr lang="en-IN" dirty="0" err="1"/>
              <a:t>idlies</a:t>
            </a:r>
            <a:r>
              <a:rPr lang="en-IN" dirty="0"/>
              <a:t>.</a:t>
            </a:r>
          </a:p>
          <a:p>
            <a:pPr algn="just">
              <a:buNone/>
            </a:pPr>
            <a:endParaRPr lang="en-IN" dirty="0"/>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30</a:t>
            </a:fld>
            <a:endParaRPr lang="en-IN"/>
          </a:p>
        </p:txBody>
      </p:sp>
    </p:spTree>
    <p:extLst>
      <p:ext uri="{BB962C8B-B14F-4D97-AF65-F5344CB8AC3E}">
        <p14:creationId xmlns:p14="http://schemas.microsoft.com/office/powerpoint/2010/main" val="5728972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597642" y="1556793"/>
            <a:ext cx="7364290" cy="4767808"/>
          </a:xfrm>
          <a:prstGeom prst="rect">
            <a:avLst/>
          </a:prstGeom>
        </p:spPr>
      </p:pic>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31</a:t>
            </a:fld>
            <a:endParaRPr lang="en-IN"/>
          </a:p>
        </p:txBody>
      </p:sp>
      <p:sp>
        <p:nvSpPr>
          <p:cNvPr id="7" name="Title 1"/>
          <p:cNvSpPr>
            <a:spLocks noGrp="1"/>
          </p:cNvSpPr>
          <p:nvPr>
            <p:ph type="title"/>
          </p:nvPr>
        </p:nvSpPr>
        <p:spPr>
          <a:xfrm>
            <a:off x="428596" y="214290"/>
            <a:ext cx="8229600" cy="1000132"/>
          </a:xfrm>
        </p:spPr>
        <p:txBody>
          <a:bodyPr/>
          <a:lstStyle/>
          <a:p>
            <a:r>
              <a:rPr lang="en-IN" dirty="0" smtClean="0"/>
              <a:t>Lecture 2: </a:t>
            </a:r>
            <a:r>
              <a:rPr lang="en-IN" dirty="0"/>
              <a:t>Rules of Inferences</a:t>
            </a:r>
          </a:p>
        </p:txBody>
      </p:sp>
    </p:spTree>
    <p:extLst>
      <p:ext uri="{BB962C8B-B14F-4D97-AF65-F5344CB8AC3E}">
        <p14:creationId xmlns:p14="http://schemas.microsoft.com/office/powerpoint/2010/main" val="39172420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247699" y="1628800"/>
            <a:ext cx="8118908" cy="4695801"/>
          </a:xfrm>
          <a:prstGeom prst="rect">
            <a:avLst/>
          </a:prstGeom>
        </p:spPr>
      </p:pic>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32</a:t>
            </a:fld>
            <a:endParaRPr lang="en-IN"/>
          </a:p>
        </p:txBody>
      </p:sp>
      <p:sp>
        <p:nvSpPr>
          <p:cNvPr id="7" name="Title 1"/>
          <p:cNvSpPr>
            <a:spLocks noGrp="1"/>
          </p:cNvSpPr>
          <p:nvPr>
            <p:ph type="title"/>
          </p:nvPr>
        </p:nvSpPr>
        <p:spPr>
          <a:xfrm>
            <a:off x="428596" y="214290"/>
            <a:ext cx="8229600" cy="1000132"/>
          </a:xfrm>
        </p:spPr>
        <p:txBody>
          <a:bodyPr/>
          <a:lstStyle/>
          <a:p>
            <a:r>
              <a:rPr lang="en-IN" dirty="0" smtClean="0"/>
              <a:t>Lecture 2: </a:t>
            </a:r>
            <a:r>
              <a:rPr lang="en-IN" dirty="0"/>
              <a:t>Rules of Inferences</a:t>
            </a:r>
          </a:p>
        </p:txBody>
      </p:sp>
    </p:spTree>
    <p:extLst>
      <p:ext uri="{BB962C8B-B14F-4D97-AF65-F5344CB8AC3E}">
        <p14:creationId xmlns:p14="http://schemas.microsoft.com/office/powerpoint/2010/main" val="3901005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928694"/>
          </a:xfrm>
        </p:spPr>
        <p:txBody>
          <a:bodyPr/>
          <a:lstStyle/>
          <a:p>
            <a:r>
              <a:rPr lang="en-IN" dirty="0" smtClean="0"/>
              <a:t>Lecture 2: </a:t>
            </a:r>
            <a:r>
              <a:rPr lang="en-IN" dirty="0"/>
              <a:t>Rules of Inferences</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33</a:t>
            </a:fld>
            <a:endParaRPr lang="en-IN"/>
          </a:p>
        </p:txBody>
      </p:sp>
      <p:pic>
        <p:nvPicPr>
          <p:cNvPr id="41986" name="Picture 2"/>
          <p:cNvPicPr>
            <a:picLocks noGrp="1" noChangeAspect="1" noChangeArrowheads="1"/>
          </p:cNvPicPr>
          <p:nvPr>
            <p:ph idx="1"/>
          </p:nvPr>
        </p:nvPicPr>
        <p:blipFill>
          <a:blip r:embed="rId2"/>
          <a:srcRect/>
          <a:stretch>
            <a:fillRect/>
          </a:stretch>
        </p:blipFill>
        <p:spPr bwMode="auto">
          <a:xfrm>
            <a:off x="623887" y="1571612"/>
            <a:ext cx="8162955" cy="4143404"/>
          </a:xfrm>
          <a:prstGeom prst="rect">
            <a:avLst/>
          </a:prstGeom>
          <a:noFill/>
          <a:ln w="9525">
            <a:noFill/>
            <a:miter lim="800000"/>
            <a:headEnd/>
            <a:tailEnd/>
          </a:ln>
          <a:effectLst/>
        </p:spPr>
      </p:pic>
    </p:spTree>
    <p:extLst>
      <p:ext uri="{BB962C8B-B14F-4D97-AF65-F5344CB8AC3E}">
        <p14:creationId xmlns:p14="http://schemas.microsoft.com/office/powerpoint/2010/main" val="35278450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7166"/>
            <a:ext cx="8229600" cy="928694"/>
          </a:xfrm>
        </p:spPr>
        <p:txBody>
          <a:bodyPr>
            <a:normAutofit/>
          </a:bodyPr>
          <a:lstStyle/>
          <a:p>
            <a:r>
              <a:rPr lang="en-IN" dirty="0" smtClean="0"/>
              <a:t>Lecture 2: </a:t>
            </a:r>
            <a:r>
              <a:rPr lang="en-IN" dirty="0"/>
              <a:t>Rules of Inferences</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34</a:t>
            </a:fld>
            <a:endParaRPr lang="en-IN"/>
          </a:p>
        </p:txBody>
      </p:sp>
      <p:pic>
        <p:nvPicPr>
          <p:cNvPr id="43010" name="Picture 2"/>
          <p:cNvPicPr>
            <a:picLocks noGrp="1" noChangeAspect="1" noChangeArrowheads="1"/>
          </p:cNvPicPr>
          <p:nvPr>
            <p:ph idx="1"/>
          </p:nvPr>
        </p:nvPicPr>
        <p:blipFill>
          <a:blip r:embed="rId2"/>
          <a:srcRect/>
          <a:stretch>
            <a:fillRect/>
          </a:stretch>
        </p:blipFill>
        <p:spPr bwMode="auto">
          <a:xfrm>
            <a:off x="581025" y="1731169"/>
            <a:ext cx="7981950" cy="4362450"/>
          </a:xfrm>
          <a:prstGeom prst="rect">
            <a:avLst/>
          </a:prstGeom>
          <a:noFill/>
          <a:ln w="9525">
            <a:noFill/>
            <a:miter lim="800000"/>
            <a:headEnd/>
            <a:tailEnd/>
          </a:ln>
          <a:effectLst/>
        </p:spPr>
      </p:pic>
    </p:spTree>
    <p:extLst>
      <p:ext uri="{BB962C8B-B14F-4D97-AF65-F5344CB8AC3E}">
        <p14:creationId xmlns:p14="http://schemas.microsoft.com/office/powerpoint/2010/main" val="2195187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1143000"/>
          </a:xfrm>
        </p:spPr>
        <p:txBody>
          <a:bodyPr/>
          <a:lstStyle/>
          <a:p>
            <a:r>
              <a:rPr lang="en-IN" dirty="0"/>
              <a:t>Lecture </a:t>
            </a:r>
            <a:r>
              <a:rPr lang="en-IN" dirty="0" smtClean="0"/>
              <a:t>2: </a:t>
            </a:r>
            <a:r>
              <a:rPr lang="en-IN" dirty="0"/>
              <a:t>Soundness</a:t>
            </a:r>
          </a:p>
        </p:txBody>
      </p:sp>
      <p:sp>
        <p:nvSpPr>
          <p:cNvPr id="3" name="Content Placeholder 2"/>
          <p:cNvSpPr>
            <a:spLocks noGrp="1"/>
          </p:cNvSpPr>
          <p:nvPr>
            <p:ph idx="1"/>
          </p:nvPr>
        </p:nvSpPr>
        <p:spPr>
          <a:xfrm>
            <a:off x="457200" y="1571612"/>
            <a:ext cx="8229600" cy="4752988"/>
          </a:xfrm>
        </p:spPr>
        <p:txBody>
          <a:bodyPr vert="horz" lIns="91440" tIns="45720" rIns="91440" bIns="45720" anchor="t">
            <a:normAutofit/>
          </a:bodyPr>
          <a:lstStyle/>
          <a:p>
            <a:pPr>
              <a:buNone/>
            </a:pPr>
            <a:r>
              <a:rPr lang="en-IN" dirty="0"/>
              <a:t>An argument will be sound </a:t>
            </a:r>
            <a:r>
              <a:rPr lang="en-IN" dirty="0" err="1"/>
              <a:t>iff</a:t>
            </a:r>
            <a:r>
              <a:rPr lang="en-IN" dirty="0"/>
              <a:t> it is valid and its premises are true.  </a:t>
            </a:r>
          </a:p>
          <a:p>
            <a:pPr>
              <a:buNone/>
            </a:pPr>
            <a:r>
              <a:rPr lang="en-IN" dirty="0"/>
              <a:t>Example:</a:t>
            </a:r>
          </a:p>
          <a:p>
            <a:pPr>
              <a:buNone/>
            </a:pPr>
            <a:r>
              <a:rPr lang="en-IN" dirty="0"/>
              <a:t> 1.      All men are mortal</a:t>
            </a:r>
          </a:p>
          <a:p>
            <a:pPr>
              <a:buNone/>
            </a:pPr>
            <a:r>
              <a:rPr lang="en-IN" dirty="0"/>
              <a:t>	Socrates is a man</a:t>
            </a:r>
          </a:p>
          <a:p>
            <a:pPr>
              <a:buNone/>
            </a:pPr>
            <a:r>
              <a:rPr lang="en-IN" dirty="0"/>
              <a:t>	Therefore, Socrates is mortal</a:t>
            </a:r>
          </a:p>
          <a:p>
            <a:pPr>
              <a:buNone/>
            </a:pPr>
            <a:r>
              <a:rPr lang="en-IN" dirty="0"/>
              <a:t>2. All organism with wings can fly</a:t>
            </a:r>
          </a:p>
          <a:p>
            <a:pPr>
              <a:buNone/>
            </a:pPr>
            <a:r>
              <a:rPr lang="en-IN" dirty="0"/>
              <a:t>Penguins have wings</a:t>
            </a:r>
          </a:p>
          <a:p>
            <a:pPr>
              <a:buNone/>
            </a:pPr>
            <a:r>
              <a:rPr lang="en-IN" dirty="0"/>
              <a:t>Therefore, Penguins can fly 	</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35</a:t>
            </a:fld>
            <a:endParaRPr lang="en-IN"/>
          </a:p>
        </p:txBody>
      </p:sp>
    </p:spTree>
    <p:extLst>
      <p:ext uri="{BB962C8B-B14F-4D97-AF65-F5344CB8AC3E}">
        <p14:creationId xmlns:p14="http://schemas.microsoft.com/office/powerpoint/2010/main" val="23896503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Proof Techniques</a:t>
            </a:r>
          </a:p>
        </p:txBody>
      </p:sp>
      <p:pic>
        <p:nvPicPr>
          <p:cNvPr id="6" name="Content Placeholder 5"/>
          <p:cNvPicPr>
            <a:picLocks noGrp="1" noChangeAspect="1"/>
          </p:cNvPicPr>
          <p:nvPr>
            <p:ph idx="1"/>
          </p:nvPr>
        </p:nvPicPr>
        <p:blipFill>
          <a:blip r:embed="rId2"/>
          <a:stretch>
            <a:fillRect/>
          </a:stretch>
        </p:blipFill>
        <p:spPr>
          <a:xfrm>
            <a:off x="457200" y="2605857"/>
            <a:ext cx="8229600" cy="3048049"/>
          </a:xfrm>
          <a:prstGeom prst="rect">
            <a:avLst/>
          </a:prstGeom>
        </p:spPr>
      </p:pic>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36</a:t>
            </a:fld>
            <a:endParaRPr lang="en-IN"/>
          </a:p>
        </p:txBody>
      </p:sp>
    </p:spTree>
    <p:extLst>
      <p:ext uri="{BB962C8B-B14F-4D97-AF65-F5344CB8AC3E}">
        <p14:creationId xmlns:p14="http://schemas.microsoft.com/office/powerpoint/2010/main" val="24554994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899592" y="1770019"/>
            <a:ext cx="7087817" cy="4554582"/>
          </a:xfrm>
          <a:prstGeom prst="rect">
            <a:avLst/>
          </a:prstGeom>
        </p:spPr>
      </p:pic>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37</a:t>
            </a:fld>
            <a:endParaRPr lang="en-IN"/>
          </a:p>
        </p:txBody>
      </p:sp>
      <p:sp>
        <p:nvSpPr>
          <p:cNvPr id="6" name="Title 1"/>
          <p:cNvSpPr>
            <a:spLocks noGrp="1"/>
          </p:cNvSpPr>
          <p:nvPr>
            <p:ph type="title"/>
          </p:nvPr>
        </p:nvSpPr>
        <p:spPr>
          <a:xfrm>
            <a:off x="539552" y="404664"/>
            <a:ext cx="8229600" cy="1143000"/>
          </a:xfrm>
        </p:spPr>
        <p:txBody>
          <a:bodyPr/>
          <a:lstStyle/>
          <a:p>
            <a:r>
              <a:rPr lang="en-US"/>
              <a:t>Proof Techniques</a:t>
            </a:r>
          </a:p>
        </p:txBody>
      </p:sp>
    </p:spTree>
    <p:extLst>
      <p:ext uri="{BB962C8B-B14F-4D97-AF65-F5344CB8AC3E}">
        <p14:creationId xmlns:p14="http://schemas.microsoft.com/office/powerpoint/2010/main" val="50938647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961901" y="1935163"/>
            <a:ext cx="7220198" cy="4389437"/>
          </a:xfrm>
          <a:prstGeom prst="rect">
            <a:avLst/>
          </a:prstGeom>
        </p:spPr>
      </p:pic>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38</a:t>
            </a:fld>
            <a:endParaRPr lang="en-IN"/>
          </a:p>
        </p:txBody>
      </p:sp>
      <p:sp>
        <p:nvSpPr>
          <p:cNvPr id="7" name="Title 1"/>
          <p:cNvSpPr>
            <a:spLocks noGrp="1"/>
          </p:cNvSpPr>
          <p:nvPr>
            <p:ph type="title"/>
          </p:nvPr>
        </p:nvSpPr>
        <p:spPr>
          <a:xfrm>
            <a:off x="539552" y="404664"/>
            <a:ext cx="8229600" cy="1143000"/>
          </a:xfrm>
        </p:spPr>
        <p:txBody>
          <a:bodyPr/>
          <a:lstStyle/>
          <a:p>
            <a:r>
              <a:rPr lang="en-US"/>
              <a:t>Proof Techniques</a:t>
            </a:r>
          </a:p>
        </p:txBody>
      </p:sp>
    </p:spTree>
    <p:extLst>
      <p:ext uri="{BB962C8B-B14F-4D97-AF65-F5344CB8AC3E}">
        <p14:creationId xmlns:p14="http://schemas.microsoft.com/office/powerpoint/2010/main" val="98201516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39</a:t>
            </a:fld>
            <a:endParaRPr lang="en-IN"/>
          </a:p>
        </p:txBody>
      </p:sp>
      <p:sp>
        <p:nvSpPr>
          <p:cNvPr id="6" name="Title 1"/>
          <p:cNvSpPr>
            <a:spLocks noGrp="1"/>
          </p:cNvSpPr>
          <p:nvPr>
            <p:ph type="title"/>
          </p:nvPr>
        </p:nvSpPr>
        <p:spPr>
          <a:xfrm>
            <a:off x="611560" y="82437"/>
            <a:ext cx="8229600" cy="1143000"/>
          </a:xfrm>
        </p:spPr>
        <p:txBody>
          <a:bodyPr/>
          <a:lstStyle/>
          <a:p>
            <a:r>
              <a:rPr lang="en-US"/>
              <a:t>Proof Techniques</a:t>
            </a:r>
          </a:p>
        </p:txBody>
      </p:sp>
      <p:pic>
        <p:nvPicPr>
          <p:cNvPr id="7" name="Picture 6"/>
          <p:cNvPicPr>
            <a:picLocks noChangeAspect="1"/>
          </p:cNvPicPr>
          <p:nvPr/>
        </p:nvPicPr>
        <p:blipFill>
          <a:blip r:embed="rId2"/>
          <a:stretch>
            <a:fillRect/>
          </a:stretch>
        </p:blipFill>
        <p:spPr>
          <a:xfrm>
            <a:off x="376903" y="1433484"/>
            <a:ext cx="7932994" cy="5105428"/>
          </a:xfrm>
          <a:prstGeom prst="rect">
            <a:avLst/>
          </a:prstGeom>
        </p:spPr>
      </p:pic>
    </p:spTree>
    <p:extLst>
      <p:ext uri="{BB962C8B-B14F-4D97-AF65-F5344CB8AC3E}">
        <p14:creationId xmlns:p14="http://schemas.microsoft.com/office/powerpoint/2010/main" val="5548375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40</a:t>
            </a:fld>
            <a:endParaRPr lang="en-IN"/>
          </a:p>
        </p:txBody>
      </p:sp>
      <p:pic>
        <p:nvPicPr>
          <p:cNvPr id="6" name="Picture 5"/>
          <p:cNvPicPr>
            <a:picLocks noChangeAspect="1"/>
          </p:cNvPicPr>
          <p:nvPr/>
        </p:nvPicPr>
        <p:blipFill>
          <a:blip r:embed="rId2"/>
          <a:stretch>
            <a:fillRect/>
          </a:stretch>
        </p:blipFill>
        <p:spPr>
          <a:xfrm>
            <a:off x="251520" y="620688"/>
            <a:ext cx="8646503" cy="5321577"/>
          </a:xfrm>
          <a:prstGeom prst="rect">
            <a:avLst/>
          </a:prstGeom>
        </p:spPr>
      </p:pic>
    </p:spTree>
    <p:extLst>
      <p:ext uri="{BB962C8B-B14F-4D97-AF65-F5344CB8AC3E}">
        <p14:creationId xmlns:p14="http://schemas.microsoft.com/office/powerpoint/2010/main" val="36468889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41</a:t>
            </a:fld>
            <a:endParaRPr lang="en-IN"/>
          </a:p>
        </p:txBody>
      </p:sp>
      <p:pic>
        <p:nvPicPr>
          <p:cNvPr id="6" name="Picture 5"/>
          <p:cNvPicPr>
            <a:picLocks noChangeAspect="1"/>
          </p:cNvPicPr>
          <p:nvPr/>
        </p:nvPicPr>
        <p:blipFill>
          <a:blip r:embed="rId2"/>
          <a:stretch>
            <a:fillRect/>
          </a:stretch>
        </p:blipFill>
        <p:spPr>
          <a:xfrm>
            <a:off x="539552" y="764704"/>
            <a:ext cx="8056198" cy="5198785"/>
          </a:xfrm>
          <a:prstGeom prst="rect">
            <a:avLst/>
          </a:prstGeom>
        </p:spPr>
      </p:pic>
    </p:spTree>
    <p:extLst>
      <p:ext uri="{BB962C8B-B14F-4D97-AF65-F5344CB8AC3E}">
        <p14:creationId xmlns:p14="http://schemas.microsoft.com/office/powerpoint/2010/main" val="240386604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42</a:t>
            </a:fld>
            <a:endParaRPr lang="en-IN"/>
          </a:p>
        </p:txBody>
      </p:sp>
      <p:pic>
        <p:nvPicPr>
          <p:cNvPr id="6" name="Picture 5"/>
          <p:cNvPicPr>
            <a:picLocks noChangeAspect="1"/>
          </p:cNvPicPr>
          <p:nvPr/>
        </p:nvPicPr>
        <p:blipFill>
          <a:blip r:embed="rId2"/>
          <a:stretch>
            <a:fillRect/>
          </a:stretch>
        </p:blipFill>
        <p:spPr>
          <a:xfrm>
            <a:off x="827584" y="980728"/>
            <a:ext cx="7690444" cy="4784393"/>
          </a:xfrm>
          <a:prstGeom prst="rect">
            <a:avLst/>
          </a:prstGeom>
        </p:spPr>
      </p:pic>
    </p:spTree>
    <p:extLst>
      <p:ext uri="{BB962C8B-B14F-4D97-AF65-F5344CB8AC3E}">
        <p14:creationId xmlns:p14="http://schemas.microsoft.com/office/powerpoint/2010/main" val="251644153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43</a:t>
            </a:fld>
            <a:endParaRPr lang="en-IN"/>
          </a:p>
        </p:txBody>
      </p:sp>
      <p:pic>
        <p:nvPicPr>
          <p:cNvPr id="6" name="Picture 5"/>
          <p:cNvPicPr>
            <a:picLocks noChangeAspect="1"/>
          </p:cNvPicPr>
          <p:nvPr/>
        </p:nvPicPr>
        <p:blipFill>
          <a:blip r:embed="rId2"/>
          <a:stretch>
            <a:fillRect/>
          </a:stretch>
        </p:blipFill>
        <p:spPr>
          <a:xfrm>
            <a:off x="606363" y="1196752"/>
            <a:ext cx="8080437" cy="3994476"/>
          </a:xfrm>
          <a:prstGeom prst="rect">
            <a:avLst/>
          </a:prstGeom>
        </p:spPr>
      </p:pic>
    </p:spTree>
    <p:extLst>
      <p:ext uri="{BB962C8B-B14F-4D97-AF65-F5344CB8AC3E}">
        <p14:creationId xmlns:p14="http://schemas.microsoft.com/office/powerpoint/2010/main" val="276453589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44</a:t>
            </a:fld>
            <a:endParaRPr lang="en-IN"/>
          </a:p>
        </p:txBody>
      </p:sp>
      <p:pic>
        <p:nvPicPr>
          <p:cNvPr id="6" name="Picture 5"/>
          <p:cNvPicPr>
            <a:picLocks noChangeAspect="1"/>
          </p:cNvPicPr>
          <p:nvPr/>
        </p:nvPicPr>
        <p:blipFill>
          <a:blip r:embed="rId2"/>
          <a:stretch>
            <a:fillRect/>
          </a:stretch>
        </p:blipFill>
        <p:spPr>
          <a:xfrm>
            <a:off x="717111" y="1268760"/>
            <a:ext cx="8387083" cy="4032448"/>
          </a:xfrm>
          <a:prstGeom prst="rect">
            <a:avLst/>
          </a:prstGeom>
        </p:spPr>
      </p:pic>
    </p:spTree>
    <p:extLst>
      <p:ext uri="{BB962C8B-B14F-4D97-AF65-F5344CB8AC3E}">
        <p14:creationId xmlns:p14="http://schemas.microsoft.com/office/powerpoint/2010/main" val="199101048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Proof by Contrapositive</a:t>
            </a:r>
          </a:p>
        </p:txBody>
      </p:sp>
      <p:sp>
        <p:nvSpPr>
          <p:cNvPr id="3" name="Content Placeholder 2"/>
          <p:cNvSpPr>
            <a:spLocks noGrp="1"/>
          </p:cNvSpPr>
          <p:nvPr>
            <p:ph idx="1"/>
          </p:nvPr>
        </p:nvSpPr>
        <p:spPr/>
        <p:txBody>
          <a:bodyPr/>
          <a:lstStyle/>
          <a:p>
            <a:r>
              <a:rPr lang="en-US"/>
              <a:t>If x</a:t>
            </a:r>
            <a:r>
              <a:rPr lang="en-US" baseline="30000"/>
              <a:t>2 </a:t>
            </a:r>
            <a:r>
              <a:rPr lang="en-US"/>
              <a:t>– 6x + 5 is even then x is odd</a:t>
            </a:r>
          </a:p>
          <a:p>
            <a:r>
              <a:rPr lang="en-US"/>
              <a:t>If x is irrational then </a:t>
            </a:r>
            <a:r>
              <a:rPr lang="en-US" err="1"/>
              <a:t>sqrt</a:t>
            </a:r>
            <a:r>
              <a:rPr lang="en-US"/>
              <a:t>(x) is irrational</a:t>
            </a:r>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45</a:t>
            </a:fld>
            <a:endParaRPr lang="en-IN"/>
          </a:p>
        </p:txBody>
      </p:sp>
    </p:spTree>
    <p:extLst>
      <p:ext uri="{BB962C8B-B14F-4D97-AF65-F5344CB8AC3E}">
        <p14:creationId xmlns:p14="http://schemas.microsoft.com/office/powerpoint/2010/main" val="302388234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46</a:t>
            </a:fld>
            <a:endParaRPr lang="en-IN"/>
          </a:p>
        </p:txBody>
      </p:sp>
      <p:pic>
        <p:nvPicPr>
          <p:cNvPr id="6" name="Picture 5"/>
          <p:cNvPicPr>
            <a:picLocks noChangeAspect="1"/>
          </p:cNvPicPr>
          <p:nvPr/>
        </p:nvPicPr>
        <p:blipFill>
          <a:blip r:embed="rId2"/>
          <a:stretch>
            <a:fillRect/>
          </a:stretch>
        </p:blipFill>
        <p:spPr>
          <a:xfrm>
            <a:off x="251520" y="980728"/>
            <a:ext cx="8464530" cy="4608512"/>
          </a:xfrm>
          <a:prstGeom prst="rect">
            <a:avLst/>
          </a:prstGeom>
        </p:spPr>
      </p:pic>
    </p:spTree>
    <p:extLst>
      <p:ext uri="{BB962C8B-B14F-4D97-AF65-F5344CB8AC3E}">
        <p14:creationId xmlns:p14="http://schemas.microsoft.com/office/powerpoint/2010/main" val="115512619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47</a:t>
            </a:fld>
            <a:endParaRPr lang="en-IN"/>
          </a:p>
        </p:txBody>
      </p:sp>
      <p:pic>
        <p:nvPicPr>
          <p:cNvPr id="6" name="Picture 5"/>
          <p:cNvPicPr>
            <a:picLocks noChangeAspect="1"/>
          </p:cNvPicPr>
          <p:nvPr/>
        </p:nvPicPr>
        <p:blipFill>
          <a:blip r:embed="rId2"/>
          <a:stretch>
            <a:fillRect/>
          </a:stretch>
        </p:blipFill>
        <p:spPr>
          <a:xfrm>
            <a:off x="107504" y="1124744"/>
            <a:ext cx="8758346" cy="4678673"/>
          </a:xfrm>
          <a:prstGeom prst="rect">
            <a:avLst/>
          </a:prstGeom>
        </p:spPr>
      </p:pic>
    </p:spTree>
    <p:extLst>
      <p:ext uri="{BB962C8B-B14F-4D97-AF65-F5344CB8AC3E}">
        <p14:creationId xmlns:p14="http://schemas.microsoft.com/office/powerpoint/2010/main" val="330103214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Proof by Contradiction</a:t>
            </a:r>
          </a:p>
        </p:txBody>
      </p:sp>
      <p:sp>
        <p:nvSpPr>
          <p:cNvPr id="3" name="Content Placeholder 2"/>
          <p:cNvSpPr>
            <a:spLocks noGrp="1"/>
          </p:cNvSpPr>
          <p:nvPr>
            <p:ph idx="1"/>
          </p:nvPr>
        </p:nvSpPr>
        <p:spPr/>
        <p:txBody>
          <a:bodyPr/>
          <a:lstStyle/>
          <a:p>
            <a:r>
              <a:rPr lang="en-US"/>
              <a:t> if n is an integer and n</a:t>
            </a:r>
            <a:r>
              <a:rPr lang="en-US" baseline="30000"/>
              <a:t>3</a:t>
            </a:r>
            <a:r>
              <a:rPr lang="en-US"/>
              <a:t>+5 is odd, then n is even</a:t>
            </a:r>
          </a:p>
          <a:p>
            <a:r>
              <a:rPr lang="en-US"/>
              <a:t>For integers, a ! = 0 and b, there is only one number s.t </a:t>
            </a:r>
            <a:r>
              <a:rPr lang="en-US" err="1"/>
              <a:t>ax+b</a:t>
            </a:r>
            <a:r>
              <a:rPr lang="en-US"/>
              <a:t>=0  [i.e. if </a:t>
            </a:r>
            <a:r>
              <a:rPr lang="en-US" err="1"/>
              <a:t>ax+b</a:t>
            </a:r>
            <a:r>
              <a:rPr lang="en-US"/>
              <a:t> = 0 then for y != x, (</a:t>
            </a:r>
            <a:r>
              <a:rPr lang="en-US" err="1"/>
              <a:t>ay+b</a:t>
            </a:r>
            <a:r>
              <a:rPr lang="en-US"/>
              <a:t>) != 0]</a:t>
            </a:r>
          </a:p>
          <a:p>
            <a:pPr marL="0" indent="0">
              <a:buNone/>
            </a:pPr>
            <a:endParaRPr lang="en-US"/>
          </a:p>
        </p:txBody>
      </p:sp>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48</a:t>
            </a:fld>
            <a:endParaRPr lang="en-IN"/>
          </a:p>
        </p:txBody>
      </p:sp>
    </p:spTree>
    <p:extLst>
      <p:ext uri="{BB962C8B-B14F-4D97-AF65-F5344CB8AC3E}">
        <p14:creationId xmlns:p14="http://schemas.microsoft.com/office/powerpoint/2010/main" val="165554411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49</a:t>
            </a:fld>
            <a:endParaRPr lang="en-IN"/>
          </a:p>
        </p:txBody>
      </p:sp>
      <p:pic>
        <p:nvPicPr>
          <p:cNvPr id="6" name="Picture 5"/>
          <p:cNvPicPr>
            <a:picLocks noChangeAspect="1"/>
          </p:cNvPicPr>
          <p:nvPr/>
        </p:nvPicPr>
        <p:blipFill>
          <a:blip r:embed="rId2"/>
          <a:stretch>
            <a:fillRect/>
          </a:stretch>
        </p:blipFill>
        <p:spPr>
          <a:xfrm>
            <a:off x="389965" y="980728"/>
            <a:ext cx="8278940" cy="5119241"/>
          </a:xfrm>
          <a:prstGeom prst="rect">
            <a:avLst/>
          </a:prstGeom>
        </p:spPr>
      </p:pic>
    </p:spTree>
    <p:extLst>
      <p:ext uri="{BB962C8B-B14F-4D97-AF65-F5344CB8AC3E}">
        <p14:creationId xmlns:p14="http://schemas.microsoft.com/office/powerpoint/2010/main" val="37177567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50</a:t>
            </a:fld>
            <a:endParaRPr lang="en-IN"/>
          </a:p>
        </p:txBody>
      </p:sp>
      <p:pic>
        <p:nvPicPr>
          <p:cNvPr id="6" name="Picture 5"/>
          <p:cNvPicPr>
            <a:picLocks noChangeAspect="1"/>
          </p:cNvPicPr>
          <p:nvPr/>
        </p:nvPicPr>
        <p:blipFill>
          <a:blip r:embed="rId2"/>
          <a:stretch>
            <a:fillRect/>
          </a:stretch>
        </p:blipFill>
        <p:spPr>
          <a:xfrm>
            <a:off x="217323" y="1052736"/>
            <a:ext cx="8463425" cy="5088297"/>
          </a:xfrm>
          <a:prstGeom prst="rect">
            <a:avLst/>
          </a:prstGeom>
        </p:spPr>
      </p:pic>
    </p:spTree>
    <p:extLst>
      <p:ext uri="{BB962C8B-B14F-4D97-AF65-F5344CB8AC3E}">
        <p14:creationId xmlns:p14="http://schemas.microsoft.com/office/powerpoint/2010/main" val="2754310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51</a:t>
            </a:fld>
            <a:endParaRPr lang="en-IN"/>
          </a:p>
        </p:txBody>
      </p:sp>
      <p:pic>
        <p:nvPicPr>
          <p:cNvPr id="6" name="Picture 5"/>
          <p:cNvPicPr>
            <a:picLocks noChangeAspect="1"/>
          </p:cNvPicPr>
          <p:nvPr/>
        </p:nvPicPr>
        <p:blipFill>
          <a:blip r:embed="rId2"/>
          <a:stretch>
            <a:fillRect/>
          </a:stretch>
        </p:blipFill>
        <p:spPr>
          <a:xfrm>
            <a:off x="251520" y="1052736"/>
            <a:ext cx="7960486" cy="4062014"/>
          </a:xfrm>
          <a:prstGeom prst="rect">
            <a:avLst/>
          </a:prstGeom>
        </p:spPr>
      </p:pic>
    </p:spTree>
    <p:extLst>
      <p:ext uri="{BB962C8B-B14F-4D97-AF65-F5344CB8AC3E}">
        <p14:creationId xmlns:p14="http://schemas.microsoft.com/office/powerpoint/2010/main" val="14681156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52</a:t>
            </a:fld>
            <a:endParaRPr lang="en-IN"/>
          </a:p>
        </p:txBody>
      </p:sp>
      <p:pic>
        <p:nvPicPr>
          <p:cNvPr id="7" name="Picture 6"/>
          <p:cNvPicPr>
            <a:picLocks noChangeAspect="1"/>
          </p:cNvPicPr>
          <p:nvPr/>
        </p:nvPicPr>
        <p:blipFill>
          <a:blip r:embed="rId2"/>
          <a:stretch>
            <a:fillRect/>
          </a:stretch>
        </p:blipFill>
        <p:spPr>
          <a:xfrm>
            <a:off x="611560" y="1052736"/>
            <a:ext cx="7859603" cy="4913110"/>
          </a:xfrm>
          <a:prstGeom prst="rect">
            <a:avLst/>
          </a:prstGeom>
        </p:spPr>
      </p:pic>
    </p:spTree>
    <p:extLst>
      <p:ext uri="{BB962C8B-B14F-4D97-AF65-F5344CB8AC3E}">
        <p14:creationId xmlns:p14="http://schemas.microsoft.com/office/powerpoint/2010/main" val="42858269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53</a:t>
            </a:fld>
            <a:endParaRPr lang="en-IN"/>
          </a:p>
        </p:txBody>
      </p:sp>
      <p:pic>
        <p:nvPicPr>
          <p:cNvPr id="6" name="Picture 5"/>
          <p:cNvPicPr>
            <a:picLocks noChangeAspect="1"/>
          </p:cNvPicPr>
          <p:nvPr/>
        </p:nvPicPr>
        <p:blipFill>
          <a:blip r:embed="rId2"/>
          <a:stretch>
            <a:fillRect/>
          </a:stretch>
        </p:blipFill>
        <p:spPr>
          <a:xfrm>
            <a:off x="827584" y="1484784"/>
            <a:ext cx="7845566" cy="3816424"/>
          </a:xfrm>
          <a:prstGeom prst="rect">
            <a:avLst/>
          </a:prstGeom>
        </p:spPr>
      </p:pic>
    </p:spTree>
    <p:extLst>
      <p:ext uri="{BB962C8B-B14F-4D97-AF65-F5344CB8AC3E}">
        <p14:creationId xmlns:p14="http://schemas.microsoft.com/office/powerpoint/2010/main" val="158786415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Padmalochan Bera, SECS, IIT Bhubaneswar                         MFCS</a:t>
            </a:r>
            <a:endParaRPr lang="en-IN"/>
          </a:p>
        </p:txBody>
      </p:sp>
      <p:sp>
        <p:nvSpPr>
          <p:cNvPr id="5" name="Slide Number Placeholder 4"/>
          <p:cNvSpPr>
            <a:spLocks noGrp="1"/>
          </p:cNvSpPr>
          <p:nvPr>
            <p:ph type="sldNum" sz="quarter" idx="12"/>
          </p:nvPr>
        </p:nvSpPr>
        <p:spPr/>
        <p:txBody>
          <a:bodyPr/>
          <a:lstStyle/>
          <a:p>
            <a:fld id="{8CEFC2AB-1F7F-407C-A119-7B97A880C565}" type="slidenum">
              <a:rPr lang="en-IN" smtClean="0"/>
              <a:pPr/>
              <a:t>54</a:t>
            </a:fld>
            <a:endParaRPr lang="en-IN"/>
          </a:p>
        </p:txBody>
      </p:sp>
      <p:pic>
        <p:nvPicPr>
          <p:cNvPr id="6" name="Picture 5"/>
          <p:cNvPicPr>
            <a:picLocks noChangeAspect="1"/>
          </p:cNvPicPr>
          <p:nvPr/>
        </p:nvPicPr>
        <p:blipFill>
          <a:blip r:embed="rId2"/>
          <a:stretch>
            <a:fillRect/>
          </a:stretch>
        </p:blipFill>
        <p:spPr>
          <a:xfrm>
            <a:off x="611560" y="1196752"/>
            <a:ext cx="8137759" cy="3686464"/>
          </a:xfrm>
          <a:prstGeom prst="rect">
            <a:avLst/>
          </a:prstGeom>
        </p:spPr>
      </p:pic>
    </p:spTree>
    <p:extLst>
      <p:ext uri="{BB962C8B-B14F-4D97-AF65-F5344CB8AC3E}">
        <p14:creationId xmlns:p14="http://schemas.microsoft.com/office/powerpoint/2010/main" val="70095883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E9A505D9174A849B8F0CA2111DBC47B" ma:contentTypeVersion="6" ma:contentTypeDescription="Create a new document." ma:contentTypeScope="" ma:versionID="536a417fbd9c408036f622f9efcd412c">
  <xsd:schema xmlns:xsd="http://www.w3.org/2001/XMLSchema" xmlns:xs="http://www.w3.org/2001/XMLSchema" xmlns:p="http://schemas.microsoft.com/office/2006/metadata/properties" xmlns:ns2="b70e0be4-18a7-4679-bbd6-ea40be2b415a" xmlns:ns3="f83c85f4-979a-4492-adfc-7eb20112d749" targetNamespace="http://schemas.microsoft.com/office/2006/metadata/properties" ma:root="true" ma:fieldsID="34720be6fcff7c67482cb83bf857cdf2" ns2:_="" ns3:_="">
    <xsd:import namespace="b70e0be4-18a7-4679-bbd6-ea40be2b415a"/>
    <xsd:import namespace="f83c85f4-979a-4492-adfc-7eb20112d74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0e0be4-18a7-4679-bbd6-ea40be2b41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83c85f4-979a-4492-adfc-7eb20112d74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0ACDC99-A0BC-4E5C-8977-F1D18781E310}">
  <ds:schemaRefs>
    <ds:schemaRef ds:uri="http://schemas.microsoft.com/sharepoint/v3/contenttype/forms"/>
  </ds:schemaRefs>
</ds:datastoreItem>
</file>

<file path=customXml/itemProps2.xml><?xml version="1.0" encoding="utf-8"?>
<ds:datastoreItem xmlns:ds="http://schemas.openxmlformats.org/officeDocument/2006/customXml" ds:itemID="{F2D220E5-9E65-4BFB-8380-977F9BB65C7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0e0be4-18a7-4679-bbd6-ea40be2b415a"/>
    <ds:schemaRef ds:uri="f83c85f4-979a-4492-adfc-7eb20112d7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2FE0E9-7A11-43AE-8543-75F396843F2F}">
  <ds:schemaRefs>
    <ds:schemaRef ds:uri="http://www.w3.org/XML/1998/namespace"/>
    <ds:schemaRef ds:uri="http://schemas.microsoft.com/office/infopath/2007/PartnerControls"/>
    <ds:schemaRef ds:uri="http://schemas.microsoft.com/office/2006/documentManagement/types"/>
    <ds:schemaRef ds:uri="http://purl.org/dc/dcmitype/"/>
    <ds:schemaRef ds:uri="b70e0be4-18a7-4679-bbd6-ea40be2b415a"/>
    <ds:schemaRef ds:uri="http://purl.org/dc/terms/"/>
    <ds:schemaRef ds:uri="http://schemas.microsoft.com/office/2006/metadata/properties"/>
    <ds:schemaRef ds:uri="http://schemas.openxmlformats.org/package/2006/metadata/core-properties"/>
    <ds:schemaRef ds:uri="f83c85f4-979a-4492-adfc-7eb20112d749"/>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Flow</Template>
  <TotalTime>239</TotalTime>
  <Words>1779</Words>
  <Application>Microsoft Office PowerPoint</Application>
  <PresentationFormat>On-screen Show (4:3)</PresentationFormat>
  <Paragraphs>244</Paragraphs>
  <Slides>54</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54</vt:i4>
      </vt:variant>
    </vt:vector>
  </HeadingPairs>
  <TitlesOfParts>
    <vt:vector size="60" baseType="lpstr">
      <vt:lpstr>Calibri</vt:lpstr>
      <vt:lpstr>Constantia</vt:lpstr>
      <vt:lpstr>Wingdings</vt:lpstr>
      <vt:lpstr>Wingdings 2</vt:lpstr>
      <vt:lpstr>Flow</vt:lpstr>
      <vt:lpstr>Equation</vt:lpstr>
      <vt:lpstr>MFCS – Lecture 2</vt:lpstr>
      <vt:lpstr>Lecture 2: Predicate Logic</vt:lpstr>
      <vt:lpstr>Lecture 2: Predicate Logic</vt:lpstr>
      <vt:lpstr>Lecture 2: Predicate Logic</vt:lpstr>
      <vt:lpstr>Lecture2: Predicate Logic</vt:lpstr>
      <vt:lpstr>Lecture 2: Predicate Logic</vt:lpstr>
      <vt:lpstr>Lecture 2: Predicate Logic</vt:lpstr>
      <vt:lpstr>Lecture 2: Predicate Logic</vt:lpstr>
      <vt:lpstr>Lecture 2: Predicate Logic</vt:lpstr>
      <vt:lpstr>Lecture 2: Predicate Logic</vt:lpstr>
      <vt:lpstr>Example</vt:lpstr>
      <vt:lpstr>Lecture 2: Predicate Logic</vt:lpstr>
      <vt:lpstr>Lecture 2: Predicate Logic</vt:lpstr>
      <vt:lpstr>PowerPoint Presentation</vt:lpstr>
      <vt:lpstr>Lecture 2: Predicate Logic</vt:lpstr>
      <vt:lpstr>Lecture 2: Predicate Logic</vt:lpstr>
      <vt:lpstr>Lecture2: Predicate Logic</vt:lpstr>
      <vt:lpstr>Lecture 2: Predicate Logic</vt:lpstr>
      <vt:lpstr>Lecture 2: Rules of Inferences</vt:lpstr>
      <vt:lpstr>Lecture 2: Rules of Inferences</vt:lpstr>
      <vt:lpstr>Lecture 2: Rules of Inferences</vt:lpstr>
      <vt:lpstr>Lecture 2: Rules of Inferences</vt:lpstr>
      <vt:lpstr>Lecture 2: Rules of Inferences</vt:lpstr>
      <vt:lpstr>Lecture 2: Rules of Inferences</vt:lpstr>
      <vt:lpstr>Lecture 2: Rules of Inferences</vt:lpstr>
      <vt:lpstr>Lecture 2: Rules of Inferences</vt:lpstr>
      <vt:lpstr>Lecture 2: Rules of Inferences</vt:lpstr>
      <vt:lpstr>Lecture 2: Rules of Inferences</vt:lpstr>
      <vt:lpstr>Lecture 2: Rules of Inferences</vt:lpstr>
      <vt:lpstr>Lecture 2: Rules of Inferences</vt:lpstr>
      <vt:lpstr>Lecture 2: Rules of Inferences</vt:lpstr>
      <vt:lpstr>Lecture 2: Rules of Inferences</vt:lpstr>
      <vt:lpstr>Lecture 2: Rules of Inferences</vt:lpstr>
      <vt:lpstr>Lecture 2: Rules of Inferences</vt:lpstr>
      <vt:lpstr>Lecture 2: Soundness</vt:lpstr>
      <vt:lpstr>Proof Techniques</vt:lpstr>
      <vt:lpstr>Proof Techniques</vt:lpstr>
      <vt:lpstr>Proof Techniques</vt:lpstr>
      <vt:lpstr>Proof Techniques</vt:lpstr>
      <vt:lpstr>PowerPoint Presentation</vt:lpstr>
      <vt:lpstr>PowerPoint Presentation</vt:lpstr>
      <vt:lpstr>PowerPoint Presentation</vt:lpstr>
      <vt:lpstr>PowerPoint Presentation</vt:lpstr>
      <vt:lpstr>PowerPoint Presentation</vt:lpstr>
      <vt:lpstr>Proof by Contrapositive</vt:lpstr>
      <vt:lpstr>PowerPoint Presentation</vt:lpstr>
      <vt:lpstr>PowerPoint Presentation</vt:lpstr>
      <vt:lpstr>Proof by Contradiction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Mathematics</dc:title>
  <dc:creator>iit</dc:creator>
  <cp:lastModifiedBy>Dr. P. L. Bera</cp:lastModifiedBy>
  <cp:revision>6</cp:revision>
  <dcterms:created xsi:type="dcterms:W3CDTF">2014-07-15T06:59:48Z</dcterms:created>
  <dcterms:modified xsi:type="dcterms:W3CDTF">2025-08-18T11:50:31Z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0x010100FE9A505D9174A849B8F0CA2111DBC47B</vt:lpwstr>
  </property>
</Properties>
</file>