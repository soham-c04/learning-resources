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9C439-EE38-420B-A043-32C9E2C222F5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E9FB-A239-4A5A-943B-5CFD64857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25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9C439-EE38-420B-A043-32C9E2C222F5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E9FB-A239-4A5A-943B-5CFD64857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74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9C439-EE38-420B-A043-32C9E2C222F5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E9FB-A239-4A5A-943B-5CFD64857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694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9C439-EE38-420B-A043-32C9E2C222F5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E9FB-A239-4A5A-943B-5CFD64857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966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9C439-EE38-420B-A043-32C9E2C222F5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E9FB-A239-4A5A-943B-5CFD64857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37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9C439-EE38-420B-A043-32C9E2C222F5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E9FB-A239-4A5A-943B-5CFD64857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266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9C439-EE38-420B-A043-32C9E2C222F5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E9FB-A239-4A5A-943B-5CFD64857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5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9C439-EE38-420B-A043-32C9E2C222F5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E9FB-A239-4A5A-943B-5CFD64857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40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9C439-EE38-420B-A043-32C9E2C222F5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E9FB-A239-4A5A-943B-5CFD64857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779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9C439-EE38-420B-A043-32C9E2C222F5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E9FB-A239-4A5A-943B-5CFD64857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721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9C439-EE38-420B-A043-32C9E2C222F5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E9FB-A239-4A5A-943B-5CFD64857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526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9C439-EE38-420B-A043-32C9E2C222F5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5E9FB-A239-4A5A-943B-5CFD64857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573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46568" y="307571"/>
            <a:ext cx="2408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Superposition theorem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46" y="2038345"/>
            <a:ext cx="6610401" cy="38221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4975" y="1130531"/>
            <a:ext cx="850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</a:t>
            </a:r>
            <a:r>
              <a:rPr lang="en-US" dirty="0"/>
              <a:t>Using superposition, find the current through the </a:t>
            </a:r>
            <a:r>
              <a:rPr lang="en-US" dirty="0" smtClean="0"/>
              <a:t>6 </a:t>
            </a:r>
            <a:r>
              <a:rPr lang="el-GR" dirty="0" smtClean="0"/>
              <a:t>Ω</a:t>
            </a:r>
            <a:r>
              <a:rPr lang="en-US" dirty="0" smtClean="0"/>
              <a:t> </a:t>
            </a:r>
            <a:r>
              <a:rPr lang="en-US" dirty="0"/>
              <a:t>resistor of </a:t>
            </a:r>
            <a:r>
              <a:rPr lang="en-US" dirty="0" smtClean="0"/>
              <a:t>the network 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379229" y="269332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</a:t>
            </a:r>
            <a:r>
              <a:rPr lang="en-US" baseline="-25000" dirty="0" smtClean="0"/>
              <a:t>2</a:t>
            </a:r>
            <a:r>
              <a:rPr lang="en-US" dirty="0" smtClean="0"/>
              <a:t>=8A</a:t>
            </a:r>
            <a:endParaRPr lang="en-IN" baseline="-25000" dirty="0"/>
          </a:p>
        </p:txBody>
      </p:sp>
    </p:spTree>
    <p:extLst>
      <p:ext uri="{BB962C8B-B14F-4D97-AF65-F5344CB8AC3E}">
        <p14:creationId xmlns:p14="http://schemas.microsoft.com/office/powerpoint/2010/main" val="240246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46568" y="307571"/>
            <a:ext cx="2408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Superposition theorem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354975" y="1130531"/>
            <a:ext cx="850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</a:t>
            </a:r>
            <a:r>
              <a:rPr lang="en-US" dirty="0"/>
              <a:t>use the superposition principle to determine the value of </a:t>
            </a:r>
            <a:r>
              <a:rPr lang="en-US" i="1" dirty="0"/>
              <a:t>ix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9335193" y="3906982"/>
            <a:ext cx="103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</a:t>
            </a:r>
            <a:r>
              <a:rPr lang="en-US" baseline="-25000" dirty="0" smtClean="0"/>
              <a:t>x</a:t>
            </a:r>
            <a:r>
              <a:rPr lang="en-US" dirty="0" smtClean="0"/>
              <a:t>=1.4 A</a:t>
            </a:r>
            <a:endParaRPr lang="en-IN" baseline="-25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8" y="2587937"/>
            <a:ext cx="7137389" cy="277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15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46568" y="307571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Thevenin</a:t>
            </a:r>
            <a:r>
              <a:rPr lang="en-US" dirty="0" smtClean="0"/>
              <a:t> theorem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354975" y="1130531"/>
            <a:ext cx="8503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 </a:t>
            </a:r>
            <a:r>
              <a:rPr lang="en-US" dirty="0"/>
              <a:t>Find the </a:t>
            </a:r>
            <a:r>
              <a:rPr lang="en-US" dirty="0" err="1"/>
              <a:t>Thévenin</a:t>
            </a:r>
            <a:r>
              <a:rPr lang="en-US" dirty="0"/>
              <a:t> equivalent circuit for the network </a:t>
            </a:r>
            <a:r>
              <a:rPr lang="en-US" dirty="0" smtClean="0"/>
              <a:t>in the </a:t>
            </a:r>
            <a:r>
              <a:rPr lang="en-US" dirty="0"/>
              <a:t>shaded area of the bridge network 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379229" y="3220686"/>
            <a:ext cx="915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</a:t>
            </a:r>
            <a:r>
              <a:rPr lang="en-US" baseline="-25000" dirty="0" smtClean="0"/>
              <a:t>th </a:t>
            </a:r>
            <a:r>
              <a:rPr lang="en-US" dirty="0" smtClean="0"/>
              <a:t>= 6V</a:t>
            </a:r>
            <a:endParaRPr lang="en-IN" baseline="-25000" dirty="0" smtClean="0"/>
          </a:p>
          <a:p>
            <a:r>
              <a:rPr lang="en-US" dirty="0" err="1" smtClean="0"/>
              <a:t>R</a:t>
            </a:r>
            <a:r>
              <a:rPr lang="en-US" baseline="-25000" dirty="0" err="1" smtClean="0"/>
              <a:t>th</a:t>
            </a:r>
            <a:r>
              <a:rPr lang="en-US" baseline="-25000" dirty="0" smtClean="0"/>
              <a:t> </a:t>
            </a:r>
            <a:r>
              <a:rPr lang="en-US" dirty="0" smtClean="0"/>
              <a:t>= 5</a:t>
            </a:r>
            <a:r>
              <a:rPr lang="el-GR" dirty="0" smtClean="0"/>
              <a:t>Ω</a:t>
            </a:r>
            <a:endParaRPr lang="en-US" baseline="-250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567" y="2184633"/>
            <a:ext cx="6755384" cy="351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9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46568" y="307571"/>
            <a:ext cx="1719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Norton theorem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354975" y="1130531"/>
            <a:ext cx="850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 </a:t>
            </a:r>
            <a:r>
              <a:rPr lang="en-US" dirty="0"/>
              <a:t>Find the N</a:t>
            </a:r>
            <a:r>
              <a:rPr lang="en-US" dirty="0" smtClean="0"/>
              <a:t>orton </a:t>
            </a:r>
            <a:r>
              <a:rPr lang="en-US" dirty="0"/>
              <a:t>equivalent </a:t>
            </a:r>
            <a:r>
              <a:rPr lang="en-US" dirty="0" smtClean="0"/>
              <a:t>circuit at A-B and find V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for the </a:t>
            </a:r>
            <a:r>
              <a:rPr lang="en-US" dirty="0" smtClean="0"/>
              <a:t>network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379229" y="3220686"/>
            <a:ext cx="9877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</a:t>
            </a:r>
            <a:r>
              <a:rPr lang="en-US" baseline="-25000" dirty="0"/>
              <a:t>N</a:t>
            </a:r>
            <a:r>
              <a:rPr lang="en-US" dirty="0" smtClean="0"/>
              <a:t>= 2mA</a:t>
            </a:r>
          </a:p>
          <a:p>
            <a:r>
              <a:rPr lang="en-US" dirty="0" smtClean="0"/>
              <a:t>V</a:t>
            </a:r>
            <a:r>
              <a:rPr lang="en-US" baseline="-25000" dirty="0"/>
              <a:t>0</a:t>
            </a:r>
            <a:r>
              <a:rPr lang="en-US" baseline="-25000" dirty="0" smtClean="0"/>
              <a:t> </a:t>
            </a:r>
            <a:r>
              <a:rPr lang="en-US" dirty="0" smtClean="0"/>
              <a:t>= 8V</a:t>
            </a:r>
            <a:endParaRPr lang="en-IN" baseline="-25000" dirty="0" smtClean="0"/>
          </a:p>
          <a:p>
            <a:r>
              <a:rPr lang="en-US" dirty="0" smtClean="0"/>
              <a:t>R</a:t>
            </a:r>
            <a:r>
              <a:rPr lang="en-US" baseline="-25000" dirty="0"/>
              <a:t>N</a:t>
            </a:r>
            <a:r>
              <a:rPr lang="en-US" baseline="-25000" dirty="0" smtClean="0"/>
              <a:t> </a:t>
            </a:r>
            <a:r>
              <a:rPr lang="en-US" dirty="0" smtClean="0"/>
              <a:t>= 4k</a:t>
            </a:r>
            <a:r>
              <a:rPr lang="el-GR" dirty="0" smtClean="0"/>
              <a:t>Ω</a:t>
            </a:r>
            <a:endParaRPr lang="en-US" baseline="-250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815" y="2569931"/>
            <a:ext cx="5994020" cy="213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46568" y="307571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Thevenin</a:t>
            </a:r>
            <a:r>
              <a:rPr lang="en-US" dirty="0" smtClean="0"/>
              <a:t> theorem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354975" y="1130531"/>
            <a:ext cx="850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r>
              <a:rPr lang="en-US" dirty="0" smtClean="0"/>
              <a:t>. </a:t>
            </a:r>
            <a:r>
              <a:rPr lang="en-US" dirty="0"/>
              <a:t>Find the </a:t>
            </a:r>
            <a:r>
              <a:rPr lang="en-US" dirty="0" err="1"/>
              <a:t>Thévenin</a:t>
            </a:r>
            <a:r>
              <a:rPr lang="en-US" dirty="0"/>
              <a:t> equivalent circuit for the </a:t>
            </a:r>
            <a:r>
              <a:rPr lang="en-US" dirty="0" smtClean="0"/>
              <a:t>network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379229" y="3220686"/>
            <a:ext cx="1136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</a:t>
            </a:r>
            <a:r>
              <a:rPr lang="en-US" baseline="-25000" dirty="0" smtClean="0"/>
              <a:t>th </a:t>
            </a:r>
            <a:r>
              <a:rPr lang="en-US" dirty="0" smtClean="0"/>
              <a:t>= 8V</a:t>
            </a:r>
            <a:endParaRPr lang="en-IN" baseline="-25000" dirty="0" smtClean="0"/>
          </a:p>
          <a:p>
            <a:r>
              <a:rPr lang="en-US" dirty="0" err="1" smtClean="0"/>
              <a:t>R</a:t>
            </a:r>
            <a:r>
              <a:rPr lang="en-US" baseline="-25000" dirty="0" err="1" smtClean="0"/>
              <a:t>th</a:t>
            </a:r>
            <a:r>
              <a:rPr lang="en-US" baseline="-25000" dirty="0" smtClean="0"/>
              <a:t> </a:t>
            </a:r>
            <a:r>
              <a:rPr lang="en-US" dirty="0" smtClean="0"/>
              <a:t>= 10k</a:t>
            </a:r>
            <a:r>
              <a:rPr lang="el-GR" dirty="0" smtClean="0"/>
              <a:t>Ω</a:t>
            </a:r>
            <a:endParaRPr lang="en-US" baseline="-250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808" y="2868584"/>
            <a:ext cx="4749078" cy="244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7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46568" y="307571"/>
            <a:ext cx="1719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Norton theorem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354975" y="1130531"/>
            <a:ext cx="850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6. </a:t>
            </a:r>
            <a:r>
              <a:rPr lang="en-US" dirty="0"/>
              <a:t>Find the N</a:t>
            </a:r>
            <a:r>
              <a:rPr lang="en-US" dirty="0" smtClean="0"/>
              <a:t>orton </a:t>
            </a:r>
            <a:r>
              <a:rPr lang="en-US" dirty="0"/>
              <a:t>equivalent </a:t>
            </a:r>
            <a:r>
              <a:rPr lang="en-US" dirty="0" smtClean="0"/>
              <a:t>circuit at A-B and find V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for the </a:t>
            </a:r>
            <a:r>
              <a:rPr lang="en-US" dirty="0" smtClean="0"/>
              <a:t>network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379229" y="3220686"/>
            <a:ext cx="12939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</a:t>
            </a:r>
            <a:r>
              <a:rPr lang="en-US" baseline="-25000" dirty="0"/>
              <a:t>N</a:t>
            </a:r>
            <a:r>
              <a:rPr lang="en-US" dirty="0" smtClean="0"/>
              <a:t>= -18mA</a:t>
            </a:r>
          </a:p>
          <a:p>
            <a:r>
              <a:rPr lang="en-US" dirty="0" smtClean="0"/>
              <a:t>V</a:t>
            </a:r>
            <a:r>
              <a:rPr lang="en-US" baseline="-25000" dirty="0"/>
              <a:t>0</a:t>
            </a:r>
            <a:r>
              <a:rPr lang="en-US" baseline="-25000" dirty="0" smtClean="0"/>
              <a:t> </a:t>
            </a:r>
            <a:r>
              <a:rPr lang="en-US" dirty="0" smtClean="0"/>
              <a:t>= -18/7 V</a:t>
            </a:r>
            <a:endParaRPr lang="en-IN" baseline="-25000" dirty="0" smtClean="0"/>
          </a:p>
          <a:p>
            <a:r>
              <a:rPr lang="en-US" dirty="0" smtClean="0"/>
              <a:t>R</a:t>
            </a:r>
            <a:r>
              <a:rPr lang="en-US" baseline="-25000" dirty="0"/>
              <a:t>N</a:t>
            </a:r>
            <a:r>
              <a:rPr lang="en-US" baseline="-25000" dirty="0" smtClean="0"/>
              <a:t> </a:t>
            </a:r>
            <a:r>
              <a:rPr lang="en-US" dirty="0" smtClean="0"/>
              <a:t>= 1/3 k</a:t>
            </a:r>
            <a:r>
              <a:rPr lang="el-GR" dirty="0" smtClean="0"/>
              <a:t>Ω</a:t>
            </a:r>
            <a:endParaRPr lang="en-US" baseline="-250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071" y="2383414"/>
            <a:ext cx="5645714" cy="225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56117" y="332509"/>
            <a:ext cx="342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maximum power transfer theorem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354975" y="1130531"/>
            <a:ext cx="850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7. find R</a:t>
            </a:r>
            <a:r>
              <a:rPr lang="en-US" baseline="-25000" dirty="0" smtClean="0"/>
              <a:t>L</a:t>
            </a:r>
            <a:r>
              <a:rPr lang="en-US" dirty="0" smtClean="0"/>
              <a:t> for maximum power transfer and the maximum power transferred.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379229" y="3220686"/>
            <a:ext cx="1334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</a:t>
            </a:r>
            <a:r>
              <a:rPr lang="en-US" baseline="-25000" dirty="0" smtClean="0"/>
              <a:t>N </a:t>
            </a:r>
            <a:r>
              <a:rPr lang="en-US" dirty="0" smtClean="0"/>
              <a:t>= 6k</a:t>
            </a:r>
            <a:r>
              <a:rPr lang="el-GR" dirty="0" smtClean="0"/>
              <a:t>Ω</a:t>
            </a:r>
            <a:endParaRPr lang="en-US" dirty="0"/>
          </a:p>
          <a:p>
            <a:r>
              <a:rPr lang="en-US" dirty="0" smtClean="0"/>
              <a:t>P</a:t>
            </a:r>
            <a:r>
              <a:rPr lang="en-US" baseline="-25000" dirty="0" smtClean="0"/>
              <a:t>L</a:t>
            </a:r>
            <a:r>
              <a:rPr lang="en-US" dirty="0" smtClean="0"/>
              <a:t>= 0.66mW</a:t>
            </a:r>
            <a:endParaRPr lang="en-US" baseline="-250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349" y="2480427"/>
            <a:ext cx="5024437" cy="240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53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56117" y="332509"/>
            <a:ext cx="342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maximum power transfer theorem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354975" y="1130531"/>
            <a:ext cx="850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r>
              <a:rPr lang="en-US" dirty="0" smtClean="0"/>
              <a:t>. find R</a:t>
            </a:r>
            <a:r>
              <a:rPr lang="en-US" baseline="-25000" dirty="0" smtClean="0"/>
              <a:t>L</a:t>
            </a:r>
            <a:r>
              <a:rPr lang="en-US" dirty="0" smtClean="0"/>
              <a:t> for maximum power transfer and the maximum power transferred.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379229" y="3220686"/>
            <a:ext cx="1535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</a:t>
            </a:r>
            <a:r>
              <a:rPr lang="en-US" baseline="-25000" dirty="0" smtClean="0"/>
              <a:t>N </a:t>
            </a:r>
            <a:r>
              <a:rPr lang="en-US" dirty="0" smtClean="0"/>
              <a:t>= 24/13 k</a:t>
            </a:r>
            <a:r>
              <a:rPr lang="el-GR" dirty="0" smtClean="0"/>
              <a:t>Ω</a:t>
            </a:r>
            <a:endParaRPr lang="en-US" dirty="0"/>
          </a:p>
          <a:p>
            <a:r>
              <a:rPr lang="en-US" dirty="0" smtClean="0"/>
              <a:t>P</a:t>
            </a:r>
            <a:r>
              <a:rPr lang="en-US" baseline="-25000" dirty="0" smtClean="0"/>
              <a:t>L</a:t>
            </a:r>
            <a:r>
              <a:rPr lang="en-US" dirty="0" smtClean="0"/>
              <a:t>= 27/26 </a:t>
            </a:r>
            <a:r>
              <a:rPr lang="en-US" dirty="0" err="1" smtClean="0"/>
              <a:t>mW</a:t>
            </a:r>
            <a:endParaRPr lang="en-US" baseline="-250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772" y="2506059"/>
            <a:ext cx="4981171" cy="258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6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56117" y="332509"/>
            <a:ext cx="342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maximum power transfer theorem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354975" y="1130531"/>
            <a:ext cx="850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9. find R</a:t>
            </a:r>
            <a:r>
              <a:rPr lang="en-US" baseline="-25000" dirty="0" smtClean="0"/>
              <a:t>L</a:t>
            </a:r>
            <a:r>
              <a:rPr lang="en-US" dirty="0" smtClean="0"/>
              <a:t> for maximum power transfer and the maximum power transferred.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379229" y="3220686"/>
            <a:ext cx="1301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</a:t>
            </a:r>
            <a:r>
              <a:rPr lang="en-US" baseline="-25000" dirty="0" smtClean="0"/>
              <a:t>N </a:t>
            </a:r>
            <a:r>
              <a:rPr lang="en-US" smtClean="0"/>
              <a:t>= 2 </a:t>
            </a:r>
            <a:r>
              <a:rPr lang="en-US" dirty="0" smtClean="0"/>
              <a:t>k</a:t>
            </a:r>
            <a:r>
              <a:rPr lang="el-GR" dirty="0" smtClean="0"/>
              <a:t>Ω</a:t>
            </a:r>
            <a:endParaRPr lang="en-US" dirty="0"/>
          </a:p>
          <a:p>
            <a:r>
              <a:rPr lang="en-US" dirty="0" smtClean="0"/>
              <a:t>P</a:t>
            </a:r>
            <a:r>
              <a:rPr lang="en-US" baseline="-25000" dirty="0" smtClean="0"/>
              <a:t>L</a:t>
            </a:r>
            <a:r>
              <a:rPr lang="en-US" dirty="0" smtClean="0"/>
              <a:t>= 8/3 </a:t>
            </a:r>
            <a:r>
              <a:rPr lang="en-US" dirty="0" err="1" smtClean="0"/>
              <a:t>mW</a:t>
            </a:r>
            <a:endParaRPr lang="en-US" baseline="-250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580" y="2738238"/>
            <a:ext cx="5712603" cy="225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4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218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 LAB-10</dc:creator>
  <cp:lastModifiedBy>SA LAB-10</cp:lastModifiedBy>
  <cp:revision>31</cp:revision>
  <dcterms:created xsi:type="dcterms:W3CDTF">2022-12-06T09:36:10Z</dcterms:created>
  <dcterms:modified xsi:type="dcterms:W3CDTF">2022-12-06T12:17:48Z</dcterms:modified>
</cp:coreProperties>
</file>