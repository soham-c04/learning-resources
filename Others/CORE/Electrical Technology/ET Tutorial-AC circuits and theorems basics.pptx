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0BBC-AEC0-4C45-9960-F1A467E72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4F736-D05C-F848-64EE-D7347CF16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BFFA-4875-0BAC-F343-A026D327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504D-AEBE-2135-6524-91A4D038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5A3C2-06AF-CAC4-50AB-A67B4895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74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B994-78C7-8436-1D87-6E3BEC04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F9DB-A5B5-8F6A-465D-AC26D7A8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5075E-730B-AF08-E75B-1C944A41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6DEEF-00F8-ECC4-FD62-6727BAA3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3D30-507A-C9D1-149A-970E020C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3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CAD4-A020-7E1C-3CC3-AE57B116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48F22-A1AF-C8E0-3C43-D3339602B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B7EE3-B705-A220-02F2-4FE9E90B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C658-11F5-87A5-40A0-35961B38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E68E6-E4C3-D151-D06D-DDEA803B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3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EFFB-93D0-75D3-5721-0F0AA709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F209-4DC6-9E65-C33B-02CFD81A0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2557-744B-24B4-8D2E-CFCF29D25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7F23-B1DE-7282-7B9D-B89DB651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E1CC-48FD-CABA-7576-B90FCE81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BDDB2-1B36-E766-EE21-3C752091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B06-8D31-2EAD-4555-402935B5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D9F38-5F9C-E89F-D75A-97E170E5C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65CA5-06E6-513F-5400-52A2766C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7FBC9-4720-610B-231B-88B6A7126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5C9B0-8AF2-422B-DE55-5A5B0430D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3308C-881F-0D6D-D113-BC73E7D0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6B3028-6A12-F025-9A72-641390A4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0D95-FEE8-76D8-1F0F-6D314087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7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F956-7502-4F82-292C-BE3A2A5C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54E9D-4782-6664-94BC-0125A1D8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4166-AF11-D09B-B345-82A65607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1CAB8-4893-6C90-CD9B-D0C7E6CE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5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2603C-C9B4-C1C4-B433-D576F304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8BF21-9708-BFA2-812F-4324C6C8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A4D59-B020-5010-F434-CD11AC5F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62EC-31EC-97A2-523C-48094999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BDFA-0B5E-4E8D-B485-E95B478E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E2575-A918-3F4D-0BC3-13AF2CE6D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8793-0B61-2E89-511D-0DB32D1B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5E320-BA43-2A1F-EB41-007DFD82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4DD84-D408-2595-03F6-39657E61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53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86AF-1D82-5859-CC0D-6CCD3AF2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56CBE-070C-E7C3-03D1-9A0766266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D75D1-A4A7-BC73-4685-77048949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D4E94-ED1E-7758-CE80-67D317BCC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5EA68-FEBF-73A7-8DC1-BDD3B596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B4B92-E999-FD0F-F12C-E61AE06C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88AF-3211-7DA6-06FA-107AB2E4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4FBDB-2BAB-5E16-4F4D-8E2067F0F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6CF8-723C-01D5-9019-A285A5A7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315B-9F09-091B-5AAE-86AE2A32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D281-AD33-FFC2-57A1-370DF9E2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3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31F0F-997A-C830-6C22-E60C067A6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4E534-C8F0-014C-DAC0-C36CD6A1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61B1-DE86-70F4-9336-3AAF0E9D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1BD4F-9048-EEF7-4CB5-07C56D0D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DED98-4975-266C-18A9-37B6BF78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2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65CEB-6E9E-6D15-381F-226A6398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332C8-23D0-D17A-ABC5-58AA22B3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535E4-8D9D-ED2E-511E-09190F853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30C39-D057-4FD0-AE27-0EB06C3776D9}" type="datetimeFigureOut">
              <a:rPr lang="en-IN" smtClean="0"/>
              <a:t>13-12-2022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40942-8EB9-379C-89C7-CBD8E6BBB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D378-FAE8-94C6-EA35-0AF2259BD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9F348-693D-4C12-B924-68DD98041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5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268-7ACD-6EEA-4E21-B045684A5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ET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6966C-C1B1-4183-2E8D-34FADE6C0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AC CIRCUITS BASICS &amp; NETWORK THEOREMS</a:t>
            </a:r>
          </a:p>
        </p:txBody>
      </p:sp>
    </p:spTree>
    <p:extLst>
      <p:ext uri="{BB962C8B-B14F-4D97-AF65-F5344CB8AC3E}">
        <p14:creationId xmlns:p14="http://schemas.microsoft.com/office/powerpoint/2010/main" val="231885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1B179-02FC-BDF1-04EC-64E2B3AB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Find the current </a:t>
            </a:r>
            <a:r>
              <a:rPr lang="en-US" dirty="0" err="1"/>
              <a:t>i</a:t>
            </a:r>
            <a:r>
              <a:rPr lang="en-US" baseline="-25000" dirty="0" err="1"/>
              <a:t>L</a:t>
            </a:r>
            <a:r>
              <a:rPr lang="en-US" dirty="0"/>
              <a:t> in the circuit shown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592104-D00C-1CE0-4B92-9CC1B91DA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557" y="2149408"/>
            <a:ext cx="5408886" cy="31006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/>
              <p:nvPr/>
            </p:nvSpPr>
            <p:spPr>
              <a:xfrm>
                <a:off x="7243281" y="5917915"/>
                <a:ext cx="4017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b="0" i="0" dirty="0" smtClean="0"/>
                      <m:t>222</m:t>
                    </m:r>
                    <m:r>
                      <m:rPr>
                        <m:nor/>
                      </m:rPr>
                      <a:rPr lang="en-IN" sz="2400" b="0" i="0" dirty="0" smtClean="0"/>
                      <m:t>cos</m:t>
                    </m:r>
                    <m:r>
                      <m:rPr>
                        <m:nor/>
                      </m:rPr>
                      <a:rPr lang="en-IN" sz="2400" b="0" i="0" dirty="0" smtClean="0"/>
                      <m:t>(1000</m:t>
                    </m:r>
                    <m:r>
                      <m:rPr>
                        <m:nor/>
                      </m:rPr>
                      <a:rPr lang="en-IN" sz="2400" b="0" i="0" dirty="0" smtClean="0"/>
                      <m:t>t</m:t>
                    </m:r>
                    <m:r>
                      <m:rPr>
                        <m:nor/>
                      </m:rPr>
                      <a:rPr lang="en-IN" sz="2400" b="0" i="0" dirty="0" smtClean="0"/>
                      <m:t>-56.3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°)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𝑚𝐴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3C1AF9-BE47-AF5D-CEC5-1CFAAA76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281" y="5917915"/>
                <a:ext cx="4017195" cy="461665"/>
              </a:xfrm>
              <a:prstGeom prst="rect">
                <a:avLst/>
              </a:prstGeom>
              <a:blipFill>
                <a:blip r:embed="rId3"/>
                <a:stretch>
                  <a:fillRect l="-2276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31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77930F-9146-10A8-8F36-50EE7F76B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2. Determine I</a:t>
            </a:r>
            <a:r>
              <a:rPr lang="en-IN" baseline="-25000" dirty="0"/>
              <a:t>0 </a:t>
            </a:r>
            <a:r>
              <a:rPr lang="en-IN" dirty="0"/>
              <a:t>using mesh analysis</a:t>
            </a:r>
            <a:endParaRPr lang="en-IN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BA090-6461-F3E2-EA03-4BEFFD835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83" y="2015885"/>
            <a:ext cx="7656001" cy="40579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624BF-6F79-D37D-4C7D-FAEBFEB6C4A5}"/>
                  </a:ext>
                </a:extLst>
              </p:cNvPr>
              <p:cNvSpPr txBox="1"/>
              <p:nvPr/>
            </p:nvSpPr>
            <p:spPr>
              <a:xfrm>
                <a:off x="8609744" y="5917915"/>
                <a:ext cx="26507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dirty="0" smtClean="0"/>
                      <m:t>6.12</m:t>
                    </m:r>
                    <m:r>
                      <m:rPr>
                        <m:nor/>
                      </m:rPr>
                      <a:rPr lang="en-IN" sz="2400" b="0" i="0" dirty="0" smtClean="0"/>
                      <m:t> </m:t>
                    </m:r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144.78°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C624BF-6F79-D37D-4C7D-FAEBFEB6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744" y="5917915"/>
                <a:ext cx="2650732" cy="461665"/>
              </a:xfrm>
              <a:prstGeom prst="rect">
                <a:avLst/>
              </a:prstGeom>
              <a:blipFill>
                <a:blip r:embed="rId3"/>
                <a:stretch>
                  <a:fillRect l="-3448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33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1DA6A4-1766-CA05-E12F-53609474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3. Calculate V</a:t>
            </a:r>
            <a:r>
              <a:rPr lang="en-IN" baseline="-25000" dirty="0"/>
              <a:t>x</a:t>
            </a:r>
            <a:r>
              <a:rPr lang="en-IN" dirty="0"/>
              <a:t> in the circuit using source transformation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5C3D9-3113-5594-7C2C-E4F98E071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71" y="1776210"/>
            <a:ext cx="8363626" cy="40077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618CF5-4951-BFC9-25A3-BAF6EF731029}"/>
                  </a:ext>
                </a:extLst>
              </p:cNvPr>
              <p:cNvSpPr txBox="1"/>
              <p:nvPr/>
            </p:nvSpPr>
            <p:spPr>
              <a:xfrm>
                <a:off x="8609744" y="5917915"/>
                <a:ext cx="26507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b="0" i="0" dirty="0" smtClean="0">
                        <a:latin typeface="Cambria Math" panose="02040503050406030204" pitchFamily="18" charset="0"/>
                      </a:rPr>
                      <m:t>5.519 </m:t>
                    </m:r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−28°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618CF5-4951-BFC9-25A3-BAF6EF731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744" y="5917915"/>
                <a:ext cx="2650732" cy="461665"/>
              </a:xfrm>
              <a:prstGeom prst="rect">
                <a:avLst/>
              </a:prstGeom>
              <a:blipFill>
                <a:blip r:embed="rId3"/>
                <a:stretch>
                  <a:fillRect l="-3448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88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35A072-8BBB-BA8C-3130-51BBCA1F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IN" dirty="0"/>
              <a:t>4. Find the time domain node voltages v1(t) and v2(t) in the circuit shown below using nodal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4694D-81D2-9DAA-69DA-CEAD87B91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59" y="2319449"/>
            <a:ext cx="10556341" cy="30046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F38804-A126-73B5-D4EC-68DD0D0ED5F0}"/>
                  </a:ext>
                </a:extLst>
              </p:cNvPr>
              <p:cNvSpPr txBox="1"/>
              <p:nvPr/>
            </p:nvSpPr>
            <p:spPr>
              <a:xfrm>
                <a:off x="6318607" y="5917915"/>
                <a:ext cx="49418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=2.24</m:t>
                    </m:r>
                    <m:func>
                      <m:func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b="0" i="1" dirty="0" smtClean="0">
                                <a:latin typeface="Cambria Math" panose="02040503050406030204" pitchFamily="18" charset="0"/>
                              </a:rPr>
                              <m:t> −63.4°</m:t>
                            </m:r>
                          </m:e>
                        </m:d>
                      </m:e>
                    </m:func>
                  </m:oMath>
                </a14:m>
                <a:endParaRPr lang="en-IN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4.47</m:t>
                      </m:r>
                      <m:func>
                        <m:func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+116.6</m:t>
                              </m:r>
                              <m:r>
                                <a:rPr lang="en-IN" sz="2400" b="0" i="1" dirty="0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F38804-A126-73B5-D4EC-68DD0D0ED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607" y="5917915"/>
                <a:ext cx="4941869" cy="830997"/>
              </a:xfrm>
              <a:prstGeom prst="rect">
                <a:avLst/>
              </a:prstGeom>
              <a:blipFill>
                <a:blip r:embed="rId3"/>
                <a:stretch>
                  <a:fillRect l="-1975" t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4F7981E7-76EE-83CF-B283-34358BBDBA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just"/>
                <a:r>
                  <a:rPr lang="en-IN" dirty="0"/>
                  <a:t>5. Determine the Thevenin equivalent as seen by the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IN" dirty="0"/>
                  <a:t> impedance of the circuit shown below. Compute the voltage V</a:t>
                </a:r>
                <a:r>
                  <a:rPr lang="en-IN" baseline="-25000" dirty="0"/>
                  <a:t>1</a:t>
                </a:r>
                <a:r>
                  <a:rPr lang="en-IN" dirty="0"/>
                  <a:t>.</a:t>
                </a:r>
                <a:endParaRPr lang="en-IN" baseline="-25000" dirty="0"/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4F7981E7-76EE-83CF-B283-34358BBDB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28571" r="-2029" b="-354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ECA52F0-5860-B289-EE50-BFC15ECF7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37" y="2322959"/>
            <a:ext cx="9239725" cy="27052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B9E9FE-8432-9228-D945-AA6C951EFDF2}"/>
                  </a:ext>
                </a:extLst>
              </p:cNvPr>
              <p:cNvSpPr txBox="1"/>
              <p:nvPr/>
            </p:nvSpPr>
            <p:spPr>
              <a:xfrm>
                <a:off x="6411931" y="5403615"/>
                <a:ext cx="49418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Ans:</a:t>
                </a:r>
                <a14:m>
                  <m:oMath xmlns:m="http://schemas.openxmlformats.org/officeDocument/2006/math">
                    <m:r>
                      <a:rPr lang="en-IN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=6−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3 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IN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IN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B9E9FE-8432-9228-D945-AA6C951EF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931" y="5403615"/>
                <a:ext cx="4941869" cy="1200329"/>
              </a:xfrm>
              <a:prstGeom prst="rect">
                <a:avLst/>
              </a:prstGeom>
              <a:blipFill>
                <a:blip r:embed="rId4"/>
                <a:stretch>
                  <a:fillRect l="-1973" t="-4061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783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95D849-E7DA-F009-4F52-D8445104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/>
              <a:t>6. Determine the current in the 10</a:t>
            </a:r>
            <a:r>
              <a:rPr lang="el-GR" dirty="0"/>
              <a:t>Ω</a:t>
            </a:r>
            <a:r>
              <a:rPr lang="en-IN" dirty="0"/>
              <a:t> resistor in the circuit shown below: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C241B-C12A-D41F-CE6E-9FE952E3B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02" y="2413851"/>
            <a:ext cx="8866195" cy="23227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596A59-820C-6B08-CBAA-D53C295ED42D}"/>
              </a:ext>
            </a:extLst>
          </p:cNvPr>
          <p:cNvSpPr txBox="1"/>
          <p:nvPr/>
        </p:nvSpPr>
        <p:spPr>
          <a:xfrm>
            <a:off x="6411931" y="5292546"/>
            <a:ext cx="4941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Ans:</a:t>
            </a:r>
            <a:endParaRPr lang="en-IN" sz="2400" b="0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5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8248-FB23-A7C9-E081-B67C5813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7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1B179-02FC-BDF1-04EC-64E2B3AB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111A7-A2AA-6746-5439-E5399FF8B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639" y="365125"/>
            <a:ext cx="6216721" cy="62167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80D93F-15EE-EEEF-5075-C7F5FF0C7ADC}"/>
              </a:ext>
            </a:extLst>
          </p:cNvPr>
          <p:cNvSpPr/>
          <p:nvPr/>
        </p:nvSpPr>
        <p:spPr>
          <a:xfrm>
            <a:off x="3184989" y="523982"/>
            <a:ext cx="1171254" cy="10274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9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160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ET TUTORIAL</vt:lpstr>
      <vt:lpstr>1. Find the current iL in the circuit shown</vt:lpstr>
      <vt:lpstr>2. Determine I0 using mesh analysis</vt:lpstr>
      <vt:lpstr>3. Calculate Vx in the circuit using source transformation</vt:lpstr>
      <vt:lpstr>4. Find the time domain node voltages v1(t) and v2(t) in the circuit shown below using nodal analysis.</vt:lpstr>
      <vt:lpstr>5. Determine the Thevenin equivalent as seen by the –j10Ω impedance of the circuit shown below. Compute the voltage V1.</vt:lpstr>
      <vt:lpstr>6. Determine the current in the 10Ω resistor in the circuit shown below: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TUTORIAL</dc:title>
  <dc:creator>chandra MVSS</dc:creator>
  <cp:lastModifiedBy>chandra MVSS</cp:lastModifiedBy>
  <cp:revision>7</cp:revision>
  <dcterms:created xsi:type="dcterms:W3CDTF">2022-12-13T08:54:59Z</dcterms:created>
  <dcterms:modified xsi:type="dcterms:W3CDTF">2022-12-13T14:44:01Z</dcterms:modified>
</cp:coreProperties>
</file>