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92" r:id="rId2"/>
    <p:sldId id="291" r:id="rId3"/>
    <p:sldId id="479" r:id="rId4"/>
    <p:sldId id="514" r:id="rId5"/>
    <p:sldId id="515" r:id="rId6"/>
    <p:sldId id="516" r:id="rId7"/>
    <p:sldId id="517" r:id="rId8"/>
    <p:sldId id="481" r:id="rId9"/>
    <p:sldId id="482" r:id="rId10"/>
    <p:sldId id="483" r:id="rId11"/>
    <p:sldId id="518" r:id="rId12"/>
    <p:sldId id="484" r:id="rId13"/>
    <p:sldId id="485" r:id="rId14"/>
    <p:sldId id="486" r:id="rId15"/>
    <p:sldId id="487" r:id="rId16"/>
    <p:sldId id="519" r:id="rId17"/>
    <p:sldId id="489" r:id="rId18"/>
    <p:sldId id="490" r:id="rId19"/>
    <p:sldId id="491" r:id="rId20"/>
    <p:sldId id="49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3" autoAdjust="0"/>
    <p:restoredTop sz="94660"/>
  </p:normalViewPr>
  <p:slideViewPr>
    <p:cSldViewPr>
      <p:cViewPr varScale="1">
        <p:scale>
          <a:sx n="67" d="100"/>
          <a:sy n="67" d="100"/>
        </p:scale>
        <p:origin x="1422" y="48"/>
      </p:cViewPr>
      <p:guideLst>
        <p:guide orient="horz" pos="576"/>
        <p:guide pos="576"/>
      </p:guideLst>
    </p:cSldViewPr>
  </p:slideViewPr>
  <p:notesTextViewPr>
    <p:cViewPr>
      <p:scale>
        <a:sx n="100" d="100"/>
        <a:sy n="100" d="100"/>
      </p:scale>
      <p:origin x="0" y="0"/>
    </p:cViewPr>
  </p:notesTextViewPr>
  <p:notesViewPr>
    <p:cSldViewPr showGuides="1">
      <p:cViewPr varScale="1">
        <p:scale>
          <a:sx n="52" d="100"/>
          <a:sy n="52" d="100"/>
        </p:scale>
        <p:origin x="-289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1F3B94F-5F29-4981-8B40-B0A31128BDC7}" type="datetimeFigureOut">
              <a:rPr lang="en-US" smtClean="0"/>
              <a:pPr/>
              <a:t>2/17/2023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EB7E42D-E44C-4AE4-973A-A45C2CFFC753}" type="slidenum">
              <a:rPr lang="en-US" smtClean="0"/>
              <a:pPr/>
              <a:t>‹#›</a:t>
            </a:fld>
            <a:endParaRPr lang="en-US" dirty="0"/>
          </a:p>
        </p:txBody>
      </p:sp>
    </p:spTree>
    <p:extLst>
      <p:ext uri="{BB962C8B-B14F-4D97-AF65-F5344CB8AC3E}">
        <p14:creationId xmlns:p14="http://schemas.microsoft.com/office/powerpoint/2010/main" val="270436031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9T05:19:10.292"/>
    </inkml:context>
    <inkml:brush xml:id="br0">
      <inkml:brushProperty name="width" value="0.05292" units="cm"/>
      <inkml:brushProperty name="height" value="0.05292" units="cm"/>
      <inkml:brushProperty name="color" value="#FF0000"/>
    </inkml:brush>
  </inkml:definitions>
  <inkml:trace contextRef="#ctx0" brushRef="#br0">12127 2667 189 0,'0'0'197'16,"0"1"-19"-16,0 3-28 0,0-3-31 0,0-1-33 15,0 0-31-15,0 0-19 0,0 0-12 16,0 2-9-16,4-2-3 0,-4 0-2 0,0 0-1 15,0 0 2-15,1 0 0 0,-1 2 2 16,0 1 3-16,0-3 1 0,2 2 2 16,-1 1 0-16,1 0-4 0,0 0-1 0,-2 1-1 15,1 1-5-15,3-2-1 0,-4 1-4 16,2-1 6-16,0 1 0 0,-2 0 1 0,0-4 2 16,4 1 4-16,-2 1 0 0,-2-2 2 15,3 2 0-15,-3 1 2 0,4-1-2 16,-4 0-2-16,1-1 0 0,1 1-2 0,-1 0 0 15,1-2-6-15,0 0 1 0,-1 3-4 16,1-1 1-16,-1 0 2 0,2-2 0 16,-1 0 5-16,2 0 3 0,-2 0 3 0,1 0 4 15,2-2 0-15,-2 0 0 0,0-1-3 16,7-1-2-16,-4-4-3 0,1 3-2 16,0-4-5-16,3 0-3 0,-1-2 0 0,-1 2-1 15,3-4 2-15,-4 4-2 0,1-3 2 16,-2 1 1-16,3 2-4 0,-1 0 3 0,0 0-2 15,-2-1-1-15,2 4 1 0,-3-3-1 16,1 2 0-16,1-1 0 0,-4 3-3 16,4-2 2-16,-3 2 1 0,-1 2 4 0,-1 0-3 15,1 0 4-15,-2 3-1 0,1-1 7 0,-2-1-6 16,0 1-1-16,0 1 0 0,0 0 2 16,0 0-6-16,0 0-2 0,0 0 4 15,0 0-1-15,0 0-1 0,0 0 0 0,2 0 4 16,-2 0-2-16,0 0-2 0,0 0 1 15,0 0 0-15,0 0-2 0,0 0-1 0,0 0-1 16,0 0 0-16,0-2-1 0,0 2-11 16,0 0-14-16,0 0-9 0,0 3-22 15,0-1-68-15,0-2-124 0,0 0-56 0,0 5-22 16,-2 5-7-16,2-2 12 0</inkml:trace>
  <inkml:trace contextRef="#ctx0" brushRef="#br0" timeOffset="18857.3689">20892 3255 29 0,'0'0'20'16,"0"0"-7"-16,0 0-6 0,0 0-6 16,0 0-1-16,0 0 0 0,0 0 0 15,0 0-1-15,0 0-2 0,0 1 2 0,0-1 1 16,0 0 1-16,0 2 2 0,0-2-3 15,0 1 1-15,0 0 0 0,0 2-1 16,0-3 0-16,0 3-1 0,0-2 1 0,3 0 0 16,-1 1 0-16,-1 1 1 0,-1 1 1 15,4 1 0-15,-4-2-2 0,0 3 0 16,3-2 0-16,-2-1 0 0,1 5 0 0,0-2 0 16,-1 0 0-16,0-1 1 0,-1 2 0 15,5 1 2-15,-3-3 0 0,-2 4-1 0,0-1 3 16,1-1-4-16,1-1 2 0,-2 2-2 15,0-1 2-15,5 1 22 0,-4-1 47 0,1 0 31 16,0 1 17-16,-2-1 6 0,0 1 5 16,0-3-20-16,4 0-45 0,0 0-29 15,-4 0-16-15,0-2-10 0,0-2-4 0,1 1-5 16,-1-1 3-16,0 1-4 0,0-1 1 16,1 0 2-16,-1 1-1 0,2 0 1 15,0-2 0-15,1 3 0 0,-2-3-1 0,1 0-2 16,-2 0 1-16,0 0 2 0,0 0 0 15,0 0-4-15,0 0-2 0,0 0-6 0,0 0-25 16,0-3-42-16,0-1-42 0,0 4-38 16,-2-4-38-16,-2 0-17 0</inkml:trace>
  <inkml:trace contextRef="#ctx0" brushRef="#br0" timeOffset="20102.2501">20870 3270 32 0,'0'-7'216'0,"0"3"2"16,0 0-21-16,0-1-34 0,0 1-30 0,0-1-35 16,0 1-26-16,0-2-17 0,0 3-11 15,0 0-5-15,0 0-6 0,0 0-6 16,0 1-2-16,0 1-3 0,0-1-4 0,0 1-4 15,1 1-3-15,0-3-2 0,-1 1-5 16,4-1-4-16,-4 3-1 0,4-5-2 0,-1 3 1 16,3-1 2-16,-3 0 0 0,3-1 0 15,1 1 0-15,0 1 2 0,3-1 2 16,0-2-4-16,-2 3 1 0,2 0-1 0,2-1-1 16,-3-2-3-16,2 2 2 0,-1 3-1 15,0-3-1-15,1 3 2 0,1-3-1 0,-2 2 2 16,5-2 1-16,-4 1 0 0,1 1 0 15,-2-1 0-15,2 2 8 0,-4-3-3 0,1 3-5 16,-3-3 0-16,1 3 0 16,-2-3 0-16,0 3-7 0,0 0 2 0,-2 0 4 15,1 0 0-15,0 0-1 0,1 0 0 0,1 3 2 16,-3-3-1-16,4 3 0 0,-1-3 1 16,1 3 0-16,-2-3 0 0,2 2 0 15,-4-1-2-15,4 1-1 0,-6 1 0 0,6-2 2 16,-4 1 1-16,0-1-4 0,0-1 4 15,-2 3 1-15,-1-3-1 0,0 2 0 0,0-2 2 16,0 1 1-16,0 2 2 0,0-3-1 16,0 2 1-16,0-2-2 0,0 0-2 15,0 0-1-15,0 0 0 0,0 0 0 0,0 0-3 16,0 0 2-16,0 1 1 0,0 1-1 0,0-2-2 16,0 4 0-16,0-3 2 0,0 4-3 15,0-2 4-15,0 1-2 0,0 1 2 16,0 0 0-16,-1-1 0 0,-2 2 0 15,3-1 0-15,-3-2 0 0,1 3-2 0,1-2 2 16,-1 1-3-16,0 1 2 0,-1 0 1 16,3-1 1-16,0 2-1 0,0-2 0 0,0 2 3 15,0-1-1-15,0 3 0 0,0-3 3 16,0 3-1-16,3-2-1 0,-1 2 0 0,0-1-2 16,-1 1 1-16,1-1-2 0,1 1 0 15,-3-4 0-15,3 3 0 0,-2-4 0 16,-1 2 0-16,0 0 0 0,0-1 2 15,0-1-2-15,0-1 0 0,0 0 0 0,0 0 0 16,0-1-2-16,0-2 2 0,0 2 0 16,0 0 0-16,0 1 2 0,0-3-2 0,0 0 5 15,0 0 1-15,0 0 2 0,-1 0 1 0,-2 0 0 16,3 0 2-16,0 0-4 0,-3 0 4 16,1 0-3-16,1 0 0 0,-1 0 1 15,0 0 1-15,-1 0 0 0,2 0-6 0,-3 0 3 16,0 0-1-16,0 0-3 0,-1 0-2 15,0 0 2-15,-2 0 0 0,-2 0-3 16,2 0-1-16,-4 2 1 0,2-1 1 0,-3 1-2 16,0-1 2-16,2 0 1 0,-3 5-1 15,0-4 0-15,-3 0 1 0,2 1 0 0,-3-1 0 16,2 3 0-16,1-2 3 0,0 0-4 16,6-1 2-16,-2-2-3 0,2 1 2 15,4 2-1-15,-1-2-1 0,2 1-1 0,1-2-1 16,0 0 2-16,1 0-4 0,1 0 4 15,0 0-1-15,0 0-4 0,0 0 2 0,1 2-2 16,1-1-1-16,0 1-3 0,-2-1 3 16,3 1 1-16,-2 2 3 0,-1-2 2 0,0 1-1 15,0-2 1-15,0 0 1 0,0 1-1 16,0 0-3-16,0 1 0 0,0-3 1 16,0 0 2-16,0 0 0 0,4 0 2 0,-4 0 3 15,0 0-2-15,0 0 1 0,0 0-3 16,0 0 0-16,0 0-2 0,0 0-2 15,0 0 4-15,0 0 1 0,0 0 0 0,0 0 2 16,0 0 2-16,0 0 3 0,0 0-5 16,0 0 0-16,0 0-3 0,0 0-2 0,0 0 1 15,0 0 0-15,0 0-3 0,0 0 2 16,4 0-4-16,-4 0 2 0,2 0-4 16,0 0 1-16,-1 0-3 0,-1 0 1 0,3 0 0 15,-3 0-1-15,5 0 0 0,-5 0-1 0,0 0-2 16,0 0 0-16,0 0-5 0,0 0-2 15,0 0-1-15,0 0-5 0,0 0-5 16,0 0-20-16,1-5-40 0,-1 2-62 0,0 3-59 16,0 0-36-16,-1-3-18 0,1 3 14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4T10:04:21.760"/>
    </inkml:context>
    <inkml:brush xml:id="br0">
      <inkml:brushProperty name="width" value="0.05292" units="cm"/>
      <inkml:brushProperty name="height" value="0.05292" units="cm"/>
      <inkml:brushProperty name="color" value="#FF0000"/>
    </inkml:brush>
  </inkml:definitions>
  <inkml:trace contextRef="#ctx0" brushRef="#br0">18311 8853 202 0,'-4'-6'295'0,"0"-1"18"15,2-2-23-15,4 6-100 0,2-6-56 0,1 5-36 16,2-3-16-16,1 2-13 0,2 1-6 16,0-1-6-16,1 1-9 0,0 1-6 15,2 1-10-15,-3 2-3 0,5 2-8 0,-4-1-2 16,0 2-2-16,0 3-4 0,1 0-3 0,-5 5 3 15,0-1 0-15,-3 4 5 0,0 1 1 16,-1 3 2-16,0-3 1 0,-1 5-6 16,3-3 1-16,-3 1-2 0,1-3-1 0,1-2 6 15,0-1 6-15,1 0 16 0,2-3 9 16,3-3 9-16,1-6 2 0,3 0 0 16,1-6-8-16,9-3-12 0,1-10-12 0,2 1-11 15,2-7-5-15,-1-3-5 0,7-1-3 16,-2-1-3-16,-2-3-3 0,3 2 1 0,-3-3-2 15,-1 4 0-15,-1 2-2 0,-5 1 1 16,-4 6 1-16,-3 3-2 0,-4 2-2 0,-2 6-1 16,-3 4-1-16,-5 0-1 0,2 3 2 15,-5 3 2-15,-2 3-1 0,-1 4 5 16,-2 0 0-16,-1 1 0 0,0 4 0 0,0-5 2 16,1 3 2-16,-2-2-2 0,2-1 3 15,1-1-3-15,3-1 2 0,-4-1-3 16,3-1-6-16,2-2-10 0,0 3-10 0,0-3-17 15,0 1-23-15,0 0-21 0,2-2-24 16,3 3-26-16,-2-1-28 0,-3-2-109 0,7 3-75 16,0-1-28-16,-2-2 1 0,4 2 19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9T06:26:30.074"/>
    </inkml:context>
    <inkml:brush xml:id="br0">
      <inkml:brushProperty name="width" value="0.05292" units="cm"/>
      <inkml:brushProperty name="height" value="0.05292" units="cm"/>
      <inkml:brushProperty name="color" value="#FF0000"/>
    </inkml:brush>
  </inkml:definitions>
  <inkml:trace contextRef="#ctx0" brushRef="#br0">6205 11925 109 0,'0'-3'221'16,"-2"2"-11"-16,0-2-30 0,-1 3-36 0,3 0-35 15,0 0-38-15,-3 0-29 0,3 0-17 16,0 0-7-16,-3 0-7 0,3 0-5 15,-1 0 2-15,1 0 1 0,0 0-2 0,0 0 5 16,0 0 0-16,0 0 2 0,0 0-1 16,0 0-3-16,0 0 5 0,0 0 0 15,0 0 2-15,1 0 1 0,2 0-1 0,-3 0 4 16,0 0 4-16,0 0 1 0,0 0-1 16,0 0-3-16,0 0 1 0,0 0-9 0,0 0-1 15,0 0-5-15,0 0-2 0,0 0-1 16,0 0-3-16,0 0 5 0,0 0-5 15,0 0-1-15,0 0 0 0,3 0 1 0,-3 0 3 16,0-2 3-16,0 0 0 0,3 2-1 16,-3-1 3-16,4 1 1 15,-4-4-8-15,0 4 1 0,3-1-1 0,-2 1 3 16,-1-2-2-16,5 1-3 0,-2 0-1 0,-1-2 2 16,4 3-4-16,-1-3 1 0,-2 3 0 15,3-3-2-15,1 3 3 0,2-4-3 16,-4 4 2-16,4-1-2 0,-1 0 3 0,3-1 0 15,-4-1 0-15,3 2 0 0,-1-1 0 16,2 1 0-16,-5 1 0 0,7-3 0 16,-2 3 0-16,-1-2 1 0,0 0 2 0,3 0-3 15,-3 0 0-15,0 0 0 0,3-2-4 16,-2 3 3-16,0-1-1 0,0-3 2 0,3 5-2 16,-4-4-2-16,1 3 4 0,0-1-4 15,0 1 3-15,-1 0-2 0,2-2 2 16,-1 3 1-16,-1-3 1 0,-1 2 2 0,2 0-3 15,-1 1 0-15,2 0 0 0,0-2 1 16,0 0-1-16,1 1-1 0,0 1 1 0,-1 0-1 16,4-2-1-16,3 2 1 0,-3 0 1 15,3-2 0-15,-2-1 1 0,2 3 1 0,2 0-2 16,-1 0-2-16,-2 0-7 0,5-3-7 16,-2 3-4-16,-1 0 1 0,3 0-2 15,-1 0 3-15,0 0 8 0,-3 0 8 0,1 0 3 16,-2 0-1-16,1 0-1 0,-2 0-2 15,-1 0 2-15,1 0-1 0,-1 0 2 0,1 0 1 16,-2-2 1-16,5 1 4 0,-1-1-3 16,-1 2 1-16,0-3-1 0,0 2-1 0,-1-1 0 15,-1 1 2-15,2-1 0 0,-1 2-2 16,-3-3 1-16,2 3 3 0,-2-1-2 16,-1-2-1-16,0 1 1 0,-1 0 3 0,1 1-3 15,-2 0-3-15,-1-1 3 0,3 1 1 16,-2-1-1-16,4 2 1 0,-4-3 0 0,6 2 0 15,0-1-2-15,1 2-1 0,3-2-2 16,-1-1 3-16,5 3-2 0,-1-2-1 16,3 0 0-16,-3-1 1 0,4 1-1 0,-1-1-1 15,2-1 1-15,-1-1 0 0,-1 4 1 16,-3-3 1-16,6-2 1 0,-1 0-3 16,-2 1 4-16,2-2-2 0,-4-1 0 0,4 1-2 15,-1-3 2-15,1 2 3 0,-1-1-3 16,2 0 2-16,0 0-1 0,2-2 2 0,-1 4-4 15,1-4-1-15,0 3 0 0,5-2 0 16,-4 1-1-16,-2 0-1 0,3 2 0 0,0-1 1 16,-4 2 1-16,-2 0-3 0,0 0 1 15,-2 2-1-15,-2-1 3 0,-4 2 1 16,2 1-1-16,-7-1 2 0,5 3-2 0,-4-4-2 16,1 4 1-16,-4 0 0 0,1 0-2 15,-1-3 3-15,-1 3 0 0,1-2 0 0,-3 2-2 16,0-3 2-16,2 3 0 0,-3-5 9 15,1 2-3-15,-2 1 9 0,0-1 5 16,-2-1 3-16,2 1 1 0,-2 3-9 0,0-2 6 16,-2 1-10-16,0-1-7 0,2 1 2 15,-1-1-5-15,-2 1 2 0,2-1-3 0,-2 1 2 16,1-1 1-16,-1 2-5 0,-1-1 1 16,-2 1 1-16,5 0 1 0,-5 0-2 15,2 0-1-15,-2 0 2 0,0 0 2 0,0 0-2 16,0 0 3-16,0 0 0 0,0 0 3 15,0 0 3-15,0 0 2 0,-2 0 3 0,2 0-2 16,0 0 0-16,-5 0 2 0,5 0-4 16,0 0-3-16,-2 0-3 0,0 0 1 15,-1 0-2-15,0 0-1 0,0 1-4 0,-1 1-1 16,-2-1-15-16,-1 1-14 0,2 1-11 0,0 0-17 16,2 0-22-16,-4 3-141 0,-2-5-57 15,3 2-28-15,-6-1-7 0,3-1 3 0</inkml:trace>
  <inkml:trace contextRef="#ctx0" brushRef="#br0" timeOffset="6963.4159">2691 10648 109 0,'0'2'191'0,"0"-2"-9"0,0 0-20 0,0 0-30 16,0 0-37-16,-2 0-36 0,1 0-22 15,1 0-15-15,-2 0-11 0,2 0-4 0,-2-2-3 16,2 1-4-16,0-1 0 0,0 0 0 16,0-3-2-16,0 2-11 0,0-6-16 15,-3 1-52-15,2-5-78 0,-3-1-42 0,-3-2-17 16,-1-4-5-16</inkml:trace>
  <inkml:trace contextRef="#ctx0" brushRef="#br0" timeOffset="7604.2105">2579 10348 63 0,'-2'4'207'15,"-1"-4"-2"-15,-2 0-20 0,4 0-20 0,-3 0-36 16,-2-4-36-16,4 3-29 0,-4-1-13 16,3 0-10-16,0-1-8 0,1 1-5 0,-1-3-2 15,0 3-3-15,3 1-2 0,-2-1-5 16,1 2-5-16,-2 0-2 0,3 0-5 15,0 0-2-15,0 0-4 0,0 0-1 0,0 2 1 16,0-1 0-16,3 3 3 0,-2 1 0 16,1-2-1-16,1 1 0 0,0 4 2 15,-1-3-1-15,3 3-2 0,1-1 0 16,-3 2 0-16,7 1 1 0,-2-1-2 0,-1 3 0 16,0 0 2-16,2-4 0 0,-2 1 0 0,2 0 0 15,-3 2 0-15,-1-6 2 0,-1 4-2 16,3-4 0-16,-1 2-1 0,-1-2 0 0,-2-2-3 15,2 1 2-15,-2-3 1 0,-1 1 4 16,-2-2 3-16,3 0 1 0,-1 0 4 16,1 0 0-16,1-2 1 0,-1-3-3 0,2 4-2 15,5-3-1-15,-4-4-2 16,5 1 0-16,-1-4-3 0,1-1 3 0,3-2-1 16,0-2-1-16,0-1-1 0,-1-2 2 0,1-1-1 15,-1-1-2-15,1 1 0 0,-4 1 0 16,1 1 0-16,1 0 1 0,-4 1-1 0,2 0 2 15,-2 2 1-15,-1 1 1 0,0-1 2 16,-1 1 1-16,1 2 0 0,-1 1-4 0,-1-1 1 16,2 1 1-16,0-4 0 0,1 3-3 15,0 0 1-15,1 0 4 0,-2-1-2 16,2 2 3-16,-4-1-3 0,1 2 2 0,2-2-1 16,-2 4 0-16,-1-1 1 0,-1 0 0 15,0 5 1-15,-1-1-2 0,-3-1 2 0,0 3-1 16,0 2 3-16,0 1-5 0,0-3 1 15,0 3 0-15,0 0-5 0,0 3 0 16,-2-3-3-16,1 4 2 0,-2-2-2 0,2 4-2 16,-2-3-2-16,3 1-2 0,0 4-6 15,3-2-8-15,-2-1-10 0,5 2-16 16,-2-2-47-16,2-3-112 0,-6-2-57 0,0 0-24 16,0 0-7-16,0 0 8 0</inkml:trace>
  <inkml:trace contextRef="#ctx0" brushRef="#br0" timeOffset="10605.5473">4221 8749 195 0,'1'-3'204'0,"1"3"-32"0,-1-5-51 15,1 3-49-15,0-3-35 0,1-1-17 0,-3 3-11 16,3-1-7-16,-1-1-2 0,1 1-1 16,-1-1-1-16,-1 3-1 0,1-3 3 0,1 3 0 15,-1-1 2-15,2 1-2 0,-1-3 0 16,0 2 2-16,-3-1-1 0,2 1-1 0,0-4 1 16,-1 2 2-16,-1 0-2 0,0 2 0 15,0-2 7-15,0 1 7 0,-1 1 6 16,-1 0 2-16,0 0 3 0,-1 0 1 0,-2-2-7 15,-2 3-6-15,4 0-2 0,-2 2-5 16,0-3-1-16,2 3-1 0,-2-2 1 16,2 1 1-16,0 1-4 0,0 0 4 15,1 0-1-15,1 0-3 0,-1 0-2 0,-1 0 0 16,3 0 1-16,0 0-2 0,0 0 0 16,3 0 2-16,-1 0 0 0,1 0 0 0,0 0-1 15,1 1-1-15,3-1 3 0,-1 2 0 16,2-2-2-16,3 0-1 0,-3 3 4 0,0-3-2 15,2 0-2-15,2 0 0 0,-2 0 0 16,0 2 1-16,3-2-3 0,-2 0 1 16,5 1-1-16,-3-1 0 0,0 0 2 0,2 1 0 15,-1 2 0-15,2-1 0 0,-1-1-1 16,2 1 1-16,0-1-3 0,1 1 2 0,0-2-1 16,1 0 2-16,1 0 0 0,0 0-1 15,2-2 1-15,-1 1-2 0,1-1-1 16,0-1-1-16,-3-1 0 0,3 1 1 0,0 0-4 15,0 0 3-15,-2-4 3 0,3 2 1 16,-1-2-1-16,-1 0 1 0,-1 0 1 0,-1-1-1 16,0-1-2-16,3-1 12 0,-3 4 8 15,-4-3 5-15,5 2 4 16,-1-2 6-16,0 4 0 0,0-2-13 0,0 3-8 16,1 0-4-16,-1-1-2 0,-1 2-1 0,6 1-3 15,-3 0 1-15,0-3 0 0,3 2 0 0,-2 0 1 16,5 0-1-16,0 1 1 0,-1-1 0 15,0-2 5-15,1 3-2 0,-3-1-1 0,4-2 1 16,-3 3-3-16,2 0-1 16,-2 1-5-16,-2-1 2 0,-3 2-2 0,2 0-1 15,-3 2 3-15,0-1 0 0,1 1 0 0,-2 0 0 16,1 1 1-16,-3-1-1 0,4-2 0 16,-1 3 3-16,2-3-2 0,0 0-1 0,2-3 2 15,-2 1 0-15,5-1 0 0,-2-2 0 16,5-2 0-16,-4 2 4 0,3-4-5 15,-1 3 4-15,-3-3-2 0,3 3 2 16,-2-4-4-16,2 5-1 0,0-3 1 0,-2 1-1 16,2 1-1-16,0 0 1 0,0-1 0 15,2 4-2-15,-3 1-2 0,1-1 8 16,0 3-3-16,-3-3-1 0,1 3 0 0,-1 0 1 16,1 3 1-16,-4-3-5 0,0 3 1 15,2-2 1-15,-2 0 1 0,0-1-2 0,-2 0-1 16,2 0 1-16,-2 0-1 0,0 0 3 15,3 0-1-15,-2 0-2 0,0 3 0 16,3-3 2-16,-5 0 0 0,1 0-5 16,1 4 4-16,1-4 1 0,-2 1 1 15,0 1 0-15,-1 0-1 0,-4-2 1 0,6 0-3 16,-3 0 1-16,1 0-12 0,-3 0-7 0,3 0-2 16,-2 0-2-16,0 0 0 0,2 0 3 0,-2 0 11 15,3 0 6-15,-3 0 2 0,1 0 4 16,-1 0 2-16,1 0-1 0,0 0 0 15,-2 0 0-15,2 0 4 0,-2 0-3 0,0 0-1 16,0 0 0-16,-1 0 1 0,0 0-1 16,1 0 0-16,-1 0 0 0,0 3 1 15,3-2-1-15,-2-1 1 0,0 3 0 16,0 0-1-16,1-1 0 0,2 1-1 0,-2-1 1 16,3 1 1-16,0 2-2 0,-1-3-1 0,3 0 1 15,0 1 3-15,-3 2 1 0,3-4-3 16,-2 1 0-16,2-1 1 0,1-1 0 0,-1 0-1 15,1 0-1-15,0 0 2 0,-3-1-3 16,3-1 1-16,0 1 1 0,-2 1 0 16,3 0 0-16,-1 0 0 0,2 0 0 0,-3 0-2 15,4 1 2-15,0-1-1 0,0 0 1 16,1 0 0-16,2-1-2 0,-1-2 1 0,3-1 1 16,-3 2 0-16,3-1-2 15,0 0-2-15,0 0 2 0,0 1 0 0,0-3-2 16,-1 5 1-16,-1-2 1 0,-1 2-2 0,-2 2 0 15,3 1-1-15,-5 1 2 0,5 2-2 16,-4-2-1-16,3 5 2 0,-2-3 1 0,1 5-3 16,3-3 0-16,-2 2 3 0,3-1-1 15,-2 1 0-15,4-2-3 0,-2 2 4 16,0-1-5-16,2 0 3 0,-2 0-3 0,1 0 3 16,-1 0 6-16,0 1 5 0,-1 0 6 15,-1-5-1-15,-4 5 2 0,2-4 1 0,-3 3-5 16,-1-2-4-16,-1 1-5 0,-1 0 3 15,-4-1-4-15,0 2 1 0,-2-3-1 16,-3 3-2-16,2-3-1 0,-2 0-1 0,0 0 3 16,0 0 0-16,-1-1 3 0,2 2 0 15,2 1 0-15,1-6 4 0,0 3 0 0,3 0-3 16,-1-3 0-16,5-2 3 0,-2 0 0 16,2 0 0-16,1-2-3 0,1-5 0 15,-2 2-1-15,5 2 1 0,0-4-2 0,0 1 2 16,1 0 0-16,1 0 2 0,1-1-2 15,-2 2-3-15,2-1 3 0,0 1-2 16,0 0 0-16,2 3-1 0,-2-1 0 0,1 1 0 16,-1-1-1-16,0 3 2 0,2 0 1 15,-4 3 0-15,2-1-3 0,0 0 0 0,-2 1 0 16,1 0-3-16,1-3 2 0,-2 2 0 16,0-1 1-16,-1 0 2 0,1-1-2 0,1 0 5 15,1-1-3-15,-2 0 2 0,2-1 3 16,-3-1-2-16,0-2-2 0,1 0 4 0,1 0 0 15,-3 1-4-15,-1-1 0 0,0 2 1 16,-2-1-1-16,-1 4-3 0,1-3-1 16,-1 3 1-16,0 0-4 0,-2 3 0 0,0-3 1 15,0 2 2-15,0 1 0 0,-2 1-2 16,4-1 3-16,-3 1 1 0,-1-1-2 0,5-1 0 16,-4 1 0-16,-1 1 0 0,2-1-3 15,2-3-5-15,-4 3-6 0,0-3-2 0,0 2 0 16,-3-2-4-16,-2 0 5 0,1 0 11 15,-1 0 2-15,-4 0 3 0,4 0 0 16,-5 1 5-16,0 0-3 0,0-1-4 0,-2 0 2 16,-1 0 2-16,2 3-1 0,-6-3-1 15,2 0 0-15,-1 2 4 0,0-2 2 16,-1 1 2-16,1-1 3 0,-2 0 5 0,0 0 4 16,0 0 1-16,0 0-1 0,0 0-1 15,0 0-1-15,0 0-2 0,0 0-3 0,0 0-5 16,0 0-2-16,0 0-1 0,2 0-1 15,-2 0-3-15,0 0-1 0,0 0 1 16,0 0-1-16,0 0-1 0,0 0 0 0,0 0-3 16,0 0 1-16,0 0-5 0,0 0 0 15,0 2-9-15,2-1-13 0,-2 1-18 0,3-1-40 16,-3-1-108-16,0 0-55 0,0 0-24 16,-5-3-3-16,-4-1 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5A90B5-7DF2-4A1A-873D-634730921C98}" type="datetimeFigureOut">
              <a:rPr lang="en-US" smtClean="0"/>
              <a:pPr/>
              <a:t>2/17/2023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FC5872-8AA6-42FC-B5CF-C8FCD4DF3A31}" type="slidenum">
              <a:rPr lang="en-US" smtClean="0"/>
              <a:pPr/>
              <a:t>‹#›</a:t>
            </a:fld>
            <a:endParaRPr lang="en-US" dirty="0"/>
          </a:p>
        </p:txBody>
      </p:sp>
    </p:spTree>
    <p:extLst>
      <p:ext uri="{BB962C8B-B14F-4D97-AF65-F5344CB8AC3E}">
        <p14:creationId xmlns:p14="http://schemas.microsoft.com/office/powerpoint/2010/main" val="1743955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4FC5872-8AA6-42FC-B5CF-C8FCD4DF3A31}" type="slidenum">
              <a:rPr lang="en-US" smtClean="0"/>
              <a:pPr/>
              <a:t>12</a:t>
            </a:fld>
            <a:endParaRPr lang="en-US" dirty="0"/>
          </a:p>
        </p:txBody>
      </p:sp>
    </p:spTree>
    <p:extLst>
      <p:ext uri="{BB962C8B-B14F-4D97-AF65-F5344CB8AC3E}">
        <p14:creationId xmlns:p14="http://schemas.microsoft.com/office/powerpoint/2010/main" val="1540854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21"/>
          <p:cNvSpPr txBox="1">
            <a:spLocks/>
          </p:cNvSpPr>
          <p:nvPr userDrawn="1"/>
        </p:nvSpPr>
        <p:spPr>
          <a:xfrm>
            <a:off x="0" y="6565380"/>
            <a:ext cx="685800" cy="29262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fld id="{83AF55C9-8D46-411D-9295-23F0A748FD91}" type="slidenum">
              <a:rPr kumimoji="0" lang="en-US"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r>
              <a:rPr lang="en-US" dirty="0" smtClean="0">
                <a:solidFill>
                  <a:schemeClr val="tx1"/>
                </a:solidFill>
              </a:rPr>
              <a:t> </a:t>
            </a:r>
            <a:r>
              <a:rPr kumimoji="0" lang="en-US"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1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85800"/>
            <a:ext cx="8153400" cy="1569660"/>
          </a:xfrm>
          <a:prstGeom prst="rect">
            <a:avLst/>
          </a:prstGeom>
          <a:noFill/>
        </p:spPr>
        <p:txBody>
          <a:bodyPr wrap="square" rtlCol="0">
            <a:spAutoFit/>
          </a:bodyPr>
          <a:lstStyle/>
          <a:p>
            <a:pPr algn="ctr">
              <a:buClr>
                <a:schemeClr val="accent6">
                  <a:lumMod val="50000"/>
                </a:schemeClr>
              </a:buClr>
              <a:tabLst>
                <a:tab pos="465138" algn="l"/>
              </a:tabLst>
            </a:pPr>
            <a:r>
              <a:rPr lang="en-US" sz="4800" b="1" dirty="0" smtClean="0"/>
              <a:t>Armature Reaction And Commutation</a:t>
            </a:r>
          </a:p>
        </p:txBody>
      </p:sp>
      <p:pic>
        <p:nvPicPr>
          <p:cNvPr id="3" name="Picture 2"/>
          <p:cNvPicPr>
            <a:picLocks noChangeAspect="1"/>
          </p:cNvPicPr>
          <p:nvPr/>
        </p:nvPicPr>
        <p:blipFill>
          <a:blip r:embed="rId2"/>
          <a:stretch>
            <a:fillRect/>
          </a:stretch>
        </p:blipFill>
        <p:spPr>
          <a:xfrm>
            <a:off x="1905000" y="2590800"/>
            <a:ext cx="5381625" cy="37338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14400" y="7745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Armature Reaction and Communication</a:t>
            </a:r>
          </a:p>
        </p:txBody>
      </p:sp>
      <p:sp>
        <p:nvSpPr>
          <p:cNvPr id="2" name="TextBox 1"/>
          <p:cNvSpPr txBox="1"/>
          <p:nvPr/>
        </p:nvSpPr>
        <p:spPr>
          <a:xfrm>
            <a:off x="899410" y="820710"/>
            <a:ext cx="7558790" cy="5098832"/>
          </a:xfrm>
          <a:prstGeom prst="rect">
            <a:avLst/>
          </a:prstGeom>
          <a:noFill/>
        </p:spPr>
        <p:txBody>
          <a:bodyPr wrap="square" rtlCol="0">
            <a:spAutoFit/>
          </a:bodyPr>
          <a:lstStyle/>
          <a:p>
            <a:pPr algn="just">
              <a:spcBef>
                <a:spcPts val="1000"/>
              </a:spcBef>
              <a:buClr>
                <a:schemeClr val="accent6">
                  <a:lumMod val="50000"/>
                </a:schemeClr>
              </a:buClr>
              <a:buFont typeface="Wingdings" pitchFamily="2" charset="2"/>
              <a:buChar char="v"/>
              <a:tabLst>
                <a:tab pos="465138" algn="l"/>
              </a:tabLst>
            </a:pPr>
            <a:r>
              <a:rPr lang="en-US" sz="2200" b="1" dirty="0" smtClean="0"/>
              <a:t>  	Armature Reaction</a:t>
            </a:r>
          </a:p>
          <a:p>
            <a:pPr algn="just">
              <a:spcBef>
                <a:spcPts val="1000"/>
              </a:spcBef>
              <a:buClr>
                <a:schemeClr val="accent6">
                  <a:lumMod val="50000"/>
                </a:schemeClr>
              </a:buClr>
              <a:buFont typeface="Wingdings" pitchFamily="2" charset="2"/>
              <a:buChar char="v"/>
              <a:tabLst>
                <a:tab pos="465138" algn="l"/>
              </a:tabLst>
            </a:pPr>
            <a:r>
              <a:rPr lang="en-US" sz="2200" b="1" dirty="0" smtClean="0"/>
              <a:t> 	Demagnetising and Crossmagnetising Conductors</a:t>
            </a:r>
          </a:p>
          <a:p>
            <a:pPr algn="just">
              <a:spcBef>
                <a:spcPts val="1000"/>
              </a:spcBef>
              <a:buClr>
                <a:schemeClr val="accent6">
                  <a:lumMod val="50000"/>
                </a:schemeClr>
              </a:buClr>
              <a:buFont typeface="Wingdings" pitchFamily="2" charset="2"/>
              <a:buChar char="v"/>
              <a:tabLst>
                <a:tab pos="465138" algn="l"/>
              </a:tabLst>
            </a:pPr>
            <a:r>
              <a:rPr lang="en-US" sz="2200" b="1" dirty="0" smtClean="0"/>
              <a:t> 	Demagnetising AT per Pole</a:t>
            </a:r>
          </a:p>
          <a:p>
            <a:pPr algn="just">
              <a:spcBef>
                <a:spcPts val="1000"/>
              </a:spcBef>
              <a:buClr>
                <a:schemeClr val="accent6">
                  <a:lumMod val="50000"/>
                </a:schemeClr>
              </a:buClr>
              <a:buFont typeface="Wingdings" pitchFamily="2" charset="2"/>
              <a:buChar char="v"/>
              <a:tabLst>
                <a:tab pos="465138" algn="l"/>
              </a:tabLst>
            </a:pPr>
            <a:r>
              <a:rPr lang="en-US" sz="2200" b="1" dirty="0" smtClean="0"/>
              <a:t> 	Cross – magnetising AT per pole</a:t>
            </a:r>
          </a:p>
          <a:p>
            <a:pPr algn="just">
              <a:spcBef>
                <a:spcPts val="1000"/>
              </a:spcBef>
              <a:buClr>
                <a:schemeClr val="accent6">
                  <a:lumMod val="50000"/>
                </a:schemeClr>
              </a:buClr>
              <a:buFont typeface="Wingdings" pitchFamily="2" charset="2"/>
              <a:buChar char="v"/>
              <a:tabLst>
                <a:tab pos="465138" algn="l"/>
              </a:tabLst>
            </a:pPr>
            <a:r>
              <a:rPr lang="en-US" sz="2200" b="1" dirty="0" smtClean="0"/>
              <a:t> 	Compensating Windings</a:t>
            </a:r>
          </a:p>
          <a:p>
            <a:pPr algn="just">
              <a:spcBef>
                <a:spcPts val="1000"/>
              </a:spcBef>
              <a:buClr>
                <a:schemeClr val="accent6">
                  <a:lumMod val="50000"/>
                </a:schemeClr>
              </a:buClr>
              <a:buFont typeface="Wingdings" pitchFamily="2" charset="2"/>
              <a:buChar char="v"/>
              <a:tabLst>
                <a:tab pos="465138" algn="l"/>
              </a:tabLst>
            </a:pPr>
            <a:r>
              <a:rPr lang="en-US" sz="2200" b="1" dirty="0" smtClean="0"/>
              <a:t> 	No. of Compensating Windings</a:t>
            </a:r>
          </a:p>
          <a:p>
            <a:pPr algn="just">
              <a:spcBef>
                <a:spcPts val="1000"/>
              </a:spcBef>
              <a:buClr>
                <a:schemeClr val="accent6">
                  <a:lumMod val="50000"/>
                </a:schemeClr>
              </a:buClr>
              <a:buFont typeface="Wingdings" pitchFamily="2" charset="2"/>
              <a:buChar char="v"/>
              <a:tabLst>
                <a:tab pos="465138" algn="l"/>
              </a:tabLst>
            </a:pPr>
            <a:r>
              <a:rPr lang="en-US" sz="2200" b="1" dirty="0" smtClean="0"/>
              <a:t> 	Commutation</a:t>
            </a:r>
          </a:p>
          <a:p>
            <a:pPr algn="just">
              <a:spcBef>
                <a:spcPts val="1000"/>
              </a:spcBef>
              <a:buClr>
                <a:schemeClr val="accent6">
                  <a:lumMod val="50000"/>
                </a:schemeClr>
              </a:buClr>
              <a:buFont typeface="Wingdings" pitchFamily="2" charset="2"/>
              <a:buChar char="v"/>
              <a:tabLst>
                <a:tab pos="465138" algn="l"/>
              </a:tabLst>
            </a:pPr>
            <a:r>
              <a:rPr lang="en-US" sz="2200" b="1" dirty="0" smtClean="0"/>
              <a:t> 	Methods of Improving Commutation</a:t>
            </a:r>
          </a:p>
          <a:p>
            <a:pPr algn="just">
              <a:spcBef>
                <a:spcPts val="1000"/>
              </a:spcBef>
              <a:buClr>
                <a:schemeClr val="accent6">
                  <a:lumMod val="50000"/>
                </a:schemeClr>
              </a:buClr>
              <a:buFont typeface="Wingdings" pitchFamily="2" charset="2"/>
              <a:buChar char="v"/>
              <a:tabLst>
                <a:tab pos="465138" algn="l"/>
              </a:tabLst>
            </a:pPr>
            <a:r>
              <a:rPr lang="en-US" sz="2200" b="1" dirty="0" smtClean="0"/>
              <a:t> 	Resistance Commutation</a:t>
            </a:r>
          </a:p>
          <a:p>
            <a:pPr algn="just">
              <a:spcBef>
                <a:spcPts val="1000"/>
              </a:spcBef>
              <a:buClr>
                <a:schemeClr val="accent6">
                  <a:lumMod val="50000"/>
                </a:schemeClr>
              </a:buClr>
              <a:buFont typeface="Wingdings" pitchFamily="2" charset="2"/>
              <a:buChar char="v"/>
              <a:tabLst>
                <a:tab pos="465138" algn="l"/>
              </a:tabLst>
            </a:pPr>
            <a:r>
              <a:rPr lang="en-US" sz="2200" b="1" dirty="0" smtClean="0"/>
              <a:t> 	E.M.F. Commutation</a:t>
            </a:r>
          </a:p>
          <a:p>
            <a:pPr algn="just">
              <a:spcBef>
                <a:spcPts val="1000"/>
              </a:spcBef>
              <a:buClr>
                <a:schemeClr val="accent6">
                  <a:lumMod val="50000"/>
                </a:schemeClr>
              </a:buClr>
              <a:buFont typeface="Wingdings" pitchFamily="2" charset="2"/>
              <a:buChar char="v"/>
              <a:tabLst>
                <a:tab pos="465138" algn="l"/>
              </a:tabLst>
            </a:pPr>
            <a:r>
              <a:rPr lang="en-US" sz="2200" b="1" dirty="0" smtClean="0"/>
              <a:t> 	Interpoles or </a:t>
            </a:r>
            <a:r>
              <a:rPr lang="en-US" sz="2200" b="1" dirty="0" err="1" smtClean="0"/>
              <a:t>Compoles</a:t>
            </a:r>
            <a:endParaRPr lang="en-US" sz="2200" b="1" dirty="0" smtClean="0"/>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72060"/>
            <a:ext cx="7482590" cy="4315027"/>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By armature reaction is meant the effect of magnetic field set up by armature current on the distribution of flux under main poles of a generator. The armature magnetic field has two effects :</a:t>
            </a:r>
          </a:p>
          <a:p>
            <a:pPr algn="just">
              <a:lnSpc>
                <a:spcPct val="200000"/>
              </a:lnSpc>
              <a:buClr>
                <a:schemeClr val="accent6">
                  <a:lumMod val="50000"/>
                </a:schemeClr>
              </a:buClr>
              <a:buFont typeface="Wingdings" pitchFamily="2" charset="2"/>
              <a:buChar char="v"/>
              <a:tabLst>
                <a:tab pos="465138" algn="l"/>
              </a:tabLst>
            </a:pPr>
            <a:r>
              <a:rPr lang="en-US" sz="2000" b="1" i="1" dirty="0" smtClean="0"/>
              <a:t> 	It demagnetises or weakens the main flux and</a:t>
            </a:r>
          </a:p>
          <a:p>
            <a:pPr algn="just">
              <a:lnSpc>
                <a:spcPct val="200000"/>
              </a:lnSpc>
              <a:buClr>
                <a:schemeClr val="accent6">
                  <a:lumMod val="50000"/>
                </a:schemeClr>
              </a:buClr>
              <a:buFont typeface="Wingdings" pitchFamily="2" charset="2"/>
              <a:buChar char="v"/>
              <a:tabLst>
                <a:tab pos="465138" algn="l"/>
              </a:tabLst>
            </a:pPr>
            <a:r>
              <a:rPr lang="en-US" sz="2000" b="1" i="1" dirty="0" smtClean="0"/>
              <a:t> 	It cross – magnetises or distorts it.</a:t>
            </a:r>
          </a:p>
          <a:p>
            <a:pPr algn="just">
              <a:lnSpc>
                <a:spcPct val="200000"/>
              </a:lnSpc>
              <a:buClr>
                <a:schemeClr val="accent6">
                  <a:lumMod val="50000"/>
                </a:schemeClr>
              </a:buClr>
              <a:tabLst>
                <a:tab pos="465138" algn="l"/>
              </a:tabLst>
            </a:pPr>
            <a:r>
              <a:rPr lang="en-US" sz="2000" dirty="0" smtClean="0"/>
              <a:t>The first effect leads to reduced generated voltage and the second to the sparking at the brushes.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Reaction</a:t>
            </a:r>
            <a:endParaRPr lang="en-US" sz="2800" b="1" dirty="0">
              <a:solidFill>
                <a:schemeClr val="bg1"/>
              </a:solidFill>
              <a:latin typeface="Arial" pitchFamily="34" charset="0"/>
              <a:cs typeface="Arial" pitchFamily="34" charset="0"/>
            </a:endParaRPr>
          </a:p>
        </p:txBody>
      </p:sp>
      <p:sp>
        <p:nvSpPr>
          <p:cNvPr id="8" name="TextBox 7"/>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4374192"/>
            <a:ext cx="8686800" cy="1938992"/>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IN" sz="2000" dirty="0"/>
              <a:t>Magnetic neutral axis may be defined as the axis along which no </a:t>
            </a:r>
            <a:r>
              <a:rPr lang="en-IN" sz="2000" dirty="0" err="1"/>
              <a:t>e.m.f</a:t>
            </a:r>
            <a:r>
              <a:rPr lang="en-IN" sz="2000" dirty="0"/>
              <a:t>. is produced in the </a:t>
            </a:r>
            <a:r>
              <a:rPr lang="en-IN" sz="2000" dirty="0" smtClean="0"/>
              <a:t>armature conductors </a:t>
            </a:r>
            <a:r>
              <a:rPr lang="en-IN" sz="2000" dirty="0"/>
              <a:t>because they then move parallel to the lines of flux.</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Reaction</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0" y="706695"/>
            <a:ext cx="2895600" cy="2451919"/>
          </a:xfrm>
          <a:prstGeom prst="rect">
            <a:avLst/>
          </a:prstGeom>
        </p:spPr>
      </p:pic>
      <p:pic>
        <p:nvPicPr>
          <p:cNvPr id="4" name="Picture 3"/>
          <p:cNvPicPr>
            <a:picLocks noChangeAspect="1"/>
          </p:cNvPicPr>
          <p:nvPr/>
        </p:nvPicPr>
        <p:blipFill>
          <a:blip r:embed="rId3"/>
          <a:stretch>
            <a:fillRect/>
          </a:stretch>
        </p:blipFill>
        <p:spPr>
          <a:xfrm>
            <a:off x="2895600" y="716220"/>
            <a:ext cx="3209925" cy="2057644"/>
          </a:xfrm>
          <a:prstGeom prst="rect">
            <a:avLst/>
          </a:prstGeom>
        </p:spPr>
      </p:pic>
      <p:pic>
        <p:nvPicPr>
          <p:cNvPr id="7" name="Picture 6"/>
          <p:cNvPicPr>
            <a:picLocks noChangeAspect="1"/>
          </p:cNvPicPr>
          <p:nvPr/>
        </p:nvPicPr>
        <p:blipFill>
          <a:blip r:embed="rId4"/>
          <a:stretch>
            <a:fillRect/>
          </a:stretch>
        </p:blipFill>
        <p:spPr>
          <a:xfrm>
            <a:off x="6105525" y="678120"/>
            <a:ext cx="3038475" cy="3600450"/>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p14:cNvContentPartPr/>
              <p14:nvPr/>
            </p14:nvContentPartPr>
            <p14:xfrm>
              <a:off x="4365720" y="912960"/>
              <a:ext cx="3275640" cy="336960"/>
            </p14:xfrm>
          </p:contentPart>
        </mc:Choice>
        <mc:Fallback xmlns="">
          <p:pic>
            <p:nvPicPr>
              <p:cNvPr id="9" name="Ink 8"/>
              <p:cNvPicPr/>
              <p:nvPr/>
            </p:nvPicPr>
            <p:blipFill>
              <a:blip r:embed="rId8"/>
              <a:stretch>
                <a:fillRect/>
              </a:stretch>
            </p:blipFill>
            <p:spPr>
              <a:xfrm>
                <a:off x="4361400" y="907200"/>
                <a:ext cx="3285000" cy="347760"/>
              </a:xfrm>
              <a:prstGeom prst="rect">
                <a:avLst/>
              </a:prstGeom>
            </p:spPr>
          </p:pic>
        </mc:Fallback>
      </mc:AlternateContent>
    </p:spTree>
    <p:extLst>
      <p:ext uri="{BB962C8B-B14F-4D97-AF65-F5344CB8AC3E}">
        <p14:creationId xmlns:p14="http://schemas.microsoft.com/office/powerpoint/2010/main" val="402349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00670"/>
            <a:ext cx="5410200" cy="3682226"/>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IN" sz="2400" dirty="0" smtClean="0"/>
              <a:t>Brushes </a:t>
            </a:r>
            <a:r>
              <a:rPr lang="en-IN" sz="2400" dirty="0"/>
              <a:t>are always placed along M.N.A. Hence, M.N.A. is also </a:t>
            </a:r>
            <a:r>
              <a:rPr lang="en-IN" sz="2400" dirty="0" smtClean="0"/>
              <a:t>called ‘axis </a:t>
            </a:r>
            <a:r>
              <a:rPr lang="en-IN" sz="2400" dirty="0"/>
              <a:t>of commutation’ because reversal of current in armature conductors takes place across this axis</a:t>
            </a:r>
            <a:r>
              <a:rPr lang="en-IN" sz="2400" dirty="0" smtClean="0"/>
              <a:t>.</a:t>
            </a:r>
            <a:endParaRPr lang="en-US" sz="24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Reaction</a:t>
            </a:r>
            <a:endParaRPr lang="en-US" sz="2800" b="1" dirty="0">
              <a:solidFill>
                <a:schemeClr val="bg1"/>
              </a:solidFill>
              <a:latin typeface="Arial" pitchFamily="34" charset="0"/>
              <a:cs typeface="Arial" pitchFamily="34" charset="0"/>
            </a:endParaRPr>
          </a:p>
        </p:txBody>
      </p:sp>
      <p:pic>
        <p:nvPicPr>
          <p:cNvPr id="8" name="Picture 7"/>
          <p:cNvPicPr>
            <a:picLocks noChangeAspect="1"/>
          </p:cNvPicPr>
          <p:nvPr/>
        </p:nvPicPr>
        <p:blipFill>
          <a:blip r:embed="rId2"/>
          <a:stretch>
            <a:fillRect/>
          </a:stretch>
        </p:blipFill>
        <p:spPr>
          <a:xfrm>
            <a:off x="6054039" y="855850"/>
            <a:ext cx="3123029" cy="3157538"/>
          </a:xfrm>
          <a:prstGeom prst="rect">
            <a:avLst/>
          </a:prstGeom>
        </p:spPr>
      </p:pic>
      <p:sp>
        <p:nvSpPr>
          <p:cNvPr id="9" name="TextBox 8"/>
          <p:cNvSpPr txBox="1"/>
          <p:nvPr/>
        </p:nvSpPr>
        <p:spPr>
          <a:xfrm>
            <a:off x="176842" y="4013388"/>
            <a:ext cx="8967158" cy="3046988"/>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IN" sz="2400" dirty="0" smtClean="0"/>
              <a:t>The </a:t>
            </a:r>
            <a:r>
              <a:rPr lang="en-IN" sz="2400" dirty="0"/>
              <a:t>armature </a:t>
            </a:r>
            <a:r>
              <a:rPr lang="en-IN" sz="2400" dirty="0" smtClean="0"/>
              <a:t>m.m.f.is </a:t>
            </a:r>
            <a:r>
              <a:rPr lang="en-IN" sz="2400" dirty="0"/>
              <a:t>now represented by the vector OF</a:t>
            </a:r>
            <a:r>
              <a:rPr lang="en-IN" sz="2400" baseline="-25000" dirty="0"/>
              <a:t>A</a:t>
            </a:r>
            <a:r>
              <a:rPr lang="en-IN" sz="2400" dirty="0"/>
              <a:t> which is not </a:t>
            </a:r>
            <a:r>
              <a:rPr lang="en-IN" sz="2400" dirty="0" smtClean="0"/>
              <a:t>vertical </a:t>
            </a:r>
            <a:r>
              <a:rPr lang="en-IN" sz="2400" dirty="0"/>
              <a:t>but is inclined by an angle θ to </a:t>
            </a:r>
            <a:r>
              <a:rPr lang="en-IN" sz="2400" dirty="0" smtClean="0"/>
              <a:t>the left.</a:t>
            </a:r>
          </a:p>
          <a:p>
            <a:pPr algn="just">
              <a:lnSpc>
                <a:spcPct val="200000"/>
              </a:lnSpc>
              <a:buClr>
                <a:schemeClr val="accent6">
                  <a:lumMod val="50000"/>
                </a:schemeClr>
              </a:buClr>
              <a:tabLst>
                <a:tab pos="465138" algn="l"/>
              </a:tabLst>
            </a:pPr>
            <a:r>
              <a:rPr lang="en-IN" sz="2400" dirty="0"/>
              <a:t>It can now be resolved into two rectangular </a:t>
            </a:r>
            <a:r>
              <a:rPr lang="en-IN" sz="2400" dirty="0" smtClean="0"/>
              <a:t>components, </a:t>
            </a:r>
            <a:r>
              <a:rPr lang="en-IN" sz="2400" dirty="0" err="1" smtClean="0"/>
              <a:t>OF</a:t>
            </a:r>
            <a:r>
              <a:rPr lang="en-IN" sz="2400" baseline="-25000" dirty="0" err="1" smtClean="0"/>
              <a:t>d</a:t>
            </a:r>
            <a:r>
              <a:rPr lang="en-IN" sz="2400" dirty="0" smtClean="0"/>
              <a:t> </a:t>
            </a:r>
            <a:r>
              <a:rPr lang="en-IN" sz="2400" dirty="0"/>
              <a:t>parallel to polar axis and OF</a:t>
            </a:r>
            <a:r>
              <a:rPr lang="en-IN" sz="2400" baseline="-25000" dirty="0"/>
              <a:t>C</a:t>
            </a:r>
            <a:r>
              <a:rPr lang="en-IN" sz="2400" dirty="0"/>
              <a:t> </a:t>
            </a:r>
            <a:r>
              <a:rPr lang="en-IN" sz="2400" dirty="0" smtClean="0"/>
              <a:t>perpendicular to </a:t>
            </a:r>
            <a:r>
              <a:rPr lang="en-IN" sz="2400" dirty="0"/>
              <a:t>this axis.</a:t>
            </a:r>
            <a:endParaRPr lang="en-US" sz="2400" dirty="0"/>
          </a:p>
        </p:txBody>
      </p:sp>
    </p:spTree>
    <p:extLst>
      <p:ext uri="{BB962C8B-B14F-4D97-AF65-F5344CB8AC3E}">
        <p14:creationId xmlns:p14="http://schemas.microsoft.com/office/powerpoint/2010/main" val="42226275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00670"/>
            <a:ext cx="5410200" cy="3416320"/>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IN" sz="2400" dirty="0" smtClean="0"/>
              <a:t>Component </a:t>
            </a:r>
            <a:r>
              <a:rPr lang="en-IN" sz="2400" dirty="0"/>
              <a:t>OF</a:t>
            </a:r>
            <a:r>
              <a:rPr lang="en-IN" sz="2400" baseline="-25000" dirty="0"/>
              <a:t>C</a:t>
            </a:r>
            <a:r>
              <a:rPr lang="en-IN" sz="2400" dirty="0"/>
              <a:t> is at right angles to the </a:t>
            </a:r>
            <a:r>
              <a:rPr lang="en-IN" sz="2400" dirty="0" smtClean="0"/>
              <a:t>vector </a:t>
            </a:r>
            <a:r>
              <a:rPr lang="en-IN" sz="2400" dirty="0" err="1" smtClean="0"/>
              <a:t>OF</a:t>
            </a:r>
            <a:r>
              <a:rPr lang="en-IN" sz="2400" baseline="-25000" dirty="0" err="1" smtClean="0"/>
              <a:t>m</a:t>
            </a:r>
            <a:r>
              <a:rPr lang="en-IN" sz="2400" dirty="0" smtClean="0"/>
              <a:t> representing </a:t>
            </a:r>
            <a:r>
              <a:rPr lang="en-IN" sz="2400" dirty="0"/>
              <a:t>the main </a:t>
            </a:r>
            <a:r>
              <a:rPr lang="en-IN" sz="2400" dirty="0" err="1"/>
              <a:t>m.m.f</a:t>
            </a:r>
            <a:r>
              <a:rPr lang="en-IN" sz="2400" dirty="0"/>
              <a:t>. It produces distortion in the main field and is </a:t>
            </a:r>
            <a:r>
              <a:rPr lang="en-IN" sz="2400" dirty="0" smtClean="0"/>
              <a:t>hence called </a:t>
            </a:r>
            <a:r>
              <a:rPr lang="en-IN" sz="2400" dirty="0"/>
              <a:t>the cross-magnetising or distorting component of the armature reaction.</a:t>
            </a:r>
            <a:endParaRPr lang="en-US" sz="24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Reaction</a:t>
            </a:r>
            <a:endParaRPr lang="en-US" sz="2800" b="1" dirty="0">
              <a:solidFill>
                <a:schemeClr val="bg1"/>
              </a:solidFill>
              <a:latin typeface="Arial" pitchFamily="34" charset="0"/>
              <a:cs typeface="Arial" pitchFamily="34" charset="0"/>
            </a:endParaRPr>
          </a:p>
        </p:txBody>
      </p:sp>
      <p:pic>
        <p:nvPicPr>
          <p:cNvPr id="8" name="Picture 7"/>
          <p:cNvPicPr>
            <a:picLocks noChangeAspect="1"/>
          </p:cNvPicPr>
          <p:nvPr/>
        </p:nvPicPr>
        <p:blipFill>
          <a:blip r:embed="rId2"/>
          <a:stretch>
            <a:fillRect/>
          </a:stretch>
        </p:blipFill>
        <p:spPr>
          <a:xfrm>
            <a:off x="6054039" y="855850"/>
            <a:ext cx="3123029" cy="3157538"/>
          </a:xfrm>
          <a:prstGeom prst="rect">
            <a:avLst/>
          </a:prstGeom>
        </p:spPr>
      </p:pic>
      <p:sp>
        <p:nvSpPr>
          <p:cNvPr id="9" name="TextBox 8"/>
          <p:cNvSpPr txBox="1"/>
          <p:nvPr/>
        </p:nvSpPr>
        <p:spPr>
          <a:xfrm>
            <a:off x="176842" y="4013388"/>
            <a:ext cx="8967158" cy="2308324"/>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IN" sz="2400" dirty="0"/>
              <a:t>The component </a:t>
            </a:r>
            <a:r>
              <a:rPr lang="en-IN" sz="2400" dirty="0" err="1"/>
              <a:t>OF</a:t>
            </a:r>
            <a:r>
              <a:rPr lang="en-IN" sz="2400" baseline="-25000" dirty="0" err="1"/>
              <a:t>d</a:t>
            </a:r>
            <a:r>
              <a:rPr lang="en-IN" sz="2400" dirty="0"/>
              <a:t> is in direct opposition of </a:t>
            </a:r>
            <a:r>
              <a:rPr lang="en-IN" sz="2400" dirty="0" err="1"/>
              <a:t>OF</a:t>
            </a:r>
            <a:r>
              <a:rPr lang="en-IN" sz="2400" baseline="-25000" dirty="0" err="1"/>
              <a:t>m</a:t>
            </a:r>
            <a:r>
              <a:rPr lang="en-IN" sz="2400" dirty="0"/>
              <a:t> which represents the main </a:t>
            </a:r>
            <a:r>
              <a:rPr lang="en-IN" sz="2400" dirty="0" err="1"/>
              <a:t>m.m.f</a:t>
            </a:r>
            <a:r>
              <a:rPr lang="en-IN" sz="2400" dirty="0"/>
              <a:t>. </a:t>
            </a:r>
            <a:r>
              <a:rPr lang="en-IN" sz="2400" dirty="0" smtClean="0"/>
              <a:t>It exerts </a:t>
            </a:r>
            <a:r>
              <a:rPr lang="en-IN" sz="2400" dirty="0"/>
              <a:t>a demagnetising influence on the main pole flux. Hence, it is called the demagnetising </a:t>
            </a:r>
            <a:r>
              <a:rPr lang="en-IN" sz="2400" dirty="0" smtClean="0"/>
              <a:t>or weakening </a:t>
            </a:r>
            <a:r>
              <a:rPr lang="en-IN" sz="2400" dirty="0"/>
              <a:t>component of the armature reaction.</a:t>
            </a:r>
            <a:endParaRPr lang="en-US" sz="2400" dirty="0"/>
          </a:p>
        </p:txBody>
      </p:sp>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6588360" y="3089160"/>
              <a:ext cx="258840" cy="154080"/>
            </p14:xfrm>
          </p:contentPart>
        </mc:Choice>
        <mc:Fallback xmlns="">
          <p:pic>
            <p:nvPicPr>
              <p:cNvPr id="4" name="Ink 3"/>
              <p:cNvPicPr/>
              <p:nvPr/>
            </p:nvPicPr>
            <p:blipFill>
              <a:blip r:embed="rId6"/>
              <a:stretch>
                <a:fillRect/>
              </a:stretch>
            </p:blipFill>
            <p:spPr>
              <a:xfrm>
                <a:off x="6584040" y="3082320"/>
                <a:ext cx="270000" cy="167760"/>
              </a:xfrm>
              <a:prstGeom prst="rect">
                <a:avLst/>
              </a:prstGeom>
            </p:spPr>
          </p:pic>
        </mc:Fallback>
      </mc:AlternateContent>
    </p:spTree>
    <p:extLst>
      <p:ext uri="{BB962C8B-B14F-4D97-AF65-F5344CB8AC3E}">
        <p14:creationId xmlns:p14="http://schemas.microsoft.com/office/powerpoint/2010/main" val="34953785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717030"/>
            <a:ext cx="8229600" cy="6129050"/>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0" algn="l"/>
              </a:tabLst>
            </a:pPr>
            <a:r>
              <a:rPr lang="en-US" sz="2400" dirty="0" smtClean="0"/>
              <a:t> The exact conductors which produce these distorting and 	demagnetising effects are shown in Fig. where the brush axis 	has been given a forward lead of θ so as to lie along the new 	position of M.N.A. </a:t>
            </a:r>
          </a:p>
          <a:p>
            <a:pPr algn="just">
              <a:lnSpc>
                <a:spcPct val="150000"/>
              </a:lnSpc>
              <a:buClr>
                <a:schemeClr val="accent6">
                  <a:lumMod val="50000"/>
                </a:schemeClr>
              </a:buClr>
              <a:buFont typeface="Wingdings" pitchFamily="2" charset="2"/>
              <a:buChar char="v"/>
              <a:tabLst>
                <a:tab pos="465138" algn="l"/>
              </a:tabLst>
            </a:pPr>
            <a:r>
              <a:rPr lang="en-IN" sz="2400" dirty="0" smtClean="0"/>
              <a:t> All </a:t>
            </a:r>
            <a:r>
              <a:rPr lang="en-IN" sz="2400" dirty="0"/>
              <a:t>conductors lying within angles AOC = BOD = 2θ at the top and bottom of the </a:t>
            </a:r>
            <a:r>
              <a:rPr lang="en-IN" sz="2400" dirty="0" smtClean="0"/>
              <a:t>armature, are </a:t>
            </a:r>
            <a:r>
              <a:rPr lang="en-IN" sz="2400" dirty="0"/>
              <a:t>carrying current in such a direction as to send the flux through the armature from right to left</a:t>
            </a:r>
            <a:r>
              <a:rPr lang="en-IN" sz="2400" dirty="0" smtClean="0"/>
              <a:t>.</a:t>
            </a:r>
          </a:p>
          <a:p>
            <a:pPr algn="just">
              <a:lnSpc>
                <a:spcPct val="150000"/>
              </a:lnSpc>
              <a:buClr>
                <a:schemeClr val="accent6">
                  <a:lumMod val="50000"/>
                </a:schemeClr>
              </a:buClr>
              <a:buFont typeface="Wingdings" pitchFamily="2" charset="2"/>
              <a:buChar char="v"/>
              <a:tabLst>
                <a:tab pos="465138" algn="l"/>
              </a:tabLst>
            </a:pPr>
            <a:r>
              <a:rPr lang="en-IN" sz="2400" dirty="0" smtClean="0"/>
              <a:t> It </a:t>
            </a:r>
            <a:r>
              <a:rPr lang="en-IN" sz="2400" dirty="0"/>
              <a:t>is these conductors which act in </a:t>
            </a:r>
            <a:r>
              <a:rPr lang="en-IN" sz="2400" dirty="0" smtClean="0"/>
              <a:t>direct opposition </a:t>
            </a:r>
            <a:r>
              <a:rPr lang="en-IN" sz="2400" dirty="0"/>
              <a:t>to the main field and are hence called the demagnetising armature conductors.</a:t>
            </a:r>
            <a:endParaRPr lang="en-US" sz="2400" dirty="0"/>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134910" y="77450"/>
            <a:ext cx="94488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Demagnetising and Cross – Magnetising Conductors</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extLst>
      <p:ext uri="{BB962C8B-B14F-4D97-AF65-F5344CB8AC3E}">
        <p14:creationId xmlns:p14="http://schemas.microsoft.com/office/powerpoint/2010/main" val="32130445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717030"/>
            <a:ext cx="8382000" cy="3970318"/>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400" i="1" dirty="0" smtClean="0"/>
              <a:t>	</a:t>
            </a:r>
            <a:r>
              <a:rPr lang="en-US" sz="2400" dirty="0" smtClean="0"/>
              <a:t>Now consider the remaining armature conductors lying between angles </a:t>
            </a:r>
            <a:r>
              <a:rPr lang="en-US" sz="2400" i="1" dirty="0" smtClean="0"/>
              <a:t>AOD and COB. As </a:t>
            </a:r>
            <a:r>
              <a:rPr lang="en-US" sz="2400" dirty="0" smtClean="0"/>
              <a:t>shown in Fig., these conductors carry current in such a direction as to produce a combined flux pointing vertically downwards </a:t>
            </a:r>
            <a:r>
              <a:rPr lang="en-US" sz="2400" i="1" dirty="0" smtClean="0"/>
              <a:t>i.e. at right angles to the main flux.</a:t>
            </a:r>
          </a:p>
          <a:p>
            <a:pPr algn="just">
              <a:lnSpc>
                <a:spcPct val="150000"/>
              </a:lnSpc>
              <a:buClr>
                <a:schemeClr val="accent6">
                  <a:lumMod val="50000"/>
                </a:schemeClr>
              </a:buClr>
              <a:buFont typeface="Wingdings" pitchFamily="2" charset="2"/>
              <a:buChar char="v"/>
              <a:tabLst>
                <a:tab pos="465138" algn="l"/>
              </a:tabLst>
            </a:pPr>
            <a:r>
              <a:rPr lang="en-IN" sz="2400" dirty="0"/>
              <a:t>This results in distortion of </a:t>
            </a:r>
            <a:r>
              <a:rPr lang="en-IN" sz="2400" dirty="0" smtClean="0"/>
              <a:t>the main </a:t>
            </a:r>
            <a:r>
              <a:rPr lang="en-IN" sz="2400" dirty="0"/>
              <a:t>field. Hence, these conductors are known as cross-magnetising conductors and constitute </a:t>
            </a:r>
            <a:r>
              <a:rPr lang="en-IN" sz="2400" dirty="0" smtClean="0"/>
              <a:t>distorting ampere-conductors</a:t>
            </a:r>
            <a:r>
              <a:rPr lang="en-IN" sz="2400" dirty="0"/>
              <a:t>.</a:t>
            </a:r>
            <a:endParaRPr lang="en-US" sz="2400" dirty="0"/>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134910" y="77450"/>
            <a:ext cx="94488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Demagnetising and Cross – Magnetising Conductors</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44970" y="77450"/>
            <a:ext cx="92964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Demagnetising and Cross – Magnetising Conductors</a:t>
            </a:r>
            <a:endParaRPr lang="en-US" sz="2800" b="1" dirty="0">
              <a:solidFill>
                <a:schemeClr val="bg1"/>
              </a:solidFill>
              <a:latin typeface="Arial" pitchFamily="34" charset="0"/>
              <a:cs typeface="Arial" pitchFamily="34" charset="0"/>
            </a:endParaRPr>
          </a:p>
        </p:txBody>
      </p:sp>
      <p:pic>
        <p:nvPicPr>
          <p:cNvPr id="17410" name="Picture 2"/>
          <p:cNvPicPr>
            <a:picLocks noChangeAspect="1" noChangeArrowheads="1"/>
          </p:cNvPicPr>
          <p:nvPr/>
        </p:nvPicPr>
        <p:blipFill rotWithShape="1">
          <a:blip r:embed="rId2"/>
          <a:srcRect b="11765"/>
          <a:stretch/>
        </p:blipFill>
        <p:spPr bwMode="auto">
          <a:xfrm>
            <a:off x="914400" y="1219200"/>
            <a:ext cx="7620000" cy="3429000"/>
          </a:xfrm>
          <a:prstGeom prst="rect">
            <a:avLst/>
          </a:prstGeom>
          <a:ln>
            <a:noFill/>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rotWithShape="1">
          <a:blip r:embed="rId2"/>
          <a:srcRect b="91249"/>
          <a:stretch/>
        </p:blipFill>
        <p:spPr bwMode="auto">
          <a:xfrm>
            <a:off x="869430" y="3110460"/>
            <a:ext cx="7817369" cy="318540"/>
          </a:xfrm>
          <a:prstGeom prst="rect">
            <a:avLst/>
          </a:prstGeom>
          <a:noFill/>
          <a:ln w="9525">
            <a:noFill/>
            <a:miter lim="800000"/>
            <a:headEnd/>
            <a:tailEnd/>
          </a:ln>
          <a:effectLst/>
        </p:spPr>
      </p:pic>
      <p:sp>
        <p:nvSpPr>
          <p:cNvPr id="2" name="TextBox 1"/>
          <p:cNvSpPr txBox="1"/>
          <p:nvPr/>
        </p:nvSpPr>
        <p:spPr>
          <a:xfrm>
            <a:off x="868180" y="762000"/>
            <a:ext cx="7482590" cy="2400657"/>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Since armature demagnetising ampere-turns are neutralized by adding extra ampere-turns to the main field winding, it is essential to calculate their number. But before proceeding further, it should be remembered that the number of turns is equal to half the number of conductors because two conductors-constitute one turn.</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Demagnetising AT per Pole</a:t>
            </a:r>
            <a:endParaRPr lang="en-US" sz="2800" b="1" dirty="0">
              <a:solidFill>
                <a:schemeClr val="bg1"/>
              </a:solidFill>
              <a:latin typeface="Arial" pitchFamily="34" charset="0"/>
              <a:cs typeface="Arial" pitchFamily="34" charset="0"/>
            </a:endParaRPr>
          </a:p>
        </p:txBody>
      </p:sp>
      <p:pic>
        <p:nvPicPr>
          <p:cNvPr id="7" name="Picture 2"/>
          <p:cNvPicPr>
            <a:picLocks noChangeAspect="1" noChangeArrowheads="1"/>
          </p:cNvPicPr>
          <p:nvPr/>
        </p:nvPicPr>
        <p:blipFill rotWithShape="1">
          <a:blip r:embed="rId2"/>
          <a:srcRect t="8751" b="82875"/>
          <a:stretch/>
        </p:blipFill>
        <p:spPr bwMode="auto">
          <a:xfrm>
            <a:off x="869430" y="3429000"/>
            <a:ext cx="7817369" cy="304800"/>
          </a:xfrm>
          <a:prstGeom prst="rect">
            <a:avLst/>
          </a:prstGeom>
          <a:noFill/>
          <a:ln w="9525">
            <a:noFill/>
            <a:miter lim="800000"/>
            <a:headEnd/>
            <a:tailEnd/>
          </a:ln>
          <a:effectLst/>
        </p:spPr>
      </p:pic>
      <p:pic>
        <p:nvPicPr>
          <p:cNvPr id="8" name="Picture 2"/>
          <p:cNvPicPr>
            <a:picLocks noChangeAspect="1" noChangeArrowheads="1"/>
          </p:cNvPicPr>
          <p:nvPr/>
        </p:nvPicPr>
        <p:blipFill rotWithShape="1">
          <a:blip r:embed="rId2"/>
          <a:srcRect t="19218" b="64034"/>
          <a:stretch/>
        </p:blipFill>
        <p:spPr bwMode="auto">
          <a:xfrm>
            <a:off x="869430" y="3810000"/>
            <a:ext cx="7817369" cy="609600"/>
          </a:xfrm>
          <a:prstGeom prst="rect">
            <a:avLst/>
          </a:prstGeom>
          <a:noFill/>
          <a:ln w="9525">
            <a:noFill/>
            <a:miter lim="800000"/>
            <a:headEnd/>
            <a:tailEnd/>
          </a:ln>
          <a:effectLst/>
        </p:spPr>
      </p:pic>
      <p:pic>
        <p:nvPicPr>
          <p:cNvPr id="9" name="Picture 2"/>
          <p:cNvPicPr>
            <a:picLocks noChangeAspect="1" noChangeArrowheads="1"/>
          </p:cNvPicPr>
          <p:nvPr/>
        </p:nvPicPr>
        <p:blipFill rotWithShape="1">
          <a:blip r:embed="rId2"/>
          <a:srcRect t="35966" b="57753"/>
          <a:stretch/>
        </p:blipFill>
        <p:spPr bwMode="auto">
          <a:xfrm>
            <a:off x="869430" y="4419600"/>
            <a:ext cx="7817369" cy="228600"/>
          </a:xfrm>
          <a:prstGeom prst="rect">
            <a:avLst/>
          </a:prstGeom>
          <a:noFill/>
          <a:ln w="9525">
            <a:noFill/>
            <a:miter lim="800000"/>
            <a:headEnd/>
            <a:tailEnd/>
          </a:ln>
          <a:effectLst/>
        </p:spPr>
      </p:pic>
      <p:pic>
        <p:nvPicPr>
          <p:cNvPr id="10" name="Picture 2"/>
          <p:cNvPicPr>
            <a:picLocks noChangeAspect="1" noChangeArrowheads="1"/>
          </p:cNvPicPr>
          <p:nvPr/>
        </p:nvPicPr>
        <p:blipFill rotWithShape="1">
          <a:blip r:embed="rId2"/>
          <a:srcRect t="44340" b="41006"/>
          <a:stretch/>
        </p:blipFill>
        <p:spPr bwMode="auto">
          <a:xfrm>
            <a:off x="869430" y="4724400"/>
            <a:ext cx="7817369" cy="533400"/>
          </a:xfrm>
          <a:prstGeom prst="rect">
            <a:avLst/>
          </a:prstGeom>
          <a:noFill/>
          <a:ln w="9525">
            <a:noFill/>
            <a:miter lim="800000"/>
            <a:headEnd/>
            <a:tailEnd/>
          </a:ln>
          <a:effectLst/>
        </p:spPr>
      </p:pic>
      <p:pic>
        <p:nvPicPr>
          <p:cNvPr id="11" name="Picture 2"/>
          <p:cNvPicPr>
            <a:picLocks noChangeAspect="1" noChangeArrowheads="1"/>
          </p:cNvPicPr>
          <p:nvPr/>
        </p:nvPicPr>
        <p:blipFill rotWithShape="1">
          <a:blip r:embed="rId2"/>
          <a:srcRect t="61087" b="15885"/>
          <a:stretch/>
        </p:blipFill>
        <p:spPr bwMode="auto">
          <a:xfrm>
            <a:off x="869430" y="5334000"/>
            <a:ext cx="7817369" cy="838200"/>
          </a:xfrm>
          <a:prstGeom prst="rect">
            <a:avLst/>
          </a:prstGeom>
          <a:noFill/>
          <a:ln w="9525">
            <a:noFill/>
            <a:miter lim="800000"/>
            <a:headEnd/>
            <a:tailEnd/>
          </a:ln>
          <a:effectLst/>
        </p:spPr>
      </p:pic>
      <p:pic>
        <p:nvPicPr>
          <p:cNvPr id="12" name="Picture 2"/>
          <p:cNvPicPr>
            <a:picLocks noChangeAspect="1" noChangeArrowheads="1"/>
          </p:cNvPicPr>
          <p:nvPr/>
        </p:nvPicPr>
        <p:blipFill rotWithShape="1">
          <a:blip r:embed="rId2"/>
          <a:srcRect t="84115"/>
          <a:stretch/>
        </p:blipFill>
        <p:spPr bwMode="auto">
          <a:xfrm>
            <a:off x="869430" y="6172200"/>
            <a:ext cx="7817369" cy="57820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Demagnetising AT per Pole</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1398270" y="1295400"/>
            <a:ext cx="6347460" cy="533400"/>
          </a:xfrm>
          <a:prstGeom prst="rect">
            <a:avLst/>
          </a:prstGeom>
        </p:spPr>
      </p:pic>
      <p:pic>
        <p:nvPicPr>
          <p:cNvPr id="4" name="Picture 3"/>
          <p:cNvPicPr>
            <a:picLocks noChangeAspect="1"/>
          </p:cNvPicPr>
          <p:nvPr/>
        </p:nvPicPr>
        <p:blipFill>
          <a:blip r:embed="rId3"/>
          <a:stretch>
            <a:fillRect/>
          </a:stretch>
        </p:blipFill>
        <p:spPr>
          <a:xfrm>
            <a:off x="457200" y="2190750"/>
            <a:ext cx="7952276" cy="933450"/>
          </a:xfrm>
          <a:prstGeom prst="rect">
            <a:avLst/>
          </a:prstGeom>
        </p:spPr>
      </p:pic>
      <p:pic>
        <p:nvPicPr>
          <p:cNvPr id="7" name="Picture 6"/>
          <p:cNvPicPr>
            <a:picLocks noChangeAspect="1"/>
          </p:cNvPicPr>
          <p:nvPr/>
        </p:nvPicPr>
        <p:blipFill>
          <a:blip r:embed="rId4"/>
          <a:stretch>
            <a:fillRect/>
          </a:stretch>
        </p:blipFill>
        <p:spPr>
          <a:xfrm>
            <a:off x="447675" y="3333750"/>
            <a:ext cx="8079475" cy="1219200"/>
          </a:xfrm>
          <a:prstGeom prst="rect">
            <a:avLst/>
          </a:prstGeom>
        </p:spPr>
      </p:pic>
      <p:pic>
        <p:nvPicPr>
          <p:cNvPr id="8" name="Picture 7"/>
          <p:cNvPicPr>
            <a:picLocks noChangeAspect="1"/>
          </p:cNvPicPr>
          <p:nvPr/>
        </p:nvPicPr>
        <p:blipFill>
          <a:blip r:embed="rId5"/>
          <a:stretch>
            <a:fillRect/>
          </a:stretch>
        </p:blipFill>
        <p:spPr>
          <a:xfrm>
            <a:off x="2590800" y="5338762"/>
            <a:ext cx="4154557" cy="457200"/>
          </a:xfrm>
          <a:prstGeom prst="rect">
            <a:avLst/>
          </a:prstGeom>
        </p:spPr>
      </p:pic>
    </p:spTree>
    <p:extLst>
      <p:ext uri="{BB962C8B-B14F-4D97-AF65-F5344CB8AC3E}">
        <p14:creationId xmlns:p14="http://schemas.microsoft.com/office/powerpoint/2010/main" val="20970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93899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The conductors lying between angles </a:t>
            </a:r>
            <a:r>
              <a:rPr lang="en-US" sz="2000" i="1" dirty="0" smtClean="0"/>
              <a:t>AOD and BOC constitute what are known as distorting or </a:t>
            </a:r>
            <a:r>
              <a:rPr lang="en-US" sz="2000" dirty="0" smtClean="0"/>
              <a:t>cross-magnetising conductors. Their number is found as under :</a:t>
            </a:r>
          </a:p>
          <a:p>
            <a:pPr algn="just">
              <a:lnSpc>
                <a:spcPct val="150000"/>
              </a:lnSpc>
              <a:buClr>
                <a:schemeClr val="accent6">
                  <a:lumMod val="50000"/>
                </a:schemeClr>
              </a:buClr>
              <a:tabLst>
                <a:tab pos="465138" algn="l"/>
              </a:tabLst>
            </a:pPr>
            <a:r>
              <a:rPr lang="en-US" sz="2000" dirty="0" smtClean="0"/>
              <a:t>Total armature-</a:t>
            </a:r>
            <a:r>
              <a:rPr lang="en-US" sz="2000" i="1" dirty="0" smtClean="0"/>
              <a:t>conductors/pole both cross and demagnetising = Z / P</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Cross – Magnetising AT Per Pole</a:t>
            </a:r>
            <a:endParaRPr lang="en-US" sz="2800" b="1" dirty="0">
              <a:solidFill>
                <a:schemeClr val="bg1"/>
              </a:solidFill>
              <a:latin typeface="Arial" pitchFamily="34" charset="0"/>
              <a:cs typeface="Arial" pitchFamily="34" charset="0"/>
            </a:endParaRPr>
          </a:p>
        </p:txBody>
      </p:sp>
      <p:pic>
        <p:nvPicPr>
          <p:cNvPr id="19458" name="Picture 2"/>
          <p:cNvPicPr>
            <a:picLocks noChangeAspect="1" noChangeArrowheads="1"/>
          </p:cNvPicPr>
          <p:nvPr/>
        </p:nvPicPr>
        <p:blipFill rotWithShape="1">
          <a:blip r:embed="rId3"/>
          <a:srcRect b="82222"/>
          <a:stretch/>
        </p:blipFill>
        <p:spPr bwMode="auto">
          <a:xfrm>
            <a:off x="914400" y="2667000"/>
            <a:ext cx="8114626" cy="609600"/>
          </a:xfrm>
          <a:prstGeom prst="rect">
            <a:avLst/>
          </a:prstGeom>
          <a:noFill/>
          <a:ln w="9525">
            <a:noFill/>
            <a:miter lim="800000"/>
            <a:headEnd/>
            <a:tailEnd/>
          </a:ln>
          <a:effectLst/>
        </p:spPr>
      </p:pic>
      <p:pic>
        <p:nvPicPr>
          <p:cNvPr id="7" name="Picture 2"/>
          <p:cNvPicPr>
            <a:picLocks noChangeAspect="1" noChangeArrowheads="1"/>
          </p:cNvPicPr>
          <p:nvPr/>
        </p:nvPicPr>
        <p:blipFill rotWithShape="1">
          <a:blip r:embed="rId3"/>
          <a:srcRect t="17778" b="64444"/>
          <a:stretch/>
        </p:blipFill>
        <p:spPr bwMode="auto">
          <a:xfrm>
            <a:off x="914400" y="3276600"/>
            <a:ext cx="8114626" cy="609600"/>
          </a:xfrm>
          <a:prstGeom prst="rect">
            <a:avLst/>
          </a:prstGeom>
          <a:noFill/>
          <a:ln w="9525">
            <a:noFill/>
            <a:miter lim="800000"/>
            <a:headEnd/>
            <a:tailEnd/>
          </a:ln>
          <a:effectLst/>
        </p:spPr>
      </p:pic>
      <p:pic>
        <p:nvPicPr>
          <p:cNvPr id="8" name="Picture 2"/>
          <p:cNvPicPr>
            <a:picLocks noChangeAspect="1" noChangeArrowheads="1"/>
          </p:cNvPicPr>
          <p:nvPr/>
        </p:nvPicPr>
        <p:blipFill rotWithShape="1">
          <a:blip r:embed="rId3"/>
          <a:srcRect t="37778" b="44445"/>
          <a:stretch/>
        </p:blipFill>
        <p:spPr bwMode="auto">
          <a:xfrm>
            <a:off x="914400" y="3962400"/>
            <a:ext cx="8114626" cy="609600"/>
          </a:xfrm>
          <a:prstGeom prst="rect">
            <a:avLst/>
          </a:prstGeom>
          <a:noFill/>
          <a:ln w="9525">
            <a:noFill/>
            <a:miter lim="800000"/>
            <a:headEnd/>
            <a:tailEnd/>
          </a:ln>
          <a:effectLst/>
        </p:spPr>
      </p:pic>
      <p:pic>
        <p:nvPicPr>
          <p:cNvPr id="9" name="Picture 2"/>
          <p:cNvPicPr>
            <a:picLocks noChangeAspect="1" noChangeArrowheads="1"/>
          </p:cNvPicPr>
          <p:nvPr/>
        </p:nvPicPr>
        <p:blipFill rotWithShape="1">
          <a:blip r:embed="rId3"/>
          <a:srcRect t="55556" b="17777"/>
          <a:stretch/>
        </p:blipFill>
        <p:spPr bwMode="auto">
          <a:xfrm>
            <a:off x="914400" y="4572000"/>
            <a:ext cx="8114626" cy="914400"/>
          </a:xfrm>
          <a:prstGeom prst="rect">
            <a:avLst/>
          </a:prstGeom>
          <a:noFill/>
          <a:ln w="9525">
            <a:noFill/>
            <a:miter lim="800000"/>
            <a:headEnd/>
            <a:tailEnd/>
          </a:ln>
          <a:effectLst/>
        </p:spPr>
      </p:pic>
      <p:pic>
        <p:nvPicPr>
          <p:cNvPr id="11" name="Picture 2"/>
          <p:cNvPicPr>
            <a:picLocks noChangeAspect="1" noChangeArrowheads="1"/>
          </p:cNvPicPr>
          <p:nvPr/>
        </p:nvPicPr>
        <p:blipFill rotWithShape="1">
          <a:blip r:embed="rId3"/>
          <a:srcRect t="82222"/>
          <a:stretch/>
        </p:blipFill>
        <p:spPr bwMode="auto">
          <a:xfrm>
            <a:off x="914400" y="5486400"/>
            <a:ext cx="8114626" cy="609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058189"/>
            <a:ext cx="3780020" cy="41996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These are used for large direct 	current machines which are 	subjected to large 	fluctuations in load </a:t>
            </a:r>
            <a:r>
              <a:rPr lang="en-US" sz="2000" i="1" dirty="0" smtClean="0"/>
              <a:t>i.e. rolling 	</a:t>
            </a:r>
            <a:r>
              <a:rPr lang="en-US" sz="2000" dirty="0" smtClean="0"/>
              <a:t>mill motors and turbo-	generators etc. </a:t>
            </a:r>
          </a:p>
          <a:p>
            <a:pPr algn="just">
              <a:lnSpc>
                <a:spcPct val="150000"/>
              </a:lnSpc>
              <a:buClr>
                <a:schemeClr val="accent6">
                  <a:lumMod val="50000"/>
                </a:schemeClr>
              </a:buClr>
              <a:buFont typeface="Wingdings" pitchFamily="2" charset="2"/>
              <a:buChar char="v"/>
              <a:tabLst>
                <a:tab pos="465138" algn="l"/>
              </a:tabLst>
            </a:pPr>
            <a:r>
              <a:rPr lang="en-US" sz="2000" dirty="0" smtClean="0"/>
              <a:t> 	Their function is to neutralize 	the cross magnetizing effect 	of armature reaction.</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Compensating Windings </a:t>
            </a:r>
            <a:endParaRPr lang="en-US" sz="2800" b="1" dirty="0">
              <a:solidFill>
                <a:schemeClr val="bg1"/>
              </a:solidFill>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4800600" y="1214438"/>
            <a:ext cx="3729438" cy="366236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No. of Compensating Windings</a:t>
            </a:r>
            <a:endParaRPr lang="en-US" sz="2800" b="1" dirty="0">
              <a:solidFill>
                <a:schemeClr val="bg1"/>
              </a:solidFill>
              <a:latin typeface="Arial" pitchFamily="34" charset="0"/>
              <a:cs typeface="Arial" pitchFamily="34" charset="0"/>
            </a:endParaRPr>
          </a:p>
        </p:txBody>
      </p:sp>
      <p:pic>
        <p:nvPicPr>
          <p:cNvPr id="2050" name="Picture 2"/>
          <p:cNvPicPr>
            <a:picLocks noChangeAspect="1" noChangeArrowheads="1"/>
          </p:cNvPicPr>
          <p:nvPr/>
        </p:nvPicPr>
        <p:blipFill>
          <a:blip r:embed="rId2"/>
          <a:srcRect t="11607"/>
          <a:stretch>
            <a:fillRect/>
          </a:stretch>
        </p:blipFill>
        <p:spPr bwMode="auto">
          <a:xfrm>
            <a:off x="974359" y="990600"/>
            <a:ext cx="6619633" cy="580292"/>
          </a:xfrm>
          <a:prstGeom prst="rect">
            <a:avLst/>
          </a:prstGeom>
          <a:noFill/>
          <a:ln w="9525">
            <a:noFill/>
            <a:miter lim="800000"/>
            <a:headEnd/>
            <a:tailEnd/>
          </a:ln>
          <a:effectLst/>
        </p:spPr>
      </p:pic>
      <p:pic>
        <p:nvPicPr>
          <p:cNvPr id="2051" name="Picture 3"/>
          <p:cNvPicPr>
            <a:picLocks noChangeAspect="1" noChangeArrowheads="1"/>
          </p:cNvPicPr>
          <p:nvPr/>
        </p:nvPicPr>
        <p:blipFill rotWithShape="1">
          <a:blip r:embed="rId3"/>
          <a:srcRect b="50888"/>
          <a:stretch/>
        </p:blipFill>
        <p:spPr bwMode="auto">
          <a:xfrm>
            <a:off x="914399" y="1692640"/>
            <a:ext cx="7959969" cy="898160"/>
          </a:xfrm>
          <a:prstGeom prst="rect">
            <a:avLst/>
          </a:prstGeom>
          <a:noFill/>
          <a:ln w="9525">
            <a:noFill/>
            <a:miter lim="800000"/>
            <a:headEnd/>
            <a:tailEnd/>
          </a:ln>
          <a:effectLst/>
        </p:spPr>
      </p:pic>
      <p:pic>
        <p:nvPicPr>
          <p:cNvPr id="7" name="Picture 3"/>
          <p:cNvPicPr>
            <a:picLocks noChangeAspect="1" noChangeArrowheads="1"/>
          </p:cNvPicPr>
          <p:nvPr/>
        </p:nvPicPr>
        <p:blipFill rotWithShape="1">
          <a:blip r:embed="rId3"/>
          <a:srcRect t="57445"/>
          <a:stretch/>
        </p:blipFill>
        <p:spPr bwMode="auto">
          <a:xfrm>
            <a:off x="914399" y="2743200"/>
            <a:ext cx="7959969" cy="77824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854666"/>
            <a:ext cx="4770620" cy="5632311"/>
          </a:xfrm>
          <a:prstGeom prst="rect">
            <a:avLst/>
          </a:prstGeom>
          <a:noFill/>
        </p:spPr>
        <p:txBody>
          <a:bodyPr wrap="square" rtlCol="0">
            <a:spAutoFit/>
          </a:bodyPr>
          <a:lstStyle/>
          <a:p>
            <a:pPr algn="just">
              <a:lnSpc>
                <a:spcPct val="200000"/>
              </a:lnSpc>
              <a:buClr>
                <a:schemeClr val="accent6">
                  <a:lumMod val="50000"/>
                </a:schemeClr>
              </a:buClr>
              <a:buFont typeface="Wingdings" pitchFamily="2" charset="2"/>
              <a:buChar char="v"/>
              <a:tabLst>
                <a:tab pos="465138" algn="l"/>
              </a:tabLst>
            </a:pPr>
            <a:r>
              <a:rPr lang="en-US" sz="2000" dirty="0" smtClean="0"/>
              <a:t> 	Currents 	induced in armature conductors of a 	d.c. generator are alternating. </a:t>
            </a:r>
          </a:p>
          <a:p>
            <a:pPr algn="just">
              <a:lnSpc>
                <a:spcPct val="200000"/>
              </a:lnSpc>
              <a:buClr>
                <a:schemeClr val="accent6">
                  <a:lumMod val="50000"/>
                </a:schemeClr>
              </a:buClr>
              <a:buFont typeface="Wingdings" pitchFamily="2" charset="2"/>
              <a:buChar char="v"/>
              <a:tabLst>
                <a:tab pos="465138" algn="l"/>
              </a:tabLst>
            </a:pPr>
            <a:r>
              <a:rPr lang="en-US" sz="2000" dirty="0" smtClean="0"/>
              <a:t> 	To make their flow unidirectional in the 	external circuit, we need a commutator. </a:t>
            </a:r>
          </a:p>
          <a:p>
            <a:pPr algn="just">
              <a:lnSpc>
                <a:spcPct val="200000"/>
              </a:lnSpc>
              <a:buClr>
                <a:schemeClr val="accent6">
                  <a:lumMod val="50000"/>
                </a:schemeClr>
              </a:buClr>
              <a:buFont typeface="Wingdings" pitchFamily="2" charset="2"/>
              <a:buChar char="v"/>
              <a:tabLst>
                <a:tab pos="465138" algn="l"/>
              </a:tabLst>
            </a:pPr>
            <a:r>
              <a:rPr lang="en-US" sz="2000" dirty="0" smtClean="0"/>
              <a:t> 	Moreover, these currents flow in one 	direction when armature conductors 	are under </a:t>
            </a:r>
            <a:r>
              <a:rPr lang="en-US" sz="2000" i="1" dirty="0" smtClean="0"/>
              <a:t>N-pole and in the </a:t>
            </a:r>
            <a:r>
              <a:rPr lang="en-US" sz="2000" dirty="0" smtClean="0"/>
              <a:t>opposite 	direction when they are under </a:t>
            </a:r>
            <a:r>
              <a:rPr lang="en-US" sz="2000" i="1" dirty="0" smtClean="0"/>
              <a:t>S-pole.</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Commutation</a:t>
            </a:r>
            <a:endParaRPr lang="en-US" sz="2800" b="1" dirty="0">
              <a:solidFill>
                <a:schemeClr val="bg1"/>
              </a:solidFill>
              <a:latin typeface="Arial" pitchFamily="34" charset="0"/>
              <a:cs typeface="Arial" pitchFamily="34" charset="0"/>
            </a:endParaRPr>
          </a:p>
        </p:txBody>
      </p:sp>
      <p:pic>
        <p:nvPicPr>
          <p:cNvPr id="3074" name="Picture 2"/>
          <p:cNvPicPr>
            <a:picLocks noChangeAspect="1" noChangeArrowheads="1"/>
          </p:cNvPicPr>
          <p:nvPr/>
        </p:nvPicPr>
        <p:blipFill>
          <a:blip r:embed="rId2"/>
          <a:srcRect/>
          <a:stretch>
            <a:fillRect/>
          </a:stretch>
        </p:blipFill>
        <p:spPr bwMode="auto">
          <a:xfrm>
            <a:off x="5638800" y="1219200"/>
            <a:ext cx="3039010" cy="4724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Commutation</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rotWithShape="1">
          <a:blip r:embed="rId2"/>
          <a:srcRect r="72450" b="55599"/>
          <a:stretch/>
        </p:blipFill>
        <p:spPr>
          <a:xfrm>
            <a:off x="159543" y="673357"/>
            <a:ext cx="2431257" cy="2603243"/>
          </a:xfrm>
          <a:prstGeom prst="rect">
            <a:avLst/>
          </a:prstGeom>
        </p:spPr>
      </p:pic>
      <p:pic>
        <p:nvPicPr>
          <p:cNvPr id="7" name="Picture 6"/>
          <p:cNvPicPr>
            <a:picLocks noChangeAspect="1"/>
          </p:cNvPicPr>
          <p:nvPr/>
        </p:nvPicPr>
        <p:blipFill rotWithShape="1">
          <a:blip r:embed="rId2"/>
          <a:srcRect l="27550" r="43956" b="55599"/>
          <a:stretch/>
        </p:blipFill>
        <p:spPr>
          <a:xfrm>
            <a:off x="2590800" y="673357"/>
            <a:ext cx="2514600" cy="2603243"/>
          </a:xfrm>
          <a:prstGeom prst="rect">
            <a:avLst/>
          </a:prstGeom>
        </p:spPr>
      </p:pic>
      <p:pic>
        <p:nvPicPr>
          <p:cNvPr id="8" name="Picture 7"/>
          <p:cNvPicPr>
            <a:picLocks noChangeAspect="1"/>
          </p:cNvPicPr>
          <p:nvPr/>
        </p:nvPicPr>
        <p:blipFill rotWithShape="1">
          <a:blip r:embed="rId2"/>
          <a:srcRect l="56044" r="15461" b="55598"/>
          <a:stretch/>
        </p:blipFill>
        <p:spPr>
          <a:xfrm>
            <a:off x="5105400" y="673357"/>
            <a:ext cx="2514600" cy="2603243"/>
          </a:xfrm>
          <a:prstGeom prst="rect">
            <a:avLst/>
          </a:prstGeom>
        </p:spPr>
      </p:pic>
      <p:pic>
        <p:nvPicPr>
          <p:cNvPr id="9" name="Picture 8"/>
          <p:cNvPicPr>
            <a:picLocks noChangeAspect="1"/>
          </p:cNvPicPr>
          <p:nvPr/>
        </p:nvPicPr>
        <p:blipFill rotWithShape="1">
          <a:blip r:embed="rId2"/>
          <a:srcRect t="44401" r="72449" b="11411"/>
          <a:stretch/>
        </p:blipFill>
        <p:spPr>
          <a:xfrm>
            <a:off x="159543" y="3276600"/>
            <a:ext cx="2431257" cy="2590799"/>
          </a:xfrm>
          <a:prstGeom prst="rect">
            <a:avLst/>
          </a:prstGeom>
        </p:spPr>
      </p:pic>
      <p:pic>
        <p:nvPicPr>
          <p:cNvPr id="10" name="Picture 9"/>
          <p:cNvPicPr>
            <a:picLocks noChangeAspect="1"/>
          </p:cNvPicPr>
          <p:nvPr/>
        </p:nvPicPr>
        <p:blipFill rotWithShape="1">
          <a:blip r:embed="rId2"/>
          <a:srcRect l="27550" t="44401" r="43956" b="11410"/>
          <a:stretch/>
        </p:blipFill>
        <p:spPr>
          <a:xfrm>
            <a:off x="2590800" y="3276600"/>
            <a:ext cx="2514600" cy="2590800"/>
          </a:xfrm>
          <a:prstGeom prst="rect">
            <a:avLst/>
          </a:prstGeom>
        </p:spPr>
      </p:pic>
      <p:pic>
        <p:nvPicPr>
          <p:cNvPr id="11" name="Picture 10"/>
          <p:cNvPicPr>
            <a:picLocks noChangeAspect="1"/>
          </p:cNvPicPr>
          <p:nvPr/>
        </p:nvPicPr>
        <p:blipFill rotWithShape="1">
          <a:blip r:embed="rId2"/>
          <a:srcRect l="55181" t="44401"/>
          <a:stretch/>
        </p:blipFill>
        <p:spPr>
          <a:xfrm>
            <a:off x="5029200" y="3276599"/>
            <a:ext cx="3955256" cy="3259745"/>
          </a:xfrm>
          <a:prstGeom prst="rect">
            <a:avLst/>
          </a:prstGeom>
        </p:spPr>
      </p:pic>
    </p:spTree>
    <p:extLst>
      <p:ext uri="{BB962C8B-B14F-4D97-AF65-F5344CB8AC3E}">
        <p14:creationId xmlns:p14="http://schemas.microsoft.com/office/powerpoint/2010/main" val="407280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3170" y="643926"/>
            <a:ext cx="7482590" cy="3785652"/>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There are two practical ways of improving commutation </a:t>
            </a:r>
            <a:r>
              <a:rPr lang="en-US" sz="2000" i="1" dirty="0" smtClean="0"/>
              <a:t>i.e. of making current reversal in the </a:t>
            </a:r>
            <a:r>
              <a:rPr lang="en-US" sz="2000" dirty="0" smtClean="0"/>
              <a:t>short-circuited coil as sparkless as possible. These methods are known as </a:t>
            </a:r>
          </a:p>
          <a:p>
            <a:pPr algn="just">
              <a:lnSpc>
                <a:spcPct val="200000"/>
              </a:lnSpc>
              <a:buClr>
                <a:schemeClr val="accent6">
                  <a:lumMod val="50000"/>
                </a:schemeClr>
              </a:buClr>
              <a:buFont typeface="+mj-lt"/>
              <a:buAutoNum type="romanLcPeriod"/>
              <a:tabLst>
                <a:tab pos="465138" algn="l"/>
              </a:tabLst>
            </a:pPr>
            <a:r>
              <a:rPr lang="en-US" sz="2000" b="1" dirty="0" smtClean="0"/>
              <a:t> 	</a:t>
            </a:r>
            <a:r>
              <a:rPr lang="en-US" sz="2000" dirty="0"/>
              <a:t>R</a:t>
            </a:r>
            <a:r>
              <a:rPr lang="en-US" sz="2000" dirty="0" smtClean="0"/>
              <a:t>esistance commutation</a:t>
            </a:r>
          </a:p>
          <a:p>
            <a:pPr algn="just">
              <a:lnSpc>
                <a:spcPct val="200000"/>
              </a:lnSpc>
              <a:buClr>
                <a:schemeClr val="accent6">
                  <a:lumMod val="50000"/>
                </a:schemeClr>
              </a:buClr>
              <a:buFont typeface="+mj-lt"/>
              <a:buAutoNum type="romanLcPeriod"/>
              <a:tabLst>
                <a:tab pos="465138" algn="l"/>
              </a:tabLst>
            </a:pPr>
            <a:r>
              <a:rPr lang="en-US" sz="2000" b="1" dirty="0" smtClean="0"/>
              <a:t> </a:t>
            </a:r>
            <a:r>
              <a:rPr lang="en-US" sz="2000" dirty="0" smtClean="0"/>
              <a:t>	E.M.F. commutation (which is done with the help of either brush 	lead or interpoles, usually the later).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Methods of Improving Commutation</a:t>
            </a:r>
            <a:endParaRPr lang="en-US" sz="2800" b="1" dirty="0">
              <a:solidFill>
                <a:schemeClr val="bg1"/>
              </a:solidFill>
              <a:latin typeface="Arial" pitchFamily="34" charset="0"/>
              <a:cs typeface="Arial" pitchFamily="34" charset="0"/>
            </a:endParaRP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910800" y="3008880"/>
              <a:ext cx="3015360" cy="1284480"/>
            </p14:xfrm>
          </p:contentPart>
        </mc:Choice>
        <mc:Fallback xmlns="">
          <p:pic>
            <p:nvPicPr>
              <p:cNvPr id="3" name="Ink 2"/>
              <p:cNvPicPr/>
              <p:nvPr/>
            </p:nvPicPr>
            <p:blipFill>
              <a:blip r:embed="rId3"/>
              <a:stretch>
                <a:fillRect/>
              </a:stretch>
            </p:blipFill>
            <p:spPr>
              <a:xfrm>
                <a:off x="906120" y="3004200"/>
                <a:ext cx="3024720" cy="1291680"/>
              </a:xfrm>
              <a:prstGeom prst="rect">
                <a:avLst/>
              </a:prstGeom>
            </p:spPr>
          </p:pic>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srcRect b="11488"/>
          <a:stretch/>
        </p:blipFill>
        <p:spPr bwMode="auto">
          <a:xfrm>
            <a:off x="5788235" y="914401"/>
            <a:ext cx="2657475" cy="2438400"/>
          </a:xfrm>
          <a:prstGeom prst="rect">
            <a:avLst/>
          </a:prstGeom>
          <a:noFill/>
          <a:ln w="9525">
            <a:noFill/>
            <a:miter lim="800000"/>
            <a:headEnd/>
            <a:tailEnd/>
          </a:ln>
          <a:effectLst/>
        </p:spPr>
      </p:pic>
      <p:sp>
        <p:nvSpPr>
          <p:cNvPr id="2" name="TextBox 1"/>
          <p:cNvSpPr txBox="1"/>
          <p:nvPr/>
        </p:nvSpPr>
        <p:spPr>
          <a:xfrm>
            <a:off x="685800" y="933451"/>
            <a:ext cx="7482590" cy="5170646"/>
          </a:xfrm>
          <a:prstGeom prst="rect">
            <a:avLst/>
          </a:prstGeom>
          <a:noFill/>
        </p:spPr>
        <p:txBody>
          <a:bodyPr wrap="square" rtlCol="0">
            <a:spAutoFit/>
          </a:bodyPr>
          <a:lstStyle/>
          <a:p>
            <a:pPr algn="just">
              <a:lnSpc>
                <a:spcPct val="150000"/>
              </a:lnSpc>
              <a:spcBef>
                <a:spcPts val="1800"/>
              </a:spcBef>
              <a:buClr>
                <a:schemeClr val="accent6">
                  <a:lumMod val="50000"/>
                </a:schemeClr>
              </a:buClr>
              <a:buFont typeface="Wingdings" pitchFamily="2" charset="2"/>
              <a:buChar char="v"/>
              <a:tabLst>
                <a:tab pos="465138" algn="l"/>
              </a:tabLst>
            </a:pPr>
            <a:r>
              <a:rPr lang="en-US" sz="2000" dirty="0" smtClean="0"/>
              <a:t>  	This method of improving commutation </a:t>
            </a:r>
          </a:p>
          <a:p>
            <a:pPr algn="just">
              <a:lnSpc>
                <a:spcPct val="150000"/>
              </a:lnSpc>
              <a:spcBef>
                <a:spcPts val="1800"/>
              </a:spcBef>
              <a:buClr>
                <a:schemeClr val="accent6">
                  <a:lumMod val="50000"/>
                </a:schemeClr>
              </a:buClr>
              <a:tabLst>
                <a:tab pos="465138" algn="l"/>
              </a:tabLst>
            </a:pPr>
            <a:r>
              <a:rPr lang="en-US" sz="2000" dirty="0" smtClean="0"/>
              <a:t>	consists of replacing low-resistance Cu </a:t>
            </a:r>
          </a:p>
          <a:p>
            <a:pPr algn="just">
              <a:lnSpc>
                <a:spcPct val="150000"/>
              </a:lnSpc>
              <a:spcBef>
                <a:spcPts val="1800"/>
              </a:spcBef>
              <a:buClr>
                <a:schemeClr val="accent6">
                  <a:lumMod val="50000"/>
                </a:schemeClr>
              </a:buClr>
              <a:tabLst>
                <a:tab pos="465138" algn="l"/>
              </a:tabLst>
            </a:pPr>
            <a:r>
              <a:rPr lang="en-US" sz="2000" dirty="0" smtClean="0"/>
              <a:t>	brushes by comparatively high-resistance </a:t>
            </a:r>
          </a:p>
          <a:p>
            <a:pPr algn="just">
              <a:lnSpc>
                <a:spcPct val="150000"/>
              </a:lnSpc>
              <a:spcBef>
                <a:spcPts val="1800"/>
              </a:spcBef>
              <a:buClr>
                <a:schemeClr val="accent6">
                  <a:lumMod val="50000"/>
                </a:schemeClr>
              </a:buClr>
              <a:tabLst>
                <a:tab pos="465138" algn="l"/>
              </a:tabLst>
            </a:pPr>
            <a:r>
              <a:rPr lang="en-US" sz="2000" dirty="0" smtClean="0"/>
              <a:t>	carbon brushes.</a:t>
            </a:r>
          </a:p>
          <a:p>
            <a:pPr algn="just">
              <a:lnSpc>
                <a:spcPct val="150000"/>
              </a:lnSpc>
              <a:spcBef>
                <a:spcPts val="1800"/>
              </a:spcBef>
              <a:buClr>
                <a:schemeClr val="accent6">
                  <a:lumMod val="50000"/>
                </a:schemeClr>
              </a:buClr>
              <a:buFont typeface="Wingdings" pitchFamily="2" charset="2"/>
              <a:buChar char="v"/>
              <a:tabLst>
                <a:tab pos="465138" algn="l"/>
              </a:tabLst>
            </a:pPr>
            <a:r>
              <a:rPr lang="en-US" sz="2000" dirty="0" smtClean="0"/>
              <a:t> 	From Fig., it is seen that when current </a:t>
            </a:r>
            <a:r>
              <a:rPr lang="en-US" sz="2000" i="1" dirty="0" smtClean="0"/>
              <a:t>I from coil’ C </a:t>
            </a:r>
            <a:r>
              <a:rPr lang="en-US" sz="2000" dirty="0" smtClean="0"/>
              <a:t>reaches 	the commutator segment </a:t>
            </a:r>
            <a:r>
              <a:rPr lang="en-US" sz="2000" i="1" dirty="0" smtClean="0"/>
              <a:t>b, it has two parallel paths open to </a:t>
            </a:r>
            <a:r>
              <a:rPr lang="en-US" sz="2000" dirty="0" smtClean="0"/>
              <a:t>it. 	The first part is straight from bar ‘</a:t>
            </a:r>
            <a:r>
              <a:rPr lang="en-US" sz="2000" i="1" dirty="0" smtClean="0"/>
              <a:t>b’ to the brush and the other 	</a:t>
            </a:r>
            <a:r>
              <a:rPr lang="en-US" sz="2000" dirty="0" smtClean="0"/>
              <a:t>parallel path is </a:t>
            </a:r>
            <a:r>
              <a:rPr lang="en-US" sz="2000" b="1" i="1" dirty="0" smtClean="0"/>
              <a:t>via </a:t>
            </a:r>
            <a:r>
              <a:rPr lang="en-US" sz="2000" dirty="0" smtClean="0"/>
              <a:t>the short-circuited coil B to bar ‘a’ and then to </a:t>
            </a:r>
            <a:r>
              <a:rPr lang="en-US" sz="2000" b="1" i="1" dirty="0" smtClean="0"/>
              <a:t>	</a:t>
            </a:r>
            <a:r>
              <a:rPr lang="en-US" sz="2000" dirty="0" smtClean="0"/>
              <a:t>the brush.</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Resistance Commutation</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87050"/>
            <a:ext cx="7482590" cy="5546134"/>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In this method, arrangement is made to neutralize the reactance voltage by producing a reversing e.m.f. in the short-circuited coil under commutation. This reversing e.m.f., as the name shows, is an e.m.f. in opposition to the reactance voltage.</a:t>
            </a:r>
          </a:p>
          <a:p>
            <a:pPr algn="just">
              <a:lnSpc>
                <a:spcPct val="200000"/>
              </a:lnSpc>
              <a:buClr>
                <a:schemeClr val="accent6">
                  <a:lumMod val="50000"/>
                </a:schemeClr>
              </a:buClr>
              <a:tabLst>
                <a:tab pos="465138" algn="l"/>
              </a:tabLst>
            </a:pPr>
            <a:r>
              <a:rPr lang="en-US" sz="2000" dirty="0" smtClean="0"/>
              <a:t>The reversing e.m.f. may be produced in two ways : </a:t>
            </a:r>
          </a:p>
          <a:p>
            <a:pPr algn="just">
              <a:lnSpc>
                <a:spcPct val="200000"/>
              </a:lnSpc>
              <a:buClr>
                <a:schemeClr val="accent6">
                  <a:lumMod val="50000"/>
                </a:schemeClr>
              </a:buClr>
              <a:buFont typeface="Wingdings" pitchFamily="2" charset="2"/>
              <a:buChar char="v"/>
              <a:tabLst>
                <a:tab pos="465138" algn="l"/>
              </a:tabLst>
            </a:pPr>
            <a:r>
              <a:rPr lang="en-US" sz="2000" b="1" i="1" dirty="0" smtClean="0"/>
              <a:t> 	</a:t>
            </a:r>
            <a:r>
              <a:rPr lang="en-US" sz="2000" dirty="0" smtClean="0"/>
              <a:t>either by giving the brushes a forward lead sufficient enough to 	bring the short-circuited coil under the influence of next pole of 	opposite polarity or </a:t>
            </a:r>
          </a:p>
          <a:p>
            <a:pPr algn="just">
              <a:lnSpc>
                <a:spcPct val="200000"/>
              </a:lnSpc>
              <a:buClr>
                <a:schemeClr val="accent6">
                  <a:lumMod val="50000"/>
                </a:schemeClr>
              </a:buClr>
              <a:buFont typeface="Wingdings" pitchFamily="2" charset="2"/>
              <a:buChar char="v"/>
              <a:tabLst>
                <a:tab pos="465138" algn="l"/>
              </a:tabLst>
            </a:pPr>
            <a:r>
              <a:rPr lang="en-US" sz="2000" dirty="0" smtClean="0"/>
              <a:t> 	by using interpoles.</a:t>
            </a: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E.M.F. Commutation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4389620" cy="56323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These are small poles fixed to the 	yoke and spaced in between the 	main poles. </a:t>
            </a:r>
          </a:p>
          <a:p>
            <a:pPr algn="just">
              <a:lnSpc>
                <a:spcPct val="150000"/>
              </a:lnSpc>
              <a:buClr>
                <a:schemeClr val="accent6">
                  <a:lumMod val="50000"/>
                </a:schemeClr>
              </a:buClr>
              <a:buFont typeface="Wingdings" pitchFamily="2" charset="2"/>
              <a:buChar char="v"/>
              <a:tabLst>
                <a:tab pos="465138" algn="l"/>
              </a:tabLst>
            </a:pPr>
            <a:r>
              <a:rPr lang="en-US" sz="2000" dirty="0" smtClean="0"/>
              <a:t> 	They are wound with comparatively 	few heavy gauge Cu wire turns and 	are connected in series with the 	armature so that they carry full 	armature current. </a:t>
            </a:r>
          </a:p>
          <a:p>
            <a:pPr algn="just">
              <a:lnSpc>
                <a:spcPct val="150000"/>
              </a:lnSpc>
              <a:buClr>
                <a:schemeClr val="accent6">
                  <a:lumMod val="50000"/>
                </a:schemeClr>
              </a:buClr>
              <a:buFont typeface="Wingdings" pitchFamily="2" charset="2"/>
              <a:buChar char="v"/>
              <a:tabLst>
                <a:tab pos="465138" algn="l"/>
              </a:tabLst>
            </a:pPr>
            <a:r>
              <a:rPr lang="en-US" sz="2000" dirty="0" smtClean="0"/>
              <a:t> 	Their polarity, in the case of a 	generator, is the same as that of the 	main pole ahead in the direction of 	rotation.</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Interpoles of Compoles </a:t>
            </a:r>
            <a:endParaRPr lang="en-US" sz="2800" b="1" dirty="0">
              <a:solidFill>
                <a:schemeClr val="bg1"/>
              </a:solidFill>
              <a:latin typeface="Arial" pitchFamily="34" charset="0"/>
              <a:cs typeface="Arial" pitchFamily="34" charset="0"/>
            </a:endParaRPr>
          </a:p>
        </p:txBody>
      </p:sp>
      <p:pic>
        <p:nvPicPr>
          <p:cNvPr id="6146" name="Picture 2"/>
          <p:cNvPicPr>
            <a:picLocks noChangeAspect="1" noChangeArrowheads="1"/>
          </p:cNvPicPr>
          <p:nvPr/>
        </p:nvPicPr>
        <p:blipFill>
          <a:blip r:embed="rId2"/>
          <a:srcRect/>
          <a:stretch>
            <a:fillRect/>
          </a:stretch>
        </p:blipFill>
        <p:spPr bwMode="auto">
          <a:xfrm>
            <a:off x="5418043" y="1981200"/>
            <a:ext cx="3495143" cy="274320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3896996</TotalTime>
  <Words>487</Words>
  <Application>Microsoft Office PowerPoint</Application>
  <PresentationFormat>On-screen Show (4:3)</PresentationFormat>
  <Paragraphs>74</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IIT</cp:lastModifiedBy>
  <cp:revision>311</cp:revision>
  <dcterms:created xsi:type="dcterms:W3CDTF">2015-05-26T08:58:57Z</dcterms:created>
  <dcterms:modified xsi:type="dcterms:W3CDTF">2023-02-16T18:36:09Z</dcterms:modified>
</cp:coreProperties>
</file>