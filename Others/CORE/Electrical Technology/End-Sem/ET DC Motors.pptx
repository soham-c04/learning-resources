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6" d="100"/>
          <a:sy n="66" d="100"/>
        </p:scale>
        <p:origin x="63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IKONDA NISHANTH KUMAR" userId="40694319746d7667" providerId="LiveId" clId="{4E8DF0CE-B86A-442F-B6B4-5524E2BF4ACE}"/>
    <pc:docChg chg="custSel addSld modSld">
      <pc:chgData name="TANIKONDA NISHANTH KUMAR" userId="40694319746d7667" providerId="LiveId" clId="{4E8DF0CE-B86A-442F-B6B4-5524E2BF4ACE}" dt="2023-02-15T18:25:59.795" v="228" actId="1076"/>
      <pc:docMkLst>
        <pc:docMk/>
      </pc:docMkLst>
      <pc:sldChg chg="delSp modSp new mod">
        <pc:chgData name="TANIKONDA NISHANTH KUMAR" userId="40694319746d7667" providerId="LiveId" clId="{4E8DF0CE-B86A-442F-B6B4-5524E2BF4ACE}" dt="2023-02-15T18:12:39.089" v="203" actId="20577"/>
        <pc:sldMkLst>
          <pc:docMk/>
          <pc:sldMk cId="385204690" sldId="260"/>
        </pc:sldMkLst>
        <pc:spChg chg="mod">
          <ac:chgData name="TANIKONDA NISHANTH KUMAR" userId="40694319746d7667" providerId="LiveId" clId="{4E8DF0CE-B86A-442F-B6B4-5524E2BF4ACE}" dt="2023-02-15T18:12:39.089" v="203" actId="20577"/>
          <ac:spMkLst>
            <pc:docMk/>
            <pc:sldMk cId="385204690" sldId="260"/>
            <ac:spMk id="2" creationId="{817520A2-D21F-0221-9615-695C9BD0D89F}"/>
          </ac:spMkLst>
        </pc:spChg>
        <pc:spChg chg="del">
          <ac:chgData name="TANIKONDA NISHANTH KUMAR" userId="40694319746d7667" providerId="LiveId" clId="{4E8DF0CE-B86A-442F-B6B4-5524E2BF4ACE}" dt="2023-02-15T18:05:43.073" v="23" actId="478"/>
          <ac:spMkLst>
            <pc:docMk/>
            <pc:sldMk cId="385204690" sldId="260"/>
            <ac:spMk id="3" creationId="{EEED5B0C-061B-66FB-3EF3-C66A084615D2}"/>
          </ac:spMkLst>
        </pc:spChg>
      </pc:sldChg>
      <pc:sldChg chg="delSp modSp new mod">
        <pc:chgData name="TANIKONDA NISHANTH KUMAR" userId="40694319746d7667" providerId="LiveId" clId="{4E8DF0CE-B86A-442F-B6B4-5524E2BF4ACE}" dt="2023-02-15T18:12:45.784" v="206" actId="20577"/>
        <pc:sldMkLst>
          <pc:docMk/>
          <pc:sldMk cId="3544924917" sldId="261"/>
        </pc:sldMkLst>
        <pc:spChg chg="mod">
          <ac:chgData name="TANIKONDA NISHANTH KUMAR" userId="40694319746d7667" providerId="LiveId" clId="{4E8DF0CE-B86A-442F-B6B4-5524E2BF4ACE}" dt="2023-02-15T18:12:45.784" v="206" actId="20577"/>
          <ac:spMkLst>
            <pc:docMk/>
            <pc:sldMk cId="3544924917" sldId="261"/>
            <ac:spMk id="2" creationId="{B4858DF3-E6BE-5712-CF14-4B2504827883}"/>
          </ac:spMkLst>
        </pc:spChg>
        <pc:spChg chg="del">
          <ac:chgData name="TANIKONDA NISHANTH KUMAR" userId="40694319746d7667" providerId="LiveId" clId="{4E8DF0CE-B86A-442F-B6B4-5524E2BF4ACE}" dt="2023-02-15T18:10:50.050" v="100" actId="478"/>
          <ac:spMkLst>
            <pc:docMk/>
            <pc:sldMk cId="3544924917" sldId="261"/>
            <ac:spMk id="3" creationId="{4A18F6AA-9C8E-440E-7651-16F88A7F571B}"/>
          </ac:spMkLst>
        </pc:spChg>
      </pc:sldChg>
      <pc:sldChg chg="delSp modSp new mod">
        <pc:chgData name="TANIKONDA NISHANTH KUMAR" userId="40694319746d7667" providerId="LiveId" clId="{4E8DF0CE-B86A-442F-B6B4-5524E2BF4ACE}" dt="2023-02-15T18:21:34.988" v="221" actId="20577"/>
        <pc:sldMkLst>
          <pc:docMk/>
          <pc:sldMk cId="2225924233" sldId="262"/>
        </pc:sldMkLst>
        <pc:spChg chg="mod">
          <ac:chgData name="TANIKONDA NISHANTH KUMAR" userId="40694319746d7667" providerId="LiveId" clId="{4E8DF0CE-B86A-442F-B6B4-5524E2BF4ACE}" dt="2023-02-15T18:21:34.988" v="221" actId="20577"/>
          <ac:spMkLst>
            <pc:docMk/>
            <pc:sldMk cId="2225924233" sldId="262"/>
            <ac:spMk id="2" creationId="{A01852B3-AA54-195A-3574-6AD9AF34BB6C}"/>
          </ac:spMkLst>
        </pc:spChg>
        <pc:spChg chg="del">
          <ac:chgData name="TANIKONDA NISHANTH KUMAR" userId="40694319746d7667" providerId="LiveId" clId="{4E8DF0CE-B86A-442F-B6B4-5524E2BF4ACE}" dt="2023-02-15T18:16:35.415" v="208" actId="478"/>
          <ac:spMkLst>
            <pc:docMk/>
            <pc:sldMk cId="2225924233" sldId="262"/>
            <ac:spMk id="3" creationId="{C094FBC3-1FD9-D9D3-4EE6-7385AFD47F3D}"/>
          </ac:spMkLst>
        </pc:spChg>
      </pc:sldChg>
      <pc:sldChg chg="delSp modSp new mod">
        <pc:chgData name="TANIKONDA NISHANTH KUMAR" userId="40694319746d7667" providerId="LiveId" clId="{4E8DF0CE-B86A-442F-B6B4-5524E2BF4ACE}" dt="2023-02-15T18:25:59.795" v="228" actId="1076"/>
        <pc:sldMkLst>
          <pc:docMk/>
          <pc:sldMk cId="3786926599" sldId="263"/>
        </pc:sldMkLst>
        <pc:spChg chg="mod">
          <ac:chgData name="TANIKONDA NISHANTH KUMAR" userId="40694319746d7667" providerId="LiveId" clId="{4E8DF0CE-B86A-442F-B6B4-5524E2BF4ACE}" dt="2023-02-15T18:25:59.795" v="228" actId="1076"/>
          <ac:spMkLst>
            <pc:docMk/>
            <pc:sldMk cId="3786926599" sldId="263"/>
            <ac:spMk id="2" creationId="{CA277FE6-4E9A-D3BF-BF56-17FF0EADBB8E}"/>
          </ac:spMkLst>
        </pc:spChg>
        <pc:spChg chg="del">
          <ac:chgData name="TANIKONDA NISHANTH KUMAR" userId="40694319746d7667" providerId="LiveId" clId="{4E8DF0CE-B86A-442F-B6B4-5524E2BF4ACE}" dt="2023-02-15T18:25:55.945" v="227" actId="478"/>
          <ac:spMkLst>
            <pc:docMk/>
            <pc:sldMk cId="3786926599" sldId="263"/>
            <ac:spMk id="3" creationId="{58994EE0-1577-7987-852B-01253C44FD8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ED753F1-2A83-48BB-BE84-E4EB6B1B8DCF}" type="datetimeFigureOut">
              <a:rPr lang="en-IN" smtClean="0"/>
              <a:t>16-02-2023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A1588D-62DA-496B-BAAB-89D75A40B9B0}" type="slidenum">
              <a:rPr lang="en-IN" smtClean="0"/>
              <a:t>‹#›</a:t>
            </a:fld>
            <a:endParaRPr lang="en-IN"/>
          </a:p>
        </p:txBody>
      </p:sp>
    </p:spTree>
    <p:extLst>
      <p:ext uri="{BB962C8B-B14F-4D97-AF65-F5344CB8AC3E}">
        <p14:creationId xmlns:p14="http://schemas.microsoft.com/office/powerpoint/2010/main" val="2260347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ED753F1-2A83-48BB-BE84-E4EB6B1B8DCF}" type="datetimeFigureOut">
              <a:rPr lang="en-IN" smtClean="0"/>
              <a:t>16-02-2023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A1588D-62DA-496B-BAAB-89D75A40B9B0}" type="slidenum">
              <a:rPr lang="en-IN" smtClean="0"/>
              <a:t>‹#›</a:t>
            </a:fld>
            <a:endParaRPr lang="en-IN"/>
          </a:p>
        </p:txBody>
      </p:sp>
    </p:spTree>
    <p:extLst>
      <p:ext uri="{BB962C8B-B14F-4D97-AF65-F5344CB8AC3E}">
        <p14:creationId xmlns:p14="http://schemas.microsoft.com/office/powerpoint/2010/main" val="1959830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ED753F1-2A83-48BB-BE84-E4EB6B1B8DCF}" type="datetimeFigureOut">
              <a:rPr lang="en-IN" smtClean="0"/>
              <a:t>16-02-2023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A1588D-62DA-496B-BAAB-89D75A40B9B0}" type="slidenum">
              <a:rPr lang="en-IN" smtClean="0"/>
              <a:t>‹#›</a:t>
            </a:fld>
            <a:endParaRPr lang="en-IN"/>
          </a:p>
        </p:txBody>
      </p:sp>
    </p:spTree>
    <p:extLst>
      <p:ext uri="{BB962C8B-B14F-4D97-AF65-F5344CB8AC3E}">
        <p14:creationId xmlns:p14="http://schemas.microsoft.com/office/powerpoint/2010/main" val="2658397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ED753F1-2A83-48BB-BE84-E4EB6B1B8DCF}" type="datetimeFigureOut">
              <a:rPr lang="en-IN" smtClean="0"/>
              <a:t>16-02-2023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A1588D-62DA-496B-BAAB-89D75A40B9B0}" type="slidenum">
              <a:rPr lang="en-IN" smtClean="0"/>
              <a:t>‹#›</a:t>
            </a:fld>
            <a:endParaRPr lang="en-IN"/>
          </a:p>
        </p:txBody>
      </p:sp>
    </p:spTree>
    <p:extLst>
      <p:ext uri="{BB962C8B-B14F-4D97-AF65-F5344CB8AC3E}">
        <p14:creationId xmlns:p14="http://schemas.microsoft.com/office/powerpoint/2010/main" val="2710124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ED753F1-2A83-48BB-BE84-E4EB6B1B8DCF}" type="datetimeFigureOut">
              <a:rPr lang="en-IN" smtClean="0"/>
              <a:t>16-02-2023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1A1588D-62DA-496B-BAAB-89D75A40B9B0}" type="slidenum">
              <a:rPr lang="en-IN" smtClean="0"/>
              <a:t>‹#›</a:t>
            </a:fld>
            <a:endParaRPr lang="en-IN"/>
          </a:p>
        </p:txBody>
      </p:sp>
    </p:spTree>
    <p:extLst>
      <p:ext uri="{BB962C8B-B14F-4D97-AF65-F5344CB8AC3E}">
        <p14:creationId xmlns:p14="http://schemas.microsoft.com/office/powerpoint/2010/main" val="1316851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ED753F1-2A83-48BB-BE84-E4EB6B1B8DCF}" type="datetimeFigureOut">
              <a:rPr lang="en-IN" smtClean="0"/>
              <a:t>16-02-2023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1A1588D-62DA-496B-BAAB-89D75A40B9B0}" type="slidenum">
              <a:rPr lang="en-IN" smtClean="0"/>
              <a:t>‹#›</a:t>
            </a:fld>
            <a:endParaRPr lang="en-IN"/>
          </a:p>
        </p:txBody>
      </p:sp>
    </p:spTree>
    <p:extLst>
      <p:ext uri="{BB962C8B-B14F-4D97-AF65-F5344CB8AC3E}">
        <p14:creationId xmlns:p14="http://schemas.microsoft.com/office/powerpoint/2010/main" val="46178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D753F1-2A83-48BB-BE84-E4EB6B1B8DCF}" type="datetimeFigureOut">
              <a:rPr lang="en-IN" smtClean="0"/>
              <a:t>16-02-2023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1A1588D-62DA-496B-BAAB-89D75A40B9B0}" type="slidenum">
              <a:rPr lang="en-IN" smtClean="0"/>
              <a:t>‹#›</a:t>
            </a:fld>
            <a:endParaRPr lang="en-IN"/>
          </a:p>
        </p:txBody>
      </p:sp>
    </p:spTree>
    <p:extLst>
      <p:ext uri="{BB962C8B-B14F-4D97-AF65-F5344CB8AC3E}">
        <p14:creationId xmlns:p14="http://schemas.microsoft.com/office/powerpoint/2010/main" val="1236045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ED753F1-2A83-48BB-BE84-E4EB6B1B8DCF}" type="datetimeFigureOut">
              <a:rPr lang="en-IN" smtClean="0"/>
              <a:t>16-02-2023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A1588D-62DA-496B-BAAB-89D75A40B9B0}" type="slidenum">
              <a:rPr lang="en-IN" smtClean="0"/>
              <a:t>‹#›</a:t>
            </a:fld>
            <a:endParaRPr lang="en-IN"/>
          </a:p>
        </p:txBody>
      </p:sp>
    </p:spTree>
    <p:extLst>
      <p:ext uri="{BB962C8B-B14F-4D97-AF65-F5344CB8AC3E}">
        <p14:creationId xmlns:p14="http://schemas.microsoft.com/office/powerpoint/2010/main" val="2295356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ED753F1-2A83-48BB-BE84-E4EB6B1B8DCF}" type="datetimeFigureOut">
              <a:rPr lang="en-IN" smtClean="0"/>
              <a:t>16-02-2023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A1588D-62DA-496B-BAAB-89D75A40B9B0}" type="slidenum">
              <a:rPr lang="en-IN" smtClean="0"/>
              <a:t>‹#›</a:t>
            </a:fld>
            <a:endParaRPr lang="en-IN"/>
          </a:p>
        </p:txBody>
      </p:sp>
    </p:spTree>
    <p:extLst>
      <p:ext uri="{BB962C8B-B14F-4D97-AF65-F5344CB8AC3E}">
        <p14:creationId xmlns:p14="http://schemas.microsoft.com/office/powerpoint/2010/main" val="2915627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ED753F1-2A83-48BB-BE84-E4EB6B1B8DCF}" type="datetimeFigureOut">
              <a:rPr lang="en-IN" smtClean="0"/>
              <a:t>16-02-2023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A1588D-62DA-496B-BAAB-89D75A40B9B0}" type="slidenum">
              <a:rPr lang="en-IN" smtClean="0"/>
              <a:t>‹#›</a:t>
            </a:fld>
            <a:endParaRPr lang="en-IN"/>
          </a:p>
        </p:txBody>
      </p:sp>
    </p:spTree>
    <p:extLst>
      <p:ext uri="{BB962C8B-B14F-4D97-AF65-F5344CB8AC3E}">
        <p14:creationId xmlns:p14="http://schemas.microsoft.com/office/powerpoint/2010/main" val="506516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ED753F1-2A83-48BB-BE84-E4EB6B1B8DCF}" type="datetimeFigureOut">
              <a:rPr lang="en-IN" smtClean="0"/>
              <a:t>16-02-2023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A1588D-62DA-496B-BAAB-89D75A40B9B0}" type="slidenum">
              <a:rPr lang="en-IN" smtClean="0"/>
              <a:t>‹#›</a:t>
            </a:fld>
            <a:endParaRPr lang="en-IN"/>
          </a:p>
        </p:txBody>
      </p:sp>
    </p:spTree>
    <p:extLst>
      <p:ext uri="{BB962C8B-B14F-4D97-AF65-F5344CB8AC3E}">
        <p14:creationId xmlns:p14="http://schemas.microsoft.com/office/powerpoint/2010/main" val="3363476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D753F1-2A83-48BB-BE84-E4EB6B1B8DCF}" type="datetimeFigureOut">
              <a:rPr lang="en-IN" smtClean="0"/>
              <a:t>16-02-2023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A1588D-62DA-496B-BAAB-89D75A40B9B0}" type="slidenum">
              <a:rPr lang="en-IN" smtClean="0"/>
              <a:t>‹#›</a:t>
            </a:fld>
            <a:endParaRPr lang="en-IN"/>
          </a:p>
        </p:txBody>
      </p:sp>
    </p:spTree>
    <p:extLst>
      <p:ext uri="{BB962C8B-B14F-4D97-AF65-F5344CB8AC3E}">
        <p14:creationId xmlns:p14="http://schemas.microsoft.com/office/powerpoint/2010/main" val="1935854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04949" y="880514"/>
            <a:ext cx="10515600" cy="1325563"/>
          </a:xfrm>
        </p:spPr>
        <p:txBody>
          <a:bodyPr>
            <a:normAutofit fontScale="90000"/>
          </a:bodyPr>
          <a:lstStyle/>
          <a:p>
            <a:r>
              <a:rPr lang="en-US" sz="3100" dirty="0">
                <a:latin typeface="Times New Roman" panose="02020603050405020304" pitchFamily="18" charset="0"/>
                <a:cs typeface="Times New Roman" panose="02020603050405020304" pitchFamily="18" charset="0"/>
              </a:rPr>
              <a:t>1. A 400-V dc shunt motor takes a current of 5.6 A on no-load and 68.3 A on full-load. Armature reaction weakens the field by 3%. Calculate the ratio of full-load speed to no-load speed. Given Ra = 0.18 ohm, brush voltage drop = 2 V, </a:t>
            </a:r>
            <a:r>
              <a:rPr lang="en-US" sz="3100" dirty="0" err="1">
                <a:latin typeface="Times New Roman" panose="02020603050405020304" pitchFamily="18" charset="0"/>
                <a:cs typeface="Times New Roman" panose="02020603050405020304" pitchFamily="18" charset="0"/>
              </a:rPr>
              <a:t>Rf</a:t>
            </a:r>
            <a:r>
              <a:rPr lang="en-US" sz="3100" dirty="0">
                <a:latin typeface="Times New Roman" panose="02020603050405020304" pitchFamily="18" charset="0"/>
                <a:cs typeface="Times New Roman" panose="02020603050405020304" pitchFamily="18" charset="0"/>
              </a:rPr>
              <a:t> = 200 ohm. </a:t>
            </a:r>
            <a:br>
              <a:rPr lang="en-US" sz="2700" dirty="0">
                <a:latin typeface="Times New Roman" panose="02020603050405020304" pitchFamily="18" charset="0"/>
                <a:cs typeface="Times New Roman" panose="02020603050405020304" pitchFamily="18" charset="0"/>
              </a:rPr>
            </a:br>
            <a:endParaRPr lang="en-IN" sz="27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9128462" y="5636029"/>
            <a:ext cx="2657860" cy="596005"/>
          </a:xfrm>
          <a:prstGeom prst="rect">
            <a:avLst/>
          </a:prstGeom>
        </p:spPr>
      </p:pic>
    </p:spTree>
    <p:extLst>
      <p:ext uri="{BB962C8B-B14F-4D97-AF65-F5344CB8AC3E}">
        <p14:creationId xmlns:p14="http://schemas.microsoft.com/office/powerpoint/2010/main" val="4056306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4825" y="1653598"/>
            <a:ext cx="10515600" cy="1325563"/>
          </a:xfrm>
        </p:spPr>
        <p:txBody>
          <a:bodyPr>
            <a:normAutofit fontScale="90000"/>
          </a:bodyPr>
          <a:lstStyle/>
          <a:p>
            <a:pPr algn="just"/>
            <a:r>
              <a:rPr lang="en-US" sz="3100" dirty="0">
                <a:latin typeface="Times New Roman" panose="02020603050405020304" pitchFamily="18" charset="0"/>
                <a:cs typeface="Times New Roman" panose="02020603050405020304" pitchFamily="18" charset="0"/>
              </a:rPr>
              <a:t>2. A 250-V dc shunt motor has </a:t>
            </a:r>
            <a:r>
              <a:rPr lang="en-US" sz="3100" dirty="0" err="1">
                <a:latin typeface="Times New Roman" panose="02020603050405020304" pitchFamily="18" charset="0"/>
                <a:cs typeface="Times New Roman" panose="02020603050405020304" pitchFamily="18" charset="0"/>
              </a:rPr>
              <a:t>Rf</a:t>
            </a:r>
            <a:r>
              <a:rPr lang="en-US" sz="3100" dirty="0">
                <a:latin typeface="Times New Roman" panose="02020603050405020304" pitchFamily="18" charset="0"/>
                <a:cs typeface="Times New Roman" panose="02020603050405020304" pitchFamily="18" charset="0"/>
              </a:rPr>
              <a:t> = 150 ohm and Ra = 0.6 ohm. The motor operates on </a:t>
            </a:r>
            <a:r>
              <a:rPr lang="en-US" sz="3100" dirty="0" err="1">
                <a:latin typeface="Times New Roman" panose="02020603050405020304" pitchFamily="18" charset="0"/>
                <a:cs typeface="Times New Roman" panose="02020603050405020304" pitchFamily="18" charset="0"/>
              </a:rPr>
              <a:t>noload</a:t>
            </a:r>
            <a:r>
              <a:rPr lang="en-US" sz="3100" dirty="0">
                <a:latin typeface="Times New Roman" panose="02020603050405020304" pitchFamily="18" charset="0"/>
                <a:cs typeface="Times New Roman" panose="02020603050405020304" pitchFamily="18" charset="0"/>
              </a:rPr>
              <a:t> with a full field flux at its base speed of 1000 rpm with </a:t>
            </a:r>
            <a:r>
              <a:rPr lang="en-US" sz="3100" dirty="0" err="1">
                <a:latin typeface="Times New Roman" panose="02020603050405020304" pitchFamily="18" charset="0"/>
                <a:cs typeface="Times New Roman" panose="02020603050405020304" pitchFamily="18" charset="0"/>
              </a:rPr>
              <a:t>Ia</a:t>
            </a:r>
            <a:r>
              <a:rPr lang="en-US" sz="3100" dirty="0">
                <a:latin typeface="Times New Roman" panose="02020603050405020304" pitchFamily="18" charset="0"/>
                <a:cs typeface="Times New Roman" panose="02020603050405020304" pitchFamily="18" charset="0"/>
              </a:rPr>
              <a:t> = 5 A. If the machine drives a load requiring a torque of 100 Nm, calculate armature current and speed of motor. If the motor is required to develop 10 kW at 1200 rpm, what is the required value of the external series resistance in the field circuit? Neglect saturation and armature reaction</a:t>
            </a:r>
            <a:r>
              <a:rPr lang="en-US" sz="2700" i="1" dirty="0">
                <a:latin typeface="Times New Roman" panose="02020603050405020304" pitchFamily="18" charset="0"/>
                <a:cs typeface="Times New Roman" panose="02020603050405020304" pitchFamily="18" charset="0"/>
              </a:rPr>
              <a:t>.</a:t>
            </a:r>
            <a:r>
              <a:rPr lang="en-US" sz="2700" dirty="0">
                <a:latin typeface="Times New Roman" panose="02020603050405020304" pitchFamily="18" charset="0"/>
                <a:cs typeface="Times New Roman" panose="02020603050405020304" pitchFamily="18" charset="0"/>
              </a:rPr>
              <a:t> </a:t>
            </a:r>
            <a:br>
              <a:rPr lang="en-US" dirty="0"/>
            </a:br>
            <a:endParaRPr lang="en-IN" dirty="0"/>
          </a:p>
        </p:txBody>
      </p:sp>
      <p:pic>
        <p:nvPicPr>
          <p:cNvPr id="4" name="Picture 3"/>
          <p:cNvPicPr>
            <a:picLocks noChangeAspect="1"/>
          </p:cNvPicPr>
          <p:nvPr/>
        </p:nvPicPr>
        <p:blipFill>
          <a:blip r:embed="rId2"/>
          <a:stretch>
            <a:fillRect/>
          </a:stretch>
        </p:blipFill>
        <p:spPr>
          <a:xfrm>
            <a:off x="8200331" y="5964034"/>
            <a:ext cx="3809873" cy="561455"/>
          </a:xfrm>
          <a:prstGeom prst="rect">
            <a:avLst/>
          </a:prstGeom>
        </p:spPr>
      </p:pic>
    </p:spTree>
    <p:extLst>
      <p:ext uri="{BB962C8B-B14F-4D97-AF65-F5344CB8AC3E}">
        <p14:creationId xmlns:p14="http://schemas.microsoft.com/office/powerpoint/2010/main" val="4241231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4949" y="1179772"/>
            <a:ext cx="10515600" cy="1325563"/>
          </a:xfrm>
        </p:spPr>
        <p:txBody>
          <a:bodyPr>
            <a:noAutofit/>
          </a:bodyPr>
          <a:lstStyle/>
          <a:p>
            <a:r>
              <a:rPr lang="en-US" sz="2800" dirty="0">
                <a:latin typeface="Times New Roman" panose="02020603050405020304" pitchFamily="18" charset="0"/>
                <a:cs typeface="Times New Roman" panose="02020603050405020304" pitchFamily="18" charset="0"/>
              </a:rPr>
              <a:t>3. A 4-pole series-wound fan motor draws an armature current of 50 A, when running at 2000 rpm on a 230 V dc supply with four field coil connected in series. The four field coils are now connected in two parallel groups of two coils in series. Assuming the flux/pole to be proportional to the exciting current and load torque proportional to the square of speed, find the new speed and armature current. Neglect losses. Given: armature resistance = 0.2 W, resistance of each field coil = 0.05 W. </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6957850" y="5757361"/>
            <a:ext cx="5234150" cy="1100639"/>
          </a:xfrm>
          <a:prstGeom prst="rect">
            <a:avLst/>
          </a:prstGeom>
        </p:spPr>
      </p:pic>
    </p:spTree>
    <p:extLst>
      <p:ext uri="{BB962C8B-B14F-4D97-AF65-F5344CB8AC3E}">
        <p14:creationId xmlns:p14="http://schemas.microsoft.com/office/powerpoint/2010/main" val="911481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1237" y="199506"/>
            <a:ext cx="7452210" cy="2722677"/>
          </a:xfrm>
          <a:prstGeom prst="rect">
            <a:avLst/>
          </a:prstGeom>
        </p:spPr>
      </p:pic>
      <p:pic>
        <p:nvPicPr>
          <p:cNvPr id="5" name="Picture 4"/>
          <p:cNvPicPr>
            <a:picLocks noChangeAspect="1"/>
          </p:cNvPicPr>
          <p:nvPr/>
        </p:nvPicPr>
        <p:blipFill>
          <a:blip r:embed="rId3"/>
          <a:stretch>
            <a:fillRect/>
          </a:stretch>
        </p:blipFill>
        <p:spPr>
          <a:xfrm>
            <a:off x="381237" y="2922184"/>
            <a:ext cx="4833459" cy="3935816"/>
          </a:xfrm>
          <a:prstGeom prst="rect">
            <a:avLst/>
          </a:prstGeom>
        </p:spPr>
      </p:pic>
      <p:sp>
        <p:nvSpPr>
          <p:cNvPr id="2" name="TextBox 1">
            <a:extLst>
              <a:ext uri="{FF2B5EF4-FFF2-40B4-BE49-F238E27FC236}">
                <a16:creationId xmlns:a16="http://schemas.microsoft.com/office/drawing/2014/main" id="{4D71C7A4-D019-33A6-0D11-4C0C2A87D95D}"/>
              </a:ext>
            </a:extLst>
          </p:cNvPr>
          <p:cNvSpPr txBox="1"/>
          <p:nvPr/>
        </p:nvSpPr>
        <p:spPr>
          <a:xfrm>
            <a:off x="8268101" y="5794407"/>
            <a:ext cx="2098307" cy="923330"/>
          </a:xfrm>
          <a:prstGeom prst="rect">
            <a:avLst/>
          </a:prstGeom>
          <a:noFill/>
        </p:spPr>
        <p:txBody>
          <a:bodyPr wrap="square" rtlCol="0">
            <a:spAutoFit/>
          </a:bodyPr>
          <a:lstStyle/>
          <a:p>
            <a:r>
              <a:rPr lang="en-IN" dirty="0"/>
              <a:t>Ans: a) 255 V</a:t>
            </a:r>
          </a:p>
          <a:p>
            <a:r>
              <a:rPr lang="en-IN" dirty="0"/>
              <a:t>b) 21 V</a:t>
            </a:r>
          </a:p>
          <a:p>
            <a:r>
              <a:rPr lang="en-IN" dirty="0"/>
              <a:t>c) 0.0072</a:t>
            </a:r>
          </a:p>
        </p:txBody>
      </p:sp>
    </p:spTree>
    <p:extLst>
      <p:ext uri="{BB962C8B-B14F-4D97-AF65-F5344CB8AC3E}">
        <p14:creationId xmlns:p14="http://schemas.microsoft.com/office/powerpoint/2010/main" val="2640957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8DF3-E6BE-5712-CF14-4B2504827883}"/>
              </a:ext>
            </a:extLst>
          </p:cNvPr>
          <p:cNvSpPr>
            <a:spLocks noGrp="1"/>
          </p:cNvSpPr>
          <p:nvPr>
            <p:ph type="title"/>
          </p:nvPr>
        </p:nvSpPr>
        <p:spPr>
          <a:xfrm>
            <a:off x="838200" y="1207807"/>
            <a:ext cx="10515600" cy="1325563"/>
          </a:xfrm>
        </p:spPr>
        <p:txBody>
          <a:bodyPr>
            <a:noAutofit/>
          </a:bodyPr>
          <a:lstStyle/>
          <a:p>
            <a:r>
              <a:rPr lang="en-US" sz="2800" dirty="0">
                <a:latin typeface="Times New Roman" panose="02020603050405020304" pitchFamily="18" charset="0"/>
                <a:cs typeface="Times New Roman" panose="02020603050405020304" pitchFamily="18" charset="0"/>
              </a:rPr>
              <a:t>6. A 220V D.C shunt motor takes 22A at rated case voltage and runs at 1000rpm. Its field resistance is 100ohm and its armature circuit resistance is 0.12. The value of additional resistance required in the armature circuit to reduce the speed to 800rpm when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a) load torque is proportional to the speed</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b) load torque varies as the square of the speed</a:t>
            </a:r>
            <a:endParaRPr lang="en-IN" sz="2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B21C561-E980-F754-00A9-39BAB66366C9}"/>
              </a:ext>
            </a:extLst>
          </p:cNvPr>
          <p:cNvSpPr txBox="1"/>
          <p:nvPr/>
        </p:nvSpPr>
        <p:spPr>
          <a:xfrm>
            <a:off x="8268101" y="5794408"/>
            <a:ext cx="2396691" cy="646331"/>
          </a:xfrm>
          <a:prstGeom prst="rect">
            <a:avLst/>
          </a:prstGeom>
          <a:noFill/>
        </p:spPr>
        <p:txBody>
          <a:bodyPr wrap="square" rtlCol="0">
            <a:spAutoFit/>
          </a:bodyPr>
          <a:lstStyle/>
          <a:p>
            <a:r>
              <a:rPr lang="en-IN" dirty="0"/>
              <a:t>Ans: a) 2.778 ohm</a:t>
            </a:r>
          </a:p>
          <a:p>
            <a:r>
              <a:rPr lang="en-IN" dirty="0"/>
              <a:t>b) 3.497 ohm</a:t>
            </a:r>
          </a:p>
        </p:txBody>
      </p:sp>
    </p:spTree>
    <p:extLst>
      <p:ext uri="{BB962C8B-B14F-4D97-AF65-F5344CB8AC3E}">
        <p14:creationId xmlns:p14="http://schemas.microsoft.com/office/powerpoint/2010/main" val="3544924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852B3-AA54-195A-3574-6AD9AF34BB6C}"/>
              </a:ext>
            </a:extLst>
          </p:cNvPr>
          <p:cNvSpPr>
            <a:spLocks noGrp="1"/>
          </p:cNvSpPr>
          <p:nvPr>
            <p:ph type="title"/>
          </p:nvPr>
        </p:nvSpPr>
        <p:spPr>
          <a:xfrm>
            <a:off x="838200" y="929901"/>
            <a:ext cx="10515600" cy="1325563"/>
          </a:xfrm>
        </p:spPr>
        <p:txBody>
          <a:bodyPr>
            <a:noAutofit/>
          </a:bodyPr>
          <a:lstStyle/>
          <a:p>
            <a:r>
              <a:rPr lang="en-US" sz="2800" dirty="0">
                <a:latin typeface="Times New Roman" panose="02020603050405020304" pitchFamily="18" charset="0"/>
                <a:cs typeface="Times New Roman" panose="02020603050405020304" pitchFamily="18" charset="0"/>
              </a:rPr>
              <a:t>A 200 V D.C. shunt motor takes 4 A at no-load when running at 700 </a:t>
            </a:r>
            <a:r>
              <a:rPr lang="en-US" sz="2800" dirty="0" err="1">
                <a:latin typeface="Times New Roman" panose="02020603050405020304" pitchFamily="18" charset="0"/>
                <a:cs typeface="Times New Roman" panose="02020603050405020304" pitchFamily="18" charset="0"/>
              </a:rPr>
              <a:t>r.p.m</a:t>
            </a:r>
            <a:r>
              <a:rPr lang="en-US" sz="2800" dirty="0">
                <a:latin typeface="Times New Roman" panose="02020603050405020304" pitchFamily="18" charset="0"/>
                <a:cs typeface="Times New Roman" panose="02020603050405020304" pitchFamily="18" charset="0"/>
              </a:rPr>
              <a:t>. The field resistance is 100ohm. The resistance of armature at standstill gave a drop of 6V across armature terminals when 10A were passed through it. Full load power input of the motor is 8kW. Calculate speed on full load. </a:t>
            </a:r>
            <a:endParaRPr lang="en-IN" sz="2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B9814A6-963B-A8F4-B4B3-0FA08EEF2B71}"/>
              </a:ext>
            </a:extLst>
          </p:cNvPr>
          <p:cNvSpPr txBox="1"/>
          <p:nvPr/>
        </p:nvSpPr>
        <p:spPr>
          <a:xfrm>
            <a:off x="8268101" y="5794408"/>
            <a:ext cx="1559293" cy="369332"/>
          </a:xfrm>
          <a:prstGeom prst="rect">
            <a:avLst/>
          </a:prstGeom>
          <a:noFill/>
        </p:spPr>
        <p:txBody>
          <a:bodyPr wrap="square" rtlCol="0">
            <a:spAutoFit/>
          </a:bodyPr>
          <a:lstStyle/>
          <a:p>
            <a:r>
              <a:rPr lang="en-IN" dirty="0"/>
              <a:t>Ans: 624 rpm</a:t>
            </a:r>
          </a:p>
        </p:txBody>
      </p:sp>
    </p:spTree>
    <p:extLst>
      <p:ext uri="{BB962C8B-B14F-4D97-AF65-F5344CB8AC3E}">
        <p14:creationId xmlns:p14="http://schemas.microsoft.com/office/powerpoint/2010/main" val="2225924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77FE6-4E9A-D3BF-BF56-17FF0EADBB8E}"/>
              </a:ext>
            </a:extLst>
          </p:cNvPr>
          <p:cNvSpPr>
            <a:spLocks noGrp="1"/>
          </p:cNvSpPr>
          <p:nvPr>
            <p:ph type="title"/>
          </p:nvPr>
        </p:nvSpPr>
        <p:spPr>
          <a:xfrm>
            <a:off x="838200" y="942641"/>
            <a:ext cx="10515600" cy="1325563"/>
          </a:xfrm>
        </p:spPr>
        <p:txBody>
          <a:bodyPr>
            <a:normAutofit fontScale="90000"/>
          </a:bodyPr>
          <a:lstStyle/>
          <a:p>
            <a:r>
              <a:rPr lang="en-US" dirty="0"/>
              <a:t>A 220 V separately excited de motor has Ra 0.5 2, takes I, = 40 A at full load. By how much should the flux be reduced to increase the speed by 50% if the torque is constant?</a:t>
            </a:r>
            <a:endParaRPr lang="en-IN" dirty="0"/>
          </a:p>
        </p:txBody>
      </p:sp>
      <p:sp>
        <p:nvSpPr>
          <p:cNvPr id="3" name="TextBox 2">
            <a:extLst>
              <a:ext uri="{FF2B5EF4-FFF2-40B4-BE49-F238E27FC236}">
                <a16:creationId xmlns:a16="http://schemas.microsoft.com/office/drawing/2014/main" id="{ECA94CAE-D184-1E8F-EC91-2CB93FCE5509}"/>
              </a:ext>
            </a:extLst>
          </p:cNvPr>
          <p:cNvSpPr txBox="1"/>
          <p:nvPr/>
        </p:nvSpPr>
        <p:spPr>
          <a:xfrm>
            <a:off x="8268101" y="5794408"/>
            <a:ext cx="1559293" cy="369332"/>
          </a:xfrm>
          <a:prstGeom prst="rect">
            <a:avLst/>
          </a:prstGeom>
          <a:noFill/>
        </p:spPr>
        <p:txBody>
          <a:bodyPr wrap="square" rtlCol="0">
            <a:spAutoFit/>
          </a:bodyPr>
          <a:lstStyle/>
          <a:p>
            <a:r>
              <a:rPr lang="en-IN" dirty="0"/>
              <a:t>Ans: 37.5%</a:t>
            </a:r>
          </a:p>
        </p:txBody>
      </p:sp>
    </p:spTree>
    <p:extLst>
      <p:ext uri="{BB962C8B-B14F-4D97-AF65-F5344CB8AC3E}">
        <p14:creationId xmlns:p14="http://schemas.microsoft.com/office/powerpoint/2010/main" val="3786926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TotalTime>
  <Words>470</Words>
  <Application>Microsoft Office PowerPoint</Application>
  <PresentationFormat>Widescreen</PresentationFormat>
  <Paragraphs>13</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1. A 400-V dc shunt motor takes a current of 5.6 A on no-load and 68.3 A on full-load. Armature reaction weakens the field by 3%. Calculate the ratio of full-load speed to no-load speed. Given Ra = 0.18 ohm, brush voltage drop = 2 V, Rf = 200 ohm.  </vt:lpstr>
      <vt:lpstr>2. A 250-V dc shunt motor has Rf = 150 ohm and Ra = 0.6 ohm. The motor operates on noload with a full field flux at its base speed of 1000 rpm with Ia = 5 A. If the machine drives a load requiring a torque of 100 Nm, calculate armature current and speed of motor. If the motor is required to develop 10 kW at 1200 rpm, what is the required value of the external series resistance in the field circuit? Neglect saturation and armature reaction.  </vt:lpstr>
      <vt:lpstr>3. A 4-pole series-wound fan motor draws an armature current of 50 A, when running at 2000 rpm on a 230 V dc supply with four field coil connected in series. The four field coils are now connected in two parallel groups of two coils in series. Assuming the flux/pole to be proportional to the exciting current and load torque proportional to the square of speed, find the new speed and armature current. Neglect losses. Given: armature resistance = 0.2 W, resistance of each field coil = 0.05 W.  </vt:lpstr>
      <vt:lpstr>PowerPoint Presentation</vt:lpstr>
      <vt:lpstr>6. A 220V D.C shunt motor takes 22A at rated case voltage and runs at 1000rpm. Its field resistance is 100ohm and its armature circuit resistance is 0.12. The value of additional resistance required in the armature circuit to reduce the speed to 800rpm when  a) load torque is proportional to the speed b) load torque varies as the square of the speed</vt:lpstr>
      <vt:lpstr>A 200 V D.C. shunt motor takes 4 A at no-load when running at 700 r.p.m. The field resistance is 100ohm. The resistance of armature at standstill gave a drop of 6V across armature terminals when 10A were passed through it. Full load power input of the motor is 8kW. Calculate speed on full load. </vt:lpstr>
      <vt:lpstr>A 220 V separately excited de motor has Ra 0.5 2, takes I, = 40 A at full load. By how much should the flux be reduced to increase the speed by 50% if the torque is constant?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A 400-V dc shunt motor takes a current of 5.6 A on no-load and 68.3 A on full-load. Armature reaction weakens the field by 3%. Calculate the ratio of full-load speed to no-load speed. Given Ra = 0.18 W, brush voltage drop = 2 V, Rf = 200 ohm.  </dc:title>
  <dc:creator>SA LAB-10</dc:creator>
  <cp:lastModifiedBy>chandra MVSS</cp:lastModifiedBy>
  <cp:revision>14</cp:revision>
  <dcterms:created xsi:type="dcterms:W3CDTF">2023-02-15T11:56:09Z</dcterms:created>
  <dcterms:modified xsi:type="dcterms:W3CDTF">2023-02-16T13:19:52Z</dcterms:modified>
</cp:coreProperties>
</file>