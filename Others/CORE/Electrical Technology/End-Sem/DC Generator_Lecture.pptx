
<file path=[Content_Types].xml><?xml version="1.0" encoding="utf-8"?>
<Types xmlns="http://schemas.openxmlformats.org/package/2006/content-types">
  <Default Extension="png" ContentType="image/png"/>
  <Default Extension="jpeg" ContentType="image/jpeg"/>
  <Default Extension="emf" ContentType="image/x-emf"/>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58"/>
  </p:notesMasterIdLst>
  <p:handoutMasterIdLst>
    <p:handoutMasterId r:id="rId59"/>
  </p:handoutMasterIdLst>
  <p:sldIdLst>
    <p:sldId id="292" r:id="rId2"/>
    <p:sldId id="291" r:id="rId3"/>
    <p:sldId id="476" r:id="rId4"/>
    <p:sldId id="477" r:id="rId5"/>
    <p:sldId id="478" r:id="rId6"/>
    <p:sldId id="393" r:id="rId7"/>
    <p:sldId id="394" r:id="rId8"/>
    <p:sldId id="479" r:id="rId9"/>
    <p:sldId id="396" r:id="rId10"/>
    <p:sldId id="480" r:id="rId11"/>
    <p:sldId id="398" r:id="rId12"/>
    <p:sldId id="399" r:id="rId13"/>
    <p:sldId id="400" r:id="rId14"/>
    <p:sldId id="401" r:id="rId15"/>
    <p:sldId id="402" r:id="rId16"/>
    <p:sldId id="403" r:id="rId17"/>
    <p:sldId id="404" r:id="rId18"/>
    <p:sldId id="405" r:id="rId19"/>
    <p:sldId id="406" r:id="rId20"/>
    <p:sldId id="407" r:id="rId21"/>
    <p:sldId id="408" r:id="rId22"/>
    <p:sldId id="409" r:id="rId23"/>
    <p:sldId id="410" r:id="rId24"/>
    <p:sldId id="411" r:id="rId25"/>
    <p:sldId id="412" r:id="rId26"/>
    <p:sldId id="413" r:id="rId27"/>
    <p:sldId id="414" r:id="rId28"/>
    <p:sldId id="415" r:id="rId29"/>
    <p:sldId id="416" r:id="rId30"/>
    <p:sldId id="417" r:id="rId31"/>
    <p:sldId id="418" r:id="rId32"/>
    <p:sldId id="419" r:id="rId33"/>
    <p:sldId id="420" r:id="rId34"/>
    <p:sldId id="422" r:id="rId35"/>
    <p:sldId id="423" r:id="rId36"/>
    <p:sldId id="426" r:id="rId37"/>
    <p:sldId id="427" r:id="rId38"/>
    <p:sldId id="428" r:id="rId39"/>
    <p:sldId id="430" r:id="rId40"/>
    <p:sldId id="432" r:id="rId41"/>
    <p:sldId id="433" r:id="rId42"/>
    <p:sldId id="483" r:id="rId43"/>
    <p:sldId id="434" r:id="rId44"/>
    <p:sldId id="481" r:id="rId45"/>
    <p:sldId id="482" r:id="rId46"/>
    <p:sldId id="487" r:id="rId47"/>
    <p:sldId id="436" r:id="rId48"/>
    <p:sldId id="484" r:id="rId49"/>
    <p:sldId id="493" r:id="rId50"/>
    <p:sldId id="485" r:id="rId51"/>
    <p:sldId id="486" r:id="rId52"/>
    <p:sldId id="437" r:id="rId53"/>
    <p:sldId id="438" r:id="rId54"/>
    <p:sldId id="439" r:id="rId55"/>
    <p:sldId id="440" r:id="rId56"/>
    <p:sldId id="441" r:id="rId57"/>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576">
          <p15:clr>
            <a:srgbClr val="A4A3A4"/>
          </p15:clr>
        </p15:guide>
        <p15:guide id="2" pos="576">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265" autoAdjust="0"/>
    <p:restoredTop sz="94660"/>
  </p:normalViewPr>
  <p:slideViewPr>
    <p:cSldViewPr>
      <p:cViewPr varScale="1">
        <p:scale>
          <a:sx n="67" d="100"/>
          <a:sy n="67" d="100"/>
        </p:scale>
        <p:origin x="1446" y="48"/>
      </p:cViewPr>
      <p:guideLst>
        <p:guide orient="horz" pos="576"/>
        <p:guide pos="576"/>
      </p:guideLst>
    </p:cSldViewPr>
  </p:slideViewPr>
  <p:notesTextViewPr>
    <p:cViewPr>
      <p:scale>
        <a:sx n="100" d="100"/>
        <a:sy n="100" d="100"/>
      </p:scale>
      <p:origin x="0" y="0"/>
    </p:cViewPr>
  </p:notesTextViewPr>
  <p:notesViewPr>
    <p:cSldViewPr showGuides="1">
      <p:cViewPr varScale="1">
        <p:scale>
          <a:sx n="52" d="100"/>
          <a:sy n="52" d="100"/>
        </p:scale>
        <p:origin x="-2892" y="-108"/>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notesMaster" Target="notesMasters/notesMaster1.xml"/><Relationship Id="rId5" Type="http://schemas.openxmlformats.org/officeDocument/2006/relationships/slide" Target="slides/slide4.xml"/><Relationship Id="rId61" Type="http://schemas.openxmlformats.org/officeDocument/2006/relationships/viewProps" Target="viewProps.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handoutMaster" Target="handoutMasters/handoutMaster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31F3B94F-5F29-4981-8B40-B0A31128BDC7}" type="datetimeFigureOut">
              <a:rPr lang="en-US" smtClean="0"/>
              <a:pPr/>
              <a:t>2/16/2023</a:t>
            </a:fld>
            <a:endParaRPr lang="en-US" dirty="0"/>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6EB7E42D-E44C-4AE4-973A-A45C2CFFC753}" type="slidenum">
              <a:rPr lang="en-US" smtClean="0"/>
              <a:pPr/>
              <a:t>‹#›</a:t>
            </a:fld>
            <a:endParaRPr lang="en-US" dirty="0"/>
          </a:p>
        </p:txBody>
      </p:sp>
    </p:spTree>
    <p:extLst>
      <p:ext uri="{BB962C8B-B14F-4D97-AF65-F5344CB8AC3E}">
        <p14:creationId xmlns:p14="http://schemas.microsoft.com/office/powerpoint/2010/main" val="2590312331"/>
      </p:ext>
    </p:extLst>
  </p:cSld>
  <p:clrMap bg1="lt1" tx1="dk1" bg2="lt2" tx2="dk2" accent1="accent1" accent2="accent2" accent3="accent3" accent4="accent4" accent5="accent5" accent6="accent6" hlink="hlink" folHlink="folHlink"/>
</p:handoutMaster>
</file>

<file path=ppt/ink/ink1.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cm"/>
          <inkml:channel name="T" type="integer" max="2.14748E9" units="dev"/>
        </inkml:traceFormat>
        <inkml:channelProperties>
          <inkml:channelProperty channel="X" name="resolution" value="1612.54919" units="1/cm"/>
          <inkml:channelProperty channel="Y" name="resolution" value="2580.07886" units="1/cm"/>
          <inkml:channelProperty channel="F" name="resolution" value="10E-6" units="1/cm"/>
          <inkml:channelProperty channel="T" name="resolution" value="1" units="1/dev"/>
        </inkml:channelProperties>
      </inkml:inkSource>
      <inkml:timestamp xml:id="ts0" timeString="2022-02-02T05:35:06.520"/>
    </inkml:context>
    <inkml:brush xml:id="br0">
      <inkml:brushProperty name="width" value="0.05292" units="cm"/>
      <inkml:brushProperty name="height" value="0.05292" units="cm"/>
      <inkml:brushProperty name="color" value="#FF0000"/>
    </inkml:brush>
  </inkml:definitions>
  <inkml:trace contextRef="#ctx0" brushRef="#br0">11950 8056 206 0,'-3'0'261'0,"3"0"-6"16,-1 0-39-16,-1 2-47 0,0-2-46 0,-1 0-36 15,3 0-25-15,0 0-17 0,0 0-10 16,0 0-9-16,0 0-10 0,3 0 0 0,-1-2-2 15,0 2-2-15,-1-1-7 0,-1 1 6 16,0 0-3-16,0 0-2 0,0 0 1 0,0 0 3 16,0 0 3-16,0 0 0 0,0 0 1 15,0 0 2-15,0 0 5 0,0 0-1 16,0 0-4-16,0 0 0 0,0 0-2 0,0 0-1 16,0 0-6-16,0 0-2 0,0 0-3 15,0 1 1-15,0 1 0 0,0 1-3 0,0-3-1 16,3 3-1-16,-3 1 2 0,4 2 0 15,-4 1-1-15,1-3-1 0,1 6 4 0,-2-3 1 16,3 1-2-16,0 1 1 0,-2 2-1 16,1-2 2-16,-1 1 2 0,1 4-4 15,-2-2-1-15,2 1 2 0,1 2-2 0,0 0 1 16,2 0-1-16,-2 0 3 0,-1 2 0 16,7 1 2-16,-4-2 1 0,0 0-3 15,-1 1 4-15,0 1-5 0,-1-2 3 0,0 1-1 16,1 0-3-16,0 2 2 0,-4-2 0 15,1 4 0-15,-1 0-3 0,0-3 4 0,0 4 0 16,0 0 0-16,-1 0 0 0,1-3 1 16,-4 3-1-16,4 2-2 0,-4-4 2 0,4 2-1 15,-3-3-2-15,3 1 2 0,-2 0 2 16,2 0-3-16,0 2-1 0,0-4 2 0,0 3 3 16,0-2-6-16,0-2 0 0,2 1 2 15,-2-1 0-15,3 1 0 0,-3-3-1 16,4 3 2-16,-4 0-1 0,4-3 1 0,-4 2-1 15,1 0 0-15,-1 1-5 0,3 0 2 16,-3 1 2-16,0 0-1 0,-3-1 3 16,3 0 2-16,-1 2 2 0,-3-3 0 0,0 1-1 15,1 2 2-15,0-4-2 0,-1 0 1 16,1 0 3-16,0-3-3 0,0 2 1 0,0-3-1 16,1-2 1-16,0 2-2 0,1-5-1 15,-5 1-3-15,6-1 1 0,0 2 3 0,0-5-1 16,0 4-4-16,0-3 2 0,0 2 1 15,0-2-3-15,0-2-1 0,0 2 2 16,6-3-2-16,-6 0-2 0,1 1 2 0,-1-3 3 16,0 2 0-16,2-2 3 0,-2 0 0 15,2 0 4-15,-1 0-5 0,1-2 0 0,1-1-6 16,0 1-19-16,4-8-30 0,-1-2-87 16,3-4-134-16,1-2-71 0,-2-4-34 15,3 3-4-15,-2 2 21 0</inkml:trace>
  <inkml:trace contextRef="#ctx0" brushRef="#br0" timeOffset="1224.7889">10354 8097 37 0,'0'-2'193'0,"0"2"11"0,-5 0-23 15,5 0-39-15,0 0-29 0,0 2-23 16,0-1-14-16,0-1-17 0,0 4-19 0,0-3-8 16,0 0-6-16,0 1-6 0,0-1-3 15,0 0-8-15,0 3 3 0,0 0-4 16,0-1 3-16,0 3 1 0,0 2-1 0,0 2 1 16,0 0 1-16,0 2 1 0,0 0 0 15,0 1-1-15,0 2 2 0,0 1 0 0,0 3 0 16,5-2 0-16,-5 1 0 0,1 3-3 15,-1 1 0-15,3 1 0 0,-1 0-4 0,-1 1 1 16,3 1 2-16,-3 3-4 0,4 1-2 16,-2 0 2-16,-1 0 0 0,1 1-1 15,2 1-4-15,-4 0 3 0,-1-1 2 0,3 1-3 16,-3 0 4-16,2-2 0 0,-2 3 0 16,0-4 0-16,0 2 2 0,0-5-4 15,0-1-3-15,0-1 2 0,0 1-1 0,0-2-4 16,1-2 4-16,-1 4 0 0,0-2 2 15,0-3-2-15,2 0-1 0,-2 1 1 0,0 0-2 16,0 1 1-16,0-2-3 0,0 3 5 16,0-3-2-16,0-2 0 0,0 2 0 15,-2 1 1-15,1 0-2 0,-1-2 3 0,2 0-1 16,-3 3 0-16,3-3-2 0,-1 0 0 0,-3 2 2 16,4-2-4-16,0 0 0 0,0-1 0 15,0 2 2-15,0-1-1 0,0 1-1 16,4-1 1-16,-4-2-1 0,1 1 0 0,-1 0 0 15,3-2 0-15,-3-1 0 0,0-2 3 16,0 0 1-16,0 0 0 0,0-4 2 0,2 3 1 16,-2-5-2-16,0 3-3 0,1-5 2 15,1 4-1-15,-2-3 1 0,2 0-3 16,-2 2 4-16,3 0 1 0,-1-1-3 0,-2-2-1 16,1 1-1-16,-1-1 2 0,2-1 1 15,-2-1-3-15,2-1 6 0,-2 0 3 16,0 1 9-16,0-2 9 0,0 0 3 0,0 0 11 15,0 0 5-15,1 0 9 16,-1-2-1-16,0 1-4 0,3-3-7 0,3-4-10 0,-1-3-16 16,5-5-27-16,1-1-37 0,1 1-39 15,1-2-49-15,4-2-144 0,1 1-73 16,-1-2-27-16,-2 3 6 0,0 1 24 0</inkml:trace>
  <inkml:trace contextRef="#ctx0" brushRef="#br0" timeOffset="2489.3896">11912 8248 235 0,'0'-3'298'0,"-3"1"14"15,3-1-48-15,0 3-79 0,0-2-68 0,0 0-43 16,-2 1-26-16,2 1-16 0,0 0-11 16,0 0-7-16,0 0-2 0,0 0-6 0,0 0-3 15,0 0-3-15,0 0 0 0,0 0 0 16,0 0-1-16,0 0-1 0,0 0 0 0,0 0 4 15,0 0 1-15,0 0 2 0,0 0 2 16,0 0 2-16,0 0 0 0,0 0-3 16,0 0 0-16,0 1-3 0,0 1-3 0,0 0 0 15,0-2 0-15,2 5 1 0,1-2-2 16,-3 5 0-16,3-2 1 0,-1 6 1 0,3-3-1 16,-2 6 1-16,2-2 0 0,1 3 1 15,0 1 1-15,-1 0-1 0,2 4-1 16,2 0-1-16,-3 1 3 0,-1-1 0 0,0 1 1 15,1 0-1-15,2-1 0 0,-2-1 3 16,-1-1 1-16,-2 2-4 0,0-2 0 0,4-1 0 16,-4 4-2-16,5-5 1 0,-7 4-2 15,2-1 3-15,1 0 1 0,-3 2-2 16,1 1 2-16,-2 1 0 0,0 0 2 0,0 3 3 16,0-3-3-16,0-2 2 15,0 2-5-15,1-2 0 0,-1-1 2 0,2 2-5 16,1-6 0-16,-3 5 0 0,2-4 0 0,-2 0 0 15,3 1 0-15,-3-2 1 0,4-1 2 16,-2 1 1-16,0 1 1 0,-2-4 1 0,0 2-3 16,4-1-3-16,-4 0 3 0,2-2-3 15,0 1 0-15,-2-2 1 0,1 1 6 16,-1-1 1-16,0-3-2 0,0 3 2 0,0-2 1 16,2-1-1-16,-2-1 1 0,0 1-3 0,1-3 2 15,-1 3-3-15,0-3-1 0,2 2-1 16,-2-1-1-16,0-1 1 0,0 1-1 15,0 0 2-15,0-2 1 0,0-1 1 0,0 2-1 16,0-3 0-16,0 1 1 0,0 2 1 16,0-1 1-16,0-2-4 0,0 1 6 0,0-1 1 15,0 0-1-15,0-1 2 0,0 1 2 16,0-1 1-16,0-2-1 0,0 2 2 16,0-2-1-16,0 1 6 0,0-1 4 0,0 0 6 15,0 0 10-15,0 0 15 0,0 0 18 16,0-1 21-16,0-1 13 0,0 2 19 0,0-2 15 15,0-1 6-15,0 3-2 16,0-2-12-16,0 1-12 0,0-1-23 0,0 1-25 16,0-3-19-16,0 2-24 0,0-1-25 0,0 3-49 15,0-2-73-15,0 1-92 0,-2-4-164 16,-1 0-142-16,-2-1-68 0,1-6 0 0,0-2 48 16,0-4 74-16</inkml:trace>
  <inkml:trace contextRef="#ctx0" brushRef="#br0" timeOffset="6018.1563">13491 7600 40 0,'30'0'45'0,"-3"0"5"0,2 0 1 16,-2 0 13-16,1 0 16 0,-1-1 17 16,3 1 16-16,0-3 9 0,-1 0-1 0,2-3-15 15,-1 1-22-15,-1 1-22 0,1-2-13 16,-4-1-12-16,1 2-6 0,0-2-1 0,-3 2-3 15,1-2 0-15,-1 2-5 0,0-3-4 16,3 4-4-16,-1-5-6 0,0 4-1 0,0-2-7 16,-1 1 0-16,1 1-1 0,1 1-1 15,-2-1 1-15,2 3-6 0,1-1 3 0,1-1 1 16,-1 1-1-16,4 0 0 0,0 0 0 16,-2-1 2-16,0 4-1 0,1-3 15 15,-2 3 6-15,-1 0 2 0,2 0 7 0,-1 0-2 16,2 0 5-16,0 3-15 0,1-3-2 15,3 4-5-15,0-3-1 0,0-1-5 16,0 0-3-16,-2 0-3 0,1 2-2 0,-4 0-3 16,-4-2 5-16,0 1-4 0,0-1 4 15,-4 0 3-15,-2 0-4 0,0 0 6 0,-1 0-3 16,-3 0 2-16,1 0 2 0,-1 0 0 16,1 0 0-16,-1 0-4 0,5 0 2 0,-3-1-2 15,-2 1 0-15,3 0 2 0,2 0 0 16,-4 0-1-16,3 1-2 0,3-1 3 15,-6 3 0-15,0-3 0 0,1 4-1 0,3 0 4 16,-7-1 0-16,3 0 3 0,-1-1-3 16,-3 3-2-16,0-3 1 0,-1 2-2 0,-3 2 0 15,3-3 0-15,-3 2 0 0,5-2 2 16,0 1 0-16,-2-1-2 0,5-1 0 16,0 0-2-16,0 0 2 0,1 0-2 0,1 1 2 15,1-3 0-15,-2 0 0 0,2 0-2 16,2 0-1-16,-4 0 2 0,-1 0 0 0,-1 0 1 15,-2 0 1-15,-2 0 0 16,0 0 2-16,-2 0-3 0,-4 0-1 0,0 0-2 0,2 3 2 16,-3-3 1-16,0 1 0 0,-1 0 1 15,0 1-1-15,0 0 0 0,1-2-1 16,1 3 1-16,-4-2 0 0,4 0 0 0,1 2 4 16,-2-3 3-16,1 4-2 0,0-3 1 15,0 1 0-15,1 1 1 0,-1-1-2 0,2 0 0 16,-5 1-2-16,2-3 2 0,-2 3 2 15,-1 2-3-15,2-5 0 0,0 3-2 0,-3-1 3 16,2 5-5-16,3-1 2 0,-4-2-1 16,3 4 2-16,0 2 0 0,-1 0-1 15,1 2 0-15,-2-1 2 0,3 4 1 0,-1-1 1 16,0 1 1-16,-3 0 1 0,4 3-3 16,0 0 0-16,0 1 0 0,-1 1-4 15,0 1 3-15,0 1 2 0,0 3 0 0,-1-5-1 16,0 4 1-16,2 0 0 0,-2-2-3 0,0 1 2 15,-1 1 1-15,0-1-1 0,0-1-2 16,1 1 2-16,-3 0-2 0,3-2 0 16,-1-1-1-16,1 2-1 0,-3-1 0 15,1 1 3-15,0-1-2 0,-2 2 0 0,0-2 2 16,0 1-1-16,-2 3 0 0,0-1-2 0,1 3 3 16,-3 1 1-16,1 1-1 0,-1 0 1 15,3 0-2-15,-4 2 3 0,0 1-4 16,2-2 0-16,-1 1-2 0,1 0 1 0,0-2 0 15,-1 0 0-15,0-1 2 0,1-1 0 16,3-2-1-16,-1 0-2 0,-1 0-1 0,0-5 1 16,1 0 0-16,-2-2-4 0,3-1 4 15,0-2 0-15,0 0 1 0,0 0 1 16,0-2-1-16,0 1 0 0,0-3-1 16,0 4 1-16,0-3-1 0,0 0 2 0,3-1-2 15,-2 3-2-15,-1-3 4 0,2 1-1 16,-2 0-1-16,0 1 0 0,2-1 0 0,-2 1 2 15,0-1-1-15,0 1-1 0,0-1 0 16,-2 1 0-16,0-3 0 0,1 3 1 0,-2-3-1 16,3 2 2-16,-2-2 0 0,0 0-2 15,1-1 0-15,-1 1 0 0,1-3 0 0,1 0-1 16,-4 1 1-16,4-1 0 16,-4 1 1-16,4-1-1 0,-4 5 0 0,2-5 0 15,-2 3 0-15,3-1 0 0,-2 0 2 0,3-1 2 16,-2-1-3-16,0-1 3 0,1 1-2 15,-1-2-1-15,-1-1 1 0,3-1 0 0,-2-1 0 16,1 3-1-16,1-3 3 0,0-1-1 16,0 1 2-16,0-2 1 0,-5 0 3 15,5 1 3-15,-3-1 3 0,2 2-3 0,-4-2 3 16,-2 2 0-16,1 1 0 16,-2-1-2-16,0-1-2 0,-3 2 1 0,-3-1-3 0,4 1 0 15,-5 1-4-15,2-1 1 0,-1 0 1 16,-4 2-3-16,4-1 0 0,-3 1 0 15,-2 0-1-15,1-2-1 0,-2 4 0 0,-2 0 0 16,2-2-1-16,-3 2 3 0,1-1-2 16,-1 0 2-16,0 0 1 0,-1 0-2 0,-2-1 1 15,5 2-1-15,-3 1 0 0,-1-3 2 16,1 2-3-16,-2-2-3 0,0 0 3 0,1 0 4 16,-1-1-4-16,-1-1 4 0,-3 3-3 15,0 0 5-15,-3 0-13 0,0 0 2 16,-1 0 3-16,-1 2-5 0,-2-3 1 0,-1 3 2 15,3-1 6-15,-4 2-2 0,1-3-2 16,-1 2 4-16,-2 0-2 0,1-1-2 0,0 1 2 16,-2-1-6-16,1 3-6 0,-1-5-3 15,-1 2 1-15,4 0-3 0,-2-1 3 16,-1 0 4-16,1 1 5 0,-5-2-1 0,0 2 4 16,0-1 3-16,0-2 3 0,1 4 2 15,0-6 0-15,4 5 4 0,-3-4-2 16,3 1-4-16,-2-1-1 0,5-1-5 0,-2 1 0 15,1-3 0-15,1 2 2 0,0 0 2 16,3-1-3-16,0 1-1 0,2-1 2 0,-1 0 2 16,-1 0-6-16,3 1 2 0,-2 1 0 15,0-3 0-15,1 2 0 0,1 1-2 16,-1 0 2-16,2 1 0 0,0-1-2 0,0 2 2 16,2 1 0-16,1-1 0 0,1-1 0 15,2 1 0-15,3 0 0 0,-1 0 0 0,2 0 0 16,-5-1 2-16,4-1-2 0,0 0 0 15,-2 0-2-15,1 1-1 0,-1-1 1 16,0 3 2-16,-3-1 1 0,2-3 0 16,-2 5 2-16,0-3-4 0,2-2 1 0,1 0 0 15,2 3-2-15,-2-2 1 0,2-1 0 0,-1 0 2 16,2 1-1-16,-3-3 0 0,0 4 15 16,1-1 2-16,-3-1 6 0,0 1-2 0,-1 1 3 15,-2 1-3-15,3-4-7 0,-3 2-9 16,2 1-4-16,4-1-2 0,-1-1 1 0,3-1-2 15,1 1 0-15,4-2 2 0,0 0 9 16,3 0 0-16,-1 0 3 0,5 0 4 16,-1 0-3-16,1 0 1 0,4 0-5 0,-1 0-1 15,1-2-4-15,-3 2-1 0,4 0 3 16,0 0-2-16,1 0 5 0,0-1 0 0,0 1 5 16,1 0 3-16,-1 0 2 0,3 0 1 15,-2-2 2-15,1 2-1 0,-1 0 1 0,0-3-3 16,2 3 0-16,-3-3-4 0,3 2 0 15,-2 0-1-15,0-1-2 0,0 1 2 16,-1 1 0-16,2-2 2 0,-3-1 1 0,0-1 0 16,3 1-1-16,-2-1-1 0,0-1 1 15,-2 0-1-15,-1 0-1 0,1-2-4 0,2-2-4 16,-2 0 4-16,2-2-1 0,-2 1-4 16,0-2-2-16,-1-3 2 0,3 1 0 0,-4 1-1 15,5-2-2-15,-3-1 0 0,0-1 0 16,1-3-1-16,-1 2 0 0,0-2-3 15,0-2-1-15,2 0 1 0,2-2 2 0,-4 0-2 16,3-3 1-16,-2-1 1 0,0-4 0 16,1 1-2-16,0-1-3 0,3 0 4 0,-1-1-4 15,-2 3 1-15,2-1 0 0,-2 0 2 16,3 3-1-16,0-2-3 0,0 3-1 16,0 1-6-16,0-3 2 0,0 2-2 0,0-2-1 15,0-5 6-15,0 4 1 0,0-7 1 16,-2-1 0-16,2-7 0 0,-4 2 1 0,4-4-2 15,-2-5-1-15,-1 1-1 0,-3-2 0 16,0-1 1-16,-4-1 0 0,-2 2-2 16,-1 1 4-16,-1 0 0 0,-1 5 2 0,2-2-2 15,-2 4 3-15,4 2-2 0,-2 2 2 16,4 0 0-16,1 4-1 0,0 3 0 0,2 3 0 16,2-1-4-16,1 3-2 0,2 0-2 15,1 4-2-15,0 2-1 0,1-4-5 0,2 4-1 16,4 3-1-16,0-3 0 0,-2 4 2 15,5 0 1-15,-4 4 4 0,3 1 3 16,-1 2 5-16,-3 2 4 0,0 2 0 0,0 2-1 16,-2 0 2-16,1 2 1 0,-4 0-1 15,4 0-1-15,-4 3 0 0,0-1-3 0,0 1-2 16,0 1-6-16,0 0-12 0,0 0-10 16,0 1-7-16,0 2-7 0,0 3-17 15,-4 0-29-15,4 5-142 0,0-2-71 0,0-2-38 16,4-4-13-16,-1 4 9 0</inkml:trace>
  <inkml:trace contextRef="#ctx0" brushRef="#br0" timeOffset="7287.7434">12924 8618 52 0,'0'0'103'0,"2"0"17"16,-1 0 8-16,1 0 9 0,-1 0 2 0,1 0-3 15,1 0-16-15,-2 0-26 0,1 0-20 16,0 0-22-16,-2 0-16 0,0 0-12 0,0 0-8 16,0 0-4-16,0 0-5 0,1 0-3 15,-1 0-3-15,0 0-1 0,3 0-4 16,-3 0-21-16,4-3-59 0,-4 3-96 0,1-7-48 15,1 2-29-15,-2 5-11 0</inkml:trace>
</inkml:ink>
</file>

<file path=ppt/ink/ink2.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cm"/>
          <inkml:channel name="T" type="integer" max="2.14748E9" units="dev"/>
        </inkml:traceFormat>
        <inkml:channelProperties>
          <inkml:channelProperty channel="X" name="resolution" value="1612.54919" units="1/cm"/>
          <inkml:channelProperty channel="Y" name="resolution" value="2580.07886" units="1/cm"/>
          <inkml:channelProperty channel="F" name="resolution" value="10E-6" units="1/cm"/>
          <inkml:channelProperty channel="T" name="resolution" value="1" units="1/dev"/>
        </inkml:channelProperties>
      </inkml:inkSource>
      <inkml:timestamp xml:id="ts0" timeString="2022-02-02T06:03:26.382"/>
    </inkml:context>
    <inkml:brush xml:id="br0">
      <inkml:brushProperty name="width" value="0.05292" units="cm"/>
      <inkml:brushProperty name="height" value="0.05292" units="cm"/>
      <inkml:brushProperty name="color" value="#FF0000"/>
    </inkml:brush>
  </inkml:definitions>
  <inkml:trace contextRef="#ctx0" brushRef="#br0">8423 6280 192 0,'4'-14'358'0,"-4"-5"33"16,2-5 27-16,-1 1-88 0,1-2-107 15,-1 1-52-15,1 3-32 0,0 0-15 0,2 0-11 16,-4 5-4-16,3 1-4 0,-3 3-8 0,3 0-13 15,-3 5-15-15,2 0-22 0,-2 4-18 16,2 2-19-16,-1 2-12 0,2 5-7 16,2 1-4-16,0 9 1 0,4 1 4 15,2 3 2-15,2 7 3 0,3 1 6 0,3 1-1 16,2 5 5-16,2-2 0 0,2-3 7 16,7 1 11-16,4-5 9 0,4-5 15 0,14-6 7 15,7-7 2-15,13-11-3 0,7-8-6 16,11-8-13-16,10-9-11 0,1-4-7 0,5-6-3 15,-1-2-5-15,2-3-1 0,-6 0-3 16,-6-2-1-16,-6 5 1 0,-9 3-17 0,-9 1-4 16,-8 8-7-16,-9 3-1 0,-11 3-6 15,-8 5 3-15,-4 5 12 0,-10-1 6 0,-1 5 3 16,-7 2 1-16,-3-1 3 0,-2 5-1 16,-4 0-5-16,-1 2 4 0,-1-1-2 0,1 1 2 15,-5-1 1-15,3-1-1 0,-3 3 6 0,0 0 1 16,0 0-3-16,0 0 4 0,0 0-1 15,0 0 2-15,-3 0-2 0,3 0 0 0,0 0 0 16,0 0-2-16,0 0-3 0,0 0-12 16,-1 0-19-16,-3 0-22 0,2 5-18 15,0-1-33-15,0 2-32 0,-4 5-33 0,3 0-35 16,-2 3-72-16,-1 0-119 0,-2 1-42 0,0-2-5 16,-2 2 22-16,-2-2 38 0</inkml:trace>
</inkml:ink>
</file>

<file path=ppt/ink/ink3.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cm"/>
          <inkml:channel name="T" type="integer" max="2.14748E9" units="dev"/>
        </inkml:traceFormat>
        <inkml:channelProperties>
          <inkml:channelProperty channel="X" name="resolution" value="1612.54919" units="1/cm"/>
          <inkml:channelProperty channel="Y" name="resolution" value="2580.07886" units="1/cm"/>
          <inkml:channelProperty channel="F" name="resolution" value="10E-6" units="1/cm"/>
          <inkml:channelProperty channel="T" name="resolution" value="1" units="1/dev"/>
        </inkml:channelProperties>
      </inkml:inkSource>
      <inkml:timestamp xml:id="ts0" timeString="2022-02-02T06:05:18.806"/>
    </inkml:context>
    <inkml:brush xml:id="br0">
      <inkml:brushProperty name="width" value="0.05292" units="cm"/>
      <inkml:brushProperty name="height" value="0.05292" units="cm"/>
      <inkml:brushProperty name="color" value="#FF0000"/>
    </inkml:brush>
  </inkml:definitions>
  <inkml:trace contextRef="#ctx0" brushRef="#br0">17915 8236 95 0,'-5'-4'248'16,"0"0"9"-16,2 2-36 0,-4-1-70 15,4 1-59-15,-2-1-37 0,-2 1-16 0,7 0-4 16,-4-1 7-16,1 0 7 0,2-2 9 16,-1 2 2-16,0 0 1 0,1 0-4 0,1 2-5 15,0-5-6-15,0 1-6 0,0 1-2 16,0-1-6-16,0 0 0 0,0-2-1 0,0 3-2 15,0 0 1-15,0-3 6 0,0 2 3 16,0 0 1-16,0 0 1 0,0 0 2 16,0 3 1-16,0-4-2 0,0 3-4 0,0 0 1 15,0-1-1-15,0 2-5 0,0 0-7 16,0 1-4-16,0 1-5 0,0 0-11 0,1 1-6 16,1 3-4-16,1 3-1 0,2 4 0 15,-3 2-2-15,7 4 3 0,-3 2 4 16,2 2 0-16,-1 4 0 0,3-1 0 0,0 0 2 15,0 0-4-15,-1-2 2 0,-3-4 4 16,5 0 3-16,3-3 7 0,2 1 13 0,3-8 8 16,5-3 5-16,7-5-1 0,7-5-1 15,7-7-7-15,5-5-15 0,7-6-11 0,7-4-3 16,-3-6-2-16,12-5-2 0,-4-1-3 16,3-1 3-16,0 3 0 0,-1-4 0 15,1 2 1-15,-6 2-2 0,-1 2 3 0,-2 1 0 16,-8 4-1-16,-3 1 2 0,-4 3 3 15,-7 1 7-15,-5 7 7 0,-6 1 8 0,-4 5 10 16,-6-3 8-16,-6 7 4 0,0 0 2 16,-4 1 2-16,-2 4-7 0,-5 0-7 15,5-2-7-15,-5 2-8 0,-1 2-9 0,1 1-8 16,-3 0 0-16,0 0-2 0,-3 0-2 16,1 3-1-16,-3-1-2 0,-1 5-13 15,3-3-23-15,-3 7-33 0,-1-1-47 0,1 3-55 16,-3-3-126-16,-1 0-121 0,2-1-47 0,2-8-6 15,6-1 29-15,-6-8 43 0</inkml:trace>
</inkml:ink>
</file>

<file path=ppt/ink/ink4.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cm"/>
          <inkml:channel name="T" type="integer" max="2.14748E9" units="dev"/>
        </inkml:traceFormat>
        <inkml:channelProperties>
          <inkml:channelProperty channel="X" name="resolution" value="1612.54919" units="1/cm"/>
          <inkml:channelProperty channel="Y" name="resolution" value="2580.07886" units="1/cm"/>
          <inkml:channelProperty channel="F" name="resolution" value="10E-6" units="1/cm"/>
          <inkml:channelProperty channel="T" name="resolution" value="1" units="1/dev"/>
        </inkml:channelProperties>
      </inkml:inkSource>
      <inkml:timestamp xml:id="ts0" timeString="2022-02-02T06:10:13.023"/>
    </inkml:context>
    <inkml:brush xml:id="br0">
      <inkml:brushProperty name="width" value="0.05292" units="cm"/>
      <inkml:brushProperty name="height" value="0.05292" units="cm"/>
      <inkml:brushProperty name="color" value="#FF0000"/>
    </inkml:brush>
  </inkml:definitions>
  <inkml:trace contextRef="#ctx0" brushRef="#br0">7733 9391 47 0,'-3'-1'145'0,"3"-1"-9"0,0 2-13 0,0 0-24 16,0 0-25-16,0 0-21 0,0 0-8 15,0 0-3-15,0 0-3 0,0-1 5 0,0 1 1 16,0 0-1-16,0 0 0 0,0 0-3 15,0 0-4-15,0 0-6 0,0 0-3 16,0 0-5-16,0 0-7 0,0 0-2 0,0 0-4 16,0 0-3-16,0 0-1 0,0 0 1 15,0 0-3-15,0 0 1 0,0 0-1 0,0 0 0 16,0 0-2-16,0 0 1 0,0 0-2 16,0 0-1-16,0 0 3 0,0 0 1 15,0 0 2-15,0 0 1 0,0 0 0 0,0 0 0 16,0 0 0-16,0 0 2 0,0 0 2 15,0 0 2-15,0 0 0 0,0 0 3 0,0 0-2 16,0 0 1-16,0 0 0 0,0 0-1 16,0 0-1-16,0 0 1 0,3 0-1 15,-3 0-3-15,0 0-4 0,0 0 1 0,0 0 0 16,3 0-2-16,-1 0 0 0,0 0 1 0,-2 0-2 16,6-2 0-16,-5 0-4 0,2 0-1 15,1 2 0-15,-3-1 2 0,4-1 2 16,-2 1 0-16,0-1-1 0,-1 0 3 15,0 1-1-15,4-3-2 0,-3 4 0 0,-1-3 0 16,2 3 3-16,-1-2-1 0,-1 0 0 16,-1 1 0-16,1-1-1 0,0 0-1 0,3-1 0 15,-1 1-1-15,-4-1 0 0,3 1 1 16,0-3-1-16,1 3 0 0,-1-1-1 16,0 0 0-16,0 1 0 0,1 1-1 0,-3-3 1 15,1 3 0-15,-2 0 1 0,4-1-1 16,-2 1 0-16,-1-1 3 0,1 1 1 0,-1-1-2 15,0-1 2-15,-1 3-3 0,4-3 3 16,-4 3-3-16,0-2-1 0,3 1 1 16,-1 0 0-16,-1 0-1 0,3-1-2 0,-2-1 1 15,1 1 1-15,-2 1-1 0,2-1 1 0,-3 2 1 16,3-2 0-16,-3 2 1 0,0-3 1 16,3 3 0-16,-2 0 0 0,-1 0 2 15,0 0 2-15,0 0-1 0,0 0 2 16,0 0-2-16,0 0 1 0,0 0-2 0,0 0-1 15,0 0 2-15,0 0 1 0,0 0-1 0,0 0-3 16,0 0 0-16,0 0 1 0,0 0-4 16,0 0-2-16,0 0 2 0,0 0 0 15,0 0 0-15,0 0 0 0,0 0 0 0,0 0 0 16,0 0 0-16,0 0-2 0,0 0 1 16,0 0-1-16,0 0 0 0,0 0 0 15,0 0 2-15,0 0-1 0,0 0 0 0,0 0-3 16,0 0 4-16,0 3-2 0,3-3 0 15,-3 2-1-15,1-2 3 0,1 2 3 0,0-1-3 16,-2 4 2-16,1-2 0 0,2-1 3 16,-3 0-5-16,4 1 1 0,-3 2 1 15,5-1-1-15,-3 0 0 0,0 1-1 0,-2 0 2 16,3-1 1-16,-2 0-3 0,2 0 2 16,0-1-4-16,-1-1 2 0,0 5 2 15,-1-4-4-15,2-1 2 0,-2 1 0 0,1 1 3 16,0-1-3-16,-1 0 3 0,1 0-2 0,-3-1 1 15,3 2 0-15,-3-1 1 0,4 0-1 16,-3 0-2-16,1-3 1 0,4 5-2 16,-5-5 1-16,3 2 0 0,-3 0 0 0,1-1 0 15,1 2 1-15,-1-1 0 0,-2 1-3 16,4-1 2-16,-2 1 0 0,1 1-2 0,-3-3 2 16,5 3 0-16,-1-1 3 0,-2-3 2 15,0 4-5-15,1-3 5 0,-2 1-2 16,1 0-3-16,-2 1 0 0,3-3 0 0,-3 2 1 15,0 0-1-15,3-1-1 0,-1 1 0 16,0-2 1-16,-1 2-1 0,1 1-1 16,-1-3-2-16,-1 1 4 0,0 0 0 0,0 0 1 15,2-1 2-15,2 0-1 0,-4 2 0 0,0-2-1 16,0 2 0-16,0-1-1 16,0 1-1-16,0-2 0 0,0 0 1 15,0 0 0-15,0 0 0 0,0 0 1 0,0 0 3 0,0 0 1 16,0 0-1-16,0 0 2 0,0 0-2 15,0 0 0-15,0 0-3 0,0 0-1 0,0 0 0 16,0 0 0-16,0 0-1 0,0 0 0 16,0 1-1-16,0-1 4 0,0 0 0 15,0 0-3-15,0 0 1 0,0 0 1 0,0 0 1 16,0 0-1-16,0 0-1 0,0 0 3 16,0 0 4-16,0 0 1 0,0 0 3 15,-4-1 3-15,2-1-1 0,2 1 0 0,-1-1-7 16,-2 0 2-16,-1 1-4 0,1 0-4 15,3 0 0-15,-3-2 1 0,3 1 1 0,-2 2-4 16,1 0 2-16,-2 0 0 0,3 0 0 16,-2 0 0-16,0 0-1 0,-2 0 1 15,-1 0 0-15,5 2 1 0,0 1 1 0,-3-2 0 16,1-1 2-16,-2 1-4 0,2 0 0 16,-1 1 0-16,1 0 0 0,-1-1 2 0,1 1-2 15,-2-1-2-15,1 2 2 0,1-3 0 16,1 2 0-16,-1-1 0 0,0 1 0 15,-1-1 2-15,3 0-2 0,-3 1 1 16,1 3-1-16,1-4 0 0,-1 1-3 0,-1 1 3 16,3-1 0-16,-2 0-1 0,1 3 0 0,-2-4 2 15,1 1 2-15,2 0-2 0,-3 1 1 16,3-3 0-16,-1 0-2 0,-1 4 0 0,2-3 0 16,0 1 0-16,0 0-2 0,0-2 0 15,0 3-1-15,0-3-1 0,0 2 2 16,0-2 4-16,0 0-2 0,0 0 2 0,0 0-2 15,0 3 1-15,0-3 0 0,0 0-1 16,0 0 3-16,0 0 0 0,0 0-2 0,0 0 0 16,0 0 2-16,0 0-5 0,0 0 0 15,0 0-2-15,0 0 1 0,0 0-1 16,0 0 2-16,0 0 0 0,2 0 2 0,-2 0 0 16,0 0 0-16,0 0-1 0,0 0-1 15,0 0 2-15,0 0 2 0,0 0-2 0,0 0-2 16,0 0 4-16,0 0-2 0,0 0 0 15,1 0 0-15,-1 0 0 0,0 0 1 16,3 0-2-16,-3 0 1 0,0 0 0 0,2 0 0 16,1 2 0-16,-2-2-4 0,1 0 4 15,-2 0 1-15,0 2 0 0,3-2 1 0,-1 1-2 16,-1 1 0-16,1-2 0 0,-2 0-2 16,3 0-3-16,-3 1 2 0,3 0 1 0,-3-1 4 15,2 1-1-15,0 1-1 0,-1 1 6 16,1-1-3-16,-2 1 0 0,3 0-1 15,1 0 1-15,0 1-2 0,-3-1-1 16,2 2 0-16,-1 0 0 0,0 0 0 16,2-2 0-16,-2 4 0 0,1-5 0 0,-3 3 0 15,5-3 3-15,-1 3-3 0,-2-2 2 0,0 2-2 16,2 0-2-16,-2-1 2 0,1 0 0 16,-3 1 2-16,0-2-1 0,3-1 0 0,-1 0 1 15,0 1-2-15,-1 0-1 0,1-1 0 16,-1-1 1-16,-1 1 0 0,0-2 0 15,0 2 2-15,0-2 2 0,0 2-1 0,0-2 1 16,0 0-2-16,0 1 2 0,0-1 0 16,0 0-3-16,0 0 1 0,2 0-1 0,-2 4 1 15,0-4-2-15,4 1 0 0,-4 1 0 16,0 0 0-16,2-2-2 0,-2 3 1 0,0-3-1 16,0 0 2-16,0 4-1 0,0-3 1 15,0-1 3-15,0 2-2 0,0-2 1 16,0 0 2-16,0 0 1 0,0 0-1 0,0 0-2 15,0 2-1-15,0-2 1 0,0 0 2 16,0 0 0-16,0 0 1 0,0 0 1 0,0 0 1 16,0 0-6-16,0 0-1 0,2 3 1 15,-2-3 1-15,0 0-2 0,0 0-2 16,0 0 4-16,0 0 2 0,0 0-1 16,0 2 0-16,0-2-2 0,0 0 2 0,0 0 1 15,0 0-3-15,0 2-1 0,0-1 3 0,0 3-2 16,0-4 2-16,0 0-1 0,0 0 1 15,0 1 2-15,0-1-1 0,0 0-2 16,0 2-2-16,0-2 0 0,0 0 3 0,0 0-1 16,0 0-1-16,0 0 2 0,-2 1 0 15,2-1 3-15,0 0-2 0,-2 0-1 0,2 0 2 16,0 0 1-16,-4 1 0 0,4-1-2 16,0 1 0-16,0-1 2 0,0 2 0 15,0-2-3-15,-2 0 0 0,2 2-1 0,0 1 0 16,0-2 1-16,0 1-3 0,0-1 0 15,0-1 0-15,0 2 1 0,0 1-1 0,-1 1 0 16,1-2 2-16,0 1-2 0,0-2 3 16,0-1-6-16,0 3 1 0,0-3 2 0,-2 2-4 15,2 0 2-15,-1 0 2 0,1 1-2 16,0 0 2-16,0-1-2 0,-2 3 2 16,2-3 1-16,0 3-1 0,0-3-1 0,0 3 1 15,0-2 4-15,0 1 1 0,0-1-5 16,0 0 0-16,0-1 1 0,0 1 1 0,0 0-2 15,0 0 2-15,-2 0 0 0,2-1-1 16,0 0 2-16,-3 0-3 0,3 1-1 16,0 2-1-16,0-1 0 0,0 0 1 0,0 1-1 15,0-1 2-15,0 1 2 0,0 2 1 16,0-4 0-16,0 2 0 0,0 2-1 0,0-4-4 16,0 1 2-16,0 2 0 0,0-3 0 15,0 0 2-15,0-1-2 0,0 0 0 16,0 3 0-16,0-2 0 0,0 0 0 0,-3-1 0 15,3 1 3-15,0 1 1 0,-2-1 0 16,2-1-3-16,-1 5 0 0,-2-6-1 0,3 3 0 16,-2 1 1-16,0 2-1 0,1-4 1 15,-2 2-2-15,3 0 2 0,0-2 1 16,0-2-2-16,0 1-2 0,0-1 2 0,0 2 4 16,-2-2-3-16,2 3-1 0,-3-3 2 15,3 2 1-15,0-3 0 0,0 3-2 0,-3-1 0 16,3 0-1-16,-2 1 2 0,0 1-1 15,0-1 1-15,0 2-1 0,-1-5 2 0,1 4 1 16,-3-1-2-16,-2 2-2 0,2 0 3 16,-3-1-1-16,0 1 0 0,0 1 0 15,-3 2 0-15,1-1-5 0,-3 1-5 0,0-1-18 16,-4 1-19-16,1 6-27 0,2-9-56 16,-3 5-135-16,-5-2-65 0,0 0-25 0,-6 2-3 15,-2 0 17-15</inkml:trace>
  <inkml:trace contextRef="#ctx0" brushRef="#br0" timeOffset="12444.1001">7727 8149 116 0,'0'0'237'0,"0"0"8"16,0 0-33-16,0 0-50 0,0 0-43 15,0 0-30-15,0 0-16 0,0-1-14 0,0-1-10 16,0 0-8-16,0-1-4 0,0-2 0 16,0 2-7-16,0 1-2 0,1-3-6 15,1-2-1-15,-2 3-6 0,3-4-2 16,-3 3 0-16,0-2-2 0,3 2 3 0,-1-3 0 16,0 4-1-16,2-6-4 0,-2 3 1 15,2-1-5-15,0 1 2 0,0-2-1 0,1-1-1 16,0-4 4-16,3 4 0 0,0-4 1 15,-2-3-3-15,2 1 1 0,1 0 0 0,-1-1-2 16,2-1-1-16,-1-2-2 0,-2 3 2 16,3-2 0-16,3 0-5 0,-3 1 2 0,-1 1 2 15,4-3-2-15,-4 3-1 0,3 0-4 16,-2-2 3-16,0 0-4 0,1 2-1 16,2-3 5-16,-5 2-2 0,1 1 4 0,4-3-2 15,-4 2 3-15,2 1 3 0,2 1-4 16,-2-3 1-16,-3 3-1 0,4-1 2 0,-2 1 0 15,2-2 0-15,-2 0-1 0,0 3-3 16,2-3 0-16,-1 2 0 0,1-2 0 16,2 0 0-16,-3 0 0 0,1 0-2 0,1 3 1 15,-3-3-2-15,1 3 3 0,0 0-1 16,0 1 0-16,0 1 1 0,-2-1 1 0,1 1 0 16,-2 1 0-16,2 1 1 0,-3 1-3 15,2-1-1-15,-1 0 0 0,0 1 1 16,-1 3-1-16,0-4-1 0,1 1 2 15,-2 2 1-15,1 1-1 0,0 0 0 0,2-1-1 16,-4-1 4-16,3 1-1 0,-2 1 0 16,1-1-1-16,0 1 0 0,1-1 15 0,-2 0 8 15,4 1 5-15,-4-2 5 0,0 1 2 16,2 1-3-16,-3 0-13 0,3-1-7 0,-2 1-8 16,1-1-4-16,1 1 1 0,-1 0-1 15,0-2 0-15,2 1 0 0,-2 0 2 0,2 1-2 16,-3-1 0-16,2 1-2 0,2-2 2 15,-1 0-1-15,-1-1 0 0,3 2 2 0,0-3-1 16,0 1 0-16,-1-1 0 0,4 1 0 16,-4 1 0-16,4-2 0 0,-2 1 0 15,1 0 1-15,-2 1-1 0,-1-1 0 0,1 3 0 16,1-4 0-16,-2 2 2 0,2 0-4 16,-2 1 4-16,1-1-2 0,-3-1 0 0,3 1 0 15,0-1 0-15,2 2 1 0,-4-2-2 16,2 1 1-16,0 0 0 0,2-1 0 15,-1 2 0-15,1-1 1 0,3-2 2 0,-2-1-1 16,3 0-2-16,-1 1 0 0,0-1-2 16,3-1-1-16,-1 1 0 0,-1 0 1 15,-1 2 3-15,2-1 0 0,-1-1-1 0,0 2 0 16,-3-2 2-16,3 1-1 0,-2 4-2 16,0-4 2-16,-3 2-1 0,3 1 3 0,0-2-3 15,0 0 2-15,-2 1-2 0,4-1 0 16,-2 0 0-16,2 0 0 0,-4-1 0 0,4 1-2 15,-3-4-1-15,2 2 3 0,-2 0 0 16,4-1 0-16,-4-1-3 0,2 2 2 16,-2 2 1-16,0-2-1 0,-1-2 0 0,1 2 2 15,0 0 1-15,-1-1 0 0,1 1-2 16,-1 0-2-16,1 0 2 0,-1-1 0 0,2 2 0 16,-2-1-2-16,3-1 2 0,-3-1 1 15,-2 3-1-15,3-1 0 0,-3-1 1 16,1 1 2-16,-2 2 0 0,1-5-3 0,0 3 2 15,-3 1-2-15,2-1 0 0,0 0-2 16,-1 3 2-16,0-3 2 0,-1 1-4 16,1 1 2-16,1-3 0 0,-3 6 0 15,3-4 0-15,0 1-4 0,-2 2 1 0,4-1 1 16,-4-1 0-16,2 1 0 0,-2 0 2 0,1-1 0 16,1 0 0-16,-1 0-1 0,0 0-1 15,-1-2 1-15,1 2-1 0,4 0 4 0,-3-2-2 16,1 1 0-16,0 0 0 0,0 2 4 15,-1-1-4-15,2-2-1 0,-2 1 1 16,4 2 0-16,-3-4 1 0,1 2-1 0,1 0 0 16,0-1 4-16,0 3-4 0,-2-3 2 15,0 2-1-15,3-1-1 0,-3 2-1 0,0 1 1 16,-1-4 0-16,1 5-1 0,1-3-2 16,-2 4 3-16,1-3-2 0,3 0 2 0,-2-1 0 15,1 3-1-15,-1-3 1 0,-1 3-2 16,0-5 1-16,-2 4-1 0,3 0-1 15,-2-1 3-15,2-1-1 0,-3 2 1 0,0 0 0 16,3 1-1-16,-4-2-2 0,-1 1 2 16,1 1 1-16,-1 1-3 0,1 0 0 15,1 0 2-15,-3 0 2 0,1 1-5 16,-1-2 0-16,3 2-1 0,-3-2-1 0,4 2-15 16,-2 0-10-16,3-3-4 0,0 1-1 0,2 2 2 15,-4-1-1-15,1-1 16 0,2 2 10 16,-2-1 5-16,1-1 3 0,0 2-1 0,-1-2 1 15,1 0 0-15,-1 2-2 0,-1-2-1 16,0 2-1-16,0-1 2 0,3-1 0 16,-3 2 2-16,2 2 1 0,0-2 0 0,-1-1 1 15,2 2 0-15,-2-2 2 0,1-1-1 16,3 3-2-16,-3-4 0 0,0 3 1 16,4 0 1-16,-6-2-1 0,2 4 1 0,3-2-1 15,-1 1-1-15,-2-1 0 0,-1-1 0 16,0 3-1-16,2 0 1 0,-3-1 0 0,3 1 0 15,-3 0-1-15,4 1 1 0,-5 1 0 16,1 0 0-16,-1 1-1 0,4 0 2 0,-4 0 5 16,2 1-5-16,0 0-1 0,-3 1 0 15,-1-1 2-15,2-1-3 0,1 2 0 16,-1 0 1-16,-1-1 0 0,-1 2 0 16,3-2-1-16,0-1 1 0,-5 3 0 0,3-3-2 15,-1 3 3-15,0-3-2 0,1 2 1 0,-1-1-2 16,0 4-1-16,-1-2 0 0,3-2 2 15,-2 2-1-15,1 2 1 0,-1-2-1 0,3 0 2 16,-1 1 0-16,0 1 0 0,0 0 2 16,0-2-4-16,0 2 2 0,0-1 2 15,2 1-1-15,-3 2-1 0,-1-4 0 0,3 2 2 16,-3 1-2-16,0-1-2 0,2 2 4 16,-3-1-2-16,1 1 5 0,1-2 1 0,-3 0-1 15,-1 0-1-15,4 0-2 0,-3-1 1 0,1 3-3 16,-2-1 0-16,-1 1 0 0,1-2 0 15,0 2-2-15,0-1 2 0,2 2 0 16,-3-1 0-16,-2 1 3 0,4-1-3 0,-2 3 0 16,0-5 0-16,0 4 3 0,0-3 0 15,0 3-3-15,1-1 1 0,0-2-1 0,0 4 4 16,-3 0-4-16,3-1-1 0,1 1 2 16,-4-3-1-16,3 4 0 0,-2-3 0 15,1 5 2-15,0-6 0 0,0 3 0 16,0 2 1-16,-2-3 0 0,0 2-3 0,4 0 2 15,-4-1-2-15,0 2 1 0,0-2 1 16,0 2-2-16,0 1 0 0,0-3 1 0,0 2-1 16,0-4 0-16,0 4-1 0,0-2-1 15,0 0 2-15,-4-1 0 0,4-1 2 0,0 0 1 16,0 0-2-16,-2 3 5 0,1-4-2 16,0 2-1-16,-1 3 1 0,-1-5-1 15,0 3 1-15,-1 1 0 0,1 1-2 0,-3-3-2 16,1 3 2-16,1 0 1 0,0 0-2 15,0 1-3-15,-3-1 2 0,1 3 2 16,1-2-2-16,1 2 0 0,-1 0 0 16,-2 1 4-16,4-1-1 0,-4-3-3 0,0 2 0 15,1 2 0-15,1-1 3 0,-3 0-3 0,2 0-1 16,1 2 1-16,-1-2-2 0,1 2 2 16,-3-1 0-16,0-1-2 0,2 4 4 0,-2-3 0 15,0-1 1-15,0 2 3 0,0 0-3 16,0 0 0-16,-1 0-4 0,-1-1 1 15,-1 0-2-15,1-2 2 0,-2 1 0 16,1 1 0-16,-3 1 3 0,4-4-3 0,-1 3 3 16,-3-1-1-16,4-2-2 0,-3 3 0 0,-2-1 4 15,5-1-1-15,-2 1-3 0,-1 0 1 16,-2 0-1-16,2 0 0 0,-2 2 0 16,1-1 0-16,0 2 0 0,-2-3 0 0,4 4-1 15,-2 1 0-15,1-4 0 0,-1 6 1 0,-1-2-1 16,-3-1 3-16,3 2 1 0,0-3 1 15,-3 4 0-15,4-1-5 0,-5 3 3 16,0-2-1-16,0 4-1 0,-1-2-1 0,0 1 0 16,-2 3 2-16,0-3 12 0,1 3 2 15,1-3 5-15,-2 0 1 0,1 2 1 16,1-3-2-16,-2 0-12 0,-1 1-2 0,3-3-2 16,0-1-4-16,0 1 2 0,0-3 1 15,0 1 3-15,3-1-2 0,-1-2-3 16,-1 2 1-16,1-1 1 0,-1-1-3 0,2-1 0 15,-2 1 0-15,-1 0 0 0,2 1 0 16,1-3 0-16,-1 1 0 0,-1 0 0 0,1-2 0 16,0 1 0-16,-1-1 0 0,1 6 3 15,-2-6-1-15,1 2-2 0,1 0 0 0,1-1 1 16,-3-1 1-16,2 3-5 0,0-4 1 16,-2 4 2-16,3-2 2 0,-2 1-2 0,2 0 0 15,-1-1 1-15,4 0 1 0,-3-1-2 16,6 1-3-16,-5-1 1 0,3 1 0 15,-1 0 2-15,0 1 2 0,-2 0 0 0,0-1-2 16,-3 1 0-16,2 1 3 0,-2-1-3 16,1 3-2-16,-1-5 1 0,1 3 1 0,-1-2-2 15,3 2 2-15,-2 0-2 16,4-2 1-16,-2 2 1 0,2-3 0 0,2 2 0 16,1-1 0-16,-1-2 3 0,1 1-1 0,0 1-2 15,3-4 1-15,-1 2 2 0,-4 1-2 16,4-1-1-16,-1-2-1 0,-2 3 0 0,2-1 1 15,0 2-3-15,-2-1 3 0,2 0-2 16,1-4 2-16,-5 3-2 0,6 0 0 16,-3 0 2-16,0-2-2 0,1 2 0 0,-1 1 2 15,0-1 0-15,-2 1 0 0,-1-1 0 16,0 2 2-16,-2 0-2 0,0 0 2 16,-4 0-1-16,1 0-1 0,3 3 0 0,-3-1-1 15,1-1 1-15,-2 0 0 0,3 0 1 16,-1-1 0-16,1 0-2 0,3 2 0 0,-2-5 1 15,2 1 1-15,-2 0-2 0,2 2-2 16,-5-2 3-16,6 1 3 0,-4 0-3 0,-2-1-2 16,0 2 5-16,-3-1-2 0,2 0 3 15,-3-2-4-15,-1 6 1 0,-1-2 2 16,0-1-3-16,-2-1-3 0,6-2-8 16,-1 3-4-16,0-4 0 0,3 3-3 0,0-4 1 0,0 3-6 15,4-3 10-15,0 0-5 0,0 2-2 16,3-1 0-16,-2-1-6 0,0 2 3 0,3-2-6 15,-1 2-3-15,-3-2-5 0,2-2-8 16,-2 3-22-16,3-5-25 0,-4 2-64 16,-1-5-86-16,-3-3-43 0,2 0-12 0,-4 0 8 15</inkml:trace>
  <inkml:trace contextRef="#ctx0" brushRef="#br0" timeOffset="13880.1224">8530 7824 31 0,'7'0'450'0,"-7"0"-255"0,2 0-53 16,0 0-52-16,-1 1-33 0,-1-1-17 16,0 0-9-16,0 0 3 0,0 0 3 15,0 0 3-15,0 0 4 0,0 0 2 16,-1 0 0-16,-1 0-3 0,2 0-4 0,0 0-7 16,-2-1-5-16,2 1 1 0,0-3-6 15,0 3 0-15,0 0 0 0,0 0-1 0,0 0 0 16,0 0 0-16,0 0-2 0,0-3 3 15,0 3-3-15,0 0 1 0,0 0-5 0,0 0-1 16,0 0-4-16,0 0-1 0,0 0 2 16,0 0-4-16,0 0 3 0,0-2 0 15,0 2 6-15,0 0-7 0,0 0-1 0,0 0-4 16,0 0-4-16,0 0 0 0,0 0-3 16,0 0-1-16,0 0 4 0,0 0-2 0,0 0 2 15,0 0-1-15,0 0 1 0,2 0 0 16,-2-1 1-16,0-1-1 0,2 1 2 0,-2-1-2 15,1 2 1-15,-1-2 1 0,0 1-2 16,4 0 0-16,-4-2 1 0,0 3 3 0,0-2 4 16,0 1-2-16,0 1-1 0,0 0 1 15,0 0-3-15,0 0-3 0,0 0-3 16,0 0 0-16,0 0 0 0,0 0 1 0,0 0 1 16,0 0 2-16,0 0-1 0,0 0 0 15,0 0-2-15,1 0 2 0,-1 0-2 16,0 0 0-16,0 0 2 0,0 0 3 0,0 0-2 15,0 0 1-15,0 0 3 0,0 0-3 16,0 0 0-16,0 0 0 0,0 0 0 0,0 0 1 16,0 0-1-16,0 0 1 0,0 0-3 15,0 0-5-15,0 0-2 0,0 0-8 16,0 0-7-16,-1 0-6 0,1 0-10 0,0 0-19 16,0 0-20-16,0-2-58 0,0 2-103 15,-4-8-49-15,4 3-21 0,-3-5 6 0,1 3 14 16</inkml:trace>
  <inkml:trace contextRef="#ctx0" brushRef="#br0" timeOffset="18575.3883">17822 6500 8 0,'0'10'109'16,"0"0"19"-16,0-2 14 0,0 2 1 16,3 2-15-16,-3-3-34 0,4 3-36 15,-3 2-19-15,1-2-14 0,1 0-8 16,-1 1-5-16,-1-1-1 0,-1 0-4 0,0 0 0 16,2 0 5-16,-2-1 1 0,0 1 1 15,0-2 2-15,0-2 6 0,0 4-2 0,0-3 1 16,0-1-4-16,0 0-2 0,0-3-1 15,0 1-1-15,0-4 0 0,0 0 3 16,0 1 2-16,0 2 3 0,0-4 3 0,0 1-4 16,0-1 3-16,3 1-4 0,-1-2-2 15,-1 0-5-15,-1 1-2 0,0-1 2 0,0 0-4 16,0 0 0-16,0 0 2 0,0 0 3 16,0 0 1-16,0 0-1 0,0 0 2 15,-1 0 1-15,-1 0 3 0,-1 0-3 0,1 0-3 16,2 0-4-16,0 0-1 0,0 0-3 15,-1 0-4-15,-1 0-3 0,0 0-4 0,1-1-2 16,-1-1-11-16,1 1-14 0,1-2-27 16,1-2-62-16,-1-1-90 0,0-3-47 15,0 3-17-15,-1-2 2 0</inkml:trace>
  <inkml:trace contextRef="#ctx0" brushRef="#br0" timeOffset="24364.7376">17459 6404 69 0,'-2'0'138'0,"-2"2"-30"0,4 0-30 15,0 1-31-15,0-3-25 0,0 2-22 16,4-2-15-16,-2 3-13 0,-2-3-15 0,4 0-13 16,-4 0-25-16,0 0-27 0,4-5-9 15</inkml:trace>
  <inkml:trace contextRef="#ctx0" brushRef="#br0" timeOffset="25294.2791">18157 6282 18 0,'8'1'82'0,"-3"3"-4"16,3-4-12-16,0 1-11 0,-3 1-12 15,3-2-9-15,-4 1-8 0,3 0-4 0,2 2 4 16,-3-3 4-16,2 0 1 0,-3 3 5 16,8-1 3-16,-4-1-4 0,-1-1-8 0,3 2-5 15,-3-1-8-15,0-1-5 0,2 2-4 16,0-1-1-16,-1-1-2 0,0 2-1 16,-1-2 1-16,3 0-1 0,-1 0-1 0,-1 0 4 15,-1 0-1-15,0 1-1 0,-3-1 1 16,5 0-2-16,0 1 0 0,-4-1 0 0,2 0-2 15,2 2 1-15,-6 1 1 0,3-3 2 16,-2 0-1-16,1 2-1 0,-2-1 3 0,1 1-2 16,-2-2 2-16,1 0-1 0,0 1 1 15,0-1-1-15,3 0 3 0,-4 2 0 0,1-2-2 16,2 0-3-16,-3 0 2 0,2 0 1 16,-3 0-2-16,7 1-2 0,-4-1 0 15,-1 0-2-15,-1 3 2 0,3-3-2 0,-3 3 1 16,2-3 1-16,0 3 0 0,0-3 4 15,0 2-3-15,-2-2 0 0,2 0 0 16,0 0 2-16,2 0-3 0,-2 0 1 0,0 0 0 16,0 2 0-16,-2 1-1 0,4-3 0 15,-3 0 0-15,1 0 3 0,-2 0-1 16,3 2 1-16,-2 0 1 0,0-2-2 0,0 1 0 16,-3-1-1-16,4 4-1 0,-2-4 0 15,-2 0 0-15,4 0-1 0,-2 0 0 16,-1 0-2-16,0 3-1 0,-1-3-5 0,2 0-4 15,1 0-22-15,-4 0-49 0,0 0-56 16,0 0-32-16,0 0-15 0</inkml:trace>
  <inkml:trace contextRef="#ctx0" brushRef="#br0" timeOffset="26426.9457">18646 6246 7 0,'9'1'78'0,"-1"2"22"0,3-2 13 16,-4 1 4-16,1-1-10 0,-2 1-14 16,2 1-24-16,-2-1-26 0,0-2-16 15,-1 0-12-15,2 2-6 0,0 1-4 0,0-3-1 16,4 0 0-16,-5 0-2 0,7-3-2 16,-4 1 0-16,5 2 0 0,-1 0-2 0,-2 0 2 15,3 0-1-15,-4 0 1 0,6 0-2 16,-7 0 1-16,1 2 1 0,2 1 0 15,-2 4 0-15,0-5-1 0,-1 3 1 0,-1-3 1 16,0 3-1-16,-2-2 1 0,2-1 4 16,-4 1-3-16,3 0-2 0,-2-1 0 0,1-1 2 15,-1 1-1-15,4-1-1 0,-2 1 1 16,-4-1 0-16,3 1 2 0,2-1-3 0,-1 0 0 16,0 1 0-16,1 1 0 0,0 0-2 15,-3 0 4-15,3 0-2 0,0 0 0 16,1 0 0-16,-3 0 0 0,1-1 0 0,-1 3 0 15,1-3 0-15,-2 0 0 0,1-1 0 16,1 3 3-16,1-4-2 0,-2 0-1 16,1 3 2-16,-3-1-1 0,3 0-2 0,-2 1-1 15,2 0 2-15,0-1-1 0,-1 3 1 16,0-3 0-16,-1 1 1 0,4 0-1 0,-4 0 0 16,2 1-2-16,-1-1-3 0,1 0 0 15,0 0 0-15,1 2-5 0,0-5-4 16,3 2-4-16,-1-2-13 0,-4 2-15 0,0-1-19 15,7 1-14-15,-7 0-11 0,2 1-8 16,0-3-2-16,-2 2 5 0,1 1 8 16</inkml:trace>
  <inkml:trace contextRef="#ctx0" brushRef="#br0" timeOffset="33478.0608">16533 6826 97 0,'0'-6'236'0,"4"1"16"16,-2 0-34-16,0 0-76 0,-2 0-52 15,0 1-28-15,0-1-17 0,-2 2-12 16,2 1-5-16,0-3-3 0,0 2-3 0,2 2-2 15,-1-2-2-15,1-3-2 0,2 1-3 16,3 2-2-16,-4-3 3 0,2 2-1 0,0-1 0 16,-1-2 3-16,5 1 0 0,-5-1 3 15,4 0 0-15,-2 0-2 0,3 0-2 0,-2 0 0 16,2 3-4-16,-2-4-2 0,3 2 0 16,0-1-4-16,1 0 2 0,2 0-3 15,0-1 0-15,2-1 2 0,0 4 2 0,3-5 0 16,-2 5-3-16,3-6 3 0,0 2 1 15,-1 0-1-15,4-3-2 0,-2 2 4 0,-1-1 0 16,0 1-1-16,-1-1 2 0,2-1-2 16,1 1 1-16,-5 3-3 0,4-1 0 0,-4-3-2 15,5 5-1-15,-4-1 0 0,2-3-1 16,-2 4-1-16,-3-1 1 0,2-2-2 16,0 3 1-16,-2 0 3 0,-1 2 0 0,-1 0 3 15,1-3-1-15,-3 4 4 0,2-1 0 16,-2 1-1-16,1-1 1 0,-3 1 0 0,1-1-1 15,-4 2-1-15,6 0-3 16,-5-1 1-16,-1 3-3 0,2 1 3 0,-3-2-3 16,1 1 0-16,-4-1 3 0,2 0 4 0,-1 2-1 15,-2 0 4-15,3 0 7 0,-1 0 2 16,-2 0 6-16,0 0 2 0,0 0-1 0,0 0 0 16,0 0 0-16,0 0-8 0,0 0-2 15,0-1-6-15,0 1-4 0,0 0-1 0,0 0-1 16,0 0 2-16,0 0-3 0,0-2-5 15,0 2 0-15,0 0 0 0,0 0 0 16,0 0-7-16,0 0 4 0,0 0-3 0,0 0-4 16,-2-2-13-16,-1-1-18 0,3 3-19 15,-3 0-32-15,1 0-43 0,2 0-110 16,-6-4-74-16,2 3-30 0,-5-1-4 0,1 2 17 16</inkml:trace>
  <inkml:trace contextRef="#ctx0" brushRef="#br0" timeOffset="34938.5108">16151 6319 156 0,'0'-1'227'0,"-4"-1"-14"0,4 2-38 16,0-3-45-16,0 1-38 0,0 1-24 16,0 0-20-16,0 1-8 0,-4 0-9 0,4 0-3 15,0 0-6-15,0 0-8 0,0 0 1 16,0 0 1-16,0 0-5 0,0 0-1 16,0 0-1-16,0 0-2 0,0 0 1 0,0 0 0 15,0 0 0-15,0 0 0 0,0 0-3 16,0 0-2-16,0 0 0 0,0 0-1 0,0 0-1 15,0 0-4-15,0 0-4 0,0 0-13 16,4 0-21-16,0-3-73 0,-4 3-87 16,0 0-48-16,0 0-18 0,0 0-2 0</inkml:trace>
  <inkml:trace contextRef="#ctx0" brushRef="#br0" timeOffset="36406.9489">15627 7360 29 0,'0'3'79'0,"0"2"-32"0,0-2-33 0,0-3-42 15,0 0-42-15</inkml:trace>
  <inkml:trace contextRef="#ctx0" brushRef="#br0" timeOffset="37304.1452">15630 7423 159 0,'-6'6'169'15,"3"2"-26"-15,-1-4-29 0,1 1-35 0,-2 2-25 16,-3-4-23-16,6 5-10 0,-2-2-11 16,0 2-3-16,-1-4-1 0,-2 2-4 15,2 1 2-15,-2-2-3 0,1 2 2 0,2-1 0 16,-2 3 1-16,1-3-1 0,-2 2-2 15,3 1 5-15,-1-1 0 0,1 2 4 16,-3 0-1-16,0-1 3 0,4 2 2 0,-6 0 1 16,6 1 0-16,-3 3 2 0,3-3 0 15,-1-2 0-15,-1 3 1 0,0-1-5 16,0 0 1-16,-3 1 1 0,6 2 1 0,-3-2-1 16,-2 0 3-16,4 1 1 0,-4 1-2 15,1 0-1-15,3 0 2 0,-7 0-2 0,7 3-2 16,-5-4-2-16,7 1 0 0,-4 1-4 15,0-1-1-15,-3 0 2 0,5-2-3 0,0 3 2 16,-2-2-1-16,0 0-1 0,0-1 2 16,2 0 0-16,-4 3 1 0,4-3 0 15,-1 1 1-15,0-1 0 0,-2 2 2 0,2 2-4 16,1-2 1-16,-5 1 2 0,5-1 0 16,-2 0-2-16,0 0-4 0,3 0 3 0,-1-1-5 15,0 0 2-15,0 0-4 0,-3-1 3 16,5 2 0-16,-3-2 1 0,1 2 1 15,1 0-3-15,1 0 2 0,-3-1 1 0,1 2-1 16,0 0 0-16,2-2 1 0,-5-1-1 16,4 3-1-16,-1-3 1 0,0 0-1 0,-1 2 0 15,1-2 1-15,1 4 2 0,1-3 2 16,-2 1 1-16,3 0 1 0,-2-1 0 16,2 2-2-16,0-1-1 0,0 1-3 0,0-1 1 15,0 2 0-15,2-2-2 0,-2 0 1 16,3 0 0-16,-3 0-2 0,0 0 0 15,1 0 4-15,-1 3 0 0,2 0 0 0,-2-3-1 16,0 2 2-16,0 0-3 0,0 1 1 16,0-1 2-16,0-1-2 0,0 0 2 0,0 0-1 15,0-1 1-15,0 0-1 0,0 2-1 16,0-5-1-16,0 4-4 0,0-4 3 16,0-2-2-16,0 3 0 0,0-1 0 0,-2-2-2 15,2 0 2-15,0-3-1 0,0 1-1 0,0-2-4 16,0-3-6-16,0 1-4 0,0-2-23 15,2-5-69-15,-2-6-114 0,3-2-63 16,-3-4-25-16,0-2-14 0,4-3 13 16</inkml:trace>
  <inkml:trace contextRef="#ctx0" brushRef="#br0" timeOffset="38786.1634">15480 7539 105 0,'-5'9'218'0,"-1"-1"-8"0,3-1-37 15,-2 0-48-15,2 4-46 0,-5-2-29 16,5 1-16-16,0 1-5 0,-4 2-3 0,-1 1-4 15,3-1-1-15,-1 2-4 0,0 2-2 16,0-1 1-16,-3 3-3 0,0-4-2 0,3 2 0 16,-2 1 0-16,1-1-3 0,-3 1 0 15,3-3-1-15,1 6 1 0,-2-3 1 16,0-2 0-16,4 5 2 0,-3-1 1 0,2 1-1 16,-1-2 0-16,-2 2-3 0,4-2 0 15,-5 0 1-15,4 0 1 0,-1 0-2 0,-1 1 2 16,2-1 1-16,-2-1 0 0,4 2-1 15,-3-2-1-15,-2 1 1 0,3-1 2 16,1 0 2-16,-3 0 2 0,2 3 3 0,-2-3-5 16,2 4 3-16,0-3-3 0,4 4-3 15,-3-4-2-15,1 5-1 0,0 1 0 0,-2-5 0 16,3 3-3-16,2 2 1 0,-4-2 3 16,4-1-4-16,-1 3-4 0,-3-3 4 15,4 2 3-15,0 0-3 0,0-2 1 0,0-1 0 16,0-1 2-16,0 4-3 0,0-3-1 15,-1-2 2-15,-2 0-1 0,3 2-1 0,0-1 3 16,0 1-1-16,-2-3-3 0,0 3 3 16,-1-1-4-16,3-1 3 0,0 3 1 0,0-3-3 15,0 2 0-15,-2-3-1 0,2 3-2 16,0-1 0-16,-3 0-2 0,3-1 3 16,0 2-1-16,0-1 1 0,-3-2 2 0,3 2 4 15,0-3-3-15,0 1 2 0,0-2 1 16,0 1-1-16,0 0-1 0,3 0 0 15,-3-1-4-15,3 1 1 0,-3-2 1 0,2 2-2 16,-2-4 2-16,3 0-1 0,-1 1 4 16,0 2 1-16,-2-1-1 0,3 1-3 0,-2-2 4 15,-1 1-1-15,4 2-2 0,-3 0 0 16,-1 0-1-16,4 0 3 0,-4-1-4 0,2 0 1 16,-2 3 1-16,3-3-1 0,0 1 0 15,-1 1-1-15,1 1 2 0,1-1-1 16,-4-1-1-16,1 1 0 0,2-1 2 0,-1-1 2 15,-2-1 1-15,5 1 0 0,-1-2 1 16,-4 3 1-16,3-2-5 0,0 1-2 0,1-1 1 16,-1 2 5-16,0 0-2 0,0 3 4 15,1-2 6-15,2 2 2 0,-3 1 0 0,3-2-3 16,-3 3-3-16,4 0 1 0,-2-2-3 16,2 4-2-16,1-2-1 0,0 3 3 15,-3-3-1-15,6-1 2 0,-3 2-3 0,2-2 3 16,-1 0-3-16,0-2-1 0,-1 3 0 15,-1-5 0-15,3 1-3 0,-3 2 0 16,1-3 1-16,-2-3-3 0,3 1-1 0,-5 0 2 16,2 0 0-16,1 1 1 0,-3-3 0 15,2 0-2-15,-2 0 4 0,-3 1-4 0,1-1 0 16,3-1 0-16,-4 1 0 0,1 0 0 16,-1-2 0-16,-1-4-2 0,4 4 2 15,-3-3-2-15,-1-1-4 0,2-2-3 0,1 2-6 16,-3-3-2-16,6 1-12 0,-3-2-8 15,-1-3-8-15,3 2-8 0,-2-2-3 0,3 0-3 16,-1 2 2-16,-1 0 7 0,0 2 10 16,-1-1 8-16,0 2 10 0,0 1 12 0,0-1 2 15,-3 3 8-15,4-1 7 0,-3 3 8 16,1-3 10-16,0 2 1 0,1 0 5 16,-3-1 1-16,6-1-3 0,-5 1-5 0,1-1-6 15,3 0-3-15,-2 1-4 0,-2-3 1 16,4 2-4-16,-1-1 4 0,-3 0-4 15,3 0-1-15,1-1-2 0,-3 4 0 0,4 0 1 16,-2 0-2-16,4 3-1 0,-3 1 2 16,2 1-1-16,1 1 4 0,-2 1-1 0,0 2-1 15,6-1 3-15,-4-1-3 0,0 1-3 16,1 0-2-16,0 0 1 0,-5-2 0 16,6-1-1-16,-2-1-3 0,0 1 5 0,-1-4-5 15,-1-1-9-15,-2-1-14 0,-2-1-20 16,1-2-30-16,-1-2-96 0,-2-3-117 0,-2-8-53 15,-1-2-17-15,1-2 1 0,-7-2 17 16</inkml:trace>
  <inkml:trace contextRef="#ctx0" brushRef="#br0" timeOffset="40989.1472">15172 8640 137 0,'-3'6'234'0,"-1"1"4"0,1 1-56 0,1 0-68 16,-1 4-43-16,0-3-22 0,-1 4-10 0,2 0-5 16,1 2 2-16,-3 3-1 0,4 3 9 15,0 0 0-15,0-1-5 0,0 9 1 16,0-3 4-16,0 2-1 0,4 5-7 15,-3-1-1-15,3 2-3 0,-2-1 2 0,1 2-6 16,0 3 0-16,-1-1-1 0,3-2-4 16,-3 2 1-16,2-1-3 0,0 1-4 0,-3 1-1 15,3-1 0-15,-2 0 2 0,3 1 2 16,-2 0-3-16,0-1-3 0,1 3 1 16,-3-3-3-16,2 1-3 0,-1-3 0 0,5 3 0 15,-2-6-1-15,-2 5 0 0,1-2 1 16,2-2-2-16,-3 0 1 0,2 3 0 0,1-3 2 15,-1 2-2-15,-2-3 2 0,0-1 0 16,4 1-2-16,-2-4 1 0,1 3 0 0,0-4 1 16,0 0 2-16,-1-1-1 0,0-3 1 15,4 1-2-15,-3 0 0 0,-1-1-1 16,2 0-1-16,-1-2 0 0,0 1 3 0,0 0-3 16,1-5 3-16,0 5 0 0,-4-2-1 15,4-1-1-15,0 2-1 0,-1-1 2 0,1 1-1 16,-3-3-2-16,7 1 1 0,-4 0 0 15,1-2 0-15,-2 3-3 0,3-2 1 0,-1-1 0 16,0-1-2-16,-3 2 1 0,4-3-1 16,-1-1-2-16,0 3 4 0,1-2-3 15,-2-1 0-15,-1-1 2 0,2 1-1 16,-1 1-1-16,2-2-2 0,-1 2 3 0,-2 0-1 16,3 0 4-16,-2 1-1 0,3-2 4 15,-4 0 1-15,1-1 2 0,0 0 2 0,3 2-1 16,-2-1 0-16,-6 0 0 0,10-1-2 15,-8 1-2-15,3-2-2 0,2 2 0 0,-1-1-2 16,0 0 2-16,-2 1 1 0,2-1 0 16,1 3-1-16,-2-5 2 0,-1 1-2 0,3 0 0 15,-2 1 0-15,-1-4 0 0,-1 3 0 16,2-2-1-16,0 0 2 0,-1-2-2 16,-2 1 2-16,1-3-1 0,0 1 1 0,-1-3-1 15,0 3 0-15,0 0-1 0,-1-1 2 16,0-2-3-16,-3 1 1 0,5 0-1 15,-3-1 1-15,-1-1-4 0,1 0-3 0,0 2 0 16,-2-2 0-16,3-3 3 0,-2 1-2 16,1 0 2-16,-2 1 0 0,0 0 0 0,0-2-1 15,0 0-1-15,0 0-1 0,0 1 0 16,2-1 0-16,-1 3 2 0,-1-1-1 0,0-1-1 16,4 1 0-16,-1-1 0 0,-3 1 1 15,2-1 0-15,0 3 0 0,0 0 3 16,-2-1 0-16,3 0-3 0,-2-2-1 15,-1 4 0-15,4-2 0 0,-3-1 0 0,-1 1 0 16,5 2 1-16,-3 0 4 0,2 2 2 0,-3-1 0 16,4-1 1-16,-1 4 1 0,-3-3 3 15,2 2-1-15,-1-1 1 0,1 2-1 16,-3-1 0-16,3-1 0 0,-1 0 1 0,0-2-1 16,-1-1-1-16,-1 2 0 0,0-3-3 15,3-1 1-15,-3 1-3 0,0-3 3 16,0 3-5-16,0-2 3 0,0 1 0 0,3 1 1 15,-1 0-3-15,-1 1 2 0,1 1 0 16,0 0 4-16,-1 3-2 0,2 0 0 0,1 0 4 16,-1 0-1-16,0 0-1 0,0-1 3 15,2-1 1-15,-4 0 0 0,1-1 1 0,-2-2-2 16,5 0 0-16,-5 1 0 0,0-1 4 16,0-3 2-16,0 2 4 0,0-1 6 0,0 1 3 15,0-1-1-15,0-1-1 0,0 0-4 16,0 0-4-16,0 0-6 0,0 0-3 15,0 0-6-15,0 0 1 0,0 0-1 0,0 0 2 16,0-1 0-16,0 1 0 0,0 0 7 16,0 0 5-16,0 0 3 0,0 0 5 0,0 0 5 15,0-2 2-15,0 2-2 0,0-1 1 16,0-1-6-16,0 2-2 0,0 0-4 16,-5 0-6-16,5 0-3 0,0 0-5 0,0 0-1 15,-2 0-3-15,2 0-2 0,-1-3-1 16,-1 3-2-16,-2-4 2 0,-1 4 1 0,2-3-3 15,-1 1 0-15,-2-1 1 0,-2 2-1 16,2-1 0-16,-4-1 0 0,2 3-1 16,-4 0-2-16,1 3 1 0,-5-1-1 0,7 1 2 15,-5 0 1-15,-1 0 1 0,2 4 0 16,-1-4 2-16,1 4-3 0,0-2 0 0,-4 2 2 16,1-2 0-16,2-2-2 0,-3 2 1 15,4 0 2-15,-4 0-3 0,3-2 0 16,-1 3 0-16,1 0 1 0,1-1-1 0,-1-2-1 15,3 2 2-15,-3 2-2 0,3-2 1 16,-3-2 0-16,3 2 1 0,0-1 0 0,-2-1 0 16,2-1 1-16,-3 0 1 0,4 2-1 15,1-2-2-15,-4-1 2 0,4 1-1 16,-3-1-1-16,2 0 0 0,0 1-1 0,-1 0 1 16,0 1-2-16,3-3 2 0,-2 1-1 15,4 1 0-15,-1-1 1 0,-2 1 0 0,3-1 0 16,0 1 0-16,0-1 0 0,2-1 0 15,1 0 0-15,-2 0-3 0,5 2 0 0,-3-2 1 16,1 3 2-16,1-3-3 0,-2 0 0 16,1 3 1-16,-3-3 1 0,3 0-1 15,-2 3 0-15,1-3 2 0,2 3 1 0,-4 1 0 16,3-3-1-16,0-1 2 0,-1 4-2 16,0-4 0-16,-1 1 3 0,-1 0 2 0,3 2-1 15,-1 0-1-15,2-2 1 0,-3 0-2 16,-1-1-4-16,-1 0 1 0,4 0-1 15,-3 2 1-15,0-1-1 0,0 1 1 0,0-2-1 16,3 2 1-16,-1-2 1 0,0 5 0 16,3-5 0-16,-2 0 0 0,0 2 1 0,0-2 0 15,1 0-2-15,1 0 0 0,0 0 0 16,0 0-1-16,-4 0-1 0,4 1 1 0,0 1 2 16,-1-1 0-16,-2 1 0 0,3-1 0 15,0 1 1-15,-5-2 0 0,5 2-3 16,-4 0 2-16,1 0-1 0,-2-1 1 0,5 2 0 15,-3 0 0-15,-1-1 3 0,1 1-1 16,0-2-1-16,-1 1-2 0,-2-1-2 16,6 1 1-16,-2 1 2 0,-1 0-2 0,-1 0 1 15,3-2 2-15,-1 2-1 0,-2-3 0 16,0 3 3-16,4 1-1 0,-2-1 1 0,-3 0 0 16,5-3 0-16,-3 2-3 0,0-2 0 15,-1 3 1-15,1-3-1 0,3 4-1 0,-4-4 0 16,-2 3 1-16,5-1 0 0,-2 0 0 15,2-1-1-15,-4 4-1 0,3-2 0 0,-1-1 2 16,0 2-3-16,0-1 3 0,-2 1 0 16,1-2 3-16,3-1-3 0,-2 1 2 15,-3 0-1-15,6 3-1 0,-2-3 1 0,1-2 1 16,1 0 0-16,-2 3 1 0,-1-3-1 16,3 3-2-16,-2-3 0 0,-1 0-2 0,3 0 1 15,0 0-1-15,0 0 1 0,0 0 1 16,0 0 0-16,0 0 2 0,0 0-2 0,0 0-1 15,0 0 1-15,0 0 0 0,0 0-2 16,3 0 0-16,-3 0 1 0,2 0-3 16,-2-3-9-16,0 3-14 0,3-3-19 0,-1 3-24 15,-1 0-34-15,1 0-44 0,6-2-51 16,-6-1-50-16,7-1-106 0,-5-4-114 0,1 0-36 16,2-2 9-16,-6 7 35 0,3-6 56 15</inkml:trace>
  <inkml:trace contextRef="#ctx0" brushRef="#br0" timeOffset="42767.1383">15663 11540 28 0,'5'3'297'0,"-4"-3"31"0,-1 3 19 16,0-3-57-16,0 0-95 0,-1 0-67 0,-4 0-39 15,5 0-22-15,-3 0-13 0,2 0-9 16,-7 0-3-16,8 0-4 0,-5 0-2 15,0 0-3-15,-3 0-5 0,5 0-2 0,-3-3 0 16,-1 3-2-16,3 0 0 0,-8-3 3 16,6 2 0-16,0 0 1 0,-2-1 1 0,1 1-2 15,-6-1 4-15,6 2-2 0,-3-3 1 16,0-1-1-16,-3 1 6 0,1-2-1 0,-1-1 0 16,-3 3 1-16,3-1 3 0,0-3 2 15,-1 3-3-15,2-2-2 0,-4-2 2 16,3 4 3-16,-1-4-2 0,-4 3-4 0,5-4 7 15,-2 0 0-15,0-2 1 0,-2 0-3 16,0-2-1-16,1 0-2 0,-3-3-2 0,2 0-4 16,-1-3-3-16,-3 1-1 0,0-2-4 15,0-1-3-15,-2-3 0 0,1 0-3 0,0-1-4 16,1-2-5-16,0 0-2 0,1-2 1 16,-2 1-5-16,0-1 0 0,-2-2 1 15,1-2-2-15,1 0 2 0,-6-4 1 0,6 2 0 16,-3-2-3-16,-2-1 2 0,2-3-2 15,-1 1-1-15,2 1 0 0,-1-3 0 16,-1 0 1-16,5 1 0 0,-3 0 1 16,-1 0 0-16,4-1 0 0,1 1-2 0,-2-1 0 15,1 0 0-15,3 0 1 0,-4-1-2 0,4-1-1 16,2 1-1-16,-3 1 1 0,4 0-3 16,1 2 2-16,2 3 3 0,-2 2-4 0,4 0 2 15,0 2 2-15,1-3-2 0,-1 5 0 16,4-1-2-16,1-1 4 0,-2 3 1 0,0 0 0 15,1-1-2-15,1-2 0 0,-1 4-1 16,2 0 1-16,0 1-3 0,-1 2 0 16,0 0 3-16,2 4 1 0,-2 1 1 15,2 1-3-15,0 1 2 0,0 1 0 0,-1 2-1 16,0 1 0-16,1 0 1 0,1 1 1 0,-1-1-1 16,0 2-3-16,1 0 1 0,-2 1 2 15,2 0 1-15,-1-3-2 0,-1 5-2 0,0-2 4 16,3 5-1-16,-1-3-2 0,0 3 2 15,-1 0-1-15,3 2 2 0,0 3 0 16,0-1-1-16,0-1 0 0,0 3-2 0,0-1 1 16,0 0 0-16,0 2 0 0,-3 0 0 15,3 0-1-15,0 0 2 0,0 0-1 16,0 0 0-16,0 0 0 0,0 0-1 0,0 0 2 16,0 0 0-16,0 0-2 0,0 0-2 15,0 0-7-15,0 0-2 0,0 0-8 0,0 0-4 16,0 0-7-16,0 0-3 0,0 0 1 15,0 0-1-15,0 0 2 0,0 0 6 0,0 0 6 16,0 0 1-16,0 0 3 0,0 2 1 16,0-2 0-16,0 0-2 0,0 0-2 0,0 0-5 15,0 0-1-15,0 0-2 0,0 0-3 16,0 0-4-16,0 0 1 0,0 0 2 16,0 0 6-16,0 0 3 0,0 0 4 0,0 0 5 15,0 2 7-15,0-2 0 0,0 1 2 16,0-1 0-16,0 2 6 0,0-2-1 0,0 0 2 15,-2 2-1-15,0-2 4 0,0 0 2 16,2 0-2-16,-5 3-7 0,-1-1-6 16,-5 3-5-16,1 2 1 0,-4-2-2 0,0 3-2 15,-7 0 12-15,-1 4 3 0,-4 0 4 16,0 4 1-16,-4-2 2 0,-8 1 0 16,0 3-2-16,-5 2 3 0,-3-3-1 0,-3 3-3 15,-3 0 0-15,-3 3 1 0,-3-3-2 16,-6 1-4-16,-4 1 6 0,-3 5 2 0,-8-4 3 15,-1 4 2-15,-6-2 3 0,2 3 0 16,-3-5-1-16,0 3-4 0,1 0-1 16,-3 1-4-16,-1-2 8 0,6-1 2 0,3 0 5 15,3-2 3-15,1 3 4 0,6-4 3 0,5 0-10 16,5-1-4-16,5 0-3 0,5-2-3 16,3 0-6-16,2 2-1 0,6-4-1 15,2 1 1-15,3 0 1 0,1-3-1 16,2 1 0-16,-1-1-1 0,9-1 4 0,-4-1 1 15,2-1-4-15,1-1 3 0,0-2 1 0,0-1 1 16,6-4-6-16,-2 0 1 0,-1-1 1 16,1-1 1-16,1 1 0 0,0-1-4 15,2 1 1-15,1-1-1 0,2 0-1 0,1 1-5 16,3 0-7-16,1-1-12 0,3-1-22 16,2 0-31-16,2 0-26 0,3 2-17 15,3 1-26-15,5-8-68 0,8-2-110 0,2-4-40 16,5-5-13-16,0-5 4 0,8 0 19 15</inkml:trace>
  <inkml:trace contextRef="#ctx0" brushRef="#br0" timeOffset="45053.0413">15561 7332 155 0,'-4'3'245'0,"-2"0"2"15,4-1-49-15,-3 3-71 0,0-3-53 16,1-1-32-16,-1 4-15 0,1-5-6 16,-1 3-2-16,3-2 1 0,-5 0 8 0,4 1 0 15,-2 0 2-15,1-1-1 0,0 2-1 16,-1-1-2-16,2-2-1 0,-5 3-3 0,5-3-3 16,-3 1-3-16,2 1-3 0,3-1 0 15,-4 1-2-15,2 0-4 0,-5 0 1 0,5 0 2 16,0 1 0-16,-2 0-2 0,0 1 0 15,0-1 4-15,0 0-4 0,-1 1 2 16,3-1-4-16,-5-1 3 0,2 1-1 0,1 1-2 16,-3 3 1-16,-1-4-1 0,-3 3-2 15,2 1 1-15,0-1-1 0,0 3 1 0,-2-1-1 16,-1 2 1-16,2 0 0 0,-5 1-3 16,5-2 2-16,-1 2-1 0,0 1 0 0,-1-3-3 15,0 3 3-15,3-1-1 0,-4-2 1 16,3 2 3-16,-1-4-1 0,-3 3 4 15,5 0-1-15,-3 1 2 0,0-2 1 0,-1 1-1 16,-1 2 0-16,1-1-3 0,0-1-1 16,3 2-1-16,-3 0-4 0,-1 1 3 15,1 2-2-15,0-1 0 0,1 0 1 0,-3-2 2 16,1 3 2-16,0 0-3 0,-2 0-2 16,4 0 1-16,-4 3 5 0,3-1-5 0,-2 0-3 15,2-2 5-15,-4 5-4 0,6-2 4 16,-6-1-4-16,6 1 2 0,-2 1 4 15,-1-3 0-15,3 1-3 0,0 0 3 0,1-3-1 16,-1 3-1-16,1-2-1 0,4 0 1 16,-3 0-1-16,1 0 1 0,-1 0-2 0,-1 1-2 15,6 0 2-15,-3-2 2 0,1 0-1 16,-3-1-2-16,3 0 3 0,2 1 0 0,-2-2-2 16,3 0-3-16,-4 2 4 0,4-2 1 15,-3-1 1-15,1 2-2 0,-3 0-1 16,5-2 5-16,-2 2-2 0,0-1-3 0,-1 0 1 15,2 2 3-15,-2-1 2 0,-1 2-1 16,1-1 0-16,-1-2 0 0,1 3-1 16,-1-1-2-16,-2-1-3 0,5 2 1 0,-4-2-2 15,3 0 3-15,-2-1 1 0,4 2-3 16,-3-3 1-16,2-2 0 0,-1-2-1 0,2 1 0 16,1-2-2-16,0-2 1 0,1 0 2 15,1 1-3-15,-1-1 2 0,1 1-2 0,1 2 2 16,-5-4-1-16,5 1 1 0,-3 4 0 15,3-3 0-15,0 1 2 0,0-1 1 16,0-1 2-16,0 1-1 0,0-2 3 0,0 0 2 16,-2-3 4-16,2 3 6 0,-3-1 3 15,3-2 7-15,0 0 7 0,0 0 5 0,0 0 0 16,0 0-1-16,0 0-4 0,-1 0-6 16,1 0-5-16,0 0-8 0,0 0-7 15,0 0-2-15,0 0-4 0,0 0 0 0,0 0-6 16,0 0 4-16,0 0-2 0,0 0 4 15,0 0 2-15,0 0 7 0,-2 0 5 0,2 0 7 16,0 0 4-16,0 0 4 0,-2-2 2 16,1-1 0-16,-1 3-3 0,1 0-7 0,1 0 2 15,-4 0-8-15,1 0-4 0,-3 0-3 16,3 3-6-16,-4-1-2 0,-4 0-6 16,2-1-2-16,-4 1-3 0,0 1 1 0,-2 4 1 15,0-3 0-15,-2 1 0 0,-1 2-7 16,-2-1 1-16,-2-1-4 0,2 2 0 0,-3 2 0 15,-2-3 3-15,2 3 4 0,-4-4 2 16,-3 4 0-16,3 1 2 0,-6-1 4 0,1 1-2 16,-4 2 0-16,1-1 0 0,-6-1 4 15,0 3-1-15,-1-1-3 0,-3 3 0 16,-4-2 1-16,3 0 2 0,-4 0-2 0,2 3 0 16,-3-3 0-16,2 1-1 0,0-1-2 15,0 1 0-15,2 0-1 0,0 1 1 0,0-2 1 16,4 0 2-16,1-1-2 0,2 1 1 15,-2-1 0-15,4 2 1 0,3-2-1 0,0 0 0 16,4-1 2-16,2 0 1 0,1 1-3 16,-1-2 2-16,0-3-1 0,7 4 0 15,-4-4 2-15,5 1-3 0,-2-1 0 0,-1 1-2 16,2-1 0-16,0 1-3 0,-2-1 1 16,2 3 2-16,-1-1 0 0,-3 1 2 0,5-3-2 15,-1 5 0-15,-3-2 2 0,0 5 0 16,2-3-4-16,-5 0 4 0,3-1 4 0,1-1 5 15,-1 0 1-15,-2 2 1 16,6-4 5-16,-1-1-1 0,0-2-6 0,3 4-1 16,0-5-3-16,2 2 0 0,1-2-4 0,1 1 1 15,0-2-1-15,1-1-1 0,0 3-3 16,0 0 1-16,-1 0-1 0,2-2-3 0,-1 2 4 16,2 2 0-16,-4-3 2 0,3 1-1 15,-1 0 2-15,1 0 3 0,-2 1-4 16,5 0 0-16,-3-2 0 0,3 1 0 0,-2-1 0 15,3 1-2-15,-2-1 4 0,1-2-2 16,4 1 0-16,-4-1-2 0,4 3-1 0,0-2 2 16,3 1-1-16,-1-1 0 0,0-3 2 15,-1 0 0-15,2 4 2 0,0-3-2 16,1 1 0-16,1 0 0 0,-2-2 0 0,2 3 0 16,1-3 0-16,-3 0 2 0,3 0-1 15,0 0-1-15,0 0 3 0,0 0-1 0,0 0 1 16,0 0 0-16,0 0-1 0,0 0 2 15,0 0-2-15,0 0 0 0,0 0 0 16,0 0-2-16,0 0 0 0,0 0 0 0,0 0 0 16,0 0 0-16,0 0 0 0,0 0 0 15,0 0 0-15,0 0 0 0,0 0 2 0,-1 0 0 16,1 0-1-16,-2 0 2 0,0 0-1 16,1 2-2-16,-1-2-2 0,2 0-10 0,0 0-15 15,0 0-20-15,0 0-28 0,2-2-32 16,1 2-23-16,0 0-10 0,5 0-38 15,6-7-118-15,2-3-67 0,6-7-20 16,8-4-6-16,4-2 9 0</inkml:trace>
  <inkml:trace contextRef="#ctx0" brushRef="#br0" timeOffset="47249.3963">15340 7666 204 0,'-1'-3'276'16,"-1"2"6"-16,1-3-46 0,-1 3-73 15,1 0-63-15,1-2-41 0,0 1-24 0,0 2-13 16,0 0-10-16,0 0-4 0,0 0 2 16,0 0 2-16,0 0 7 0,0 0 1 0,0 0 7 15,0 0 2-15,0 0 5 0,0 0-2 16,-5 2-4-16,5-2-1 0,-3 3-1 15,3-2-8-15,-1 0-3 0,-3 1-6 0,1 0 2 16,0-1-4-16,-1 5-5 0,0-1-1 16,-1-1 1-16,-1 1-2 0,1 3-3 0,-1 4-1 15,-1-2 4-15,3 2 1 0,-4 1-1 16,2 1-1-16,-1 2 5 0,1 1-1 0,-1 1-3 16,1 0 0-16,2 0 1 15,-3 1 3-15,2 2-1 0,-2 0-1 0,0 2 1 16,-1-1-2-16,2 2 1 0,-1 1 2 0,-3 1-4 15,0 0 0-15,2 2 4 0,-3 0-3 16,2 0 1-16,1-1 0 0,1-1 0 0,-3-1 1 16,0 2 0-16,7-2 0 0,-6 1-1 15,1 1-1-15,1 0 1 0,1-2-4 16,-1 3 2-16,-3-3 3 0,6 1-1 0,-2-2 1 16,1 1 1-16,-1-2 0 0,-3-1 0 15,7 2-2-15,-6-2-2 0,6-3 1 0,1 3-1 16,-4-3 0-16,5 1 1 0,-2 1-1 15,-1-3 2-15,2 3 1 0,1-4-1 0,0 7-2 16,0-2 0-16,1 0 0 0,2 4 0 16,-1-1 0-16,-2-1 0 0,3 3 1 15,-1-1 2-15,-2 1-1 0,1-1 4 0,1 0-3 16,-2-1 5-16,5 2-2 0,-2 1-2 16,-1-1 5-16,-2 2-3 0,9-3 2 0,-6-1-1 15,2 3 2-15,-2 0-1 0,3-1 0 16,-3 0-2-16,2-1-3 0,1 0 1 15,-3-1 0-15,4-1-1 0,-4-3-1 0,3 0 0 16,-1-3 1-16,-1-2 0 0,1 0-2 16,0-2 3-16,-3-3-2 0,-2-2 1 0,5-2-5 15,-4-1-5-15,1-1-9 0,0-2-16 16,-2 1-33-16,0-8-119 0,-2-2-98 0,2-5-49 16,0-3-18-16,0-1-3 0</inkml:trace>
  <inkml:trace contextRef="#ctx0" brushRef="#br0" timeOffset="48324.0143">15017 8503 75 0,'-3'5'258'0,"-2"3"15"0,3-1 0 0,1 1-88 15,-4 6-71-15,3-3-37 0,-2 2-17 16,1 2-12-16,-1 0-7 0,1 4-5 0,2 1 0 16,-4 1-7-16,5 3-2 0,-2 1-3 15,2-2-2-15,0 2-5 0,0 4-4 16,0 0-3-16,2 2 2 0,-2 2-5 0,3 0 4 15,-1 2-2-15,-1 0 2 0,2 0 4 0,1-2-1 16,-1 3 0-16,3 2-2 0,-1-3 0 16,-2 3 2-16,5-1-5 0,-6-2-1 0,10 2-2 15,-4-3 4-15,-2 0-1 0,2-1-1 16,1 1 0-16,-2-2 0 0,1 2 3 16,-2-5-4-16,1 2 2 0,0 0-3 0,-5-2 4 15,8 1-3-15,-7-1 1 0,4-2 0 16,-4 1-2-16,2-2-1 0,0 1-1 0,0-2 0 15,-3 3 2-15,2-3-2 0,3-1-1 16,-3 0 2-16,2-2 2 0,-4 0-1 16,5 0-1-16,-3-4 1 0,5 3 1 0,-4-2 3 15,0-2-3-15,2 1 1 0,-1-2-1 16,1 1 3-16,-2 0-4 0,2 1 1 16,2-2-1-16,-3 3-1 0,4-2 0 0,-4 1-2 15,4 0-2-15,-1 1 3 0,1 3-1 16,0-1 1-16,-1-1-1 0,0 4-1 0,-1-4 1 15,0 3 4-15,3-5-4 0,-3 4-3 16,0-4 2-16,1 2 5 0,-2 0 0 16,1-1-1-16,-2-1 3 0,2 1 1 0,-2-1-1 15,1 0-1-15,-3 2-4 0,3-2 4 16,0-3 1-16,-2 4 0 0,2-1-3 0,-3 0 1 16,1 0-1-16,0 1-4 0,4-2 1 15,-2 0 0-15,-4 0 0 0,5 2-1 0,-1-4 0 16,-2 1 2-16,2 2-2 0,-3 0-2 15,3-2 0-15,-2-2 1 0,2 0 0 16,0-1-1-16,-3-1 3 0,5 2 1 0,-4-2-1 16,2-2 2-16,-4 1 0 0,4-1 0 15,-7 1 2-15,6-4-2 0,-3 4 4 0,1-3-1 16,0-1 0-16,-3 0 1 0,1-1-1 16,1 2 1-16,-1-4 0 0,1 1 0 0,-1 1-1 15,-2-3 0-15,0 2 2 0,4 2-1 16,0 0 5-16,-2 0-2 0,3 1 4 15,-2-1-1-15,2 4 5 0,-2-4 0 16,1 4 0-16,2 1 0 0,-3-2-1 0,0-1-2 16,6 4 0-16,-4-3-3 0,-1 0-2 0,4 1 2 15,-6-1 0-15,5 2 1 0,-3 0 1 16,1-2 0-16,0-1 1 0,-2 1 1 16,2 2-1-16,1-2-1 0,-1 1 1 0,-2 2 2 15,4-1-1-15,-6-1 0 0,1 0 1 16,4-2-2-16,-2 3 0 0,1-4 1 15,-2 4-2-15,-1-5-2 0,3 3-2 0,-2-1 0 16,2-1 2-16,-2 2-3 0,1-1 2 16,0 0-1-16,0 0-1 0,-2 2 0 15,1-6-1-15,1 5-2 0,-1-4 3 0,-1 0-4 16,1-2-2-16,-2 1 2 0,1-1-2 0,0-1 2 16,-1 0-4-16,-1-1 4 0,0-2 1 15,0 0 0-15,0 0 1 0,0 0 2 16,0 0 0-16,0 0 0 0,0-2-3 0,0 1-24 15,0-2-34-15,0-3-50 0,-1-7-61 16,1-2-103-16,-2-5-150 0,0-6-65 0,1-1-14 16,-4 3 28-16,2-1 44 15</inkml:trace>
  <inkml:trace contextRef="#ctx0" brushRef="#br0" timeOffset="74607.1601">14545 15250 246 0,'-21'-27'324'16,"-8"2"20"-16,-3-1-5 0,-2 0-123 16,-4 7-67-16,-2-3-40 0,2 4-18 0,0 1-10 15,2 4-11-15,0-1-8 0,4 5-12 16,2 3-10-16,4 3-12 0,8 3-14 0,-4 5-12 15,10 7-6-15,-1 7-1 0,4 11-3 16,5 13 1-16,4 11 5 0,6 10 4 16,4 9 3-16,5 8 2 0,7 8 3 15,3 4 4-15,5 2 0 0,9 4 1 0,0-5 3 16,4-7 2-16,4-2-3 0,2-7-7 16,2-13-1-16,1-7-4 0,0-12-16 0,-3-11-9 15,2-9-4-15,-2-12-2 0,-5-11-1 16,3-13-2-16,-4-8 7 0,-3-9 5 0,-7-10-2 15,-4-7-2-15,-7-7-2 0,-5-4 2 16,-9-3 4-16,-3-3 1 0,-7-2 5 16,-5 5 4-16,-3 0 6 0,-1 8 7 0,-4 5 2 15,-2 7 7-15,-2 4-1 0,1 11 0 16,-4 7-4-16,5 4 8 0,-4 10 0 0,-2 9 0 16,4 9 1-16,1 6-2 0,1 8 2 0,9 8-8 15,-2 2-6-15,8 2-2 0,4 3 2 16,5-3-12-16,3 0-2 0,5-3-3 0,4-3-3 15,5-7 2-15,3-5-4 0,4-6 12 16,3-11 3-16,1-4 6 0,-2-10-1 16,-1-4-3-16,-3-6 0 0,-6-6 0 0,0 0 0 15,-7-6-3-15,-5-2 5 0,-6-1 0 16,-5-5-2-16,-5 2 4 0,-2-2-1 16,-6 4-5-16,0 3-3 0,-8 3 1 0,2 6 4 15,-1 1-1-15,-4 6-2 0,0 4 1 16,1 6 0-16,0 4 0 0,1 4-2 0,2 6-2 15,2-3 0-15,3 6 4 0,2 1 2 16,2-1-7-16,6 1 0 0,4-3-8 0,2 2-5 16,4-1-9-16,6-5-13 0,2 0-8 15,2-4-23-15,6-5-28 0,3-1-80 0,-1-7-96 16,1-4-42-16,-3-2-15 0,2 1 7 16</inkml:trace>
  <inkml:trace contextRef="#ctx0" brushRef="#br0" timeOffset="75103.9944">15187 15493 10 0,'0'-1'273'0,"3"-1"29"0,-3 2 18 15,0 0-67-15,0 0-81 0,0 0-62 0,-3 2-38 16,3 1-30-16,-3 3-23 0,-3 1-14 16,1 5-3-16,1 5-2 0,4 5-3 0,-4 4 0 15,4 2 9-15,4 4 2 0,0 3-5 16,3 3-2-16,3-2 5 0,3 0 0 15,1-2-2-15,2 0 1 0,3-4 0 0,0-7 3 16,0-1-2-16,1-6-1 0,0-4-1 16,-1-3 4-16,-4-6 4 0,1-6 0 0,-2-6 8 15,-4-4 1-15,0-5 5 0,-9-4 2 16,-1-3-4-16,-1 0-1 0,-6-9-3 16,-3 3-5-16,-5-1-1 0,-3-3-6 0,0 2-2 15,-4 0-1-15,1 3-4 0,-3 4-1 16,2 5 0-16,2 1 0 0,0 7-2 15,2 4-2-15,-1 4 4 0,1 2-3 0,1 7 1 16,2 4-2-16,0 3-1 0,4 3-4 16,-1 1-13-16,5 1-4 0,1 3-15 0,6-2-16 15,3 0-15-15,2-5-16 0,5 1-31 0,2-9-98 16,3-4-54-16,0-5-19 0,2-7-2 16,2 0 10-16</inkml:trace>
  <inkml:trace contextRef="#ctx0" brushRef="#br0" timeOffset="75348.1286">15505 15042 31 0,'-8'-15'300'0,"-1"-1"31"0,-4 5 14 0,4 2-50 16,-3 0-120-16,3 4-74 0,0 4-41 16,-1 2-28-16,-1 5-15 0,6 5-7 0,2 3-6 15,3 5 2-15,3 3-4 0,2 5 4 16,6 2-1-16,2 4-1 0,2-1 0 15,5 5 3-15,2-3-2 0,1 4 1 0,2-1 1 16,0 1-2-16,1 1-1 0,0 0-6 16,0-1-7-16,-2 0-10 0,1-1-19 0,-1 0-24 15,-2-6-44-15,0-2-118 0,-4-5-60 16,2-10-27-16,-3-1-2 0,-4-6 16 16</inkml:trace>
  <inkml:trace contextRef="#ctx0" brushRef="#br0" timeOffset="75531.1098">15927 15395 163 0,'-8'3'307'0,"0"-1"16"0,-3 0 8 0,3 4-129 15,-1 3-88-15,4 0-53 0,-1 3-30 16,4 1-15-16,-1 1-4 0,6 1-1 0,1 0-5 16,5 1 2-16,0-1 3 0,4 0-2 15,3 0-7-15,-2-1-20 0,4-4-35 16,0-4-125-16,-2-4-82 0,-2-5-43 0,1-5-12 15,-1-2 2-15</inkml:trace>
  <inkml:trace contextRef="#ctx0" brushRef="#br0" timeOffset="75682.0974">15896 15209 285 0,'-16'0'313'0,"2"0"8"0,2 0-36 15,2 4-123-15,2-1-73 0,1 6-44 0,6-1-20 16,1 2-13-16,1 0-13 0,2 2-11 15,4 2-16-15,3-2-18 0,0-2-24 16,3 2-64-16,3-5-87 0,-4 0-42 0,4-3-14 16,-1 2 1-16</inkml:trace>
  <inkml:trace contextRef="#ctx0" brushRef="#br0" timeOffset="76171.1722">16163 15298 233 0,'8'-28'588'0,"-3"14"-333"0,-2 3-91 0,2-4-52 0,0 6-34 16,0 1-21-16,0-1-16 0,2 3-13 16,0 3-10-16,1-2-3 0,3 3-8 15,1 2-3-15,2 2 0 0,1 1-3 16,8-1 5-16,-3-2-1 0,4-2-3 0,-2-3 1 16,7 1 2-16,-4 0-3 0,2-6-1 0,-5-2 2 15,3-2 2-15,-8-3 7 0,4 1 4 16,-5-4 2-16,-1 2 7 0,-5-3 3 0,-1 2 4 15,-2 1 0-15,-1-1 3 0,1 5-1 16,-6 0 2-16,1 4-5 0,-2 2-8 16,3-1-12-16,-2 6-4 0,2 2-7 0,-1 2-5 15,1 6-2-15,-1 0 1 0,6 3 13 16,-2 4 8-16,10 1 5 0,-2 2 2 16,5 2-3-16,1 0 5 0,3 1-11 0,4 1-7 15,-1-2-1-15,6 2-4 0,1-3-1 16,-3 2-1-16,-3-2-1 0,3 0-1 0,-5 2-5 15,-3 0 1-15,-8 0 3 0,2 1 1 16,-4-2 0-16,-7 0 3 0,-2-1 4 16,-3 1 3-16,-3-3 7 0,-1-3 4 0,-2-6 11 15,-2-2 14-15,-3-8 2 0,1-5 5 16,1-9-3-16,-4-10-6 0,7-5-10 0,0-11-15 16,4-4-8-16,4-4-6 0,2-6-2 15,4 2-6-15,1 2-8 0,3 0-5 0,2 6-8 16,-1 5-19-16,3 5-22 0,-2 6-35 15,3 2-72-15,-4 2-131 0,1 5-62 0,-2 3-21 16,-8 5 3-16,-1 6 23 0</inkml:trace>
  <inkml:trace contextRef="#ctx0" brushRef="#br0" timeOffset="77796.609">15655 13137 89 0,'4'-4'289'0,"-3"-1"23"16,-1 0 11-16,0 3-96 0,0-1-86 0,0-1-55 15,-1 3-34-15,-1-1-22 0,-1 2-10 16,-2 0-9-16,3 3-3 0,-3 1-6 16,-4 6-2-16,1 4 1 0,-4 6 3 0,-2 6 5 15,-4 6 3-15,-2 6 5 0,3 7 4 16,-6 3 3-16,-1 7-8 0,2 5-2 15,1 4-1-15,-4 3 1 0,5 3-2 0,-2 1 1 16,2 3 4-16,2-1 1 0,2 0-2 0,0 2-1 16,2-3-2-16,1-4-2 15,3 0-3-15,1-7-3 0,1 1 0 0,2-6 0 16,-1-8 0-16,4-4 0 0,-1-3 3 0,-1-7 0 16,4-5-2-16,-1-3-3 0,0-9-1 15,2 0-2-15,0-5-5 0,0-4-5 16,0-1-8-16,0-5-21 0,0-2-25 0,0-7-67 15,0-5-121-15,0-6-61 0,-3-5-26 16,2-1 2-16,-3-2 15 0</inkml:trace>
  <inkml:trace contextRef="#ctx0" brushRef="#br0" timeOffset="77989.6454">15079 14180 97 0,'-4'0'231'0,"-2"0"8"0,1 5-31 15,-1-2-92-15,-3 4-56 0,7 1-34 0,-3 1-20 16,-1 0-22-16,6 0-30 0,-4 0-72 16,4-5-58-16,-3 1-30 0,3-5-9 15</inkml:trace>
  <inkml:trace contextRef="#ctx0" brushRef="#br0" timeOffset="78392.132">15119 14401 28 0,'5'4'263'0,"-3"-1"27"0,-1-1 16 0,-1 0-84 15,0-1-74-15,0-1-50 0,0 4-32 16,0-1-28-16,0-3-15 0,0 2-11 0,0 4-6 15,0 3-4-15,0 5 1 0,3 1 2 16,-1 6-1-16,3 3 3 0,1 3 2 16,-1 3 5-16,4 1 2 0,-1-1 2 0,2 0 4 15,-1-3 0-15,1-1 2 0,-1-1 0 16,0-4-2-16,-1-3 1 0,1 1 4 16,-3-6 2-16,2-1 0 0,-1-2 2 0,2-1 2 15,-3 0 4-15,3-3 3 0,-1 2 4 16,2-7 11-16,4 3 6 0,0-4 10 0,3-4 3 15,4-5 2-15,1-4-3 0,5-4-5 16,2-7-11-16,1-3-8 0,0-3-9 0,1-2-2 16,-2-5-6-16,-4 5-4 0,-3-5 2 15,0 7-4-15,-5 3-4 0,-4 2-7 16,-2 4-4-16,-1 2-8 0,-4 6-29 0,-3 4-39 16,2 0-41-16,-4 8-37 0,-1 2-48 15,-2 4-126-15,-5 6-84 0,2 0-16 0,-3-2 9 16,2 0 21-16,0-1 38 0</inkml:trace>
  <inkml:trace contextRef="#ctx0" brushRef="#br0" timeOffset="115404.4609">8637 16208 87 0,'-6'0'253'16,"1"-7"28"-16,-4 2-6 0,2-3-80 0,-4 1-58 15,2-1-35-15,1 2-21 0,-2-4-22 16,-4 1-17-16,3-1-10 0,-2 1-8 15,-1-1-2-15,0 2-2 0,0-2-5 0,-1-1-2 16,-2 1 0-16,1 0 2 0,1-2-2 16,-1 0 0-16,-4 2-2 0,5-2-2 0,-2 0-1 15,-1 0-2-15,2-5-1 0,-2 0-2 16,0-1 2-16,-3-3-4 0,3 0 3 0,2-4 1 16,-3-1-1-16,1 0-2 0,-1-1 3 15,1-2-2-15,3-3-1 0,-2 3-1 16,-1-3-1-16,3 0 2 0,2 0-5 0,-1 1 3 15,1-1 0-15,3 2 0 0,-2-1 1 16,7 2-1-16,-1 1 2 0,3-2-1 0,-1-4-2 16,4 3-4-16,2-1-3 0,1-2 2 15,0 0-4-15,4-1-2 0,-4 2 4 16,9-1-2-16,-4 2 2 0,5-1 1 0,1 2 0 16,-1 1-1-16,4 1-1 0,-2 1 5 15,4-1-1-15,-3 2 0 0,2 0 1 16,1 1 3-16,2 0-1 0,1 1-3 0,-1-2 1 15,-2 4-1-15,4-2-2 0,1 5-1 16,-1-3 1-16,0 5-1 0,-1-3-1 0,2 4-1 16,-1 1-2-16,-2 1 3 0,4 0-4 15,-3 1 4-15,0-1 0 0,-1 3 0 0,0 1 1 16,-1-3 1-16,-2 5 2 0,2-4 1 16,-1 5 1-16,-2-3 3 0,2 4-4 15,-1 0 3-15,1 1-1 0,-1-1 0 0,-1 2-2 16,5 0 3-16,-5 1-1 0,4-1 0 15,-1 3 2-15,-1-1-2 0,2-1-2 0,-1 3 2 16,-1-1 0-16,0 2-4 0,-3 0 1 16,3 2 1-16,0-1 1 0,-2 3 1 15,-1-1 0-15,0 4 0 0,3 0 3 0,0 2-3 16,-3 2-1-16,4 1 0 0,-1 0 3 16,2 2 1-16,-1 0-2 0,0 3 5 0,3-2-3 15,4 2 3-15,-2 0-3 0,-1 1 2 16,0-3 0-16,-1 3-2 0,4-3 2 15,-3 3-2-15,-2 0 2 0,-1-1-3 16,2 3 4-16,-4-1-1 0,0-1-3 0,0 0 0 16,0 2 2-16,-3-1 0 0,-1 3-2 0,2-1 2 15,-4 1-1-15,-1 3 2 0,2-4-3 16,0 4 2-16,-3 1-2 0,2-2 1 16,-2 3 0-16,2-3-3 0,-2 3 3 0,0-1 0 15,0-1 0-15,-2-1-1 0,-1 2 2 16,0-4 1-16,-2 2-3 0,-1-4 1 0,1 2 2 15,-1-3-3-15,-1 2 0 0,-4-3 0 16,0 3 0-16,0-1 0 0,0 1-1 16,-4-1 1-16,-1 0 0 0,-1 0 1 0,1 0-1 15,-1 2 2-15,0-1-2 0,-2-2 0 16,1 1 0-16,-6-1-2 0,8 2-1 0,-7 0-1 16,2 1 2-16,0-2 2 0,-1 0-1 15,-2 0-1-15,2-1 2 0,-3 2-2 0,0-3 2 16,2 3 0-16,-6 0 0 0,2-2 0 15,-2 3-2-15,0 2 4 0,-2-4-4 16,-2 3 1-16,2-3-2 0,-4 3 3 0,-1 1-2 16,-1-3 0-16,1 0 1 0,-3 0 1 15,-1-1-2-15,-1 1 2 0,2-3 0 0,-5 0 3 16,3 0 1-16,0-3-2 0,0-1 2 16,0-2-10-16,-2-2-2 0,-1 0-4 0,1-1-3 15,1 0 2-15,-3-3-2 0,4 1 9 16,0 0 5-16,0 1 1 0,3-4 0 15,1 2-2-15,2-2 2 0,1 1 1 0,-2-2 0 16,5 1 0-16,0-2 1 0,0-2 1 16,0-2-2-16,1-4-1 0,1 0 10 0,-2-3 4 15,5-3 3-15,-2-3 1 0,1-3 0 16,-2-3 1-16,0-1-5 0,2-2-5 0,-1-4-5 16,1 2 5-16,0-3-4 0,0 3-4 15,2-2 1-15,2 0 3 0,-4 2-4 0,3 0 1 16,2 4-1-16,-3 0 4 0,4 0-3 15,-2 0-1-15,4-1 2 0,0 5-1 16,-2-6-2-16,1 4-1 0,-1-4 2 0,1 1 0 16,0-1-1-16,-1-1 3 0,1-2-2 15,-2 0-1-15,1-1 0 0,0 0 0 0,-2 1 0 16,2 2 0-16,-1-2 0 0,0 6 2 16,0-4-2-16,5 1 1 0,-3 5-1 15,4-3-1-15,0 0-1 0,0 0-2 0,3 1-1 16,-1 1 0-16,3 0-3 0,3-3-4 15,-1 1-6-15,3 3-1 0,0-6-3 16,0 2-4-16,4-2-3 0,-3 0 1 0,5 2 0 16,3-2 2-16,-1 1 4 0,4 0 6 15,-1-2 3-15,3 1 6 0,-1 4 0 0,2-4 4 16,1 6-1-16,-2-2-2 0,3 3-1 16,0-1-3-16,1 2-4 0,-2 0-8 15,1 3-8-15,0 0-7 0,-1 3-16 0,0-1-24 16,-4-1-46-16,0 4-59 0,-3 0-33 15,-1 0-7-15,-3 3 2 0</inkml:trace>
</inkml:ink>
</file>

<file path=ppt/ink/ink5.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cm"/>
          <inkml:channel name="T" type="integer" max="2.14748E9" units="dev"/>
        </inkml:traceFormat>
        <inkml:channelProperties>
          <inkml:channelProperty channel="X" name="resolution" value="1612.54919" units="1/cm"/>
          <inkml:channelProperty channel="Y" name="resolution" value="2580.07886" units="1/cm"/>
          <inkml:channelProperty channel="F" name="resolution" value="10E-6" units="1/cm"/>
          <inkml:channelProperty channel="T" name="resolution" value="1" units="1/dev"/>
        </inkml:channelProperties>
      </inkml:inkSource>
      <inkml:timestamp xml:id="ts0" timeString="2022-02-02T06:18:54.178"/>
    </inkml:context>
    <inkml:brush xml:id="br0">
      <inkml:brushProperty name="width" value="0.05292" units="cm"/>
      <inkml:brushProperty name="height" value="0.05292" units="cm"/>
      <inkml:brushProperty name="color" value="#FF0000"/>
    </inkml:brush>
  </inkml:definitions>
  <inkml:trace contextRef="#ctx0" brushRef="#br0">18074 9097 70 0,'0'3'217'0,"0"0"12"0,0 2-52 16,0-2-60-16,0-3-40 0,0 4-26 15,0-1-13-15,0 2-7 0,0-2-1 0,3 2 4 16,-2-1 2-16,1 1-1 0,1 0 2 15,1 0-1-15,-3 1-1 0,2-2-2 0,2 2 0 16,-2-4 0-16,-1 1 0 0,1 0 0 16,-2-1 4-16,2 0-2 0,0-2-1 15,-1 0-5-15,3 0-5 0,-2 0 0 0,2 0-6 16,-5 0-7-16,4 3-3 0,0-3 0 16,-3 3-2-16,3-1-4 0,-2 3 0 0,2 0 6 15,-1-2-1-15,-1 1 1 0,-1-1 3 16,1 1 3-16,2-3 8 0,-1 1-2 0,1-2 6 15,1-2 5-15,1-3 1 0,6-3-1 16,-2-6-7-16,1-2-5 0,3-4-6 16,1-2-4-16,-1-5-2 0,2 0-6 15,-2-4 1-15,0 2-1 0,0-5-2 16,1 5 0-16,-6-1-1 0,5 0 1 0,-3 4-5 16,-2 3 4-16,0 2 0 0,-1 1 1 0,-2 4 22 15,-4 5 9-15,7 4 6 0,-8-2-21 16,1 2-5-16,0 2-6 0,-2 2-26 0,0 3-14 15,0 2-3-15,0-1 20 0,-2 4 9 16,0-1 3-16,1-1 6 0,1 6 1 0,-5-4 1 16,5 2-1-16,-4-2 0 0,4 1 2 15,0-1 0-15,-2-1 0 0,0 0-1 16,1 0 1-16,-1-1-5 0,1 0 3 0,-3 2-6 16,4 0-3-16,-1 0-8 0,-2 0-10 15,-1-1-11-15,3 1-18 0,-3 3-25 0,-1-3-47 16,1 0-112-16,1 0-55 0,2-2-23 15,-4 0-1-15,5-3 19 0</inkml:trace>
  <inkml:trace contextRef="#ctx0" brushRef="#br0" timeOffset="6037.8386">22381 8395 21 0,'1'-13'536'0,"1"9"-240"15,1-5-86-15,1 5-67 0,-1-3-40 16,-2 0-30-16,3 3-20 0,-1-3-10 0,3 0-7 16,-2 4-2-16,0-2-1 0,1 0-2 15,-1 0 1-15,1 1-1 0,-2 0 3 0,2-2-1 16,-5 4-1-16,5-1 6 0,-2 0 0 15,-2 0-4-15,3-1-3 0,-4 4-8 0,1 0-6 16,1 0-7-16,-1 5-6 0,1 0 1 16,-2 2-3-16,1 5 3 0,1 1 3 0,0 5 4 15,-1-3 1-15,4 5 0 0,-4-3-2 16,6 3 0-16,-2-2 0 0,2-1 0 16,3 0 5-16,3-5 6 0,0 0 7 15,4-3 5-15,1-4 0 0,3-5 3 0,7-5-3 16,0-4-8-16,2-5-6 0,1-5-4 0,1-6-5 15,1 2-4-15,-1-2-1 0,-2-2-1 16,-2-1-2-16,1-2-2 0,-3 3-1 16,0-1 0-16,-4 3-3 0,-1-1 3 0,-1 2-2 15,-1 4 2-15,-4-2 0 0,1 4 1 16,-3 2 0-16,-3 2-1 0,1 2 0 0,-5-1 0 16,0 5 0-16,-1 2-2 0,-2 0 2 15,2 1 0-15,-5 3 1 0,1 0-1 0,1 1 1 16,0 1-7-16,-2 0-8 0,0 1-12 15,0 2-18-15,0 0-16 0,0 0-23 16,0 3-22-16,1-1-39 0,-1-5-114 0,0 0-73 16,0 0-27-16,0 0-5 0,0 0 16 15</inkml:trace>
  <inkml:trace contextRef="#ctx0" brushRef="#br0" timeOffset="7841.6545">23238 7785 120 0,'-7'-3'283'0,"1"2"20"0,0 1-2 0,3 0-109 16,0 1-70-16,-1 3-39 0,4 3-31 0,0 1-14 15,0 4-3-15,4 2-1 0,-1 2-4 16,-2 4-1-16,4-2-2 0,1 0-2 0,0 4-7 15,-1 0-3-15,0 1-2 0,2 0-6 16,-3-1 1-16,1 2 0 0,1-3 0 16,-3 1-2-16,4-3-3 0,-6-3 0 0,3-1-3 15,-4-2 3-15,4-5 0 0,-3 0 5 16,-1-2 8-16,0-1 6 0,0-5 5 0,0-5-4 16,4-1 2-16,-4-5-5 0,1-2-5 15,1-4-5-15,0-2-4 0,-1-4 2 16,1-4-4-16,1 0 0 0,0-7 0 0,0 2-1 15,1 2-2-15,1 0 0 0,1 1-1 16,1 0 0-16,1 3-1 0,2 2 1 0,-1 3 0 16,2 2-2-16,0 2 0 0,-1 3-2 15,1 5 4-15,0 1-4 0,-2 1 3 16,0 7-1-16,1 0 1 0,-3 7-1 0,0 1-1 16,0 1 0-16,-4 1 1 0,2 3 0 15,-4 1 0-15,1-1 1 0,-2 3 1 0,0-2 0 16,0 4-3-16,0-3 3 15,0 3-1-15,2 17-5 0,2-19 6 16,0-2 0-16,-2 3-1 0,4-2 0 0,-2 0 0 16,2-1-2-16,1 0-5 0,-1-2-2 15,1 0 0-15,-3 1-2 0,4-3-2 0,-2 1 4 16,0 1 1-16,1 1 1 0,0-1 2 16,-1 0 1-16,-2 1 2 0,1 2-1 15,-2-3 0-15,1 4 4 0,-3 0 0 0,1 0-2 16,-1-1 1-16,-1 0-1 0,2 0 0 15,-2-1-4-15,2-2 4 0,-2-1 3 0,0-3 2 16,0-1 1-16,0-2 1 0,0-2 0 16,2 1-3-16,0-4 1 0,0-4 0 15,-1 1 0-15,1-2-3 0,-1-4-3 0,-1-2-6 16,0-2-8-16,0 0-12 0,0-3-8 16,0 1-5-16,0-1-2 0,2 1 0 15,0-2 5-15,-1-3 5 0,2 6 4 0,1-1 6 16,0 1 4-16,0-2 5 0,2 3 3 0,0-1 3 15,-1 0 5-15,1 1 6 0,2 1 6 16,0 0 8-16,2-1 8 0,-2 4 7 16,2-2 5-16,-2 1 3 0,2 0-1 0,-4 2 0 15,4-2-1-15,-2 4-4 0,-2-2-6 16,0 3-1-16,0 1-5 0,2 1-3 16,0 0-10-16,0 1-1 0,2 2-4 0,-2 0-3 15,3 2 0-15,0-1 2 0,1 1-1 16,1 2-1-16,0 1 3 0,1-2 0 0,-2 5-2 15,0-3-3-15,-1 3 2 0,-4-4 0 16,0 3 0-16,-1 0 1 0,-2-3 3 0,-3 4-1 16,2-4 2-16,-3-1-1 15,0 3 2-15,-3-3 1 0,2-1 1 16,-6-4 11-16,2-1-7 0,3-4 1 0,-1-1-6 16,0-2 2-16,3-5-3 0,3-1-3 15,0-4-1-15,1 0-2 0,2-2 0 0,-1 1 0 16,4 1 0-16,-1 2 0 0,0 2-2 15,1 2-1-15,1 2 1 0,-2 0 0 16,0 3-1-16,1 2 0 0,-1 4 0 0,-1-2-2 16,-1 5 1-16,2 0 4 0,-3 0-2 15,1 0 0-15,0 0 4 0,-1 3 0 16,3-3 2-16,-2 0-2 0,2 0 1 0,0-3-3 16,0 1 3-16,-2-1-3 0,1-2 4 15,-3 1-3-15,1-2-1 0,1 2 1 0,-3-1 3 16,-3 3-4-16,4 2 1 0,-4-3 3 15,-4 3 2-15,1 0-3 0,-1 3-1 0,-1-1 4 16,-1 3-5-16,1 2-4 0,0 0 1 16,2-2 0-16,0 0 0 0,-2 3-1 15,5-3 3-15,0 3 3 0,0-3 2 16,5 2 1-16,-1-2 2 0,4-2-1 0,0 4 1 16,3-4-2-16,2-1 4 0,0-2-4 0,3-2-16 15,0-1-11-15,-1-4-6 0,0 4-1 16,2-6-6-16,-4 0 1 0,1-3 19 0,-3-3 7 15,1 0 7-15,-4-2-5 0,-1-1 4 16,1 0 1-16,-6 1-2 0,3-3 0 16,-3 2-2-16,-1 1 0 0,-1 2 3 0,0 2-2 15,0 1 1-15,0 0 0 0,0 3 0 16,0 1-1-16,0 2-1 0,0 3 2 16,0-2 1-16,0 3-2 0,0-1 3 0,0 3 4 15,2-3-2-15,0 3 0 0,-1-1-2 16,-1-2 0-16,4 3 0 0,-1-3-3 0,-3 3 1 15,5 0 1-15,-1 0-2 0,1 3-1 16,1-3 0-16,1 4 4 0,-4-1-2 0,5 4 1 16,-2 1 1-16,-2-1 1 0,-1 4 1 15,3-4 0-15,-3 1-2 0,0 4 0 16,0-4 0-16,0-1-2 0,2 0-1 0,-5-1 3 16,3 0 0-16,0 0 1 0,0-3 3 15,1 0 0-15,-1-1-4 0,0-1 3 0,3-1 1 16,0-3-5-16,0 0 0 0,3-3-1 15,-3-1 2-15,3-3-4 0,-1 1-4 16,-1-4-1-16,1-1 2 0,-1-2-4 0,1 0 0 16,0-3 1-16,-1-3 2 0,2-1 5 15,-3-2 1-15,1-2 0 0,-1-1-1 0,-1 0 0 16,-3 0 0-16,0 3 0 0,0-1 3 16,-2 4 5-16,0 1-2 0,-2 3 3 0,0 1 1 15,2 5 0-15,-3 3-2 0,-1 0-4 16,1 6 0-16,-2 3-1 0,4 3 0 15,-3 6-2-15,1 2 0 0,0 4 4 16,1 2-1-16,2 2-1 0,2 3 0 0,1 3 1 16,0-5 1-16,1 4-2 0,0-1 0 0,1-4 4 15,0-1-1-15,1 0 2 0,-2-3-1 16,3-1 0-16,-4-6-1 0,4 3 0 0,0-4 0 16,-2-5-1-16,3 0 1 0,0-4 1 15,1 0-1-15,3-5 3 0,-1-4-3 16,1 4 1-16,0-5 0 0,-3 2-4 0,4 2 0 15,-5-1-3-15,6 5 2 0,-5 2-6 16,3 5 1-16,0 2 3 0,-1 2 3 0,0 4-3 16,3 0 3-16,-2 4 1 0,1 1 1 15,4 2 3-15,-2-1-1 0,0 2-4 16,-1 0-16-16,-6 1-30 0,0-4-82 0,-4 1-120 16,1-4-60-16,0-4-29 0,-3 0-3 15,0-3 21-15</inkml:trace>
  <inkml:trace contextRef="#ctx0" brushRef="#br0" timeOffset="15927.8641">21732 8518 62 0,'3'1'239'0,"3"-1"17"0,-5 0-18 0,6 0-75 16,-6 0-57-16,6 2-30 0,-2-2-20 16,4 3-13-16,-5-1-4 0,1 0-5 0,2-2 1 15,-1 3-3-15,2-3-1 0,-3 4-1 16,1-3 2-16,-1 1 1 0,0 0 2 16,-4-2 2-16,1 3-2 0,4-3-1 0,-3 0-1 15,-1 0-3-15,2 0-2 0,0-3-2 16,4 3 0-16,-1-2-3 0,0-1-3 15,-1-1-2-15,0 1-4 0,5-1 0 0,-4-1-1 16,5 0-1-16,1-3 0 0,1 2 1 16,3-6-5-16,1 1 0 0,4-3-5 15,2-3-1-15,-2-3-2 0,5 1 0 0,-2-3-1 16,4 1-3-16,-3-3 4 0,0 2 19 0,-1 0 9 16,-4 0 5-16,-1 4 5 0,-3 0 4 15,-2 3-1-15,-1 0-17 0,-6 3-10 0,-2 3-5 16,1 1-1-16,-2 2-5 0,-2 3 2 15,-1-2-3-15,-2 1 2 0,0 4-3 0,0 2 1 16,-4 3-7-16,-1-1-16 0,0 2-35 16,-3 1-41-16,2 1-63 0,-3 0-132 15,6 2-68-15,-4-3-25 0,-1 3 19 0,-4-3 26 16</inkml:trace>
  <inkml:trace contextRef="#ctx0" brushRef="#br0" timeOffset="18595.6017">16278 10432 186 0,'2'-4'234'0,"-1"1"-6"0,-1-4-53 16,3 4-57-16,-3-2-34 0,0 0-21 0,4 1-14 15,-4 1-9-15,0-4-4 0,0 2-2 16,1 0 2-16,-1 0-1 0,0 1 6 0,0 1-3 15,2 0 3-15,-2-1-1 0,0 2-4 16,0-1-2-16,0 1-4 0,0 2-1 0,0-2-3 16,0 2-7-16,0 0 2 0,1 0-7 15,1 0-5-15,0 0-4 0,-2 2-3 16,1-2 0-16,2 2-5 0,3 1 6 0,-1-1 3 16,2 4-3-16,-3-2 6 0,5 0 2 15,0 4 4-15,2-1-1 0,-1 1-2 0,3 3 2 16,-1-3-1-16,-3 2 0 0,7-1-10 15,-5 0-4-15,1 0-3 0,0 0 4 16,-3 0-2-16,1-1-2 0,-2-1 4 0,-4 0 4 16,4-4 0-16,-5 4 2 0,4-5 8 15,-4 1 6-15,3-3 7 0,2-5 3 0,5-2 2 16,-1-3-2-16,6-4-4 0,-1-4-4 16,5-6-9-16,2 0-8 0,1-4 0 0,-3-2 3 15,5-1-6-15,0 3-2 0,-3-2 0 16,-2 3 0-16,3 0 0 0,-6 3-6 0,-2 2-2 15,1 1 7-15,-4 3 3 0,1 2 5 16,-3 3-1-16,-2 1 6 0,-4 2 0 16,-1 2 2-16,1 2-8 0,-1 2-4 0,-2-1 3 15,0 2-1-15,0 1-4 0,-3-1-2 16,3 3 1-16,-3-2 3 0,4 0-2 0,-4 1-1 16,0 1 2-16,0 0-1 0,0 0 1 15,0 0 0-15,0 0 1 0,0 0-2 16,0 0 2-16,0 0 0 0,0 0 0 0,0 0-2 15,0 0 0-15,0 0 0 0,0 0 0 16,0 0 0-16,0 0 2 0,0 0-2 0,0-2-2 16,0 2 2-16,0 0 2 0,0 0 0 15,0 0-4-15,0 2-9 0,0-1-14 16,0 1-20-16,1 0-32 0,1-2-54 0,-2 0-136 16,0 0-68-16,0 0-26 0,0 0 0 15,0-7 18-15</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395A90B5-7DF2-4A1A-873D-634730921C98}" type="datetimeFigureOut">
              <a:rPr lang="en-US" smtClean="0"/>
              <a:pPr/>
              <a:t>2/16/2023</a:t>
            </a:fld>
            <a:endParaRPr lang="en-US" dirty="0"/>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84FC5872-8AA6-42FC-B5CF-C8FCD4DF3A31}" type="slidenum">
              <a:rPr lang="en-US" smtClean="0"/>
              <a:pPr/>
              <a:t>‹#›</a:t>
            </a:fld>
            <a:endParaRPr lang="en-US" dirty="0"/>
          </a:p>
        </p:txBody>
      </p:sp>
    </p:spTree>
    <p:extLst>
      <p:ext uri="{BB962C8B-B14F-4D97-AF65-F5344CB8AC3E}">
        <p14:creationId xmlns:p14="http://schemas.microsoft.com/office/powerpoint/2010/main" val="239153367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Slide Number Placeholder 21"/>
          <p:cNvSpPr txBox="1">
            <a:spLocks/>
          </p:cNvSpPr>
          <p:nvPr userDrawn="1"/>
        </p:nvSpPr>
        <p:spPr>
          <a:xfrm>
            <a:off x="0" y="6565380"/>
            <a:ext cx="685800" cy="292620"/>
          </a:xfrm>
          <a:prstGeom prst="rect">
            <a:avLst/>
          </a:prstGeom>
        </p:spPr>
        <p:txBody>
          <a:bodyPr anchor="b"/>
          <a:lstStyle>
            <a:lvl1pPr algn="ctr" eaLnBrk="1" latinLnBrk="0" hangingPunct="1">
              <a:defRPr kumimoji="0" sz="1200">
                <a:solidFill>
                  <a:schemeClr val="bg2">
                    <a:shade val="50000"/>
                    <a:satMod val="200000"/>
                  </a:schemeClr>
                </a:solidFill>
                <a:effectLst/>
              </a:defRPr>
            </a:lvl1pPr>
            <a:extLst/>
          </a:lstStyle>
          <a:p>
            <a:pPr marL="0" marR="0" lvl="0" indent="0" algn="ctr" defTabSz="914400" rtl="0" eaLnBrk="1" fontAlgn="auto" latinLnBrk="0" hangingPunct="1">
              <a:lnSpc>
                <a:spcPct val="100000"/>
              </a:lnSpc>
              <a:spcBef>
                <a:spcPts val="0"/>
              </a:spcBef>
              <a:spcAft>
                <a:spcPts val="0"/>
              </a:spcAft>
              <a:buClrTx/>
              <a:buSzTx/>
              <a:buFontTx/>
              <a:buNone/>
              <a:tabLst/>
              <a:defRPr/>
            </a:pPr>
            <a:fld id="{83AF55C9-8D46-411D-9295-23F0A748FD91}" type="slidenum">
              <a:rPr kumimoji="0" lang="en-US" b="0" i="0" u="none" strike="noStrike" kern="1200" cap="none" spc="0" normalizeH="0" baseline="0" noProof="0" smtClean="0">
                <a:ln>
                  <a:noFill/>
                </a:ln>
                <a:solidFill>
                  <a:schemeClr val="tx1"/>
                </a:solidFill>
                <a:effectLst/>
                <a:uLnTx/>
                <a:uFillTx/>
                <a:latin typeface="+mn-lt"/>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r>
              <a:rPr kumimoji="0" lang="en-US" b="0" i="0" u="none" strike="noStrike" kern="1200" cap="none" spc="0" normalizeH="0" baseline="0" noProof="0" dirty="0" smtClean="0">
                <a:ln>
                  <a:noFill/>
                </a:ln>
                <a:solidFill>
                  <a:schemeClr val="tx1"/>
                </a:solidFill>
                <a:effectLst/>
                <a:uLnTx/>
                <a:uFillTx/>
                <a:latin typeface="+mn-lt"/>
                <a:ea typeface="+mn-ea"/>
                <a:cs typeface="+mn-cs"/>
              </a:rPr>
              <a:t> </a:t>
            </a:r>
            <a:endParaRPr kumimoji="0" lang="en-US" b="0" i="0" u="none" strike="noStrike" kern="1200" cap="none" spc="0" normalizeH="0" baseline="0" noProof="0" dirty="0">
              <a:ln>
                <a:noFill/>
              </a:ln>
              <a:solidFill>
                <a:schemeClr val="tx1"/>
              </a:solidFill>
              <a:effectLst/>
              <a:uLnTx/>
              <a:uFillTx/>
              <a:latin typeface="+mn-lt"/>
              <a:ea typeface="+mn-ea"/>
              <a:cs typeface="+mn-cs"/>
            </a:endParaRPr>
          </a:p>
        </p:txBody>
      </p:sp>
    </p:spTree>
  </p:cSld>
  <p:clrMap bg1="lt1" tx1="dk1" bg2="lt2" tx2="dk2" accent1="accent1" accent2="accent2" accent3="accent3" accent4="accent4" accent5="accent5" accent6="accent6" hlink="hlink" folHlink="folHlink"/>
  <p:sldLayoutIdLst>
    <p:sldLayoutId id="2147483649" r:id="rId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customXml" Target="../ink/ink1.xml"/><Relationship Id="rId2" Type="http://schemas.openxmlformats.org/officeDocument/2006/relationships/image" Target="../media/image4.png"/><Relationship Id="rId1" Type="http://schemas.openxmlformats.org/officeDocument/2006/relationships/slideLayout" Target="../slideLayouts/slideLayout1.xml"/><Relationship Id="rId4" Type="http://schemas.openxmlformats.org/officeDocument/2006/relationships/image" Target="../media/image14.emf"/></Relationships>
</file>

<file path=ppt/slides/_rels/slide1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customXml" Target="../ink/ink2.xml"/><Relationship Id="rId2" Type="http://schemas.openxmlformats.org/officeDocument/2006/relationships/image" Target="../media/image6.png"/><Relationship Id="rId1" Type="http://schemas.openxmlformats.org/officeDocument/2006/relationships/slideLayout" Target="../slideLayouts/slideLayout1.xml"/><Relationship Id="rId4" Type="http://schemas.openxmlformats.org/officeDocument/2006/relationships/image" Target="../media/image21.emf"/></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customXml" Target="../ink/ink3.xml"/><Relationship Id="rId2" Type="http://schemas.openxmlformats.org/officeDocument/2006/relationships/image" Target="../media/image7.png"/><Relationship Id="rId1" Type="http://schemas.openxmlformats.org/officeDocument/2006/relationships/slideLayout" Target="../slideLayouts/slideLayout1.xml"/><Relationship Id="rId4" Type="http://schemas.openxmlformats.org/officeDocument/2006/relationships/image" Target="../media/image24.emf"/></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customXml" Target="../ink/ink4.xml"/><Relationship Id="rId2" Type="http://schemas.openxmlformats.org/officeDocument/2006/relationships/image" Target="../media/image8.png"/><Relationship Id="rId1" Type="http://schemas.openxmlformats.org/officeDocument/2006/relationships/slideLayout" Target="../slideLayouts/slideLayout1.xml"/><Relationship Id="rId4" Type="http://schemas.openxmlformats.org/officeDocument/2006/relationships/image" Target="../media/image27.emf"/></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customXml" Target="../ink/ink5.xml"/><Relationship Id="rId2" Type="http://schemas.openxmlformats.org/officeDocument/2006/relationships/image" Target="../media/image11.png"/><Relationship Id="rId1" Type="http://schemas.openxmlformats.org/officeDocument/2006/relationships/slideLayout" Target="../slideLayouts/slideLayout1.xml"/><Relationship Id="rId4" Type="http://schemas.openxmlformats.org/officeDocument/2006/relationships/image" Target="../media/image34.emf"/></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2" Type="http://schemas.openxmlformats.org/officeDocument/2006/relationships/image" Target="../media/image220.png"/><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1.xml"/></Relationships>
</file>

<file path=ppt/slides/_rels/slide52.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1.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5.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1.xml"/></Relationships>
</file>

<file path=ppt/slides/_rels/slide56.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1.xml"/><Relationship Id="rId4" Type="http://schemas.openxmlformats.org/officeDocument/2006/relationships/image" Target="../media/image28.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209800" y="2987350"/>
            <a:ext cx="4967990" cy="830997"/>
          </a:xfrm>
          <a:prstGeom prst="rect">
            <a:avLst/>
          </a:prstGeom>
          <a:noFill/>
        </p:spPr>
        <p:txBody>
          <a:bodyPr wrap="square" rtlCol="0">
            <a:spAutoFit/>
          </a:bodyPr>
          <a:lstStyle/>
          <a:p>
            <a:pPr algn="ctr">
              <a:buClr>
                <a:schemeClr val="accent6">
                  <a:lumMod val="50000"/>
                </a:schemeClr>
              </a:buClr>
              <a:tabLst>
                <a:tab pos="465138" algn="l"/>
              </a:tabLst>
            </a:pPr>
            <a:r>
              <a:rPr lang="en-US" sz="4800" b="1" dirty="0" smtClean="0"/>
              <a:t>D.C. Generators</a:t>
            </a: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p:cNvSpPr/>
          <p:nvPr/>
        </p:nvSpPr>
        <p:spPr>
          <a:xfrm>
            <a:off x="914400" y="0"/>
            <a:ext cx="8229600" cy="6858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TextBox 10"/>
          <p:cNvSpPr txBox="1"/>
          <p:nvPr/>
        </p:nvSpPr>
        <p:spPr>
          <a:xfrm>
            <a:off x="457200" y="81290"/>
            <a:ext cx="8229600" cy="523220"/>
          </a:xfrm>
          <a:prstGeom prst="rect">
            <a:avLst/>
          </a:prstGeom>
          <a:noFill/>
        </p:spPr>
        <p:txBody>
          <a:bodyPr wrap="square" rtlCol="0">
            <a:spAutoFit/>
          </a:bodyPr>
          <a:lstStyle/>
          <a:p>
            <a:pPr algn="ctr">
              <a:buClr>
                <a:schemeClr val="accent6">
                  <a:lumMod val="50000"/>
                </a:schemeClr>
              </a:buClr>
              <a:tabLst>
                <a:tab pos="465138" algn="l"/>
              </a:tabLst>
            </a:pPr>
            <a:r>
              <a:rPr lang="en-US" sz="2800" b="1" dirty="0" smtClean="0">
                <a:solidFill>
                  <a:srgbClr val="92D050"/>
                </a:solidFill>
              </a:rPr>
              <a:t>D.C. Generators</a:t>
            </a:r>
          </a:p>
        </p:txBody>
      </p:sp>
      <p:sp>
        <p:nvSpPr>
          <p:cNvPr id="2" name="TextBox 1"/>
          <p:cNvSpPr txBox="1"/>
          <p:nvPr/>
        </p:nvSpPr>
        <p:spPr>
          <a:xfrm>
            <a:off x="899410" y="685800"/>
            <a:ext cx="7558790" cy="6063198"/>
          </a:xfrm>
          <a:prstGeom prst="rect">
            <a:avLst/>
          </a:prstGeom>
          <a:noFill/>
        </p:spPr>
        <p:txBody>
          <a:bodyPr wrap="square" rtlCol="0">
            <a:spAutoFit/>
          </a:bodyPr>
          <a:lstStyle/>
          <a:p>
            <a:pPr algn="just">
              <a:lnSpc>
                <a:spcPct val="150000"/>
              </a:lnSpc>
              <a:spcBef>
                <a:spcPts val="300"/>
              </a:spcBef>
              <a:buClr>
                <a:schemeClr val="accent6">
                  <a:lumMod val="50000"/>
                </a:schemeClr>
              </a:buClr>
              <a:buFont typeface="Wingdings" pitchFamily="2" charset="2"/>
              <a:buChar char="v"/>
              <a:tabLst>
                <a:tab pos="465138" algn="l"/>
              </a:tabLst>
            </a:pPr>
            <a:r>
              <a:rPr lang="en-US" sz="2200" b="1" dirty="0" smtClean="0"/>
              <a:t>  	Generator Principal</a:t>
            </a:r>
          </a:p>
          <a:p>
            <a:pPr algn="just">
              <a:lnSpc>
                <a:spcPct val="150000"/>
              </a:lnSpc>
              <a:spcBef>
                <a:spcPts val="300"/>
              </a:spcBef>
              <a:buClr>
                <a:schemeClr val="accent6">
                  <a:lumMod val="50000"/>
                </a:schemeClr>
              </a:buClr>
              <a:buFont typeface="Wingdings" pitchFamily="2" charset="2"/>
              <a:buChar char="v"/>
              <a:tabLst>
                <a:tab pos="465138" algn="l"/>
              </a:tabLst>
            </a:pPr>
            <a:r>
              <a:rPr lang="en-US" sz="2200" b="1" dirty="0" smtClean="0"/>
              <a:t> 	Simple Loop Generator</a:t>
            </a:r>
          </a:p>
          <a:p>
            <a:pPr algn="just">
              <a:lnSpc>
                <a:spcPct val="150000"/>
              </a:lnSpc>
              <a:spcBef>
                <a:spcPts val="300"/>
              </a:spcBef>
              <a:buClr>
                <a:schemeClr val="accent6">
                  <a:lumMod val="50000"/>
                </a:schemeClr>
              </a:buClr>
              <a:buFont typeface="Wingdings" pitchFamily="2" charset="2"/>
              <a:buChar char="v"/>
              <a:tabLst>
                <a:tab pos="465138" algn="l"/>
              </a:tabLst>
            </a:pPr>
            <a:r>
              <a:rPr lang="en-US" sz="2200" b="1" dirty="0" smtClean="0"/>
              <a:t> 	Practical Generator</a:t>
            </a:r>
          </a:p>
          <a:p>
            <a:pPr algn="just">
              <a:lnSpc>
                <a:spcPct val="150000"/>
              </a:lnSpc>
              <a:spcBef>
                <a:spcPts val="300"/>
              </a:spcBef>
              <a:buClr>
                <a:schemeClr val="accent6">
                  <a:lumMod val="50000"/>
                </a:schemeClr>
              </a:buClr>
              <a:buFont typeface="Wingdings" pitchFamily="2" charset="2"/>
              <a:buChar char="v"/>
              <a:tabLst>
                <a:tab pos="465138" algn="l"/>
              </a:tabLst>
            </a:pPr>
            <a:r>
              <a:rPr lang="en-US" sz="2200" b="1" dirty="0" smtClean="0"/>
              <a:t> 	Yoke</a:t>
            </a:r>
          </a:p>
          <a:p>
            <a:pPr algn="just">
              <a:lnSpc>
                <a:spcPct val="150000"/>
              </a:lnSpc>
              <a:spcBef>
                <a:spcPts val="300"/>
              </a:spcBef>
              <a:buClr>
                <a:schemeClr val="accent6">
                  <a:lumMod val="50000"/>
                </a:schemeClr>
              </a:buClr>
              <a:buFont typeface="Wingdings" pitchFamily="2" charset="2"/>
              <a:buChar char="v"/>
              <a:tabLst>
                <a:tab pos="465138" algn="l"/>
              </a:tabLst>
            </a:pPr>
            <a:r>
              <a:rPr lang="en-US" sz="2200" b="1" dirty="0" smtClean="0"/>
              <a:t> 	Pole Cores and Pole Shoes</a:t>
            </a:r>
          </a:p>
          <a:p>
            <a:pPr algn="just">
              <a:lnSpc>
                <a:spcPct val="150000"/>
              </a:lnSpc>
              <a:spcBef>
                <a:spcPts val="300"/>
              </a:spcBef>
              <a:buClr>
                <a:schemeClr val="accent6">
                  <a:lumMod val="50000"/>
                </a:schemeClr>
              </a:buClr>
              <a:buFont typeface="Wingdings" pitchFamily="2" charset="2"/>
              <a:buChar char="v"/>
              <a:tabLst>
                <a:tab pos="465138" algn="l"/>
              </a:tabLst>
            </a:pPr>
            <a:r>
              <a:rPr lang="en-US" sz="2200" b="1" dirty="0" smtClean="0"/>
              <a:t> 	Pole Coils</a:t>
            </a:r>
          </a:p>
          <a:p>
            <a:pPr algn="just">
              <a:lnSpc>
                <a:spcPct val="150000"/>
              </a:lnSpc>
              <a:spcBef>
                <a:spcPts val="300"/>
              </a:spcBef>
              <a:buClr>
                <a:schemeClr val="accent6">
                  <a:lumMod val="50000"/>
                </a:schemeClr>
              </a:buClr>
              <a:buFont typeface="Wingdings" pitchFamily="2" charset="2"/>
              <a:buChar char="v"/>
              <a:tabLst>
                <a:tab pos="465138" algn="l"/>
              </a:tabLst>
            </a:pPr>
            <a:r>
              <a:rPr lang="en-US" sz="2200" b="1" dirty="0" smtClean="0"/>
              <a:t> 	Armature Core</a:t>
            </a:r>
          </a:p>
          <a:p>
            <a:pPr algn="just">
              <a:lnSpc>
                <a:spcPct val="150000"/>
              </a:lnSpc>
              <a:spcBef>
                <a:spcPts val="300"/>
              </a:spcBef>
              <a:buClr>
                <a:schemeClr val="accent6">
                  <a:lumMod val="50000"/>
                </a:schemeClr>
              </a:buClr>
              <a:buFont typeface="Wingdings" pitchFamily="2" charset="2"/>
              <a:buChar char="v"/>
              <a:tabLst>
                <a:tab pos="465138" algn="l"/>
              </a:tabLst>
            </a:pPr>
            <a:r>
              <a:rPr lang="en-US" sz="2200" b="1" dirty="0" smtClean="0"/>
              <a:t> 	Armature Windings</a:t>
            </a:r>
          </a:p>
          <a:p>
            <a:pPr algn="just">
              <a:lnSpc>
                <a:spcPct val="150000"/>
              </a:lnSpc>
              <a:spcBef>
                <a:spcPts val="300"/>
              </a:spcBef>
              <a:buClr>
                <a:schemeClr val="accent6">
                  <a:lumMod val="50000"/>
                </a:schemeClr>
              </a:buClr>
              <a:buFont typeface="Wingdings" pitchFamily="2" charset="2"/>
              <a:buChar char="v"/>
              <a:tabLst>
                <a:tab pos="465138" algn="l"/>
              </a:tabLst>
            </a:pPr>
            <a:r>
              <a:rPr lang="en-US" sz="2200" b="1" dirty="0" smtClean="0"/>
              <a:t> 	Commutator</a:t>
            </a:r>
          </a:p>
          <a:p>
            <a:pPr algn="just">
              <a:lnSpc>
                <a:spcPct val="150000"/>
              </a:lnSpc>
              <a:spcBef>
                <a:spcPts val="300"/>
              </a:spcBef>
              <a:buClr>
                <a:schemeClr val="accent6">
                  <a:lumMod val="50000"/>
                </a:schemeClr>
              </a:buClr>
              <a:buFont typeface="Wingdings" pitchFamily="2" charset="2"/>
              <a:buChar char="v"/>
              <a:tabLst>
                <a:tab pos="465138" algn="l"/>
              </a:tabLst>
            </a:pPr>
            <a:r>
              <a:rPr lang="en-US" sz="2200" b="1" dirty="0" smtClean="0"/>
              <a:t> 	Brushes and Bearings</a:t>
            </a:r>
          </a:p>
          <a:p>
            <a:pPr algn="just">
              <a:lnSpc>
                <a:spcPct val="150000"/>
              </a:lnSpc>
              <a:spcBef>
                <a:spcPts val="300"/>
              </a:spcBef>
              <a:buClr>
                <a:schemeClr val="accent6">
                  <a:lumMod val="50000"/>
                </a:schemeClr>
              </a:buClr>
              <a:buFont typeface="Wingdings" pitchFamily="2" charset="2"/>
              <a:buChar char="v"/>
              <a:tabLst>
                <a:tab pos="465138" algn="l"/>
              </a:tabLst>
            </a:pPr>
            <a:r>
              <a:rPr lang="en-US" sz="2200" b="1" dirty="0" smtClean="0"/>
              <a:t> 	Armature Windings</a:t>
            </a:r>
          </a:p>
        </p:txBody>
      </p:sp>
      <p:sp>
        <p:nvSpPr>
          <p:cNvPr id="13" name="Rectangle 12"/>
          <p:cNvSpPr/>
          <p:nvPr/>
        </p:nvSpPr>
        <p:spPr>
          <a:xfrm>
            <a:off x="0" y="0"/>
            <a:ext cx="914400" cy="6858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TextBox 6"/>
          <p:cNvSpPr txBox="1"/>
          <p:nvPr/>
        </p:nvSpPr>
        <p:spPr>
          <a:xfrm>
            <a:off x="7924800" y="6367790"/>
            <a:ext cx="685800" cy="261610"/>
          </a:xfrm>
          <a:prstGeom prst="rect">
            <a:avLst/>
          </a:prstGeom>
          <a:noFill/>
        </p:spPr>
        <p:txBody>
          <a:bodyPr wrap="square" rtlCol="0">
            <a:spAutoFit/>
          </a:bodyPr>
          <a:lstStyle/>
          <a:p>
            <a:r>
              <a:rPr lang="en-US" sz="1100" i="1" dirty="0" smtClean="0"/>
              <a:t>Contd….</a:t>
            </a:r>
            <a:endParaRPr lang="en-US" sz="1100" i="1" dirty="0"/>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p:cNvSpPr/>
          <p:nvPr/>
        </p:nvSpPr>
        <p:spPr>
          <a:xfrm>
            <a:off x="914400" y="0"/>
            <a:ext cx="8229600" cy="6858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TextBox 10"/>
          <p:cNvSpPr txBox="1"/>
          <p:nvPr/>
        </p:nvSpPr>
        <p:spPr>
          <a:xfrm>
            <a:off x="914400" y="77450"/>
            <a:ext cx="8229600" cy="523220"/>
          </a:xfrm>
          <a:prstGeom prst="rect">
            <a:avLst/>
          </a:prstGeom>
          <a:noFill/>
        </p:spPr>
        <p:txBody>
          <a:bodyPr wrap="square" rtlCol="0">
            <a:spAutoFit/>
          </a:bodyPr>
          <a:lstStyle/>
          <a:p>
            <a:pPr algn="ctr">
              <a:buClr>
                <a:schemeClr val="accent6">
                  <a:lumMod val="50000"/>
                </a:schemeClr>
              </a:buClr>
              <a:tabLst>
                <a:tab pos="465138" algn="l"/>
              </a:tabLst>
            </a:pPr>
            <a:r>
              <a:rPr lang="en-US" sz="2800" b="1" dirty="0" smtClean="0">
                <a:solidFill>
                  <a:schemeClr val="bg1"/>
                </a:solidFill>
              </a:rPr>
              <a:t>D.C. Generators</a:t>
            </a:r>
          </a:p>
        </p:txBody>
      </p:sp>
      <p:sp>
        <p:nvSpPr>
          <p:cNvPr id="2" name="TextBox 1"/>
          <p:cNvSpPr txBox="1"/>
          <p:nvPr/>
        </p:nvSpPr>
        <p:spPr>
          <a:xfrm>
            <a:off x="899410" y="685800"/>
            <a:ext cx="7558790" cy="6063198"/>
          </a:xfrm>
          <a:prstGeom prst="rect">
            <a:avLst/>
          </a:prstGeom>
          <a:noFill/>
        </p:spPr>
        <p:txBody>
          <a:bodyPr wrap="square" rtlCol="0">
            <a:spAutoFit/>
          </a:bodyPr>
          <a:lstStyle/>
          <a:p>
            <a:pPr algn="just">
              <a:lnSpc>
                <a:spcPct val="150000"/>
              </a:lnSpc>
              <a:spcBef>
                <a:spcPts val="300"/>
              </a:spcBef>
              <a:buClr>
                <a:schemeClr val="accent6">
                  <a:lumMod val="50000"/>
                </a:schemeClr>
              </a:buClr>
              <a:buFont typeface="Wingdings" pitchFamily="2" charset="2"/>
              <a:buChar char="v"/>
              <a:tabLst>
                <a:tab pos="465138" algn="l"/>
              </a:tabLst>
            </a:pPr>
            <a:r>
              <a:rPr lang="en-US" sz="2200" b="1" dirty="0" smtClean="0"/>
              <a:t>	Pole-pitch</a:t>
            </a:r>
          </a:p>
          <a:p>
            <a:pPr algn="just">
              <a:lnSpc>
                <a:spcPct val="150000"/>
              </a:lnSpc>
              <a:spcBef>
                <a:spcPts val="300"/>
              </a:spcBef>
              <a:buClr>
                <a:schemeClr val="accent6">
                  <a:lumMod val="50000"/>
                </a:schemeClr>
              </a:buClr>
              <a:buFont typeface="Wingdings" pitchFamily="2" charset="2"/>
              <a:buChar char="v"/>
              <a:tabLst>
                <a:tab pos="465138" algn="l"/>
              </a:tabLst>
            </a:pPr>
            <a:r>
              <a:rPr lang="en-US" sz="2200" b="1" dirty="0" smtClean="0"/>
              <a:t> 	Conductor</a:t>
            </a:r>
          </a:p>
          <a:p>
            <a:pPr algn="just">
              <a:lnSpc>
                <a:spcPct val="150000"/>
              </a:lnSpc>
              <a:spcBef>
                <a:spcPts val="300"/>
              </a:spcBef>
              <a:buClr>
                <a:schemeClr val="accent6">
                  <a:lumMod val="50000"/>
                </a:schemeClr>
              </a:buClr>
              <a:buFont typeface="Wingdings" pitchFamily="2" charset="2"/>
              <a:buChar char="v"/>
              <a:tabLst>
                <a:tab pos="465138" algn="l"/>
              </a:tabLst>
            </a:pPr>
            <a:r>
              <a:rPr lang="en-US" sz="2200" b="1" dirty="0" smtClean="0"/>
              <a:t> 	Coil and Winding Element</a:t>
            </a:r>
          </a:p>
          <a:p>
            <a:pPr algn="just">
              <a:lnSpc>
                <a:spcPct val="150000"/>
              </a:lnSpc>
              <a:spcBef>
                <a:spcPts val="300"/>
              </a:spcBef>
              <a:buClr>
                <a:schemeClr val="accent6">
                  <a:lumMod val="50000"/>
                </a:schemeClr>
              </a:buClr>
              <a:buFont typeface="Wingdings" pitchFamily="2" charset="2"/>
              <a:buChar char="v"/>
              <a:tabLst>
                <a:tab pos="465138" algn="l"/>
              </a:tabLst>
            </a:pPr>
            <a:r>
              <a:rPr lang="en-US" sz="2200" b="1" dirty="0" smtClean="0"/>
              <a:t> 	Coil-span or Coil-pitch (Y</a:t>
            </a:r>
            <a:r>
              <a:rPr lang="en-US" sz="2200" b="1" baseline="-25000" dirty="0" smtClean="0"/>
              <a:t>s</a:t>
            </a:r>
            <a:r>
              <a:rPr lang="en-US" sz="2200" b="1" dirty="0" smtClean="0"/>
              <a:t>)</a:t>
            </a:r>
          </a:p>
          <a:p>
            <a:pPr algn="just">
              <a:lnSpc>
                <a:spcPct val="150000"/>
              </a:lnSpc>
              <a:spcBef>
                <a:spcPts val="300"/>
              </a:spcBef>
              <a:buClr>
                <a:schemeClr val="accent6">
                  <a:lumMod val="50000"/>
                </a:schemeClr>
              </a:buClr>
              <a:buFont typeface="Wingdings" pitchFamily="2" charset="2"/>
              <a:buChar char="v"/>
              <a:tabLst>
                <a:tab pos="465138" algn="l"/>
              </a:tabLst>
            </a:pPr>
            <a:r>
              <a:rPr lang="en-US" sz="2200" b="1" dirty="0" smtClean="0"/>
              <a:t> 	Pitch of a Winding (Y)</a:t>
            </a:r>
          </a:p>
          <a:p>
            <a:pPr algn="just">
              <a:lnSpc>
                <a:spcPct val="150000"/>
              </a:lnSpc>
              <a:spcBef>
                <a:spcPts val="300"/>
              </a:spcBef>
              <a:buClr>
                <a:schemeClr val="accent6">
                  <a:lumMod val="50000"/>
                </a:schemeClr>
              </a:buClr>
              <a:buFont typeface="Wingdings" pitchFamily="2" charset="2"/>
              <a:buChar char="v"/>
              <a:tabLst>
                <a:tab pos="465138" algn="l"/>
              </a:tabLst>
            </a:pPr>
            <a:r>
              <a:rPr lang="en-US" sz="2200" b="1" dirty="0" smtClean="0"/>
              <a:t> 	Back Pitch (Y</a:t>
            </a:r>
            <a:r>
              <a:rPr lang="en-US" sz="2200" b="1" baseline="-25000" dirty="0" smtClean="0"/>
              <a:t>B</a:t>
            </a:r>
            <a:r>
              <a:rPr lang="en-US" sz="2200" b="1" dirty="0" smtClean="0"/>
              <a:t>)</a:t>
            </a:r>
          </a:p>
          <a:p>
            <a:pPr algn="just">
              <a:lnSpc>
                <a:spcPct val="150000"/>
              </a:lnSpc>
              <a:spcBef>
                <a:spcPts val="300"/>
              </a:spcBef>
              <a:buClr>
                <a:schemeClr val="accent6">
                  <a:lumMod val="50000"/>
                </a:schemeClr>
              </a:buClr>
              <a:buFont typeface="Wingdings" pitchFamily="2" charset="2"/>
              <a:buChar char="v"/>
              <a:tabLst>
                <a:tab pos="465138" algn="l"/>
              </a:tabLst>
            </a:pPr>
            <a:r>
              <a:rPr lang="en-US" sz="2200" b="1" dirty="0" smtClean="0"/>
              <a:t> 	Front Pitch (Y</a:t>
            </a:r>
            <a:r>
              <a:rPr lang="en-US" sz="2200" b="1" baseline="-25000" dirty="0" smtClean="0"/>
              <a:t>F</a:t>
            </a:r>
            <a:r>
              <a:rPr lang="en-US" sz="2200" b="1" dirty="0" smtClean="0"/>
              <a:t>)</a:t>
            </a:r>
          </a:p>
          <a:p>
            <a:pPr algn="just">
              <a:lnSpc>
                <a:spcPct val="150000"/>
              </a:lnSpc>
              <a:spcBef>
                <a:spcPts val="300"/>
              </a:spcBef>
              <a:buClr>
                <a:schemeClr val="accent6">
                  <a:lumMod val="50000"/>
                </a:schemeClr>
              </a:buClr>
              <a:buFont typeface="Wingdings" pitchFamily="2" charset="2"/>
              <a:buChar char="v"/>
              <a:tabLst>
                <a:tab pos="465138" algn="l"/>
              </a:tabLst>
            </a:pPr>
            <a:r>
              <a:rPr lang="en-US" sz="2200" b="1" dirty="0" smtClean="0"/>
              <a:t> 	Resultant Pitch (Y</a:t>
            </a:r>
            <a:r>
              <a:rPr lang="en-US" sz="2200" b="1" baseline="-25000" dirty="0" smtClean="0"/>
              <a:t>R</a:t>
            </a:r>
            <a:r>
              <a:rPr lang="en-US" sz="2200" b="1" dirty="0" smtClean="0"/>
              <a:t>)</a:t>
            </a:r>
          </a:p>
          <a:p>
            <a:pPr algn="just">
              <a:lnSpc>
                <a:spcPct val="150000"/>
              </a:lnSpc>
              <a:spcBef>
                <a:spcPts val="300"/>
              </a:spcBef>
              <a:buClr>
                <a:schemeClr val="accent6">
                  <a:lumMod val="50000"/>
                </a:schemeClr>
              </a:buClr>
              <a:buFont typeface="Wingdings" pitchFamily="2" charset="2"/>
              <a:buChar char="v"/>
              <a:tabLst>
                <a:tab pos="465138" algn="l"/>
              </a:tabLst>
            </a:pPr>
            <a:r>
              <a:rPr lang="en-US" sz="2200" b="1" dirty="0" smtClean="0"/>
              <a:t> 	Commutator Pitch (Y</a:t>
            </a:r>
            <a:r>
              <a:rPr lang="en-US" sz="2200" b="1" baseline="-25000" dirty="0" smtClean="0"/>
              <a:t>G</a:t>
            </a:r>
            <a:r>
              <a:rPr lang="en-US" sz="2200" b="1" dirty="0" smtClean="0"/>
              <a:t>)</a:t>
            </a:r>
          </a:p>
          <a:p>
            <a:pPr algn="just">
              <a:lnSpc>
                <a:spcPct val="150000"/>
              </a:lnSpc>
              <a:spcBef>
                <a:spcPts val="300"/>
              </a:spcBef>
              <a:buClr>
                <a:schemeClr val="accent6">
                  <a:lumMod val="50000"/>
                </a:schemeClr>
              </a:buClr>
              <a:buFont typeface="Wingdings" pitchFamily="2" charset="2"/>
              <a:buChar char="v"/>
              <a:tabLst>
                <a:tab pos="465138" algn="l"/>
              </a:tabLst>
            </a:pPr>
            <a:r>
              <a:rPr lang="en-US" sz="2200" b="1" dirty="0" smtClean="0"/>
              <a:t> 	Single-layer Winding</a:t>
            </a:r>
          </a:p>
          <a:p>
            <a:pPr algn="just">
              <a:lnSpc>
                <a:spcPct val="150000"/>
              </a:lnSpc>
              <a:spcBef>
                <a:spcPts val="300"/>
              </a:spcBef>
              <a:buClr>
                <a:schemeClr val="accent6">
                  <a:lumMod val="50000"/>
                </a:schemeClr>
              </a:buClr>
              <a:buFont typeface="Wingdings" pitchFamily="2" charset="2"/>
              <a:buChar char="v"/>
              <a:tabLst>
                <a:tab pos="465138" algn="l"/>
              </a:tabLst>
            </a:pPr>
            <a:r>
              <a:rPr lang="en-US" sz="2200" b="1" dirty="0" smtClean="0"/>
              <a:t> 	Two-layer Winding</a:t>
            </a:r>
          </a:p>
        </p:txBody>
      </p:sp>
      <p:sp>
        <p:nvSpPr>
          <p:cNvPr id="13" name="Rectangle 12"/>
          <p:cNvSpPr/>
          <p:nvPr/>
        </p:nvSpPr>
        <p:spPr>
          <a:xfrm>
            <a:off x="0" y="0"/>
            <a:ext cx="914400" cy="6858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TextBox 6"/>
          <p:cNvSpPr txBox="1"/>
          <p:nvPr/>
        </p:nvSpPr>
        <p:spPr>
          <a:xfrm>
            <a:off x="7924800" y="6367790"/>
            <a:ext cx="685800" cy="261610"/>
          </a:xfrm>
          <a:prstGeom prst="rect">
            <a:avLst/>
          </a:prstGeom>
          <a:noFill/>
        </p:spPr>
        <p:txBody>
          <a:bodyPr wrap="square" rtlCol="0">
            <a:spAutoFit/>
          </a:bodyPr>
          <a:lstStyle/>
          <a:p>
            <a:r>
              <a:rPr lang="en-US" sz="1100" i="1" dirty="0" smtClean="0"/>
              <a:t>Contd….</a:t>
            </a:r>
            <a:endParaRPr lang="en-US" sz="1100" i="1" dirty="0"/>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p:cNvSpPr/>
          <p:nvPr/>
        </p:nvSpPr>
        <p:spPr>
          <a:xfrm>
            <a:off x="914400" y="0"/>
            <a:ext cx="8229600" cy="6858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TextBox 10"/>
          <p:cNvSpPr txBox="1"/>
          <p:nvPr/>
        </p:nvSpPr>
        <p:spPr>
          <a:xfrm>
            <a:off x="914400" y="77450"/>
            <a:ext cx="8229600" cy="523220"/>
          </a:xfrm>
          <a:prstGeom prst="rect">
            <a:avLst/>
          </a:prstGeom>
          <a:noFill/>
        </p:spPr>
        <p:txBody>
          <a:bodyPr wrap="square" rtlCol="0">
            <a:spAutoFit/>
          </a:bodyPr>
          <a:lstStyle/>
          <a:p>
            <a:pPr algn="ctr">
              <a:buClr>
                <a:schemeClr val="accent6">
                  <a:lumMod val="50000"/>
                </a:schemeClr>
              </a:buClr>
              <a:tabLst>
                <a:tab pos="465138" algn="l"/>
              </a:tabLst>
            </a:pPr>
            <a:r>
              <a:rPr lang="en-US" sz="2800" b="1" dirty="0" smtClean="0">
                <a:solidFill>
                  <a:schemeClr val="bg1"/>
                </a:solidFill>
              </a:rPr>
              <a:t>D.C. Generators</a:t>
            </a:r>
          </a:p>
        </p:txBody>
      </p:sp>
      <p:sp>
        <p:nvSpPr>
          <p:cNvPr id="2" name="TextBox 1"/>
          <p:cNvSpPr txBox="1"/>
          <p:nvPr/>
        </p:nvSpPr>
        <p:spPr>
          <a:xfrm>
            <a:off x="899410" y="685800"/>
            <a:ext cx="7558790" cy="3877985"/>
          </a:xfrm>
          <a:prstGeom prst="rect">
            <a:avLst/>
          </a:prstGeom>
          <a:noFill/>
        </p:spPr>
        <p:txBody>
          <a:bodyPr wrap="square" rtlCol="0">
            <a:spAutoFit/>
          </a:bodyPr>
          <a:lstStyle/>
          <a:p>
            <a:pPr algn="just">
              <a:lnSpc>
                <a:spcPct val="150000"/>
              </a:lnSpc>
              <a:spcBef>
                <a:spcPts val="300"/>
              </a:spcBef>
              <a:buClr>
                <a:schemeClr val="accent6">
                  <a:lumMod val="50000"/>
                </a:schemeClr>
              </a:buClr>
              <a:buFont typeface="Wingdings" pitchFamily="2" charset="2"/>
              <a:buChar char="v"/>
              <a:tabLst>
                <a:tab pos="465138" algn="l"/>
              </a:tabLst>
            </a:pPr>
            <a:r>
              <a:rPr lang="en-US" sz="2200" b="1" dirty="0" smtClean="0"/>
              <a:t>	Lap and Wave Winding</a:t>
            </a:r>
          </a:p>
          <a:p>
            <a:pPr algn="just">
              <a:lnSpc>
                <a:spcPct val="150000"/>
              </a:lnSpc>
              <a:spcBef>
                <a:spcPts val="300"/>
              </a:spcBef>
              <a:buClr>
                <a:schemeClr val="accent6">
                  <a:lumMod val="50000"/>
                </a:schemeClr>
              </a:buClr>
              <a:buFont typeface="Wingdings" pitchFamily="2" charset="2"/>
              <a:buChar char="v"/>
              <a:tabLst>
                <a:tab pos="465138" algn="l"/>
              </a:tabLst>
            </a:pPr>
            <a:r>
              <a:rPr lang="en-US" sz="2200" b="1" dirty="0" smtClean="0"/>
              <a:t> 	Simplex-lap Winding</a:t>
            </a:r>
          </a:p>
          <a:p>
            <a:pPr algn="just">
              <a:lnSpc>
                <a:spcPct val="150000"/>
              </a:lnSpc>
              <a:spcBef>
                <a:spcPts val="300"/>
              </a:spcBef>
              <a:buClr>
                <a:schemeClr val="accent6">
                  <a:lumMod val="50000"/>
                </a:schemeClr>
              </a:buClr>
              <a:buFont typeface="Wingdings" pitchFamily="2" charset="2"/>
              <a:buChar char="v"/>
              <a:tabLst>
                <a:tab pos="465138" algn="l"/>
              </a:tabLst>
            </a:pPr>
            <a:r>
              <a:rPr lang="en-US" sz="2200" b="1" dirty="0" smtClean="0"/>
              <a:t> 	Simplex Wave Winding</a:t>
            </a:r>
          </a:p>
          <a:p>
            <a:pPr algn="just">
              <a:lnSpc>
                <a:spcPct val="150000"/>
              </a:lnSpc>
              <a:spcBef>
                <a:spcPts val="300"/>
              </a:spcBef>
              <a:buClr>
                <a:schemeClr val="accent6">
                  <a:lumMod val="50000"/>
                </a:schemeClr>
              </a:buClr>
              <a:buFont typeface="Wingdings" pitchFamily="2" charset="2"/>
              <a:buChar char="v"/>
              <a:tabLst>
                <a:tab pos="465138" algn="l"/>
              </a:tabLst>
            </a:pPr>
            <a:r>
              <a:rPr lang="en-US" sz="2200" b="1" dirty="0" smtClean="0"/>
              <a:t> 	Uses of Lap and Wave Windings</a:t>
            </a:r>
          </a:p>
          <a:p>
            <a:pPr algn="just">
              <a:lnSpc>
                <a:spcPct val="150000"/>
              </a:lnSpc>
              <a:spcBef>
                <a:spcPts val="300"/>
              </a:spcBef>
              <a:buClr>
                <a:schemeClr val="accent6">
                  <a:lumMod val="50000"/>
                </a:schemeClr>
              </a:buClr>
              <a:buFont typeface="Wingdings" pitchFamily="2" charset="2"/>
              <a:buChar char="v"/>
              <a:tabLst>
                <a:tab pos="465138" algn="l"/>
              </a:tabLst>
            </a:pPr>
            <a:r>
              <a:rPr lang="en-US" sz="2200" b="1" dirty="0" smtClean="0"/>
              <a:t> 	Types of Generators</a:t>
            </a:r>
          </a:p>
          <a:p>
            <a:pPr algn="just">
              <a:lnSpc>
                <a:spcPct val="150000"/>
              </a:lnSpc>
              <a:spcBef>
                <a:spcPts val="300"/>
              </a:spcBef>
              <a:buClr>
                <a:schemeClr val="accent6">
                  <a:lumMod val="50000"/>
                </a:schemeClr>
              </a:buClr>
              <a:buFont typeface="Wingdings" pitchFamily="2" charset="2"/>
              <a:buChar char="v"/>
              <a:tabLst>
                <a:tab pos="465138" algn="l"/>
              </a:tabLst>
            </a:pPr>
            <a:r>
              <a:rPr lang="en-US" sz="2200" b="1" dirty="0" smtClean="0"/>
              <a:t> 	Brush Contact Drop</a:t>
            </a:r>
          </a:p>
          <a:p>
            <a:pPr algn="just">
              <a:lnSpc>
                <a:spcPct val="150000"/>
              </a:lnSpc>
              <a:spcBef>
                <a:spcPts val="300"/>
              </a:spcBef>
              <a:buClr>
                <a:schemeClr val="accent6">
                  <a:lumMod val="50000"/>
                </a:schemeClr>
              </a:buClr>
              <a:buFont typeface="Wingdings" pitchFamily="2" charset="2"/>
              <a:buChar char="v"/>
              <a:tabLst>
                <a:tab pos="465138" algn="l"/>
              </a:tabLst>
            </a:pPr>
            <a:r>
              <a:rPr lang="en-US" sz="2200" b="1" dirty="0" smtClean="0"/>
              <a:t> 	Generated E.M.F. or E.M.F. Equation of a Generator</a:t>
            </a:r>
          </a:p>
        </p:txBody>
      </p:sp>
      <p:sp>
        <p:nvSpPr>
          <p:cNvPr id="13" name="Rectangle 12"/>
          <p:cNvSpPr/>
          <p:nvPr/>
        </p:nvSpPr>
        <p:spPr>
          <a:xfrm>
            <a:off x="0" y="0"/>
            <a:ext cx="914400" cy="6858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TextBox 6"/>
          <p:cNvSpPr txBox="1"/>
          <p:nvPr/>
        </p:nvSpPr>
        <p:spPr>
          <a:xfrm>
            <a:off x="7924800" y="6367790"/>
            <a:ext cx="685800" cy="261610"/>
          </a:xfrm>
          <a:prstGeom prst="rect">
            <a:avLst/>
          </a:prstGeom>
          <a:noFill/>
        </p:spPr>
        <p:txBody>
          <a:bodyPr wrap="square" rtlCol="0">
            <a:spAutoFit/>
          </a:bodyPr>
          <a:lstStyle/>
          <a:p>
            <a:r>
              <a:rPr lang="en-US" sz="1100" i="1" dirty="0" smtClean="0"/>
              <a:t>Contd….</a:t>
            </a:r>
            <a:endParaRPr lang="en-US" sz="1100" i="1" dirty="0"/>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p:cNvSpPr/>
          <p:nvPr/>
        </p:nvSpPr>
        <p:spPr>
          <a:xfrm>
            <a:off x="914400" y="0"/>
            <a:ext cx="8229600" cy="6858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TextBox 10"/>
          <p:cNvSpPr txBox="1"/>
          <p:nvPr/>
        </p:nvSpPr>
        <p:spPr>
          <a:xfrm>
            <a:off x="914400" y="77450"/>
            <a:ext cx="8229600" cy="523220"/>
          </a:xfrm>
          <a:prstGeom prst="rect">
            <a:avLst/>
          </a:prstGeom>
          <a:noFill/>
        </p:spPr>
        <p:txBody>
          <a:bodyPr wrap="square" rtlCol="0">
            <a:spAutoFit/>
          </a:bodyPr>
          <a:lstStyle/>
          <a:p>
            <a:pPr algn="ctr">
              <a:buClr>
                <a:schemeClr val="accent6">
                  <a:lumMod val="50000"/>
                </a:schemeClr>
              </a:buClr>
              <a:tabLst>
                <a:tab pos="465138" algn="l"/>
              </a:tabLst>
            </a:pPr>
            <a:r>
              <a:rPr lang="en-US" sz="2800" b="1" dirty="0" smtClean="0">
                <a:solidFill>
                  <a:schemeClr val="bg1"/>
                </a:solidFill>
              </a:rPr>
              <a:t>D.C. Generators</a:t>
            </a:r>
          </a:p>
        </p:txBody>
      </p:sp>
      <p:sp>
        <p:nvSpPr>
          <p:cNvPr id="2" name="TextBox 1"/>
          <p:cNvSpPr txBox="1"/>
          <p:nvPr/>
        </p:nvSpPr>
        <p:spPr>
          <a:xfrm>
            <a:off x="899410" y="685800"/>
            <a:ext cx="7558790" cy="3331681"/>
          </a:xfrm>
          <a:prstGeom prst="rect">
            <a:avLst/>
          </a:prstGeom>
          <a:noFill/>
        </p:spPr>
        <p:txBody>
          <a:bodyPr wrap="square" rtlCol="0">
            <a:spAutoFit/>
          </a:bodyPr>
          <a:lstStyle/>
          <a:p>
            <a:pPr algn="just">
              <a:lnSpc>
                <a:spcPct val="150000"/>
              </a:lnSpc>
              <a:spcBef>
                <a:spcPts val="300"/>
              </a:spcBef>
              <a:buClr>
                <a:schemeClr val="accent6">
                  <a:lumMod val="50000"/>
                </a:schemeClr>
              </a:buClr>
              <a:buFont typeface="Wingdings" pitchFamily="2" charset="2"/>
              <a:buChar char="v"/>
              <a:tabLst>
                <a:tab pos="465138" algn="l"/>
              </a:tabLst>
            </a:pPr>
            <a:r>
              <a:rPr lang="en-US" sz="2200" b="1" dirty="0" smtClean="0"/>
              <a:t>	Iron Loss in Armature</a:t>
            </a:r>
          </a:p>
          <a:p>
            <a:pPr algn="just">
              <a:lnSpc>
                <a:spcPct val="150000"/>
              </a:lnSpc>
              <a:spcBef>
                <a:spcPts val="300"/>
              </a:spcBef>
              <a:buClr>
                <a:schemeClr val="accent6">
                  <a:lumMod val="50000"/>
                </a:schemeClr>
              </a:buClr>
              <a:buFont typeface="Wingdings" pitchFamily="2" charset="2"/>
              <a:buChar char="v"/>
              <a:tabLst>
                <a:tab pos="465138" algn="l"/>
              </a:tabLst>
            </a:pPr>
            <a:r>
              <a:rPr lang="en-US" sz="2200" b="1" dirty="0" smtClean="0"/>
              <a:t> 	Total loss in a D.C. Generator</a:t>
            </a:r>
          </a:p>
          <a:p>
            <a:pPr algn="just">
              <a:lnSpc>
                <a:spcPct val="150000"/>
              </a:lnSpc>
              <a:spcBef>
                <a:spcPts val="300"/>
              </a:spcBef>
              <a:buClr>
                <a:schemeClr val="accent6">
                  <a:lumMod val="50000"/>
                </a:schemeClr>
              </a:buClr>
              <a:buFont typeface="Wingdings" pitchFamily="2" charset="2"/>
              <a:buChar char="v"/>
              <a:tabLst>
                <a:tab pos="465138" algn="l"/>
              </a:tabLst>
            </a:pPr>
            <a:r>
              <a:rPr lang="en-US" sz="2200" b="1" dirty="0" smtClean="0"/>
              <a:t> 	Stray Losses</a:t>
            </a:r>
          </a:p>
          <a:p>
            <a:pPr algn="just">
              <a:lnSpc>
                <a:spcPct val="150000"/>
              </a:lnSpc>
              <a:spcBef>
                <a:spcPts val="300"/>
              </a:spcBef>
              <a:buClr>
                <a:schemeClr val="accent6">
                  <a:lumMod val="50000"/>
                </a:schemeClr>
              </a:buClr>
              <a:buFont typeface="Wingdings" pitchFamily="2" charset="2"/>
              <a:buChar char="v"/>
              <a:tabLst>
                <a:tab pos="465138" algn="l"/>
              </a:tabLst>
            </a:pPr>
            <a:r>
              <a:rPr lang="en-US" sz="2200" b="1" dirty="0" smtClean="0"/>
              <a:t> 	Constant or Standing Losses</a:t>
            </a:r>
          </a:p>
          <a:p>
            <a:pPr algn="just">
              <a:lnSpc>
                <a:spcPct val="150000"/>
              </a:lnSpc>
              <a:spcBef>
                <a:spcPts val="300"/>
              </a:spcBef>
              <a:buClr>
                <a:schemeClr val="accent6">
                  <a:lumMod val="50000"/>
                </a:schemeClr>
              </a:buClr>
              <a:buFont typeface="Wingdings" pitchFamily="2" charset="2"/>
              <a:buChar char="v"/>
              <a:tabLst>
                <a:tab pos="465138" algn="l"/>
              </a:tabLst>
            </a:pPr>
            <a:r>
              <a:rPr lang="en-US" sz="2200" b="1" dirty="0" smtClean="0"/>
              <a:t> 	Power Stages</a:t>
            </a:r>
          </a:p>
          <a:p>
            <a:pPr algn="just">
              <a:lnSpc>
                <a:spcPct val="150000"/>
              </a:lnSpc>
              <a:spcBef>
                <a:spcPts val="300"/>
              </a:spcBef>
              <a:buClr>
                <a:schemeClr val="accent6">
                  <a:lumMod val="50000"/>
                </a:schemeClr>
              </a:buClr>
              <a:buFont typeface="Wingdings" pitchFamily="2" charset="2"/>
              <a:buChar char="v"/>
              <a:tabLst>
                <a:tab pos="465138" algn="l"/>
              </a:tabLst>
            </a:pPr>
            <a:r>
              <a:rPr lang="en-US" sz="2200" b="1" dirty="0" smtClean="0"/>
              <a:t> 	Condition for Maximum Efficiency</a:t>
            </a:r>
          </a:p>
        </p:txBody>
      </p:sp>
      <p:sp>
        <p:nvSpPr>
          <p:cNvPr id="13" name="Rectangle 12"/>
          <p:cNvSpPr/>
          <p:nvPr/>
        </p:nvSpPr>
        <p:spPr>
          <a:xfrm>
            <a:off x="0" y="0"/>
            <a:ext cx="914400" cy="6858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1001554"/>
            <a:ext cx="3627620" cy="5170646"/>
          </a:xfrm>
          <a:prstGeom prst="rect">
            <a:avLst/>
          </a:prstGeom>
          <a:noFill/>
        </p:spPr>
        <p:txBody>
          <a:bodyPr wrap="square" rtlCol="0">
            <a:spAutoFit/>
          </a:bodyPr>
          <a:lstStyle/>
          <a:p>
            <a:pPr algn="just">
              <a:lnSpc>
                <a:spcPct val="150000"/>
              </a:lnSpc>
              <a:buClr>
                <a:schemeClr val="accent6">
                  <a:lumMod val="50000"/>
                </a:schemeClr>
              </a:buClr>
              <a:buFont typeface="Wingdings" pitchFamily="2" charset="2"/>
              <a:buChar char="v"/>
              <a:tabLst>
                <a:tab pos="465138" algn="l"/>
              </a:tabLst>
            </a:pPr>
            <a:r>
              <a:rPr lang="en-US" sz="2000" dirty="0" smtClean="0"/>
              <a:t> 	An electrical generator is a 	machine which converts 	mechanical energy (or 	power) into electrical energy 	(or power).	</a:t>
            </a:r>
          </a:p>
          <a:p>
            <a:pPr algn="just">
              <a:lnSpc>
                <a:spcPct val="150000"/>
              </a:lnSpc>
              <a:buClr>
                <a:schemeClr val="accent6">
                  <a:lumMod val="50000"/>
                </a:schemeClr>
              </a:buClr>
              <a:buFont typeface="Wingdings" pitchFamily="2" charset="2"/>
              <a:buChar char="v"/>
              <a:tabLst>
                <a:tab pos="465138" algn="l"/>
              </a:tabLst>
            </a:pPr>
            <a:r>
              <a:rPr lang="en-US" sz="2000" dirty="0" smtClean="0"/>
              <a:t> 	Two basic essential parts of 	an electrical generator are 	(</a:t>
            </a:r>
            <a:r>
              <a:rPr lang="en-US" sz="2000" i="1" dirty="0" smtClean="0"/>
              <a:t>i) </a:t>
            </a:r>
            <a:r>
              <a:rPr lang="en-US" sz="2000" b="1" i="1" dirty="0" smtClean="0"/>
              <a:t>a magnetic field </a:t>
            </a:r>
            <a:r>
              <a:rPr lang="en-US" sz="2000" dirty="0" smtClean="0"/>
              <a:t>and (</a:t>
            </a:r>
            <a:r>
              <a:rPr lang="en-US" sz="2000" i="1" dirty="0" smtClean="0"/>
              <a:t>ii) </a:t>
            </a:r>
            <a:r>
              <a:rPr lang="en-US" sz="2000" b="1" i="1" dirty="0" smtClean="0"/>
              <a:t>a 	conductor or conductors 	which </a:t>
            </a:r>
            <a:r>
              <a:rPr lang="en-US" sz="2000" dirty="0" smtClean="0"/>
              <a:t>can so move as to cut 	the flux.</a:t>
            </a:r>
            <a:endParaRPr lang="en-US" sz="2000" dirty="0">
              <a:solidFill>
                <a:srgbClr val="FF0000"/>
              </a:solidFill>
            </a:endParaRPr>
          </a:p>
        </p:txBody>
      </p:sp>
      <p:sp>
        <p:nvSpPr>
          <p:cNvPr id="5" name="Rectangle 4"/>
          <p:cNvSpPr/>
          <p:nvPr/>
        </p:nvSpPr>
        <p:spPr>
          <a:xfrm>
            <a:off x="0" y="0"/>
            <a:ext cx="9144000" cy="6858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TextBox 5"/>
          <p:cNvSpPr txBox="1"/>
          <p:nvPr/>
        </p:nvSpPr>
        <p:spPr>
          <a:xfrm>
            <a:off x="0" y="77450"/>
            <a:ext cx="9144000" cy="523220"/>
          </a:xfrm>
          <a:prstGeom prst="rect">
            <a:avLst/>
          </a:prstGeom>
          <a:noFill/>
        </p:spPr>
        <p:txBody>
          <a:bodyPr wrap="square" rtlCol="0">
            <a:spAutoFit/>
          </a:bodyPr>
          <a:lstStyle/>
          <a:p>
            <a:pPr algn="ctr"/>
            <a:r>
              <a:rPr lang="en-US" sz="2800" b="1" dirty="0" smtClean="0">
                <a:solidFill>
                  <a:schemeClr val="bg1"/>
                </a:solidFill>
                <a:latin typeface="Arial" pitchFamily="34" charset="0"/>
                <a:cs typeface="Arial" pitchFamily="34" charset="0"/>
              </a:rPr>
              <a:t>Generator Principle</a:t>
            </a:r>
            <a:endParaRPr lang="en-US" sz="2800" b="1" dirty="0">
              <a:solidFill>
                <a:schemeClr val="bg1"/>
              </a:solidFill>
              <a:latin typeface="Arial" pitchFamily="34" charset="0"/>
              <a:cs typeface="Arial" pitchFamily="34" charset="0"/>
            </a:endParaRPr>
          </a:p>
        </p:txBody>
      </p:sp>
      <p:pic>
        <p:nvPicPr>
          <p:cNvPr id="1026" name="Picture 2"/>
          <p:cNvPicPr>
            <a:picLocks noChangeAspect="1" noChangeArrowheads="1"/>
          </p:cNvPicPr>
          <p:nvPr/>
        </p:nvPicPr>
        <p:blipFill>
          <a:blip r:embed="rId2"/>
          <a:srcRect/>
          <a:stretch>
            <a:fillRect/>
          </a:stretch>
        </p:blipFill>
        <p:spPr bwMode="auto">
          <a:xfrm>
            <a:off x="4495800" y="1447800"/>
            <a:ext cx="3691073" cy="3300412"/>
          </a:xfrm>
          <a:prstGeom prst="round2DiagRect">
            <a:avLst>
              <a:gd name="adj1" fmla="val 16667"/>
              <a:gd name="adj2" fmla="val 0"/>
            </a:avLst>
          </a:prstGeom>
          <a:ln w="88900" cap="sq">
            <a:solidFill>
              <a:srgbClr val="FFFFFF"/>
            </a:solidFill>
            <a:miter lim="800000"/>
          </a:ln>
          <a:effectLst>
            <a:outerShdw blurRad="254000" algn="tl" rotWithShape="0">
              <a:srgbClr val="000000">
                <a:alpha val="43000"/>
              </a:srgbClr>
            </a:outerShdw>
          </a:effectLst>
        </p:spPr>
      </p:pic>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09600" y="989886"/>
            <a:ext cx="7482590" cy="2031325"/>
          </a:xfrm>
          <a:prstGeom prst="rect">
            <a:avLst/>
          </a:prstGeom>
          <a:noFill/>
        </p:spPr>
        <p:txBody>
          <a:bodyPr wrap="square" rtlCol="0">
            <a:spAutoFit/>
          </a:bodyPr>
          <a:lstStyle/>
          <a:p>
            <a:pPr algn="just">
              <a:lnSpc>
                <a:spcPct val="150000"/>
              </a:lnSpc>
              <a:buClr>
                <a:schemeClr val="accent6">
                  <a:lumMod val="50000"/>
                </a:schemeClr>
              </a:buClr>
              <a:tabLst>
                <a:tab pos="465138" algn="l"/>
              </a:tabLst>
            </a:pPr>
            <a:r>
              <a:rPr lang="en-US" sz="2400" b="1" dirty="0" smtClean="0"/>
              <a:t>Construction</a:t>
            </a:r>
          </a:p>
          <a:p>
            <a:pPr algn="just">
              <a:lnSpc>
                <a:spcPct val="150000"/>
              </a:lnSpc>
              <a:buClr>
                <a:schemeClr val="accent6">
                  <a:lumMod val="50000"/>
                </a:schemeClr>
              </a:buClr>
              <a:buFont typeface="Wingdings" pitchFamily="2" charset="2"/>
              <a:buChar char="v"/>
              <a:tabLst>
                <a:tab pos="465138" algn="l"/>
              </a:tabLst>
            </a:pPr>
            <a:r>
              <a:rPr lang="en-US" sz="2000" dirty="0" smtClean="0"/>
              <a:t> 	</a:t>
            </a:r>
            <a:r>
              <a:rPr lang="en-US" sz="2000" dirty="0" err="1" smtClean="0"/>
              <a:t>Asingle</a:t>
            </a:r>
            <a:r>
              <a:rPr lang="en-US" sz="2000" dirty="0" smtClean="0"/>
              <a:t>-turn rectangular copper coil </a:t>
            </a:r>
            <a:r>
              <a:rPr lang="en-US" sz="2000" i="1" dirty="0" smtClean="0"/>
              <a:t>ABCD rotating about its own axis in a </a:t>
            </a:r>
            <a:r>
              <a:rPr lang="en-US" sz="2000" dirty="0" smtClean="0"/>
              <a:t>magnetic field provided by either permanent magnet is or electromagnets is shown in Fig. below:. </a:t>
            </a:r>
          </a:p>
        </p:txBody>
      </p:sp>
      <p:sp>
        <p:nvSpPr>
          <p:cNvPr id="5" name="Rectangle 4"/>
          <p:cNvSpPr/>
          <p:nvPr/>
        </p:nvSpPr>
        <p:spPr>
          <a:xfrm>
            <a:off x="0" y="0"/>
            <a:ext cx="9144000" cy="6858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TextBox 5"/>
          <p:cNvSpPr txBox="1"/>
          <p:nvPr/>
        </p:nvSpPr>
        <p:spPr>
          <a:xfrm>
            <a:off x="0" y="77450"/>
            <a:ext cx="9144000" cy="523220"/>
          </a:xfrm>
          <a:prstGeom prst="rect">
            <a:avLst/>
          </a:prstGeom>
          <a:noFill/>
        </p:spPr>
        <p:txBody>
          <a:bodyPr wrap="square" rtlCol="0">
            <a:spAutoFit/>
          </a:bodyPr>
          <a:lstStyle/>
          <a:p>
            <a:pPr algn="ctr"/>
            <a:r>
              <a:rPr lang="en-US" sz="2800" b="1" dirty="0" smtClean="0">
                <a:solidFill>
                  <a:schemeClr val="bg1"/>
                </a:solidFill>
                <a:latin typeface="Arial" pitchFamily="34" charset="0"/>
                <a:cs typeface="Arial" pitchFamily="34" charset="0"/>
              </a:rPr>
              <a:t>Simple Loop Generator</a:t>
            </a:r>
            <a:endParaRPr lang="en-US" sz="2800" b="1" dirty="0">
              <a:solidFill>
                <a:schemeClr val="bg1"/>
              </a:solidFill>
              <a:latin typeface="Arial" pitchFamily="34" charset="0"/>
              <a:cs typeface="Arial" pitchFamily="34" charset="0"/>
            </a:endParaRPr>
          </a:p>
        </p:txBody>
      </p:sp>
      <p:sp>
        <p:nvSpPr>
          <p:cNvPr id="7" name="TextBox 6"/>
          <p:cNvSpPr txBox="1"/>
          <p:nvPr/>
        </p:nvSpPr>
        <p:spPr>
          <a:xfrm>
            <a:off x="7924800" y="6367790"/>
            <a:ext cx="685800" cy="261610"/>
          </a:xfrm>
          <a:prstGeom prst="rect">
            <a:avLst/>
          </a:prstGeom>
          <a:noFill/>
        </p:spPr>
        <p:txBody>
          <a:bodyPr wrap="square" rtlCol="0">
            <a:spAutoFit/>
          </a:bodyPr>
          <a:lstStyle/>
          <a:p>
            <a:r>
              <a:rPr lang="en-US" sz="1100" i="1" dirty="0" smtClean="0"/>
              <a:t>Contd….</a:t>
            </a:r>
            <a:endParaRPr lang="en-US" sz="1100" i="1" dirty="0"/>
          </a:p>
        </p:txBody>
      </p:sp>
      <p:pic>
        <p:nvPicPr>
          <p:cNvPr id="8" name="Picture 2"/>
          <p:cNvPicPr>
            <a:picLocks noChangeAspect="1" noChangeArrowheads="1"/>
          </p:cNvPicPr>
          <p:nvPr/>
        </p:nvPicPr>
        <p:blipFill rotWithShape="1">
          <a:blip r:embed="rId2"/>
          <a:srcRect b="7601"/>
          <a:stretch/>
        </p:blipFill>
        <p:spPr bwMode="auto">
          <a:xfrm>
            <a:off x="1139474" y="3021211"/>
            <a:ext cx="6865051" cy="3039133"/>
          </a:xfrm>
          <a:prstGeom prst="rect">
            <a:avLst/>
          </a:prstGeom>
          <a:ln>
            <a:solidFill>
              <a:schemeClr val="tx1"/>
            </a:solidFill>
          </a:ln>
          <a:effectLst>
            <a:outerShdw blurRad="190500" algn="tl" rotWithShape="0">
              <a:srgbClr val="000000">
                <a:alpha val="70000"/>
              </a:srgbClr>
            </a:outerShdw>
          </a:effectLst>
        </p:spPr>
      </p:pic>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09600" y="989886"/>
            <a:ext cx="7482590" cy="3416320"/>
          </a:xfrm>
          <a:prstGeom prst="rect">
            <a:avLst/>
          </a:prstGeom>
          <a:noFill/>
        </p:spPr>
        <p:txBody>
          <a:bodyPr wrap="square" rtlCol="0">
            <a:spAutoFit/>
          </a:bodyPr>
          <a:lstStyle/>
          <a:p>
            <a:pPr algn="just">
              <a:lnSpc>
                <a:spcPct val="150000"/>
              </a:lnSpc>
              <a:buClr>
                <a:schemeClr val="accent6">
                  <a:lumMod val="50000"/>
                </a:schemeClr>
              </a:buClr>
              <a:tabLst>
                <a:tab pos="465138" algn="l"/>
              </a:tabLst>
            </a:pPr>
            <a:r>
              <a:rPr lang="en-US" sz="2400" b="1" dirty="0" smtClean="0"/>
              <a:t>Construction</a:t>
            </a:r>
          </a:p>
          <a:p>
            <a:pPr algn="just">
              <a:lnSpc>
                <a:spcPct val="150000"/>
              </a:lnSpc>
              <a:buClr>
                <a:schemeClr val="accent6">
                  <a:lumMod val="50000"/>
                </a:schemeClr>
              </a:buClr>
              <a:buFont typeface="Wingdings" pitchFamily="2" charset="2"/>
              <a:buChar char="v"/>
              <a:tabLst>
                <a:tab pos="465138" algn="l"/>
              </a:tabLst>
            </a:pPr>
            <a:r>
              <a:rPr lang="en-US" sz="2000" dirty="0" smtClean="0"/>
              <a:t> 	The two ends of the coil are joined to two slip-rings ‘</a:t>
            </a:r>
            <a:r>
              <a:rPr lang="en-US" sz="2000" i="1" dirty="0" smtClean="0"/>
              <a:t>a’ and ‘b’ 	which are insulated from each other and from the central shaft. 	</a:t>
            </a:r>
            <a:r>
              <a:rPr lang="en-US" sz="2000" dirty="0" smtClean="0"/>
              <a:t>Two collecting brushes (of carbon or copper) press against the 	slip-rings.</a:t>
            </a:r>
          </a:p>
          <a:p>
            <a:pPr algn="just">
              <a:lnSpc>
                <a:spcPct val="150000"/>
              </a:lnSpc>
              <a:buClr>
                <a:schemeClr val="accent6">
                  <a:lumMod val="50000"/>
                </a:schemeClr>
              </a:buClr>
              <a:buFont typeface="Wingdings" pitchFamily="2" charset="2"/>
              <a:buChar char="v"/>
              <a:tabLst>
                <a:tab pos="465138" algn="l"/>
              </a:tabLst>
            </a:pPr>
            <a:r>
              <a:rPr lang="en-US" sz="2000" dirty="0" smtClean="0">
                <a:solidFill>
                  <a:srgbClr val="FF0000"/>
                </a:solidFill>
              </a:rPr>
              <a:t> 	</a:t>
            </a:r>
            <a:r>
              <a:rPr lang="en-US" sz="2000" dirty="0" smtClean="0"/>
              <a:t>The rotating coil may be called ‘armature’ and the magnets as 	‘field magnets’.</a:t>
            </a:r>
            <a:endParaRPr lang="en-US" sz="2000" dirty="0">
              <a:solidFill>
                <a:srgbClr val="FF0000"/>
              </a:solidFill>
            </a:endParaRPr>
          </a:p>
        </p:txBody>
      </p:sp>
      <p:sp>
        <p:nvSpPr>
          <p:cNvPr id="5" name="Rectangle 4"/>
          <p:cNvSpPr/>
          <p:nvPr/>
        </p:nvSpPr>
        <p:spPr>
          <a:xfrm>
            <a:off x="0" y="0"/>
            <a:ext cx="9144000" cy="6858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TextBox 5"/>
          <p:cNvSpPr txBox="1"/>
          <p:nvPr/>
        </p:nvSpPr>
        <p:spPr>
          <a:xfrm>
            <a:off x="0" y="77450"/>
            <a:ext cx="9144000" cy="523220"/>
          </a:xfrm>
          <a:prstGeom prst="rect">
            <a:avLst/>
          </a:prstGeom>
          <a:noFill/>
        </p:spPr>
        <p:txBody>
          <a:bodyPr wrap="square" rtlCol="0">
            <a:spAutoFit/>
          </a:bodyPr>
          <a:lstStyle/>
          <a:p>
            <a:pPr algn="ctr"/>
            <a:r>
              <a:rPr lang="en-US" sz="2800" b="1" dirty="0" smtClean="0">
                <a:solidFill>
                  <a:schemeClr val="bg1"/>
                </a:solidFill>
                <a:latin typeface="Arial" pitchFamily="34" charset="0"/>
                <a:cs typeface="Arial" pitchFamily="34" charset="0"/>
              </a:rPr>
              <a:t>Simple Loop Generator</a:t>
            </a:r>
            <a:endParaRPr lang="en-US" sz="2800" b="1" dirty="0">
              <a:solidFill>
                <a:schemeClr val="bg1"/>
              </a:solidFill>
              <a:latin typeface="Arial" pitchFamily="34" charset="0"/>
              <a:cs typeface="Arial" pitchFamily="34" charset="0"/>
            </a:endParaRPr>
          </a:p>
        </p:txBody>
      </p:sp>
      <p:sp>
        <p:nvSpPr>
          <p:cNvPr id="7" name="TextBox 6"/>
          <p:cNvSpPr txBox="1"/>
          <p:nvPr/>
        </p:nvSpPr>
        <p:spPr>
          <a:xfrm>
            <a:off x="7924800" y="6367790"/>
            <a:ext cx="685800" cy="261610"/>
          </a:xfrm>
          <a:prstGeom prst="rect">
            <a:avLst/>
          </a:prstGeom>
          <a:noFill/>
        </p:spPr>
        <p:txBody>
          <a:bodyPr wrap="square" rtlCol="0">
            <a:spAutoFit/>
          </a:bodyPr>
          <a:lstStyle/>
          <a:p>
            <a:r>
              <a:rPr lang="en-US" sz="1100" i="1" dirty="0" smtClean="0"/>
              <a:t>Contd….</a:t>
            </a:r>
            <a:endParaRPr lang="en-US" sz="1100" i="1" dirty="0"/>
          </a:p>
        </p:txBody>
      </p:sp>
    </p:spTree>
    <p:extLst>
      <p:ext uri="{BB962C8B-B14F-4D97-AF65-F5344CB8AC3E}">
        <p14:creationId xmlns:p14="http://schemas.microsoft.com/office/powerpoint/2010/main" val="171245653"/>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838200" y="881920"/>
            <a:ext cx="7818620" cy="2539157"/>
          </a:xfrm>
          <a:prstGeom prst="rect">
            <a:avLst/>
          </a:prstGeom>
          <a:noFill/>
        </p:spPr>
        <p:txBody>
          <a:bodyPr wrap="square" rtlCol="0">
            <a:spAutoFit/>
          </a:bodyPr>
          <a:lstStyle/>
          <a:p>
            <a:pPr algn="just">
              <a:spcBef>
                <a:spcPts val="1800"/>
              </a:spcBef>
              <a:buClr>
                <a:schemeClr val="accent6">
                  <a:lumMod val="50000"/>
                </a:schemeClr>
              </a:buClr>
              <a:tabLst>
                <a:tab pos="465138" algn="l"/>
              </a:tabLst>
            </a:pPr>
            <a:r>
              <a:rPr lang="en-US" sz="2400" b="1" dirty="0" smtClean="0"/>
              <a:t>Working</a:t>
            </a:r>
          </a:p>
          <a:p>
            <a:pPr algn="just">
              <a:spcBef>
                <a:spcPts val="1800"/>
              </a:spcBef>
              <a:buClr>
                <a:schemeClr val="accent6">
                  <a:lumMod val="50000"/>
                </a:schemeClr>
              </a:buClr>
              <a:buFont typeface="Wingdings" pitchFamily="2" charset="2"/>
              <a:buChar char="v"/>
              <a:tabLst>
                <a:tab pos="465138" algn="l"/>
              </a:tabLst>
            </a:pPr>
            <a:r>
              <a:rPr lang="en-US" sz="2000" b="1" dirty="0" smtClean="0"/>
              <a:t> 	</a:t>
            </a:r>
            <a:r>
              <a:rPr lang="en-US" sz="2000" dirty="0" smtClean="0"/>
              <a:t>Imagine the coil to be rotating in clock-wise direction. As 	the coil assumes successive positions in the field, the flux linked with it changes. Hence, an e.m.f. is induced in it which is proportional to the rate of change of flux linkages (</a:t>
            </a:r>
            <a:r>
              <a:rPr lang="en-US" sz="2000" i="1" dirty="0" smtClean="0"/>
              <a:t>e = NdΦdt). When the plane of the coil is at right </a:t>
            </a:r>
            <a:r>
              <a:rPr lang="en-US" sz="2000" dirty="0" smtClean="0"/>
              <a:t>angles to lines of flux </a:t>
            </a:r>
            <a:r>
              <a:rPr lang="en-US" sz="2000" i="1" dirty="0" smtClean="0"/>
              <a:t>i.e. when it is in position, 1, then flux linked with the coil is maximum but </a:t>
            </a:r>
            <a:r>
              <a:rPr lang="en-US" sz="2000" b="1" i="1" dirty="0" smtClean="0"/>
              <a:t>rate of change of flux linkages is minimum. </a:t>
            </a:r>
          </a:p>
        </p:txBody>
      </p:sp>
      <p:sp>
        <p:nvSpPr>
          <p:cNvPr id="5" name="Rectangle 4"/>
          <p:cNvSpPr/>
          <p:nvPr/>
        </p:nvSpPr>
        <p:spPr>
          <a:xfrm>
            <a:off x="0" y="0"/>
            <a:ext cx="9144000" cy="6858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TextBox 5"/>
          <p:cNvSpPr txBox="1"/>
          <p:nvPr/>
        </p:nvSpPr>
        <p:spPr>
          <a:xfrm>
            <a:off x="0" y="77450"/>
            <a:ext cx="9144000" cy="523220"/>
          </a:xfrm>
          <a:prstGeom prst="rect">
            <a:avLst/>
          </a:prstGeom>
          <a:noFill/>
        </p:spPr>
        <p:txBody>
          <a:bodyPr wrap="square" rtlCol="0">
            <a:spAutoFit/>
          </a:bodyPr>
          <a:lstStyle/>
          <a:p>
            <a:pPr algn="ctr"/>
            <a:r>
              <a:rPr lang="en-US" sz="2800" b="1" dirty="0" smtClean="0">
                <a:solidFill>
                  <a:schemeClr val="bg1"/>
                </a:solidFill>
                <a:latin typeface="Arial" pitchFamily="34" charset="0"/>
                <a:cs typeface="Arial" pitchFamily="34" charset="0"/>
              </a:rPr>
              <a:t>Simple Loop Generator</a:t>
            </a:r>
            <a:endParaRPr lang="en-US" sz="2800" b="1" dirty="0">
              <a:solidFill>
                <a:schemeClr val="bg1"/>
              </a:solidFill>
              <a:latin typeface="Arial" pitchFamily="34" charset="0"/>
              <a:cs typeface="Arial" pitchFamily="34" charset="0"/>
            </a:endParaRPr>
          </a:p>
        </p:txBody>
      </p:sp>
      <p:sp>
        <p:nvSpPr>
          <p:cNvPr id="7" name="TextBox 6"/>
          <p:cNvSpPr txBox="1"/>
          <p:nvPr/>
        </p:nvSpPr>
        <p:spPr>
          <a:xfrm>
            <a:off x="7924800" y="6367790"/>
            <a:ext cx="685800" cy="261610"/>
          </a:xfrm>
          <a:prstGeom prst="rect">
            <a:avLst/>
          </a:prstGeom>
          <a:noFill/>
        </p:spPr>
        <p:txBody>
          <a:bodyPr wrap="square" rtlCol="0">
            <a:spAutoFit/>
          </a:bodyPr>
          <a:lstStyle/>
          <a:p>
            <a:r>
              <a:rPr lang="en-US" sz="1100" i="1" dirty="0" smtClean="0"/>
              <a:t>Contd….</a:t>
            </a:r>
            <a:endParaRPr lang="en-US" sz="1100" i="1" dirty="0"/>
          </a:p>
        </p:txBody>
      </p:sp>
      <p:pic>
        <p:nvPicPr>
          <p:cNvPr id="8" name="Picture 2"/>
          <p:cNvPicPr>
            <a:picLocks noChangeAspect="1" noChangeArrowheads="1"/>
          </p:cNvPicPr>
          <p:nvPr/>
        </p:nvPicPr>
        <p:blipFill rotWithShape="1">
          <a:blip r:embed="rId2"/>
          <a:srcRect r="46936" b="9524"/>
          <a:stretch/>
        </p:blipFill>
        <p:spPr bwMode="auto">
          <a:xfrm>
            <a:off x="2918710" y="3724090"/>
            <a:ext cx="3657600" cy="2573867"/>
          </a:xfrm>
          <a:prstGeom prst="rect">
            <a:avLst/>
          </a:prstGeom>
          <a:ln>
            <a:solidFill>
              <a:schemeClr val="tx1"/>
            </a:solidFill>
          </a:ln>
          <a:effectLst>
            <a:outerShdw blurRad="190500" algn="tl" rotWithShape="0">
              <a:srgbClr val="000000">
                <a:alpha val="70000"/>
              </a:srgbClr>
            </a:outerShdw>
          </a:effectLst>
        </p:spPr>
      </p:pic>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838200" y="881920"/>
            <a:ext cx="7818620" cy="2539157"/>
          </a:xfrm>
          <a:prstGeom prst="rect">
            <a:avLst/>
          </a:prstGeom>
          <a:noFill/>
        </p:spPr>
        <p:txBody>
          <a:bodyPr wrap="square" rtlCol="0">
            <a:spAutoFit/>
          </a:bodyPr>
          <a:lstStyle/>
          <a:p>
            <a:pPr algn="just">
              <a:spcBef>
                <a:spcPts val="1800"/>
              </a:spcBef>
              <a:buClr>
                <a:schemeClr val="accent6">
                  <a:lumMod val="50000"/>
                </a:schemeClr>
              </a:buClr>
              <a:tabLst>
                <a:tab pos="465138" algn="l"/>
              </a:tabLst>
            </a:pPr>
            <a:r>
              <a:rPr lang="en-US" sz="2400" b="1" dirty="0" smtClean="0"/>
              <a:t>Working</a:t>
            </a:r>
            <a:endParaRPr lang="en-US" sz="2000" b="1" i="1" dirty="0" smtClean="0"/>
          </a:p>
          <a:p>
            <a:pPr algn="just">
              <a:spcBef>
                <a:spcPts val="1800"/>
              </a:spcBef>
              <a:buClr>
                <a:schemeClr val="accent6">
                  <a:lumMod val="50000"/>
                </a:schemeClr>
              </a:buClr>
              <a:buFont typeface="Wingdings" pitchFamily="2" charset="2"/>
              <a:buChar char="v"/>
              <a:tabLst>
                <a:tab pos="465138" algn="l"/>
              </a:tabLst>
            </a:pPr>
            <a:r>
              <a:rPr lang="en-US" sz="2000" b="1" i="1" dirty="0" smtClean="0"/>
              <a:t> 	</a:t>
            </a:r>
            <a:r>
              <a:rPr lang="en-US" sz="2000" dirty="0" smtClean="0"/>
              <a:t>As the coil continues rotating further, the rate of change of flux 	linkages (and hence induced e.m.f. in it) increases, till position 3 is 	reached where θ = 90º. Here, the coil plane is horizontal </a:t>
            </a:r>
            <a:r>
              <a:rPr lang="en-US" sz="2000" i="1" dirty="0" smtClean="0"/>
              <a:t>i.e. </a:t>
            </a:r>
            <a:r>
              <a:rPr lang="en-US" sz="2000" dirty="0" smtClean="0"/>
              <a:t>parallel 	to the lines of flux. As seen, the flux linked with the coil is minimum 	but </a:t>
            </a:r>
            <a:r>
              <a:rPr lang="en-US" sz="2000" i="1" dirty="0" smtClean="0"/>
              <a:t>rate of change of flux linkages is maximum. Hence, maximum 	e.m.f. is induced in the coil when in this position</a:t>
            </a:r>
            <a:r>
              <a:rPr lang="en-US" sz="2000" dirty="0" smtClean="0"/>
              <a:t>.</a:t>
            </a:r>
            <a:endParaRPr lang="en-US" sz="2000" dirty="0">
              <a:solidFill>
                <a:srgbClr val="FF0000"/>
              </a:solidFill>
            </a:endParaRPr>
          </a:p>
        </p:txBody>
      </p:sp>
      <p:sp>
        <p:nvSpPr>
          <p:cNvPr id="5" name="Rectangle 4"/>
          <p:cNvSpPr/>
          <p:nvPr/>
        </p:nvSpPr>
        <p:spPr>
          <a:xfrm>
            <a:off x="0" y="0"/>
            <a:ext cx="9144000" cy="6858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TextBox 5"/>
          <p:cNvSpPr txBox="1"/>
          <p:nvPr/>
        </p:nvSpPr>
        <p:spPr>
          <a:xfrm>
            <a:off x="0" y="77450"/>
            <a:ext cx="9144000" cy="523220"/>
          </a:xfrm>
          <a:prstGeom prst="rect">
            <a:avLst/>
          </a:prstGeom>
          <a:noFill/>
        </p:spPr>
        <p:txBody>
          <a:bodyPr wrap="square" rtlCol="0">
            <a:spAutoFit/>
          </a:bodyPr>
          <a:lstStyle/>
          <a:p>
            <a:pPr algn="ctr"/>
            <a:r>
              <a:rPr lang="en-US" sz="2800" b="1" dirty="0" smtClean="0">
                <a:solidFill>
                  <a:schemeClr val="bg1"/>
                </a:solidFill>
                <a:latin typeface="Arial" pitchFamily="34" charset="0"/>
                <a:cs typeface="Arial" pitchFamily="34" charset="0"/>
              </a:rPr>
              <a:t>Simple Loop Generator</a:t>
            </a:r>
            <a:endParaRPr lang="en-US" sz="2800" b="1" dirty="0">
              <a:solidFill>
                <a:schemeClr val="bg1"/>
              </a:solidFill>
              <a:latin typeface="Arial" pitchFamily="34" charset="0"/>
              <a:cs typeface="Arial" pitchFamily="34" charset="0"/>
            </a:endParaRPr>
          </a:p>
        </p:txBody>
      </p:sp>
      <p:sp>
        <p:nvSpPr>
          <p:cNvPr id="7" name="TextBox 6"/>
          <p:cNvSpPr txBox="1"/>
          <p:nvPr/>
        </p:nvSpPr>
        <p:spPr>
          <a:xfrm>
            <a:off x="7924800" y="6367790"/>
            <a:ext cx="685800" cy="261610"/>
          </a:xfrm>
          <a:prstGeom prst="rect">
            <a:avLst/>
          </a:prstGeom>
          <a:noFill/>
        </p:spPr>
        <p:txBody>
          <a:bodyPr wrap="square" rtlCol="0">
            <a:spAutoFit/>
          </a:bodyPr>
          <a:lstStyle/>
          <a:p>
            <a:r>
              <a:rPr lang="en-US" sz="1100" i="1" dirty="0" smtClean="0"/>
              <a:t>Contd….</a:t>
            </a:r>
            <a:endParaRPr lang="en-US" sz="1100" i="1" dirty="0"/>
          </a:p>
        </p:txBody>
      </p:sp>
      <p:pic>
        <p:nvPicPr>
          <p:cNvPr id="8" name="Picture 2"/>
          <p:cNvPicPr>
            <a:picLocks noChangeAspect="1" noChangeArrowheads="1"/>
          </p:cNvPicPr>
          <p:nvPr/>
        </p:nvPicPr>
        <p:blipFill rotWithShape="1">
          <a:blip r:embed="rId2"/>
          <a:srcRect l="54048" b="9524"/>
          <a:stretch/>
        </p:blipFill>
        <p:spPr bwMode="auto">
          <a:xfrm>
            <a:off x="2965850" y="3472190"/>
            <a:ext cx="3563319" cy="2895600"/>
          </a:xfrm>
          <a:prstGeom prst="rect">
            <a:avLst/>
          </a:prstGeom>
          <a:ln>
            <a:solidFill>
              <a:schemeClr val="tx1"/>
            </a:solidFill>
          </a:ln>
          <a:effectLst>
            <a:outerShdw blurRad="190500" algn="tl" rotWithShape="0">
              <a:srgbClr val="000000">
                <a:alpha val="70000"/>
              </a:srgbClr>
            </a:outerShdw>
          </a:effectLst>
        </p:spPr>
      </p:pic>
    </p:spTree>
    <p:extLst>
      <p:ext uri="{BB962C8B-B14F-4D97-AF65-F5344CB8AC3E}">
        <p14:creationId xmlns:p14="http://schemas.microsoft.com/office/powerpoint/2010/main" val="2502485247"/>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33400" y="831077"/>
            <a:ext cx="7818620" cy="4093428"/>
          </a:xfrm>
          <a:prstGeom prst="rect">
            <a:avLst/>
          </a:prstGeom>
          <a:noFill/>
        </p:spPr>
        <p:txBody>
          <a:bodyPr wrap="square" rtlCol="0">
            <a:spAutoFit/>
          </a:bodyPr>
          <a:lstStyle/>
          <a:p>
            <a:pPr algn="just">
              <a:lnSpc>
                <a:spcPct val="150000"/>
              </a:lnSpc>
              <a:spcBef>
                <a:spcPts val="600"/>
              </a:spcBef>
              <a:buClr>
                <a:schemeClr val="accent6">
                  <a:lumMod val="50000"/>
                </a:schemeClr>
              </a:buClr>
              <a:tabLst>
                <a:tab pos="465138" algn="l"/>
              </a:tabLst>
            </a:pPr>
            <a:r>
              <a:rPr lang="en-US" sz="2000" dirty="0" smtClean="0"/>
              <a:t>The simple loop generator has been considered in detail merely to bring out the basic principle underlying construction and working of an actual generator illustrated in Fig. which consists of the following essential parts :</a:t>
            </a:r>
          </a:p>
          <a:p>
            <a:pPr algn="just">
              <a:lnSpc>
                <a:spcPct val="150000"/>
              </a:lnSpc>
              <a:spcBef>
                <a:spcPts val="600"/>
              </a:spcBef>
              <a:buClr>
                <a:schemeClr val="accent6">
                  <a:lumMod val="50000"/>
                </a:schemeClr>
              </a:buClr>
              <a:tabLst>
                <a:tab pos="465138" algn="l"/>
              </a:tabLst>
            </a:pPr>
            <a:r>
              <a:rPr lang="en-US" sz="2000" b="1" dirty="0" smtClean="0">
                <a:solidFill>
                  <a:schemeClr val="accent6">
                    <a:lumMod val="50000"/>
                  </a:schemeClr>
                </a:solidFill>
              </a:rPr>
              <a:t>	1. </a:t>
            </a:r>
            <a:r>
              <a:rPr lang="en-US" sz="2000" b="1" dirty="0" smtClean="0"/>
              <a:t>Magnetic Frame or Yoke 		</a:t>
            </a:r>
            <a:r>
              <a:rPr lang="en-US" sz="2000" b="1" dirty="0" smtClean="0">
                <a:solidFill>
                  <a:schemeClr val="accent6">
                    <a:lumMod val="50000"/>
                  </a:schemeClr>
                </a:solidFill>
              </a:rPr>
              <a:t>2. </a:t>
            </a:r>
            <a:r>
              <a:rPr lang="en-US" sz="2000" b="1" dirty="0" smtClean="0"/>
              <a:t>Pole-Cores and Pole-Shoes</a:t>
            </a:r>
          </a:p>
          <a:p>
            <a:pPr algn="just">
              <a:lnSpc>
                <a:spcPct val="150000"/>
              </a:lnSpc>
              <a:spcBef>
                <a:spcPts val="600"/>
              </a:spcBef>
              <a:buClr>
                <a:schemeClr val="accent6">
                  <a:lumMod val="50000"/>
                </a:schemeClr>
              </a:buClr>
              <a:tabLst>
                <a:tab pos="465138" algn="l"/>
              </a:tabLst>
            </a:pPr>
            <a:r>
              <a:rPr lang="en-US" sz="2000" b="1" dirty="0" smtClean="0"/>
              <a:t>	</a:t>
            </a:r>
            <a:r>
              <a:rPr lang="en-US" sz="2000" b="1" dirty="0" smtClean="0">
                <a:solidFill>
                  <a:schemeClr val="accent6">
                    <a:lumMod val="50000"/>
                  </a:schemeClr>
                </a:solidFill>
              </a:rPr>
              <a:t>3. </a:t>
            </a:r>
            <a:r>
              <a:rPr lang="en-US" sz="2000" b="1" dirty="0" smtClean="0"/>
              <a:t>Pole Coils or Field Coils 		</a:t>
            </a:r>
            <a:r>
              <a:rPr lang="en-US" sz="2000" b="1" dirty="0" smtClean="0">
                <a:solidFill>
                  <a:schemeClr val="accent6">
                    <a:lumMod val="50000"/>
                  </a:schemeClr>
                </a:solidFill>
              </a:rPr>
              <a:t>4. </a:t>
            </a:r>
            <a:r>
              <a:rPr lang="en-US" sz="2000" b="1" dirty="0" smtClean="0"/>
              <a:t>Armature Core</a:t>
            </a:r>
          </a:p>
          <a:p>
            <a:pPr algn="just">
              <a:lnSpc>
                <a:spcPct val="150000"/>
              </a:lnSpc>
              <a:spcBef>
                <a:spcPts val="600"/>
              </a:spcBef>
              <a:buClr>
                <a:schemeClr val="accent6">
                  <a:lumMod val="50000"/>
                </a:schemeClr>
              </a:buClr>
              <a:tabLst>
                <a:tab pos="465138" algn="l"/>
              </a:tabLst>
            </a:pPr>
            <a:r>
              <a:rPr lang="en-US" sz="2000" b="1" dirty="0" smtClean="0"/>
              <a:t>	</a:t>
            </a:r>
            <a:r>
              <a:rPr lang="en-US" sz="2000" b="1" dirty="0" smtClean="0">
                <a:solidFill>
                  <a:schemeClr val="accent6">
                    <a:lumMod val="50000"/>
                  </a:schemeClr>
                </a:solidFill>
              </a:rPr>
              <a:t>5. </a:t>
            </a:r>
            <a:r>
              <a:rPr lang="en-US" sz="2000" b="1" dirty="0" smtClean="0"/>
              <a:t>Armature Windings or Conductors </a:t>
            </a:r>
            <a:r>
              <a:rPr lang="en-US" sz="2000" b="1" dirty="0" smtClean="0">
                <a:solidFill>
                  <a:schemeClr val="accent6">
                    <a:lumMod val="50000"/>
                  </a:schemeClr>
                </a:solidFill>
              </a:rPr>
              <a:t>	6. </a:t>
            </a:r>
            <a:r>
              <a:rPr lang="en-US" sz="2000" b="1" dirty="0" smtClean="0"/>
              <a:t>Commutator</a:t>
            </a:r>
          </a:p>
          <a:p>
            <a:pPr algn="just">
              <a:lnSpc>
                <a:spcPct val="150000"/>
              </a:lnSpc>
              <a:spcBef>
                <a:spcPts val="600"/>
              </a:spcBef>
              <a:buClr>
                <a:schemeClr val="accent6">
                  <a:lumMod val="50000"/>
                </a:schemeClr>
              </a:buClr>
              <a:tabLst>
                <a:tab pos="465138" algn="l"/>
              </a:tabLst>
            </a:pPr>
            <a:r>
              <a:rPr lang="en-US" sz="2000" b="1" dirty="0" smtClean="0"/>
              <a:t>	</a:t>
            </a:r>
            <a:r>
              <a:rPr lang="en-US" sz="2000" b="1" dirty="0" smtClean="0">
                <a:solidFill>
                  <a:schemeClr val="accent6">
                    <a:lumMod val="50000"/>
                  </a:schemeClr>
                </a:solidFill>
              </a:rPr>
              <a:t>7. </a:t>
            </a:r>
            <a:r>
              <a:rPr lang="en-US" sz="2000" b="1" dirty="0" smtClean="0"/>
              <a:t>Brushes and Bearings</a:t>
            </a:r>
            <a:endParaRPr lang="en-US" sz="2000" dirty="0">
              <a:solidFill>
                <a:srgbClr val="FF0000"/>
              </a:solidFill>
            </a:endParaRPr>
          </a:p>
        </p:txBody>
      </p:sp>
      <p:sp>
        <p:nvSpPr>
          <p:cNvPr id="5" name="Rectangle 4"/>
          <p:cNvSpPr/>
          <p:nvPr/>
        </p:nvSpPr>
        <p:spPr>
          <a:xfrm>
            <a:off x="0" y="0"/>
            <a:ext cx="9144000" cy="6858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TextBox 5"/>
          <p:cNvSpPr txBox="1"/>
          <p:nvPr/>
        </p:nvSpPr>
        <p:spPr>
          <a:xfrm>
            <a:off x="0" y="77450"/>
            <a:ext cx="9144000" cy="523220"/>
          </a:xfrm>
          <a:prstGeom prst="rect">
            <a:avLst/>
          </a:prstGeom>
          <a:noFill/>
        </p:spPr>
        <p:txBody>
          <a:bodyPr wrap="square" rtlCol="0">
            <a:spAutoFit/>
          </a:bodyPr>
          <a:lstStyle/>
          <a:p>
            <a:pPr algn="ctr"/>
            <a:r>
              <a:rPr lang="en-US" sz="2800" b="1" dirty="0" smtClean="0">
                <a:solidFill>
                  <a:schemeClr val="bg1"/>
                </a:solidFill>
                <a:latin typeface="Arial" pitchFamily="34" charset="0"/>
                <a:cs typeface="Arial" pitchFamily="34" charset="0"/>
              </a:rPr>
              <a:t>Practical Generator</a:t>
            </a:r>
            <a:endParaRPr lang="en-US" sz="2800" b="1" dirty="0">
              <a:solidFill>
                <a:schemeClr val="bg1"/>
              </a:solidFill>
              <a:latin typeface="Arial" pitchFamily="34" charset="0"/>
              <a:cs typeface="Arial" pitchFamily="34" charset="0"/>
            </a:endParaRPr>
          </a:p>
        </p:txBody>
      </p:sp>
      <p:sp>
        <p:nvSpPr>
          <p:cNvPr id="7" name="TextBox 6"/>
          <p:cNvSpPr txBox="1"/>
          <p:nvPr/>
        </p:nvSpPr>
        <p:spPr>
          <a:xfrm>
            <a:off x="7924800" y="6367790"/>
            <a:ext cx="685800" cy="261610"/>
          </a:xfrm>
          <a:prstGeom prst="rect">
            <a:avLst/>
          </a:prstGeom>
          <a:noFill/>
        </p:spPr>
        <p:txBody>
          <a:bodyPr wrap="square" rtlCol="0">
            <a:spAutoFit/>
          </a:bodyPr>
          <a:lstStyle/>
          <a:p>
            <a:r>
              <a:rPr lang="en-US" sz="1100" i="1" dirty="0" smtClean="0"/>
              <a:t>Contd….</a:t>
            </a:r>
            <a:endParaRPr lang="en-US" sz="1100" i="1" dirty="0"/>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0" y="0"/>
            <a:ext cx="9144000" cy="6858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TextBox 5"/>
          <p:cNvSpPr txBox="1"/>
          <p:nvPr/>
        </p:nvSpPr>
        <p:spPr>
          <a:xfrm>
            <a:off x="0" y="77450"/>
            <a:ext cx="9144000" cy="523220"/>
          </a:xfrm>
          <a:prstGeom prst="rect">
            <a:avLst/>
          </a:prstGeom>
          <a:noFill/>
        </p:spPr>
        <p:txBody>
          <a:bodyPr wrap="square" rtlCol="0">
            <a:spAutoFit/>
          </a:bodyPr>
          <a:lstStyle/>
          <a:p>
            <a:pPr algn="ctr"/>
            <a:r>
              <a:rPr lang="en-US" sz="2800" b="1" dirty="0" smtClean="0">
                <a:solidFill>
                  <a:schemeClr val="bg1"/>
                </a:solidFill>
                <a:latin typeface="Arial" pitchFamily="34" charset="0"/>
                <a:cs typeface="Arial" pitchFamily="34" charset="0"/>
              </a:rPr>
              <a:t>Practical Generator</a:t>
            </a:r>
            <a:endParaRPr lang="en-US" sz="2800" b="1" dirty="0">
              <a:solidFill>
                <a:schemeClr val="bg1"/>
              </a:solidFill>
              <a:latin typeface="Arial" pitchFamily="34" charset="0"/>
              <a:cs typeface="Arial" pitchFamily="34" charset="0"/>
            </a:endParaRPr>
          </a:p>
        </p:txBody>
      </p:sp>
      <p:pic>
        <p:nvPicPr>
          <p:cNvPr id="4098" name="Picture 2"/>
          <p:cNvPicPr>
            <a:picLocks noChangeAspect="1" noChangeArrowheads="1"/>
          </p:cNvPicPr>
          <p:nvPr/>
        </p:nvPicPr>
        <p:blipFill rotWithShape="1">
          <a:blip r:embed="rId2"/>
          <a:srcRect b="6427"/>
          <a:stretch/>
        </p:blipFill>
        <p:spPr bwMode="auto">
          <a:xfrm>
            <a:off x="1004340" y="1204211"/>
            <a:ext cx="7179654" cy="4358390"/>
          </a:xfrm>
          <a:prstGeom prst="rect">
            <a:avLst/>
          </a:prstGeom>
          <a:ln>
            <a:noFill/>
          </a:ln>
          <a:effectLst>
            <a:outerShdw blurRad="190500" algn="tl" rotWithShape="0">
              <a:srgbClr val="000000">
                <a:alpha val="70000"/>
              </a:srgbClr>
            </a:outerShdw>
          </a:effectLst>
        </p:spPr>
      </p:pic>
      <mc:AlternateContent xmlns:mc="http://schemas.openxmlformats.org/markup-compatibility/2006" xmlns:p14="http://schemas.microsoft.com/office/powerpoint/2010/main">
        <mc:Choice Requires="p14">
          <p:contentPart p14:bwMode="auto" r:id="rId3">
            <p14:nvContentPartPr>
              <p14:cNvPr id="2" name="Ink 1"/>
              <p14:cNvContentPartPr/>
              <p14:nvPr/>
            </p14:nvContentPartPr>
            <p14:xfrm>
              <a:off x="3725640" y="2684880"/>
              <a:ext cx="2082600" cy="885960"/>
            </p14:xfrm>
          </p:contentPart>
        </mc:Choice>
        <mc:Fallback xmlns="">
          <p:pic>
            <p:nvPicPr>
              <p:cNvPr id="2" name="Ink 1"/>
              <p:cNvPicPr/>
              <p:nvPr/>
            </p:nvPicPr>
            <p:blipFill>
              <a:blip r:embed="rId4"/>
              <a:stretch>
                <a:fillRect/>
              </a:stretch>
            </p:blipFill>
            <p:spPr>
              <a:xfrm>
                <a:off x="3720960" y="2680200"/>
                <a:ext cx="2092680" cy="896760"/>
              </a:xfrm>
              <a:prstGeom prst="rect">
                <a:avLst/>
              </a:prstGeom>
            </p:spPr>
          </p:pic>
        </mc:Fallback>
      </mc:AlternateContent>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868180" y="762000"/>
            <a:ext cx="7482590" cy="1938992"/>
          </a:xfrm>
          <a:prstGeom prst="rect">
            <a:avLst/>
          </a:prstGeom>
          <a:noFill/>
        </p:spPr>
        <p:txBody>
          <a:bodyPr wrap="square" rtlCol="0">
            <a:spAutoFit/>
          </a:bodyPr>
          <a:lstStyle/>
          <a:p>
            <a:pPr algn="just">
              <a:lnSpc>
                <a:spcPct val="150000"/>
              </a:lnSpc>
              <a:buClr>
                <a:schemeClr val="accent6">
                  <a:lumMod val="50000"/>
                </a:schemeClr>
              </a:buClr>
              <a:tabLst>
                <a:tab pos="465138" algn="l"/>
              </a:tabLst>
            </a:pPr>
            <a:r>
              <a:rPr lang="en-US" sz="2000" b="1" dirty="0" smtClean="0"/>
              <a:t>The outer frame or yoke serves double purpose :</a:t>
            </a:r>
          </a:p>
          <a:p>
            <a:pPr algn="just">
              <a:lnSpc>
                <a:spcPct val="150000"/>
              </a:lnSpc>
              <a:buClr>
                <a:schemeClr val="accent6">
                  <a:lumMod val="50000"/>
                </a:schemeClr>
              </a:buClr>
              <a:buFont typeface="+mj-lt"/>
              <a:buAutoNum type="romanLcPeriod"/>
              <a:tabLst>
                <a:tab pos="465138" algn="l"/>
              </a:tabLst>
            </a:pPr>
            <a:r>
              <a:rPr lang="en-US" sz="2000" b="1" dirty="0" smtClean="0"/>
              <a:t> </a:t>
            </a:r>
            <a:r>
              <a:rPr lang="en-US" sz="2000" dirty="0" smtClean="0"/>
              <a:t>	It provides mechanical support for the poles and acts as a 	protecting cover for the whole machine and</a:t>
            </a:r>
          </a:p>
          <a:p>
            <a:pPr algn="just">
              <a:lnSpc>
                <a:spcPct val="150000"/>
              </a:lnSpc>
              <a:buClr>
                <a:schemeClr val="accent6">
                  <a:lumMod val="50000"/>
                </a:schemeClr>
              </a:buClr>
              <a:buFont typeface="+mj-lt"/>
              <a:buAutoNum type="romanLcPeriod"/>
              <a:tabLst>
                <a:tab pos="465138" algn="l"/>
              </a:tabLst>
            </a:pPr>
            <a:r>
              <a:rPr lang="en-US" sz="2000" b="1" dirty="0" smtClean="0"/>
              <a:t> </a:t>
            </a:r>
            <a:r>
              <a:rPr lang="en-US" sz="2000" dirty="0" smtClean="0"/>
              <a:t>	It carries the magnetic flux produced by the poles.</a:t>
            </a:r>
            <a:endParaRPr lang="en-US" sz="2000" dirty="0">
              <a:solidFill>
                <a:srgbClr val="FF0000"/>
              </a:solidFill>
            </a:endParaRPr>
          </a:p>
        </p:txBody>
      </p:sp>
      <p:sp>
        <p:nvSpPr>
          <p:cNvPr id="5" name="Rectangle 4"/>
          <p:cNvSpPr/>
          <p:nvPr/>
        </p:nvSpPr>
        <p:spPr>
          <a:xfrm>
            <a:off x="0" y="0"/>
            <a:ext cx="9144000" cy="6858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TextBox 5"/>
          <p:cNvSpPr txBox="1"/>
          <p:nvPr/>
        </p:nvSpPr>
        <p:spPr>
          <a:xfrm>
            <a:off x="0" y="77450"/>
            <a:ext cx="9144000" cy="523220"/>
          </a:xfrm>
          <a:prstGeom prst="rect">
            <a:avLst/>
          </a:prstGeom>
          <a:noFill/>
        </p:spPr>
        <p:txBody>
          <a:bodyPr wrap="square" rtlCol="0">
            <a:spAutoFit/>
          </a:bodyPr>
          <a:lstStyle/>
          <a:p>
            <a:pPr algn="ctr"/>
            <a:r>
              <a:rPr lang="en-US" sz="2800" b="1" dirty="0" smtClean="0">
                <a:solidFill>
                  <a:schemeClr val="bg1"/>
                </a:solidFill>
                <a:latin typeface="Arial" pitchFamily="34" charset="0"/>
                <a:cs typeface="Arial" pitchFamily="34" charset="0"/>
              </a:rPr>
              <a:t>Yoke</a:t>
            </a:r>
            <a:endParaRPr lang="en-US" sz="2800" b="1" dirty="0">
              <a:solidFill>
                <a:schemeClr val="bg1"/>
              </a:solidFill>
              <a:latin typeface="Arial" pitchFamily="34" charset="0"/>
              <a:cs typeface="Arial" pitchFamily="34" charset="0"/>
            </a:endParaRPr>
          </a:p>
        </p:txBody>
      </p:sp>
      <p:pic>
        <p:nvPicPr>
          <p:cNvPr id="5122" name="Picture 2"/>
          <p:cNvPicPr>
            <a:picLocks noChangeAspect="1" noChangeArrowheads="1"/>
          </p:cNvPicPr>
          <p:nvPr/>
        </p:nvPicPr>
        <p:blipFill>
          <a:blip r:embed="rId2"/>
          <a:srcRect/>
          <a:stretch>
            <a:fillRect/>
          </a:stretch>
        </p:blipFill>
        <p:spPr bwMode="auto">
          <a:xfrm>
            <a:off x="1600200" y="2895600"/>
            <a:ext cx="4038600" cy="3329533"/>
          </a:xfrm>
          <a:prstGeom prst="snip2DiagRect">
            <a:avLst/>
          </a:prstGeom>
          <a:solidFill>
            <a:srgbClr val="FFFFFF">
              <a:shade val="85000"/>
            </a:srgbClr>
          </a:solidFill>
          <a:ln w="88900" cap="sq">
            <a:solidFill>
              <a:srgbClr val="FFFFFF"/>
            </a:solidFill>
            <a:miter lim="800000"/>
          </a:ln>
          <a:effectLst>
            <a:outerShdw blurRad="88900" algn="tl" rotWithShape="0">
              <a:srgbClr val="000000">
                <a:alpha val="45000"/>
              </a:srgbClr>
            </a:outerShdw>
          </a:effectLst>
          <a:scene3d>
            <a:camera prst="orthographicFront"/>
            <a:lightRig rig="twoPt" dir="t">
              <a:rot lat="0" lon="0" rev="7200000"/>
            </a:lightRig>
          </a:scene3d>
          <a:sp3d>
            <a:bevelT w="25400" h="19050"/>
            <a:contourClr>
              <a:srgbClr val="FFFFFF"/>
            </a:contourClr>
          </a:sp3d>
        </p:spPr>
      </p:pic>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898160" y="702040"/>
            <a:ext cx="7482590" cy="3083921"/>
          </a:xfrm>
          <a:prstGeom prst="rect">
            <a:avLst/>
          </a:prstGeom>
          <a:noFill/>
        </p:spPr>
        <p:txBody>
          <a:bodyPr wrap="square" rtlCol="0">
            <a:spAutoFit/>
          </a:bodyPr>
          <a:lstStyle/>
          <a:p>
            <a:pPr algn="just">
              <a:lnSpc>
                <a:spcPct val="200000"/>
              </a:lnSpc>
              <a:buClr>
                <a:schemeClr val="accent6">
                  <a:lumMod val="50000"/>
                </a:schemeClr>
              </a:buClr>
              <a:tabLst>
                <a:tab pos="465138" algn="l"/>
              </a:tabLst>
            </a:pPr>
            <a:r>
              <a:rPr lang="en-US" sz="2000" dirty="0" smtClean="0"/>
              <a:t>The field magnets consist of pole cores and pole shoes. The pole shoes serve two purposes	</a:t>
            </a:r>
          </a:p>
          <a:p>
            <a:pPr algn="just">
              <a:lnSpc>
                <a:spcPct val="200000"/>
              </a:lnSpc>
              <a:buClr>
                <a:schemeClr val="accent6">
                  <a:lumMod val="50000"/>
                </a:schemeClr>
              </a:buClr>
              <a:buFont typeface="Wingdings" pitchFamily="2" charset="2"/>
              <a:buChar char="v"/>
              <a:tabLst>
                <a:tab pos="465138" algn="l"/>
              </a:tabLst>
            </a:pPr>
            <a:r>
              <a:rPr lang="en-US" sz="2000" dirty="0" smtClean="0"/>
              <a:t> 	They spread out the flux in the air gap and also, being of larger 	cross-section, reduce the reluctance of the magnetic path </a:t>
            </a:r>
          </a:p>
          <a:p>
            <a:pPr algn="just">
              <a:lnSpc>
                <a:spcPct val="200000"/>
              </a:lnSpc>
              <a:buClr>
                <a:schemeClr val="accent6">
                  <a:lumMod val="50000"/>
                </a:schemeClr>
              </a:buClr>
              <a:buFont typeface="Wingdings" pitchFamily="2" charset="2"/>
              <a:buChar char="v"/>
              <a:tabLst>
                <a:tab pos="465138" algn="l"/>
              </a:tabLst>
            </a:pPr>
            <a:r>
              <a:rPr lang="en-US" sz="2000" dirty="0" smtClean="0"/>
              <a:t> 	They support the exciting coils (or field coils).</a:t>
            </a:r>
            <a:endParaRPr lang="en-US" sz="2000" dirty="0">
              <a:solidFill>
                <a:srgbClr val="FF0000"/>
              </a:solidFill>
            </a:endParaRPr>
          </a:p>
        </p:txBody>
      </p:sp>
      <p:sp>
        <p:nvSpPr>
          <p:cNvPr id="5" name="Rectangle 4"/>
          <p:cNvSpPr/>
          <p:nvPr/>
        </p:nvSpPr>
        <p:spPr>
          <a:xfrm>
            <a:off x="0" y="0"/>
            <a:ext cx="9144000" cy="6858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TextBox 5"/>
          <p:cNvSpPr txBox="1"/>
          <p:nvPr/>
        </p:nvSpPr>
        <p:spPr>
          <a:xfrm>
            <a:off x="0" y="77450"/>
            <a:ext cx="9144000" cy="523220"/>
          </a:xfrm>
          <a:prstGeom prst="rect">
            <a:avLst/>
          </a:prstGeom>
          <a:noFill/>
        </p:spPr>
        <p:txBody>
          <a:bodyPr wrap="square" rtlCol="0">
            <a:spAutoFit/>
          </a:bodyPr>
          <a:lstStyle/>
          <a:p>
            <a:pPr algn="ctr"/>
            <a:r>
              <a:rPr lang="en-US" sz="2800" b="1" dirty="0" smtClean="0">
                <a:solidFill>
                  <a:schemeClr val="bg1"/>
                </a:solidFill>
                <a:latin typeface="Arial" pitchFamily="34" charset="0"/>
                <a:cs typeface="Arial" pitchFamily="34" charset="0"/>
              </a:rPr>
              <a:t>Pole Cores and Pole Shoes</a:t>
            </a:r>
            <a:endParaRPr lang="en-US" sz="2800" b="1" dirty="0">
              <a:solidFill>
                <a:schemeClr val="bg1"/>
              </a:solidFill>
              <a:latin typeface="Arial" pitchFamily="34" charset="0"/>
              <a:cs typeface="Arial" pitchFamily="34" charset="0"/>
            </a:endParaRPr>
          </a:p>
        </p:txBody>
      </p:sp>
      <p:sp>
        <p:nvSpPr>
          <p:cNvPr id="7" name="TextBox 6"/>
          <p:cNvSpPr txBox="1"/>
          <p:nvPr/>
        </p:nvSpPr>
        <p:spPr>
          <a:xfrm>
            <a:off x="7924800" y="6367790"/>
            <a:ext cx="685800" cy="261610"/>
          </a:xfrm>
          <a:prstGeom prst="rect">
            <a:avLst/>
          </a:prstGeom>
          <a:noFill/>
        </p:spPr>
        <p:txBody>
          <a:bodyPr wrap="square" rtlCol="0">
            <a:spAutoFit/>
          </a:bodyPr>
          <a:lstStyle/>
          <a:p>
            <a:r>
              <a:rPr lang="en-US" sz="1100" i="1" dirty="0" smtClean="0"/>
              <a:t>Contd….</a:t>
            </a:r>
            <a:endParaRPr lang="en-US" sz="1100" i="1" dirty="0"/>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0" y="0"/>
            <a:ext cx="9144000" cy="6858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TextBox 5"/>
          <p:cNvSpPr txBox="1"/>
          <p:nvPr/>
        </p:nvSpPr>
        <p:spPr>
          <a:xfrm>
            <a:off x="0" y="77450"/>
            <a:ext cx="9144000" cy="523220"/>
          </a:xfrm>
          <a:prstGeom prst="rect">
            <a:avLst/>
          </a:prstGeom>
          <a:noFill/>
        </p:spPr>
        <p:txBody>
          <a:bodyPr wrap="square" rtlCol="0">
            <a:spAutoFit/>
          </a:bodyPr>
          <a:lstStyle/>
          <a:p>
            <a:pPr algn="ctr"/>
            <a:r>
              <a:rPr lang="en-US" sz="2800" b="1" dirty="0" smtClean="0">
                <a:solidFill>
                  <a:schemeClr val="bg1"/>
                </a:solidFill>
                <a:latin typeface="Arial" pitchFamily="34" charset="0"/>
                <a:cs typeface="Arial" pitchFamily="34" charset="0"/>
              </a:rPr>
              <a:t>Pole Cores and Pole Shoes</a:t>
            </a:r>
            <a:endParaRPr lang="en-US" sz="2800" b="1" dirty="0">
              <a:solidFill>
                <a:schemeClr val="bg1"/>
              </a:solidFill>
              <a:latin typeface="Arial" pitchFamily="34" charset="0"/>
              <a:cs typeface="Arial" pitchFamily="34" charset="0"/>
            </a:endParaRPr>
          </a:p>
        </p:txBody>
      </p:sp>
      <p:pic>
        <p:nvPicPr>
          <p:cNvPr id="6146" name="Picture 2"/>
          <p:cNvPicPr>
            <a:picLocks noChangeAspect="1" noChangeArrowheads="1"/>
          </p:cNvPicPr>
          <p:nvPr/>
        </p:nvPicPr>
        <p:blipFill rotWithShape="1">
          <a:blip r:embed="rId2"/>
          <a:srcRect b="48984"/>
          <a:stretch/>
        </p:blipFill>
        <p:spPr bwMode="auto">
          <a:xfrm>
            <a:off x="1219200" y="839451"/>
            <a:ext cx="7010400" cy="3046750"/>
          </a:xfrm>
          <a:prstGeom prst="rect">
            <a:avLst/>
          </a:prstGeom>
          <a:ln>
            <a:noFill/>
          </a:ln>
          <a:effectLst>
            <a:outerShdw blurRad="190500" algn="tl" rotWithShape="0">
              <a:srgbClr val="000000">
                <a:alpha val="70000"/>
              </a:srgbClr>
            </a:outerShdw>
          </a:effectLst>
        </p:spPr>
      </p:pic>
      <p:pic>
        <p:nvPicPr>
          <p:cNvPr id="7" name="Picture 2"/>
          <p:cNvPicPr>
            <a:picLocks noChangeAspect="1" noChangeArrowheads="1"/>
          </p:cNvPicPr>
          <p:nvPr/>
        </p:nvPicPr>
        <p:blipFill rotWithShape="1">
          <a:blip r:embed="rId2"/>
          <a:srcRect t="58671" b="6879"/>
          <a:stretch/>
        </p:blipFill>
        <p:spPr bwMode="auto">
          <a:xfrm>
            <a:off x="1219200" y="4343401"/>
            <a:ext cx="7010400" cy="2057400"/>
          </a:xfrm>
          <a:prstGeom prst="rect">
            <a:avLst/>
          </a:prstGeom>
          <a:ln>
            <a:noFill/>
          </a:ln>
          <a:effectLst>
            <a:outerShdw blurRad="190500" algn="tl" rotWithShape="0">
              <a:srgbClr val="000000">
                <a:alpha val="70000"/>
              </a:srgbClr>
            </a:outerShdw>
          </a:effectLst>
        </p:spPr>
      </p:pic>
      <mc:AlternateContent xmlns:mc="http://schemas.openxmlformats.org/markup-compatibility/2006" xmlns:p14="http://schemas.microsoft.com/office/powerpoint/2010/main">
        <mc:Choice Requires="p14">
          <p:contentPart p14:bwMode="auto" r:id="rId3">
            <p14:nvContentPartPr>
              <p14:cNvPr id="2" name="Ink 1"/>
              <p14:cNvContentPartPr/>
              <p14:nvPr/>
            </p14:nvContentPartPr>
            <p14:xfrm>
              <a:off x="3032280" y="2076120"/>
              <a:ext cx="707760" cy="212760"/>
            </p14:xfrm>
          </p:contentPart>
        </mc:Choice>
        <mc:Fallback xmlns="">
          <p:pic>
            <p:nvPicPr>
              <p:cNvPr id="2" name="Ink 1"/>
              <p:cNvPicPr/>
              <p:nvPr/>
            </p:nvPicPr>
            <p:blipFill>
              <a:blip r:embed="rId4"/>
              <a:stretch>
                <a:fillRect/>
              </a:stretch>
            </p:blipFill>
            <p:spPr>
              <a:xfrm>
                <a:off x="3029400" y="2067840"/>
                <a:ext cx="718920" cy="228960"/>
              </a:xfrm>
              <a:prstGeom prst="rect">
                <a:avLst/>
              </a:prstGeom>
            </p:spPr>
          </p:pic>
        </mc:Fallback>
      </mc:AlternateContent>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913150" y="717030"/>
            <a:ext cx="7482590" cy="4401205"/>
          </a:xfrm>
          <a:prstGeom prst="rect">
            <a:avLst/>
          </a:prstGeom>
          <a:noFill/>
        </p:spPr>
        <p:txBody>
          <a:bodyPr wrap="square" rtlCol="0">
            <a:spAutoFit/>
          </a:bodyPr>
          <a:lstStyle/>
          <a:p>
            <a:pPr marL="442913" indent="-442913" algn="just">
              <a:lnSpc>
                <a:spcPct val="200000"/>
              </a:lnSpc>
              <a:buClr>
                <a:schemeClr val="accent6">
                  <a:lumMod val="50000"/>
                </a:schemeClr>
              </a:buClr>
              <a:buFont typeface="Wingdings" pitchFamily="2" charset="2"/>
              <a:buChar char="v"/>
              <a:tabLst>
                <a:tab pos="465138" algn="l"/>
              </a:tabLst>
            </a:pPr>
            <a:r>
              <a:rPr lang="en-US" sz="2000" dirty="0" smtClean="0"/>
              <a:t>	The field coils or pole coils, which consist of copper wire or strip, 	are former-wound for the correct dimension. Then, the former is removed and wound coil is put into place over the core as shown in Fig.</a:t>
            </a:r>
          </a:p>
          <a:p>
            <a:pPr algn="just">
              <a:lnSpc>
                <a:spcPct val="200000"/>
              </a:lnSpc>
              <a:buClr>
                <a:schemeClr val="accent6">
                  <a:lumMod val="50000"/>
                </a:schemeClr>
              </a:buClr>
              <a:buFont typeface="Wingdings" pitchFamily="2" charset="2"/>
              <a:buChar char="v"/>
              <a:tabLst>
                <a:tab pos="465138" algn="l"/>
              </a:tabLst>
            </a:pPr>
            <a:r>
              <a:rPr lang="en-US" sz="2000" dirty="0" smtClean="0"/>
              <a:t> 	When current is passed through these coils, they 	electromagnetise the poles which produce the necessary flux that 	is cut by revolving armature conductors.</a:t>
            </a:r>
            <a:endParaRPr lang="en-US" sz="2000" dirty="0">
              <a:solidFill>
                <a:srgbClr val="FF0000"/>
              </a:solidFill>
            </a:endParaRPr>
          </a:p>
        </p:txBody>
      </p:sp>
      <p:sp>
        <p:nvSpPr>
          <p:cNvPr id="5" name="Rectangle 4"/>
          <p:cNvSpPr/>
          <p:nvPr/>
        </p:nvSpPr>
        <p:spPr>
          <a:xfrm>
            <a:off x="0" y="0"/>
            <a:ext cx="9144000" cy="6858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TextBox 5"/>
          <p:cNvSpPr txBox="1"/>
          <p:nvPr/>
        </p:nvSpPr>
        <p:spPr>
          <a:xfrm>
            <a:off x="0" y="77450"/>
            <a:ext cx="9144000" cy="523220"/>
          </a:xfrm>
          <a:prstGeom prst="rect">
            <a:avLst/>
          </a:prstGeom>
          <a:noFill/>
        </p:spPr>
        <p:txBody>
          <a:bodyPr wrap="square" rtlCol="0">
            <a:spAutoFit/>
          </a:bodyPr>
          <a:lstStyle/>
          <a:p>
            <a:pPr algn="ctr"/>
            <a:r>
              <a:rPr lang="en-US" sz="2800" b="1" dirty="0" smtClean="0">
                <a:solidFill>
                  <a:schemeClr val="bg1"/>
                </a:solidFill>
                <a:latin typeface="Arial" pitchFamily="34" charset="0"/>
                <a:cs typeface="Arial" pitchFamily="34" charset="0"/>
              </a:rPr>
              <a:t>Pole Coils</a:t>
            </a:r>
            <a:endParaRPr lang="en-US" sz="2800" b="1" dirty="0">
              <a:solidFill>
                <a:schemeClr val="bg1"/>
              </a:solidFill>
              <a:latin typeface="Arial" pitchFamily="34" charset="0"/>
              <a:cs typeface="Arial" pitchFamily="34" charset="0"/>
            </a:endParaRPr>
          </a:p>
        </p:txBody>
      </p:sp>
      <p:sp>
        <p:nvSpPr>
          <p:cNvPr id="7" name="TextBox 6"/>
          <p:cNvSpPr txBox="1"/>
          <p:nvPr/>
        </p:nvSpPr>
        <p:spPr>
          <a:xfrm>
            <a:off x="7924800" y="6367790"/>
            <a:ext cx="685800" cy="261610"/>
          </a:xfrm>
          <a:prstGeom prst="rect">
            <a:avLst/>
          </a:prstGeom>
          <a:noFill/>
        </p:spPr>
        <p:txBody>
          <a:bodyPr wrap="square" rtlCol="0">
            <a:spAutoFit/>
          </a:bodyPr>
          <a:lstStyle/>
          <a:p>
            <a:r>
              <a:rPr lang="en-US" sz="1100" i="1" dirty="0" smtClean="0"/>
              <a:t>Contd….</a:t>
            </a:r>
            <a:endParaRPr lang="en-US" sz="1100" i="1" dirty="0"/>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0" y="0"/>
            <a:ext cx="9144000" cy="6858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TextBox 5"/>
          <p:cNvSpPr txBox="1"/>
          <p:nvPr/>
        </p:nvSpPr>
        <p:spPr>
          <a:xfrm>
            <a:off x="0" y="77450"/>
            <a:ext cx="9144000" cy="523220"/>
          </a:xfrm>
          <a:prstGeom prst="rect">
            <a:avLst/>
          </a:prstGeom>
          <a:noFill/>
        </p:spPr>
        <p:txBody>
          <a:bodyPr wrap="square" rtlCol="0">
            <a:spAutoFit/>
          </a:bodyPr>
          <a:lstStyle/>
          <a:p>
            <a:pPr algn="ctr"/>
            <a:r>
              <a:rPr lang="en-US" sz="2800" b="1" dirty="0" smtClean="0">
                <a:solidFill>
                  <a:schemeClr val="bg1"/>
                </a:solidFill>
                <a:latin typeface="Arial" pitchFamily="34" charset="0"/>
                <a:cs typeface="Arial" pitchFamily="34" charset="0"/>
              </a:rPr>
              <a:t>Pole Coils</a:t>
            </a:r>
            <a:endParaRPr lang="en-US" sz="2800" b="1" dirty="0">
              <a:solidFill>
                <a:schemeClr val="bg1"/>
              </a:solidFill>
              <a:latin typeface="Arial" pitchFamily="34" charset="0"/>
              <a:cs typeface="Arial" pitchFamily="34" charset="0"/>
            </a:endParaRPr>
          </a:p>
        </p:txBody>
      </p:sp>
      <p:pic>
        <p:nvPicPr>
          <p:cNvPr id="7170" name="Picture 2"/>
          <p:cNvPicPr>
            <a:picLocks noChangeAspect="1" noChangeArrowheads="1"/>
          </p:cNvPicPr>
          <p:nvPr/>
        </p:nvPicPr>
        <p:blipFill rotWithShape="1">
          <a:blip r:embed="rId2"/>
          <a:srcRect b="14584"/>
          <a:stretch/>
        </p:blipFill>
        <p:spPr bwMode="auto">
          <a:xfrm>
            <a:off x="1143000" y="1447800"/>
            <a:ext cx="7175716" cy="3124200"/>
          </a:xfrm>
          <a:prstGeom prst="rect">
            <a:avLst/>
          </a:prstGeom>
          <a:ln>
            <a:solidFill>
              <a:schemeClr val="tx1"/>
            </a:solidFill>
          </a:ln>
          <a:effectLst>
            <a:outerShdw blurRad="190500" algn="tl" rotWithShape="0">
              <a:srgbClr val="000000">
                <a:alpha val="70000"/>
              </a:srgbClr>
            </a:outerShdw>
          </a:effectLst>
        </p:spPr>
      </p:pic>
      <mc:AlternateContent xmlns:mc="http://schemas.openxmlformats.org/markup-compatibility/2006" xmlns:p14="http://schemas.microsoft.com/office/powerpoint/2010/main">
        <mc:Choice Requires="p14">
          <p:contentPart p14:bwMode="auto" r:id="rId3">
            <p14:nvContentPartPr>
              <p14:cNvPr id="2" name="Ink 1"/>
              <p14:cNvContentPartPr/>
              <p14:nvPr/>
            </p14:nvContentPartPr>
            <p14:xfrm>
              <a:off x="6432120" y="2782080"/>
              <a:ext cx="545400" cy="240480"/>
            </p14:xfrm>
          </p:contentPart>
        </mc:Choice>
        <mc:Fallback xmlns="">
          <p:pic>
            <p:nvPicPr>
              <p:cNvPr id="2" name="Ink 1"/>
              <p:cNvPicPr/>
              <p:nvPr/>
            </p:nvPicPr>
            <p:blipFill>
              <a:blip r:embed="rId4"/>
              <a:stretch>
                <a:fillRect/>
              </a:stretch>
            </p:blipFill>
            <p:spPr>
              <a:xfrm>
                <a:off x="6425640" y="2774160"/>
                <a:ext cx="559440" cy="255240"/>
              </a:xfrm>
              <a:prstGeom prst="rect">
                <a:avLst/>
              </a:prstGeom>
            </p:spPr>
          </p:pic>
        </mc:Fallback>
      </mc:AlternateContent>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868180" y="762000"/>
            <a:ext cx="7482590" cy="6247864"/>
          </a:xfrm>
          <a:prstGeom prst="rect">
            <a:avLst/>
          </a:prstGeom>
          <a:noFill/>
        </p:spPr>
        <p:txBody>
          <a:bodyPr wrap="square" rtlCol="0">
            <a:spAutoFit/>
          </a:bodyPr>
          <a:lstStyle/>
          <a:p>
            <a:pPr algn="just">
              <a:lnSpc>
                <a:spcPct val="150000"/>
              </a:lnSpc>
              <a:buClr>
                <a:schemeClr val="accent6">
                  <a:lumMod val="50000"/>
                </a:schemeClr>
              </a:buClr>
              <a:buFont typeface="Wingdings" pitchFamily="2" charset="2"/>
              <a:buChar char="v"/>
              <a:tabLst>
                <a:tab pos="465138" algn="l"/>
              </a:tabLst>
            </a:pPr>
            <a:r>
              <a:rPr lang="en-US" sz="2000" dirty="0" smtClean="0"/>
              <a:t> 	It houses the armature conductors or coils and causes them to 	rotate and hence cut the magnetic flux of the field magnets. In 	addition to this, its most important function is to provide a path 	of very low reluctance to the flux through the armature from a </a:t>
            </a:r>
            <a:r>
              <a:rPr lang="en-US" sz="2000" i="1" dirty="0" smtClean="0"/>
              <a:t>N-	pole to a S-pole.</a:t>
            </a:r>
          </a:p>
          <a:p>
            <a:pPr algn="just">
              <a:lnSpc>
                <a:spcPct val="150000"/>
              </a:lnSpc>
              <a:buClr>
                <a:schemeClr val="accent6">
                  <a:lumMod val="50000"/>
                </a:schemeClr>
              </a:buClr>
              <a:buFont typeface="Wingdings" pitchFamily="2" charset="2"/>
              <a:buChar char="v"/>
              <a:tabLst>
                <a:tab pos="465138" algn="l"/>
              </a:tabLst>
            </a:pPr>
            <a:r>
              <a:rPr lang="en-US" sz="2000" i="1" dirty="0" smtClean="0"/>
              <a:t> 	</a:t>
            </a:r>
            <a:r>
              <a:rPr lang="en-US" sz="2000" dirty="0" smtClean="0"/>
              <a:t>It is cylindrical or drum-shaped and is built up of usually circular 	sheet steel discs or laminations approximately 0.5 mm thick (Fig. 	). It is keyed to the shaft.</a:t>
            </a:r>
          </a:p>
          <a:p>
            <a:pPr marL="442913" indent="-442913" algn="just">
              <a:lnSpc>
                <a:spcPct val="150000"/>
              </a:lnSpc>
              <a:buClr>
                <a:schemeClr val="accent6">
                  <a:lumMod val="50000"/>
                </a:schemeClr>
              </a:buClr>
              <a:buFont typeface="Wingdings" pitchFamily="2" charset="2"/>
              <a:buChar char="v"/>
              <a:tabLst>
                <a:tab pos="465138" algn="l"/>
              </a:tabLst>
            </a:pPr>
            <a:r>
              <a:rPr lang="en-US" sz="2000" dirty="0" smtClean="0"/>
              <a:t>	Up to armature diameters of about one metre, the circular 	stampings are cut out in one piece as shown in Fig. But above this size, these circles, especially of such thin sections, are difficult to handle because they tend to distort and become wavy when assembled together.</a:t>
            </a:r>
            <a:endParaRPr lang="en-US" sz="2000" dirty="0">
              <a:solidFill>
                <a:srgbClr val="FF0000"/>
              </a:solidFill>
            </a:endParaRPr>
          </a:p>
        </p:txBody>
      </p:sp>
      <p:sp>
        <p:nvSpPr>
          <p:cNvPr id="5" name="Rectangle 4"/>
          <p:cNvSpPr/>
          <p:nvPr/>
        </p:nvSpPr>
        <p:spPr>
          <a:xfrm>
            <a:off x="0" y="0"/>
            <a:ext cx="9144000" cy="6858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TextBox 5"/>
          <p:cNvSpPr txBox="1"/>
          <p:nvPr/>
        </p:nvSpPr>
        <p:spPr>
          <a:xfrm>
            <a:off x="0" y="77450"/>
            <a:ext cx="9144000" cy="523220"/>
          </a:xfrm>
          <a:prstGeom prst="rect">
            <a:avLst/>
          </a:prstGeom>
          <a:noFill/>
        </p:spPr>
        <p:txBody>
          <a:bodyPr wrap="square" rtlCol="0">
            <a:spAutoFit/>
          </a:bodyPr>
          <a:lstStyle/>
          <a:p>
            <a:pPr algn="ctr"/>
            <a:r>
              <a:rPr lang="en-US" sz="2800" b="1" dirty="0" smtClean="0">
                <a:solidFill>
                  <a:schemeClr val="bg1"/>
                </a:solidFill>
                <a:latin typeface="Arial" pitchFamily="34" charset="0"/>
                <a:cs typeface="Arial" pitchFamily="34" charset="0"/>
              </a:rPr>
              <a:t>Armature Core </a:t>
            </a:r>
            <a:endParaRPr lang="en-US" sz="2800" b="1" dirty="0">
              <a:solidFill>
                <a:schemeClr val="bg1"/>
              </a:solidFill>
              <a:latin typeface="Arial" pitchFamily="34" charset="0"/>
              <a:cs typeface="Arial" pitchFamily="34" charset="0"/>
            </a:endParaRPr>
          </a:p>
        </p:txBody>
      </p:sp>
      <p:sp>
        <p:nvSpPr>
          <p:cNvPr id="7" name="TextBox 6"/>
          <p:cNvSpPr txBox="1"/>
          <p:nvPr/>
        </p:nvSpPr>
        <p:spPr>
          <a:xfrm>
            <a:off x="7924800" y="6367790"/>
            <a:ext cx="685800" cy="261610"/>
          </a:xfrm>
          <a:prstGeom prst="rect">
            <a:avLst/>
          </a:prstGeom>
          <a:noFill/>
        </p:spPr>
        <p:txBody>
          <a:bodyPr wrap="square" rtlCol="0">
            <a:spAutoFit/>
          </a:bodyPr>
          <a:lstStyle/>
          <a:p>
            <a:r>
              <a:rPr lang="en-US" sz="1100" i="1" dirty="0" smtClean="0"/>
              <a:t>Contd….</a:t>
            </a:r>
            <a:endParaRPr lang="en-US" sz="1100" i="1" dirty="0"/>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0" y="0"/>
            <a:ext cx="9144000" cy="6858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TextBox 5"/>
          <p:cNvSpPr txBox="1"/>
          <p:nvPr/>
        </p:nvSpPr>
        <p:spPr>
          <a:xfrm>
            <a:off x="0" y="77450"/>
            <a:ext cx="9144000" cy="523220"/>
          </a:xfrm>
          <a:prstGeom prst="rect">
            <a:avLst/>
          </a:prstGeom>
          <a:noFill/>
        </p:spPr>
        <p:txBody>
          <a:bodyPr wrap="square" rtlCol="0">
            <a:spAutoFit/>
          </a:bodyPr>
          <a:lstStyle/>
          <a:p>
            <a:pPr algn="ctr"/>
            <a:r>
              <a:rPr lang="en-US" sz="2800" b="1" dirty="0" smtClean="0">
                <a:solidFill>
                  <a:schemeClr val="bg1"/>
                </a:solidFill>
                <a:latin typeface="Arial" pitchFamily="34" charset="0"/>
                <a:cs typeface="Arial" pitchFamily="34" charset="0"/>
              </a:rPr>
              <a:t>Armature Core </a:t>
            </a:r>
            <a:endParaRPr lang="en-US" sz="2800" b="1" dirty="0">
              <a:solidFill>
                <a:schemeClr val="bg1"/>
              </a:solidFill>
              <a:latin typeface="Arial" pitchFamily="34" charset="0"/>
              <a:cs typeface="Arial" pitchFamily="34" charset="0"/>
            </a:endParaRPr>
          </a:p>
        </p:txBody>
      </p:sp>
      <p:pic>
        <p:nvPicPr>
          <p:cNvPr id="8194" name="Picture 2"/>
          <p:cNvPicPr>
            <a:picLocks noChangeAspect="1" noChangeArrowheads="1"/>
          </p:cNvPicPr>
          <p:nvPr/>
        </p:nvPicPr>
        <p:blipFill rotWithShape="1">
          <a:blip r:embed="rId2"/>
          <a:srcRect b="10417"/>
          <a:stretch/>
        </p:blipFill>
        <p:spPr bwMode="auto">
          <a:xfrm>
            <a:off x="914400" y="1524000"/>
            <a:ext cx="7622153" cy="3276600"/>
          </a:xfrm>
          <a:prstGeom prst="rect">
            <a:avLst/>
          </a:prstGeom>
          <a:ln w="88900" cap="sq" cmpd="thickThin">
            <a:solidFill>
              <a:srgbClr val="000000"/>
            </a:solidFill>
            <a:prstDash val="solid"/>
            <a:miter lim="800000"/>
          </a:ln>
          <a:effectLst>
            <a:innerShdw blurRad="76200">
              <a:srgbClr val="000000"/>
            </a:innerShdw>
          </a:effectLst>
        </p:spPr>
      </p:pic>
      <mc:AlternateContent xmlns:mc="http://schemas.openxmlformats.org/markup-compatibility/2006" xmlns:p14="http://schemas.microsoft.com/office/powerpoint/2010/main">
        <mc:Choice Requires="p14">
          <p:contentPart p14:bwMode="auto" r:id="rId3">
            <p14:nvContentPartPr>
              <p14:cNvPr id="2" name="Ink 1"/>
              <p14:cNvContentPartPr/>
              <p14:nvPr/>
            </p14:nvContentPartPr>
            <p14:xfrm>
              <a:off x="2774880" y="1855080"/>
              <a:ext cx="4179960" cy="4039560"/>
            </p14:xfrm>
          </p:contentPart>
        </mc:Choice>
        <mc:Fallback xmlns="">
          <p:pic>
            <p:nvPicPr>
              <p:cNvPr id="2" name="Ink 1"/>
              <p:cNvPicPr/>
              <p:nvPr/>
            </p:nvPicPr>
            <p:blipFill>
              <a:blip r:embed="rId4"/>
              <a:stretch>
                <a:fillRect/>
              </a:stretch>
            </p:blipFill>
            <p:spPr>
              <a:xfrm>
                <a:off x="2772360" y="1849680"/>
                <a:ext cx="4185000" cy="4051080"/>
              </a:xfrm>
              <a:prstGeom prst="rect">
                <a:avLst/>
              </a:prstGeom>
            </p:spPr>
          </p:pic>
        </mc:Fallback>
      </mc:AlternateContent>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898160" y="687050"/>
            <a:ext cx="7482590" cy="5546134"/>
          </a:xfrm>
          <a:prstGeom prst="rect">
            <a:avLst/>
          </a:prstGeom>
          <a:noFill/>
        </p:spPr>
        <p:txBody>
          <a:bodyPr wrap="square" rtlCol="0">
            <a:spAutoFit/>
          </a:bodyPr>
          <a:lstStyle/>
          <a:p>
            <a:pPr algn="just">
              <a:lnSpc>
                <a:spcPct val="200000"/>
              </a:lnSpc>
              <a:buClr>
                <a:schemeClr val="accent6">
                  <a:lumMod val="50000"/>
                </a:schemeClr>
              </a:buClr>
              <a:buFont typeface="Wingdings" pitchFamily="2" charset="2"/>
              <a:buChar char="v"/>
              <a:tabLst>
                <a:tab pos="465138" algn="l"/>
              </a:tabLst>
            </a:pPr>
            <a:r>
              <a:rPr lang="en-US" sz="2000" dirty="0" smtClean="0"/>
              <a:t> 	The armature windings are usually former-wound.</a:t>
            </a:r>
          </a:p>
          <a:p>
            <a:pPr algn="just">
              <a:lnSpc>
                <a:spcPct val="200000"/>
              </a:lnSpc>
              <a:buClr>
                <a:schemeClr val="accent6">
                  <a:lumMod val="50000"/>
                </a:schemeClr>
              </a:buClr>
              <a:buFont typeface="Wingdings" pitchFamily="2" charset="2"/>
              <a:buChar char="v"/>
              <a:tabLst>
                <a:tab pos="465138" algn="l"/>
              </a:tabLst>
            </a:pPr>
            <a:r>
              <a:rPr lang="en-US" sz="2000" dirty="0" smtClean="0"/>
              <a:t> 	These are first wound in the form of flat rectangular coils and are 	then pulled into their proper shape in a coil puller. </a:t>
            </a:r>
          </a:p>
          <a:p>
            <a:pPr algn="just">
              <a:lnSpc>
                <a:spcPct val="200000"/>
              </a:lnSpc>
              <a:buClr>
                <a:schemeClr val="accent6">
                  <a:lumMod val="50000"/>
                </a:schemeClr>
              </a:buClr>
              <a:buFont typeface="Wingdings" pitchFamily="2" charset="2"/>
              <a:buChar char="v"/>
              <a:tabLst>
                <a:tab pos="465138" algn="l"/>
              </a:tabLst>
            </a:pPr>
            <a:r>
              <a:rPr lang="en-US" sz="2000" dirty="0" smtClean="0"/>
              <a:t> 	Various conductors of the coils are insulated from each other. </a:t>
            </a:r>
          </a:p>
          <a:p>
            <a:pPr algn="just">
              <a:lnSpc>
                <a:spcPct val="200000"/>
              </a:lnSpc>
              <a:buClr>
                <a:schemeClr val="accent6">
                  <a:lumMod val="50000"/>
                </a:schemeClr>
              </a:buClr>
              <a:buFont typeface="Wingdings" pitchFamily="2" charset="2"/>
              <a:buChar char="v"/>
              <a:tabLst>
                <a:tab pos="465138" algn="l"/>
              </a:tabLst>
            </a:pPr>
            <a:r>
              <a:rPr lang="en-US" sz="2000" dirty="0" smtClean="0"/>
              <a:t> 	The conductors are placed in the armature slots which are lined 	with tough insulating material. </a:t>
            </a:r>
          </a:p>
          <a:p>
            <a:pPr algn="just">
              <a:lnSpc>
                <a:spcPct val="200000"/>
              </a:lnSpc>
              <a:buClr>
                <a:schemeClr val="accent6">
                  <a:lumMod val="50000"/>
                </a:schemeClr>
              </a:buClr>
              <a:buFont typeface="Wingdings" pitchFamily="2" charset="2"/>
              <a:buChar char="v"/>
              <a:tabLst>
                <a:tab pos="465138" algn="l"/>
              </a:tabLst>
            </a:pPr>
            <a:r>
              <a:rPr lang="en-US" sz="2000" dirty="0" smtClean="0"/>
              <a:t> 	This slot insulation is folded over above the armature conductors 	placed in the slot and is secured in place by special hard wooden 	or fibre wedges.</a:t>
            </a:r>
            <a:endParaRPr lang="en-US" sz="2000" dirty="0">
              <a:solidFill>
                <a:srgbClr val="FF0000"/>
              </a:solidFill>
            </a:endParaRPr>
          </a:p>
        </p:txBody>
      </p:sp>
      <p:sp>
        <p:nvSpPr>
          <p:cNvPr id="5" name="Rectangle 4"/>
          <p:cNvSpPr/>
          <p:nvPr/>
        </p:nvSpPr>
        <p:spPr>
          <a:xfrm>
            <a:off x="0" y="0"/>
            <a:ext cx="9144000" cy="6858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TextBox 5"/>
          <p:cNvSpPr txBox="1"/>
          <p:nvPr/>
        </p:nvSpPr>
        <p:spPr>
          <a:xfrm>
            <a:off x="0" y="77450"/>
            <a:ext cx="9144000" cy="523220"/>
          </a:xfrm>
          <a:prstGeom prst="rect">
            <a:avLst/>
          </a:prstGeom>
          <a:noFill/>
        </p:spPr>
        <p:txBody>
          <a:bodyPr wrap="square" rtlCol="0">
            <a:spAutoFit/>
          </a:bodyPr>
          <a:lstStyle/>
          <a:p>
            <a:pPr algn="ctr"/>
            <a:r>
              <a:rPr lang="en-US" sz="2800" b="1" dirty="0" smtClean="0">
                <a:solidFill>
                  <a:schemeClr val="bg1"/>
                </a:solidFill>
                <a:latin typeface="Arial" pitchFamily="34" charset="0"/>
                <a:cs typeface="Arial" pitchFamily="34" charset="0"/>
              </a:rPr>
              <a:t>Armature Windings</a:t>
            </a:r>
            <a:endParaRPr lang="en-US" sz="2800" b="1" dirty="0">
              <a:solidFill>
                <a:schemeClr val="bg1"/>
              </a:solidFill>
              <a:latin typeface="Arial" pitchFamily="34" charset="0"/>
              <a:cs typeface="Arial" pitchFamily="34" charset="0"/>
            </a:endParaRPr>
          </a:p>
        </p:txBody>
      </p:sp>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868180" y="762000"/>
            <a:ext cx="7482590" cy="1938992"/>
          </a:xfrm>
          <a:prstGeom prst="rect">
            <a:avLst/>
          </a:prstGeom>
          <a:noFill/>
        </p:spPr>
        <p:txBody>
          <a:bodyPr wrap="square" rtlCol="0">
            <a:spAutoFit/>
          </a:bodyPr>
          <a:lstStyle/>
          <a:p>
            <a:pPr algn="just">
              <a:lnSpc>
                <a:spcPct val="150000"/>
              </a:lnSpc>
              <a:buClr>
                <a:schemeClr val="accent6">
                  <a:lumMod val="50000"/>
                </a:schemeClr>
              </a:buClr>
              <a:buFont typeface="Wingdings" pitchFamily="2" charset="2"/>
              <a:buChar char="v"/>
              <a:tabLst>
                <a:tab pos="465138" algn="l"/>
              </a:tabLst>
            </a:pPr>
            <a:r>
              <a:rPr lang="en-US" sz="2000" dirty="0" smtClean="0"/>
              <a:t> 	The function of the commutator is to facilitate collection of 	current from the armature conductors.</a:t>
            </a:r>
          </a:p>
          <a:p>
            <a:pPr algn="just">
              <a:lnSpc>
                <a:spcPct val="150000"/>
              </a:lnSpc>
              <a:buClr>
                <a:schemeClr val="accent6">
                  <a:lumMod val="50000"/>
                </a:schemeClr>
              </a:buClr>
              <a:buFont typeface="Wingdings" pitchFamily="2" charset="2"/>
              <a:buChar char="v"/>
              <a:tabLst>
                <a:tab pos="465138" algn="l"/>
              </a:tabLst>
            </a:pPr>
            <a:r>
              <a:rPr lang="en-US" sz="2000" dirty="0" smtClean="0"/>
              <a:t> 	A sectional view of commutator is shown in Fig. whose 	general appearance when completed is shown in Fig.</a:t>
            </a:r>
            <a:endParaRPr lang="en-US" sz="2000" dirty="0">
              <a:solidFill>
                <a:srgbClr val="FF0000"/>
              </a:solidFill>
            </a:endParaRPr>
          </a:p>
        </p:txBody>
      </p:sp>
      <p:sp>
        <p:nvSpPr>
          <p:cNvPr id="5" name="Rectangle 4"/>
          <p:cNvSpPr/>
          <p:nvPr/>
        </p:nvSpPr>
        <p:spPr>
          <a:xfrm>
            <a:off x="0" y="0"/>
            <a:ext cx="9144000" cy="6858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TextBox 5"/>
          <p:cNvSpPr txBox="1"/>
          <p:nvPr/>
        </p:nvSpPr>
        <p:spPr>
          <a:xfrm>
            <a:off x="0" y="77450"/>
            <a:ext cx="9144000" cy="523220"/>
          </a:xfrm>
          <a:prstGeom prst="rect">
            <a:avLst/>
          </a:prstGeom>
          <a:noFill/>
        </p:spPr>
        <p:txBody>
          <a:bodyPr wrap="square" rtlCol="0">
            <a:spAutoFit/>
          </a:bodyPr>
          <a:lstStyle/>
          <a:p>
            <a:pPr algn="ctr"/>
            <a:r>
              <a:rPr lang="en-US" sz="2800" b="1" dirty="0" smtClean="0">
                <a:solidFill>
                  <a:schemeClr val="bg1"/>
                </a:solidFill>
                <a:latin typeface="Arial" pitchFamily="34" charset="0"/>
                <a:cs typeface="Arial" pitchFamily="34" charset="0"/>
              </a:rPr>
              <a:t>Commutator</a:t>
            </a:r>
            <a:endParaRPr lang="en-US" sz="2800" b="1" dirty="0">
              <a:solidFill>
                <a:schemeClr val="bg1"/>
              </a:solidFill>
              <a:latin typeface="Arial" pitchFamily="34" charset="0"/>
              <a:cs typeface="Arial" pitchFamily="34" charset="0"/>
            </a:endParaRPr>
          </a:p>
        </p:txBody>
      </p:sp>
      <p:pic>
        <p:nvPicPr>
          <p:cNvPr id="1026" name="Picture 2"/>
          <p:cNvPicPr>
            <a:picLocks noChangeAspect="1" noChangeArrowheads="1"/>
          </p:cNvPicPr>
          <p:nvPr/>
        </p:nvPicPr>
        <p:blipFill rotWithShape="1">
          <a:blip r:embed="rId2"/>
          <a:srcRect b="10109"/>
          <a:stretch/>
        </p:blipFill>
        <p:spPr bwMode="auto">
          <a:xfrm>
            <a:off x="974360" y="2941821"/>
            <a:ext cx="7280844" cy="3077980"/>
          </a:xfrm>
          <a:prstGeom prst="rect">
            <a:avLst/>
          </a:prstGeom>
          <a:ln>
            <a:solidFill>
              <a:schemeClr val="tx1"/>
            </a:solidFill>
          </a:ln>
          <a:effectLst>
            <a:outerShdw blurRad="292100" dist="139700" dir="2700000" algn="tl" rotWithShape="0">
              <a:srgbClr val="333333">
                <a:alpha val="65000"/>
              </a:srgbClr>
            </a:outerShdw>
          </a:effectLst>
        </p:spPr>
      </p:pic>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868180" y="762000"/>
            <a:ext cx="7482590" cy="2862322"/>
          </a:xfrm>
          <a:prstGeom prst="rect">
            <a:avLst/>
          </a:prstGeom>
          <a:noFill/>
        </p:spPr>
        <p:txBody>
          <a:bodyPr wrap="square" rtlCol="0">
            <a:spAutoFit/>
          </a:bodyPr>
          <a:lstStyle/>
          <a:p>
            <a:pPr algn="just">
              <a:lnSpc>
                <a:spcPct val="150000"/>
              </a:lnSpc>
              <a:buClr>
                <a:schemeClr val="accent6">
                  <a:lumMod val="50000"/>
                </a:schemeClr>
              </a:buClr>
              <a:buFont typeface="Wingdings" pitchFamily="2" charset="2"/>
              <a:buChar char="v"/>
              <a:tabLst>
                <a:tab pos="465138" algn="l"/>
              </a:tabLst>
            </a:pPr>
            <a:r>
              <a:rPr lang="en-US" sz="2000" dirty="0" smtClean="0"/>
              <a:t>  	The brushes whose function is to collect current from 	commutator, are usually made of carbon or graphite and are in 	the shape of a rectangular block. These brushes are housed in 	brush-holders usually of the box-type variety. As shown in Fig. 	, the brush-holder is mounted on a spindle and the brushes 	can slide in the rectangular box open at both ends.</a:t>
            </a:r>
            <a:endParaRPr lang="en-US" sz="2000" dirty="0">
              <a:solidFill>
                <a:srgbClr val="FF0000"/>
              </a:solidFill>
            </a:endParaRPr>
          </a:p>
        </p:txBody>
      </p:sp>
      <p:sp>
        <p:nvSpPr>
          <p:cNvPr id="5" name="Rectangle 4"/>
          <p:cNvSpPr/>
          <p:nvPr/>
        </p:nvSpPr>
        <p:spPr>
          <a:xfrm>
            <a:off x="0" y="0"/>
            <a:ext cx="9144000" cy="6858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TextBox 5"/>
          <p:cNvSpPr txBox="1"/>
          <p:nvPr/>
        </p:nvSpPr>
        <p:spPr>
          <a:xfrm>
            <a:off x="0" y="77450"/>
            <a:ext cx="9144000" cy="523220"/>
          </a:xfrm>
          <a:prstGeom prst="rect">
            <a:avLst/>
          </a:prstGeom>
          <a:noFill/>
        </p:spPr>
        <p:txBody>
          <a:bodyPr wrap="square" rtlCol="0">
            <a:spAutoFit/>
          </a:bodyPr>
          <a:lstStyle/>
          <a:p>
            <a:pPr algn="ctr"/>
            <a:r>
              <a:rPr lang="en-US" sz="2800" b="1" dirty="0" smtClean="0">
                <a:solidFill>
                  <a:schemeClr val="bg1"/>
                </a:solidFill>
                <a:latin typeface="Arial" pitchFamily="34" charset="0"/>
                <a:cs typeface="Arial" pitchFamily="34" charset="0"/>
              </a:rPr>
              <a:t>Brushes and Bearings</a:t>
            </a:r>
            <a:endParaRPr lang="en-US" sz="2800" b="1" dirty="0">
              <a:solidFill>
                <a:schemeClr val="bg1"/>
              </a:solidFill>
              <a:latin typeface="Arial" pitchFamily="34" charset="0"/>
              <a:cs typeface="Arial" pitchFamily="34" charset="0"/>
            </a:endParaRPr>
          </a:p>
        </p:txBody>
      </p:sp>
      <p:pic>
        <p:nvPicPr>
          <p:cNvPr id="3074" name="Picture 2"/>
          <p:cNvPicPr>
            <a:picLocks noChangeAspect="1" noChangeArrowheads="1"/>
          </p:cNvPicPr>
          <p:nvPr/>
        </p:nvPicPr>
        <p:blipFill rotWithShape="1">
          <a:blip r:embed="rId2"/>
          <a:srcRect r="50603"/>
          <a:stretch/>
        </p:blipFill>
        <p:spPr bwMode="auto">
          <a:xfrm>
            <a:off x="1447800" y="3568910"/>
            <a:ext cx="3124200" cy="3074026"/>
          </a:xfrm>
          <a:prstGeom prst="rect">
            <a:avLst/>
          </a:prstGeom>
          <a:ln>
            <a:solidFill>
              <a:schemeClr val="tx1"/>
            </a:solidFill>
          </a:ln>
          <a:effectLst>
            <a:outerShdw blurRad="292100" dist="139700" dir="2700000" algn="tl" rotWithShape="0">
              <a:srgbClr val="333333">
                <a:alpha val="65000"/>
              </a:srgbClr>
            </a:outerShdw>
          </a:effectLst>
        </p:spPr>
      </p:pic>
      <p:pic>
        <p:nvPicPr>
          <p:cNvPr id="7" name="Picture 2"/>
          <p:cNvPicPr>
            <a:picLocks noChangeAspect="1" noChangeArrowheads="1"/>
          </p:cNvPicPr>
          <p:nvPr/>
        </p:nvPicPr>
        <p:blipFill rotWithShape="1">
          <a:blip r:embed="rId2"/>
          <a:srcRect l="51807" b="12834"/>
          <a:stretch/>
        </p:blipFill>
        <p:spPr bwMode="auto">
          <a:xfrm>
            <a:off x="5302770" y="3766178"/>
            <a:ext cx="3048000" cy="2679490"/>
          </a:xfrm>
          <a:prstGeom prst="rect">
            <a:avLst/>
          </a:prstGeom>
          <a:ln>
            <a:solidFill>
              <a:schemeClr val="tx1"/>
            </a:solidFill>
          </a:ln>
          <a:effectLst>
            <a:outerShdw blurRad="292100" dist="139700" dir="2700000" algn="tl" rotWithShape="0">
              <a:srgbClr val="333333">
                <a:alpha val="65000"/>
              </a:srgbClr>
            </a:outerShdw>
          </a:effectLst>
        </p:spPr>
      </p:pic>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33400" y="1165419"/>
            <a:ext cx="3703820" cy="4930581"/>
          </a:xfrm>
          <a:prstGeom prst="rect">
            <a:avLst/>
          </a:prstGeom>
          <a:noFill/>
        </p:spPr>
        <p:txBody>
          <a:bodyPr wrap="square" rtlCol="0">
            <a:spAutoFit/>
          </a:bodyPr>
          <a:lstStyle/>
          <a:p>
            <a:pPr algn="just">
              <a:lnSpc>
                <a:spcPct val="200000"/>
              </a:lnSpc>
              <a:buClr>
                <a:schemeClr val="accent6">
                  <a:lumMod val="50000"/>
                </a:schemeClr>
              </a:buClr>
              <a:buFont typeface="Wingdings" pitchFamily="2" charset="2"/>
              <a:buChar char="v"/>
              <a:tabLst>
                <a:tab pos="465138" algn="l"/>
              </a:tabLst>
            </a:pPr>
            <a:r>
              <a:rPr lang="en-US" sz="2000" dirty="0" smtClean="0"/>
              <a:t> 	Now, we will discuss the 	winding of an actual 	armature. But before doing 	this, the meaning of the 	following terms used in 	connection with armature 	winding should be clearly 	kept in mind.</a:t>
            </a:r>
            <a:endParaRPr lang="en-US" sz="2000" dirty="0">
              <a:solidFill>
                <a:srgbClr val="FF0000"/>
              </a:solidFill>
            </a:endParaRPr>
          </a:p>
        </p:txBody>
      </p:sp>
      <p:sp>
        <p:nvSpPr>
          <p:cNvPr id="5" name="Rectangle 4"/>
          <p:cNvSpPr/>
          <p:nvPr/>
        </p:nvSpPr>
        <p:spPr>
          <a:xfrm>
            <a:off x="0" y="0"/>
            <a:ext cx="9144000" cy="6858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TextBox 5"/>
          <p:cNvSpPr txBox="1"/>
          <p:nvPr/>
        </p:nvSpPr>
        <p:spPr>
          <a:xfrm>
            <a:off x="0" y="77450"/>
            <a:ext cx="9144000" cy="523220"/>
          </a:xfrm>
          <a:prstGeom prst="rect">
            <a:avLst/>
          </a:prstGeom>
          <a:noFill/>
        </p:spPr>
        <p:txBody>
          <a:bodyPr wrap="square" rtlCol="0">
            <a:spAutoFit/>
          </a:bodyPr>
          <a:lstStyle/>
          <a:p>
            <a:pPr algn="ctr"/>
            <a:r>
              <a:rPr lang="en-US" sz="2800" b="1" dirty="0" smtClean="0">
                <a:solidFill>
                  <a:schemeClr val="bg1"/>
                </a:solidFill>
                <a:latin typeface="Arial" pitchFamily="34" charset="0"/>
                <a:cs typeface="Arial" pitchFamily="34" charset="0"/>
              </a:rPr>
              <a:t>Armature Windings</a:t>
            </a:r>
            <a:endParaRPr lang="en-US" sz="2800" b="1" dirty="0">
              <a:solidFill>
                <a:schemeClr val="bg1"/>
              </a:solidFill>
              <a:latin typeface="Arial" pitchFamily="34" charset="0"/>
              <a:cs typeface="Arial" pitchFamily="34" charset="0"/>
            </a:endParaRPr>
          </a:p>
        </p:txBody>
      </p:sp>
      <p:pic>
        <p:nvPicPr>
          <p:cNvPr id="2051" name="Picture 3"/>
          <p:cNvPicPr>
            <a:picLocks noChangeAspect="1" noChangeArrowheads="1"/>
          </p:cNvPicPr>
          <p:nvPr/>
        </p:nvPicPr>
        <p:blipFill>
          <a:blip r:embed="rId2"/>
          <a:srcRect/>
          <a:stretch>
            <a:fillRect/>
          </a:stretch>
        </p:blipFill>
        <p:spPr bwMode="auto">
          <a:xfrm>
            <a:off x="4648200" y="1828800"/>
            <a:ext cx="3855600" cy="3200400"/>
          </a:xfrm>
          <a:prstGeom prst="round2DiagRect">
            <a:avLst>
              <a:gd name="adj1" fmla="val 16667"/>
              <a:gd name="adj2" fmla="val 0"/>
            </a:avLst>
          </a:prstGeom>
          <a:ln w="88900" cap="sq">
            <a:solidFill>
              <a:srgbClr val="FFFFFF"/>
            </a:solidFill>
            <a:miter lim="800000"/>
          </a:ln>
          <a:effectLst>
            <a:outerShdw blurRad="254000" algn="tl" rotWithShape="0">
              <a:srgbClr val="000000">
                <a:alpha val="43000"/>
              </a:srgbClr>
            </a:outerShdw>
          </a:effectLst>
        </p:spPr>
      </p:pic>
      <mc:AlternateContent xmlns:mc="http://schemas.openxmlformats.org/markup-compatibility/2006" xmlns:p14="http://schemas.microsoft.com/office/powerpoint/2010/main">
        <mc:Choice Requires="p14">
          <p:contentPart p14:bwMode="auto" r:id="rId3">
            <p14:nvContentPartPr>
              <p14:cNvPr id="3" name="Ink 2"/>
              <p14:cNvContentPartPr/>
              <p14:nvPr/>
            </p14:nvContentPartPr>
            <p14:xfrm>
              <a:off x="5860080" y="2568600"/>
              <a:ext cx="3093480" cy="1215360"/>
            </p14:xfrm>
          </p:contentPart>
        </mc:Choice>
        <mc:Fallback xmlns="">
          <p:pic>
            <p:nvPicPr>
              <p:cNvPr id="3" name="Ink 2"/>
              <p:cNvPicPr/>
              <p:nvPr/>
            </p:nvPicPr>
            <p:blipFill>
              <a:blip r:embed="rId4"/>
              <a:stretch>
                <a:fillRect/>
              </a:stretch>
            </p:blipFill>
            <p:spPr>
              <a:xfrm>
                <a:off x="5857200" y="2563200"/>
                <a:ext cx="3098880" cy="1226520"/>
              </a:xfrm>
              <a:prstGeom prst="rect">
                <a:avLst/>
              </a:prstGeom>
            </p:spPr>
          </p:pic>
        </mc:Fallback>
      </mc:AlternateContent>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913150" y="654570"/>
            <a:ext cx="7482590" cy="3699474"/>
          </a:xfrm>
          <a:prstGeom prst="rect">
            <a:avLst/>
          </a:prstGeom>
          <a:noFill/>
        </p:spPr>
        <p:txBody>
          <a:bodyPr wrap="square" rtlCol="0">
            <a:spAutoFit/>
          </a:bodyPr>
          <a:lstStyle/>
          <a:p>
            <a:pPr algn="just">
              <a:lnSpc>
                <a:spcPct val="200000"/>
              </a:lnSpc>
              <a:buClr>
                <a:schemeClr val="accent6">
                  <a:lumMod val="50000"/>
                </a:schemeClr>
              </a:buClr>
              <a:tabLst>
                <a:tab pos="465138" algn="l"/>
              </a:tabLst>
            </a:pPr>
            <a:r>
              <a:rPr lang="en-US" sz="2000" dirty="0" smtClean="0"/>
              <a:t>It may be variously defined as :</a:t>
            </a:r>
          </a:p>
          <a:p>
            <a:pPr algn="just">
              <a:lnSpc>
                <a:spcPct val="200000"/>
              </a:lnSpc>
              <a:buClr>
                <a:schemeClr val="accent6">
                  <a:lumMod val="50000"/>
                </a:schemeClr>
              </a:buClr>
              <a:buFont typeface="Wingdings" pitchFamily="2" charset="2"/>
              <a:buChar char="v"/>
              <a:tabLst>
                <a:tab pos="465138" algn="l"/>
              </a:tabLst>
            </a:pPr>
            <a:r>
              <a:rPr lang="en-US" sz="2000" dirty="0" smtClean="0"/>
              <a:t> 	The periphery of the armature divided by the number of poles of 	the generator i.e. the distance between two adjacent poles.</a:t>
            </a:r>
          </a:p>
          <a:p>
            <a:pPr algn="just">
              <a:lnSpc>
                <a:spcPct val="200000"/>
              </a:lnSpc>
              <a:buClr>
                <a:schemeClr val="accent6">
                  <a:lumMod val="50000"/>
                </a:schemeClr>
              </a:buClr>
              <a:buFont typeface="Wingdings" pitchFamily="2" charset="2"/>
              <a:buChar char="v"/>
              <a:tabLst>
                <a:tab pos="465138" algn="l"/>
              </a:tabLst>
            </a:pPr>
            <a:r>
              <a:rPr lang="en-US" sz="2000" dirty="0" smtClean="0"/>
              <a:t> 	It is equal to the number of armature conductors (or armature 	slots) per pole. If there are 48 conductors and 4 poles, the pole 	pitch is 48/4 = 12.	</a:t>
            </a:r>
            <a:endParaRPr lang="en-US" sz="2000" dirty="0">
              <a:solidFill>
                <a:srgbClr val="FF0000"/>
              </a:solidFill>
            </a:endParaRPr>
          </a:p>
        </p:txBody>
      </p:sp>
      <p:sp>
        <p:nvSpPr>
          <p:cNvPr id="5" name="Rectangle 4"/>
          <p:cNvSpPr/>
          <p:nvPr/>
        </p:nvSpPr>
        <p:spPr>
          <a:xfrm>
            <a:off x="0" y="0"/>
            <a:ext cx="9144000" cy="6858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TextBox 5"/>
          <p:cNvSpPr txBox="1"/>
          <p:nvPr/>
        </p:nvSpPr>
        <p:spPr>
          <a:xfrm>
            <a:off x="0" y="77450"/>
            <a:ext cx="9144000" cy="523220"/>
          </a:xfrm>
          <a:prstGeom prst="rect">
            <a:avLst/>
          </a:prstGeom>
          <a:noFill/>
        </p:spPr>
        <p:txBody>
          <a:bodyPr wrap="square" rtlCol="0">
            <a:spAutoFit/>
          </a:bodyPr>
          <a:lstStyle/>
          <a:p>
            <a:pPr algn="ctr"/>
            <a:r>
              <a:rPr lang="en-US" sz="2800" b="1" dirty="0" smtClean="0">
                <a:solidFill>
                  <a:schemeClr val="bg1"/>
                </a:solidFill>
                <a:latin typeface="Arial" pitchFamily="34" charset="0"/>
                <a:cs typeface="Arial" pitchFamily="34" charset="0"/>
              </a:rPr>
              <a:t>Pole – Pitch </a:t>
            </a:r>
            <a:endParaRPr lang="en-US" sz="2800" b="1" dirty="0">
              <a:solidFill>
                <a:schemeClr val="bg1"/>
              </a:solidFill>
              <a:latin typeface="Arial" pitchFamily="34" charset="0"/>
              <a:cs typeface="Arial" pitchFamily="34" charset="0"/>
            </a:endParaRPr>
          </a:p>
        </p:txBody>
      </p:sp>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85800" y="1371600"/>
            <a:ext cx="7482590" cy="1477328"/>
          </a:xfrm>
          <a:prstGeom prst="rect">
            <a:avLst/>
          </a:prstGeom>
          <a:noFill/>
        </p:spPr>
        <p:txBody>
          <a:bodyPr wrap="square" rtlCol="0">
            <a:spAutoFit/>
          </a:bodyPr>
          <a:lstStyle/>
          <a:p>
            <a:pPr algn="just">
              <a:lnSpc>
                <a:spcPct val="150000"/>
              </a:lnSpc>
              <a:buClr>
                <a:schemeClr val="accent6">
                  <a:lumMod val="50000"/>
                </a:schemeClr>
              </a:buClr>
              <a:buFont typeface="Wingdings" pitchFamily="2" charset="2"/>
              <a:buChar char="v"/>
              <a:tabLst>
                <a:tab pos="465138" algn="l"/>
              </a:tabLst>
            </a:pPr>
            <a:r>
              <a:rPr lang="en-US" sz="2000" dirty="0" smtClean="0"/>
              <a:t> 	The length of a wire lying in the magnetic field and in which an 	e.m.f. is induced, is called a conductor (or inductor) as, for 	example, length </a:t>
            </a:r>
            <a:r>
              <a:rPr lang="en-US" sz="2000" i="1" dirty="0" smtClean="0"/>
              <a:t>AB or CD in Fig. </a:t>
            </a:r>
            <a:r>
              <a:rPr lang="en-US" sz="2000" dirty="0" smtClean="0"/>
              <a:t>	</a:t>
            </a:r>
            <a:endParaRPr lang="en-US" sz="2000" dirty="0">
              <a:solidFill>
                <a:srgbClr val="FF0000"/>
              </a:solidFill>
            </a:endParaRPr>
          </a:p>
        </p:txBody>
      </p:sp>
      <p:sp>
        <p:nvSpPr>
          <p:cNvPr id="5" name="Rectangle 4"/>
          <p:cNvSpPr/>
          <p:nvPr/>
        </p:nvSpPr>
        <p:spPr>
          <a:xfrm>
            <a:off x="0" y="0"/>
            <a:ext cx="9144000" cy="6858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TextBox 5"/>
          <p:cNvSpPr txBox="1"/>
          <p:nvPr/>
        </p:nvSpPr>
        <p:spPr>
          <a:xfrm>
            <a:off x="0" y="77450"/>
            <a:ext cx="9144000" cy="523220"/>
          </a:xfrm>
          <a:prstGeom prst="rect">
            <a:avLst/>
          </a:prstGeom>
          <a:noFill/>
        </p:spPr>
        <p:txBody>
          <a:bodyPr wrap="square" rtlCol="0">
            <a:spAutoFit/>
          </a:bodyPr>
          <a:lstStyle/>
          <a:p>
            <a:pPr algn="ctr"/>
            <a:r>
              <a:rPr lang="en-US" sz="2800" b="1" dirty="0" smtClean="0">
                <a:solidFill>
                  <a:schemeClr val="bg1"/>
                </a:solidFill>
                <a:latin typeface="Arial" pitchFamily="34" charset="0"/>
                <a:cs typeface="Arial" pitchFamily="34" charset="0"/>
              </a:rPr>
              <a:t>Conductor</a:t>
            </a:r>
            <a:endParaRPr lang="en-US" sz="2800" b="1" dirty="0">
              <a:solidFill>
                <a:schemeClr val="bg1"/>
              </a:solidFill>
              <a:latin typeface="Arial" pitchFamily="34" charset="0"/>
              <a:cs typeface="Arial" pitchFamily="34" charset="0"/>
            </a:endParaRPr>
          </a:p>
        </p:txBody>
      </p:sp>
      <p:pic>
        <p:nvPicPr>
          <p:cNvPr id="7" name="Picture 2"/>
          <p:cNvPicPr>
            <a:picLocks noChangeAspect="1" noChangeArrowheads="1"/>
          </p:cNvPicPr>
          <p:nvPr/>
        </p:nvPicPr>
        <p:blipFill rotWithShape="1">
          <a:blip r:embed="rId2"/>
          <a:srcRect r="46936" b="9524"/>
          <a:stretch/>
        </p:blipFill>
        <p:spPr bwMode="auto">
          <a:xfrm>
            <a:off x="2918710" y="3724090"/>
            <a:ext cx="3657600" cy="2573867"/>
          </a:xfrm>
          <a:prstGeom prst="rect">
            <a:avLst/>
          </a:prstGeom>
          <a:ln>
            <a:solidFill>
              <a:schemeClr val="tx1"/>
            </a:solidFill>
          </a:ln>
          <a:effectLst>
            <a:outerShdw blurRad="190500" algn="tl" rotWithShape="0">
              <a:srgbClr val="000000">
                <a:alpha val="70000"/>
              </a:srgbClr>
            </a:outerShdw>
          </a:effectLst>
        </p:spPr>
      </p:pic>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913150" y="762000"/>
            <a:ext cx="7482590" cy="4969053"/>
          </a:xfrm>
          <a:prstGeom prst="rect">
            <a:avLst/>
          </a:prstGeom>
          <a:noFill/>
        </p:spPr>
        <p:txBody>
          <a:bodyPr wrap="square" rtlCol="0">
            <a:spAutoFit/>
          </a:bodyPr>
          <a:lstStyle/>
          <a:p>
            <a:pPr algn="just">
              <a:lnSpc>
                <a:spcPct val="150000"/>
              </a:lnSpc>
              <a:spcBef>
                <a:spcPts val="1200"/>
              </a:spcBef>
              <a:buClr>
                <a:schemeClr val="accent6">
                  <a:lumMod val="50000"/>
                </a:schemeClr>
              </a:buClr>
              <a:buFont typeface="Wingdings" pitchFamily="2" charset="2"/>
              <a:buChar char="v"/>
              <a:tabLst>
                <a:tab pos="465138" algn="l"/>
              </a:tabLst>
            </a:pPr>
            <a:r>
              <a:rPr lang="en-US" sz="2000" dirty="0" smtClean="0"/>
              <a:t>  	With reference to Fig., the two conductors </a:t>
            </a:r>
            <a:r>
              <a:rPr lang="en-US" sz="2000" i="1" dirty="0" smtClean="0"/>
              <a:t>AB and CD along 	with their end connections </a:t>
            </a:r>
            <a:r>
              <a:rPr lang="en-US" sz="2000" dirty="0" smtClean="0"/>
              <a:t>constitute one coil of the armature 	winding. </a:t>
            </a:r>
          </a:p>
          <a:p>
            <a:pPr algn="just">
              <a:lnSpc>
                <a:spcPct val="150000"/>
              </a:lnSpc>
              <a:spcBef>
                <a:spcPts val="1200"/>
              </a:spcBef>
              <a:buClr>
                <a:schemeClr val="accent6">
                  <a:lumMod val="50000"/>
                </a:schemeClr>
              </a:buClr>
              <a:buFont typeface="Wingdings" pitchFamily="2" charset="2"/>
              <a:buChar char="v"/>
              <a:tabLst>
                <a:tab pos="465138" algn="l"/>
              </a:tabLst>
            </a:pPr>
            <a:r>
              <a:rPr lang="en-US" sz="2000" dirty="0" smtClean="0"/>
              <a:t> 	The coil may be single-turn coil (Fig.) or multi-turn coil (Fig. 	). A single-turn coil will have two conductors. But a multi-	turn coil may have many conductors per coil side. In Fig., for 	example, each coil side has 3 conductors. </a:t>
            </a:r>
          </a:p>
          <a:p>
            <a:pPr algn="just">
              <a:lnSpc>
                <a:spcPct val="150000"/>
              </a:lnSpc>
              <a:spcBef>
                <a:spcPts val="1200"/>
              </a:spcBef>
              <a:buClr>
                <a:schemeClr val="accent6">
                  <a:lumMod val="50000"/>
                </a:schemeClr>
              </a:buClr>
              <a:buFont typeface="Wingdings" pitchFamily="2" charset="2"/>
              <a:buChar char="v"/>
              <a:tabLst>
                <a:tab pos="465138" algn="l"/>
              </a:tabLst>
            </a:pPr>
            <a:r>
              <a:rPr lang="en-US" sz="2000" dirty="0" smtClean="0"/>
              <a:t> 	The group of wires or conductors constituting a coil side of a 	multi-turn coil is wrapped with a tape as a unit (Fig.) and is 	placed in the armature slot.</a:t>
            </a:r>
            <a:endParaRPr lang="en-US" sz="2000" dirty="0">
              <a:solidFill>
                <a:srgbClr val="FF0000"/>
              </a:solidFill>
            </a:endParaRPr>
          </a:p>
        </p:txBody>
      </p:sp>
      <p:sp>
        <p:nvSpPr>
          <p:cNvPr id="5" name="Rectangle 4"/>
          <p:cNvSpPr/>
          <p:nvPr/>
        </p:nvSpPr>
        <p:spPr>
          <a:xfrm>
            <a:off x="0" y="0"/>
            <a:ext cx="9144000" cy="6858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TextBox 5"/>
          <p:cNvSpPr txBox="1"/>
          <p:nvPr/>
        </p:nvSpPr>
        <p:spPr>
          <a:xfrm>
            <a:off x="0" y="77450"/>
            <a:ext cx="9144000" cy="523220"/>
          </a:xfrm>
          <a:prstGeom prst="rect">
            <a:avLst/>
          </a:prstGeom>
          <a:noFill/>
        </p:spPr>
        <p:txBody>
          <a:bodyPr wrap="square" rtlCol="0">
            <a:spAutoFit/>
          </a:bodyPr>
          <a:lstStyle/>
          <a:p>
            <a:pPr algn="ctr"/>
            <a:r>
              <a:rPr lang="en-US" sz="2800" b="1" dirty="0" smtClean="0">
                <a:solidFill>
                  <a:schemeClr val="bg1"/>
                </a:solidFill>
                <a:latin typeface="Arial" pitchFamily="34" charset="0"/>
                <a:cs typeface="Arial" pitchFamily="34" charset="0"/>
              </a:rPr>
              <a:t>Coil and Winding Element</a:t>
            </a:r>
            <a:endParaRPr lang="en-US" sz="2800" b="1" dirty="0">
              <a:solidFill>
                <a:schemeClr val="bg1"/>
              </a:solidFill>
              <a:latin typeface="Arial" pitchFamily="34" charset="0"/>
              <a:cs typeface="Arial" pitchFamily="34" charset="0"/>
            </a:endParaRPr>
          </a:p>
        </p:txBody>
      </p:sp>
      <p:sp>
        <p:nvSpPr>
          <p:cNvPr id="7" name="TextBox 6"/>
          <p:cNvSpPr txBox="1"/>
          <p:nvPr/>
        </p:nvSpPr>
        <p:spPr>
          <a:xfrm>
            <a:off x="7924800" y="6367790"/>
            <a:ext cx="685800" cy="261610"/>
          </a:xfrm>
          <a:prstGeom prst="rect">
            <a:avLst/>
          </a:prstGeom>
          <a:noFill/>
        </p:spPr>
        <p:txBody>
          <a:bodyPr wrap="square" rtlCol="0">
            <a:spAutoFit/>
          </a:bodyPr>
          <a:lstStyle/>
          <a:p>
            <a:r>
              <a:rPr lang="en-US" sz="1100" i="1" dirty="0" smtClean="0"/>
              <a:t>Contd….</a:t>
            </a:r>
            <a:endParaRPr lang="en-US" sz="1100" i="1" dirty="0"/>
          </a:p>
        </p:txBody>
      </p:sp>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0" y="0"/>
            <a:ext cx="9144000" cy="6858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TextBox 5"/>
          <p:cNvSpPr txBox="1"/>
          <p:nvPr/>
        </p:nvSpPr>
        <p:spPr>
          <a:xfrm>
            <a:off x="0" y="77450"/>
            <a:ext cx="9144000" cy="523220"/>
          </a:xfrm>
          <a:prstGeom prst="rect">
            <a:avLst/>
          </a:prstGeom>
          <a:noFill/>
        </p:spPr>
        <p:txBody>
          <a:bodyPr wrap="square" rtlCol="0">
            <a:spAutoFit/>
          </a:bodyPr>
          <a:lstStyle/>
          <a:p>
            <a:pPr algn="ctr"/>
            <a:r>
              <a:rPr lang="en-US" sz="2800" b="1" dirty="0" smtClean="0">
                <a:solidFill>
                  <a:schemeClr val="bg1"/>
                </a:solidFill>
                <a:latin typeface="Arial" pitchFamily="34" charset="0"/>
                <a:cs typeface="Arial" pitchFamily="34" charset="0"/>
              </a:rPr>
              <a:t>Coil and Winding Element</a:t>
            </a:r>
            <a:endParaRPr lang="en-US" sz="2800" b="1" dirty="0">
              <a:solidFill>
                <a:schemeClr val="bg1"/>
              </a:solidFill>
              <a:latin typeface="Arial" pitchFamily="34" charset="0"/>
              <a:cs typeface="Arial" pitchFamily="34" charset="0"/>
            </a:endParaRPr>
          </a:p>
        </p:txBody>
      </p:sp>
      <p:pic>
        <p:nvPicPr>
          <p:cNvPr id="4098" name="Picture 2"/>
          <p:cNvPicPr>
            <a:picLocks noChangeAspect="1" noChangeArrowheads="1"/>
          </p:cNvPicPr>
          <p:nvPr/>
        </p:nvPicPr>
        <p:blipFill rotWithShape="1">
          <a:blip r:embed="rId2"/>
          <a:srcRect b="7692"/>
          <a:stretch/>
        </p:blipFill>
        <p:spPr bwMode="auto">
          <a:xfrm>
            <a:off x="914399" y="1371600"/>
            <a:ext cx="7537309" cy="3657600"/>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09600" y="1153954"/>
            <a:ext cx="4389620" cy="5170646"/>
          </a:xfrm>
          <a:prstGeom prst="rect">
            <a:avLst/>
          </a:prstGeom>
          <a:noFill/>
        </p:spPr>
        <p:txBody>
          <a:bodyPr wrap="square" rtlCol="0">
            <a:spAutoFit/>
          </a:bodyPr>
          <a:lstStyle/>
          <a:p>
            <a:pPr algn="just">
              <a:lnSpc>
                <a:spcPct val="150000"/>
              </a:lnSpc>
              <a:buClr>
                <a:schemeClr val="accent6">
                  <a:lumMod val="50000"/>
                </a:schemeClr>
              </a:buClr>
              <a:buFont typeface="Wingdings" pitchFamily="2" charset="2"/>
              <a:buChar char="v"/>
              <a:tabLst>
                <a:tab pos="465138" algn="l"/>
              </a:tabLst>
            </a:pPr>
            <a:r>
              <a:rPr lang="en-US" sz="2000" dirty="0" smtClean="0"/>
              <a:t> 	It is the distance, measured in 	terms of armature slots (or 	armature conductors) between two 	sides of a coil. It is, in fact, the 	periphery of the armature spanned 	by the two sides of the coil.</a:t>
            </a:r>
          </a:p>
          <a:p>
            <a:pPr algn="just">
              <a:lnSpc>
                <a:spcPct val="150000"/>
              </a:lnSpc>
              <a:buClr>
                <a:schemeClr val="accent6">
                  <a:lumMod val="50000"/>
                </a:schemeClr>
              </a:buClr>
              <a:buFont typeface="Wingdings" pitchFamily="2" charset="2"/>
              <a:buChar char="v"/>
              <a:tabLst>
                <a:tab pos="465138" algn="l"/>
              </a:tabLst>
            </a:pPr>
            <a:r>
              <a:rPr lang="en-US" sz="2000" dirty="0" smtClean="0"/>
              <a:t> 	If the pole span or coil pitch is equal 	to the pole pitch (as in the case of 	coil </a:t>
            </a:r>
            <a:r>
              <a:rPr lang="en-US" sz="2000" i="1" dirty="0" smtClean="0"/>
              <a:t>A in Fig. where pole-pitch 	</a:t>
            </a:r>
            <a:r>
              <a:rPr lang="en-US" sz="2000" dirty="0" smtClean="0"/>
              <a:t>of 4 has been assumed), then 	winding is called </a:t>
            </a:r>
            <a:r>
              <a:rPr lang="en-US" sz="2000" b="1" i="1" dirty="0" smtClean="0"/>
              <a:t>full-pitched.</a:t>
            </a:r>
            <a:r>
              <a:rPr lang="en-US" sz="2000" dirty="0" smtClean="0"/>
              <a:t>	</a:t>
            </a:r>
            <a:endParaRPr lang="en-US" sz="2000" dirty="0">
              <a:solidFill>
                <a:srgbClr val="FF0000"/>
              </a:solidFill>
            </a:endParaRPr>
          </a:p>
        </p:txBody>
      </p:sp>
      <p:sp>
        <p:nvSpPr>
          <p:cNvPr id="5" name="Rectangle 4"/>
          <p:cNvSpPr/>
          <p:nvPr/>
        </p:nvSpPr>
        <p:spPr>
          <a:xfrm>
            <a:off x="0" y="0"/>
            <a:ext cx="9144000" cy="6858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TextBox 5"/>
          <p:cNvSpPr txBox="1"/>
          <p:nvPr/>
        </p:nvSpPr>
        <p:spPr>
          <a:xfrm>
            <a:off x="0" y="77450"/>
            <a:ext cx="9144000" cy="523220"/>
          </a:xfrm>
          <a:prstGeom prst="rect">
            <a:avLst/>
          </a:prstGeom>
          <a:noFill/>
        </p:spPr>
        <p:txBody>
          <a:bodyPr wrap="square" rtlCol="0">
            <a:spAutoFit/>
          </a:bodyPr>
          <a:lstStyle/>
          <a:p>
            <a:pPr algn="ctr"/>
            <a:r>
              <a:rPr lang="en-US" sz="2800" b="1" dirty="0" smtClean="0">
                <a:solidFill>
                  <a:schemeClr val="bg1"/>
                </a:solidFill>
                <a:latin typeface="Arial" pitchFamily="34" charset="0"/>
                <a:cs typeface="Arial" pitchFamily="34" charset="0"/>
              </a:rPr>
              <a:t>Coil – Span or Coil – Pitch (Y</a:t>
            </a:r>
            <a:r>
              <a:rPr lang="en-US" sz="2800" b="1" baseline="-25000" dirty="0" smtClean="0">
                <a:solidFill>
                  <a:schemeClr val="bg1"/>
                </a:solidFill>
                <a:latin typeface="Arial" pitchFamily="34" charset="0"/>
                <a:cs typeface="Arial" pitchFamily="34" charset="0"/>
              </a:rPr>
              <a:t>S</a:t>
            </a:r>
            <a:r>
              <a:rPr lang="en-US" sz="2800" b="1" dirty="0" smtClean="0">
                <a:solidFill>
                  <a:schemeClr val="bg1"/>
                </a:solidFill>
                <a:latin typeface="Arial" pitchFamily="34" charset="0"/>
                <a:cs typeface="Arial" pitchFamily="34" charset="0"/>
              </a:rPr>
              <a:t>)</a:t>
            </a:r>
            <a:endParaRPr lang="en-US" sz="2800" b="1" dirty="0">
              <a:solidFill>
                <a:schemeClr val="bg1"/>
              </a:solidFill>
              <a:latin typeface="Arial" pitchFamily="34" charset="0"/>
              <a:cs typeface="Arial" pitchFamily="34" charset="0"/>
            </a:endParaRPr>
          </a:p>
        </p:txBody>
      </p:sp>
      <p:pic>
        <p:nvPicPr>
          <p:cNvPr id="5122" name="Picture 2"/>
          <p:cNvPicPr>
            <a:picLocks noChangeAspect="1" noChangeArrowheads="1"/>
          </p:cNvPicPr>
          <p:nvPr/>
        </p:nvPicPr>
        <p:blipFill rotWithShape="1">
          <a:blip r:embed="rId2"/>
          <a:srcRect b="8965"/>
          <a:stretch/>
        </p:blipFill>
        <p:spPr bwMode="auto">
          <a:xfrm>
            <a:off x="5334000" y="1703308"/>
            <a:ext cx="3257550" cy="3706892"/>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868180" y="762000"/>
            <a:ext cx="7482590" cy="3323987"/>
          </a:xfrm>
          <a:prstGeom prst="rect">
            <a:avLst/>
          </a:prstGeom>
          <a:noFill/>
        </p:spPr>
        <p:txBody>
          <a:bodyPr wrap="square" rtlCol="0">
            <a:spAutoFit/>
          </a:bodyPr>
          <a:lstStyle/>
          <a:p>
            <a:pPr algn="just">
              <a:lnSpc>
                <a:spcPct val="150000"/>
              </a:lnSpc>
              <a:buClr>
                <a:schemeClr val="accent6">
                  <a:lumMod val="50000"/>
                </a:schemeClr>
              </a:buClr>
              <a:buFont typeface="Wingdings" pitchFamily="2" charset="2"/>
              <a:buChar char="v"/>
              <a:tabLst>
                <a:tab pos="465138" algn="l"/>
              </a:tabLst>
            </a:pPr>
            <a:r>
              <a:rPr lang="en-US" sz="2000" dirty="0" smtClean="0"/>
              <a:t> 	In general, it may be defined as the distance round the armature 	between two successive conductors which are directly connected 	together. Or, it is the distance between the beginnings of two 	consecutive turns.</a:t>
            </a:r>
          </a:p>
          <a:p>
            <a:pPr algn="just">
              <a:lnSpc>
                <a:spcPct val="150000"/>
              </a:lnSpc>
              <a:buClr>
                <a:schemeClr val="accent6">
                  <a:lumMod val="50000"/>
                </a:schemeClr>
              </a:buClr>
              <a:buFont typeface="Wingdings" pitchFamily="2" charset="2"/>
              <a:buChar char="v"/>
              <a:tabLst>
                <a:tab pos="465138" algn="l"/>
              </a:tabLst>
            </a:pPr>
            <a:endParaRPr lang="en-US" sz="2000" i="1" dirty="0" smtClean="0"/>
          </a:p>
          <a:p>
            <a:pPr algn="just">
              <a:lnSpc>
                <a:spcPct val="150000"/>
              </a:lnSpc>
              <a:buClr>
                <a:schemeClr val="accent6">
                  <a:lumMod val="50000"/>
                </a:schemeClr>
              </a:buClr>
              <a:tabLst>
                <a:tab pos="465138" algn="l"/>
              </a:tabLst>
            </a:pPr>
            <a:r>
              <a:rPr lang="en-US" sz="2000" i="1" dirty="0" smtClean="0"/>
              <a:t>			Y	= Y</a:t>
            </a:r>
            <a:r>
              <a:rPr lang="en-US" sz="2000" i="1" baseline="-25000" dirty="0" smtClean="0"/>
              <a:t>B</a:t>
            </a:r>
            <a:r>
              <a:rPr lang="en-US" sz="2000" i="1" dirty="0" smtClean="0"/>
              <a:t> − Y</a:t>
            </a:r>
            <a:r>
              <a:rPr lang="en-US" sz="2000" i="1" baseline="-25000" dirty="0" smtClean="0"/>
              <a:t>F</a:t>
            </a:r>
            <a:r>
              <a:rPr lang="en-US" sz="2000" i="1" dirty="0" smtClean="0"/>
              <a:t>	 ........for lap winding</a:t>
            </a:r>
          </a:p>
          <a:p>
            <a:pPr algn="just">
              <a:lnSpc>
                <a:spcPct val="150000"/>
              </a:lnSpc>
              <a:buClr>
                <a:schemeClr val="accent6">
                  <a:lumMod val="50000"/>
                </a:schemeClr>
              </a:buClr>
              <a:tabLst>
                <a:tab pos="465138" algn="l"/>
              </a:tabLst>
            </a:pPr>
            <a:r>
              <a:rPr lang="en-US" sz="2000" dirty="0" smtClean="0"/>
              <a:t>				= </a:t>
            </a:r>
            <a:r>
              <a:rPr lang="en-US" sz="2000" i="1" dirty="0" smtClean="0"/>
              <a:t>Y</a:t>
            </a:r>
            <a:r>
              <a:rPr lang="en-US" sz="2000" i="1" baseline="-25000" dirty="0" smtClean="0"/>
              <a:t>B</a:t>
            </a:r>
            <a:r>
              <a:rPr lang="en-US" sz="2000" i="1" dirty="0" smtClean="0"/>
              <a:t> + Y</a:t>
            </a:r>
            <a:r>
              <a:rPr lang="en-US" sz="2000" i="1" baseline="-25000" dirty="0" smtClean="0"/>
              <a:t>F</a:t>
            </a:r>
            <a:r>
              <a:rPr lang="en-US" sz="2000" i="1" dirty="0" smtClean="0"/>
              <a:t>	 ........for wave winding</a:t>
            </a:r>
            <a:endParaRPr lang="en-US" sz="2000" dirty="0">
              <a:solidFill>
                <a:srgbClr val="FF0000"/>
              </a:solidFill>
            </a:endParaRPr>
          </a:p>
        </p:txBody>
      </p:sp>
      <p:sp>
        <p:nvSpPr>
          <p:cNvPr id="5" name="Rectangle 4"/>
          <p:cNvSpPr/>
          <p:nvPr/>
        </p:nvSpPr>
        <p:spPr>
          <a:xfrm>
            <a:off x="0" y="0"/>
            <a:ext cx="9144000" cy="6858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TextBox 5"/>
          <p:cNvSpPr txBox="1"/>
          <p:nvPr/>
        </p:nvSpPr>
        <p:spPr>
          <a:xfrm>
            <a:off x="0" y="77450"/>
            <a:ext cx="9144000" cy="523220"/>
          </a:xfrm>
          <a:prstGeom prst="rect">
            <a:avLst/>
          </a:prstGeom>
          <a:noFill/>
        </p:spPr>
        <p:txBody>
          <a:bodyPr wrap="square" rtlCol="0">
            <a:spAutoFit/>
          </a:bodyPr>
          <a:lstStyle/>
          <a:p>
            <a:pPr algn="ctr"/>
            <a:r>
              <a:rPr lang="en-US" sz="2800" b="1" dirty="0" smtClean="0">
                <a:solidFill>
                  <a:schemeClr val="bg1"/>
                </a:solidFill>
                <a:latin typeface="Arial" pitchFamily="34" charset="0"/>
                <a:cs typeface="Arial" pitchFamily="34" charset="0"/>
              </a:rPr>
              <a:t>Pitch of a Winding (Y)</a:t>
            </a:r>
            <a:endParaRPr lang="en-US" sz="2800" b="1" dirty="0">
              <a:solidFill>
                <a:schemeClr val="bg1"/>
              </a:solidFill>
              <a:latin typeface="Arial" pitchFamily="34" charset="0"/>
              <a:cs typeface="Arial" pitchFamily="34" charset="0"/>
            </a:endParaRPr>
          </a:p>
        </p:txBody>
      </p:sp>
    </p:spTree>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868180" y="762000"/>
            <a:ext cx="7482590" cy="2862322"/>
          </a:xfrm>
          <a:prstGeom prst="rect">
            <a:avLst/>
          </a:prstGeom>
          <a:noFill/>
        </p:spPr>
        <p:txBody>
          <a:bodyPr wrap="square" rtlCol="0">
            <a:spAutoFit/>
          </a:bodyPr>
          <a:lstStyle/>
          <a:p>
            <a:pPr algn="just">
              <a:lnSpc>
                <a:spcPct val="150000"/>
              </a:lnSpc>
              <a:buClr>
                <a:schemeClr val="accent6">
                  <a:lumMod val="50000"/>
                </a:schemeClr>
              </a:buClr>
              <a:buFont typeface="Wingdings" pitchFamily="2" charset="2"/>
              <a:buChar char="v"/>
              <a:tabLst>
                <a:tab pos="465138" algn="l"/>
              </a:tabLst>
            </a:pPr>
            <a:r>
              <a:rPr lang="en-US" sz="2000" dirty="0" smtClean="0"/>
              <a:t> 	The distance, measured in terms of the armature conductors, 	which a coil advances on the back of the armature is called back 	pitch and is denoted by </a:t>
            </a:r>
            <a:r>
              <a:rPr lang="en-US" sz="2000" i="1" dirty="0" smtClean="0"/>
              <a:t>Y</a:t>
            </a:r>
            <a:r>
              <a:rPr lang="en-US" sz="2000" i="1" baseline="-25000" dirty="0" smtClean="0"/>
              <a:t>B</a:t>
            </a:r>
            <a:r>
              <a:rPr lang="en-US" sz="2000" i="1" dirty="0" smtClean="0"/>
              <a:t>.</a:t>
            </a:r>
          </a:p>
          <a:p>
            <a:pPr algn="just">
              <a:lnSpc>
                <a:spcPct val="150000"/>
              </a:lnSpc>
              <a:buClr>
                <a:schemeClr val="accent6">
                  <a:lumMod val="50000"/>
                </a:schemeClr>
              </a:buClr>
              <a:buFont typeface="Wingdings" pitchFamily="2" charset="2"/>
              <a:buChar char="v"/>
              <a:tabLst>
                <a:tab pos="465138" algn="l"/>
              </a:tabLst>
            </a:pPr>
            <a:endParaRPr lang="en-US" sz="2000" i="1" dirty="0" smtClean="0"/>
          </a:p>
          <a:p>
            <a:pPr algn="just">
              <a:lnSpc>
                <a:spcPct val="150000"/>
              </a:lnSpc>
              <a:buClr>
                <a:schemeClr val="accent6">
                  <a:lumMod val="50000"/>
                </a:schemeClr>
              </a:buClr>
              <a:buFont typeface="Wingdings" pitchFamily="2" charset="2"/>
              <a:buChar char="v"/>
              <a:tabLst>
                <a:tab pos="465138" algn="l"/>
              </a:tabLst>
            </a:pPr>
            <a:r>
              <a:rPr lang="en-US" sz="2000" i="1" dirty="0" smtClean="0"/>
              <a:t> 	</a:t>
            </a:r>
            <a:r>
              <a:rPr lang="en-US" sz="2000" dirty="0" smtClean="0"/>
              <a:t>As seen from Fig., element 1 is connected on the back of 	the armature to element 8. Hence, </a:t>
            </a:r>
            <a:r>
              <a:rPr lang="en-US" sz="2000" i="1" dirty="0" smtClean="0"/>
              <a:t>Y</a:t>
            </a:r>
            <a:r>
              <a:rPr lang="en-US" sz="2000" i="1" baseline="-25000" dirty="0" smtClean="0"/>
              <a:t>B </a:t>
            </a:r>
            <a:r>
              <a:rPr lang="en-US" sz="2000" i="1" dirty="0" smtClean="0"/>
              <a:t>= (8 − 1) = 7.</a:t>
            </a:r>
            <a:endParaRPr lang="en-US" sz="2000" dirty="0">
              <a:solidFill>
                <a:srgbClr val="FF0000"/>
              </a:solidFill>
            </a:endParaRPr>
          </a:p>
        </p:txBody>
      </p:sp>
      <p:sp>
        <p:nvSpPr>
          <p:cNvPr id="5" name="Rectangle 4"/>
          <p:cNvSpPr/>
          <p:nvPr/>
        </p:nvSpPr>
        <p:spPr>
          <a:xfrm>
            <a:off x="0" y="0"/>
            <a:ext cx="9144000" cy="6858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TextBox 5"/>
          <p:cNvSpPr txBox="1"/>
          <p:nvPr/>
        </p:nvSpPr>
        <p:spPr>
          <a:xfrm>
            <a:off x="0" y="77450"/>
            <a:ext cx="9144000" cy="523220"/>
          </a:xfrm>
          <a:prstGeom prst="rect">
            <a:avLst/>
          </a:prstGeom>
          <a:noFill/>
        </p:spPr>
        <p:txBody>
          <a:bodyPr wrap="square" rtlCol="0">
            <a:spAutoFit/>
          </a:bodyPr>
          <a:lstStyle/>
          <a:p>
            <a:pPr algn="ctr"/>
            <a:r>
              <a:rPr lang="en-US" sz="2800" b="1" dirty="0" smtClean="0">
                <a:solidFill>
                  <a:schemeClr val="bg1"/>
                </a:solidFill>
                <a:latin typeface="Arial" pitchFamily="34" charset="0"/>
                <a:cs typeface="Arial" pitchFamily="34" charset="0"/>
              </a:rPr>
              <a:t>Back Pitch (Y</a:t>
            </a:r>
            <a:r>
              <a:rPr lang="en-US" sz="2800" b="1" baseline="-25000" dirty="0" smtClean="0">
                <a:solidFill>
                  <a:schemeClr val="bg1"/>
                </a:solidFill>
                <a:latin typeface="Arial" pitchFamily="34" charset="0"/>
                <a:cs typeface="Arial" pitchFamily="34" charset="0"/>
              </a:rPr>
              <a:t>B</a:t>
            </a:r>
            <a:r>
              <a:rPr lang="en-US" sz="2800" b="1" dirty="0" smtClean="0">
                <a:solidFill>
                  <a:schemeClr val="bg1"/>
                </a:solidFill>
                <a:latin typeface="Arial" pitchFamily="34" charset="0"/>
                <a:cs typeface="Arial" pitchFamily="34" charset="0"/>
              </a:rPr>
              <a:t>)</a:t>
            </a:r>
            <a:endParaRPr lang="en-US" sz="2800" b="1" dirty="0">
              <a:solidFill>
                <a:schemeClr val="bg1"/>
              </a:solidFill>
              <a:latin typeface="Arial" pitchFamily="34" charset="0"/>
              <a:cs typeface="Arial" pitchFamily="34" charset="0"/>
            </a:endParaRPr>
          </a:p>
        </p:txBody>
      </p:sp>
    </p:spTree>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868180" y="762000"/>
            <a:ext cx="7482590" cy="5632311"/>
          </a:xfrm>
          <a:prstGeom prst="rect">
            <a:avLst/>
          </a:prstGeom>
          <a:noFill/>
        </p:spPr>
        <p:txBody>
          <a:bodyPr wrap="square" rtlCol="0">
            <a:spAutoFit/>
          </a:bodyPr>
          <a:lstStyle/>
          <a:p>
            <a:pPr algn="just">
              <a:lnSpc>
                <a:spcPct val="150000"/>
              </a:lnSpc>
              <a:buClr>
                <a:schemeClr val="accent6">
                  <a:lumMod val="50000"/>
                </a:schemeClr>
              </a:buClr>
              <a:buFont typeface="Wingdings" pitchFamily="2" charset="2"/>
              <a:buChar char="v"/>
              <a:tabLst>
                <a:tab pos="465138" algn="l"/>
              </a:tabLst>
            </a:pPr>
            <a:r>
              <a:rPr lang="en-US" sz="2000" dirty="0" smtClean="0"/>
              <a:t> 	The number of armature conductors or elements spanned by a 	coil on the front (or commutator end of an armature) is called the 	front pitch and is designated by </a:t>
            </a:r>
            <a:r>
              <a:rPr lang="en-US" sz="2000" i="1" dirty="0" smtClean="0"/>
              <a:t>Y</a:t>
            </a:r>
            <a:r>
              <a:rPr lang="en-US" sz="2000" i="1" baseline="-25000" dirty="0" smtClean="0"/>
              <a:t>F</a:t>
            </a:r>
            <a:r>
              <a:rPr lang="en-US" sz="2000" i="1" dirty="0" smtClean="0"/>
              <a:t>. Again in Fig., element 8 	</a:t>
            </a:r>
            <a:r>
              <a:rPr lang="en-US" sz="2000" dirty="0" smtClean="0"/>
              <a:t>is connected to element 3 on the front of the armature, the 	connections being made at the commutator segment. Hence, </a:t>
            </a:r>
            <a:r>
              <a:rPr lang="en-US" sz="2000" i="1" dirty="0" smtClean="0"/>
              <a:t>Y</a:t>
            </a:r>
            <a:r>
              <a:rPr lang="en-US" sz="2000" i="1" baseline="-25000" dirty="0" smtClean="0"/>
              <a:t>F</a:t>
            </a:r>
            <a:r>
              <a:rPr lang="en-US" sz="2000" i="1" dirty="0" smtClean="0"/>
              <a:t> = 	8 − 3 = 5.</a:t>
            </a:r>
          </a:p>
          <a:p>
            <a:pPr algn="just">
              <a:lnSpc>
                <a:spcPct val="150000"/>
              </a:lnSpc>
              <a:buClr>
                <a:schemeClr val="accent6">
                  <a:lumMod val="50000"/>
                </a:schemeClr>
              </a:buClr>
              <a:buFont typeface="Wingdings" pitchFamily="2" charset="2"/>
              <a:buChar char="v"/>
              <a:tabLst>
                <a:tab pos="465138" algn="l"/>
              </a:tabLst>
            </a:pPr>
            <a:r>
              <a:rPr lang="en-US" sz="2000" dirty="0" smtClean="0"/>
              <a:t> 	Alternatively, the front pitch may be defined as the distance (in 	terms of armature conductors) between the second conductor of 	one coil and the first conductor of the next coil which are 	connected together at the front </a:t>
            </a:r>
            <a:r>
              <a:rPr lang="en-US" sz="2000" i="1" dirty="0" smtClean="0"/>
              <a:t>i.e. commutator end of the 	armature. Both front and back pitches for lap and </a:t>
            </a:r>
            <a:r>
              <a:rPr lang="en-US" sz="2000" dirty="0" smtClean="0"/>
              <a:t>wave-winding 	are shown in Fig.</a:t>
            </a:r>
            <a:endParaRPr lang="en-US" sz="2000" dirty="0">
              <a:solidFill>
                <a:srgbClr val="FF0000"/>
              </a:solidFill>
            </a:endParaRPr>
          </a:p>
        </p:txBody>
      </p:sp>
      <p:sp>
        <p:nvSpPr>
          <p:cNvPr id="5" name="Rectangle 4"/>
          <p:cNvSpPr/>
          <p:nvPr/>
        </p:nvSpPr>
        <p:spPr>
          <a:xfrm>
            <a:off x="0" y="0"/>
            <a:ext cx="9144000" cy="6858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TextBox 5"/>
          <p:cNvSpPr txBox="1"/>
          <p:nvPr/>
        </p:nvSpPr>
        <p:spPr>
          <a:xfrm>
            <a:off x="0" y="77450"/>
            <a:ext cx="9144000" cy="523220"/>
          </a:xfrm>
          <a:prstGeom prst="rect">
            <a:avLst/>
          </a:prstGeom>
          <a:noFill/>
        </p:spPr>
        <p:txBody>
          <a:bodyPr wrap="square" rtlCol="0">
            <a:spAutoFit/>
          </a:bodyPr>
          <a:lstStyle/>
          <a:p>
            <a:pPr algn="ctr"/>
            <a:r>
              <a:rPr lang="en-US" sz="2800" b="1" dirty="0" smtClean="0">
                <a:solidFill>
                  <a:schemeClr val="bg1"/>
                </a:solidFill>
                <a:latin typeface="Arial" pitchFamily="34" charset="0"/>
                <a:cs typeface="Arial" pitchFamily="34" charset="0"/>
              </a:rPr>
              <a:t>Front Pitch (Y</a:t>
            </a:r>
            <a:r>
              <a:rPr lang="en-US" sz="2800" b="1" baseline="-25000" dirty="0" smtClean="0">
                <a:solidFill>
                  <a:schemeClr val="bg1"/>
                </a:solidFill>
                <a:latin typeface="Arial" pitchFamily="34" charset="0"/>
                <a:cs typeface="Arial" pitchFamily="34" charset="0"/>
              </a:rPr>
              <a:t>F</a:t>
            </a:r>
            <a:r>
              <a:rPr lang="en-US" sz="2800" b="1" dirty="0" smtClean="0">
                <a:solidFill>
                  <a:schemeClr val="bg1"/>
                </a:solidFill>
                <a:latin typeface="Arial" pitchFamily="34" charset="0"/>
                <a:cs typeface="Arial" pitchFamily="34" charset="0"/>
              </a:rPr>
              <a:t>)</a:t>
            </a:r>
            <a:endParaRPr lang="en-US" sz="2800" b="1" dirty="0">
              <a:solidFill>
                <a:schemeClr val="bg1"/>
              </a:solidFill>
              <a:latin typeface="Arial" pitchFamily="34" charset="0"/>
              <a:cs typeface="Arial" pitchFamily="34" charset="0"/>
            </a:endParaRPr>
          </a:p>
        </p:txBody>
      </p:sp>
      <p:sp>
        <p:nvSpPr>
          <p:cNvPr id="7" name="TextBox 6"/>
          <p:cNvSpPr txBox="1"/>
          <p:nvPr/>
        </p:nvSpPr>
        <p:spPr>
          <a:xfrm>
            <a:off x="7924800" y="6367790"/>
            <a:ext cx="685800" cy="261610"/>
          </a:xfrm>
          <a:prstGeom prst="rect">
            <a:avLst/>
          </a:prstGeom>
          <a:noFill/>
        </p:spPr>
        <p:txBody>
          <a:bodyPr wrap="square" rtlCol="0">
            <a:spAutoFit/>
          </a:bodyPr>
          <a:lstStyle/>
          <a:p>
            <a:r>
              <a:rPr lang="en-US" sz="1100" i="1" dirty="0" smtClean="0"/>
              <a:t>Contd….</a:t>
            </a:r>
            <a:endParaRPr lang="en-US" sz="1100" i="1" dirty="0"/>
          </a:p>
        </p:txBody>
      </p:sp>
    </p:spTree>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0" y="0"/>
            <a:ext cx="9144000" cy="6858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TextBox 5"/>
          <p:cNvSpPr txBox="1"/>
          <p:nvPr/>
        </p:nvSpPr>
        <p:spPr>
          <a:xfrm>
            <a:off x="0" y="77450"/>
            <a:ext cx="9144000" cy="523220"/>
          </a:xfrm>
          <a:prstGeom prst="rect">
            <a:avLst/>
          </a:prstGeom>
          <a:noFill/>
        </p:spPr>
        <p:txBody>
          <a:bodyPr wrap="square" rtlCol="0">
            <a:spAutoFit/>
          </a:bodyPr>
          <a:lstStyle/>
          <a:p>
            <a:pPr algn="ctr"/>
            <a:r>
              <a:rPr lang="en-US" sz="2800" b="1" dirty="0" smtClean="0">
                <a:solidFill>
                  <a:schemeClr val="bg1"/>
                </a:solidFill>
                <a:latin typeface="Arial" pitchFamily="34" charset="0"/>
                <a:cs typeface="Arial" pitchFamily="34" charset="0"/>
              </a:rPr>
              <a:t>Front Pitch (Y</a:t>
            </a:r>
            <a:r>
              <a:rPr lang="en-US" sz="2800" b="1" baseline="-25000" dirty="0" smtClean="0">
                <a:solidFill>
                  <a:schemeClr val="bg1"/>
                </a:solidFill>
                <a:latin typeface="Arial" pitchFamily="34" charset="0"/>
                <a:cs typeface="Arial" pitchFamily="34" charset="0"/>
              </a:rPr>
              <a:t>F</a:t>
            </a:r>
            <a:r>
              <a:rPr lang="en-US" sz="2800" b="1" dirty="0" smtClean="0">
                <a:solidFill>
                  <a:schemeClr val="bg1"/>
                </a:solidFill>
                <a:latin typeface="Arial" pitchFamily="34" charset="0"/>
                <a:cs typeface="Arial" pitchFamily="34" charset="0"/>
              </a:rPr>
              <a:t>)</a:t>
            </a:r>
            <a:endParaRPr lang="en-US" sz="2800" b="1" dirty="0">
              <a:solidFill>
                <a:schemeClr val="bg1"/>
              </a:solidFill>
              <a:latin typeface="Arial" pitchFamily="34" charset="0"/>
              <a:cs typeface="Arial" pitchFamily="34" charset="0"/>
            </a:endParaRPr>
          </a:p>
        </p:txBody>
      </p:sp>
      <p:pic>
        <p:nvPicPr>
          <p:cNvPr id="6146" name="Picture 2"/>
          <p:cNvPicPr>
            <a:picLocks noChangeAspect="1" noChangeArrowheads="1"/>
          </p:cNvPicPr>
          <p:nvPr/>
        </p:nvPicPr>
        <p:blipFill rotWithShape="1">
          <a:blip r:embed="rId2"/>
          <a:srcRect b="10638"/>
          <a:stretch/>
        </p:blipFill>
        <p:spPr bwMode="auto">
          <a:xfrm>
            <a:off x="914400" y="1371600"/>
            <a:ext cx="7601531" cy="3200400"/>
          </a:xfrm>
          <a:prstGeom prst="rect">
            <a:avLst/>
          </a:prstGeom>
          <a:ln>
            <a:solidFill>
              <a:schemeClr val="tx1"/>
            </a:solidFill>
          </a:ln>
          <a:effectLst>
            <a:outerShdw blurRad="292100" dist="139700" dir="2700000" algn="tl" rotWithShape="0">
              <a:srgbClr val="333333">
                <a:alpha val="65000"/>
              </a:srgbClr>
            </a:outerShdw>
          </a:effectLst>
        </p:spPr>
      </p:pic>
    </p:spTree>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868180" y="762000"/>
            <a:ext cx="7482590" cy="3323987"/>
          </a:xfrm>
          <a:prstGeom prst="rect">
            <a:avLst/>
          </a:prstGeom>
          <a:noFill/>
        </p:spPr>
        <p:txBody>
          <a:bodyPr wrap="square" rtlCol="0">
            <a:spAutoFit/>
          </a:bodyPr>
          <a:lstStyle/>
          <a:p>
            <a:pPr algn="just">
              <a:lnSpc>
                <a:spcPct val="150000"/>
              </a:lnSpc>
              <a:buClr>
                <a:schemeClr val="accent6">
                  <a:lumMod val="50000"/>
                </a:schemeClr>
              </a:buClr>
              <a:buFont typeface="Wingdings" pitchFamily="2" charset="2"/>
              <a:buChar char="v"/>
              <a:tabLst>
                <a:tab pos="465138" algn="l"/>
              </a:tabLst>
            </a:pPr>
            <a:r>
              <a:rPr lang="en-US" sz="2000" dirty="0" smtClean="0"/>
              <a:t> 	It is the distance between the beginning of one coil and the 	beginning of the next coil to which it is connected (Fig.).</a:t>
            </a:r>
          </a:p>
          <a:p>
            <a:pPr algn="just">
              <a:lnSpc>
                <a:spcPct val="150000"/>
              </a:lnSpc>
              <a:buClr>
                <a:schemeClr val="accent6">
                  <a:lumMod val="50000"/>
                </a:schemeClr>
              </a:buClr>
              <a:buFont typeface="Wingdings" pitchFamily="2" charset="2"/>
              <a:buChar char="v"/>
              <a:tabLst>
                <a:tab pos="465138" algn="l"/>
              </a:tabLst>
            </a:pPr>
            <a:r>
              <a:rPr lang="en-US" sz="2000" dirty="0" smtClean="0"/>
              <a:t> 	As a matter of precaution, it should be kept in mind that all these 	pitches, though normally stated in terms of armature conductors, 	are also sometimes given in terms of armature slots or 	commutator bars because commutator is, after all, an image of 	the winding.</a:t>
            </a:r>
            <a:endParaRPr lang="en-US" sz="2000" dirty="0">
              <a:solidFill>
                <a:srgbClr val="FF0000"/>
              </a:solidFill>
            </a:endParaRPr>
          </a:p>
        </p:txBody>
      </p:sp>
      <p:sp>
        <p:nvSpPr>
          <p:cNvPr id="5" name="Rectangle 4"/>
          <p:cNvSpPr/>
          <p:nvPr/>
        </p:nvSpPr>
        <p:spPr>
          <a:xfrm>
            <a:off x="0" y="0"/>
            <a:ext cx="9144000" cy="6858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TextBox 5"/>
          <p:cNvSpPr txBox="1"/>
          <p:nvPr/>
        </p:nvSpPr>
        <p:spPr>
          <a:xfrm>
            <a:off x="0" y="77450"/>
            <a:ext cx="9144000" cy="523220"/>
          </a:xfrm>
          <a:prstGeom prst="rect">
            <a:avLst/>
          </a:prstGeom>
          <a:noFill/>
        </p:spPr>
        <p:txBody>
          <a:bodyPr wrap="square" rtlCol="0">
            <a:spAutoFit/>
          </a:bodyPr>
          <a:lstStyle/>
          <a:p>
            <a:pPr algn="ctr"/>
            <a:r>
              <a:rPr lang="en-US" sz="2800" b="1" dirty="0" smtClean="0">
                <a:solidFill>
                  <a:schemeClr val="bg1"/>
                </a:solidFill>
                <a:latin typeface="Arial" pitchFamily="34" charset="0"/>
                <a:cs typeface="Arial" pitchFamily="34" charset="0"/>
              </a:rPr>
              <a:t>Resultant Pitch (Y</a:t>
            </a:r>
            <a:r>
              <a:rPr lang="en-US" sz="2800" b="1" baseline="-25000" dirty="0" smtClean="0">
                <a:solidFill>
                  <a:schemeClr val="bg1"/>
                </a:solidFill>
                <a:latin typeface="Arial" pitchFamily="34" charset="0"/>
                <a:cs typeface="Arial" pitchFamily="34" charset="0"/>
              </a:rPr>
              <a:t>R</a:t>
            </a:r>
            <a:r>
              <a:rPr lang="en-US" sz="2800" b="1" dirty="0" smtClean="0">
                <a:solidFill>
                  <a:schemeClr val="bg1"/>
                </a:solidFill>
                <a:latin typeface="Arial" pitchFamily="34" charset="0"/>
                <a:cs typeface="Arial" pitchFamily="34" charset="0"/>
              </a:rPr>
              <a:t>)</a:t>
            </a:r>
            <a:endParaRPr lang="en-US" sz="2800" b="1" dirty="0">
              <a:solidFill>
                <a:schemeClr val="bg1"/>
              </a:solidFill>
              <a:latin typeface="Arial" pitchFamily="34" charset="0"/>
              <a:cs typeface="Arial" pitchFamily="34" charset="0"/>
            </a:endParaRPr>
          </a:p>
        </p:txBody>
      </p:sp>
    </p:spTree>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830705" y="1219200"/>
            <a:ext cx="7482590" cy="1477328"/>
          </a:xfrm>
          <a:prstGeom prst="rect">
            <a:avLst/>
          </a:prstGeom>
          <a:noFill/>
        </p:spPr>
        <p:txBody>
          <a:bodyPr wrap="square" rtlCol="0">
            <a:spAutoFit/>
          </a:bodyPr>
          <a:lstStyle/>
          <a:p>
            <a:pPr algn="just">
              <a:lnSpc>
                <a:spcPct val="150000"/>
              </a:lnSpc>
              <a:buClr>
                <a:schemeClr val="accent6">
                  <a:lumMod val="50000"/>
                </a:schemeClr>
              </a:buClr>
              <a:buFont typeface="Wingdings" pitchFamily="2" charset="2"/>
              <a:buChar char="v"/>
              <a:tabLst>
                <a:tab pos="465138" algn="l"/>
              </a:tabLst>
            </a:pPr>
            <a:r>
              <a:rPr lang="en-US" sz="2000" dirty="0" smtClean="0"/>
              <a:t> 	It is that winding in which one conductor or one coil side is placed 	in each armature slot as shown in Fig. Such a winding is not 	much used.</a:t>
            </a:r>
            <a:endParaRPr lang="en-US" sz="2000" dirty="0">
              <a:solidFill>
                <a:srgbClr val="FF0000"/>
              </a:solidFill>
            </a:endParaRPr>
          </a:p>
        </p:txBody>
      </p:sp>
      <p:sp>
        <p:nvSpPr>
          <p:cNvPr id="5" name="Rectangle 4"/>
          <p:cNvSpPr/>
          <p:nvPr/>
        </p:nvSpPr>
        <p:spPr>
          <a:xfrm>
            <a:off x="0" y="0"/>
            <a:ext cx="9144000" cy="6858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TextBox 5"/>
          <p:cNvSpPr txBox="1"/>
          <p:nvPr/>
        </p:nvSpPr>
        <p:spPr>
          <a:xfrm>
            <a:off x="0" y="77450"/>
            <a:ext cx="9144000" cy="523220"/>
          </a:xfrm>
          <a:prstGeom prst="rect">
            <a:avLst/>
          </a:prstGeom>
          <a:noFill/>
        </p:spPr>
        <p:txBody>
          <a:bodyPr wrap="square" rtlCol="0">
            <a:spAutoFit/>
          </a:bodyPr>
          <a:lstStyle/>
          <a:p>
            <a:pPr algn="ctr"/>
            <a:r>
              <a:rPr lang="en-US" sz="2800" b="1" dirty="0" smtClean="0">
                <a:solidFill>
                  <a:schemeClr val="bg1"/>
                </a:solidFill>
                <a:latin typeface="Arial" pitchFamily="34" charset="0"/>
                <a:cs typeface="Arial" pitchFamily="34" charset="0"/>
              </a:rPr>
              <a:t>Single – Layer Winding </a:t>
            </a:r>
            <a:endParaRPr lang="en-US" sz="2800" b="1" dirty="0">
              <a:solidFill>
                <a:schemeClr val="bg1"/>
              </a:solidFill>
              <a:latin typeface="Arial" pitchFamily="34" charset="0"/>
              <a:cs typeface="Arial" pitchFamily="34" charset="0"/>
            </a:endParaRPr>
          </a:p>
        </p:txBody>
      </p:sp>
    </p:spTree>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913150" y="765298"/>
            <a:ext cx="7482590" cy="2554545"/>
          </a:xfrm>
          <a:prstGeom prst="rect">
            <a:avLst/>
          </a:prstGeom>
          <a:noFill/>
        </p:spPr>
        <p:txBody>
          <a:bodyPr wrap="square" rtlCol="0">
            <a:spAutoFit/>
          </a:bodyPr>
          <a:lstStyle/>
          <a:p>
            <a:pPr algn="just">
              <a:spcBef>
                <a:spcPts val="1200"/>
              </a:spcBef>
              <a:buClr>
                <a:schemeClr val="accent6">
                  <a:lumMod val="50000"/>
                </a:schemeClr>
              </a:buClr>
              <a:buFont typeface="Wingdings" pitchFamily="2" charset="2"/>
              <a:buChar char="v"/>
              <a:tabLst>
                <a:tab pos="465138" algn="l"/>
              </a:tabLst>
            </a:pPr>
            <a:r>
              <a:rPr lang="en-US" sz="2000" dirty="0" smtClean="0"/>
              <a:t> 	In this type of winding, there are two conductors or coil sides per 	slot arranged in two layers. </a:t>
            </a:r>
          </a:p>
          <a:p>
            <a:pPr algn="just">
              <a:spcBef>
                <a:spcPts val="1200"/>
              </a:spcBef>
              <a:buClr>
                <a:schemeClr val="accent6">
                  <a:lumMod val="50000"/>
                </a:schemeClr>
              </a:buClr>
              <a:buFont typeface="Wingdings" pitchFamily="2" charset="2"/>
              <a:buChar char="v"/>
              <a:tabLst>
                <a:tab pos="465138" algn="l"/>
              </a:tabLst>
            </a:pPr>
            <a:r>
              <a:rPr lang="en-US" sz="2000" dirty="0" smtClean="0"/>
              <a:t> 	The transfer of the coil from one slot to another is usually made in 	a radial plane by means of a peculiar bend or twist at the back 	end as shown in Fig.</a:t>
            </a:r>
          </a:p>
          <a:p>
            <a:pPr algn="just">
              <a:spcBef>
                <a:spcPts val="1200"/>
              </a:spcBef>
              <a:buClr>
                <a:schemeClr val="accent6">
                  <a:lumMod val="50000"/>
                </a:schemeClr>
              </a:buClr>
              <a:buFont typeface="Wingdings" pitchFamily="2" charset="2"/>
              <a:buChar char="v"/>
              <a:tabLst>
                <a:tab pos="465138" algn="l"/>
              </a:tabLst>
            </a:pPr>
            <a:r>
              <a:rPr lang="en-US" sz="2000" dirty="0" smtClean="0"/>
              <a:t> 	Sometimes 4 or 6 or 8 coil sides are used in each slot in several 	layers because it is not practicable to have too many slots (Fig.).</a:t>
            </a:r>
            <a:endParaRPr lang="en-US" sz="2000" dirty="0">
              <a:solidFill>
                <a:srgbClr val="FF0000"/>
              </a:solidFill>
            </a:endParaRPr>
          </a:p>
        </p:txBody>
      </p:sp>
      <p:sp>
        <p:nvSpPr>
          <p:cNvPr id="5" name="Rectangle 4"/>
          <p:cNvSpPr/>
          <p:nvPr/>
        </p:nvSpPr>
        <p:spPr>
          <a:xfrm>
            <a:off x="0" y="0"/>
            <a:ext cx="9144000" cy="6858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TextBox 5"/>
          <p:cNvSpPr txBox="1"/>
          <p:nvPr/>
        </p:nvSpPr>
        <p:spPr>
          <a:xfrm>
            <a:off x="0" y="77450"/>
            <a:ext cx="9144000" cy="523220"/>
          </a:xfrm>
          <a:prstGeom prst="rect">
            <a:avLst/>
          </a:prstGeom>
          <a:noFill/>
        </p:spPr>
        <p:txBody>
          <a:bodyPr wrap="square" rtlCol="0">
            <a:spAutoFit/>
          </a:bodyPr>
          <a:lstStyle/>
          <a:p>
            <a:pPr algn="ctr"/>
            <a:r>
              <a:rPr lang="en-US" sz="2800" b="1" dirty="0" smtClean="0">
                <a:solidFill>
                  <a:schemeClr val="bg1"/>
                </a:solidFill>
                <a:latin typeface="Arial" pitchFamily="34" charset="0"/>
                <a:cs typeface="Arial" pitchFamily="34" charset="0"/>
              </a:rPr>
              <a:t>Two – Layer Winding</a:t>
            </a:r>
            <a:endParaRPr lang="en-US" sz="2800" b="1" dirty="0">
              <a:solidFill>
                <a:schemeClr val="bg1"/>
              </a:solidFill>
              <a:latin typeface="Arial" pitchFamily="34" charset="0"/>
              <a:cs typeface="Arial" pitchFamily="34" charset="0"/>
            </a:endParaRPr>
          </a:p>
        </p:txBody>
      </p:sp>
      <p:pic>
        <p:nvPicPr>
          <p:cNvPr id="8194" name="Picture 2"/>
          <p:cNvPicPr>
            <a:picLocks noChangeAspect="1" noChangeArrowheads="1"/>
          </p:cNvPicPr>
          <p:nvPr/>
        </p:nvPicPr>
        <p:blipFill rotWithShape="1">
          <a:blip r:embed="rId2"/>
          <a:srcRect b="10031"/>
          <a:stretch/>
        </p:blipFill>
        <p:spPr bwMode="auto">
          <a:xfrm>
            <a:off x="1371600" y="3597641"/>
            <a:ext cx="6901930" cy="2879359"/>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913150" y="836950"/>
            <a:ext cx="7482590" cy="2554545"/>
          </a:xfrm>
          <a:prstGeom prst="rect">
            <a:avLst/>
          </a:prstGeom>
          <a:noFill/>
        </p:spPr>
        <p:txBody>
          <a:bodyPr wrap="square" rtlCol="0">
            <a:spAutoFit/>
          </a:bodyPr>
          <a:lstStyle/>
          <a:p>
            <a:pPr algn="just">
              <a:spcBef>
                <a:spcPts val="1200"/>
              </a:spcBef>
              <a:buClr>
                <a:schemeClr val="accent6">
                  <a:lumMod val="50000"/>
                </a:schemeClr>
              </a:buClr>
              <a:buFont typeface="Wingdings" pitchFamily="2" charset="2"/>
              <a:buChar char="v"/>
              <a:tabLst>
                <a:tab pos="465138" algn="l"/>
              </a:tabLst>
            </a:pPr>
            <a:r>
              <a:rPr lang="en-US" sz="2000" dirty="0" smtClean="0"/>
              <a:t>  	Two types of windings mostly employed for drum-type armatures 	are known as Lap Winding and Wave Winding. </a:t>
            </a:r>
          </a:p>
          <a:p>
            <a:pPr algn="just">
              <a:spcBef>
                <a:spcPts val="1200"/>
              </a:spcBef>
              <a:buClr>
                <a:schemeClr val="accent6">
                  <a:lumMod val="50000"/>
                </a:schemeClr>
              </a:buClr>
              <a:buFont typeface="Wingdings" pitchFamily="2" charset="2"/>
              <a:buChar char="v"/>
              <a:tabLst>
                <a:tab pos="465138" algn="l"/>
              </a:tabLst>
            </a:pPr>
            <a:r>
              <a:rPr lang="en-US" sz="2000" dirty="0" smtClean="0"/>
              <a:t> 	The difference between the two is merely due to the different 	arrangement of the end connections at the front or commutator 	end of armature. </a:t>
            </a:r>
          </a:p>
          <a:p>
            <a:pPr algn="just">
              <a:spcBef>
                <a:spcPts val="1200"/>
              </a:spcBef>
              <a:buClr>
                <a:schemeClr val="accent6">
                  <a:lumMod val="50000"/>
                </a:schemeClr>
              </a:buClr>
              <a:buFont typeface="Wingdings" pitchFamily="2" charset="2"/>
              <a:buChar char="v"/>
              <a:tabLst>
                <a:tab pos="465138" algn="l"/>
              </a:tabLst>
            </a:pPr>
            <a:r>
              <a:rPr lang="en-US" sz="2000" dirty="0" smtClean="0"/>
              <a:t> 	Each winding can be arranged progressively or retrogressively and 	connected in simplex, duplex and triplex. </a:t>
            </a:r>
            <a:endParaRPr lang="en-US" sz="2000" dirty="0">
              <a:solidFill>
                <a:srgbClr val="FF0000"/>
              </a:solidFill>
            </a:endParaRPr>
          </a:p>
        </p:txBody>
      </p:sp>
      <p:sp>
        <p:nvSpPr>
          <p:cNvPr id="5" name="Rectangle 4"/>
          <p:cNvSpPr/>
          <p:nvPr/>
        </p:nvSpPr>
        <p:spPr>
          <a:xfrm>
            <a:off x="0" y="0"/>
            <a:ext cx="9144000" cy="6858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TextBox 5"/>
          <p:cNvSpPr txBox="1"/>
          <p:nvPr/>
        </p:nvSpPr>
        <p:spPr>
          <a:xfrm>
            <a:off x="0" y="77450"/>
            <a:ext cx="9144000" cy="523220"/>
          </a:xfrm>
          <a:prstGeom prst="rect">
            <a:avLst/>
          </a:prstGeom>
          <a:noFill/>
        </p:spPr>
        <p:txBody>
          <a:bodyPr wrap="square" rtlCol="0">
            <a:spAutoFit/>
          </a:bodyPr>
          <a:lstStyle/>
          <a:p>
            <a:pPr algn="ctr"/>
            <a:r>
              <a:rPr lang="en-US" sz="2800" b="1" dirty="0" smtClean="0">
                <a:solidFill>
                  <a:schemeClr val="bg1"/>
                </a:solidFill>
                <a:latin typeface="Arial" pitchFamily="34" charset="0"/>
                <a:cs typeface="Arial" pitchFamily="34" charset="0"/>
              </a:rPr>
              <a:t>Lap and Wave Windings</a:t>
            </a:r>
            <a:endParaRPr lang="en-US" sz="2800" b="1" dirty="0">
              <a:solidFill>
                <a:schemeClr val="bg1"/>
              </a:solidFill>
              <a:latin typeface="Arial" pitchFamily="34" charset="0"/>
              <a:cs typeface="Arial" pitchFamily="34" charset="0"/>
            </a:endParaRPr>
          </a:p>
        </p:txBody>
      </p:sp>
      <p:pic>
        <p:nvPicPr>
          <p:cNvPr id="10242" name="Picture 2"/>
          <p:cNvPicPr>
            <a:picLocks noChangeAspect="1" noChangeArrowheads="1"/>
          </p:cNvPicPr>
          <p:nvPr/>
        </p:nvPicPr>
        <p:blipFill>
          <a:blip r:embed="rId2"/>
          <a:srcRect/>
          <a:stretch>
            <a:fillRect/>
          </a:stretch>
        </p:blipFill>
        <p:spPr bwMode="auto">
          <a:xfrm>
            <a:off x="1447800" y="3429000"/>
            <a:ext cx="6781800" cy="3276600"/>
          </a:xfrm>
          <a:prstGeom prst="rect">
            <a:avLst/>
          </a:prstGeom>
          <a:ln>
            <a:solidFill>
              <a:schemeClr val="tx1"/>
            </a:solidFill>
          </a:ln>
          <a:effectLst>
            <a:outerShdw blurRad="292100" dist="139700" dir="2700000" algn="tl" rotWithShape="0">
              <a:srgbClr val="333333">
                <a:alpha val="65000"/>
              </a:srgbClr>
            </a:outerShdw>
          </a:effectLst>
        </p:spPr>
      </p:pic>
    </p:spTree>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913150" y="732020"/>
            <a:ext cx="7482590" cy="4401205"/>
          </a:xfrm>
          <a:prstGeom prst="rect">
            <a:avLst/>
          </a:prstGeom>
          <a:noFill/>
        </p:spPr>
        <p:txBody>
          <a:bodyPr wrap="square" rtlCol="0">
            <a:spAutoFit/>
          </a:bodyPr>
          <a:lstStyle/>
          <a:p>
            <a:pPr algn="just">
              <a:lnSpc>
                <a:spcPct val="200000"/>
              </a:lnSpc>
              <a:buClr>
                <a:schemeClr val="accent6">
                  <a:lumMod val="50000"/>
                </a:schemeClr>
              </a:buClr>
              <a:buFont typeface="Wingdings" pitchFamily="2" charset="2"/>
              <a:buChar char="v"/>
              <a:tabLst>
                <a:tab pos="465138" algn="l"/>
              </a:tabLst>
            </a:pPr>
            <a:r>
              <a:rPr lang="en-US" sz="2000" dirty="0" smtClean="0"/>
              <a:t> 	It is shown in Fig. which employs single-turn coils. </a:t>
            </a:r>
          </a:p>
          <a:p>
            <a:pPr algn="just">
              <a:lnSpc>
                <a:spcPct val="200000"/>
              </a:lnSpc>
              <a:buClr>
                <a:schemeClr val="accent6">
                  <a:lumMod val="50000"/>
                </a:schemeClr>
              </a:buClr>
              <a:buFont typeface="Wingdings" pitchFamily="2" charset="2"/>
              <a:buChar char="v"/>
              <a:tabLst>
                <a:tab pos="465138" algn="l"/>
              </a:tabLst>
            </a:pPr>
            <a:r>
              <a:rPr lang="en-US" sz="2000" dirty="0" smtClean="0"/>
              <a:t> 	In lap winding, the finishing end of one coil is connected to a 	commutator segment and to the starting end of the adjacent coil 	situated under the same pole and so on, till and the coils have 	been connected. </a:t>
            </a:r>
          </a:p>
          <a:p>
            <a:pPr algn="just">
              <a:lnSpc>
                <a:spcPct val="200000"/>
              </a:lnSpc>
              <a:buClr>
                <a:schemeClr val="accent6">
                  <a:lumMod val="50000"/>
                </a:schemeClr>
              </a:buClr>
              <a:buFont typeface="Wingdings" pitchFamily="2" charset="2"/>
              <a:buChar char="v"/>
              <a:tabLst>
                <a:tab pos="465138" algn="l"/>
              </a:tabLst>
            </a:pPr>
            <a:r>
              <a:rPr lang="en-US" sz="2000" dirty="0" smtClean="0"/>
              <a:t> 	This type of winding derives its name from the fact it doubles or 	laps back with its succeeding coils.</a:t>
            </a:r>
            <a:endParaRPr lang="en-US" sz="2000" dirty="0">
              <a:solidFill>
                <a:srgbClr val="FF0000"/>
              </a:solidFill>
            </a:endParaRPr>
          </a:p>
        </p:txBody>
      </p:sp>
      <p:sp>
        <p:nvSpPr>
          <p:cNvPr id="5" name="Rectangle 4"/>
          <p:cNvSpPr/>
          <p:nvPr/>
        </p:nvSpPr>
        <p:spPr>
          <a:xfrm>
            <a:off x="0" y="0"/>
            <a:ext cx="9144000" cy="6858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TextBox 5"/>
          <p:cNvSpPr txBox="1"/>
          <p:nvPr/>
        </p:nvSpPr>
        <p:spPr>
          <a:xfrm>
            <a:off x="0" y="77450"/>
            <a:ext cx="9144000" cy="523220"/>
          </a:xfrm>
          <a:prstGeom prst="rect">
            <a:avLst/>
          </a:prstGeom>
          <a:noFill/>
        </p:spPr>
        <p:txBody>
          <a:bodyPr wrap="square" rtlCol="0">
            <a:spAutoFit/>
          </a:bodyPr>
          <a:lstStyle/>
          <a:p>
            <a:pPr algn="ctr"/>
            <a:r>
              <a:rPr lang="en-US" sz="2800" b="1" dirty="0" smtClean="0">
                <a:solidFill>
                  <a:schemeClr val="bg1"/>
                </a:solidFill>
                <a:latin typeface="Arial" pitchFamily="34" charset="0"/>
                <a:cs typeface="Arial" pitchFamily="34" charset="0"/>
              </a:rPr>
              <a:t>Simplex Lap – Winding</a:t>
            </a:r>
            <a:endParaRPr lang="en-US" sz="2800" b="1" dirty="0">
              <a:solidFill>
                <a:schemeClr val="bg1"/>
              </a:solidFill>
              <a:latin typeface="Arial" pitchFamily="34" charset="0"/>
              <a:cs typeface="Arial" pitchFamily="34" charset="0"/>
            </a:endParaRPr>
          </a:p>
        </p:txBody>
      </p:sp>
      <p:sp>
        <p:nvSpPr>
          <p:cNvPr id="7" name="TextBox 6"/>
          <p:cNvSpPr txBox="1"/>
          <p:nvPr/>
        </p:nvSpPr>
        <p:spPr>
          <a:xfrm>
            <a:off x="7924800" y="6367790"/>
            <a:ext cx="685800" cy="261610"/>
          </a:xfrm>
          <a:prstGeom prst="rect">
            <a:avLst/>
          </a:prstGeom>
          <a:noFill/>
        </p:spPr>
        <p:txBody>
          <a:bodyPr wrap="square" rtlCol="0">
            <a:spAutoFit/>
          </a:bodyPr>
          <a:lstStyle/>
          <a:p>
            <a:r>
              <a:rPr lang="en-US" sz="1100" i="1" dirty="0" smtClean="0"/>
              <a:t>Contd….</a:t>
            </a:r>
            <a:endParaRPr lang="en-US" sz="1100" i="1" dirty="0"/>
          </a:p>
        </p:txBody>
      </p:sp>
    </p:spTree>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0" y="0"/>
            <a:ext cx="9144000" cy="6858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TextBox 5"/>
          <p:cNvSpPr txBox="1"/>
          <p:nvPr/>
        </p:nvSpPr>
        <p:spPr>
          <a:xfrm>
            <a:off x="0" y="77450"/>
            <a:ext cx="9144000" cy="523220"/>
          </a:xfrm>
          <a:prstGeom prst="rect">
            <a:avLst/>
          </a:prstGeom>
          <a:noFill/>
        </p:spPr>
        <p:txBody>
          <a:bodyPr wrap="square" rtlCol="0">
            <a:spAutoFit/>
          </a:bodyPr>
          <a:lstStyle/>
          <a:p>
            <a:pPr algn="ctr"/>
            <a:r>
              <a:rPr lang="en-US" sz="2800" b="1" dirty="0" smtClean="0">
                <a:solidFill>
                  <a:schemeClr val="bg1"/>
                </a:solidFill>
                <a:latin typeface="Arial" pitchFamily="34" charset="0"/>
                <a:cs typeface="Arial" pitchFamily="34" charset="0"/>
              </a:rPr>
              <a:t>Simplex Lap – Winding</a:t>
            </a:r>
            <a:endParaRPr lang="en-US" sz="2800" b="1" dirty="0">
              <a:solidFill>
                <a:schemeClr val="bg1"/>
              </a:solidFill>
              <a:latin typeface="Arial" pitchFamily="34" charset="0"/>
              <a:cs typeface="Arial" pitchFamily="34" charset="0"/>
            </a:endParaRPr>
          </a:p>
        </p:txBody>
      </p:sp>
      <p:pic>
        <p:nvPicPr>
          <p:cNvPr id="11266" name="Picture 2"/>
          <p:cNvPicPr>
            <a:picLocks noChangeAspect="1" noChangeArrowheads="1"/>
          </p:cNvPicPr>
          <p:nvPr/>
        </p:nvPicPr>
        <p:blipFill>
          <a:blip r:embed="rId2"/>
          <a:srcRect/>
          <a:stretch>
            <a:fillRect/>
          </a:stretch>
        </p:blipFill>
        <p:spPr bwMode="auto">
          <a:xfrm>
            <a:off x="914400" y="1143000"/>
            <a:ext cx="7859200" cy="4876800"/>
          </a:xfrm>
          <a:prstGeom prst="rect">
            <a:avLst/>
          </a:prstGeom>
          <a:ln>
            <a:solidFill>
              <a:schemeClr val="tx1"/>
            </a:solidFill>
          </a:ln>
          <a:effectLst>
            <a:outerShdw blurRad="292100" dist="139700" dir="2700000" algn="tl" rotWithShape="0">
              <a:srgbClr val="333333">
                <a:alpha val="65000"/>
              </a:srgbClr>
            </a:outerShdw>
          </a:effectLst>
        </p:spPr>
      </p:pic>
    </p:spTree>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868180" y="762000"/>
            <a:ext cx="7482590" cy="5170646"/>
          </a:xfrm>
          <a:prstGeom prst="rect">
            <a:avLst/>
          </a:prstGeom>
          <a:noFill/>
        </p:spPr>
        <p:txBody>
          <a:bodyPr wrap="square" rtlCol="0">
            <a:spAutoFit/>
          </a:bodyPr>
          <a:lstStyle/>
          <a:p>
            <a:pPr algn="just">
              <a:lnSpc>
                <a:spcPct val="150000"/>
              </a:lnSpc>
              <a:buClr>
                <a:schemeClr val="accent6">
                  <a:lumMod val="50000"/>
                </a:schemeClr>
              </a:buClr>
              <a:buFont typeface="Wingdings" pitchFamily="2" charset="2"/>
              <a:buChar char="v"/>
              <a:tabLst>
                <a:tab pos="465138" algn="l"/>
              </a:tabLst>
            </a:pPr>
            <a:r>
              <a:rPr lang="en-US" sz="2000" dirty="0" smtClean="0"/>
              <a:t> 	It is clear that in lap winding, a conductor (or coil side) under one 	pole is connected at the back to a conductor which occupies an 	almost corresponding position under the next pole of opposite 	polarity (as conductors 3 and 12). </a:t>
            </a:r>
          </a:p>
          <a:p>
            <a:pPr algn="just">
              <a:lnSpc>
                <a:spcPct val="150000"/>
              </a:lnSpc>
              <a:buClr>
                <a:schemeClr val="accent6">
                  <a:lumMod val="50000"/>
                </a:schemeClr>
              </a:buClr>
              <a:buFont typeface="Wingdings" pitchFamily="2" charset="2"/>
              <a:buChar char="v"/>
              <a:tabLst>
                <a:tab pos="465138" algn="l"/>
              </a:tabLst>
            </a:pPr>
            <a:r>
              <a:rPr lang="en-US" sz="2000" dirty="0" smtClean="0"/>
              <a:t> 	Conductor No. 12 is then connected to conductor No. 5 under the 	original pole but which is a little removed from the initial 	conductor No. 3.</a:t>
            </a:r>
          </a:p>
          <a:p>
            <a:pPr algn="just">
              <a:lnSpc>
                <a:spcPct val="150000"/>
              </a:lnSpc>
              <a:buClr>
                <a:schemeClr val="accent6">
                  <a:lumMod val="50000"/>
                </a:schemeClr>
              </a:buClr>
              <a:buFont typeface="Wingdings" pitchFamily="2" charset="2"/>
              <a:buChar char="v"/>
              <a:tabLst>
                <a:tab pos="465138" algn="l"/>
              </a:tabLst>
            </a:pPr>
            <a:r>
              <a:rPr lang="en-US" sz="2000" dirty="0" smtClean="0"/>
              <a:t> 	If, instead of returning to the same N-pole, the conductor No. 12 	were taken forward to the next N-pole, it would make no 	difference so far as the direction and magnitude of the e.m.f. 	induced in the circuit are concerned.</a:t>
            </a:r>
            <a:endParaRPr lang="en-US" sz="2000" dirty="0">
              <a:solidFill>
                <a:srgbClr val="FF0000"/>
              </a:solidFill>
            </a:endParaRPr>
          </a:p>
        </p:txBody>
      </p:sp>
      <p:sp>
        <p:nvSpPr>
          <p:cNvPr id="5" name="Rectangle 4"/>
          <p:cNvSpPr/>
          <p:nvPr/>
        </p:nvSpPr>
        <p:spPr>
          <a:xfrm>
            <a:off x="0" y="0"/>
            <a:ext cx="9144000" cy="6858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TextBox 5"/>
          <p:cNvSpPr txBox="1"/>
          <p:nvPr/>
        </p:nvSpPr>
        <p:spPr>
          <a:xfrm>
            <a:off x="0" y="77450"/>
            <a:ext cx="9144000" cy="523220"/>
          </a:xfrm>
          <a:prstGeom prst="rect">
            <a:avLst/>
          </a:prstGeom>
          <a:noFill/>
        </p:spPr>
        <p:txBody>
          <a:bodyPr wrap="square" rtlCol="0">
            <a:spAutoFit/>
          </a:bodyPr>
          <a:lstStyle/>
          <a:p>
            <a:pPr algn="ctr"/>
            <a:r>
              <a:rPr lang="en-US" sz="2800" b="1" dirty="0" smtClean="0">
                <a:solidFill>
                  <a:schemeClr val="bg1"/>
                </a:solidFill>
                <a:latin typeface="Arial" pitchFamily="34" charset="0"/>
                <a:cs typeface="Arial" pitchFamily="34" charset="0"/>
              </a:rPr>
              <a:t>Simplex Wave Winding</a:t>
            </a:r>
            <a:endParaRPr lang="en-US" sz="2800" b="1" dirty="0">
              <a:solidFill>
                <a:schemeClr val="bg1"/>
              </a:solidFill>
              <a:latin typeface="Arial" pitchFamily="34" charset="0"/>
              <a:cs typeface="Arial" pitchFamily="34" charset="0"/>
            </a:endParaRPr>
          </a:p>
        </p:txBody>
      </p:sp>
    </p:spTree>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868180" y="762000"/>
            <a:ext cx="7482590" cy="5632311"/>
          </a:xfrm>
          <a:prstGeom prst="rect">
            <a:avLst/>
          </a:prstGeom>
          <a:noFill/>
        </p:spPr>
        <p:txBody>
          <a:bodyPr wrap="square" rtlCol="0">
            <a:spAutoFit/>
          </a:bodyPr>
          <a:lstStyle/>
          <a:p>
            <a:pPr algn="just">
              <a:lnSpc>
                <a:spcPct val="150000"/>
              </a:lnSpc>
              <a:buClr>
                <a:schemeClr val="accent6">
                  <a:lumMod val="50000"/>
                </a:schemeClr>
              </a:buClr>
              <a:buFont typeface="Wingdings" pitchFamily="2" charset="2"/>
              <a:buChar char="v"/>
              <a:tabLst>
                <a:tab pos="465138" algn="l"/>
              </a:tabLst>
            </a:pPr>
            <a:r>
              <a:rPr lang="en-US" sz="2000" dirty="0" smtClean="0"/>
              <a:t> 	The advantage of the wave winding is that, for a given number of 	poles and armature conductors, it gives more e.m.f. than the lap 	winding. Conversely, for the same e.m.f., lap winding would 	require large number of conductors which will result in higher 	winding cost and less efficient utilization of space in the armature 	slots.</a:t>
            </a:r>
          </a:p>
          <a:p>
            <a:pPr algn="just">
              <a:lnSpc>
                <a:spcPct val="150000"/>
              </a:lnSpc>
              <a:buClr>
                <a:schemeClr val="accent6">
                  <a:lumMod val="50000"/>
                </a:schemeClr>
              </a:buClr>
              <a:buFont typeface="Wingdings" pitchFamily="2" charset="2"/>
              <a:buChar char="v"/>
              <a:tabLst>
                <a:tab pos="465138" algn="l"/>
              </a:tabLst>
            </a:pPr>
            <a:r>
              <a:rPr lang="en-US" sz="2000" dirty="0" smtClean="0"/>
              <a:t> 	Another advantage is that in wave winding, equalizing 	connections are not necessary whereas in a lap winding they 	definitely are. It is so because each of the two paths contains 	conductors lying under all the poles whereas in lap-wound 	armatures, each of the </a:t>
            </a:r>
            <a:r>
              <a:rPr lang="en-US" sz="2000" i="1" dirty="0" smtClean="0"/>
              <a:t>P parallel paths contains conductors </a:t>
            </a:r>
            <a:r>
              <a:rPr lang="en-US" sz="2000" dirty="0" smtClean="0"/>
              <a:t>which 	lie under one pair of poles.</a:t>
            </a:r>
            <a:endParaRPr lang="en-US" sz="2000" dirty="0">
              <a:solidFill>
                <a:srgbClr val="FF0000"/>
              </a:solidFill>
            </a:endParaRPr>
          </a:p>
        </p:txBody>
      </p:sp>
      <p:sp>
        <p:nvSpPr>
          <p:cNvPr id="5" name="Rectangle 4"/>
          <p:cNvSpPr/>
          <p:nvPr/>
        </p:nvSpPr>
        <p:spPr>
          <a:xfrm>
            <a:off x="0" y="0"/>
            <a:ext cx="9144000" cy="6858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TextBox 5"/>
          <p:cNvSpPr txBox="1"/>
          <p:nvPr/>
        </p:nvSpPr>
        <p:spPr>
          <a:xfrm>
            <a:off x="0" y="77450"/>
            <a:ext cx="9144000" cy="523220"/>
          </a:xfrm>
          <a:prstGeom prst="rect">
            <a:avLst/>
          </a:prstGeom>
          <a:noFill/>
        </p:spPr>
        <p:txBody>
          <a:bodyPr wrap="square" rtlCol="0">
            <a:spAutoFit/>
          </a:bodyPr>
          <a:lstStyle/>
          <a:p>
            <a:pPr algn="ctr"/>
            <a:r>
              <a:rPr lang="en-US" sz="2800" b="1" dirty="0" smtClean="0">
                <a:solidFill>
                  <a:schemeClr val="bg1"/>
                </a:solidFill>
                <a:latin typeface="Arial" pitchFamily="34" charset="0"/>
                <a:cs typeface="Arial" pitchFamily="34" charset="0"/>
              </a:rPr>
              <a:t>Uses of Lap and Wave Windings</a:t>
            </a:r>
            <a:endParaRPr lang="en-US" sz="2800" b="1" dirty="0">
              <a:solidFill>
                <a:schemeClr val="bg1"/>
              </a:solidFill>
              <a:latin typeface="Arial" pitchFamily="34" charset="0"/>
              <a:cs typeface="Arial" pitchFamily="34" charset="0"/>
            </a:endParaRPr>
          </a:p>
        </p:txBody>
      </p:sp>
    </p:spTree>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868180" y="762000"/>
            <a:ext cx="7482590" cy="5170646"/>
          </a:xfrm>
          <a:prstGeom prst="rect">
            <a:avLst/>
          </a:prstGeom>
          <a:noFill/>
        </p:spPr>
        <p:txBody>
          <a:bodyPr wrap="square" rtlCol="0">
            <a:spAutoFit/>
          </a:bodyPr>
          <a:lstStyle/>
          <a:p>
            <a:pPr algn="just">
              <a:lnSpc>
                <a:spcPct val="150000"/>
              </a:lnSpc>
              <a:buClr>
                <a:schemeClr val="accent6">
                  <a:lumMod val="50000"/>
                </a:schemeClr>
              </a:buClr>
              <a:tabLst>
                <a:tab pos="465138" algn="l"/>
              </a:tabLst>
            </a:pPr>
            <a:r>
              <a:rPr lang="en-US" sz="2000" dirty="0" smtClean="0"/>
              <a:t>Generators are usually classified according to the way in which their fields are excited. Generators may be divided into</a:t>
            </a:r>
          </a:p>
          <a:p>
            <a:pPr algn="just">
              <a:lnSpc>
                <a:spcPct val="150000"/>
              </a:lnSpc>
              <a:buClr>
                <a:schemeClr val="accent6">
                  <a:lumMod val="50000"/>
                </a:schemeClr>
              </a:buClr>
              <a:tabLst>
                <a:tab pos="465138" algn="l"/>
              </a:tabLst>
            </a:pPr>
            <a:endParaRPr lang="en-US" sz="2000" dirty="0" smtClean="0"/>
          </a:p>
          <a:p>
            <a:pPr algn="just">
              <a:lnSpc>
                <a:spcPct val="150000"/>
              </a:lnSpc>
              <a:buClr>
                <a:schemeClr val="accent6">
                  <a:lumMod val="50000"/>
                </a:schemeClr>
              </a:buClr>
              <a:buFont typeface="Wingdings" pitchFamily="2" charset="2"/>
              <a:buChar char="v"/>
              <a:tabLst>
                <a:tab pos="465138" algn="l"/>
              </a:tabLst>
            </a:pPr>
            <a:r>
              <a:rPr lang="en-US" sz="2000" dirty="0" smtClean="0"/>
              <a:t> </a:t>
            </a:r>
            <a:r>
              <a:rPr lang="en-US" sz="2000" b="1" dirty="0" smtClean="0"/>
              <a:t>	Separately-excited generators </a:t>
            </a:r>
            <a:r>
              <a:rPr lang="en-US" sz="2000" dirty="0" smtClean="0"/>
              <a:t>are those whose field magnets are 	energised from an independent external source of d.c. current. It 	is shown diagramatically in Fig.</a:t>
            </a:r>
          </a:p>
          <a:p>
            <a:pPr algn="just">
              <a:lnSpc>
                <a:spcPct val="150000"/>
              </a:lnSpc>
              <a:buClr>
                <a:schemeClr val="accent6">
                  <a:lumMod val="50000"/>
                </a:schemeClr>
              </a:buClr>
              <a:buFont typeface="Wingdings" pitchFamily="2" charset="2"/>
              <a:buChar char="v"/>
              <a:tabLst>
                <a:tab pos="465138" algn="l"/>
              </a:tabLst>
            </a:pPr>
            <a:endParaRPr lang="en-US" sz="2000" dirty="0" smtClean="0"/>
          </a:p>
          <a:p>
            <a:pPr algn="just">
              <a:lnSpc>
                <a:spcPct val="150000"/>
              </a:lnSpc>
              <a:buClr>
                <a:schemeClr val="accent6">
                  <a:lumMod val="50000"/>
                </a:schemeClr>
              </a:buClr>
              <a:buFont typeface="Wingdings" pitchFamily="2" charset="2"/>
              <a:buChar char="v"/>
              <a:tabLst>
                <a:tab pos="465138" algn="l"/>
              </a:tabLst>
            </a:pPr>
            <a:r>
              <a:rPr lang="en-US" sz="2000" dirty="0" smtClean="0"/>
              <a:t> 	</a:t>
            </a:r>
            <a:r>
              <a:rPr lang="en-US" sz="2000" b="1" dirty="0" smtClean="0"/>
              <a:t>Self-excited generators </a:t>
            </a:r>
            <a:r>
              <a:rPr lang="en-US" sz="2000" dirty="0" smtClean="0"/>
              <a:t>are those whose field magnets are 	energised by the current produced by the generators themselves. 	Due to residual magnetism, there is always present some flux in 	the poles.	</a:t>
            </a:r>
            <a:endParaRPr lang="en-US" sz="2000" dirty="0">
              <a:solidFill>
                <a:srgbClr val="FF0000"/>
              </a:solidFill>
            </a:endParaRPr>
          </a:p>
        </p:txBody>
      </p:sp>
      <p:sp>
        <p:nvSpPr>
          <p:cNvPr id="5" name="Rectangle 4"/>
          <p:cNvSpPr/>
          <p:nvPr/>
        </p:nvSpPr>
        <p:spPr>
          <a:xfrm>
            <a:off x="0" y="0"/>
            <a:ext cx="9144000" cy="6858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TextBox 5"/>
          <p:cNvSpPr txBox="1"/>
          <p:nvPr/>
        </p:nvSpPr>
        <p:spPr>
          <a:xfrm>
            <a:off x="0" y="77450"/>
            <a:ext cx="9144000" cy="523220"/>
          </a:xfrm>
          <a:prstGeom prst="rect">
            <a:avLst/>
          </a:prstGeom>
          <a:noFill/>
        </p:spPr>
        <p:txBody>
          <a:bodyPr wrap="square" rtlCol="0">
            <a:spAutoFit/>
          </a:bodyPr>
          <a:lstStyle/>
          <a:p>
            <a:pPr algn="ctr"/>
            <a:r>
              <a:rPr lang="en-US" sz="2800" b="1" dirty="0" smtClean="0">
                <a:solidFill>
                  <a:schemeClr val="bg1"/>
                </a:solidFill>
                <a:latin typeface="Arial" pitchFamily="34" charset="0"/>
                <a:cs typeface="Arial" pitchFamily="34" charset="0"/>
              </a:rPr>
              <a:t>Types of Generators </a:t>
            </a:r>
            <a:endParaRPr lang="en-US" sz="2800" b="1" dirty="0">
              <a:solidFill>
                <a:schemeClr val="bg1"/>
              </a:solidFill>
              <a:latin typeface="Arial" pitchFamily="34" charset="0"/>
              <a:cs typeface="Arial" pitchFamily="34" charset="0"/>
            </a:endParaRPr>
          </a:p>
        </p:txBody>
      </p:sp>
    </p:spTree>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0" y="0"/>
            <a:ext cx="9144000" cy="6858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TextBox 5"/>
          <p:cNvSpPr txBox="1"/>
          <p:nvPr/>
        </p:nvSpPr>
        <p:spPr>
          <a:xfrm>
            <a:off x="0" y="77450"/>
            <a:ext cx="9144000" cy="523220"/>
          </a:xfrm>
          <a:prstGeom prst="rect">
            <a:avLst/>
          </a:prstGeom>
          <a:noFill/>
        </p:spPr>
        <p:txBody>
          <a:bodyPr wrap="square" rtlCol="0">
            <a:spAutoFit/>
          </a:bodyPr>
          <a:lstStyle/>
          <a:p>
            <a:pPr algn="ctr"/>
            <a:r>
              <a:rPr lang="en-US" sz="2800" b="1" dirty="0" smtClean="0">
                <a:solidFill>
                  <a:schemeClr val="bg1"/>
                </a:solidFill>
                <a:latin typeface="Arial" pitchFamily="34" charset="0"/>
                <a:cs typeface="Arial" pitchFamily="34" charset="0"/>
              </a:rPr>
              <a:t>Types of Generators </a:t>
            </a:r>
            <a:endParaRPr lang="en-US" sz="2800" b="1" dirty="0">
              <a:solidFill>
                <a:schemeClr val="bg1"/>
              </a:solidFill>
              <a:latin typeface="Arial" pitchFamily="34" charset="0"/>
              <a:cs typeface="Arial" pitchFamily="34" charset="0"/>
            </a:endParaRPr>
          </a:p>
        </p:txBody>
      </p:sp>
      <p:pic>
        <p:nvPicPr>
          <p:cNvPr id="3" name="Picture 2"/>
          <p:cNvPicPr>
            <a:picLocks noChangeAspect="1"/>
          </p:cNvPicPr>
          <p:nvPr/>
        </p:nvPicPr>
        <p:blipFill>
          <a:blip r:embed="rId2"/>
          <a:stretch>
            <a:fillRect/>
          </a:stretch>
        </p:blipFill>
        <p:spPr>
          <a:xfrm>
            <a:off x="533399" y="782300"/>
            <a:ext cx="8295649" cy="5542300"/>
          </a:xfrm>
          <a:prstGeom prst="rect">
            <a:avLst/>
          </a:prstGeom>
        </p:spPr>
      </p:pic>
    </p:spTree>
    <p:extLst>
      <p:ext uri="{BB962C8B-B14F-4D97-AF65-F5344CB8AC3E}">
        <p14:creationId xmlns:p14="http://schemas.microsoft.com/office/powerpoint/2010/main" val="2307840045"/>
      </p:ext>
    </p:extLst>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868180" y="762000"/>
            <a:ext cx="7482590" cy="3785652"/>
          </a:xfrm>
          <a:prstGeom prst="rect">
            <a:avLst/>
          </a:prstGeom>
          <a:noFill/>
        </p:spPr>
        <p:txBody>
          <a:bodyPr wrap="square" rtlCol="0">
            <a:spAutoFit/>
          </a:bodyPr>
          <a:lstStyle/>
          <a:p>
            <a:pPr algn="just">
              <a:lnSpc>
                <a:spcPct val="150000"/>
              </a:lnSpc>
              <a:buClr>
                <a:schemeClr val="accent6">
                  <a:lumMod val="50000"/>
                </a:schemeClr>
              </a:buClr>
              <a:tabLst>
                <a:tab pos="465138" algn="l"/>
              </a:tabLst>
            </a:pPr>
            <a:r>
              <a:rPr lang="en-US" sz="2000" dirty="0" smtClean="0"/>
              <a:t>It is the voltage drop over the brush contact resistance when current passes from commutator segments to brushes and finally to the external load. Its value depends on the amount of current and the value of contact resistance. This drop is usually small and includes brushes of both polarities. However, in practice, the brush contact drop is assumed to have following constant values for all loads.</a:t>
            </a:r>
          </a:p>
          <a:p>
            <a:pPr algn="just">
              <a:lnSpc>
                <a:spcPct val="150000"/>
              </a:lnSpc>
              <a:buClr>
                <a:schemeClr val="accent6">
                  <a:lumMod val="50000"/>
                </a:schemeClr>
              </a:buClr>
              <a:tabLst>
                <a:tab pos="465138" algn="l"/>
              </a:tabLst>
            </a:pPr>
            <a:r>
              <a:rPr lang="en-US" sz="2000" dirty="0" smtClean="0"/>
              <a:t>		0.5 V for metal-graphite brushes.</a:t>
            </a:r>
          </a:p>
          <a:p>
            <a:pPr algn="just">
              <a:lnSpc>
                <a:spcPct val="150000"/>
              </a:lnSpc>
              <a:buClr>
                <a:schemeClr val="accent6">
                  <a:lumMod val="50000"/>
                </a:schemeClr>
              </a:buClr>
              <a:tabLst>
                <a:tab pos="465138" algn="l"/>
              </a:tabLst>
            </a:pPr>
            <a:r>
              <a:rPr lang="en-US" sz="2000" dirty="0" smtClean="0"/>
              <a:t>		2.0 V for carbon brushes.	</a:t>
            </a:r>
            <a:endParaRPr lang="en-US" sz="2000" dirty="0">
              <a:solidFill>
                <a:srgbClr val="FF0000"/>
              </a:solidFill>
            </a:endParaRPr>
          </a:p>
        </p:txBody>
      </p:sp>
      <p:sp>
        <p:nvSpPr>
          <p:cNvPr id="5" name="Rectangle 4"/>
          <p:cNvSpPr/>
          <p:nvPr/>
        </p:nvSpPr>
        <p:spPr>
          <a:xfrm>
            <a:off x="0" y="0"/>
            <a:ext cx="9144000" cy="6858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TextBox 5"/>
          <p:cNvSpPr txBox="1"/>
          <p:nvPr/>
        </p:nvSpPr>
        <p:spPr>
          <a:xfrm>
            <a:off x="0" y="77450"/>
            <a:ext cx="9144000" cy="523220"/>
          </a:xfrm>
          <a:prstGeom prst="rect">
            <a:avLst/>
          </a:prstGeom>
          <a:noFill/>
        </p:spPr>
        <p:txBody>
          <a:bodyPr wrap="square" rtlCol="0">
            <a:spAutoFit/>
          </a:bodyPr>
          <a:lstStyle/>
          <a:p>
            <a:pPr algn="ctr"/>
            <a:r>
              <a:rPr lang="en-US" sz="2800" b="1" dirty="0" smtClean="0">
                <a:solidFill>
                  <a:schemeClr val="bg1"/>
                </a:solidFill>
                <a:latin typeface="Arial" pitchFamily="34" charset="0"/>
                <a:cs typeface="Arial" pitchFamily="34" charset="0"/>
              </a:rPr>
              <a:t>Brush Contact Drop</a:t>
            </a:r>
            <a:endParaRPr lang="en-US" sz="2800" b="1" dirty="0">
              <a:solidFill>
                <a:schemeClr val="bg1"/>
              </a:solidFill>
              <a:latin typeface="Arial" pitchFamily="34" charset="0"/>
              <a:cs typeface="Arial" pitchFamily="34" charset="0"/>
            </a:endParaRPr>
          </a:p>
        </p:txBody>
      </p:sp>
    </p:spTree>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868180" y="762000"/>
            <a:ext cx="8275820" cy="3785652"/>
          </a:xfrm>
          <a:prstGeom prst="rect">
            <a:avLst/>
          </a:prstGeom>
          <a:noFill/>
        </p:spPr>
        <p:txBody>
          <a:bodyPr wrap="square" rtlCol="0">
            <a:spAutoFit/>
          </a:bodyPr>
          <a:lstStyle/>
          <a:p>
            <a:pPr algn="just">
              <a:lnSpc>
                <a:spcPct val="150000"/>
              </a:lnSpc>
              <a:buClr>
                <a:schemeClr val="accent6">
                  <a:lumMod val="50000"/>
                </a:schemeClr>
              </a:buClr>
              <a:tabLst>
                <a:tab pos="465138" algn="l"/>
              </a:tabLst>
            </a:pPr>
            <a:r>
              <a:rPr lang="en-US" sz="2000" dirty="0" smtClean="0"/>
              <a:t>Let 		</a:t>
            </a:r>
            <a:r>
              <a:rPr lang="el-GR" sz="2000" dirty="0" smtClean="0"/>
              <a:t>Φ </a:t>
            </a:r>
            <a:r>
              <a:rPr lang="en-US" sz="2000" dirty="0" smtClean="0"/>
              <a:t> </a:t>
            </a:r>
            <a:r>
              <a:rPr lang="el-GR" sz="2000" dirty="0" smtClean="0"/>
              <a:t>= </a:t>
            </a:r>
            <a:r>
              <a:rPr lang="en-US" sz="2000" dirty="0" smtClean="0"/>
              <a:t> flux/pole in weber</a:t>
            </a:r>
          </a:p>
          <a:p>
            <a:pPr algn="just">
              <a:lnSpc>
                <a:spcPct val="150000"/>
              </a:lnSpc>
              <a:buClr>
                <a:schemeClr val="accent6">
                  <a:lumMod val="50000"/>
                </a:schemeClr>
              </a:buClr>
              <a:tabLst>
                <a:tab pos="465138" algn="l"/>
              </a:tabLst>
            </a:pPr>
            <a:r>
              <a:rPr lang="en-US" sz="2000" i="1" dirty="0" smtClean="0"/>
              <a:t>		Z   =  total number of armature conductors</a:t>
            </a:r>
            <a:r>
              <a:rPr lang="en-US" sz="2000" dirty="0" smtClean="0"/>
              <a:t>	</a:t>
            </a:r>
          </a:p>
          <a:p>
            <a:pPr algn="just">
              <a:lnSpc>
                <a:spcPct val="150000"/>
              </a:lnSpc>
              <a:buClr>
                <a:schemeClr val="accent6">
                  <a:lumMod val="50000"/>
                </a:schemeClr>
              </a:buClr>
              <a:tabLst>
                <a:tab pos="465138" algn="l"/>
              </a:tabLst>
            </a:pPr>
            <a:r>
              <a:rPr lang="en-US" sz="2000" dirty="0" smtClean="0"/>
              <a:t>		     =  No. of slots x No. of conductors/slot</a:t>
            </a:r>
          </a:p>
          <a:p>
            <a:pPr algn="just">
              <a:lnSpc>
                <a:spcPct val="150000"/>
              </a:lnSpc>
              <a:buClr>
                <a:schemeClr val="accent6">
                  <a:lumMod val="50000"/>
                </a:schemeClr>
              </a:buClr>
              <a:tabLst>
                <a:tab pos="465138" algn="l"/>
              </a:tabLst>
            </a:pPr>
            <a:r>
              <a:rPr lang="en-US" sz="2000" i="1" dirty="0" smtClean="0"/>
              <a:t>		P  =  </a:t>
            </a:r>
            <a:r>
              <a:rPr lang="en-US" sz="2000" dirty="0" smtClean="0"/>
              <a:t>No. of generator poles</a:t>
            </a:r>
          </a:p>
          <a:p>
            <a:pPr algn="just">
              <a:lnSpc>
                <a:spcPct val="150000"/>
              </a:lnSpc>
              <a:buClr>
                <a:schemeClr val="accent6">
                  <a:lumMod val="50000"/>
                </a:schemeClr>
              </a:buClr>
              <a:tabLst>
                <a:tab pos="465138" algn="l"/>
              </a:tabLst>
            </a:pPr>
            <a:r>
              <a:rPr lang="en-US" sz="2000" dirty="0" smtClean="0"/>
              <a:t>		A  =  No. of parallel paths in armature</a:t>
            </a:r>
          </a:p>
          <a:p>
            <a:pPr algn="just">
              <a:lnSpc>
                <a:spcPct val="150000"/>
              </a:lnSpc>
              <a:buClr>
                <a:schemeClr val="accent6">
                  <a:lumMod val="50000"/>
                </a:schemeClr>
              </a:buClr>
              <a:tabLst>
                <a:tab pos="465138" algn="l"/>
              </a:tabLst>
            </a:pPr>
            <a:r>
              <a:rPr lang="en-US" sz="2000" dirty="0" smtClean="0"/>
              <a:t>		N  =  armature rotation in revolutions per minute (r.p.m.)</a:t>
            </a:r>
          </a:p>
          <a:p>
            <a:pPr algn="just">
              <a:lnSpc>
                <a:spcPct val="150000"/>
              </a:lnSpc>
              <a:buClr>
                <a:schemeClr val="accent6">
                  <a:lumMod val="50000"/>
                </a:schemeClr>
              </a:buClr>
              <a:tabLst>
                <a:tab pos="465138" algn="l"/>
              </a:tabLst>
            </a:pPr>
            <a:r>
              <a:rPr lang="en-US" sz="2000" dirty="0" smtClean="0"/>
              <a:t>		E   =  e.m.f. induced in any parallel path in armature</a:t>
            </a:r>
          </a:p>
          <a:p>
            <a:pPr algn="just">
              <a:lnSpc>
                <a:spcPct val="150000"/>
              </a:lnSpc>
              <a:buClr>
                <a:schemeClr val="accent6">
                  <a:lumMod val="50000"/>
                </a:schemeClr>
              </a:buClr>
              <a:tabLst>
                <a:tab pos="465138" algn="l"/>
              </a:tabLst>
            </a:pPr>
            <a:r>
              <a:rPr lang="en-US" sz="2000" dirty="0" smtClean="0"/>
              <a:t>Generated e.m.f. E</a:t>
            </a:r>
            <a:r>
              <a:rPr lang="en-US" sz="2000" baseline="-25000" dirty="0" smtClean="0"/>
              <a:t>g</a:t>
            </a:r>
            <a:r>
              <a:rPr lang="en-US" sz="2000" dirty="0" smtClean="0"/>
              <a:t> = e.m.f. generated in any one of the parallel paths i.e. E.</a:t>
            </a:r>
            <a:endParaRPr lang="en-US" sz="2000" dirty="0">
              <a:solidFill>
                <a:srgbClr val="FF0000"/>
              </a:solidFill>
            </a:endParaRPr>
          </a:p>
        </p:txBody>
      </p:sp>
      <p:sp>
        <p:nvSpPr>
          <p:cNvPr id="5" name="Rectangle 4"/>
          <p:cNvSpPr/>
          <p:nvPr/>
        </p:nvSpPr>
        <p:spPr>
          <a:xfrm>
            <a:off x="0" y="0"/>
            <a:ext cx="9144000" cy="6858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TextBox 5"/>
          <p:cNvSpPr txBox="1"/>
          <p:nvPr/>
        </p:nvSpPr>
        <p:spPr>
          <a:xfrm>
            <a:off x="0" y="77450"/>
            <a:ext cx="9144000" cy="523220"/>
          </a:xfrm>
          <a:prstGeom prst="rect">
            <a:avLst/>
          </a:prstGeom>
          <a:noFill/>
        </p:spPr>
        <p:txBody>
          <a:bodyPr wrap="square" rtlCol="0">
            <a:spAutoFit/>
          </a:bodyPr>
          <a:lstStyle/>
          <a:p>
            <a:pPr algn="ctr"/>
            <a:r>
              <a:rPr lang="en-US" sz="2800" b="1" dirty="0" smtClean="0">
                <a:solidFill>
                  <a:schemeClr val="bg1"/>
                </a:solidFill>
                <a:latin typeface="Arial" pitchFamily="34" charset="0"/>
                <a:cs typeface="Arial" pitchFamily="34" charset="0"/>
              </a:rPr>
              <a:t>Generated E.M.F. or E.M.F. Equation of a Generator</a:t>
            </a:r>
            <a:endParaRPr lang="en-US" sz="2800" b="1" dirty="0">
              <a:solidFill>
                <a:schemeClr val="bg1"/>
              </a:solidFill>
              <a:latin typeface="Arial" pitchFamily="34" charset="0"/>
              <a:cs typeface="Arial" pitchFamily="34" charset="0"/>
            </a:endParaRPr>
          </a:p>
        </p:txBody>
      </p:sp>
      <p:pic>
        <p:nvPicPr>
          <p:cNvPr id="3" name="Picture 2"/>
          <p:cNvPicPr>
            <a:picLocks noChangeAspect="1"/>
          </p:cNvPicPr>
          <p:nvPr/>
        </p:nvPicPr>
        <p:blipFill>
          <a:blip r:embed="rId2"/>
          <a:stretch>
            <a:fillRect/>
          </a:stretch>
        </p:blipFill>
        <p:spPr>
          <a:xfrm>
            <a:off x="868180" y="4547652"/>
            <a:ext cx="7794752" cy="2133600"/>
          </a:xfrm>
          <a:prstGeom prst="rect">
            <a:avLst/>
          </a:prstGeom>
        </p:spPr>
      </p:pic>
    </p:spTree>
    <p:extLst>
      <p:ext uri="{BB962C8B-B14F-4D97-AF65-F5344CB8AC3E}">
        <p14:creationId xmlns:p14="http://schemas.microsoft.com/office/powerpoint/2010/main" val="523259617"/>
      </p:ext>
    </p:extLst>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0" y="0"/>
            <a:ext cx="9144000" cy="6858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TextBox 5"/>
          <p:cNvSpPr txBox="1"/>
          <p:nvPr/>
        </p:nvSpPr>
        <p:spPr>
          <a:xfrm>
            <a:off x="0" y="77450"/>
            <a:ext cx="9144000" cy="523220"/>
          </a:xfrm>
          <a:prstGeom prst="rect">
            <a:avLst/>
          </a:prstGeom>
          <a:noFill/>
        </p:spPr>
        <p:txBody>
          <a:bodyPr wrap="square" rtlCol="0">
            <a:spAutoFit/>
          </a:bodyPr>
          <a:lstStyle/>
          <a:p>
            <a:pPr algn="ctr"/>
            <a:r>
              <a:rPr lang="en-US" sz="2800" b="1" dirty="0" smtClean="0">
                <a:solidFill>
                  <a:schemeClr val="bg1"/>
                </a:solidFill>
                <a:latin typeface="Arial" pitchFamily="34" charset="0"/>
                <a:cs typeface="Arial" pitchFamily="34" charset="0"/>
              </a:rPr>
              <a:t>Generated E.M.F. or E.M.F. Equation of a Generator</a:t>
            </a:r>
            <a:endParaRPr lang="en-US" sz="2800" b="1" dirty="0">
              <a:solidFill>
                <a:schemeClr val="bg1"/>
              </a:solidFill>
              <a:latin typeface="Arial" pitchFamily="34" charset="0"/>
              <a:cs typeface="Arial" pitchFamily="34" charset="0"/>
            </a:endParaRPr>
          </a:p>
        </p:txBody>
      </p:sp>
      <p:pic>
        <p:nvPicPr>
          <p:cNvPr id="4" name="Picture 3"/>
          <p:cNvPicPr>
            <a:picLocks noChangeAspect="1"/>
          </p:cNvPicPr>
          <p:nvPr/>
        </p:nvPicPr>
        <p:blipFill>
          <a:blip r:embed="rId2"/>
          <a:stretch>
            <a:fillRect/>
          </a:stretch>
        </p:blipFill>
        <p:spPr>
          <a:xfrm>
            <a:off x="685800" y="914400"/>
            <a:ext cx="8146915" cy="5715000"/>
          </a:xfrm>
          <a:prstGeom prst="rect">
            <a:avLst/>
          </a:prstGeom>
        </p:spPr>
      </p:pic>
    </p:spTree>
    <p:extLst>
      <p:ext uri="{BB962C8B-B14F-4D97-AF65-F5344CB8AC3E}">
        <p14:creationId xmlns:p14="http://schemas.microsoft.com/office/powerpoint/2010/main" val="2676098696"/>
      </p:ext>
    </p:extLst>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0" y="0"/>
            <a:ext cx="9144000" cy="6858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TextBox 5"/>
          <p:cNvSpPr txBox="1"/>
          <p:nvPr/>
        </p:nvSpPr>
        <p:spPr>
          <a:xfrm>
            <a:off x="0" y="77450"/>
            <a:ext cx="9144000" cy="523220"/>
          </a:xfrm>
          <a:prstGeom prst="rect">
            <a:avLst/>
          </a:prstGeom>
          <a:noFill/>
        </p:spPr>
        <p:txBody>
          <a:bodyPr wrap="square" rtlCol="0">
            <a:spAutoFit/>
          </a:bodyPr>
          <a:lstStyle/>
          <a:p>
            <a:pPr algn="ctr"/>
            <a:r>
              <a:rPr lang="en-US" sz="2800" b="1" dirty="0" smtClean="0">
                <a:solidFill>
                  <a:schemeClr val="bg1"/>
                </a:solidFill>
                <a:latin typeface="Arial" pitchFamily="34" charset="0"/>
                <a:cs typeface="Arial" pitchFamily="34" charset="0"/>
              </a:rPr>
              <a:t>Example-1</a:t>
            </a:r>
            <a:endParaRPr lang="en-US" sz="2800" b="1" dirty="0">
              <a:solidFill>
                <a:schemeClr val="bg1"/>
              </a:solidFill>
              <a:latin typeface="Arial" pitchFamily="34" charset="0"/>
              <a:cs typeface="Arial" pitchFamily="34" charset="0"/>
            </a:endParaRPr>
          </a:p>
        </p:txBody>
      </p:sp>
      <p:sp>
        <p:nvSpPr>
          <p:cNvPr id="7" name="Rectangle 6"/>
          <p:cNvSpPr/>
          <p:nvPr/>
        </p:nvSpPr>
        <p:spPr>
          <a:xfrm>
            <a:off x="342900" y="914400"/>
            <a:ext cx="8458200" cy="1200329"/>
          </a:xfrm>
          <a:prstGeom prst="rect">
            <a:avLst/>
          </a:prstGeom>
        </p:spPr>
        <p:txBody>
          <a:bodyPr wrap="square">
            <a:spAutoFit/>
          </a:bodyPr>
          <a:lstStyle/>
          <a:p>
            <a:pPr algn="just"/>
            <a:r>
              <a:rPr lang="en-IN" sz="2400" dirty="0"/>
              <a:t>A shunt generator delivers 450 A at 230 V and the resistance of the shunt </a:t>
            </a:r>
            <a:r>
              <a:rPr lang="en-IN" sz="2400" dirty="0" smtClean="0"/>
              <a:t>field and </a:t>
            </a:r>
            <a:r>
              <a:rPr lang="en-IN" sz="2400" dirty="0"/>
              <a:t>armature are 50 Ω and 0.03 Ω respectively. Calculate the generated </a:t>
            </a:r>
            <a:r>
              <a:rPr lang="en-IN" sz="2400" dirty="0" err="1"/>
              <a:t>e.m.f</a:t>
            </a:r>
            <a:r>
              <a:rPr lang="en-IN" sz="2400" dirty="0"/>
              <a:t>.</a:t>
            </a:r>
          </a:p>
        </p:txBody>
      </p:sp>
      <p:pic>
        <p:nvPicPr>
          <p:cNvPr id="8" name="Picture 7"/>
          <p:cNvPicPr>
            <a:picLocks noChangeAspect="1"/>
          </p:cNvPicPr>
          <p:nvPr/>
        </p:nvPicPr>
        <p:blipFill>
          <a:blip r:embed="rId2"/>
          <a:stretch>
            <a:fillRect/>
          </a:stretch>
        </p:blipFill>
        <p:spPr>
          <a:xfrm>
            <a:off x="5715000" y="2114729"/>
            <a:ext cx="3230884" cy="2000071"/>
          </a:xfrm>
          <a:prstGeom prst="rect">
            <a:avLst/>
          </a:prstGeom>
        </p:spPr>
      </p:pic>
      <p:sp>
        <p:nvSpPr>
          <p:cNvPr id="10" name="Rectangle 9"/>
          <p:cNvSpPr/>
          <p:nvPr/>
        </p:nvSpPr>
        <p:spPr>
          <a:xfrm>
            <a:off x="342900" y="2152829"/>
            <a:ext cx="7277100" cy="3785652"/>
          </a:xfrm>
          <a:prstGeom prst="rect">
            <a:avLst/>
          </a:prstGeom>
        </p:spPr>
        <p:txBody>
          <a:bodyPr wrap="square">
            <a:spAutoFit/>
          </a:bodyPr>
          <a:lstStyle/>
          <a:p>
            <a:r>
              <a:rPr lang="en-IN" sz="2400" b="1" dirty="0" smtClean="0"/>
              <a:t>Solution:</a:t>
            </a:r>
          </a:p>
          <a:p>
            <a:r>
              <a:rPr lang="en-IN" sz="2400" dirty="0" smtClean="0"/>
              <a:t>Current </a:t>
            </a:r>
            <a:r>
              <a:rPr lang="en-IN" sz="2400" dirty="0"/>
              <a:t>through shunt field winding is</a:t>
            </a:r>
          </a:p>
          <a:p>
            <a:r>
              <a:rPr lang="en-IN" sz="2400" dirty="0" err="1"/>
              <a:t>Ish</a:t>
            </a:r>
            <a:r>
              <a:rPr lang="en-IN" sz="2400" dirty="0"/>
              <a:t> = 230/50 = 4.6 A</a:t>
            </a:r>
          </a:p>
          <a:p>
            <a:r>
              <a:rPr lang="en-IN" sz="2400" dirty="0"/>
              <a:t>Load current I = 450 A</a:t>
            </a:r>
          </a:p>
          <a:p>
            <a:r>
              <a:rPr lang="en-IN" sz="2400" dirty="0"/>
              <a:t>∴ Armature current </a:t>
            </a:r>
            <a:r>
              <a:rPr lang="en-IN" sz="2400" dirty="0" err="1"/>
              <a:t>Ia</a:t>
            </a:r>
            <a:r>
              <a:rPr lang="en-IN" sz="2400" dirty="0"/>
              <a:t>= I + </a:t>
            </a:r>
            <a:r>
              <a:rPr lang="en-IN" sz="2400" dirty="0" err="1"/>
              <a:t>Ish</a:t>
            </a:r>
            <a:endParaRPr lang="en-IN" sz="2400" dirty="0"/>
          </a:p>
          <a:p>
            <a:r>
              <a:rPr lang="en-IN" sz="2400" dirty="0"/>
              <a:t>= 450 + 4.6 = 454.6 A</a:t>
            </a:r>
          </a:p>
          <a:p>
            <a:endParaRPr lang="en-IN" sz="2400" dirty="0"/>
          </a:p>
          <a:p>
            <a:r>
              <a:rPr lang="en-IN" sz="2400" dirty="0"/>
              <a:t>Now </a:t>
            </a:r>
            <a:r>
              <a:rPr lang="en-IN" sz="2400" i="1" dirty="0" err="1"/>
              <a:t>Eg</a:t>
            </a:r>
            <a:r>
              <a:rPr lang="en-IN" sz="2400" i="1" dirty="0"/>
              <a:t> </a:t>
            </a:r>
            <a:r>
              <a:rPr lang="en-IN" sz="2400" dirty="0"/>
              <a:t>= terminal voltage + armature </a:t>
            </a:r>
            <a:r>
              <a:rPr lang="en-IN" sz="2400" dirty="0" smtClean="0"/>
              <a:t>drop = </a:t>
            </a:r>
            <a:r>
              <a:rPr lang="en-IN" sz="2400" i="1" dirty="0"/>
              <a:t>V </a:t>
            </a:r>
            <a:r>
              <a:rPr lang="en-IN" sz="2400" dirty="0"/>
              <a:t>+ </a:t>
            </a:r>
            <a:r>
              <a:rPr lang="en-IN" sz="2400" i="1" dirty="0" err="1"/>
              <a:t>IaRa</a:t>
            </a:r>
            <a:endParaRPr lang="en-IN" sz="2400" i="1" dirty="0"/>
          </a:p>
          <a:p>
            <a:r>
              <a:rPr lang="en-IN" sz="2400" dirty="0"/>
              <a:t>∴ </a:t>
            </a:r>
            <a:r>
              <a:rPr lang="en-IN" sz="2400" dirty="0" err="1"/>
              <a:t>e.m.f</a:t>
            </a:r>
            <a:r>
              <a:rPr lang="en-IN" sz="2400" dirty="0"/>
              <a:t>. generated in the armature</a:t>
            </a:r>
          </a:p>
          <a:p>
            <a:r>
              <a:rPr lang="nn-NO" sz="2400" i="1" dirty="0" smtClean="0"/>
              <a:t>		Eg </a:t>
            </a:r>
            <a:r>
              <a:rPr lang="nn-NO" sz="2400" dirty="0"/>
              <a:t>= 230 + 13.6 = </a:t>
            </a:r>
            <a:r>
              <a:rPr lang="nn-NO" sz="2400" b="1" dirty="0"/>
              <a:t>243.6 V</a:t>
            </a:r>
            <a:endParaRPr lang="en-IN" sz="2400" dirty="0"/>
          </a:p>
        </p:txBody>
      </p:sp>
    </p:spTree>
    <p:extLst>
      <p:ext uri="{BB962C8B-B14F-4D97-AF65-F5344CB8AC3E}">
        <p14:creationId xmlns:p14="http://schemas.microsoft.com/office/powerpoint/2010/main" val="18734284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0">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0">
                                            <p:txEl>
                                              <p:pRg st="0" end="0"/>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0">
                                            <p:txEl>
                                              <p:pRg st="2" end="2"/>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0">
                                            <p:txEl>
                                              <p:pRg st="3" end="3"/>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0">
                                            <p:txEl>
                                              <p:pRg st="4" end="4"/>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10">
                                            <p:txEl>
                                              <p:pRg st="5" end="5"/>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10">
                                            <p:txEl>
                                              <p:pRg st="7" end="7"/>
                                            </p:txEl>
                                          </p:spTgt>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10">
                                            <p:txEl>
                                              <p:pRg st="8" end="8"/>
                                            </p:txEl>
                                          </p:spTgt>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10">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913150" y="687050"/>
            <a:ext cx="7482590" cy="3699474"/>
          </a:xfrm>
          <a:prstGeom prst="rect">
            <a:avLst/>
          </a:prstGeom>
          <a:noFill/>
        </p:spPr>
        <p:txBody>
          <a:bodyPr wrap="square" rtlCol="0">
            <a:spAutoFit/>
          </a:bodyPr>
          <a:lstStyle/>
          <a:p>
            <a:pPr algn="just">
              <a:lnSpc>
                <a:spcPct val="200000"/>
              </a:lnSpc>
              <a:buClr>
                <a:schemeClr val="accent6">
                  <a:lumMod val="50000"/>
                </a:schemeClr>
              </a:buClr>
              <a:tabLst>
                <a:tab pos="465138" algn="l"/>
              </a:tabLst>
            </a:pPr>
            <a:r>
              <a:rPr lang="en-US" sz="2000" dirty="0" smtClean="0"/>
              <a:t>Due to the rotation of the iron core of the armature in the magnetic flux of the field poles, there are some losses taking place continuously in the core and are known as Iron Losses or Core Losses. Iron losses consist of </a:t>
            </a:r>
          </a:p>
          <a:p>
            <a:pPr algn="just">
              <a:lnSpc>
                <a:spcPct val="200000"/>
              </a:lnSpc>
              <a:buClr>
                <a:schemeClr val="accent6">
                  <a:lumMod val="50000"/>
                </a:schemeClr>
              </a:buClr>
              <a:buFont typeface="+mj-lt"/>
              <a:buAutoNum type="arabicPeriod"/>
              <a:tabLst>
                <a:tab pos="465138" algn="l"/>
              </a:tabLst>
            </a:pPr>
            <a:r>
              <a:rPr lang="en-US" sz="2000" b="1" dirty="0" smtClean="0"/>
              <a:t> 	Hysteresis loss</a:t>
            </a:r>
          </a:p>
          <a:p>
            <a:pPr algn="just">
              <a:lnSpc>
                <a:spcPct val="200000"/>
              </a:lnSpc>
              <a:buClr>
                <a:schemeClr val="accent6">
                  <a:lumMod val="50000"/>
                </a:schemeClr>
              </a:buClr>
              <a:buFont typeface="+mj-lt"/>
              <a:buAutoNum type="arabicPeriod"/>
              <a:tabLst>
                <a:tab pos="465138" algn="l"/>
              </a:tabLst>
            </a:pPr>
            <a:r>
              <a:rPr lang="en-US" sz="2000" b="1" dirty="0" smtClean="0"/>
              <a:t> 	Eddy Current loss</a:t>
            </a:r>
            <a:endParaRPr lang="en-US" sz="2000" dirty="0">
              <a:solidFill>
                <a:srgbClr val="FF0000"/>
              </a:solidFill>
            </a:endParaRPr>
          </a:p>
        </p:txBody>
      </p:sp>
      <p:sp>
        <p:nvSpPr>
          <p:cNvPr id="5" name="Rectangle 4"/>
          <p:cNvSpPr/>
          <p:nvPr/>
        </p:nvSpPr>
        <p:spPr>
          <a:xfrm>
            <a:off x="0" y="0"/>
            <a:ext cx="9144000" cy="6858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TextBox 5"/>
          <p:cNvSpPr txBox="1"/>
          <p:nvPr/>
        </p:nvSpPr>
        <p:spPr>
          <a:xfrm>
            <a:off x="0" y="77450"/>
            <a:ext cx="9144000" cy="523220"/>
          </a:xfrm>
          <a:prstGeom prst="rect">
            <a:avLst/>
          </a:prstGeom>
          <a:noFill/>
        </p:spPr>
        <p:txBody>
          <a:bodyPr wrap="square" rtlCol="0">
            <a:spAutoFit/>
          </a:bodyPr>
          <a:lstStyle/>
          <a:p>
            <a:pPr algn="ctr"/>
            <a:r>
              <a:rPr lang="en-US" sz="2800" b="1" dirty="0" smtClean="0">
                <a:solidFill>
                  <a:schemeClr val="bg1"/>
                </a:solidFill>
                <a:latin typeface="Arial" pitchFamily="34" charset="0"/>
                <a:cs typeface="Arial" pitchFamily="34" charset="0"/>
              </a:rPr>
              <a:t>Iron Loss in Armature</a:t>
            </a:r>
            <a:endParaRPr lang="en-US" sz="2800" b="1" dirty="0">
              <a:solidFill>
                <a:schemeClr val="bg1"/>
              </a:solidFill>
              <a:latin typeface="Arial" pitchFamily="34" charset="0"/>
              <a:cs typeface="Arial" pitchFamily="34" charset="0"/>
            </a:endParaRPr>
          </a:p>
        </p:txBody>
      </p:sp>
    </p:spTree>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extBox 1"/>
              <p:cNvSpPr txBox="1"/>
              <p:nvPr/>
            </p:nvSpPr>
            <p:spPr>
              <a:xfrm>
                <a:off x="228600" y="687050"/>
                <a:ext cx="8610600" cy="5847755"/>
              </a:xfrm>
              <a:prstGeom prst="rect">
                <a:avLst/>
              </a:prstGeom>
              <a:noFill/>
            </p:spPr>
            <p:txBody>
              <a:bodyPr wrap="square" rtlCol="0">
                <a:spAutoFit/>
              </a:bodyPr>
              <a:lstStyle/>
              <a:p>
                <a:pPr algn="just"/>
                <a:r>
                  <a:rPr lang="en-IN" sz="2200" dirty="0" smtClean="0"/>
                  <a:t>This loss is due to the reversal of magnetisation of the armature core. Every portion of the rotating </a:t>
                </a:r>
                <a:r>
                  <a:rPr lang="en-IN" sz="2200" dirty="0"/>
                  <a:t>core passes under </a:t>
                </a:r>
                <a:r>
                  <a:rPr lang="en-IN" sz="2200" i="1" dirty="0"/>
                  <a:t>N </a:t>
                </a:r>
                <a:r>
                  <a:rPr lang="en-IN" sz="2200" dirty="0"/>
                  <a:t>and </a:t>
                </a:r>
                <a:r>
                  <a:rPr lang="en-IN" sz="2200" i="1" dirty="0"/>
                  <a:t>S </a:t>
                </a:r>
                <a:r>
                  <a:rPr lang="en-IN" sz="2200" dirty="0"/>
                  <a:t>pole alternately, thereby attaining </a:t>
                </a:r>
                <a:r>
                  <a:rPr lang="en-IN" sz="2200" i="1" dirty="0"/>
                  <a:t>S </a:t>
                </a:r>
                <a:r>
                  <a:rPr lang="en-IN" sz="2200" dirty="0"/>
                  <a:t>and </a:t>
                </a:r>
                <a:r>
                  <a:rPr lang="en-IN" sz="2200" i="1" dirty="0"/>
                  <a:t>N </a:t>
                </a:r>
                <a:r>
                  <a:rPr lang="en-IN" sz="2200" dirty="0"/>
                  <a:t>polarity </a:t>
                </a:r>
                <a:r>
                  <a:rPr lang="en-IN" sz="2200" dirty="0" smtClean="0"/>
                  <a:t>respectively. </a:t>
                </a:r>
              </a:p>
              <a:p>
                <a:pPr algn="just"/>
                <a:endParaRPr lang="en-IN" sz="2200" dirty="0"/>
              </a:p>
              <a:p>
                <a:pPr algn="just"/>
                <a:r>
                  <a:rPr lang="en-IN" sz="2200" dirty="0" smtClean="0"/>
                  <a:t>The </a:t>
                </a:r>
                <a:r>
                  <a:rPr lang="en-IN" sz="2200" dirty="0"/>
                  <a:t>core undergoes one complete cycle of magnetic reversal after passing under one </a:t>
                </a:r>
                <a:r>
                  <a:rPr lang="en-IN" sz="2200" i="1" dirty="0"/>
                  <a:t>pair </a:t>
                </a:r>
                <a:r>
                  <a:rPr lang="en-IN" sz="2200" dirty="0"/>
                  <a:t>of poles. </a:t>
                </a:r>
                <a:r>
                  <a:rPr lang="en-IN" sz="2200" dirty="0" smtClean="0"/>
                  <a:t>If </a:t>
                </a:r>
                <a:r>
                  <a:rPr lang="en-IN" sz="2200" i="1" dirty="0" smtClean="0"/>
                  <a:t>P </a:t>
                </a:r>
                <a:r>
                  <a:rPr lang="en-IN" sz="2200" dirty="0"/>
                  <a:t>is the number of poles and </a:t>
                </a:r>
                <a:r>
                  <a:rPr lang="en-IN" sz="2200" i="1" dirty="0"/>
                  <a:t>N</a:t>
                </a:r>
                <a:r>
                  <a:rPr lang="en-IN" sz="2200" dirty="0"/>
                  <a:t>, the armature speed in </a:t>
                </a:r>
                <a:r>
                  <a:rPr lang="en-IN" sz="2200" dirty="0" err="1"/>
                  <a:t>r.p.m</a:t>
                </a:r>
                <a:r>
                  <a:rPr lang="en-IN" sz="2200" dirty="0"/>
                  <a:t>., then frequency of magnetic reversals </a:t>
                </a:r>
                <a:r>
                  <a:rPr lang="en-IN" sz="2200" dirty="0" smtClean="0"/>
                  <a:t>is </a:t>
                </a:r>
                <a:r>
                  <a:rPr lang="en-IN" sz="2200" i="1" dirty="0" smtClean="0"/>
                  <a:t>f </a:t>
                </a:r>
                <a:r>
                  <a:rPr lang="en-IN" sz="2200" dirty="0"/>
                  <a:t>= </a:t>
                </a:r>
                <a:r>
                  <a:rPr lang="en-IN" sz="2200" i="1" dirty="0"/>
                  <a:t>PN</a:t>
                </a:r>
                <a:r>
                  <a:rPr lang="en-IN" sz="2200" dirty="0"/>
                  <a:t>/120.</a:t>
                </a:r>
              </a:p>
              <a:p>
                <a:endParaRPr lang="en-IN" sz="2200" dirty="0" smtClean="0"/>
              </a:p>
              <a:p>
                <a:r>
                  <a:rPr lang="en-IN" sz="2200" dirty="0" smtClean="0"/>
                  <a:t>The </a:t>
                </a:r>
                <a:r>
                  <a:rPr lang="en-IN" sz="2200" dirty="0"/>
                  <a:t>loss depends upon the volume and grade of iron, maximum value of flux density </a:t>
                </a:r>
                <a:r>
                  <a:rPr lang="en-IN" sz="2200" i="1" dirty="0" err="1"/>
                  <a:t>Bmax</a:t>
                </a:r>
                <a:r>
                  <a:rPr lang="en-IN" sz="2200" i="1" dirty="0"/>
                  <a:t> </a:t>
                </a:r>
                <a:r>
                  <a:rPr lang="en-IN" sz="2200" dirty="0" smtClean="0"/>
                  <a:t>and frequency </a:t>
                </a:r>
                <a:r>
                  <a:rPr lang="en-IN" sz="2200" dirty="0"/>
                  <a:t>of magnetic reversals. For normal flux densities (</a:t>
                </a:r>
                <a:r>
                  <a:rPr lang="en-IN" sz="2200" i="1" dirty="0"/>
                  <a:t>i.e. </a:t>
                </a:r>
                <a:r>
                  <a:rPr lang="en-IN" sz="2200" dirty="0" err="1"/>
                  <a:t>upto</a:t>
                </a:r>
                <a:r>
                  <a:rPr lang="en-IN" sz="2200" dirty="0"/>
                  <a:t> 1.5 </a:t>
                </a:r>
                <a:r>
                  <a:rPr lang="en-IN" sz="2200" dirty="0" err="1"/>
                  <a:t>Wb</a:t>
                </a:r>
                <a:r>
                  <a:rPr lang="en-IN" sz="2200" dirty="0"/>
                  <a:t>/m</a:t>
                </a:r>
                <a:r>
                  <a:rPr lang="en-IN" sz="2200" baseline="30000" dirty="0"/>
                  <a:t>2</a:t>
                </a:r>
                <a:r>
                  <a:rPr lang="en-IN" sz="2200" dirty="0" smtClean="0"/>
                  <a:t>). </a:t>
                </a:r>
              </a:p>
              <a:p>
                <a:endParaRPr lang="en-IN" sz="2200" dirty="0"/>
              </a:p>
              <a:p>
                <a:r>
                  <a:rPr lang="en-IN" sz="2200" dirty="0" smtClean="0"/>
                  <a:t>Hysteresis </a:t>
                </a:r>
                <a:r>
                  <a:rPr lang="en-IN" sz="2200" dirty="0"/>
                  <a:t>loss </a:t>
                </a:r>
                <a:r>
                  <a:rPr lang="en-IN" sz="2200" dirty="0" smtClean="0"/>
                  <a:t>is given </a:t>
                </a:r>
                <a:r>
                  <a:rPr lang="en-IN" sz="2200" dirty="0"/>
                  <a:t>by </a:t>
                </a:r>
                <a:r>
                  <a:rPr lang="en-IN" sz="2200" b="1" dirty="0"/>
                  <a:t>Steinmetz </a:t>
                </a:r>
                <a:r>
                  <a:rPr lang="en-IN" sz="2200" dirty="0"/>
                  <a:t>formula. According to this formula</a:t>
                </a:r>
                <a:r>
                  <a:rPr lang="en-IN" sz="2200" dirty="0" smtClean="0"/>
                  <a:t>,</a:t>
                </a:r>
              </a:p>
              <a:p>
                <a:endParaRPr lang="en-IN" sz="2200" dirty="0"/>
              </a:p>
              <a:p>
                <a:r>
                  <a:rPr lang="en-IN" sz="2200" i="1" dirty="0" smtClean="0"/>
                  <a:t>			</a:t>
                </a:r>
                <a14:m>
                  <m:oMath xmlns:m="http://schemas.openxmlformats.org/officeDocument/2006/math">
                    <m:r>
                      <a:rPr lang="en-IN" sz="2200" i="1" dirty="0" smtClean="0">
                        <a:latin typeface="Cambria Math" panose="02040503050406030204" pitchFamily="18" charset="0"/>
                      </a:rPr>
                      <m:t>𝑊</m:t>
                    </m:r>
                    <m:r>
                      <a:rPr lang="en-IN" sz="2200" i="1" baseline="-25000" dirty="0" smtClean="0">
                        <a:latin typeface="Cambria Math" panose="02040503050406030204" pitchFamily="18" charset="0"/>
                      </a:rPr>
                      <m:t>h</m:t>
                    </m:r>
                    <m:r>
                      <a:rPr lang="en-IN" sz="2200" i="1" dirty="0" smtClean="0">
                        <a:latin typeface="Cambria Math" panose="02040503050406030204" pitchFamily="18" charset="0"/>
                      </a:rPr>
                      <m:t> </m:t>
                    </m:r>
                    <m:r>
                      <a:rPr lang="en-IN" sz="2200" i="1" dirty="0">
                        <a:latin typeface="Cambria Math" panose="02040503050406030204" pitchFamily="18" charset="0"/>
                      </a:rPr>
                      <m:t>= </m:t>
                    </m:r>
                    <m:r>
                      <a:rPr lang="el-GR" sz="2200" i="1" dirty="0">
                        <a:latin typeface="Cambria Math" panose="02040503050406030204" pitchFamily="18" charset="0"/>
                      </a:rPr>
                      <m:t>𝜂</m:t>
                    </m:r>
                    <m:sSubSup>
                      <m:sSubSupPr>
                        <m:ctrlPr>
                          <a:rPr lang="el-GR" sz="2200" i="1" dirty="0" smtClean="0">
                            <a:latin typeface="Cambria Math" panose="02040503050406030204" pitchFamily="18" charset="0"/>
                          </a:rPr>
                        </m:ctrlPr>
                      </m:sSubSupPr>
                      <m:e>
                        <m:r>
                          <a:rPr lang="en-IN" sz="2200" b="0" i="1" dirty="0" smtClean="0">
                            <a:latin typeface="Cambria Math" panose="02040503050406030204" pitchFamily="18" charset="0"/>
                          </a:rPr>
                          <m:t>𝐵</m:t>
                        </m:r>
                      </m:e>
                      <m:sub>
                        <m:r>
                          <a:rPr lang="en-IN" sz="2200" b="0" i="1" dirty="0" smtClean="0">
                            <a:latin typeface="Cambria Math" panose="02040503050406030204" pitchFamily="18" charset="0"/>
                          </a:rPr>
                          <m:t>𝑚𝑎𝑥</m:t>
                        </m:r>
                      </m:sub>
                      <m:sup>
                        <m:r>
                          <a:rPr lang="en-IN" sz="2200" b="0" i="1" dirty="0" smtClean="0">
                            <a:latin typeface="Cambria Math" panose="02040503050406030204" pitchFamily="18" charset="0"/>
                          </a:rPr>
                          <m:t>1.6</m:t>
                        </m:r>
                      </m:sup>
                    </m:sSubSup>
                    <m:r>
                      <a:rPr lang="en-IN" sz="2200" i="1" dirty="0" smtClean="0">
                        <a:latin typeface="Cambria Math" panose="02040503050406030204" pitchFamily="18" charset="0"/>
                      </a:rPr>
                      <m:t>⁡</m:t>
                    </m:r>
                    <m:r>
                      <a:rPr lang="en-IN" sz="2200" i="1" dirty="0">
                        <a:latin typeface="Cambria Math" panose="02040503050406030204" pitchFamily="18" charset="0"/>
                      </a:rPr>
                      <m:t>𝑓</m:t>
                    </m:r>
                    <m:r>
                      <a:rPr lang="en-IN" sz="2200" i="1" dirty="0">
                        <a:latin typeface="Cambria Math" panose="02040503050406030204" pitchFamily="18" charset="0"/>
                      </a:rPr>
                      <m:t> </m:t>
                    </m:r>
                    <m:r>
                      <a:rPr lang="en-IN" sz="2200" i="1" dirty="0">
                        <a:latin typeface="Cambria Math" panose="02040503050406030204" pitchFamily="18" charset="0"/>
                      </a:rPr>
                      <m:t>𝑉</m:t>
                    </m:r>
                  </m:oMath>
                </a14:m>
                <a:r>
                  <a:rPr lang="en-IN" sz="2200" i="1" dirty="0"/>
                  <a:t> </a:t>
                </a:r>
                <a:r>
                  <a:rPr lang="en-IN" sz="2200" dirty="0" smtClean="0"/>
                  <a:t>watts</a:t>
                </a:r>
              </a:p>
              <a:p>
                <a:endParaRPr lang="en-IN" sz="2200" dirty="0"/>
              </a:p>
              <a:p>
                <a:r>
                  <a:rPr lang="en-IN" sz="2200" dirty="0"/>
                  <a:t>where </a:t>
                </a:r>
                <a:r>
                  <a:rPr lang="en-IN" sz="2200" i="1" dirty="0"/>
                  <a:t>V </a:t>
                </a:r>
                <a:r>
                  <a:rPr lang="en-IN" sz="2200" dirty="0"/>
                  <a:t>= volume of the core in </a:t>
                </a:r>
                <a:r>
                  <a:rPr lang="en-IN" sz="2200" dirty="0" smtClean="0"/>
                  <a:t>m</a:t>
                </a:r>
                <a:r>
                  <a:rPr lang="en-IN" sz="2200" baseline="30000" dirty="0" smtClean="0"/>
                  <a:t>3</a:t>
                </a:r>
                <a:r>
                  <a:rPr lang="en-IN" sz="2200" dirty="0" smtClean="0"/>
                  <a:t>,  </a:t>
                </a:r>
                <a:r>
                  <a:rPr lang="el-GR" sz="2200" dirty="0" smtClean="0"/>
                  <a:t>η </a:t>
                </a:r>
                <a:r>
                  <a:rPr lang="el-GR" sz="2200" dirty="0"/>
                  <a:t>= </a:t>
                </a:r>
                <a:r>
                  <a:rPr lang="en-IN" sz="2200" dirty="0"/>
                  <a:t>Steinmetz hysteresis coefficient.</a:t>
                </a:r>
                <a:endParaRPr lang="en-US" sz="2200" dirty="0">
                  <a:solidFill>
                    <a:srgbClr val="FF0000"/>
                  </a:solidFill>
                </a:endParaRPr>
              </a:p>
            </p:txBody>
          </p:sp>
        </mc:Choice>
        <mc:Fallback xmlns="">
          <p:sp>
            <p:nvSpPr>
              <p:cNvPr id="2" name="TextBox 1"/>
              <p:cNvSpPr txBox="1">
                <a:spLocks noRot="1" noChangeAspect="1" noMove="1" noResize="1" noEditPoints="1" noAdjustHandles="1" noChangeArrowheads="1" noChangeShapeType="1" noTextEdit="1"/>
              </p:cNvSpPr>
              <p:nvPr/>
            </p:nvSpPr>
            <p:spPr>
              <a:xfrm>
                <a:off x="228600" y="687050"/>
                <a:ext cx="8610600" cy="5847755"/>
              </a:xfrm>
              <a:prstGeom prst="rect">
                <a:avLst/>
              </a:prstGeom>
              <a:blipFill rotWithShape="0">
                <a:blip r:embed="rId2"/>
                <a:stretch>
                  <a:fillRect l="-921" t="-730" r="-850" b="-1147"/>
                </a:stretch>
              </a:blipFill>
            </p:spPr>
            <p:txBody>
              <a:bodyPr/>
              <a:lstStyle/>
              <a:p>
                <a:r>
                  <a:rPr lang="en-IN">
                    <a:noFill/>
                  </a:rPr>
                  <a:t> </a:t>
                </a:r>
              </a:p>
            </p:txBody>
          </p:sp>
        </mc:Fallback>
      </mc:AlternateContent>
      <p:sp>
        <p:nvSpPr>
          <p:cNvPr id="5" name="Rectangle 4"/>
          <p:cNvSpPr/>
          <p:nvPr/>
        </p:nvSpPr>
        <p:spPr>
          <a:xfrm>
            <a:off x="0" y="0"/>
            <a:ext cx="9144000" cy="6858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TextBox 5"/>
          <p:cNvSpPr txBox="1"/>
          <p:nvPr/>
        </p:nvSpPr>
        <p:spPr>
          <a:xfrm>
            <a:off x="0" y="77450"/>
            <a:ext cx="9144000" cy="523220"/>
          </a:xfrm>
          <a:prstGeom prst="rect">
            <a:avLst/>
          </a:prstGeom>
          <a:noFill/>
        </p:spPr>
        <p:txBody>
          <a:bodyPr wrap="square" rtlCol="0">
            <a:spAutoFit/>
          </a:bodyPr>
          <a:lstStyle/>
          <a:p>
            <a:pPr algn="ctr"/>
            <a:r>
              <a:rPr lang="en-US" sz="2800" b="1" dirty="0">
                <a:solidFill>
                  <a:schemeClr val="bg1"/>
                </a:solidFill>
                <a:latin typeface="Arial" pitchFamily="34" charset="0"/>
                <a:cs typeface="Arial" pitchFamily="34" charset="0"/>
              </a:rPr>
              <a:t>Hysteresis </a:t>
            </a:r>
            <a:r>
              <a:rPr lang="en-US" sz="2800" b="1" dirty="0" smtClean="0">
                <a:solidFill>
                  <a:schemeClr val="bg1"/>
                </a:solidFill>
                <a:latin typeface="Arial" pitchFamily="34" charset="0"/>
                <a:cs typeface="Arial" pitchFamily="34" charset="0"/>
              </a:rPr>
              <a:t>Loss</a:t>
            </a:r>
            <a:endParaRPr lang="en-US" sz="2800" b="1" dirty="0">
              <a:solidFill>
                <a:schemeClr val="bg1"/>
              </a:solidFill>
              <a:latin typeface="Arial" pitchFamily="34" charset="0"/>
              <a:cs typeface="Arial" pitchFamily="34" charset="0"/>
            </a:endParaRPr>
          </a:p>
        </p:txBody>
      </p:sp>
    </p:spTree>
    <p:extLst>
      <p:ext uri="{BB962C8B-B14F-4D97-AF65-F5344CB8AC3E}">
        <p14:creationId xmlns:p14="http://schemas.microsoft.com/office/powerpoint/2010/main" val="1727372579"/>
      </p:ext>
    </p:extLst>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28600" y="687050"/>
            <a:ext cx="8610600" cy="5170646"/>
          </a:xfrm>
          <a:prstGeom prst="rect">
            <a:avLst/>
          </a:prstGeom>
          <a:noFill/>
        </p:spPr>
        <p:txBody>
          <a:bodyPr wrap="square" rtlCol="0">
            <a:spAutoFit/>
          </a:bodyPr>
          <a:lstStyle/>
          <a:p>
            <a:pPr algn="just"/>
            <a:r>
              <a:rPr lang="en-US" sz="2200" dirty="0" smtClean="0"/>
              <a:t>In one revolution of armature with two number of pole there will be one cycle of sinusoidal voltage. Similarly with four pole there will be two cycle in one revolution and so on.</a:t>
            </a:r>
          </a:p>
          <a:p>
            <a:pPr algn="just"/>
            <a:endParaRPr lang="en-US" sz="2200" dirty="0"/>
          </a:p>
          <a:p>
            <a:pPr algn="just"/>
            <a:r>
              <a:rPr lang="en-US" sz="2200" dirty="0" smtClean="0"/>
              <a:t>Therefore we can generalize that,</a:t>
            </a:r>
          </a:p>
          <a:p>
            <a:pPr algn="just"/>
            <a:endParaRPr lang="en-US" sz="2200" dirty="0"/>
          </a:p>
          <a:p>
            <a:pPr algn="just"/>
            <a:r>
              <a:rPr lang="en-US" sz="2200" dirty="0" smtClean="0"/>
              <a:t>Cycles per revolution = P/2</a:t>
            </a:r>
            <a:r>
              <a:rPr lang="en-US" sz="2200" dirty="0"/>
              <a:t> 	</a:t>
            </a:r>
            <a:r>
              <a:rPr lang="en-US" sz="2200" dirty="0" smtClean="0"/>
              <a:t>Where P = no. of pole</a:t>
            </a:r>
          </a:p>
          <a:p>
            <a:pPr algn="just"/>
            <a:endParaRPr lang="en-US" sz="2200" dirty="0"/>
          </a:p>
          <a:p>
            <a:pPr algn="just"/>
            <a:r>
              <a:rPr lang="en-US" sz="2200" dirty="0" smtClean="0"/>
              <a:t>If n = revolution per second</a:t>
            </a:r>
          </a:p>
          <a:p>
            <a:pPr algn="just"/>
            <a:endParaRPr lang="en-US" sz="2200" dirty="0"/>
          </a:p>
          <a:p>
            <a:pPr algn="just"/>
            <a:r>
              <a:rPr lang="en-US" sz="2200" dirty="0" smtClean="0"/>
              <a:t>No. of Cycles per second = </a:t>
            </a:r>
            <a:r>
              <a:rPr lang="en-US" sz="2200" dirty="0" err="1" smtClean="0"/>
              <a:t>Pn</a:t>
            </a:r>
            <a:r>
              <a:rPr lang="en-US" sz="2200" dirty="0" smtClean="0"/>
              <a:t>/2</a:t>
            </a:r>
          </a:p>
          <a:p>
            <a:pPr algn="just"/>
            <a:endParaRPr lang="en-US" sz="2200" dirty="0"/>
          </a:p>
          <a:p>
            <a:pPr algn="just"/>
            <a:r>
              <a:rPr lang="en-US" sz="2200" dirty="0" smtClean="0"/>
              <a:t>If N = revolution per minute</a:t>
            </a:r>
          </a:p>
          <a:p>
            <a:pPr algn="just"/>
            <a:endParaRPr lang="en-US" sz="2200" dirty="0"/>
          </a:p>
          <a:p>
            <a:pPr algn="just"/>
            <a:r>
              <a:rPr lang="en-US" sz="2200" dirty="0" smtClean="0"/>
              <a:t>No. of Cycle per Second = f = PN/120</a:t>
            </a:r>
          </a:p>
        </p:txBody>
      </p:sp>
      <p:sp>
        <p:nvSpPr>
          <p:cNvPr id="5" name="Rectangle 4"/>
          <p:cNvSpPr/>
          <p:nvPr/>
        </p:nvSpPr>
        <p:spPr>
          <a:xfrm>
            <a:off x="0" y="0"/>
            <a:ext cx="9144000" cy="6858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TextBox 5"/>
          <p:cNvSpPr txBox="1"/>
          <p:nvPr/>
        </p:nvSpPr>
        <p:spPr>
          <a:xfrm>
            <a:off x="0" y="77450"/>
            <a:ext cx="9144000" cy="523220"/>
          </a:xfrm>
          <a:prstGeom prst="rect">
            <a:avLst/>
          </a:prstGeom>
          <a:noFill/>
        </p:spPr>
        <p:txBody>
          <a:bodyPr wrap="square" rtlCol="0">
            <a:spAutoFit/>
          </a:bodyPr>
          <a:lstStyle/>
          <a:p>
            <a:pPr algn="ctr"/>
            <a:r>
              <a:rPr lang="en-US" sz="2800" b="1" dirty="0">
                <a:solidFill>
                  <a:schemeClr val="bg1"/>
                </a:solidFill>
                <a:latin typeface="Arial" pitchFamily="34" charset="0"/>
                <a:cs typeface="Arial" pitchFamily="34" charset="0"/>
              </a:rPr>
              <a:t>Hysteresis </a:t>
            </a:r>
            <a:r>
              <a:rPr lang="en-US" sz="2800" b="1" dirty="0" smtClean="0">
                <a:solidFill>
                  <a:schemeClr val="bg1"/>
                </a:solidFill>
                <a:latin typeface="Arial" pitchFamily="34" charset="0"/>
                <a:cs typeface="Arial" pitchFamily="34" charset="0"/>
              </a:rPr>
              <a:t>Loss</a:t>
            </a:r>
            <a:endParaRPr lang="en-US" sz="2800" b="1" dirty="0">
              <a:solidFill>
                <a:schemeClr val="bg1"/>
              </a:solidFill>
              <a:latin typeface="Arial" pitchFamily="34" charset="0"/>
              <a:cs typeface="Arial" pitchFamily="34" charset="0"/>
            </a:endParaRPr>
          </a:p>
        </p:txBody>
      </p:sp>
    </p:spTree>
    <p:extLst>
      <p:ext uri="{BB962C8B-B14F-4D97-AF65-F5344CB8AC3E}">
        <p14:creationId xmlns:p14="http://schemas.microsoft.com/office/powerpoint/2010/main" val="2039520431"/>
      </p:ext>
    </p:extLst>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28600" y="687050"/>
            <a:ext cx="8610600" cy="5632311"/>
          </a:xfrm>
          <a:prstGeom prst="rect">
            <a:avLst/>
          </a:prstGeom>
          <a:noFill/>
        </p:spPr>
        <p:txBody>
          <a:bodyPr wrap="square" rtlCol="0">
            <a:spAutoFit/>
          </a:bodyPr>
          <a:lstStyle/>
          <a:p>
            <a:pPr marL="342900" indent="-342900" algn="just">
              <a:buFont typeface="Wingdings" panose="05000000000000000000" pitchFamily="2" charset="2"/>
              <a:buChar char="v"/>
            </a:pPr>
            <a:r>
              <a:rPr lang="en-IN" sz="2400" dirty="0"/>
              <a:t>When the armature core rotates, it also cuts the magnetic flux. Hence, an </a:t>
            </a:r>
            <a:r>
              <a:rPr lang="en-IN" sz="2400" dirty="0" err="1"/>
              <a:t>e.m.f</a:t>
            </a:r>
            <a:r>
              <a:rPr lang="en-IN" sz="2400" dirty="0"/>
              <a:t>. is induced in the body of the core according to the laws of electromagnetic induction. </a:t>
            </a:r>
          </a:p>
          <a:p>
            <a:pPr marL="342900" indent="-342900" algn="just">
              <a:buFont typeface="Wingdings" panose="05000000000000000000" pitchFamily="2" charset="2"/>
              <a:buChar char="v"/>
            </a:pPr>
            <a:endParaRPr lang="en-IN" sz="2400" dirty="0"/>
          </a:p>
          <a:p>
            <a:pPr marL="342900" indent="-342900" algn="just">
              <a:buFont typeface="Wingdings" panose="05000000000000000000" pitchFamily="2" charset="2"/>
              <a:buChar char="v"/>
            </a:pPr>
            <a:r>
              <a:rPr lang="en-IN" sz="2400" dirty="0"/>
              <a:t>This </a:t>
            </a:r>
            <a:r>
              <a:rPr lang="en-IN" sz="2400" dirty="0" err="1"/>
              <a:t>e.m.f</a:t>
            </a:r>
            <a:r>
              <a:rPr lang="en-IN" sz="2400" dirty="0"/>
              <a:t>. though small, sets up large current in the body of the core due to its small resistance. </a:t>
            </a:r>
          </a:p>
          <a:p>
            <a:pPr marL="342900" indent="-342900" algn="just">
              <a:buFont typeface="Wingdings" panose="05000000000000000000" pitchFamily="2" charset="2"/>
              <a:buChar char="v"/>
            </a:pPr>
            <a:endParaRPr lang="en-IN" sz="2400" dirty="0"/>
          </a:p>
          <a:p>
            <a:pPr marL="342900" indent="-342900" algn="just">
              <a:buFont typeface="Wingdings" panose="05000000000000000000" pitchFamily="2" charset="2"/>
              <a:buChar char="v"/>
            </a:pPr>
            <a:r>
              <a:rPr lang="en-IN" sz="2400" dirty="0"/>
              <a:t>This current is known as eddy current.</a:t>
            </a:r>
          </a:p>
          <a:p>
            <a:pPr marL="342900" indent="-342900" algn="just">
              <a:buFont typeface="Wingdings" panose="05000000000000000000" pitchFamily="2" charset="2"/>
              <a:buChar char="v"/>
            </a:pPr>
            <a:endParaRPr lang="en-IN" sz="2400" dirty="0"/>
          </a:p>
          <a:p>
            <a:pPr marL="342900" indent="-342900" algn="just">
              <a:buFont typeface="Wingdings" panose="05000000000000000000" pitchFamily="2" charset="2"/>
              <a:buChar char="v"/>
            </a:pPr>
            <a:r>
              <a:rPr lang="en-IN" sz="2400" dirty="0"/>
              <a:t>The power loss due to the flow of this current is known as eddy current loss</a:t>
            </a:r>
            <a:r>
              <a:rPr lang="en-IN" sz="2400" dirty="0" smtClean="0"/>
              <a:t>.</a:t>
            </a:r>
          </a:p>
          <a:p>
            <a:pPr marL="342900" indent="-342900" algn="just">
              <a:buFont typeface="Wingdings" panose="05000000000000000000" pitchFamily="2" charset="2"/>
              <a:buChar char="v"/>
            </a:pPr>
            <a:endParaRPr lang="en-IN" sz="2400" dirty="0"/>
          </a:p>
          <a:p>
            <a:pPr marL="342900" indent="-342900" algn="just">
              <a:buFont typeface="Wingdings" panose="05000000000000000000" pitchFamily="2" charset="2"/>
              <a:buChar char="v"/>
            </a:pPr>
            <a:r>
              <a:rPr lang="en-IN" sz="2400" dirty="0"/>
              <a:t>This loss would </a:t>
            </a:r>
            <a:r>
              <a:rPr lang="en-IN" sz="2400" dirty="0" smtClean="0"/>
              <a:t>be considerable </a:t>
            </a:r>
            <a:r>
              <a:rPr lang="en-IN" sz="2400" dirty="0"/>
              <a:t>if solid </a:t>
            </a:r>
            <a:r>
              <a:rPr lang="en-IN" sz="2400" dirty="0" smtClean="0"/>
              <a:t>iron core </a:t>
            </a:r>
            <a:r>
              <a:rPr lang="en-IN" sz="2400" dirty="0"/>
              <a:t>were used. In </a:t>
            </a:r>
            <a:r>
              <a:rPr lang="en-IN" sz="2400" dirty="0" smtClean="0"/>
              <a:t>order to </a:t>
            </a:r>
            <a:r>
              <a:rPr lang="en-IN" sz="2400" dirty="0"/>
              <a:t>reduce this </a:t>
            </a:r>
            <a:r>
              <a:rPr lang="en-IN" sz="2400" dirty="0" smtClean="0"/>
              <a:t>loss and </a:t>
            </a:r>
            <a:r>
              <a:rPr lang="en-IN" sz="2400" dirty="0"/>
              <a:t>the consequent </a:t>
            </a:r>
            <a:r>
              <a:rPr lang="en-IN" sz="2400" dirty="0" smtClean="0"/>
              <a:t>heating of </a:t>
            </a:r>
            <a:r>
              <a:rPr lang="en-IN" sz="2400" dirty="0"/>
              <a:t>the core to a </a:t>
            </a:r>
            <a:r>
              <a:rPr lang="en-IN" sz="2400" dirty="0" smtClean="0"/>
              <a:t>small value</a:t>
            </a:r>
            <a:r>
              <a:rPr lang="en-IN" sz="2400" dirty="0"/>
              <a:t>, the core is built </a:t>
            </a:r>
            <a:r>
              <a:rPr lang="en-IN" sz="2400" dirty="0" smtClean="0"/>
              <a:t>up of </a:t>
            </a:r>
            <a:r>
              <a:rPr lang="en-IN" sz="2400" dirty="0"/>
              <a:t>thin laminations</a:t>
            </a:r>
          </a:p>
        </p:txBody>
      </p:sp>
      <p:sp>
        <p:nvSpPr>
          <p:cNvPr id="5" name="Rectangle 4"/>
          <p:cNvSpPr/>
          <p:nvPr/>
        </p:nvSpPr>
        <p:spPr>
          <a:xfrm>
            <a:off x="0" y="0"/>
            <a:ext cx="9144000" cy="6858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TextBox 5"/>
          <p:cNvSpPr txBox="1"/>
          <p:nvPr/>
        </p:nvSpPr>
        <p:spPr>
          <a:xfrm>
            <a:off x="0" y="77450"/>
            <a:ext cx="9144000" cy="523220"/>
          </a:xfrm>
          <a:prstGeom prst="rect">
            <a:avLst/>
          </a:prstGeom>
          <a:noFill/>
        </p:spPr>
        <p:txBody>
          <a:bodyPr wrap="square" rtlCol="0">
            <a:spAutoFit/>
          </a:bodyPr>
          <a:lstStyle/>
          <a:p>
            <a:pPr algn="ctr"/>
            <a:r>
              <a:rPr lang="en-US" sz="2800" b="1" dirty="0">
                <a:solidFill>
                  <a:schemeClr val="bg1"/>
                </a:solidFill>
                <a:latin typeface="Arial" pitchFamily="34" charset="0"/>
                <a:cs typeface="Arial" pitchFamily="34" charset="0"/>
              </a:rPr>
              <a:t>Eddy Current </a:t>
            </a:r>
            <a:r>
              <a:rPr lang="en-US" sz="2800" b="1" dirty="0" smtClean="0">
                <a:solidFill>
                  <a:schemeClr val="bg1"/>
                </a:solidFill>
                <a:latin typeface="Arial" pitchFamily="34" charset="0"/>
                <a:cs typeface="Arial" pitchFamily="34" charset="0"/>
              </a:rPr>
              <a:t>Loss</a:t>
            </a:r>
            <a:endParaRPr lang="en-US" sz="2800" b="1" dirty="0">
              <a:solidFill>
                <a:schemeClr val="bg1"/>
              </a:solidFill>
              <a:latin typeface="Arial" pitchFamily="34" charset="0"/>
              <a:cs typeface="Arial" pitchFamily="34" charset="0"/>
            </a:endParaRPr>
          </a:p>
        </p:txBody>
      </p:sp>
      <p:pic>
        <p:nvPicPr>
          <p:cNvPr id="3" name="Picture 2"/>
          <p:cNvPicPr>
            <a:picLocks noChangeAspect="1"/>
          </p:cNvPicPr>
          <p:nvPr/>
        </p:nvPicPr>
        <p:blipFill>
          <a:blip r:embed="rId2"/>
          <a:stretch>
            <a:fillRect/>
          </a:stretch>
        </p:blipFill>
        <p:spPr>
          <a:xfrm>
            <a:off x="1139279" y="2209800"/>
            <a:ext cx="6865441" cy="2938463"/>
          </a:xfrm>
          <a:prstGeom prst="rect">
            <a:avLst/>
          </a:prstGeom>
        </p:spPr>
      </p:pic>
    </p:spTree>
    <p:extLst>
      <p:ext uri="{BB962C8B-B14F-4D97-AF65-F5344CB8AC3E}">
        <p14:creationId xmlns:p14="http://schemas.microsoft.com/office/powerpoint/2010/main" val="17820318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extBox 1"/>
              <p:cNvSpPr txBox="1"/>
              <p:nvPr/>
            </p:nvSpPr>
            <p:spPr>
              <a:xfrm>
                <a:off x="228600" y="687050"/>
                <a:ext cx="8610600" cy="4893647"/>
              </a:xfrm>
              <a:prstGeom prst="rect">
                <a:avLst/>
              </a:prstGeom>
              <a:noFill/>
            </p:spPr>
            <p:txBody>
              <a:bodyPr wrap="square" rtlCol="0">
                <a:spAutoFit/>
              </a:bodyPr>
              <a:lstStyle/>
              <a:p>
                <a:pPr algn="just"/>
                <a:r>
                  <a:rPr lang="en-IN" sz="2400" dirty="0" smtClean="0"/>
                  <a:t>It is found that eddy current loss We is given by the following relation :</a:t>
                </a:r>
              </a:p>
              <a:p>
                <a:pPr algn="just"/>
                <a:r>
                  <a:rPr lang="en-IN" sz="2400" dirty="0" smtClean="0"/>
                  <a:t>		W</a:t>
                </a:r>
                <a:r>
                  <a:rPr lang="en-IN" sz="2400" baseline="-25000" dirty="0" smtClean="0"/>
                  <a:t>e</a:t>
                </a:r>
                <a:r>
                  <a:rPr lang="en-IN" sz="2400" dirty="0" smtClean="0"/>
                  <a:t> </a:t>
                </a:r>
                <a:r>
                  <a:rPr lang="en-IN" sz="2400" dirty="0"/>
                  <a:t>= </a:t>
                </a:r>
                <a:r>
                  <a:rPr lang="en-IN" sz="2400" dirty="0" smtClean="0"/>
                  <a:t>K</a:t>
                </a:r>
                <a14:m>
                  <m:oMath xmlns:m="http://schemas.openxmlformats.org/officeDocument/2006/math">
                    <m:sSubSup>
                      <m:sSubSupPr>
                        <m:ctrlPr>
                          <a:rPr lang="en-IN" sz="2400" i="1" smtClean="0">
                            <a:latin typeface="Cambria Math" panose="02040503050406030204" pitchFamily="18" charset="0"/>
                          </a:rPr>
                        </m:ctrlPr>
                      </m:sSubSupPr>
                      <m:e>
                        <m:r>
                          <a:rPr lang="en-IN" sz="2400" b="0" i="1" smtClean="0">
                            <a:latin typeface="Cambria Math" panose="02040503050406030204" pitchFamily="18" charset="0"/>
                          </a:rPr>
                          <m:t>𝐵</m:t>
                        </m:r>
                      </m:e>
                      <m:sub>
                        <m:r>
                          <a:rPr lang="en-IN" sz="2400" b="0" i="1" smtClean="0">
                            <a:latin typeface="Cambria Math" panose="02040503050406030204" pitchFamily="18" charset="0"/>
                          </a:rPr>
                          <m:t>𝑚𝑎𝑥</m:t>
                        </m:r>
                      </m:sub>
                      <m:sup>
                        <m:r>
                          <a:rPr lang="en-IN" sz="2400" b="0" i="1" smtClean="0">
                            <a:latin typeface="Cambria Math" panose="02040503050406030204" pitchFamily="18" charset="0"/>
                          </a:rPr>
                          <m:t>2</m:t>
                        </m:r>
                      </m:sup>
                    </m:sSubSup>
                  </m:oMath>
                </a14:m>
                <a:r>
                  <a:rPr lang="en-IN" sz="2400" dirty="0" smtClean="0"/>
                  <a:t>f </a:t>
                </a:r>
                <a:r>
                  <a:rPr lang="en-IN" sz="2400" baseline="30000" dirty="0"/>
                  <a:t>2</a:t>
                </a:r>
                <a:r>
                  <a:rPr lang="en-IN" sz="2400" dirty="0"/>
                  <a:t> t</a:t>
                </a:r>
                <a:r>
                  <a:rPr lang="en-IN" sz="2400" baseline="30000" dirty="0"/>
                  <a:t>2</a:t>
                </a:r>
                <a:r>
                  <a:rPr lang="en-IN" sz="2400" dirty="0"/>
                  <a:t>V</a:t>
                </a:r>
                <a:r>
                  <a:rPr lang="en-IN" sz="2400" baseline="30000" dirty="0"/>
                  <a:t>2</a:t>
                </a:r>
                <a:r>
                  <a:rPr lang="en-IN" sz="2400" dirty="0"/>
                  <a:t> </a:t>
                </a:r>
                <a:r>
                  <a:rPr lang="en-IN" sz="2400" dirty="0" smtClean="0"/>
                  <a:t>watt</a:t>
                </a:r>
              </a:p>
              <a:p>
                <a:pPr algn="just"/>
                <a:endParaRPr lang="en-IN" sz="2400" dirty="0"/>
              </a:p>
              <a:p>
                <a:pPr algn="just"/>
                <a:r>
                  <a:rPr lang="en-IN" sz="2400" dirty="0"/>
                  <a:t>where </a:t>
                </a:r>
                <a:r>
                  <a:rPr lang="en-IN" sz="2400" dirty="0" err="1"/>
                  <a:t>B</a:t>
                </a:r>
                <a:r>
                  <a:rPr lang="en-IN" sz="2400" baseline="-25000" dirty="0" err="1"/>
                  <a:t>max</a:t>
                </a:r>
                <a:r>
                  <a:rPr lang="en-IN" sz="2400" dirty="0"/>
                  <a:t> = maximum flux </a:t>
                </a:r>
                <a:r>
                  <a:rPr lang="en-IN" sz="2400" dirty="0" smtClean="0"/>
                  <a:t>density, </a:t>
                </a:r>
                <a:r>
                  <a:rPr lang="en-IN" sz="2400" dirty="0"/>
                  <a:t>f = frequency of magnetic </a:t>
                </a:r>
                <a:r>
                  <a:rPr lang="en-IN" sz="2400" dirty="0" smtClean="0"/>
                  <a:t>reversals, t </a:t>
                </a:r>
                <a:r>
                  <a:rPr lang="en-IN" sz="2400" dirty="0"/>
                  <a:t>= thickness of each lamination V = volume of armature core</a:t>
                </a:r>
                <a:r>
                  <a:rPr lang="en-IN" sz="2400" dirty="0" smtClean="0"/>
                  <a:t>.</a:t>
                </a:r>
              </a:p>
              <a:p>
                <a:pPr algn="just"/>
                <a:endParaRPr lang="en-IN" sz="2400" dirty="0"/>
              </a:p>
              <a:p>
                <a:pPr algn="just"/>
                <a:r>
                  <a:rPr lang="en-IN" sz="2400" dirty="0"/>
                  <a:t>It is seen from above that this loss varies directly as the square of the thickness of </a:t>
                </a:r>
                <a:r>
                  <a:rPr lang="en-IN" sz="2400" dirty="0" smtClean="0"/>
                  <a:t>laminations, hence </a:t>
                </a:r>
                <a:r>
                  <a:rPr lang="en-IN" sz="2400" dirty="0"/>
                  <a:t>it should be kept as small as possible</a:t>
                </a:r>
                <a:r>
                  <a:rPr lang="en-IN" sz="2400" dirty="0" smtClean="0"/>
                  <a:t>.</a:t>
                </a:r>
              </a:p>
              <a:p>
                <a:pPr algn="just"/>
                <a:endParaRPr lang="en-IN" sz="2400" dirty="0"/>
              </a:p>
              <a:p>
                <a:pPr algn="just"/>
                <a:r>
                  <a:rPr lang="en-IN" sz="2400" dirty="0"/>
                  <a:t>Another point to note is that </a:t>
                </a:r>
                <a:r>
                  <a:rPr lang="en-IN" sz="2400" i="1" dirty="0" err="1"/>
                  <a:t>W</a:t>
                </a:r>
                <a:r>
                  <a:rPr lang="en-IN" sz="2400" i="1" baseline="-25000" dirty="0" err="1"/>
                  <a:t>h</a:t>
                </a:r>
                <a:r>
                  <a:rPr lang="en-IN" sz="2400" i="1" dirty="0"/>
                  <a:t> </a:t>
                </a:r>
                <a:r>
                  <a:rPr lang="en-IN" sz="2400" dirty="0"/>
                  <a:t>∝ </a:t>
                </a:r>
                <a:r>
                  <a:rPr lang="en-IN" sz="2400" i="1" dirty="0"/>
                  <a:t>f </a:t>
                </a:r>
                <a:r>
                  <a:rPr lang="en-IN" sz="2400" dirty="0"/>
                  <a:t>but </a:t>
                </a:r>
                <a:r>
                  <a:rPr lang="en-IN" sz="2400" i="1" dirty="0"/>
                  <a:t>W</a:t>
                </a:r>
                <a:r>
                  <a:rPr lang="en-IN" sz="2400" i="1" baseline="-25000" dirty="0"/>
                  <a:t>e</a:t>
                </a:r>
                <a:r>
                  <a:rPr lang="en-IN" sz="2400" i="1" dirty="0"/>
                  <a:t> </a:t>
                </a:r>
                <a:r>
                  <a:rPr lang="en-IN" sz="2400" dirty="0"/>
                  <a:t>∝ </a:t>
                </a:r>
                <a:r>
                  <a:rPr lang="en-IN" sz="2400" i="1" dirty="0"/>
                  <a:t>f </a:t>
                </a:r>
                <a:r>
                  <a:rPr lang="en-IN" sz="2400" baseline="30000" dirty="0"/>
                  <a:t>2</a:t>
                </a:r>
                <a:r>
                  <a:rPr lang="en-IN" sz="2400" dirty="0"/>
                  <a:t>.</a:t>
                </a:r>
              </a:p>
            </p:txBody>
          </p:sp>
        </mc:Choice>
        <mc:Fallback xmlns="">
          <p:sp>
            <p:nvSpPr>
              <p:cNvPr id="2" name="TextBox 1"/>
              <p:cNvSpPr txBox="1">
                <a:spLocks noRot="1" noChangeAspect="1" noMove="1" noResize="1" noEditPoints="1" noAdjustHandles="1" noChangeArrowheads="1" noChangeShapeType="1" noTextEdit="1"/>
              </p:cNvSpPr>
              <p:nvPr/>
            </p:nvSpPr>
            <p:spPr>
              <a:xfrm>
                <a:off x="228600" y="687050"/>
                <a:ext cx="8610600" cy="4893647"/>
              </a:xfrm>
              <a:prstGeom prst="rect">
                <a:avLst/>
              </a:prstGeom>
              <a:blipFill rotWithShape="0">
                <a:blip r:embed="rId2"/>
                <a:stretch>
                  <a:fillRect l="-1133" t="-998" r="-1062" b="-1995"/>
                </a:stretch>
              </a:blipFill>
            </p:spPr>
            <p:txBody>
              <a:bodyPr/>
              <a:lstStyle/>
              <a:p>
                <a:r>
                  <a:rPr lang="en-IN">
                    <a:noFill/>
                  </a:rPr>
                  <a:t> </a:t>
                </a:r>
              </a:p>
            </p:txBody>
          </p:sp>
        </mc:Fallback>
      </mc:AlternateContent>
      <p:sp>
        <p:nvSpPr>
          <p:cNvPr id="5" name="Rectangle 4"/>
          <p:cNvSpPr/>
          <p:nvPr/>
        </p:nvSpPr>
        <p:spPr>
          <a:xfrm>
            <a:off x="0" y="0"/>
            <a:ext cx="9144000" cy="6858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TextBox 5"/>
          <p:cNvSpPr txBox="1"/>
          <p:nvPr/>
        </p:nvSpPr>
        <p:spPr>
          <a:xfrm>
            <a:off x="0" y="77450"/>
            <a:ext cx="9144000" cy="523220"/>
          </a:xfrm>
          <a:prstGeom prst="rect">
            <a:avLst/>
          </a:prstGeom>
          <a:noFill/>
        </p:spPr>
        <p:txBody>
          <a:bodyPr wrap="square" rtlCol="0">
            <a:spAutoFit/>
          </a:bodyPr>
          <a:lstStyle/>
          <a:p>
            <a:pPr algn="ctr"/>
            <a:r>
              <a:rPr lang="en-US" sz="2800" b="1" dirty="0">
                <a:solidFill>
                  <a:schemeClr val="bg1"/>
                </a:solidFill>
                <a:latin typeface="Arial" pitchFamily="34" charset="0"/>
                <a:cs typeface="Arial" pitchFamily="34" charset="0"/>
              </a:rPr>
              <a:t>Eddy Current </a:t>
            </a:r>
            <a:r>
              <a:rPr lang="en-US" sz="2800" b="1" dirty="0" smtClean="0">
                <a:solidFill>
                  <a:schemeClr val="bg1"/>
                </a:solidFill>
                <a:latin typeface="Arial" pitchFamily="34" charset="0"/>
                <a:cs typeface="Arial" pitchFamily="34" charset="0"/>
              </a:rPr>
              <a:t>Loss</a:t>
            </a:r>
            <a:endParaRPr lang="en-US" sz="2800" b="1" dirty="0">
              <a:solidFill>
                <a:schemeClr val="bg1"/>
              </a:solidFill>
              <a:latin typeface="Arial" pitchFamily="34" charset="0"/>
              <a:cs typeface="Arial" pitchFamily="34" charset="0"/>
            </a:endParaRPr>
          </a:p>
        </p:txBody>
      </p:sp>
    </p:spTree>
    <p:extLst>
      <p:ext uri="{BB962C8B-B14F-4D97-AF65-F5344CB8AC3E}">
        <p14:creationId xmlns:p14="http://schemas.microsoft.com/office/powerpoint/2010/main" val="1878002246"/>
      </p:ext>
    </p:extLst>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913150" y="672060"/>
            <a:ext cx="7482590" cy="3083921"/>
          </a:xfrm>
          <a:prstGeom prst="rect">
            <a:avLst/>
          </a:prstGeom>
          <a:noFill/>
        </p:spPr>
        <p:txBody>
          <a:bodyPr wrap="square" rtlCol="0">
            <a:spAutoFit/>
          </a:bodyPr>
          <a:lstStyle/>
          <a:p>
            <a:pPr algn="just">
              <a:lnSpc>
                <a:spcPct val="200000"/>
              </a:lnSpc>
              <a:buClr>
                <a:schemeClr val="accent6">
                  <a:lumMod val="50000"/>
                </a:schemeClr>
              </a:buClr>
              <a:tabLst>
                <a:tab pos="465138" algn="l"/>
              </a:tabLst>
            </a:pPr>
            <a:r>
              <a:rPr lang="en-US" sz="2000" dirty="0" smtClean="0"/>
              <a:t>The various losses occurring in a generator can be sub-divided as follows :</a:t>
            </a:r>
          </a:p>
          <a:p>
            <a:pPr algn="just">
              <a:lnSpc>
                <a:spcPct val="200000"/>
              </a:lnSpc>
              <a:buClr>
                <a:schemeClr val="accent6">
                  <a:lumMod val="50000"/>
                </a:schemeClr>
              </a:buClr>
              <a:buFont typeface="+mj-lt"/>
              <a:buAutoNum type="arabicPeriod"/>
              <a:tabLst>
                <a:tab pos="465138" algn="l"/>
              </a:tabLst>
            </a:pPr>
            <a:r>
              <a:rPr lang="en-US" sz="2000" b="1" dirty="0" smtClean="0"/>
              <a:t> 	Copper Losses</a:t>
            </a:r>
          </a:p>
          <a:p>
            <a:pPr algn="just">
              <a:lnSpc>
                <a:spcPct val="200000"/>
              </a:lnSpc>
              <a:buClr>
                <a:schemeClr val="accent6">
                  <a:lumMod val="50000"/>
                </a:schemeClr>
              </a:buClr>
              <a:buFont typeface="+mj-lt"/>
              <a:buAutoNum type="arabicPeriod"/>
              <a:tabLst>
                <a:tab pos="465138" algn="l"/>
              </a:tabLst>
            </a:pPr>
            <a:r>
              <a:rPr lang="en-US" sz="2000" b="1" dirty="0" smtClean="0">
                <a:solidFill>
                  <a:srgbClr val="FF0000"/>
                </a:solidFill>
              </a:rPr>
              <a:t> 	</a:t>
            </a:r>
            <a:r>
              <a:rPr lang="en-US" sz="2000" b="1" dirty="0" smtClean="0"/>
              <a:t>Magnetic Losses</a:t>
            </a:r>
          </a:p>
          <a:p>
            <a:pPr algn="just">
              <a:lnSpc>
                <a:spcPct val="200000"/>
              </a:lnSpc>
              <a:buClr>
                <a:schemeClr val="accent6">
                  <a:lumMod val="50000"/>
                </a:schemeClr>
              </a:buClr>
              <a:buFont typeface="+mj-lt"/>
              <a:buAutoNum type="arabicPeriod"/>
              <a:tabLst>
                <a:tab pos="465138" algn="l"/>
              </a:tabLst>
            </a:pPr>
            <a:r>
              <a:rPr lang="en-US" sz="2000" b="1" dirty="0" smtClean="0">
                <a:solidFill>
                  <a:srgbClr val="FF0000"/>
                </a:solidFill>
              </a:rPr>
              <a:t> 	</a:t>
            </a:r>
            <a:r>
              <a:rPr lang="en-US" sz="2000" b="1" dirty="0" smtClean="0"/>
              <a:t>Mechanical Losses</a:t>
            </a:r>
            <a:endParaRPr lang="en-US" sz="2000" dirty="0">
              <a:solidFill>
                <a:srgbClr val="FF0000"/>
              </a:solidFill>
            </a:endParaRPr>
          </a:p>
        </p:txBody>
      </p:sp>
      <p:sp>
        <p:nvSpPr>
          <p:cNvPr id="5" name="Rectangle 4"/>
          <p:cNvSpPr/>
          <p:nvPr/>
        </p:nvSpPr>
        <p:spPr>
          <a:xfrm>
            <a:off x="0" y="0"/>
            <a:ext cx="9144000" cy="6858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TextBox 5"/>
          <p:cNvSpPr txBox="1"/>
          <p:nvPr/>
        </p:nvSpPr>
        <p:spPr>
          <a:xfrm>
            <a:off x="0" y="77450"/>
            <a:ext cx="9144000" cy="523220"/>
          </a:xfrm>
          <a:prstGeom prst="rect">
            <a:avLst/>
          </a:prstGeom>
          <a:noFill/>
        </p:spPr>
        <p:txBody>
          <a:bodyPr wrap="square" rtlCol="0">
            <a:spAutoFit/>
          </a:bodyPr>
          <a:lstStyle/>
          <a:p>
            <a:pPr algn="ctr"/>
            <a:r>
              <a:rPr lang="en-US" sz="2800" b="1" dirty="0" smtClean="0">
                <a:solidFill>
                  <a:schemeClr val="bg1"/>
                </a:solidFill>
                <a:latin typeface="Arial" pitchFamily="34" charset="0"/>
                <a:cs typeface="Arial" pitchFamily="34" charset="0"/>
              </a:rPr>
              <a:t>Total Loss in a D.C. Generator</a:t>
            </a:r>
            <a:endParaRPr lang="en-US" sz="2800" b="1" dirty="0">
              <a:solidFill>
                <a:schemeClr val="bg1"/>
              </a:solidFill>
              <a:latin typeface="Arial" pitchFamily="34" charset="0"/>
              <a:cs typeface="Arial" pitchFamily="34" charset="0"/>
            </a:endParaRPr>
          </a:p>
        </p:txBody>
      </p:sp>
      <p:pic>
        <p:nvPicPr>
          <p:cNvPr id="13314" name="Picture 2"/>
          <p:cNvPicPr>
            <a:picLocks noChangeAspect="1" noChangeArrowheads="1"/>
          </p:cNvPicPr>
          <p:nvPr/>
        </p:nvPicPr>
        <p:blipFill>
          <a:blip r:embed="rId2"/>
          <a:srcRect/>
          <a:stretch>
            <a:fillRect/>
          </a:stretch>
        </p:blipFill>
        <p:spPr bwMode="auto">
          <a:xfrm>
            <a:off x="1676400" y="3962400"/>
            <a:ext cx="6098840" cy="2590800"/>
          </a:xfrm>
          <a:prstGeom prst="rect">
            <a:avLst/>
          </a:prstGeom>
          <a:ln>
            <a:noFill/>
          </a:ln>
          <a:effectLst>
            <a:outerShdw blurRad="292100" dist="139700" dir="2700000" algn="tl" rotWithShape="0">
              <a:srgbClr val="333333">
                <a:alpha val="65000"/>
              </a:srgbClr>
            </a:outerShdw>
          </a:effectLst>
        </p:spPr>
      </p:pic>
    </p:spTree>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830705" y="1295400"/>
            <a:ext cx="7482590" cy="1938992"/>
          </a:xfrm>
          <a:prstGeom prst="rect">
            <a:avLst/>
          </a:prstGeom>
          <a:noFill/>
        </p:spPr>
        <p:txBody>
          <a:bodyPr wrap="square" rtlCol="0">
            <a:spAutoFit/>
          </a:bodyPr>
          <a:lstStyle/>
          <a:p>
            <a:pPr algn="just">
              <a:lnSpc>
                <a:spcPct val="150000"/>
              </a:lnSpc>
              <a:buClr>
                <a:schemeClr val="accent6">
                  <a:lumMod val="50000"/>
                </a:schemeClr>
              </a:buClr>
              <a:buFont typeface="Wingdings" pitchFamily="2" charset="2"/>
              <a:buChar char="v"/>
              <a:tabLst>
                <a:tab pos="465138" algn="l"/>
              </a:tabLst>
            </a:pPr>
            <a:r>
              <a:rPr lang="en-US" sz="2000" dirty="0" smtClean="0"/>
              <a:t> 	Usually, magnetic and mechanical losses are collectively known as 	Stray Losses. </a:t>
            </a:r>
          </a:p>
          <a:p>
            <a:pPr algn="just">
              <a:lnSpc>
                <a:spcPct val="150000"/>
              </a:lnSpc>
              <a:buClr>
                <a:schemeClr val="accent6">
                  <a:lumMod val="50000"/>
                </a:schemeClr>
              </a:buClr>
              <a:buFont typeface="Wingdings" pitchFamily="2" charset="2"/>
              <a:buChar char="v"/>
              <a:tabLst>
                <a:tab pos="465138" algn="l"/>
              </a:tabLst>
            </a:pPr>
            <a:endParaRPr lang="en-US" sz="2000" dirty="0" smtClean="0"/>
          </a:p>
          <a:p>
            <a:pPr algn="just">
              <a:lnSpc>
                <a:spcPct val="150000"/>
              </a:lnSpc>
              <a:buClr>
                <a:schemeClr val="accent6">
                  <a:lumMod val="50000"/>
                </a:schemeClr>
              </a:buClr>
              <a:buFont typeface="Wingdings" pitchFamily="2" charset="2"/>
              <a:buChar char="v"/>
              <a:tabLst>
                <a:tab pos="465138" algn="l"/>
              </a:tabLst>
            </a:pPr>
            <a:r>
              <a:rPr lang="en-US" sz="2000" dirty="0" smtClean="0"/>
              <a:t> 	These are also known as rotational losses for obvious reasons.</a:t>
            </a:r>
            <a:endParaRPr lang="en-US" sz="2000" dirty="0">
              <a:solidFill>
                <a:srgbClr val="FF0000"/>
              </a:solidFill>
            </a:endParaRPr>
          </a:p>
        </p:txBody>
      </p:sp>
      <p:sp>
        <p:nvSpPr>
          <p:cNvPr id="5" name="Rectangle 4"/>
          <p:cNvSpPr/>
          <p:nvPr/>
        </p:nvSpPr>
        <p:spPr>
          <a:xfrm>
            <a:off x="0" y="0"/>
            <a:ext cx="9144000" cy="6858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TextBox 5"/>
          <p:cNvSpPr txBox="1"/>
          <p:nvPr/>
        </p:nvSpPr>
        <p:spPr>
          <a:xfrm>
            <a:off x="0" y="77450"/>
            <a:ext cx="9144000" cy="523220"/>
          </a:xfrm>
          <a:prstGeom prst="rect">
            <a:avLst/>
          </a:prstGeom>
          <a:noFill/>
        </p:spPr>
        <p:txBody>
          <a:bodyPr wrap="square" rtlCol="0">
            <a:spAutoFit/>
          </a:bodyPr>
          <a:lstStyle/>
          <a:p>
            <a:pPr algn="ctr"/>
            <a:r>
              <a:rPr lang="en-US" sz="2800" b="1" dirty="0" smtClean="0">
                <a:solidFill>
                  <a:schemeClr val="bg1"/>
                </a:solidFill>
                <a:latin typeface="Arial" pitchFamily="34" charset="0"/>
                <a:cs typeface="Arial" pitchFamily="34" charset="0"/>
              </a:rPr>
              <a:t>Stray Losses</a:t>
            </a:r>
            <a:endParaRPr lang="en-US" sz="2800" b="1" dirty="0">
              <a:solidFill>
                <a:schemeClr val="bg1"/>
              </a:solidFill>
              <a:latin typeface="Arial" pitchFamily="34" charset="0"/>
              <a:cs typeface="Arial" pitchFamily="34" charset="0"/>
            </a:endParaRPr>
          </a:p>
        </p:txBody>
      </p:sp>
    </p:spTree>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883170" y="672060"/>
            <a:ext cx="7742420" cy="4315027"/>
          </a:xfrm>
          <a:prstGeom prst="rect">
            <a:avLst/>
          </a:prstGeom>
          <a:noFill/>
        </p:spPr>
        <p:txBody>
          <a:bodyPr wrap="square" rtlCol="0">
            <a:spAutoFit/>
          </a:bodyPr>
          <a:lstStyle/>
          <a:p>
            <a:pPr algn="just">
              <a:lnSpc>
                <a:spcPct val="200000"/>
              </a:lnSpc>
              <a:buClr>
                <a:schemeClr val="accent6">
                  <a:lumMod val="50000"/>
                </a:schemeClr>
              </a:buClr>
              <a:tabLst>
                <a:tab pos="465138" algn="l"/>
              </a:tabLst>
            </a:pPr>
            <a:r>
              <a:rPr lang="en-US" sz="2000" dirty="0" smtClean="0"/>
              <a:t>As said above, field Cu loss is constant for shunt and compound generators. Hence, stray losses and shunt Cu loss are constant in their case. These losses are together known as standing or constant losses </a:t>
            </a:r>
            <a:r>
              <a:rPr lang="en-US" sz="2000" i="1" dirty="0" smtClean="0"/>
              <a:t>W</a:t>
            </a:r>
            <a:r>
              <a:rPr lang="en-US" sz="2000" i="1" baseline="-25000" dirty="0" smtClean="0"/>
              <a:t>C</a:t>
            </a:r>
            <a:r>
              <a:rPr lang="en-US" sz="2000" i="1" dirty="0" smtClean="0"/>
              <a:t>. </a:t>
            </a:r>
          </a:p>
          <a:p>
            <a:pPr algn="just">
              <a:lnSpc>
                <a:spcPct val="200000"/>
              </a:lnSpc>
              <a:buClr>
                <a:schemeClr val="accent6">
                  <a:lumMod val="50000"/>
                </a:schemeClr>
              </a:buClr>
              <a:tabLst>
                <a:tab pos="465138" algn="l"/>
              </a:tabLst>
            </a:pPr>
            <a:r>
              <a:rPr lang="en-US" sz="2000" dirty="0" smtClean="0"/>
              <a:t>Hence, for shunt and compound generators, </a:t>
            </a:r>
          </a:p>
          <a:p>
            <a:pPr algn="just">
              <a:lnSpc>
                <a:spcPct val="200000"/>
              </a:lnSpc>
              <a:buClr>
                <a:schemeClr val="accent6">
                  <a:lumMod val="50000"/>
                </a:schemeClr>
              </a:buClr>
              <a:tabLst>
                <a:tab pos="465138" algn="l"/>
              </a:tabLst>
            </a:pPr>
            <a:r>
              <a:rPr lang="en-US" sz="2000" dirty="0" smtClean="0"/>
              <a:t>Armature Cu loss </a:t>
            </a:r>
            <a:r>
              <a:rPr lang="en-US" sz="2000" i="1" dirty="0" smtClean="0"/>
              <a:t>I</a:t>
            </a:r>
            <a:r>
              <a:rPr lang="en-US" sz="2000" i="1" baseline="-25000" dirty="0" smtClean="0"/>
              <a:t>a</a:t>
            </a:r>
            <a:r>
              <a:rPr lang="en-US" sz="2000" baseline="30000" dirty="0" smtClean="0"/>
              <a:t>2</a:t>
            </a:r>
            <a:r>
              <a:rPr lang="en-US" sz="2000" i="1" dirty="0" smtClean="0"/>
              <a:t>R</a:t>
            </a:r>
            <a:r>
              <a:rPr lang="en-US" sz="2000" i="1" baseline="-25000" dirty="0" smtClean="0"/>
              <a:t>a</a:t>
            </a:r>
            <a:r>
              <a:rPr lang="en-US" sz="2000" i="1" dirty="0" smtClean="0"/>
              <a:t> is known as variable loss because it varies with the load current.</a:t>
            </a:r>
          </a:p>
          <a:p>
            <a:pPr algn="just">
              <a:lnSpc>
                <a:spcPct val="200000"/>
              </a:lnSpc>
              <a:buClr>
                <a:schemeClr val="accent6">
                  <a:lumMod val="50000"/>
                </a:schemeClr>
              </a:buClr>
              <a:tabLst>
                <a:tab pos="465138" algn="l"/>
              </a:tabLst>
            </a:pPr>
            <a:r>
              <a:rPr lang="en-US" sz="2000" dirty="0" smtClean="0"/>
              <a:t>Total loss = variable loss + constant losses </a:t>
            </a:r>
            <a:r>
              <a:rPr lang="en-US" sz="2000" i="1" dirty="0" smtClean="0"/>
              <a:t>W</a:t>
            </a:r>
            <a:r>
              <a:rPr lang="en-US" sz="2000" i="1" baseline="-25000" dirty="0" smtClean="0"/>
              <a:t>C</a:t>
            </a:r>
            <a:endParaRPr lang="en-US" sz="2000" baseline="-25000" dirty="0">
              <a:solidFill>
                <a:srgbClr val="FF0000"/>
              </a:solidFill>
            </a:endParaRPr>
          </a:p>
        </p:txBody>
      </p:sp>
      <p:sp>
        <p:nvSpPr>
          <p:cNvPr id="5" name="Rectangle 4"/>
          <p:cNvSpPr/>
          <p:nvPr/>
        </p:nvSpPr>
        <p:spPr>
          <a:xfrm>
            <a:off x="0" y="0"/>
            <a:ext cx="9144000" cy="6858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TextBox 5"/>
          <p:cNvSpPr txBox="1"/>
          <p:nvPr/>
        </p:nvSpPr>
        <p:spPr>
          <a:xfrm>
            <a:off x="0" y="77450"/>
            <a:ext cx="9144000" cy="523220"/>
          </a:xfrm>
          <a:prstGeom prst="rect">
            <a:avLst/>
          </a:prstGeom>
          <a:noFill/>
        </p:spPr>
        <p:txBody>
          <a:bodyPr wrap="square" rtlCol="0">
            <a:spAutoFit/>
          </a:bodyPr>
          <a:lstStyle/>
          <a:p>
            <a:pPr algn="ctr"/>
            <a:r>
              <a:rPr lang="en-US" sz="2800" b="1" dirty="0" smtClean="0">
                <a:solidFill>
                  <a:schemeClr val="bg1"/>
                </a:solidFill>
                <a:latin typeface="Arial" pitchFamily="34" charset="0"/>
                <a:cs typeface="Arial" pitchFamily="34" charset="0"/>
              </a:rPr>
              <a:t>Constant or Standing Losses</a:t>
            </a:r>
            <a:endParaRPr lang="en-US" sz="2800" b="1" dirty="0">
              <a:solidFill>
                <a:schemeClr val="bg1"/>
              </a:solidFill>
              <a:latin typeface="Arial" pitchFamily="34" charset="0"/>
              <a:cs typeface="Arial" pitchFamily="34" charset="0"/>
            </a:endParaRPr>
          </a:p>
        </p:txBody>
      </p:sp>
    </p:spTree>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868180" y="762000"/>
            <a:ext cx="7482590" cy="2400657"/>
          </a:xfrm>
          <a:prstGeom prst="rect">
            <a:avLst/>
          </a:prstGeom>
          <a:noFill/>
        </p:spPr>
        <p:txBody>
          <a:bodyPr wrap="square" rtlCol="0">
            <a:spAutoFit/>
          </a:bodyPr>
          <a:lstStyle/>
          <a:p>
            <a:pPr algn="just">
              <a:lnSpc>
                <a:spcPct val="150000"/>
              </a:lnSpc>
              <a:buClr>
                <a:schemeClr val="accent6">
                  <a:lumMod val="50000"/>
                </a:schemeClr>
              </a:buClr>
              <a:tabLst>
                <a:tab pos="465138" algn="l"/>
              </a:tabLst>
            </a:pPr>
            <a:r>
              <a:rPr lang="en-US" sz="2000" dirty="0" smtClean="0"/>
              <a:t>Various power stages in the case of a d.c. generator are shown below :</a:t>
            </a:r>
          </a:p>
          <a:p>
            <a:pPr algn="just">
              <a:lnSpc>
                <a:spcPct val="150000"/>
              </a:lnSpc>
              <a:buClr>
                <a:schemeClr val="accent6">
                  <a:lumMod val="50000"/>
                </a:schemeClr>
              </a:buClr>
              <a:tabLst>
                <a:tab pos="465138" algn="l"/>
              </a:tabLst>
            </a:pPr>
            <a:r>
              <a:rPr lang="en-US" sz="2000" dirty="0" smtClean="0"/>
              <a:t>Following are the three generator efficiencies :</a:t>
            </a:r>
          </a:p>
          <a:p>
            <a:pPr algn="just">
              <a:lnSpc>
                <a:spcPct val="150000"/>
              </a:lnSpc>
              <a:buClr>
                <a:schemeClr val="accent6">
                  <a:lumMod val="50000"/>
                </a:schemeClr>
              </a:buClr>
              <a:buFont typeface="+mj-lt"/>
              <a:buAutoNum type="arabicPeriod"/>
              <a:tabLst>
                <a:tab pos="465138" algn="l"/>
              </a:tabLst>
            </a:pPr>
            <a:r>
              <a:rPr lang="en-US" sz="2000" b="1" dirty="0" smtClean="0"/>
              <a:t> 	Mechanical Efficiency</a:t>
            </a:r>
          </a:p>
          <a:p>
            <a:pPr algn="just">
              <a:lnSpc>
                <a:spcPct val="150000"/>
              </a:lnSpc>
              <a:buClr>
                <a:schemeClr val="accent6">
                  <a:lumMod val="50000"/>
                </a:schemeClr>
              </a:buClr>
              <a:buFont typeface="+mj-lt"/>
              <a:buAutoNum type="arabicPeriod"/>
              <a:tabLst>
                <a:tab pos="465138" algn="l"/>
              </a:tabLst>
            </a:pPr>
            <a:r>
              <a:rPr lang="en-US" sz="2000" b="1" dirty="0" smtClean="0">
                <a:solidFill>
                  <a:srgbClr val="FF0000"/>
                </a:solidFill>
              </a:rPr>
              <a:t> 	</a:t>
            </a:r>
            <a:r>
              <a:rPr lang="en-US" sz="2000" b="1" dirty="0" smtClean="0"/>
              <a:t>Electrical Efficiency</a:t>
            </a:r>
          </a:p>
          <a:p>
            <a:pPr algn="just">
              <a:lnSpc>
                <a:spcPct val="150000"/>
              </a:lnSpc>
              <a:buClr>
                <a:schemeClr val="accent6">
                  <a:lumMod val="50000"/>
                </a:schemeClr>
              </a:buClr>
              <a:buFont typeface="+mj-lt"/>
              <a:buAutoNum type="arabicPeriod"/>
              <a:tabLst>
                <a:tab pos="465138" algn="l"/>
              </a:tabLst>
            </a:pPr>
            <a:r>
              <a:rPr lang="en-US" sz="2000" b="1" dirty="0" smtClean="0">
                <a:solidFill>
                  <a:srgbClr val="FF0000"/>
                </a:solidFill>
              </a:rPr>
              <a:t> 	</a:t>
            </a:r>
            <a:r>
              <a:rPr lang="en-US" sz="2000" b="1" dirty="0" smtClean="0"/>
              <a:t>Overall or Commercial Efficiency</a:t>
            </a:r>
            <a:endParaRPr lang="en-US" sz="2000" dirty="0">
              <a:solidFill>
                <a:srgbClr val="FF0000"/>
              </a:solidFill>
            </a:endParaRPr>
          </a:p>
        </p:txBody>
      </p:sp>
      <p:sp>
        <p:nvSpPr>
          <p:cNvPr id="5" name="Rectangle 4"/>
          <p:cNvSpPr/>
          <p:nvPr/>
        </p:nvSpPr>
        <p:spPr>
          <a:xfrm>
            <a:off x="0" y="0"/>
            <a:ext cx="9144000" cy="6858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TextBox 5"/>
          <p:cNvSpPr txBox="1"/>
          <p:nvPr/>
        </p:nvSpPr>
        <p:spPr>
          <a:xfrm>
            <a:off x="0" y="77450"/>
            <a:ext cx="9144000" cy="523220"/>
          </a:xfrm>
          <a:prstGeom prst="rect">
            <a:avLst/>
          </a:prstGeom>
          <a:noFill/>
        </p:spPr>
        <p:txBody>
          <a:bodyPr wrap="square" rtlCol="0">
            <a:spAutoFit/>
          </a:bodyPr>
          <a:lstStyle/>
          <a:p>
            <a:pPr algn="ctr"/>
            <a:r>
              <a:rPr lang="en-US" sz="2800" b="1" dirty="0" smtClean="0">
                <a:solidFill>
                  <a:schemeClr val="bg1"/>
                </a:solidFill>
                <a:latin typeface="Arial" pitchFamily="34" charset="0"/>
                <a:cs typeface="Arial" pitchFamily="34" charset="0"/>
              </a:rPr>
              <a:t>Power Stages</a:t>
            </a:r>
            <a:endParaRPr lang="en-US" sz="2800" b="1" dirty="0">
              <a:solidFill>
                <a:schemeClr val="bg1"/>
              </a:solidFill>
              <a:latin typeface="Arial" pitchFamily="34" charset="0"/>
              <a:cs typeface="Arial" pitchFamily="34" charset="0"/>
            </a:endParaRPr>
          </a:p>
        </p:txBody>
      </p:sp>
      <p:pic>
        <p:nvPicPr>
          <p:cNvPr id="14338" name="Picture 2"/>
          <p:cNvPicPr>
            <a:picLocks noChangeAspect="1" noChangeArrowheads="1"/>
          </p:cNvPicPr>
          <p:nvPr/>
        </p:nvPicPr>
        <p:blipFill>
          <a:blip r:embed="rId2"/>
          <a:srcRect/>
          <a:stretch>
            <a:fillRect/>
          </a:stretch>
        </p:blipFill>
        <p:spPr bwMode="auto">
          <a:xfrm>
            <a:off x="838200" y="3276600"/>
            <a:ext cx="7620000" cy="1905000"/>
          </a:xfrm>
          <a:prstGeom prst="rect">
            <a:avLst/>
          </a:prstGeom>
          <a:ln>
            <a:noFill/>
          </a:ln>
          <a:effectLst>
            <a:outerShdw blurRad="292100" dist="139700" dir="2700000" algn="tl" rotWithShape="0">
              <a:srgbClr val="333333">
                <a:alpha val="65000"/>
              </a:srgbClr>
            </a:outerShdw>
          </a:effectLst>
        </p:spPr>
      </p:pic>
    </p:spTree>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868180" y="762000"/>
            <a:ext cx="7482590" cy="1015663"/>
          </a:xfrm>
          <a:prstGeom prst="rect">
            <a:avLst/>
          </a:prstGeom>
          <a:noFill/>
        </p:spPr>
        <p:txBody>
          <a:bodyPr wrap="square" rtlCol="0">
            <a:spAutoFit/>
          </a:bodyPr>
          <a:lstStyle/>
          <a:p>
            <a:pPr algn="just">
              <a:lnSpc>
                <a:spcPct val="150000"/>
              </a:lnSpc>
              <a:buClr>
                <a:schemeClr val="accent6">
                  <a:lumMod val="50000"/>
                </a:schemeClr>
              </a:buClr>
              <a:tabLst>
                <a:tab pos="465138" algn="l"/>
              </a:tabLst>
            </a:pPr>
            <a:r>
              <a:rPr lang="en-US" sz="2000" dirty="0" smtClean="0"/>
              <a:t>Generator output = </a:t>
            </a:r>
            <a:r>
              <a:rPr lang="en-US" sz="2000" i="1" dirty="0" smtClean="0"/>
              <a:t>VI</a:t>
            </a:r>
          </a:p>
          <a:p>
            <a:pPr algn="just">
              <a:lnSpc>
                <a:spcPct val="150000"/>
              </a:lnSpc>
              <a:buClr>
                <a:schemeClr val="accent6">
                  <a:lumMod val="50000"/>
                </a:schemeClr>
              </a:buClr>
              <a:tabLst>
                <a:tab pos="465138" algn="l"/>
              </a:tabLst>
            </a:pPr>
            <a:r>
              <a:rPr lang="en-US" sz="2000" dirty="0" smtClean="0"/>
              <a:t>Generator input = output + losses	</a:t>
            </a:r>
            <a:endParaRPr lang="en-US" sz="2000" dirty="0">
              <a:solidFill>
                <a:srgbClr val="FF0000"/>
              </a:solidFill>
            </a:endParaRPr>
          </a:p>
        </p:txBody>
      </p:sp>
      <p:sp>
        <p:nvSpPr>
          <p:cNvPr id="5" name="Rectangle 4"/>
          <p:cNvSpPr/>
          <p:nvPr/>
        </p:nvSpPr>
        <p:spPr>
          <a:xfrm>
            <a:off x="0" y="0"/>
            <a:ext cx="9144000" cy="6858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TextBox 5"/>
          <p:cNvSpPr txBox="1"/>
          <p:nvPr/>
        </p:nvSpPr>
        <p:spPr>
          <a:xfrm>
            <a:off x="0" y="77450"/>
            <a:ext cx="9144000" cy="523220"/>
          </a:xfrm>
          <a:prstGeom prst="rect">
            <a:avLst/>
          </a:prstGeom>
          <a:noFill/>
        </p:spPr>
        <p:txBody>
          <a:bodyPr wrap="square" rtlCol="0">
            <a:spAutoFit/>
          </a:bodyPr>
          <a:lstStyle/>
          <a:p>
            <a:pPr algn="ctr"/>
            <a:r>
              <a:rPr lang="en-US" sz="2800" b="1" dirty="0" smtClean="0">
                <a:solidFill>
                  <a:schemeClr val="bg1"/>
                </a:solidFill>
                <a:latin typeface="Arial" pitchFamily="34" charset="0"/>
                <a:cs typeface="Arial" pitchFamily="34" charset="0"/>
              </a:rPr>
              <a:t>Condition for Maximum Efficiency </a:t>
            </a:r>
            <a:endParaRPr lang="en-US" sz="2800" b="1" dirty="0">
              <a:solidFill>
                <a:schemeClr val="bg1"/>
              </a:solidFill>
              <a:latin typeface="Arial" pitchFamily="34" charset="0"/>
              <a:cs typeface="Arial" pitchFamily="34" charset="0"/>
            </a:endParaRPr>
          </a:p>
        </p:txBody>
      </p:sp>
      <p:pic>
        <p:nvPicPr>
          <p:cNvPr id="15362" name="Picture 2"/>
          <p:cNvPicPr>
            <a:picLocks noChangeAspect="1" noChangeArrowheads="1"/>
          </p:cNvPicPr>
          <p:nvPr/>
        </p:nvPicPr>
        <p:blipFill>
          <a:blip r:embed="rId2"/>
          <a:srcRect t="5882"/>
          <a:stretch>
            <a:fillRect/>
          </a:stretch>
        </p:blipFill>
        <p:spPr bwMode="auto">
          <a:xfrm>
            <a:off x="609600" y="2209800"/>
            <a:ext cx="8077200" cy="1219200"/>
          </a:xfrm>
          <a:prstGeom prst="rect">
            <a:avLst/>
          </a:prstGeom>
          <a:noFill/>
          <a:ln w="9525">
            <a:noFill/>
            <a:miter lim="800000"/>
            <a:headEnd/>
            <a:tailEnd/>
          </a:ln>
          <a:effectLst/>
        </p:spPr>
      </p:pic>
      <p:pic>
        <p:nvPicPr>
          <p:cNvPr id="3" name="Picture 2"/>
          <p:cNvPicPr>
            <a:picLocks noChangeAspect="1"/>
          </p:cNvPicPr>
          <p:nvPr/>
        </p:nvPicPr>
        <p:blipFill>
          <a:blip r:embed="rId3"/>
          <a:stretch>
            <a:fillRect/>
          </a:stretch>
        </p:blipFill>
        <p:spPr>
          <a:xfrm>
            <a:off x="5029200" y="3733800"/>
            <a:ext cx="2235200" cy="914400"/>
          </a:xfrm>
          <a:prstGeom prst="rect">
            <a:avLst/>
          </a:prstGeom>
        </p:spPr>
      </p:pic>
      <p:pic>
        <p:nvPicPr>
          <p:cNvPr id="7" name="Picture 6"/>
          <p:cNvPicPr>
            <a:picLocks noChangeAspect="1"/>
          </p:cNvPicPr>
          <p:nvPr/>
        </p:nvPicPr>
        <p:blipFill>
          <a:blip r:embed="rId4"/>
          <a:stretch>
            <a:fillRect/>
          </a:stretch>
        </p:blipFill>
        <p:spPr>
          <a:xfrm>
            <a:off x="868180" y="4800600"/>
            <a:ext cx="6182732" cy="1524000"/>
          </a:xfrm>
          <a:prstGeom prst="rect">
            <a:avLst/>
          </a:prstGeom>
        </p:spPr>
      </p:pic>
    </p:spTree>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3901641</TotalTime>
  <Words>981</Words>
  <Application>Microsoft Office PowerPoint</Application>
  <PresentationFormat>On-screen Show (4:3)</PresentationFormat>
  <Paragraphs>265</Paragraphs>
  <Slides>56</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56</vt:i4>
      </vt:variant>
    </vt:vector>
  </HeadingPairs>
  <TitlesOfParts>
    <vt:vector size="61" baseType="lpstr">
      <vt:lpstr>Arial</vt:lpstr>
      <vt:lpstr>Calibri</vt:lpstr>
      <vt:lpstr>Cambria Math</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Administrator</dc:creator>
  <cp:lastModifiedBy>IIT</cp:lastModifiedBy>
  <cp:revision>285</cp:revision>
  <dcterms:created xsi:type="dcterms:W3CDTF">2015-05-26T08:58:57Z</dcterms:created>
  <dcterms:modified xsi:type="dcterms:W3CDTF">2023-02-16T18:27:10Z</dcterms:modified>
</cp:coreProperties>
</file>