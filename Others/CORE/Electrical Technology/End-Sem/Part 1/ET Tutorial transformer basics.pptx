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73" r:id="rId4"/>
    <p:sldId id="268" r:id="rId5"/>
    <p:sldId id="269" r:id="rId6"/>
    <p:sldId id="271" r:id="rId7"/>
    <p:sldId id="266" r:id="rId8"/>
    <p:sldId id="270" r:id="rId9"/>
    <p:sldId id="264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79A29-A25C-4998-9ED3-D99AB124AD1E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2F3F8-22AA-4805-B685-817EE5CB9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7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0BBC-AEC0-4C45-9960-F1A467E72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4F736-D05C-F848-64EE-D7347CF16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BFFA-4875-0BAC-F343-A026D327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504D-AEBE-2135-6524-91A4D038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5A3C2-06AF-CAC4-50AB-A67B4895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74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B994-78C7-8436-1D87-6E3BEC04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F9DB-A5B5-8F6A-465D-AC26D7A8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5075E-730B-AF08-E75B-1C944A41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6DEEF-00F8-ECC4-FD62-6727BAA3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3D30-507A-C9D1-149A-970E020C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3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CAD4-A020-7E1C-3CC3-AE57B11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8F22-A1AF-C8E0-3C43-D3339602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7EE3-B705-A220-02F2-4FE9E90B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C658-11F5-87A5-40A0-35961B38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E68E6-E4C3-D151-D06D-DDEA803B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3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EFFB-93D0-75D3-5721-0F0AA709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F209-4DC6-9E65-C33B-02CFD81A0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2557-744B-24B4-8D2E-CFCF29D25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7F23-B1DE-7282-7B9D-B89DB651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E1CC-48FD-CABA-7576-B90FCE81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BDDB2-1B36-E766-EE21-3C752091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B06-8D31-2EAD-4555-402935B5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D9F38-5F9C-E89F-D75A-97E170E5C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65CA5-06E6-513F-5400-52A2766C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7FBC9-4720-610B-231B-88B6A7126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5C9B0-8AF2-422B-DE55-5A5B0430D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3308C-881F-0D6D-D113-BC73E7D0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B3028-6A12-F025-9A72-641390A4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0D95-FEE8-76D8-1F0F-6D314087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7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F956-7502-4F82-292C-BE3A2A5C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54E9D-4782-6664-94BC-0125A1D8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4166-AF11-D09B-B345-82A65607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1CAB8-4893-6C90-CD9B-D0C7E6CE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5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2603C-C9B4-C1C4-B433-D576F304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8BF21-9708-BFA2-812F-4324C6C8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A4D59-B020-5010-F434-CD11AC5F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62EC-31EC-97A2-523C-48094999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BDFA-0B5E-4E8D-B485-E95B478E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E2575-A918-3F4D-0BC3-13AF2CE6D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8793-0B61-2E89-511D-0DB32D1B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5E320-BA43-2A1F-EB41-007DFD82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4DD84-D408-2595-03F6-39657E61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53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86AF-1D82-5859-CC0D-6CCD3AF2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56CBE-070C-E7C3-03D1-9A0766266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D75D1-A4A7-BC73-4685-77048949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D4E94-ED1E-7758-CE80-67D317BC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5EA68-FEBF-73A7-8DC1-BDD3B596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B4B92-E999-FD0F-F12C-E61AE06C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88AF-3211-7DA6-06FA-107AB2E4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4FBDB-2BAB-5E16-4F4D-8E2067F0F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6CF8-723C-01D5-9019-A285A5A7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315B-9F09-091B-5AAE-86AE2A32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D281-AD33-FFC2-57A1-370DF9E2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31F0F-997A-C830-6C22-E60C067A6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4E534-C8F0-014C-DAC0-C36CD6A1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61B1-DE86-70F4-9336-3AAF0E9D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1BD4F-9048-EEF7-4CB5-07C56D0D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DED98-4975-266C-18A9-37B6BF78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2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65CEB-6E9E-6D15-381F-226A6398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332C8-23D0-D17A-ABC5-58AA22B3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535E4-8D9D-ED2E-511E-09190F853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30C39-D057-4FD0-AE27-0EB06C3776D9}" type="datetimeFigureOut">
              <a:rPr lang="en-IN" smtClean="0"/>
              <a:t>25-01-2023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40942-8EB9-379C-89C7-CBD8E6BBB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D378-FAE8-94C6-EA35-0AF2259BD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5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268-7ACD-6EEA-4E21-B045684A5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ET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6966C-C1B1-4183-2E8D-34FADE6C0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Single Phase Transformer Basics</a:t>
            </a:r>
          </a:p>
        </p:txBody>
      </p:sp>
    </p:spTree>
    <p:extLst>
      <p:ext uri="{BB962C8B-B14F-4D97-AF65-F5344CB8AC3E}">
        <p14:creationId xmlns:p14="http://schemas.microsoft.com/office/powerpoint/2010/main" val="23188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4.13 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𝑚𝑊𝑏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blipFill>
                <a:blip r:embed="rId2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869739"/>
            <a:ext cx="1158594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primary of transformer has 200 turns and is excited by a 60Hz, 200V source. What is the maximum value of flux?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4531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432827-FA94-948A-311C-630D03A7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71" y="275484"/>
            <a:ext cx="12062908" cy="5354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A15A82-F8BE-8DB4-DCB6-B932DA75AA91}"/>
              </a:ext>
            </a:extLst>
          </p:cNvPr>
          <p:cNvSpPr txBox="1"/>
          <p:nvPr/>
        </p:nvSpPr>
        <p:spPr>
          <a:xfrm>
            <a:off x="244663" y="441789"/>
            <a:ext cx="452063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6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1179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.45 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𝑚𝑊𝑏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blipFill>
                <a:blip r:embed="rId2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DCE41E7-78B8-6AD8-11B8-FCAC4EF6F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28" y="623518"/>
                <a:ext cx="11585944" cy="15696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200" dirty="0">
                    <a:solidFill>
                      <a:srgbClr val="24202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A voltage </a:t>
                </a:r>
                <a14:m>
                  <m:oMath xmlns:m="http://schemas.openxmlformats.org/officeDocument/2006/math"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=155.5 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377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+15.5 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𝑠𝑖𝑛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1131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0" lang="en-IN" altLang="en-US" sz="3200" b="0" i="1" u="none" strike="noStrike" cap="none" normalizeH="0" baseline="0" smtClean="0">
                        <a:ln>
                          <a:noFill/>
                        </a:ln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kumimoji="0" lang="en-IN" altLang="en-US" sz="3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IN" altLang="en-US" sz="3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kumimoji="0" lang="en-US" altLang="en-US" sz="16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lang="en-US" altLang="en-US" sz="3200" dirty="0">
                    <a:solidFill>
                      <a:srgbClr val="24202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 applied to the primary of the transformer of the previous problem. Neglecting leakage, determine the instantaneous and rms values of the core flux.</a:t>
                </a:r>
                <a:endParaRPr kumimoji="0" lang="en-US" altLang="en-US" sz="16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DCE41E7-78B8-6AD8-11B8-FCAC4EF6F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28" y="623518"/>
                <a:ext cx="11585944" cy="1569660"/>
              </a:xfrm>
              <a:prstGeom prst="rect">
                <a:avLst/>
              </a:prstGeom>
              <a:blipFill>
                <a:blip r:embed="rId3"/>
                <a:stretch>
                  <a:fillRect l="-1368" t="-4651" r="-1368" b="-116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19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9.5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, 0.476, 0.94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𝑚𝑊𝑏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blipFill>
                <a:blip r:embed="rId2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131076"/>
            <a:ext cx="115859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kumimoji="0" lang="en-IN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60Hz t/f having a 480 turn primary winding takes 80W </a:t>
            </a:r>
            <a:r>
              <a:rPr lang="en-IN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1.4A at no load with input voltage of 120V</a:t>
            </a:r>
            <a:r>
              <a:rPr lang="en-US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If the primary winding resistance is 0.25 </a:t>
            </a:r>
            <a:r>
              <a:rPr lang="el-GR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IN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determine (a) the core loss, (b) the no-load power factor and (c) the maximum core flux</a:t>
            </a:r>
            <a:r>
              <a:rPr lang="en-US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(neglect the primary resistance and reactance drops)</a:t>
            </a:r>
            <a:endParaRPr kumimoji="0" lang="en-US" altLang="en-US" sz="16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9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451515"/>
            <a:ext cx="11585944" cy="191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transformer has 180 and 90 turns in its secondary and primary windings respectively. The respective resistances are 0.233Ω and 0.067</a:t>
            </a:r>
            <a:r>
              <a:rPr lang="el-GR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IN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Calculate the equivalent resistance of (a) primary referred to secondary (b) secondary referred to primary and (c) the total resistance of t/f referred to the primary.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9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3C1AF9-BE47-AF5D-CEC5-1CFAAA76BB2F}"/>
              </a:ext>
            </a:extLst>
          </p:cNvPr>
          <p:cNvSpPr txBox="1"/>
          <p:nvPr/>
        </p:nvSpPr>
        <p:spPr>
          <a:xfrm>
            <a:off x="5732980" y="5471941"/>
            <a:ext cx="6209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 Ref to HV: Z</a:t>
            </a:r>
            <a:r>
              <a:rPr lang="en-IN" sz="2400" baseline="-25000" dirty="0"/>
              <a:t>2</a:t>
            </a:r>
            <a:r>
              <a:rPr lang="en-IN" sz="2400" dirty="0"/>
              <a:t>’ = 0.4 + j 0.5 </a:t>
            </a:r>
            <a:r>
              <a:rPr lang="el-GR" sz="2400" dirty="0"/>
              <a:t>Ω</a:t>
            </a:r>
            <a:endParaRPr lang="en-IN" sz="2400" dirty="0"/>
          </a:p>
          <a:p>
            <a:r>
              <a:rPr lang="en-IN" sz="2400" dirty="0"/>
              <a:t>		Y</a:t>
            </a:r>
            <a:r>
              <a:rPr lang="en-IN" sz="2400" baseline="-25000" dirty="0"/>
              <a:t>0</a:t>
            </a:r>
            <a:r>
              <a:rPr lang="en-IN" sz="2400" dirty="0"/>
              <a:t>’ = (0.002 – j 0.015) 10</a:t>
            </a:r>
            <a:r>
              <a:rPr lang="en-IN" sz="2400" baseline="30000" dirty="0"/>
              <a:t>-2 </a:t>
            </a:r>
            <a:r>
              <a:rPr lang="en-IN" sz="2400" dirty="0"/>
              <a:t>Ʊ</a:t>
            </a:r>
          </a:p>
          <a:p>
            <a:r>
              <a:rPr lang="en-IN" sz="2400" dirty="0"/>
              <a:t>Ref to LV: Z</a:t>
            </a:r>
            <a:r>
              <a:rPr lang="en-IN" sz="2400" baseline="-25000" dirty="0"/>
              <a:t>1</a:t>
            </a:r>
            <a:r>
              <a:rPr lang="en-IN" sz="2400" dirty="0"/>
              <a:t>’ = 0.0042 + j 0.0052 </a:t>
            </a:r>
            <a:r>
              <a:rPr lang="el-GR" sz="2400" dirty="0"/>
              <a:t>Ω</a:t>
            </a:r>
            <a:endParaRPr lang="en-IN" sz="2400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92" y="298716"/>
            <a:ext cx="11585944" cy="283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lang="en-US" altLang="en-US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20-kVA, 50-Hz, 2000/200-V distribution transformer has a leakage impedance of 0.42 + j 0.52 </a:t>
            </a:r>
            <a:r>
              <a:rPr lang="el-GR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IN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high-voltage (HV) winding and 0.004 + j 0.05 </a:t>
            </a:r>
            <a:r>
              <a:rPr lang="el-GR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low-voltage (LV) winding. When seen from the LV side, the shunt branch admittance Y</a:t>
            </a:r>
            <a:r>
              <a:rPr lang="en-US" sz="2800" b="0" i="0" baseline="-2500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(0.002 – j 0.015) </a:t>
            </a:r>
            <a:r>
              <a:rPr lang="el-GR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IN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(at rated voltage and frequency). Draw the equivalent circuit referred to (a) HV side and (b) LV side, indicating all impedances on the circuit.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3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0.938 </m:t>
                    </m:r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Wb</m:t>
                    </m:r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, 1250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6249871"/>
                <a:ext cx="4017195" cy="461665"/>
              </a:xfrm>
              <a:prstGeom prst="rect">
                <a:avLst/>
              </a:prstGeom>
              <a:blipFill>
                <a:blip r:embed="rId2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131077"/>
            <a:ext cx="115859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IN" altLang="en-US" sz="32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single phase t/f has 400 primary and 1000 secondary turns. The net cross sectiona</a:t>
            </a:r>
            <a:r>
              <a:rPr lang="en-IN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 area of the core is 60 cm</a:t>
            </a:r>
            <a:r>
              <a:rPr lang="en-IN" altLang="en-US" sz="3200" baseline="300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altLang="en-US" sz="32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If the primary is connected to a 50Hz supply at 500V, determine (a) the peak value of flux density in the core and (b) the voltage induced in the secondary winding.  </a:t>
            </a:r>
            <a:endParaRPr kumimoji="0" lang="en-US" altLang="en-US" sz="16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291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3C1AF9-BE47-AF5D-CEC5-1CFAAA76BB2F}"/>
              </a:ext>
            </a:extLst>
          </p:cNvPr>
          <p:cNvSpPr txBox="1"/>
          <p:nvPr/>
        </p:nvSpPr>
        <p:spPr>
          <a:xfrm>
            <a:off x="8174805" y="5067337"/>
            <a:ext cx="40171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 no load pf: 0.108 lag,</a:t>
            </a:r>
          </a:p>
          <a:p>
            <a:r>
              <a:rPr lang="en-IN" sz="2400" dirty="0" err="1"/>
              <a:t>I</a:t>
            </a:r>
            <a:r>
              <a:rPr lang="en-IN" sz="2400" baseline="-25000" dirty="0" err="1"/>
              <a:t>w</a:t>
            </a:r>
            <a:r>
              <a:rPr lang="en-IN" sz="2400" baseline="-25000" dirty="0"/>
              <a:t> </a:t>
            </a:r>
            <a:r>
              <a:rPr lang="en-IN" sz="2400" dirty="0"/>
              <a:t>= 0.216 A</a:t>
            </a:r>
          </a:p>
          <a:p>
            <a:r>
              <a:rPr lang="en-IN" sz="2400" dirty="0" err="1"/>
              <a:t>G</a:t>
            </a:r>
            <a:r>
              <a:rPr lang="en-IN" sz="2400" baseline="-25000" dirty="0" err="1"/>
              <a:t>w</a:t>
            </a:r>
            <a:r>
              <a:rPr lang="en-IN" sz="2400" dirty="0"/>
              <a:t> = 0.945mƱ</a:t>
            </a:r>
          </a:p>
          <a:p>
            <a:r>
              <a:rPr lang="en-IN" sz="2400" dirty="0"/>
              <a:t>B</a:t>
            </a:r>
            <a:r>
              <a:rPr lang="en-IN" sz="2400" baseline="-25000" dirty="0"/>
              <a:t>m</a:t>
            </a:r>
            <a:r>
              <a:rPr lang="en-IN" sz="2400" dirty="0"/>
              <a:t> = 8.64mƱ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221003"/>
            <a:ext cx="11585944" cy="237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transformer on no-load has a core-loss of 50 W, draws a current of 2 A (rms) and has an induced emf of 230 V (rms). Determine the no-load power factor, core-loss current and magnetizing current. Also calculate the no-load circuit parameters of the transformer. Neglect winding resistance and leakage flux.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4779180-86F0-700C-F35E-C077E4F3D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81" y="44186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13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DCE41E7-78B8-6AD8-11B8-FCAC4EF6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28" y="682026"/>
            <a:ext cx="11585944" cy="1452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07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02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US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40kVA transformer </a:t>
            </a:r>
            <a:r>
              <a:rPr lang="en-IN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a ratio of 2000/250V has a primary resistance of 1.15</a:t>
            </a:r>
            <a:r>
              <a:rPr lang="el-GR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IN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secondary resistance of 0.0155</a:t>
            </a:r>
            <a:r>
              <a:rPr lang="el-GR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Ω</a:t>
            </a:r>
            <a:r>
              <a:rPr lang="en-IN" sz="2800" dirty="0">
                <a:solidFill>
                  <a:srgbClr val="24202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Calculate (a) total resistance referred to secondary and (b) total copper loss in full load.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FC568-37C5-7787-17E8-4221984D818E}"/>
              </a:ext>
            </a:extLst>
          </p:cNvPr>
          <p:cNvSpPr txBox="1"/>
          <p:nvPr/>
        </p:nvSpPr>
        <p:spPr>
          <a:xfrm>
            <a:off x="5732980" y="5471941"/>
            <a:ext cx="6209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 0.0334</a:t>
            </a:r>
            <a:r>
              <a:rPr lang="el-GR" sz="2400" dirty="0"/>
              <a:t>Ω</a:t>
            </a:r>
            <a:endParaRPr lang="en-IN" sz="2400" dirty="0"/>
          </a:p>
          <a:p>
            <a:r>
              <a:rPr lang="en-IN" sz="2400" dirty="0"/>
              <a:t>	956.8 W</a:t>
            </a:r>
          </a:p>
        </p:txBody>
      </p:sp>
    </p:spTree>
    <p:extLst>
      <p:ext uri="{BB962C8B-B14F-4D97-AF65-F5344CB8AC3E}">
        <p14:creationId xmlns:p14="http://schemas.microsoft.com/office/powerpoint/2010/main" val="255436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560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ET TUTORIAL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TUTORIAL</dc:title>
  <dc:creator>chandra MVSS</dc:creator>
  <cp:lastModifiedBy>chandra MVSS</cp:lastModifiedBy>
  <cp:revision>22</cp:revision>
  <dcterms:created xsi:type="dcterms:W3CDTF">2022-12-13T08:54:59Z</dcterms:created>
  <dcterms:modified xsi:type="dcterms:W3CDTF">2023-01-25T06:51:02Z</dcterms:modified>
</cp:coreProperties>
</file>