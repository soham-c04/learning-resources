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92" r:id="rId2"/>
    <p:sldId id="552" r:id="rId3"/>
    <p:sldId id="553" r:id="rId4"/>
    <p:sldId id="581" r:id="rId5"/>
    <p:sldId id="554" r:id="rId6"/>
    <p:sldId id="579" r:id="rId7"/>
    <p:sldId id="580" r:id="rId8"/>
    <p:sldId id="555" r:id="rId9"/>
    <p:sldId id="556" r:id="rId10"/>
    <p:sldId id="571" r:id="rId11"/>
    <p:sldId id="572" r:id="rId12"/>
    <p:sldId id="573" r:id="rId13"/>
    <p:sldId id="574"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6">
          <p15:clr>
            <a:srgbClr val="A4A3A4"/>
          </p15:clr>
        </p15:guide>
        <p15:guide id="2" pos="57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65" autoAdjust="0"/>
    <p:restoredTop sz="94660"/>
  </p:normalViewPr>
  <p:slideViewPr>
    <p:cSldViewPr>
      <p:cViewPr varScale="1">
        <p:scale>
          <a:sx n="67" d="100"/>
          <a:sy n="67" d="100"/>
        </p:scale>
        <p:origin x="1446" y="48"/>
      </p:cViewPr>
      <p:guideLst>
        <p:guide orient="horz" pos="576"/>
        <p:guide pos="576"/>
      </p:guideLst>
    </p:cSldViewPr>
  </p:slideViewPr>
  <p:notesTextViewPr>
    <p:cViewPr>
      <p:scale>
        <a:sx n="100" d="100"/>
        <a:sy n="100" d="100"/>
      </p:scale>
      <p:origin x="0" y="0"/>
    </p:cViewPr>
  </p:notesTextViewPr>
  <p:notesViewPr>
    <p:cSldViewPr showGuides="1">
      <p:cViewPr varScale="1">
        <p:scale>
          <a:sx n="52" d="100"/>
          <a:sy n="52" d="100"/>
        </p:scale>
        <p:origin x="-2892"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1F3B94F-5F29-4981-8B40-B0A31128BDC7}" type="datetimeFigureOut">
              <a:rPr lang="en-US" smtClean="0"/>
              <a:pPr/>
              <a:t>2/17/2023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EB7E42D-E44C-4AE4-973A-A45C2CFFC753}" type="slidenum">
              <a:rPr lang="en-US" smtClean="0"/>
              <a:pPr/>
              <a:t>‹#›</a:t>
            </a:fld>
            <a:endParaRPr lang="en-US" dirty="0"/>
          </a:p>
        </p:txBody>
      </p:sp>
    </p:spTree>
    <p:extLst>
      <p:ext uri="{BB962C8B-B14F-4D97-AF65-F5344CB8AC3E}">
        <p14:creationId xmlns:p14="http://schemas.microsoft.com/office/powerpoint/2010/main" val="295035429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2-16T05:56:57.735"/>
    </inkml:context>
    <inkml:brush xml:id="br0">
      <inkml:brushProperty name="width" value="0.05292" units="cm"/>
      <inkml:brushProperty name="height" value="0.05292" units="cm"/>
      <inkml:brushProperty name="color" value="#FF0000"/>
    </inkml:brush>
  </inkml:definitions>
  <inkml:trace contextRef="#ctx0" brushRef="#br0">2862 8378 144 0,'0'-4'261'16,"-1"3"14"-16,0-6-33 0,-1 5-82 16,2-4-60-16,-1 4-30 0,1-3-18 0,0 1-8 15,0-2-2-15,0 2-3 0,0-2-1 0,0-2 0 16,0 5-4-16,0-4 1 0,0 2-1 16,0 3-4-16,0-5 2 0,0 2 1 0,0 2 3 15,0 1-4-15,0-1 3 0,-2 3 1 0,2-3-4 16,0 3-1-16,0-2-6 0,0 2-6 15,0 0-4-15,0 2-10 0,0-2-1 16,0 3-1-16,0 2 4 0,2 3 1 0,-1 1 6 16,1 5 5-16,0-1-3 0,2 2 2 15,-1 1-3-15,4 4 0 0,-2-1-2 0,5-2-1 16,0 2-2-16,0 0 0 0,1-2 3 16,3-1 0-16,1-1-3 0,0-2 2 0,0-1 3 15,3 0-1-15,-1-2 0 0,1-3 1 0,0 0-2 16,3-4 0-16,-3 0-1 0,3-2-4 15,3-1 1-15,0-1-3 0,0-2 1 0,1 0-3 16,2-4 2-16,0-2 0 0,3-1-2 16,0-2 1-16,0-3-3 0,2-1-1 0,1-1-1 15,3-1-1-15,-1-3-1 0,3 1-1 16,-2-1 1-16,1-1-1 0,1-1 2 0,-1 3 0 16,-2 2-2-16,-2-3 2 0,-4 5 1 0,-5 1 2 15,0 0-2-15,-4 5 1 0,-5 2 0 16,0-1-2-16,-4 2-3 0,0 2 1 15,-5-1 3-15,1 4-3 0,-4-1-1 0,2 1-4 16,1 2-10-16,-3 2-13 0,1 1-18 16,0 2-27-16,-4 0-25 0,3 0-39 0,-3-5-114 15,-3 5-75-15,-2-3-30 0,-7 5 1 0,1-4 13 16</inkml:trace>
  <inkml:trace contextRef="#ctx0" brushRef="#br0" timeOffset="946.8343">2588 7021 56 0,'-5'-8'256'15,"1"4"18"-15,-1-5 1 0,0 3-83 16,2 0-68-16,1 2-42 0,-1-1-21 0,0 2-10 15,3 0-11-15,-2 2-3 0,2-1-8 0,0 2-6 16,0 0-9-16,0 0-2 0,0 0-4 16,0 0-3-16,0 2-1 0,2 1 1 0,-2 1 3 15,3 2-1-15,0 3 1 0,1 0 1 0,0 1 2 16,3 2-3-16,0 3 1 0,3-2-1 0,0-1 16 16,5 0 4-16,-2 1 7 0,6 0 4 15,-3-3 3-15,3 0-2 0,-1 1-11 0,0-2-8 16,1-2-3-16,-1 2 2 0,4-5 0 15,-2 3 1-15,2-4 0 0,-1-3 0 0,4-2 1 16,2-4-4-16,1 0-4 0,4-6-3 16,0 0-1-16,0-3-1 0,5-2-3 0,-2 0 6 15,4-4-3-15,-1 1 1 0,-3-1 0 16,2 3 2-16,0-3-5 0,-3 1-3 0,2 1 2 16,-3-2-3-16,2 2-1 0,-2-2-2 0,0 2 5 15,-1 3-3-15,0-3 0 0,-2 1-2 16,-2 0 5-16,0 0 0 0,-1 1 0 0,-3 2 4 15,-2 0 6-15,0 0 4 0,0 2 0 16,-4 1 2-16,-4 0 2 0,3 4-2 0,-5 1-3 16,-4 1 1-16,1-2-1 0,-3 4-3 15,-3 0-3-15,1 1-3 0,-3 1 3 0,1 2-3 16,-2-2-3-16,-2 2 3 0,1 0-2 0,-3 2-1 16,1 2-2-16,-2 1 2 0,-4 3-6 15,3 2-2-15,-2 0-19 0,-3 2-24 0,3 0-35 16,-5 2-43-16,7 0-102 0,-2-4-119 15,0 0-49-15,0-7-10 0,8-3 13 0,0 0 33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2-16T06:13:22.664"/>
    </inkml:context>
    <inkml:brush xml:id="br0">
      <inkml:brushProperty name="width" value="0.05292" units="cm"/>
      <inkml:brushProperty name="height" value="0.05292" units="cm"/>
      <inkml:brushProperty name="color" value="#FF0000"/>
    </inkml:brush>
  </inkml:definitions>
  <inkml:trace contextRef="#ctx0" brushRef="#br0">10762 5944 16 0,'3'-12'229'0,"0"2"19"15,0-4-13-15,1 2-59 0,-4 2-58 0,1-2-27 16,-1 4-19-16,0-1-13 0,0 2-7 15,0 0-4-15,0 2-7 0,0 0-7 16,0 0-7-16,0 2-6 0,-1 3-8 0,1-4-3 16,0 3-4-16,0 1-1 0,0 0 3 15,0 0 4-15,0 0 11 0,0 0 6 0,-4-2 9 16,4 0 5-16,0 2 8 0,0-3 1 16,0-2 0-16,0 0 0 0,-3 2 2 15,3-3 1-15,0 3 0 0,0 0-1 0,0 0-7 16,0 3-4-16,0-3-12 0,0 2-11 15,0-1-7-15,0 2-9 0,7-1-1 0,1-1-4 16,7 1 1-16,7-2 2 0,3 1-2 16,7-3 3-16,0 2-2 0,4-2 0 15,0-2-1-15,-1 2-2 0,1-2-2 0,-4 0-1 16,-4-2 0-16,-4 3-2 0,-3 0 2 16,-4 0 2-16,-3 2 1 0,-4-1-2 15,-2 1-1-15,-7 1 1 0,-1 0-5 0,-3 0 2 16,-7 1 1-16,0 2 1 0,-6 2-1 0,-2 1 0 15,-4 3 4-15,2 1-1 0,2 2 0 16,0 2-1-16,0 2 0 0,2 1 2 16,5 1 0-16,0 1 0 0,5 2 1 0,1 1-1 15,0 1 2-15,5 0 2 0,3 1-2 16,1-2-2-16,2 1 1 0,2 2 1 0,-2-1 1 16,2 1-1-16,2-5 3 0,-1 3-3 15,-1 1-4-15,2-2-6 0,-6 1-5 16,2-2-6-16,-4 0-6 0,1 1-1 0,-3-1-6 15,0 0 1-15,0 0 2 0,-3-2-2 16,-1-3 1-16,0-1 2 0,1-2 8 16,2-1 3-16,-1 0 6 0,0-4 7 0,1-2 9 15,-1 2 6-15,-1-1 4 0,3-4 7 16,-2 0 4-16,2 0 3 0,0 0 1 0,0 0 1 16,0 0 0-16,0-2-3 15,0 0-1-15,2-1-5 0,-2 1-6 0,3 2-2 16,0-2-4-16,2-1-3 0,2 0-1 0,3 0-2 15,5 0-2-15,0 0 0 0,3 0 0 16,2-3-2-16,4 3 2 0,0-1 0 0,-2-2 0 16,3 1-4-16,-1 1 0 0,1-4-5 15,-2 3-2-15,0-4-3 0,1 2-8 16,-2-2 1-16,-3 0 2 0,-2-1-2 0,2-1 4 16,-5-1 1-16,-1 2 7 0,-2 0 2 15,-1 1 3-15,-4 1 5 0,-4 3 5 0,5 0 3 16,-7 1 1-16,3 3 0 0,-3 1-1 15,-3 0-3-15,-4 0-1 0,4 3-5 16,-5 4 0-16,1 1-2 0,-1-1 2 0,1 3-1 16,-2-1 2-16,1 3-1 0,4 1 0 15,-4-2 4-15,3 2 0 0,2-1-2 0,3 2 1 16,-2-2 3-16,2-2-1 0,0 3 1 16,2-1-4-16,1 0 4 0,-1 0-2 0,4 0 1 15,-1 0 0-15,-1-4 0 16,4-1 6-16,2-1-1 0,1-1 4 0,3-2-1 15,5-3 0-15,-1 0 1 0,10-5-6 0,-3 1-1 16,4-2-3-16,-1 0-1 0,-1-2-1 16,0 1-1-16,-4-1-1 0,0 1-4 0,-3 2 5 15,-3-2 0-15,-4 2 0 0,-2 2 0 16,-3-1-2-16,-1 2-3 0,-3 1-13 16,-3-1-18-16,-1 2-10 0,-2 2-17 0,-5 1-23 15,-2 1-43-15,-4 1-128 0,0-2-57 16,-5 2-27-16,-1-1-7 0,3-3 16 0</inkml:trace>
  <inkml:trace contextRef="#ctx0" brushRef="#br0" timeOffset="6310.2946">2218 8465 95 0,'-6'3'521'0,"3"-6"-276"16,0 3-67-16,-1-2-54 0,4 2-37 15,-3-3-18-15,3 0-9 0,-3-1-12 0,1 0-1 16,2 1-5-16,0 1-1 0,0-2-6 0,0 3-5 16,0-2-3-16,0 3-6 0,0-3-2 15,0 3-5-15,2-2 1 0,-2 2-3 16,0 0-5-16,3 0-5 0,-3 0-2 0,3 2 0 16,-3 1-4-16,2 4 2 0,1-1 2 0,2 6 4 15,1 0-1-15,0 3 3 0,-1 3 3 16,0 4-4-16,3-2 1 0,1 1 2 15,-1 0 7-15,2 2 0 0,1-3 7 0,3 0 6 16,-3-2 8-16,3-1 2 0,2 1 0 0,-1-8-2 16,0-1-1-16,0-1-4 15,2-5-4-15,0-3-5 0,-1-3-3 0,4-5-1 0,-1-1-6 16,3-4-3-16,-6-4-3 0,6-1-1 0,-5-4-3 16,3-1 0-16,-3-1-1 0,-1 1-1 15,1 2 0-15,-4-3 0 0,-2 1 4 16,2 3-4-16,-5 2 1 0,0 1 1 0,-1 3 1 15,-3 1-3-15,0 5-5 0,0 0-12 16,-3 4-11-16,-1 3-19 0,-1 2-22 0,-3 3-24 16,1 4-34-16,-2-1-125 0,-2 1-72 15,-1 3-24-15,3 2-3 0,2-2 13 0</inkml:trace>
  <inkml:trace contextRef="#ctx0" brushRef="#br0" timeOffset="7216.3346">2768 8374 89 0,'-7'-5'265'0,"0"0"22"0,4-1 2 0,-2 3-98 16,5-2-69-16,0 1-42 0,0-1-23 0,5 1-22 16,1-1-12-16,3 0 1 0,1 1-1 15,9-4 1-15,-1 3 0 0,4 1 3 0,3-6-1 16,-1 3-10-16,3-1-5 0,-2 1-3 16,0-1-2-16,-1 0-4 0,-2 3-1 0,-5-3 4 15,-1 3-5-15,-4-2 0 0,-3 2 2 16,-2 0-1-16,-5 0-1 0,-2 1 0 0,-4 1 0 15,-3 0 3-15,-4 3-3 0,-3 3 4 0,-2 2 2 16,0 3 6-16,-4 6 0 0,2 1 0 16,-5 3 1-16,8 1-1 0,-4 4 2 0,3 2-6 15,4 1 0-15,2 3-1 0,2-3-1 16,-2 1-1-16,10 2-2 0,0-3 2 0,9 1-1 16,0-2-1-16,1-2-1 0,2 0-1 15,3 1 3-15,0-3-4 0,-4 0-5 0,-2-3-6 16,1-3-6-16,-3-1-9 0,-4-1-10 0,-3 1-2 15,-3-4 2-15,-5 1 3 0,-3-1 5 16,-2-3 7-16,-6-1 7 0,3 2-2 16,-6-5 0-16,4 0 1 0,2-1 3 0,2 0 3 15,-1 0 4-15,9-2 9 0,-3 0 4 0,7 0 3 16,-3 0 0-16,5 0 0 0,5 0 6 16,1-2 7-16,2 0 2 0,3 0 2 0,6 1 2 15,1-1 0-15,2-1-9 16,2-3-5-16,5 2-3 0,-4-2-6 0,5 1 1 0,-1-2-2 15,-1 0 0-15,0 2-2 0,-4-3-3 0,-1 4 3 16,-1-5-1-16,-1 3-1 0,-3-3 0 16,-2 2 3-16,-3-1 3 0,-3 3-3 0,0-4-1 15,-2 4-1-15,-4-3 0 0,-1 3-5 16,-1-2 2-16,-3 1 0 0,0 2 2 0,-6-1 1 16,-1 3 3-16,1 1 2 0,-5 2 2 15,-1 2 2-15,0 3-1 0,0-1 1 16,0 3-1-16,0 4-1 0,-2-2 0 0,4 5-7 15,1 1 1-15,2-1 0 0,5 2 0 0,1 0-3 16,4-2 5-16,4 1 0 0,1-1-1 16,5-1 0-16,2-4-1 0,4-3 1 0,1-2-5 15,-2-2-2-15,5-4-2 0,-1-4 4 0,-3-2 0 16,1-2-2-16,-2-3 0 0,0-1 6 16,-5-2 2-16,1-1-5 0,0 1-2 0,-3-2 1 15,0 2 1-15,-3 3-1 0,1 2 2 16,-3 1 2-16,0 0 3 0,0 6-7 0,-1-1 2 15,1 4 0-15,0 2-3 0,1 3-2 16,5 2 1-16,-3 0 2 0,4 1 1 0,-2 3 0 16,4 1-1-16,-2-2 3 0,1 3-2 0,0 1-7 15,-3-1-12-15,0 3-14 0,0-1-26 16,-2-1-39-16,-3-2-139 0,-1-4-71 0,-2 0-29 16,-2-1-6-16,0-1 16 0</inkml:trace>
  <inkml:trace contextRef="#ctx0" brushRef="#br0" timeOffset="7364.278">3356 8911 169 0,'-3'2'313'0,"0"-2"21"0,1 0 15 15,1-2-133-15,-2 1-77 0,3-1-55 16,0 2-35-16,0-2-23 0,0 2-20 0,3 0-16 16,0 0-32-16,2 0-86 0,-2-3-110 15,2-1-55-15,-5 4-26 0,0 0-8 0,0 0 19 16</inkml:trace>
  <inkml:trace contextRef="#ctx0" brushRef="#br0" timeOffset="13609.224">10205 5470 114 0,'24'18'98'0,"-3"3"-6"0,2-2-6 16,-3 1-12-16,-3 1-13 0,3 1-14 16,-4 0-11-16,-1 0-10 0,0-1-3 0,0 3-3 15,0 0 4-15,-1-2-4 0,-1 2 3 16,2 1-3-16,-3 0-4 0,-1 0-1 0,1 0-4 15,-2 1-1-15,-2 1 2 0,3 2-1 16,-5-2-5-16,2-1 3 0,1 2-4 0,-4 0-3 16,2-1 0-16,-1 1-4 0,0 1 0 15,-2-3-3-15,2-1-4 0,-3 4 2 16,0-3-3-16,0 1 1 0,-3-3 1 0,0 3 2 16,0-2 1-16,0 1 2 0,-3-2 1 15,0 1 2-15,1-2 3 0,-4-1-1 16,1-1 3-16,-1 2 0 0,1-4-5 0,-1 2 0 15,1-3-1-15,-3 0-1 0,2 0 1 0,1 0-2 16,2 1 7-16,-2 0 0 0,0-2 3 16,1 3-2-16,2-2-2 0,-1 2-1 15,0 2-4-15,-2-4 1 0,0 3 1 0,2-2 0 16,-4 1 0-16,0 0 1 0,1-2 4 16,-4 4 0-16,1-2 0 0,-2-1 3 0,-1 0-1 15,-3 3 0-15,-3-3 0 0,1 1-2 16,-5-1 4-16,3 2-4 0,-5 0 3 15,-1-1-1-15,-3 0 1 0,2 0-1 0,0 0 1 16,-4-2-1-16,1-1 0 0,-3-3-3 16,2 1 0-16,0-1 1 0,-1-1 1 0,-1 2-4 15,2-1 3-15,0-2 1 0,-2 0-2 16,1 3 1-16,1-4 2 0,-3 4-3 0,3-3 5 16,0 1-2-16,-1-1 0 0,1 1 0 15,0 0-1-15,-1 2-1 0,2-6-4 16,-1 4 0-16,4 0 2 0,-4-2-3 15,5-2 0-15,-3 4 0 0,1-4 4 0,0 0 0 16,2 2-1-16,-2-4-2 0,1 1 5 16,-1-1 1-16,1 1-4 0,-4-1-3 15,1 1 3-15,-1 0-3 0,-1-1 0 0,-5 2-1 16,1-3-2-16,0 3 1 0,-3-3-1 16,-2 0 1-16,3-1-3 0,2-1 1 0,0 2 1 15,2-6-1-15,1 0-2 0,0 0 3 16,4-6 4-16,-2 2 3 0,2-1 5 0,1-3-3 15,-1-1 4-15,4 2 2 0,-2-3-5 16,1-2 1-16,-3 4-4 0,-1-4-2 0,0 1-1 16,3-1 3-16,-4 0-4 0,3 2 0 15,-3-4 0-15,0 1 0 0,-1 2 5 16,2-1-3-16,-1-1 2 0,2-1 0 16,-2 1-2-16,5-2 3 0,-3 0-5 0,1 0-1 15,-1 0-1-15,1-2 0 0,0-1 1 16,0 2 1-16,-1-1-1 0,0-4-1 0,1 3 0 15,-2-1 0-15,2-3-2 0,0-3-3 16,0 3-4-16,-2-6-2 0,3 1-6 0,1-2-3 16,3-2-2-16,1-1-1 0,4 1 2 15,1-3 2-15,0 1 4 0,3 0 2 16,4-3 3-16,0 0 3 0,2 0-6 0,-1-1-14 16,1-2-23-16,0 3-40 0,2-5-37 15,1-2-38-15,0 2-17 0,-1-1 0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2-16T06:31:09.896"/>
    </inkml:context>
    <inkml:brush xml:id="br0">
      <inkml:brushProperty name="width" value="0.05292" units="cm"/>
      <inkml:brushProperty name="height" value="0.05292" units="cm"/>
      <inkml:brushProperty name="color" value="#FF0000"/>
    </inkml:brush>
  </inkml:definitions>
  <inkml:trace contextRef="#ctx0" brushRef="#br0">9995 5095 186 0,'0'-2'197'0,"0"1"-10"16,0 0-25-16,0 0-37 0,0-1-25 16,0 2-22-16,-2 0-11 0,1 0-14 0,1 0-5 15,0 0-7-15,0 0-6 0,0 0-7 0,0 0-9 16,0 0-1-16,0 0-4 0,0 0-2 16,0 0 2-16,0 0-1 0,0 0 5 15,0 0 6-15,0 0 4 0,0 0 3 0,0 0 1 16,0 0 3-16,0 0-1 0,0 0-3 15,0 0-3-15,0 0-4 0,0 0-5 16,0 0-5-16,0 0-3 0,0 0-4 0,0 0-1 16,0 0-5-16,0 0 1 0,0 0 0 15,0 0 0-15,0 0-1 0,0 0 3 0,0 0 0 16,0 0 0-16,0 0 0 0,0 0 1 16,0 0 1-16,0 0-3 0,0 0 1 0,0 0 0 15,0 0 2-15,0 0-2 0,0 0 1 16,0 0-3-16,0 0 2 0,0 0 0 15,0 0-1-15,0 0-1 0,0 0 0 0,0 0 0 16,0 0 2-16,0 0-4 0,0 0 0 16,0 0 0-16,0 0 0 0,0 0 0 15,0 0-2-15,0 0 2 0,0 0 2 0,0 0-2 16,0 0-2-16,0 0 2 0,0 0 0 16,0 0 2-16,0 0-2 0,0 2 0 0,0-2 1 15,0 0 1-15,0 0-1 0,0 0-1 16,0 0-1-16,0 1 1 0,0-1 0 15,0 0-3-15,0 0 0 0,0 0 1 0,1 1-1 16,-1 0 1-16,0 1-4 0,0-2 1 16,0 2 1-16,2-1-3 0,-1 1 0 0,1-1 3 15,-2 1-2-15,2-1 3 0,-1 1 1 16,1 1 2-16,0-1 0 0,1 3 0 0,0-2 0 16,0 2 0-16,0 0 0 0,2 0 0 15,-1-1 2-15,0 1-1 0,2 0-1 16,-3 0 0-16,1 2 2 0,-1-1-1 0,-2-2-2 15,5 1 1-15,-3-1 1 0,-1 2-1 16,0-3-1-16,3 2 1 0,-2 1 1 16,-2-2-2-16,1-1 1 0,1 4 3 0,-3-4-3 15,3 2 0-15,-3-1 0 0,0-1 0 16,5-1 0-16,-4 1 0 0,1 1 3 0,0-1-1 16,-1-1 0-16,-1-1-1 0,0 1 3 15,2 0-1-15,1-1-3 0,-1 1 4 16,-1-2 0-16,1 3 0 0,-2-3 1 0,1 0-1 15,-1 0 0-15,0 0-1 0,0 1 3 16,0-1-3-16,4 0 1 0,-4 0 5 0,0 0-5 16,0 0 3-16,0 0 0 0,0 0-1 15,0 0 5-15,0 0-1 0,0 0-2 0,0 0 3 16,0 2-4-16,0-2-1 0,0 0-2 16,1 0-2-16,-1 0 1 0,2 0 0 15,-1 0 2-15,-1 0 1 0,3 0 2 0,-3 0 7 16,3-2 3-16,-3 2 7 15,4-1 2-15,-4 1 2 0,1-3-2 0,1 1-2 0,3 1-2 16,-2-1-2-16,-1 2-4 0,1-2-2 16,0 2 0-16,0-1-2 0,1 0 2 15,-2 0-4-15,1 1 7 0,-1-3-2 0,3 1 3 16,-1 0 0-16,1-1 0 0,0 1-2 16,-1-1-2-16,1-1-3 0,-3 1 0 0,8 1-3 15,-6-1-1-15,2-2-4 0,2 3-1 16,-6-1-2-16,8 0-1 0,-6-1 0 0,2 1 0 15,4 0 0-15,-4 1 1 0,-2-1 0 16,4 3-1-16,-3-1 0 0,0-2-1 16,0 1 1-16,2 1 1 0,-3-1 0 0,2 1-1 15,1-1 0-15,-1 2-2 0,-1-3 0 16,1-1 0-16,-1 1 2 0,3 0 0 16,0 0 2-16,-2-1 2 0,2 1-2 0,1 1 0 15,-4-1-2-15,2-1-2 0,-1 1 2 16,3-1-2-16,-1 3 1 0,-1-3 1 0,-1 3 1 15,3-3-1-15,-1 1 0 0,0 0 2 16,-3 1 2-16,6 1-3 0,-5-4-1 0,2 2 0 16,-1 0 1-16,3 0-1 0,-3 0 0 15,-1 0 2-15,1 0-1 0,3 1 0 16,-6-1-1-16,2 1 0 0,2-1 0 0,-5 3-2 16,3-2 0-16,-2 1 1 0,-1 0 1 15,0-2 0-15,0 3 1 0,-3 0 1 0,3 0-2 16,-1 0 0-16,0 0 1 0,-2 0-2 15,0 0 1-15,1 0 1 0,-1-2 2 16,0 2-3-16,2 0-2 0,-2 0 2 0,1 0 0 16,-1 0 0-16,4-3 0 0,-3 3 4 15,2-4-4-15,-1 4 0 0,-1 0-1 16,-1-3 2-16,2 3-3 0,-2 0 0 0,3 0 1 16,-3 0 1-16,0 0 0 0,0 0 0 0,0 0 1 15,0 0 1-15,0 0 1 0,0 0 3 16,0 0 1-16,0 0 1 0,0 0 8 15,0 0 6-15,0 0 5 0,0 0 1 0,0 0 0 16,0 0 1-16,0 0 1 0,0 0-6 16,0 0-2-16,0 0-7 0,0-2 0 15,2 0-7-15,-1-1-12 0,1 1-22 0,4-1-28 16,1 1-31-16,5-1-31 0,1 0-37 16,4 0-47-16,-2-2-132 0,0 1-55 0,-2-1-14 15,-4 2 10-15,-4 2 25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5A90B5-7DF2-4A1A-873D-634730921C98}" type="datetimeFigureOut">
              <a:rPr lang="en-US" smtClean="0"/>
              <a:pPr/>
              <a:t>2/17/2023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FC5872-8AA6-42FC-B5CF-C8FCD4DF3A31}" type="slidenum">
              <a:rPr lang="en-US" smtClean="0"/>
              <a:pPr/>
              <a:t>‹#›</a:t>
            </a:fld>
            <a:endParaRPr lang="en-US" dirty="0"/>
          </a:p>
        </p:txBody>
      </p:sp>
    </p:spTree>
    <p:extLst>
      <p:ext uri="{BB962C8B-B14F-4D97-AF65-F5344CB8AC3E}">
        <p14:creationId xmlns:p14="http://schemas.microsoft.com/office/powerpoint/2010/main" val="3801882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21"/>
          <p:cNvSpPr txBox="1">
            <a:spLocks/>
          </p:cNvSpPr>
          <p:nvPr userDrawn="1"/>
        </p:nvSpPr>
        <p:spPr>
          <a:xfrm>
            <a:off x="0" y="6565380"/>
            <a:ext cx="685800" cy="29262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marL="0" marR="0" lvl="0" indent="0" algn="ctr" defTabSz="914400" rtl="0" eaLnBrk="1" fontAlgn="auto" latinLnBrk="0" hangingPunct="1">
              <a:lnSpc>
                <a:spcPct val="100000"/>
              </a:lnSpc>
              <a:spcBef>
                <a:spcPts val="0"/>
              </a:spcBef>
              <a:spcAft>
                <a:spcPts val="0"/>
              </a:spcAft>
              <a:buClrTx/>
              <a:buSzTx/>
              <a:buFontTx/>
              <a:buNone/>
              <a:tabLst/>
              <a:defRPr/>
            </a:pPr>
            <a:fld id="{83AF55C9-8D46-411D-9295-23F0A748FD91}" type="slidenum">
              <a:rPr kumimoji="0" lang="en-US"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r>
              <a:rPr kumimoji="0" lang="en-US"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b="0" i="0" u="none" strike="noStrike" kern="1200" cap="none" spc="0" normalizeH="0" baseline="0" noProof="0" dirty="0">
              <a:ln>
                <a:noFill/>
              </a:ln>
              <a:solidFill>
                <a:schemeClr val="tx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1.xml"/><Relationship Id="rId5" Type="http://schemas.openxmlformats.org/officeDocument/2006/relationships/image" Target="../media/image8.emf"/></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6.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2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7499" y="2971800"/>
            <a:ext cx="7620000" cy="830997"/>
          </a:xfrm>
          <a:prstGeom prst="rect">
            <a:avLst/>
          </a:prstGeom>
          <a:noFill/>
        </p:spPr>
        <p:txBody>
          <a:bodyPr wrap="square" rtlCol="0">
            <a:spAutoFit/>
          </a:bodyPr>
          <a:lstStyle/>
          <a:p>
            <a:pPr>
              <a:buClr>
                <a:schemeClr val="accent6">
                  <a:lumMod val="50000"/>
                </a:schemeClr>
              </a:buClr>
              <a:tabLst>
                <a:tab pos="465138" algn="l"/>
              </a:tabLst>
            </a:pPr>
            <a:r>
              <a:rPr lang="en-US" sz="4800" b="1" dirty="0" smtClean="0"/>
              <a:t>Speed Control of D.C. Motors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702040"/>
            <a:ext cx="7666220" cy="5016758"/>
          </a:xfrm>
          <a:prstGeom prst="rect">
            <a:avLst/>
          </a:prstGeom>
          <a:noFill/>
        </p:spPr>
        <p:txBody>
          <a:bodyPr wrap="square" rtlCol="0">
            <a:spAutoFit/>
          </a:bodyPr>
          <a:lstStyle/>
          <a:p>
            <a:pPr algn="just">
              <a:lnSpc>
                <a:spcPct val="200000"/>
              </a:lnSpc>
              <a:buClr>
                <a:schemeClr val="accent6">
                  <a:lumMod val="50000"/>
                </a:schemeClr>
              </a:buClr>
              <a:tabLst>
                <a:tab pos="465138" algn="l"/>
              </a:tabLst>
            </a:pPr>
            <a:r>
              <a:rPr lang="en-US" sz="2000" dirty="0" smtClean="0"/>
              <a:t>It has been shown earlier that the speed of a motor is given by the relation</a:t>
            </a:r>
          </a:p>
          <a:p>
            <a:pPr algn="just">
              <a:lnSpc>
                <a:spcPct val="200000"/>
              </a:lnSpc>
              <a:buClr>
                <a:schemeClr val="accent6">
                  <a:lumMod val="50000"/>
                </a:schemeClr>
              </a:buClr>
              <a:tabLst>
                <a:tab pos="465138" algn="l"/>
              </a:tabLst>
            </a:pPr>
            <a:endParaRPr lang="en-US" sz="2000" dirty="0" smtClean="0"/>
          </a:p>
          <a:p>
            <a:pPr algn="just">
              <a:lnSpc>
                <a:spcPct val="200000"/>
              </a:lnSpc>
              <a:buClr>
                <a:schemeClr val="accent6">
                  <a:lumMod val="50000"/>
                </a:schemeClr>
              </a:buClr>
              <a:tabLst>
                <a:tab pos="465138" algn="l"/>
              </a:tabLst>
            </a:pPr>
            <a:r>
              <a:rPr lang="en-US" sz="2000" dirty="0" smtClean="0"/>
              <a:t>where </a:t>
            </a:r>
            <a:r>
              <a:rPr lang="en-US" sz="2000" i="1" dirty="0" smtClean="0"/>
              <a:t>R</a:t>
            </a:r>
            <a:r>
              <a:rPr lang="en-US" sz="2000" i="1" baseline="-25000" dirty="0" smtClean="0"/>
              <a:t>a</a:t>
            </a:r>
            <a:r>
              <a:rPr lang="en-US" sz="2000" i="1" dirty="0" smtClean="0"/>
              <a:t> 	= armature circuit resistance.</a:t>
            </a:r>
          </a:p>
          <a:p>
            <a:pPr algn="just">
              <a:lnSpc>
                <a:spcPct val="200000"/>
              </a:lnSpc>
              <a:buClr>
                <a:schemeClr val="accent6">
                  <a:lumMod val="50000"/>
                </a:schemeClr>
              </a:buClr>
              <a:tabLst>
                <a:tab pos="465138" algn="l"/>
              </a:tabLst>
            </a:pPr>
            <a:r>
              <a:rPr lang="en-US" sz="2000" dirty="0" smtClean="0"/>
              <a:t>It is obvious that the speed can be controlled by varying </a:t>
            </a:r>
            <a:r>
              <a:rPr lang="en-US" sz="2000" b="1" dirty="0" smtClean="0"/>
              <a:t>(i) </a:t>
            </a:r>
            <a:r>
              <a:rPr lang="en-US" sz="2000" dirty="0" smtClean="0"/>
              <a:t>flux/pole, Φ (Flux Control) </a:t>
            </a:r>
            <a:r>
              <a:rPr lang="en-US" sz="2000" b="1" dirty="0" smtClean="0"/>
              <a:t>(ii) </a:t>
            </a:r>
            <a:r>
              <a:rPr lang="en-US" sz="2000" dirty="0" smtClean="0"/>
              <a:t>resistance R</a:t>
            </a:r>
            <a:r>
              <a:rPr lang="en-US" sz="2000" baseline="-25000" dirty="0" smtClean="0"/>
              <a:t>a</a:t>
            </a:r>
            <a:r>
              <a:rPr lang="en-US" sz="2000" dirty="0" smtClean="0"/>
              <a:t> of armature circuit (Rheostatic Control) and </a:t>
            </a:r>
            <a:r>
              <a:rPr lang="en-US" sz="2000" b="1" dirty="0" smtClean="0"/>
              <a:t>(iii) </a:t>
            </a:r>
            <a:r>
              <a:rPr lang="en-US" sz="2000" dirty="0" smtClean="0"/>
              <a:t>applied voltage V (Voltage Control). These methods as applied to shunt, compound and series motors will be discussed below.	</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Factors Controlling Motor Speed</a:t>
            </a:r>
            <a:endParaRPr lang="en-US" sz="2800" b="1" dirty="0">
              <a:solidFill>
                <a:schemeClr val="bg1"/>
              </a:solidFill>
              <a:latin typeface="Arial" pitchFamily="34" charset="0"/>
              <a:cs typeface="Arial" pitchFamily="34" charset="0"/>
            </a:endParaRPr>
          </a:p>
        </p:txBody>
      </p:sp>
      <p:pic>
        <p:nvPicPr>
          <p:cNvPr id="1026" name="Picture 2"/>
          <p:cNvPicPr>
            <a:picLocks noChangeAspect="1" noChangeArrowheads="1"/>
          </p:cNvPicPr>
          <p:nvPr/>
        </p:nvPicPr>
        <p:blipFill>
          <a:blip r:embed="rId2"/>
          <a:srcRect/>
          <a:stretch>
            <a:fillRect/>
          </a:stretch>
        </p:blipFill>
        <p:spPr bwMode="auto">
          <a:xfrm>
            <a:off x="2332220" y="1712495"/>
            <a:ext cx="4114800" cy="64970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5271432" y="2057400"/>
            <a:ext cx="3292129" cy="3276600"/>
          </a:xfrm>
          <a:prstGeom prst="rect">
            <a:avLst/>
          </a:prstGeom>
          <a:noFill/>
          <a:ln w="9525">
            <a:noFill/>
            <a:miter lim="800000"/>
            <a:headEnd/>
            <a:tailEnd/>
          </a:ln>
          <a:effectLst/>
        </p:spPr>
      </p:pic>
      <p:sp>
        <p:nvSpPr>
          <p:cNvPr id="2" name="TextBox 1"/>
          <p:cNvSpPr txBox="1"/>
          <p:nvPr/>
        </p:nvSpPr>
        <p:spPr>
          <a:xfrm>
            <a:off x="533400" y="821960"/>
            <a:ext cx="7666220" cy="461665"/>
          </a:xfrm>
          <a:prstGeom prst="rect">
            <a:avLst/>
          </a:prstGeom>
          <a:noFill/>
        </p:spPr>
        <p:txBody>
          <a:bodyPr wrap="square" rtlCol="0">
            <a:spAutoFit/>
          </a:bodyPr>
          <a:lstStyle/>
          <a:p>
            <a:pPr algn="just">
              <a:buClr>
                <a:schemeClr val="accent6">
                  <a:lumMod val="50000"/>
                </a:schemeClr>
              </a:buClr>
              <a:tabLst>
                <a:tab pos="465138" algn="l"/>
              </a:tabLst>
            </a:pPr>
            <a:r>
              <a:rPr lang="en-US" sz="2400" b="1" dirty="0" smtClean="0"/>
              <a:t>Variation of Flux or Flux Control Method</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Speed Control of Shunt Motors</a:t>
            </a:r>
            <a:endParaRPr lang="en-US" sz="2800" b="1" dirty="0">
              <a:solidFill>
                <a:schemeClr val="bg1"/>
              </a:solidFill>
              <a:latin typeface="Arial" pitchFamily="34" charset="0"/>
              <a:cs typeface="Arial" pitchFamily="34" charset="0"/>
            </a:endParaRPr>
          </a:p>
        </p:txBody>
      </p:sp>
      <p:sp>
        <p:nvSpPr>
          <p:cNvPr id="8" name="TextBox 7"/>
          <p:cNvSpPr txBox="1"/>
          <p:nvPr/>
        </p:nvSpPr>
        <p:spPr>
          <a:xfrm>
            <a:off x="594610" y="1202960"/>
            <a:ext cx="4495800" cy="5170646"/>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It is seen from above that </a:t>
            </a:r>
            <a:r>
              <a:rPr lang="en-US" sz="2000" i="1" dirty="0" smtClean="0"/>
              <a:t>N ∝ 1/Φ. By decreasing the flux, the </a:t>
            </a:r>
            <a:r>
              <a:rPr lang="en-US" sz="2000" dirty="0" smtClean="0"/>
              <a:t>speed can be increased and </a:t>
            </a:r>
            <a:r>
              <a:rPr lang="en-US" sz="2000" b="1" i="1" dirty="0" smtClean="0"/>
              <a:t>vice versa</a:t>
            </a:r>
            <a:r>
              <a:rPr lang="en-US" sz="2000" i="1" dirty="0" smtClean="0"/>
              <a:t>. Hence, the name</a:t>
            </a:r>
            <a:r>
              <a:rPr lang="en-US" sz="2000" b="1" i="1" dirty="0" smtClean="0"/>
              <a:t> flux </a:t>
            </a:r>
            <a:r>
              <a:rPr lang="en-US" sz="2000" i="1" dirty="0" smtClean="0"/>
              <a:t>or field control method. The flux of a d.c. motor can be changed by </a:t>
            </a:r>
            <a:r>
              <a:rPr lang="en-US" sz="2000" dirty="0" smtClean="0"/>
              <a:t>changing </a:t>
            </a:r>
            <a:r>
              <a:rPr lang="en-US" sz="2000" i="1" dirty="0" smtClean="0"/>
              <a:t>Ish with help of a shunt field rheostat (Fig. 30.1). Since I</a:t>
            </a:r>
            <a:r>
              <a:rPr lang="en-US" sz="2000" i="1" baseline="-25000" dirty="0" smtClean="0"/>
              <a:t>sh</a:t>
            </a:r>
            <a:r>
              <a:rPr lang="en-US" sz="2000" i="1" dirty="0" smtClean="0"/>
              <a:t> is relatively small, shunt field rheostat has to carry only a small </a:t>
            </a:r>
            <a:r>
              <a:rPr lang="en-US" sz="2000" dirty="0" smtClean="0"/>
              <a:t>current, which means </a:t>
            </a:r>
            <a:r>
              <a:rPr lang="en-US" sz="2000" i="1" dirty="0" smtClean="0"/>
              <a:t>I</a:t>
            </a:r>
            <a:r>
              <a:rPr lang="en-US" sz="2000" i="1" baseline="30000" dirty="0" smtClean="0"/>
              <a:t>2</a:t>
            </a:r>
            <a:r>
              <a:rPr lang="en-US" sz="2000" i="1" dirty="0" smtClean="0"/>
              <a:t>R loss is small, so that rheostat is small in </a:t>
            </a:r>
            <a:r>
              <a:rPr lang="en-US" sz="2000" dirty="0" smtClean="0"/>
              <a:t>size. This method is, therefore, very efficient. </a:t>
            </a:r>
            <a:endParaRPr lang="en-US" sz="2000" dirty="0">
              <a:solidFill>
                <a:srgbClr val="FF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821960"/>
            <a:ext cx="7666220" cy="461665"/>
          </a:xfrm>
          <a:prstGeom prst="rect">
            <a:avLst/>
          </a:prstGeom>
          <a:noFill/>
        </p:spPr>
        <p:txBody>
          <a:bodyPr wrap="square" rtlCol="0">
            <a:spAutoFit/>
          </a:bodyPr>
          <a:lstStyle/>
          <a:p>
            <a:pPr algn="just">
              <a:buClr>
                <a:schemeClr val="accent6">
                  <a:lumMod val="50000"/>
                </a:schemeClr>
              </a:buClr>
              <a:tabLst>
                <a:tab pos="465138" algn="l"/>
              </a:tabLst>
            </a:pPr>
            <a:r>
              <a:rPr lang="en-IN" sz="2400" b="1" dirty="0"/>
              <a:t>Armature or </a:t>
            </a:r>
            <a:r>
              <a:rPr lang="en-IN" sz="2400" b="1" dirty="0" err="1"/>
              <a:t>Rheostatic</a:t>
            </a:r>
            <a:r>
              <a:rPr lang="en-IN" sz="2400" b="1" dirty="0"/>
              <a:t> Control Method</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Speed Control of Shunt Motors</a:t>
            </a:r>
            <a:endParaRPr lang="en-US" sz="2800" b="1" dirty="0">
              <a:solidFill>
                <a:schemeClr val="bg1"/>
              </a:solidFill>
              <a:latin typeface="Arial" pitchFamily="34" charset="0"/>
              <a:cs typeface="Arial" pitchFamily="34" charset="0"/>
            </a:endParaRPr>
          </a:p>
        </p:txBody>
      </p:sp>
      <p:sp>
        <p:nvSpPr>
          <p:cNvPr id="8" name="TextBox 7"/>
          <p:cNvSpPr txBox="1"/>
          <p:nvPr/>
        </p:nvSpPr>
        <p:spPr>
          <a:xfrm>
            <a:off x="594610" y="1202960"/>
            <a:ext cx="5348990" cy="5632311"/>
          </a:xfrm>
          <a:prstGeom prst="rect">
            <a:avLst/>
          </a:prstGeom>
          <a:noFill/>
        </p:spPr>
        <p:txBody>
          <a:bodyPr wrap="square" rtlCol="0">
            <a:spAutoFit/>
          </a:bodyPr>
          <a:lstStyle/>
          <a:p>
            <a:pPr algn="just">
              <a:buClr>
                <a:schemeClr val="accent6">
                  <a:lumMod val="50000"/>
                </a:schemeClr>
              </a:buClr>
              <a:tabLst>
                <a:tab pos="465138" algn="l"/>
              </a:tabLst>
            </a:pPr>
            <a:r>
              <a:rPr lang="en-IN" sz="2400" dirty="0"/>
              <a:t>This method is used when speeds below the no-load speed are required. As the supply </a:t>
            </a:r>
            <a:r>
              <a:rPr lang="en-IN" sz="2400" dirty="0" smtClean="0"/>
              <a:t>voltage is </a:t>
            </a:r>
            <a:r>
              <a:rPr lang="en-IN" sz="2400" dirty="0"/>
              <a:t>normally constant, the voltage across the armature is varied by inserting a variable rheostat </a:t>
            </a:r>
            <a:r>
              <a:rPr lang="en-IN" sz="2400" dirty="0" smtClean="0"/>
              <a:t>or resistance </a:t>
            </a:r>
            <a:r>
              <a:rPr lang="en-IN" sz="2400" dirty="0"/>
              <a:t>(called controller resistance) in series with the armature circuit as shown in Fig</a:t>
            </a:r>
            <a:r>
              <a:rPr lang="en-IN" sz="2400" dirty="0" smtClean="0"/>
              <a:t>.</a:t>
            </a:r>
          </a:p>
          <a:p>
            <a:pPr algn="just">
              <a:buClr>
                <a:schemeClr val="accent6">
                  <a:lumMod val="50000"/>
                </a:schemeClr>
              </a:buClr>
              <a:tabLst>
                <a:tab pos="465138" algn="l"/>
              </a:tabLst>
            </a:pPr>
            <a:endParaRPr lang="en-IN" sz="2400" dirty="0"/>
          </a:p>
          <a:p>
            <a:pPr algn="just">
              <a:buClr>
                <a:schemeClr val="accent6">
                  <a:lumMod val="50000"/>
                </a:schemeClr>
              </a:buClr>
              <a:tabLst>
                <a:tab pos="465138" algn="l"/>
              </a:tabLst>
            </a:pPr>
            <a:r>
              <a:rPr lang="en-IN" sz="2400" dirty="0"/>
              <a:t>As controller resistance is increased, </a:t>
            </a:r>
            <a:r>
              <a:rPr lang="en-IN" sz="2400" dirty="0" err="1"/>
              <a:t>p.d</a:t>
            </a:r>
            <a:r>
              <a:rPr lang="en-IN" sz="2400" dirty="0"/>
              <a:t>. across the armature is decreased, thereby decreasing </a:t>
            </a:r>
            <a:r>
              <a:rPr lang="en-IN" sz="2400" dirty="0" smtClean="0"/>
              <a:t>the armature </a:t>
            </a:r>
            <a:r>
              <a:rPr lang="en-IN" sz="2400" dirty="0"/>
              <a:t>speed. </a:t>
            </a:r>
            <a:endParaRPr lang="en-IN" sz="2400" dirty="0" smtClean="0"/>
          </a:p>
          <a:p>
            <a:pPr algn="just">
              <a:buClr>
                <a:schemeClr val="accent6">
                  <a:lumMod val="50000"/>
                </a:schemeClr>
              </a:buClr>
              <a:tabLst>
                <a:tab pos="465138" algn="l"/>
              </a:tabLst>
            </a:pPr>
            <a:endParaRPr lang="en-IN" sz="2400" dirty="0"/>
          </a:p>
          <a:p>
            <a:pPr algn="just">
              <a:buClr>
                <a:schemeClr val="accent6">
                  <a:lumMod val="50000"/>
                </a:schemeClr>
              </a:buClr>
              <a:tabLst>
                <a:tab pos="465138" algn="l"/>
              </a:tabLst>
            </a:pPr>
            <a:r>
              <a:rPr lang="en-IN" sz="2400" dirty="0" smtClean="0"/>
              <a:t>For </a:t>
            </a:r>
            <a:r>
              <a:rPr lang="en-IN" sz="2400" dirty="0"/>
              <a:t>a load constant torque, speed is approximately proportional to the </a:t>
            </a:r>
            <a:r>
              <a:rPr lang="en-IN" sz="2400" dirty="0" err="1"/>
              <a:t>p.d</a:t>
            </a:r>
            <a:r>
              <a:rPr lang="en-IN" sz="2400" dirty="0"/>
              <a:t>. across </a:t>
            </a:r>
            <a:r>
              <a:rPr lang="en-IN" sz="2400" dirty="0" smtClean="0"/>
              <a:t>the armature</a:t>
            </a:r>
            <a:r>
              <a:rPr lang="en-IN" sz="2400" dirty="0"/>
              <a:t>.</a:t>
            </a:r>
            <a:r>
              <a:rPr lang="en-US" sz="2400" dirty="0" smtClean="0"/>
              <a:t> </a:t>
            </a:r>
            <a:endParaRPr lang="en-US" sz="2400" dirty="0">
              <a:solidFill>
                <a:srgbClr val="FF0000"/>
              </a:solidFill>
            </a:endParaRPr>
          </a:p>
        </p:txBody>
      </p:sp>
      <p:pic>
        <p:nvPicPr>
          <p:cNvPr id="3" name="Picture 2"/>
          <p:cNvPicPr>
            <a:picLocks noChangeAspect="1"/>
          </p:cNvPicPr>
          <p:nvPr/>
        </p:nvPicPr>
        <p:blipFill>
          <a:blip r:embed="rId2"/>
          <a:stretch>
            <a:fillRect/>
          </a:stretch>
        </p:blipFill>
        <p:spPr>
          <a:xfrm>
            <a:off x="6096000" y="1540383"/>
            <a:ext cx="2922294" cy="2803017"/>
          </a:xfrm>
          <a:prstGeom prst="rect">
            <a:avLst/>
          </a:prstGeom>
        </p:spPr>
      </p:pic>
    </p:spTree>
    <p:extLst>
      <p:ext uri="{BB962C8B-B14F-4D97-AF65-F5344CB8AC3E}">
        <p14:creationId xmlns:p14="http://schemas.microsoft.com/office/powerpoint/2010/main" val="23146881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624590"/>
            <a:ext cx="7666220" cy="6340197"/>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400" b="1" dirty="0" smtClean="0"/>
              <a:t>Flux Control Method</a:t>
            </a:r>
          </a:p>
          <a:p>
            <a:pPr algn="just">
              <a:lnSpc>
                <a:spcPct val="150000"/>
              </a:lnSpc>
              <a:buClr>
                <a:schemeClr val="accent6">
                  <a:lumMod val="50000"/>
                </a:schemeClr>
              </a:buClr>
              <a:tabLst>
                <a:tab pos="465138" algn="l"/>
              </a:tabLst>
            </a:pPr>
            <a:r>
              <a:rPr lang="en-US" sz="2000" dirty="0" smtClean="0"/>
              <a:t>Variations in the flux of a series motor can be brought about in any one of the following ways :</a:t>
            </a:r>
          </a:p>
          <a:p>
            <a:pPr algn="just">
              <a:lnSpc>
                <a:spcPct val="150000"/>
              </a:lnSpc>
              <a:buClr>
                <a:schemeClr val="accent6">
                  <a:lumMod val="50000"/>
                </a:schemeClr>
              </a:buClr>
              <a:buFont typeface="+mj-lt"/>
              <a:buAutoNum type="romanLcPeriod"/>
              <a:tabLst>
                <a:tab pos="465138" algn="l"/>
              </a:tabLst>
            </a:pPr>
            <a:r>
              <a:rPr lang="en-US" sz="2000" b="1" dirty="0" smtClean="0"/>
              <a:t> 	</a:t>
            </a:r>
            <a:r>
              <a:rPr lang="en-US" sz="2000" dirty="0" smtClean="0"/>
              <a:t>Field Divertors</a:t>
            </a:r>
          </a:p>
          <a:p>
            <a:pPr algn="just">
              <a:lnSpc>
                <a:spcPct val="150000"/>
              </a:lnSpc>
              <a:buClr>
                <a:schemeClr val="accent6">
                  <a:lumMod val="50000"/>
                </a:schemeClr>
              </a:buClr>
              <a:buFont typeface="+mj-lt"/>
              <a:buAutoNum type="romanLcPeriod"/>
              <a:tabLst>
                <a:tab pos="465138" algn="l"/>
              </a:tabLst>
            </a:pPr>
            <a:r>
              <a:rPr lang="en-US" sz="2000" b="1" dirty="0" smtClean="0">
                <a:solidFill>
                  <a:srgbClr val="FF0000"/>
                </a:solidFill>
              </a:rPr>
              <a:t> 	</a:t>
            </a:r>
            <a:r>
              <a:rPr lang="en-US" sz="2000" dirty="0" smtClean="0"/>
              <a:t>Armature Divertor</a:t>
            </a:r>
          </a:p>
          <a:p>
            <a:pPr algn="just">
              <a:lnSpc>
                <a:spcPct val="150000"/>
              </a:lnSpc>
              <a:buClr>
                <a:schemeClr val="accent6">
                  <a:lumMod val="50000"/>
                </a:schemeClr>
              </a:buClr>
              <a:buFont typeface="+mj-lt"/>
              <a:buAutoNum type="romanLcPeriod"/>
              <a:tabLst>
                <a:tab pos="465138" algn="l"/>
              </a:tabLst>
            </a:pPr>
            <a:r>
              <a:rPr lang="en-US" sz="2000" b="1" dirty="0" smtClean="0"/>
              <a:t> </a:t>
            </a:r>
            <a:r>
              <a:rPr lang="en-US" sz="2000" dirty="0" smtClean="0"/>
              <a:t>	Trapped Field Control Field</a:t>
            </a:r>
          </a:p>
          <a:p>
            <a:pPr algn="just">
              <a:lnSpc>
                <a:spcPct val="150000"/>
              </a:lnSpc>
              <a:buClr>
                <a:schemeClr val="accent6">
                  <a:lumMod val="50000"/>
                </a:schemeClr>
              </a:buClr>
              <a:buFont typeface="+mj-lt"/>
              <a:buAutoNum type="romanLcPeriod"/>
              <a:tabLst>
                <a:tab pos="465138" algn="l"/>
              </a:tabLst>
            </a:pPr>
            <a:r>
              <a:rPr lang="en-US" sz="2000" b="1" dirty="0" smtClean="0">
                <a:solidFill>
                  <a:srgbClr val="FF0000"/>
                </a:solidFill>
              </a:rPr>
              <a:t> </a:t>
            </a:r>
            <a:r>
              <a:rPr lang="en-US" sz="2000" dirty="0" smtClean="0">
                <a:solidFill>
                  <a:srgbClr val="FF0000"/>
                </a:solidFill>
              </a:rPr>
              <a:t>	</a:t>
            </a:r>
            <a:r>
              <a:rPr lang="en-US" sz="2000" dirty="0" smtClean="0"/>
              <a:t>Paralleling Field coils</a:t>
            </a:r>
          </a:p>
          <a:p>
            <a:pPr algn="just">
              <a:lnSpc>
                <a:spcPct val="150000"/>
              </a:lnSpc>
              <a:buClr>
                <a:schemeClr val="accent6">
                  <a:lumMod val="50000"/>
                </a:schemeClr>
              </a:buClr>
              <a:tabLst>
                <a:tab pos="465138" algn="l"/>
              </a:tabLst>
            </a:pPr>
            <a:r>
              <a:rPr lang="en-US" sz="2400" b="1" dirty="0" smtClean="0"/>
              <a:t>Variable Resistance in Series with Motor</a:t>
            </a:r>
          </a:p>
          <a:p>
            <a:pPr algn="just">
              <a:lnSpc>
                <a:spcPct val="150000"/>
              </a:lnSpc>
              <a:buClr>
                <a:schemeClr val="accent6">
                  <a:lumMod val="50000"/>
                </a:schemeClr>
              </a:buClr>
              <a:buFont typeface="Wingdings" pitchFamily="2" charset="2"/>
              <a:buChar char="v"/>
              <a:tabLst>
                <a:tab pos="465138" algn="l"/>
              </a:tabLst>
            </a:pPr>
            <a:r>
              <a:rPr lang="en-US" sz="2000" b="1" dirty="0" smtClean="0"/>
              <a:t> 	</a:t>
            </a:r>
            <a:r>
              <a:rPr lang="en-US" sz="2000" dirty="0" smtClean="0"/>
              <a:t>By increasing the resistance in series with the armature the voltage 	applied across the armature terminals can be decreased.</a:t>
            </a:r>
          </a:p>
          <a:p>
            <a:pPr algn="just">
              <a:lnSpc>
                <a:spcPct val="150000"/>
              </a:lnSpc>
              <a:buClr>
                <a:schemeClr val="accent6">
                  <a:lumMod val="50000"/>
                </a:schemeClr>
              </a:buClr>
              <a:buFont typeface="Wingdings" pitchFamily="2" charset="2"/>
              <a:buChar char="v"/>
              <a:tabLst>
                <a:tab pos="465138" algn="l"/>
              </a:tabLst>
            </a:pPr>
            <a:r>
              <a:rPr lang="en-US" sz="2000" dirty="0" smtClean="0"/>
              <a:t> 	With reduced voltage across the armature, the speed is reduced. 	However, it will be noted that since full motor current passes 	through this resistance, there is a considerable loss of power in it.</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Speed Control of Series Motors </a:t>
            </a:r>
            <a:endParaRPr lang="en-US" sz="2800" b="1" dirty="0">
              <a:solidFill>
                <a:schemeClr val="bg1"/>
              </a:solidFill>
              <a:latin typeface="Arial" pitchFamily="34" charset="0"/>
              <a:cs typeface="Arial" pitchFamily="34" charset="0"/>
            </a:endParaRP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920160" y="2388240"/>
              <a:ext cx="496080" cy="699480"/>
            </p14:xfrm>
          </p:contentPart>
        </mc:Choice>
        <mc:Fallback xmlns="">
          <p:pic>
            <p:nvPicPr>
              <p:cNvPr id="4" name="Ink 3"/>
              <p:cNvPicPr/>
              <p:nvPr/>
            </p:nvPicPr>
            <p:blipFill>
              <a:blip r:embed="rId5"/>
              <a:stretch>
                <a:fillRect/>
              </a:stretch>
            </p:blipFill>
            <p:spPr>
              <a:xfrm>
                <a:off x="915120" y="2381400"/>
                <a:ext cx="506880" cy="712800"/>
              </a:xfrm>
              <a:prstGeom prst="rect">
                <a:avLst/>
              </a:prstGeom>
            </p:spPr>
          </p:pic>
        </mc:Fallback>
      </mc:AlternateContent>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Speed Control of Series Motors </a:t>
            </a:r>
            <a:endParaRPr lang="en-US" sz="2800" b="1" dirty="0">
              <a:solidFill>
                <a:schemeClr val="bg1"/>
              </a:solidFill>
              <a:latin typeface="Arial" pitchFamily="34" charset="0"/>
              <a:cs typeface="Arial" pitchFamily="34" charset="0"/>
            </a:endParaRPr>
          </a:p>
        </p:txBody>
      </p:sp>
      <p:pic>
        <p:nvPicPr>
          <p:cNvPr id="3" name="Picture 2"/>
          <p:cNvPicPr>
            <a:picLocks noChangeAspect="1"/>
          </p:cNvPicPr>
          <p:nvPr/>
        </p:nvPicPr>
        <p:blipFill>
          <a:blip r:embed="rId2"/>
          <a:stretch>
            <a:fillRect/>
          </a:stretch>
        </p:blipFill>
        <p:spPr>
          <a:xfrm>
            <a:off x="152400" y="796588"/>
            <a:ext cx="2819400" cy="2860862"/>
          </a:xfrm>
          <a:prstGeom prst="rect">
            <a:avLst/>
          </a:prstGeom>
        </p:spPr>
      </p:pic>
      <p:pic>
        <p:nvPicPr>
          <p:cNvPr id="4" name="Picture 3"/>
          <p:cNvPicPr>
            <a:picLocks noChangeAspect="1"/>
          </p:cNvPicPr>
          <p:nvPr/>
        </p:nvPicPr>
        <p:blipFill>
          <a:blip r:embed="rId3"/>
          <a:stretch>
            <a:fillRect/>
          </a:stretch>
        </p:blipFill>
        <p:spPr>
          <a:xfrm>
            <a:off x="3063129" y="1088856"/>
            <a:ext cx="3479181" cy="1981200"/>
          </a:xfrm>
          <a:prstGeom prst="rect">
            <a:avLst/>
          </a:prstGeom>
        </p:spPr>
      </p:pic>
      <p:pic>
        <p:nvPicPr>
          <p:cNvPr id="7" name="Picture 6"/>
          <p:cNvPicPr>
            <a:picLocks noChangeAspect="1"/>
          </p:cNvPicPr>
          <p:nvPr/>
        </p:nvPicPr>
        <p:blipFill>
          <a:blip r:embed="rId4"/>
          <a:stretch>
            <a:fillRect/>
          </a:stretch>
        </p:blipFill>
        <p:spPr>
          <a:xfrm>
            <a:off x="6633639" y="801350"/>
            <a:ext cx="2510361" cy="2556213"/>
          </a:xfrm>
          <a:prstGeom prst="rect">
            <a:avLst/>
          </a:prstGeom>
        </p:spPr>
      </p:pic>
      <p:pic>
        <p:nvPicPr>
          <p:cNvPr id="8" name="Picture 7"/>
          <p:cNvPicPr>
            <a:picLocks noChangeAspect="1"/>
          </p:cNvPicPr>
          <p:nvPr/>
        </p:nvPicPr>
        <p:blipFill>
          <a:blip r:embed="rId5"/>
          <a:stretch>
            <a:fillRect/>
          </a:stretch>
        </p:blipFill>
        <p:spPr>
          <a:xfrm>
            <a:off x="609600" y="3768238"/>
            <a:ext cx="8114610" cy="2708762"/>
          </a:xfrm>
          <a:prstGeom prst="rect">
            <a:avLst/>
          </a:prstGeom>
        </p:spPr>
      </p:pic>
    </p:spTree>
    <p:extLst>
      <p:ext uri="{BB962C8B-B14F-4D97-AF65-F5344CB8AC3E}">
        <p14:creationId xmlns:p14="http://schemas.microsoft.com/office/powerpoint/2010/main" val="68584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Speed Control of Series Motors </a:t>
            </a:r>
            <a:endParaRPr lang="en-US" sz="2800" b="1" dirty="0">
              <a:solidFill>
                <a:schemeClr val="bg1"/>
              </a:solidFill>
              <a:latin typeface="Arial" pitchFamily="34" charset="0"/>
              <a:cs typeface="Arial" pitchFamily="34" charset="0"/>
            </a:endParaRPr>
          </a:p>
        </p:txBody>
      </p:sp>
      <p:pic>
        <p:nvPicPr>
          <p:cNvPr id="2" name="Picture 1"/>
          <p:cNvPicPr>
            <a:picLocks noChangeAspect="1"/>
          </p:cNvPicPr>
          <p:nvPr/>
        </p:nvPicPr>
        <p:blipFill>
          <a:blip r:embed="rId2"/>
          <a:stretch>
            <a:fillRect/>
          </a:stretch>
        </p:blipFill>
        <p:spPr>
          <a:xfrm>
            <a:off x="609600" y="1828800"/>
            <a:ext cx="8146473" cy="320040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789840" y="1969200"/>
              <a:ext cx="3467880" cy="1239840"/>
            </p14:xfrm>
          </p:contentPart>
        </mc:Choice>
        <mc:Fallback xmlns="">
          <p:pic>
            <p:nvPicPr>
              <p:cNvPr id="4" name="Ink 3"/>
              <p:cNvPicPr/>
              <p:nvPr/>
            </p:nvPicPr>
            <p:blipFill>
              <a:blip r:embed="rId6"/>
              <a:stretch>
                <a:fillRect/>
              </a:stretch>
            </p:blipFill>
            <p:spPr>
              <a:xfrm>
                <a:off x="784440" y="1966680"/>
                <a:ext cx="3479400" cy="1246680"/>
              </a:xfrm>
              <a:prstGeom prst="rect">
                <a:avLst/>
              </a:prstGeom>
            </p:spPr>
          </p:pic>
        </mc:Fallback>
      </mc:AlternateContent>
    </p:spTree>
    <p:extLst>
      <p:ext uri="{BB962C8B-B14F-4D97-AF65-F5344CB8AC3E}">
        <p14:creationId xmlns:p14="http://schemas.microsoft.com/office/powerpoint/2010/main" val="1410208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8160" y="806970"/>
            <a:ext cx="7818620" cy="5632311"/>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Speed changes with every change in load, because speed variations 	depend not only on controlling resistance but on load current also. 	This double dependence makes it impossible to keep the speed 	sensibly constant on rapidly changing loads.</a:t>
            </a:r>
          </a:p>
          <a:p>
            <a:pPr algn="just">
              <a:lnSpc>
                <a:spcPct val="150000"/>
              </a:lnSpc>
              <a:buClr>
                <a:schemeClr val="accent6">
                  <a:lumMod val="50000"/>
                </a:schemeClr>
              </a:buClr>
              <a:buFont typeface="Wingdings" pitchFamily="2" charset="2"/>
              <a:buChar char="v"/>
              <a:tabLst>
                <a:tab pos="465138" algn="l"/>
              </a:tabLst>
            </a:pPr>
            <a:r>
              <a:rPr lang="en-US" sz="2000" dirty="0" smtClean="0"/>
              <a:t> 	A large amount of power is wasted in the controller resistance. Loss 	of power is directly proportional to the reduction in speed. Hence, 	efficiency is decreased.</a:t>
            </a:r>
          </a:p>
          <a:p>
            <a:pPr algn="just">
              <a:lnSpc>
                <a:spcPct val="150000"/>
              </a:lnSpc>
              <a:buClr>
                <a:schemeClr val="accent6">
                  <a:lumMod val="50000"/>
                </a:schemeClr>
              </a:buClr>
              <a:buFont typeface="Wingdings" pitchFamily="2" charset="2"/>
              <a:buChar char="v"/>
              <a:tabLst>
                <a:tab pos="465138" algn="l"/>
              </a:tabLst>
            </a:pPr>
            <a:r>
              <a:rPr lang="en-US" sz="2000" dirty="0" smtClean="0"/>
              <a:t> 	Maximum power developed is diminished in the same ratio as speed.</a:t>
            </a:r>
          </a:p>
          <a:p>
            <a:pPr algn="just">
              <a:lnSpc>
                <a:spcPct val="150000"/>
              </a:lnSpc>
              <a:buClr>
                <a:schemeClr val="accent6">
                  <a:lumMod val="50000"/>
                </a:schemeClr>
              </a:buClr>
              <a:buFont typeface="Wingdings" pitchFamily="2" charset="2"/>
              <a:buChar char="v"/>
              <a:tabLst>
                <a:tab pos="465138" algn="l"/>
              </a:tabLst>
            </a:pPr>
            <a:r>
              <a:rPr lang="en-US" sz="2000" dirty="0" smtClean="0"/>
              <a:t> 	It needs expensive arrangement for dissipation of heat produced in 	the controller resistance.	</a:t>
            </a:r>
          </a:p>
          <a:p>
            <a:pPr algn="just">
              <a:lnSpc>
                <a:spcPct val="150000"/>
              </a:lnSpc>
              <a:buClr>
                <a:schemeClr val="accent6">
                  <a:lumMod val="50000"/>
                </a:schemeClr>
              </a:buClr>
              <a:buFont typeface="Wingdings" pitchFamily="2" charset="2"/>
              <a:buChar char="v"/>
              <a:tabLst>
                <a:tab pos="465138" algn="l"/>
              </a:tabLst>
            </a:pPr>
            <a:r>
              <a:rPr lang="en-US" sz="2000" dirty="0" smtClean="0"/>
              <a:t> 	It gives speeds </a:t>
            </a:r>
            <a:r>
              <a:rPr lang="en-US" sz="2000" i="1" dirty="0" smtClean="0"/>
              <a:t>below the normal, not above it because armature 	voltage can be decreased </a:t>
            </a:r>
            <a:r>
              <a:rPr lang="en-US" sz="2000" dirty="0" smtClean="0"/>
              <a:t>(not increased) by the controller resistance.</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Merits and Demerits of Rheostatic Control Method</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Series – Parallel Control </a:t>
            </a:r>
            <a:endParaRPr lang="en-US" sz="2800" b="1" dirty="0">
              <a:solidFill>
                <a:schemeClr val="bg1"/>
              </a:solidFill>
              <a:latin typeface="Arial" pitchFamily="34" charset="0"/>
              <a:cs typeface="Arial" pitchFamily="34" charset="0"/>
            </a:endParaRPr>
          </a:p>
        </p:txBody>
      </p:sp>
      <p:grpSp>
        <p:nvGrpSpPr>
          <p:cNvPr id="8" name="Group 7"/>
          <p:cNvGrpSpPr/>
          <p:nvPr/>
        </p:nvGrpSpPr>
        <p:grpSpPr>
          <a:xfrm>
            <a:off x="609600" y="929819"/>
            <a:ext cx="7788795" cy="4708981"/>
            <a:chOff x="868180" y="762000"/>
            <a:chExt cx="7788795" cy="4708981"/>
          </a:xfrm>
        </p:grpSpPr>
        <p:sp>
          <p:nvSpPr>
            <p:cNvPr id="2" name="TextBox 1"/>
            <p:cNvSpPr txBox="1"/>
            <p:nvPr/>
          </p:nvSpPr>
          <p:spPr>
            <a:xfrm>
              <a:off x="868180" y="762000"/>
              <a:ext cx="3322820" cy="4708981"/>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In this system of speed control, which is widely used in electric traction, two or more similar mechanically-coupled series motors are employed. At low speeds, the motors are joined in series Fig. 30.19 (</a:t>
              </a:r>
              <a:r>
                <a:rPr lang="en-US" sz="2000" i="1" dirty="0" smtClean="0"/>
                <a:t>a) and for high speeds, are </a:t>
              </a:r>
              <a:r>
                <a:rPr lang="en-US" sz="2000" dirty="0" smtClean="0"/>
                <a:t>joined in parallel Fig. 30.19 (</a:t>
              </a:r>
              <a:r>
                <a:rPr lang="en-US" sz="2000" i="1" dirty="0" smtClean="0"/>
                <a:t>b).</a:t>
              </a:r>
              <a:endParaRPr lang="en-US" sz="2000" dirty="0">
                <a:solidFill>
                  <a:srgbClr val="FF0000"/>
                </a:solidFill>
              </a:endParaRPr>
            </a:p>
          </p:txBody>
        </p:sp>
        <p:pic>
          <p:nvPicPr>
            <p:cNvPr id="3074" name="Picture 2"/>
            <p:cNvPicPr>
              <a:picLocks noChangeAspect="1" noChangeArrowheads="1"/>
            </p:cNvPicPr>
            <p:nvPr/>
          </p:nvPicPr>
          <p:blipFill>
            <a:blip r:embed="rId2"/>
            <a:srcRect/>
            <a:stretch>
              <a:fillRect/>
            </a:stretch>
          </p:blipFill>
          <p:spPr bwMode="auto">
            <a:xfrm>
              <a:off x="4388370" y="1006840"/>
              <a:ext cx="4268605" cy="3805237"/>
            </a:xfrm>
            <a:prstGeom prst="rect">
              <a:avLst/>
            </a:prstGeom>
            <a:noFill/>
            <a:ln w="9525">
              <a:noFill/>
              <a:miter lim="800000"/>
              <a:headEnd/>
              <a:tailEnd/>
            </a:ln>
            <a:effectLst/>
          </p:spPr>
        </p:pic>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666220" cy="4708981"/>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It has been shown in Art 29.3 that the current drawn by a motor armature is given by the relation </a:t>
            </a:r>
          </a:p>
          <a:p>
            <a:pPr algn="just">
              <a:lnSpc>
                <a:spcPct val="150000"/>
              </a:lnSpc>
              <a:buClr>
                <a:schemeClr val="accent6">
                  <a:lumMod val="50000"/>
                </a:schemeClr>
              </a:buClr>
              <a:tabLst>
                <a:tab pos="465138" algn="l"/>
              </a:tabLst>
            </a:pPr>
            <a:r>
              <a:rPr lang="en-US" sz="2000" i="1" dirty="0" smtClean="0"/>
              <a:t>				I</a:t>
            </a:r>
            <a:r>
              <a:rPr lang="en-US" sz="2000" i="1" baseline="-25000" dirty="0" smtClean="0"/>
              <a:t>a</a:t>
            </a:r>
            <a:r>
              <a:rPr lang="en-US" sz="2000" i="1" dirty="0" smtClean="0"/>
              <a:t> = (V − E</a:t>
            </a:r>
            <a:r>
              <a:rPr lang="en-US" sz="2000" i="1" baseline="-25000" dirty="0" smtClean="0"/>
              <a:t>b</a:t>
            </a:r>
            <a:r>
              <a:rPr lang="en-US" sz="2000" i="1" dirty="0" smtClean="0"/>
              <a:t>)/R</a:t>
            </a:r>
            <a:r>
              <a:rPr lang="en-US" sz="2000" i="1" baseline="-25000" dirty="0" smtClean="0"/>
              <a:t>a</a:t>
            </a:r>
          </a:p>
          <a:p>
            <a:pPr algn="just">
              <a:lnSpc>
                <a:spcPct val="150000"/>
              </a:lnSpc>
              <a:buClr>
                <a:schemeClr val="accent6">
                  <a:lumMod val="50000"/>
                </a:schemeClr>
              </a:buClr>
              <a:tabLst>
                <a:tab pos="465138" algn="l"/>
              </a:tabLst>
            </a:pPr>
            <a:r>
              <a:rPr lang="en-US" sz="2000" dirty="0" smtClean="0"/>
              <a:t>where </a:t>
            </a:r>
            <a:r>
              <a:rPr lang="en-US" sz="2000" i="1" dirty="0" smtClean="0"/>
              <a:t>V is the supply voltage, E</a:t>
            </a:r>
            <a:r>
              <a:rPr lang="en-US" sz="2000" i="1" baseline="-25000" dirty="0" smtClean="0"/>
              <a:t>b</a:t>
            </a:r>
            <a:r>
              <a:rPr lang="en-US" sz="2000" i="1" dirty="0" smtClean="0"/>
              <a:t> the back e.m.f. and R</a:t>
            </a:r>
            <a:r>
              <a:rPr lang="en-US" sz="2000" i="1" baseline="-25000" dirty="0" smtClean="0"/>
              <a:t>a</a:t>
            </a:r>
            <a:r>
              <a:rPr lang="en-US" sz="2000" i="1" dirty="0" smtClean="0"/>
              <a:t> the armature resistance.</a:t>
            </a:r>
          </a:p>
          <a:p>
            <a:pPr algn="just">
              <a:lnSpc>
                <a:spcPct val="150000"/>
              </a:lnSpc>
              <a:buClr>
                <a:schemeClr val="accent6">
                  <a:lumMod val="50000"/>
                </a:schemeClr>
              </a:buClr>
              <a:tabLst>
                <a:tab pos="465138" algn="l"/>
              </a:tabLst>
            </a:pPr>
            <a:endParaRPr lang="en-US" sz="2000" dirty="0" smtClean="0"/>
          </a:p>
          <a:p>
            <a:pPr algn="just">
              <a:lnSpc>
                <a:spcPct val="150000"/>
              </a:lnSpc>
              <a:buClr>
                <a:schemeClr val="accent6">
                  <a:lumMod val="50000"/>
                </a:schemeClr>
              </a:buClr>
              <a:tabLst>
                <a:tab pos="465138" algn="l"/>
              </a:tabLst>
            </a:pPr>
            <a:r>
              <a:rPr lang="en-US" sz="2000" dirty="0" smtClean="0"/>
              <a:t>When the motor is at rest, there is, as yet, obviously no back e.m.f. developed in the armature. If, now, full supply voltage is applied across the stationary armature, it will draw a very large current because armature resitance is relatively small.</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Necessity of a Starter </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702040"/>
            <a:ext cx="7666220" cy="1852815"/>
          </a:xfrm>
          <a:prstGeom prst="rect">
            <a:avLst/>
          </a:prstGeom>
          <a:noFill/>
        </p:spPr>
        <p:txBody>
          <a:bodyPr wrap="square" rtlCol="0">
            <a:spAutoFit/>
          </a:bodyPr>
          <a:lstStyle/>
          <a:p>
            <a:pPr algn="just">
              <a:lnSpc>
                <a:spcPct val="200000"/>
              </a:lnSpc>
              <a:buClr>
                <a:schemeClr val="accent6">
                  <a:lumMod val="50000"/>
                </a:schemeClr>
              </a:buClr>
              <a:buFont typeface="Wingdings" pitchFamily="2" charset="2"/>
              <a:buChar char="v"/>
              <a:tabLst>
                <a:tab pos="465138" algn="l"/>
              </a:tabLst>
            </a:pPr>
            <a:r>
              <a:rPr lang="en-US" sz="2000" dirty="0" smtClean="0"/>
              <a:t> 	The face-plate box type starters used for starting shunt and 	compound motors of ordinary industrial capacity are of two kinds 	known as three-point and four-point starters respectively. 	</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Shunt Motor Starter </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920889"/>
            <a:ext cx="3703820" cy="5632311"/>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The internal wiring for such a starter is shown in Fig. 30.39 . The three terminals of the starting box are marked A, B and C. One line is directly connected to one armature terminal and one field terminal which are tied together. The other line is connected to point A which is further connected to the starting arm L, through the overcurrent (or overload) release M.</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Three – Point Starter </a:t>
            </a:r>
            <a:endParaRPr lang="en-US" sz="2800" b="1" dirty="0">
              <a:solidFill>
                <a:schemeClr val="bg1"/>
              </a:solidFill>
              <a:latin typeface="Arial" pitchFamily="34" charset="0"/>
              <a:cs typeface="Arial" pitchFamily="34" charset="0"/>
            </a:endParaRPr>
          </a:p>
        </p:txBody>
      </p:sp>
      <p:pic>
        <p:nvPicPr>
          <p:cNvPr id="13314" name="Picture 2"/>
          <p:cNvPicPr>
            <a:picLocks noChangeAspect="1" noChangeArrowheads="1"/>
          </p:cNvPicPr>
          <p:nvPr/>
        </p:nvPicPr>
        <p:blipFill>
          <a:blip r:embed="rId2"/>
          <a:srcRect/>
          <a:stretch>
            <a:fillRect/>
          </a:stretch>
        </p:blipFill>
        <p:spPr bwMode="auto">
          <a:xfrm>
            <a:off x="4495800" y="1049594"/>
            <a:ext cx="4191000" cy="56560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Four – Point Starter </a:t>
            </a:r>
            <a:endParaRPr lang="en-US" sz="2800" b="1" dirty="0">
              <a:solidFill>
                <a:schemeClr val="bg1"/>
              </a:solidFill>
              <a:latin typeface="Arial" pitchFamily="34" charset="0"/>
              <a:cs typeface="Arial" pitchFamily="34" charset="0"/>
            </a:endParaRPr>
          </a:p>
        </p:txBody>
      </p:sp>
      <p:pic>
        <p:nvPicPr>
          <p:cNvPr id="14338" name="Picture 2"/>
          <p:cNvPicPr>
            <a:picLocks noChangeAspect="1" noChangeArrowheads="1"/>
          </p:cNvPicPr>
          <p:nvPr/>
        </p:nvPicPr>
        <p:blipFill>
          <a:blip r:embed="rId2"/>
          <a:srcRect/>
          <a:stretch>
            <a:fillRect/>
          </a:stretch>
        </p:blipFill>
        <p:spPr bwMode="auto">
          <a:xfrm>
            <a:off x="1045149" y="914400"/>
            <a:ext cx="7443031" cy="57235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3597120" y="1807920"/>
              <a:ext cx="252360" cy="84600"/>
            </p14:xfrm>
          </p:contentPart>
        </mc:Choice>
        <mc:Fallback xmlns="">
          <p:pic>
            <p:nvPicPr>
              <p:cNvPr id="2" name="Ink 1"/>
              <p:cNvPicPr/>
              <p:nvPr/>
            </p:nvPicPr>
            <p:blipFill>
              <a:blip r:embed="rId4"/>
              <a:stretch>
                <a:fillRect/>
              </a:stretch>
            </p:blipFill>
            <p:spPr>
              <a:xfrm>
                <a:off x="3591360" y="1805040"/>
                <a:ext cx="261000" cy="93240"/>
              </a:xfrm>
              <a:prstGeom prst="rect">
                <a:avLst/>
              </a:prstGeom>
            </p:spPr>
          </p:pic>
        </mc:Fallback>
      </mc:AlternateContent>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3897182</TotalTime>
  <Words>457</Words>
  <Application>Microsoft Office PowerPoint</Application>
  <PresentationFormat>On-screen Show (4:3)</PresentationFormat>
  <Paragraphs>47</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IIT</cp:lastModifiedBy>
  <cp:revision>426</cp:revision>
  <dcterms:created xsi:type="dcterms:W3CDTF">2015-05-26T08:58:57Z</dcterms:created>
  <dcterms:modified xsi:type="dcterms:W3CDTF">2023-02-16T18:37:39Z</dcterms:modified>
</cp:coreProperties>
</file>