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19" roundtripDataSignature="AMtx7mj1M0lHn2a/k9iIF9jmSEfu7Os/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customschemas.google.com/relationships/presentationmetadata" Target="metadata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5" name="Google Shape;1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8" name="Google Shape;33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0" name="Google Shape;39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9" name="Google Shape;19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Logo&#10;&#10;Description automatically generated" id="22" name="Google Shape;22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86431" y="127647"/>
            <a:ext cx="845043" cy="84504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3" name="Google Shape;63;p23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4" name="Google Shape;64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descr="Logo&#10;&#10;Description automatically generated" id="15" name="Google Shape;15;p15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86431" y="127647"/>
            <a:ext cx="845043" cy="845043"/>
          </a:xfrm>
          <a:prstGeom prst="rect">
            <a:avLst/>
          </a:prstGeom>
          <a:noFill/>
          <a:ln>
            <a:noFill/>
          </a:ln>
          <a:effectLst>
            <a:outerShdw blurRad="292100" rotWithShape="0" algn="tl" dir="2700000" dist="139700">
              <a:srgbClr val="333333">
                <a:alpha val="64705"/>
              </a:srgbClr>
            </a:outerShdw>
          </a:effectLst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90" name="Google Shape;90;p1"/>
          <p:cNvPicPr preferRelativeResize="0"/>
          <p:nvPr/>
        </p:nvPicPr>
        <p:blipFill rotWithShape="1">
          <a:blip r:embed="rId4">
            <a:alphaModFix amt="50000"/>
          </a:blip>
          <a:srcRect b="1" l="0" r="1778" t="0"/>
          <a:stretch/>
        </p:blipFill>
        <p:spPr>
          <a:xfrm>
            <a:off x="20" y="-1"/>
            <a:ext cx="1219198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>
            <p:ph type="ctrTitle"/>
          </p:nvPr>
        </p:nvSpPr>
        <p:spPr>
          <a:xfrm>
            <a:off x="4951378" y="1122362"/>
            <a:ext cx="5716621" cy="290051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Times New Roman"/>
              <a:buNone/>
            </a:pPr>
            <a:r>
              <a:rPr b="1" lang="en-IN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Communication </a:t>
            </a:r>
            <a:br>
              <a:rPr b="1" lang="en-IN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br>
              <a:rPr lang="en-IN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600">
              <a:solidFill>
                <a:srgbClr val="FFFFFF"/>
              </a:solidFill>
            </a:endParaRPr>
          </a:p>
        </p:txBody>
      </p:sp>
      <p:sp>
        <p:nvSpPr>
          <p:cNvPr id="92" name="Google Shape;92;p1"/>
          <p:cNvSpPr txBox="1"/>
          <p:nvPr>
            <p:ph idx="1" type="subTitle"/>
          </p:nvPr>
        </p:nvSpPr>
        <p:spPr>
          <a:xfrm>
            <a:off x="5311302" y="4159404"/>
            <a:ext cx="5356698" cy="2153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IN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Dr. Ashna Jacob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20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IN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Faculty of English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IN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HSSM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</a:pPr>
            <a:r>
              <a:rPr lang="en-IN" sz="2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IIT BBS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</a:pPr>
            <a:r>
              <a:t/>
            </a:r>
            <a:endParaRPr sz="20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2"/>
          <p:cNvSpPr/>
          <p:nvPr/>
        </p:nvSpPr>
        <p:spPr>
          <a:xfrm>
            <a:off x="1405709" y="682754"/>
            <a:ext cx="5492493" cy="5492493"/>
          </a:xfrm>
          <a:custGeom>
            <a:rect b="b" l="l" r="r" t="t"/>
            <a:pathLst>
              <a:path extrusionOk="0" h="5492493" w="5492493">
                <a:moveTo>
                  <a:pt x="2746247" y="0"/>
                </a:moveTo>
                <a:cubicBezTo>
                  <a:pt x="4262957" y="0"/>
                  <a:pt x="5492493" y="1229536"/>
                  <a:pt x="5492493" y="2746247"/>
                </a:cubicBezTo>
                <a:cubicBezTo>
                  <a:pt x="5492493" y="4262957"/>
                  <a:pt x="4262957" y="5492493"/>
                  <a:pt x="2746247" y="5492493"/>
                </a:cubicBezTo>
                <a:cubicBezTo>
                  <a:pt x="1229536" y="5492493"/>
                  <a:pt x="0" y="4262957"/>
                  <a:pt x="0" y="2746247"/>
                </a:cubicBezTo>
                <a:cubicBezTo>
                  <a:pt x="0" y="1229536"/>
                  <a:pt x="1229536" y="0"/>
                  <a:pt x="2746247" y="0"/>
                </a:cubicBezTo>
                <a:close/>
              </a:path>
            </a:pathLst>
          </a:custGeom>
          <a:solidFill>
            <a:srgbClr val="FEFEFE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/>
          <p:nvPr/>
        </p:nvSpPr>
        <p:spPr>
          <a:xfrm flipH="1" rot="10800000">
            <a:off x="4301542" y="3567390"/>
            <a:ext cx="2311806" cy="2303982"/>
          </a:xfrm>
          <a:custGeom>
            <a:rect b="b" l="l" r="r" t="t"/>
            <a:pathLst>
              <a:path extrusionOk="0" h="3097879" w="3108399">
                <a:moveTo>
                  <a:pt x="0" y="0"/>
                </a:moveTo>
                <a:lnTo>
                  <a:pt x="159985" y="4045"/>
                </a:lnTo>
                <a:cubicBezTo>
                  <a:pt x="1696687" y="81941"/>
                  <a:pt x="2939004" y="1275632"/>
                  <a:pt x="3092907" y="2791087"/>
                </a:cubicBezTo>
                <a:lnTo>
                  <a:pt x="3108399" y="3097879"/>
                </a:lnTo>
                <a:lnTo>
                  <a:pt x="2470733" y="3097879"/>
                </a:lnTo>
                <a:lnTo>
                  <a:pt x="2458534" y="2856285"/>
                </a:lnTo>
                <a:cubicBezTo>
                  <a:pt x="2340416" y="1693197"/>
                  <a:pt x="1415762" y="768542"/>
                  <a:pt x="252674" y="650424"/>
                </a:cubicBezTo>
                <a:lnTo>
                  <a:pt x="0" y="637665"/>
                </a:lnTo>
                <a:close/>
              </a:path>
            </a:pathLst>
          </a:custGeom>
          <a:solidFill>
            <a:schemeClr val="accent6">
              <a:alpha val="8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 txBox="1"/>
          <p:nvPr>
            <p:ph type="title"/>
          </p:nvPr>
        </p:nvSpPr>
        <p:spPr>
          <a:xfrm>
            <a:off x="2060812" y="1533463"/>
            <a:ext cx="4101152" cy="35142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br>
              <a:rPr b="1" i="0" lang="en-IN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IN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br>
              <a:rPr b="1" i="0" lang="en-IN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i="0" lang="en-IN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Process of Communication</a:t>
            </a:r>
            <a:br>
              <a:rPr b="1" i="0" lang="en-IN" sz="3200" u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32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5850965" y="91757"/>
            <a:ext cx="3988244" cy="144170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3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community</a:t>
            </a:r>
            <a:endParaRPr/>
          </a:p>
        </p:txBody>
      </p:sp>
      <p:sp>
        <p:nvSpPr>
          <p:cNvPr id="102" name="Google Shape;102;p2"/>
          <p:cNvSpPr/>
          <p:nvPr/>
        </p:nvSpPr>
        <p:spPr>
          <a:xfrm>
            <a:off x="6168360" y="3024171"/>
            <a:ext cx="435428" cy="435428"/>
          </a:xfrm>
          <a:prstGeom prst="ellipse">
            <a:avLst/>
          </a:prstGeom>
          <a:solidFill>
            <a:srgbClr val="FEFEFE">
              <a:alpha val="8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7352907" y="4683666"/>
            <a:ext cx="180052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gestures</a:t>
            </a:r>
            <a:endParaRPr/>
          </a:p>
        </p:txBody>
      </p:sp>
      <p:sp>
        <p:nvSpPr>
          <p:cNvPr id="104" name="Google Shape;104;p2"/>
          <p:cNvSpPr txBox="1"/>
          <p:nvPr/>
        </p:nvSpPr>
        <p:spPr>
          <a:xfrm>
            <a:off x="9012025" y="3375044"/>
            <a:ext cx="22325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intonation</a:t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5" name="Google Shape;105;p2"/>
          <p:cNvSpPr txBox="1"/>
          <p:nvPr/>
        </p:nvSpPr>
        <p:spPr>
          <a:xfrm>
            <a:off x="7711126" y="2036438"/>
            <a:ext cx="223252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words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804431" y="812610"/>
            <a:ext cx="167797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dynamic</a:t>
            </a:r>
            <a:endParaRPr/>
          </a:p>
        </p:txBody>
      </p:sp>
      <p:sp>
        <p:nvSpPr>
          <p:cNvPr id="107" name="Google Shape;107;p2"/>
          <p:cNvSpPr txBox="1"/>
          <p:nvPr/>
        </p:nvSpPr>
        <p:spPr>
          <a:xfrm>
            <a:off x="308464" y="5407921"/>
            <a:ext cx="219956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interactive</a:t>
            </a:r>
            <a:endParaRPr/>
          </a:p>
        </p:txBody>
      </p:sp>
      <p:sp>
        <p:nvSpPr>
          <p:cNvPr id="108" name="Google Shape;108;p2"/>
          <p:cNvSpPr txBox="1"/>
          <p:nvPr/>
        </p:nvSpPr>
        <p:spPr>
          <a:xfrm>
            <a:off x="9153427" y="812610"/>
            <a:ext cx="241326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IN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Symbolic exchange of meaning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rchitects working on a blueprint" id="114" name="Google Shape;114;p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-1" l="23104" r="29635" t="0"/>
          <a:stretch/>
        </p:blipFill>
        <p:spPr>
          <a:xfrm>
            <a:off x="-7366" y="10"/>
            <a:ext cx="4855591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3"/>
          <p:cNvSpPr/>
          <p:nvPr/>
        </p:nvSpPr>
        <p:spPr>
          <a:xfrm>
            <a:off x="8673531" y="407987"/>
            <a:ext cx="2987899" cy="2987899"/>
          </a:xfrm>
          <a:prstGeom prst="arc">
            <a:avLst>
              <a:gd fmla="val 16200000" name="adj1"/>
              <a:gd fmla="val 2563720" name="adj2"/>
            </a:avLst>
          </a:prstGeom>
          <a:noFill/>
          <a:ln cap="rnd" cmpd="sng" w="127000">
            <a:solidFill>
              <a:schemeClr val="accent4"/>
            </a:solidFill>
            <a:prstDash val="dash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 txBox="1"/>
          <p:nvPr>
            <p:ph type="title"/>
          </p:nvPr>
        </p:nvSpPr>
        <p:spPr>
          <a:xfrm>
            <a:off x="5827048" y="407987"/>
            <a:ext cx="5721484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grpSp>
        <p:nvGrpSpPr>
          <p:cNvPr id="117" name="Google Shape;117;p3"/>
          <p:cNvGrpSpPr/>
          <p:nvPr/>
        </p:nvGrpSpPr>
        <p:grpSpPr>
          <a:xfrm>
            <a:off x="5163949" y="150652"/>
            <a:ext cx="6656594" cy="6657614"/>
            <a:chOff x="95838" y="-73084"/>
            <a:chExt cx="6656594" cy="6657614"/>
          </a:xfrm>
        </p:grpSpPr>
        <p:sp>
          <p:nvSpPr>
            <p:cNvPr id="118" name="Google Shape;118;p3"/>
            <p:cNvSpPr/>
            <p:nvPr/>
          </p:nvSpPr>
          <p:spPr>
            <a:xfrm>
              <a:off x="1310920" y="2026053"/>
              <a:ext cx="3901864" cy="3901864"/>
            </a:xfrm>
            <a:prstGeom prst="ellipse">
              <a:avLst/>
            </a:prstGeom>
            <a:gradFill>
              <a:gsLst>
                <a:gs pos="0">
                  <a:srgbClr val="5E697B">
                    <a:alpha val="49803"/>
                  </a:srgbClr>
                </a:gs>
                <a:gs pos="50000">
                  <a:srgbClr val="42536A">
                    <a:alpha val="49803"/>
                  </a:srgbClr>
                </a:gs>
                <a:gs pos="100000">
                  <a:srgbClr val="38495F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3"/>
            <p:cNvSpPr txBox="1"/>
            <p:nvPr/>
          </p:nvSpPr>
          <p:spPr>
            <a:xfrm>
              <a:off x="1882335" y="2597468"/>
              <a:ext cx="2759034" cy="27590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5550" lIns="35550" spcFirstLastPara="1" rIns="35550" wrap="square" tIns="355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Times New Roman"/>
                <a:buNone/>
              </a:pPr>
              <a:r>
                <a:rPr b="0" i="0" lang="en-IN" sz="2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80% of</a:t>
              </a:r>
              <a:r>
                <a:rPr lang="en-IN" sz="2800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 </a:t>
              </a:r>
              <a:r>
                <a:rPr b="0" i="0" lang="en-IN" sz="2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 used for Communication</a:t>
              </a:r>
              <a:endParaRPr/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1379823" y="-73084"/>
              <a:ext cx="3782096" cy="3341654"/>
            </a:xfrm>
            <a:prstGeom prst="ellipse">
              <a:avLst/>
            </a:prstGeom>
            <a:gradFill>
              <a:gsLst>
                <a:gs pos="0">
                  <a:srgbClr val="5E697B">
                    <a:alpha val="49803"/>
                  </a:srgbClr>
                </a:gs>
                <a:gs pos="50000">
                  <a:srgbClr val="42536A">
                    <a:alpha val="49803"/>
                  </a:srgbClr>
                </a:gs>
                <a:gs pos="100000">
                  <a:srgbClr val="38495F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3"/>
            <p:cNvSpPr txBox="1"/>
            <p:nvPr/>
          </p:nvSpPr>
          <p:spPr>
            <a:xfrm>
              <a:off x="1933698" y="416290"/>
              <a:ext cx="2674346" cy="23629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000" lIns="33000" spcFirstLastPara="1" rIns="33000" wrap="square" tIns="330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600"/>
                <a:buFont typeface="Times New Roman"/>
                <a:buNone/>
              </a:pPr>
              <a:r>
                <a:rPr b="0" i="0" lang="en-IN" sz="26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65% in English</a:t>
              </a:r>
              <a:endParaRPr/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4168130" y="3907968"/>
              <a:ext cx="2584302" cy="2676562"/>
            </a:xfrm>
            <a:prstGeom prst="ellipse">
              <a:avLst/>
            </a:prstGeom>
            <a:gradFill>
              <a:gsLst>
                <a:gs pos="0">
                  <a:srgbClr val="5E697B">
                    <a:alpha val="49803"/>
                  </a:srgbClr>
                </a:gs>
                <a:gs pos="50000">
                  <a:srgbClr val="42536A">
                    <a:alpha val="49803"/>
                  </a:srgbClr>
                </a:gs>
                <a:gs pos="100000">
                  <a:srgbClr val="38495F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3"/>
            <p:cNvSpPr txBox="1"/>
            <p:nvPr/>
          </p:nvSpPr>
          <p:spPr>
            <a:xfrm>
              <a:off x="4546592" y="4299941"/>
              <a:ext cx="1827378" cy="189261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27% in Hindi</a:t>
              </a:r>
              <a:endParaRPr/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95838" y="4314942"/>
              <a:ext cx="1935168" cy="1862613"/>
            </a:xfrm>
            <a:prstGeom prst="ellipse">
              <a:avLst/>
            </a:prstGeom>
            <a:gradFill>
              <a:gsLst>
                <a:gs pos="0">
                  <a:srgbClr val="5E697B">
                    <a:alpha val="49803"/>
                  </a:srgbClr>
                </a:gs>
                <a:gs pos="50000">
                  <a:srgbClr val="42536A">
                    <a:alpha val="49803"/>
                  </a:srgbClr>
                </a:gs>
                <a:gs pos="100000">
                  <a:srgbClr val="38495F">
                    <a:alpha val="49803"/>
                  </a:srgbClr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3"/>
            <p:cNvSpPr txBox="1"/>
            <p:nvPr/>
          </p:nvSpPr>
          <p:spPr>
            <a:xfrm>
              <a:off x="379237" y="4587715"/>
              <a:ext cx="1368370" cy="13170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0475" lIns="30475" spcFirstLastPara="1" rIns="30475" wrap="square" tIns="304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8% in other languages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"/>
          <p:cNvSpPr txBox="1"/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pic>
        <p:nvPicPr>
          <p:cNvPr descr="Two cute robots"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39212" r="22767" t="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32" name="Google Shape;132;p4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cap="flat" cmpd="sng" w="19050">
            <a:solidFill>
              <a:srgbClr val="D3B079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133" name="Google Shape;133;p4"/>
          <p:cNvGrpSpPr/>
          <p:nvPr/>
        </p:nvGrpSpPr>
        <p:grpSpPr>
          <a:xfrm>
            <a:off x="6176695" y="2438399"/>
            <a:ext cx="4163960" cy="3785419"/>
            <a:chOff x="1211264" y="-1"/>
            <a:chExt cx="4163960" cy="3785419"/>
          </a:xfrm>
        </p:grpSpPr>
        <p:sp>
          <p:nvSpPr>
            <p:cNvPr id="134" name="Google Shape;134;p4"/>
            <p:cNvSpPr/>
            <p:nvPr/>
          </p:nvSpPr>
          <p:spPr>
            <a:xfrm rot="4396374">
              <a:off x="1430327" y="753268"/>
              <a:ext cx="3267798" cy="2278881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20000" y="40000"/>
                    <a:pt x="93748" y="15000"/>
                  </a:quadBezTo>
                  <a:lnTo>
                    <a:pt x="92569" y="0"/>
                  </a:lnTo>
                  <a:lnTo>
                    <a:pt x="120000" y="18786"/>
                  </a:lnTo>
                  <a:lnTo>
                    <a:pt x="96465" y="49572"/>
                  </a:lnTo>
                  <a:lnTo>
                    <a:pt x="95286" y="34572"/>
                  </a:lnTo>
                  <a:quadBezTo>
                    <a:pt x="30000" y="44572"/>
                    <a:pt x="0" y="120000"/>
                  </a:quadBezTo>
                  <a:close/>
                </a:path>
              </a:pathLst>
            </a:custGeom>
            <a:solidFill>
              <a:srgbClr val="BFBFBF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4"/>
            <p:cNvSpPr/>
            <p:nvPr/>
          </p:nvSpPr>
          <p:spPr>
            <a:xfrm>
              <a:off x="2793947" y="1152281"/>
              <a:ext cx="82522" cy="82522"/>
            </a:xfrm>
            <a:prstGeom prst="ellipse">
              <a:avLst/>
            </a:prstGeom>
            <a:solidFill>
              <a:srgbClr val="F4BDA9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4"/>
            <p:cNvSpPr/>
            <p:nvPr/>
          </p:nvSpPr>
          <p:spPr>
            <a:xfrm>
              <a:off x="3512647" y="1852962"/>
              <a:ext cx="82522" cy="82522"/>
            </a:xfrm>
            <a:prstGeom prst="ellipse">
              <a:avLst/>
            </a:prstGeom>
            <a:solidFill>
              <a:srgbClr val="F4BDA9"/>
            </a:solidFill>
            <a:ln cap="flat" cmpd="sng" w="1905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4"/>
            <p:cNvSpPr/>
            <p:nvPr/>
          </p:nvSpPr>
          <p:spPr>
            <a:xfrm>
              <a:off x="1211264" y="0"/>
              <a:ext cx="1540665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4"/>
            <p:cNvSpPr txBox="1"/>
            <p:nvPr/>
          </p:nvSpPr>
          <p:spPr>
            <a:xfrm>
              <a:off x="1211264" y="0"/>
              <a:ext cx="1540665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48250" lIns="48250" spcFirstLastPara="1" rIns="48250" wrap="square" tIns="48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Times New Roman"/>
                <a:buNone/>
              </a:pPr>
              <a:r>
                <a:rPr b="0" i="0" lang="en-IN" sz="3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Sender</a:t>
              </a:r>
              <a:endParaRPr/>
            </a:p>
          </p:txBody>
        </p:sp>
        <p:sp>
          <p:nvSpPr>
            <p:cNvPr id="139" name="Google Shape;139;p4"/>
            <p:cNvSpPr/>
            <p:nvPr/>
          </p:nvSpPr>
          <p:spPr>
            <a:xfrm>
              <a:off x="3251604" y="890709"/>
              <a:ext cx="2123620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" name="Google Shape;140;p4"/>
            <p:cNvSpPr txBox="1"/>
            <p:nvPr/>
          </p:nvSpPr>
          <p:spPr>
            <a:xfrm>
              <a:off x="3251604" y="890709"/>
              <a:ext cx="2123620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250" lIns="48250" spcFirstLastPara="1" rIns="48250" wrap="square" tIns="4825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Times New Roman"/>
                <a:buNone/>
              </a:pPr>
              <a:r>
                <a:rPr b="0" i="0" lang="en-IN" sz="3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Channel</a:t>
              </a:r>
              <a:endParaRPr/>
            </a:p>
          </p:txBody>
        </p:sp>
        <p:sp>
          <p:nvSpPr>
            <p:cNvPr id="141" name="Google Shape;141;p4"/>
            <p:cNvSpPr/>
            <p:nvPr/>
          </p:nvSpPr>
          <p:spPr>
            <a:xfrm>
              <a:off x="1211264" y="1591390"/>
              <a:ext cx="2081980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4"/>
            <p:cNvSpPr txBox="1"/>
            <p:nvPr/>
          </p:nvSpPr>
          <p:spPr>
            <a:xfrm>
              <a:off x="1211264" y="1591390"/>
              <a:ext cx="2081980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8250" lIns="48250" spcFirstLastPara="1" rIns="48250" wrap="square" tIns="4825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Times New Roman"/>
                <a:buNone/>
              </a:pPr>
              <a:r>
                <a:rPr b="0" i="0" lang="en-IN" sz="3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Message</a:t>
              </a:r>
              <a:endParaRPr/>
            </a:p>
          </p:txBody>
        </p:sp>
        <p:sp>
          <p:nvSpPr>
            <p:cNvPr id="143" name="Google Shape;143;p4"/>
            <p:cNvSpPr/>
            <p:nvPr/>
          </p:nvSpPr>
          <p:spPr>
            <a:xfrm>
              <a:off x="3293244" y="3179751"/>
              <a:ext cx="2081980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" name="Google Shape;144;p4"/>
            <p:cNvSpPr txBox="1"/>
            <p:nvPr/>
          </p:nvSpPr>
          <p:spPr>
            <a:xfrm>
              <a:off x="3293244" y="3179751"/>
              <a:ext cx="2081980" cy="605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8250" lIns="48250" spcFirstLastPara="1" rIns="48250" wrap="square" tIns="482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3800"/>
                <a:buFont typeface="Times New Roman"/>
                <a:buNone/>
              </a:pPr>
              <a:r>
                <a:rPr b="0" i="0" lang="en-IN" sz="38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Receiver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 txBox="1"/>
          <p:nvPr>
            <p:ph type="title"/>
          </p:nvPr>
        </p:nvSpPr>
        <p:spPr>
          <a:xfrm>
            <a:off x="1331088" y="565739"/>
            <a:ext cx="9745883" cy="112494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I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Communication Process</a:t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0" y="681037"/>
            <a:ext cx="1170294" cy="274629"/>
          </a:xfrm>
          <a:custGeom>
            <a:rect b="b" l="l" r="r" t="t"/>
            <a:pathLst>
              <a:path extrusionOk="0" h="274629" w="1170294">
                <a:moveTo>
                  <a:pt x="453342" y="0"/>
                </a:moveTo>
                <a:lnTo>
                  <a:pt x="689085" y="235744"/>
                </a:lnTo>
                <a:lnTo>
                  <a:pt x="924829" y="0"/>
                </a:lnTo>
                <a:lnTo>
                  <a:pt x="1170294" y="24546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577"/>
                </a:lnTo>
                <a:lnTo>
                  <a:pt x="215168" y="23574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0" y="1116069"/>
            <a:ext cx="1170294" cy="274629"/>
          </a:xfrm>
          <a:custGeom>
            <a:rect b="b" l="l" r="r" t="t"/>
            <a:pathLst>
              <a:path extrusionOk="0" h="274629" w="1170294">
                <a:moveTo>
                  <a:pt x="453342" y="0"/>
                </a:moveTo>
                <a:lnTo>
                  <a:pt x="689085" y="238174"/>
                </a:lnTo>
                <a:lnTo>
                  <a:pt x="924829" y="0"/>
                </a:lnTo>
                <a:lnTo>
                  <a:pt x="1170294" y="247895"/>
                </a:lnTo>
                <a:lnTo>
                  <a:pt x="1153282" y="264908"/>
                </a:lnTo>
                <a:lnTo>
                  <a:pt x="924829" y="38885"/>
                </a:lnTo>
                <a:lnTo>
                  <a:pt x="689085" y="274629"/>
                </a:lnTo>
                <a:lnTo>
                  <a:pt x="453342" y="38885"/>
                </a:lnTo>
                <a:lnTo>
                  <a:pt x="215168" y="274629"/>
                </a:lnTo>
                <a:lnTo>
                  <a:pt x="0" y="59462"/>
                </a:lnTo>
                <a:lnTo>
                  <a:pt x="0" y="20789"/>
                </a:lnTo>
                <a:lnTo>
                  <a:pt x="215168" y="23817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836766" y="2256427"/>
            <a:ext cx="10855283" cy="396339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838200" y="2256427"/>
            <a:ext cx="10853849" cy="3955009"/>
          </a:xfrm>
          <a:prstGeom prst="rect">
            <a:avLst/>
          </a:prstGeom>
          <a:solidFill>
            <a:schemeClr val="lt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735106" y="2125615"/>
            <a:ext cx="10855283" cy="3974760"/>
          </a:xfrm>
          <a:prstGeom prst="rect">
            <a:avLst/>
          </a:prstGeom>
          <a:solidFill>
            <a:schemeClr val="dk1"/>
          </a:solidFill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" name="Google Shape;157;p5"/>
          <p:cNvGrpSpPr/>
          <p:nvPr/>
        </p:nvGrpSpPr>
        <p:grpSpPr>
          <a:xfrm>
            <a:off x="1097200" y="2782285"/>
            <a:ext cx="10253092" cy="2658210"/>
            <a:chOff x="3506" y="356680"/>
            <a:chExt cx="10253092" cy="2658210"/>
          </a:xfrm>
        </p:grpSpPr>
        <p:sp>
          <p:nvSpPr>
            <p:cNvPr id="158" name="Google Shape;158;p5"/>
            <p:cNvSpPr/>
            <p:nvPr/>
          </p:nvSpPr>
          <p:spPr>
            <a:xfrm>
              <a:off x="3506" y="356680"/>
              <a:ext cx="1898720" cy="2658209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5"/>
            <p:cNvSpPr txBox="1"/>
            <p:nvPr/>
          </p:nvSpPr>
          <p:spPr>
            <a:xfrm>
              <a:off x="3506" y="1366800"/>
              <a:ext cx="1898720" cy="159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48025" spcFirstLastPara="1" rIns="1480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imes New Roman"/>
                <a:buNone/>
              </a:pPr>
              <a:r>
                <a:rPr b="1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Ideation</a:t>
              </a:r>
              <a:endParaRPr b="1"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  <a:p>
              <a:pPr indent="-190500" lvl="1" marL="17145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Char char="•"/>
              </a:pPr>
              <a:r>
                <a:rPr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Sender has Idea</a:t>
              </a:r>
              <a:endParaRPr sz="2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710937" y="820196"/>
              <a:ext cx="483860" cy="40207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5"/>
            <p:cNvSpPr txBox="1"/>
            <p:nvPr/>
          </p:nvSpPr>
          <p:spPr>
            <a:xfrm>
              <a:off x="781797" y="879078"/>
              <a:ext cx="342140" cy="284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62150" spcFirstLastPara="1" rIns="621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I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3506" y="3014818"/>
              <a:ext cx="1898720" cy="7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2092099" y="356680"/>
              <a:ext cx="1898720" cy="2658209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5"/>
            <p:cNvSpPr txBox="1"/>
            <p:nvPr/>
          </p:nvSpPr>
          <p:spPr>
            <a:xfrm>
              <a:off x="2092106" y="879070"/>
              <a:ext cx="1898700" cy="2082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48025" spcFirstLastPara="1" rIns="1480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imes New Roman"/>
                <a:buNone/>
              </a:pPr>
              <a:r>
                <a:rPr b="1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Encoding</a:t>
              </a:r>
              <a:endParaRPr b="1" sz="2100">
                <a:solidFill>
                  <a:schemeClr val="dk1"/>
                </a:solidFill>
              </a:endParaRPr>
            </a:p>
            <a:p>
              <a:pPr indent="-190500" lvl="1" marL="17145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Char char="•"/>
              </a:pPr>
              <a:r>
                <a:rPr b="0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Sender converts Idea into Words or Gestures</a:t>
              </a:r>
              <a:endParaRPr sz="2100">
                <a:solidFill>
                  <a:schemeClr val="dk1"/>
                </a:solidFill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2799529" y="820196"/>
              <a:ext cx="483860" cy="40207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5"/>
            <p:cNvSpPr txBox="1"/>
            <p:nvPr/>
          </p:nvSpPr>
          <p:spPr>
            <a:xfrm>
              <a:off x="2870389" y="879078"/>
              <a:ext cx="342140" cy="284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62150" spcFirstLastPara="1" rIns="621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I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2092099" y="3014818"/>
              <a:ext cx="1898720" cy="7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4180692" y="356680"/>
              <a:ext cx="1898720" cy="2658209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5"/>
            <p:cNvSpPr txBox="1"/>
            <p:nvPr/>
          </p:nvSpPr>
          <p:spPr>
            <a:xfrm>
              <a:off x="4180681" y="1163394"/>
              <a:ext cx="1898700" cy="1798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48025" spcFirstLastPara="1" rIns="1480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imes New Roman"/>
                <a:buNone/>
              </a:pPr>
              <a:r>
                <a:rPr b="1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Transmission</a:t>
              </a:r>
              <a:endParaRPr b="1" sz="2100">
                <a:solidFill>
                  <a:schemeClr val="dk1"/>
                </a:solidFill>
              </a:endParaRPr>
            </a:p>
            <a:p>
              <a:pPr indent="-190500" lvl="1" marL="17145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Char char="•"/>
              </a:pPr>
              <a:r>
                <a:rPr b="0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Message travels over a Channel</a:t>
              </a:r>
              <a:endParaRPr sz="2100">
                <a:solidFill>
                  <a:schemeClr val="dk1"/>
                </a:solidFill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4888122" y="820196"/>
              <a:ext cx="483860" cy="40207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5"/>
            <p:cNvSpPr txBox="1"/>
            <p:nvPr/>
          </p:nvSpPr>
          <p:spPr>
            <a:xfrm>
              <a:off x="4958982" y="879078"/>
              <a:ext cx="342140" cy="284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62150" spcFirstLastPara="1" rIns="621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I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4180692" y="3014818"/>
              <a:ext cx="1898720" cy="7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6269285" y="356680"/>
              <a:ext cx="1898720" cy="2658209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5"/>
            <p:cNvSpPr txBox="1"/>
            <p:nvPr/>
          </p:nvSpPr>
          <p:spPr>
            <a:xfrm>
              <a:off x="6269281" y="1222270"/>
              <a:ext cx="1898700" cy="17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48025" spcFirstLastPara="1" rIns="1480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imes New Roman"/>
                <a:buNone/>
              </a:pPr>
              <a:r>
                <a:rPr b="1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Decoding</a:t>
              </a:r>
              <a:endParaRPr b="1" sz="2100">
                <a:solidFill>
                  <a:schemeClr val="dk1"/>
                </a:solidFill>
              </a:endParaRPr>
            </a:p>
            <a:p>
              <a:pPr indent="-190500" lvl="1" marL="17145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Char char="•"/>
              </a:pPr>
              <a:r>
                <a:rPr b="0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Receiver decodes Message</a:t>
              </a:r>
              <a:endParaRPr sz="2100">
                <a:solidFill>
                  <a:schemeClr val="dk1"/>
                </a:solidFill>
              </a:endParaRPr>
            </a:p>
          </p:txBody>
        </p:sp>
        <p:sp>
          <p:nvSpPr>
            <p:cNvPr id="175" name="Google Shape;175;p5"/>
            <p:cNvSpPr/>
            <p:nvPr/>
          </p:nvSpPr>
          <p:spPr>
            <a:xfrm>
              <a:off x="6976715" y="820196"/>
              <a:ext cx="483860" cy="40207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5"/>
            <p:cNvSpPr txBox="1"/>
            <p:nvPr/>
          </p:nvSpPr>
          <p:spPr>
            <a:xfrm>
              <a:off x="7047575" y="879078"/>
              <a:ext cx="342140" cy="284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62150" spcFirstLastPara="1" rIns="621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I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  <p:sp>
          <p:nvSpPr>
            <p:cNvPr id="177" name="Google Shape;177;p5"/>
            <p:cNvSpPr/>
            <p:nvPr/>
          </p:nvSpPr>
          <p:spPr>
            <a:xfrm>
              <a:off x="6269285" y="3014818"/>
              <a:ext cx="1898720" cy="7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5"/>
            <p:cNvSpPr/>
            <p:nvPr/>
          </p:nvSpPr>
          <p:spPr>
            <a:xfrm>
              <a:off x="8357878" y="356680"/>
              <a:ext cx="1898720" cy="2658209"/>
            </a:xfrm>
            <a:prstGeom prst="rect">
              <a:avLst/>
            </a:prstGeom>
            <a:solidFill>
              <a:schemeClr val="lt1">
                <a:alpha val="89803"/>
              </a:schemeClr>
            </a:solidFill>
            <a:ln cap="flat" cmpd="sng" w="12700">
              <a:solidFill>
                <a:srgbClr val="CCD3EA">
                  <a:alpha val="89803"/>
                </a:srgbClr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" name="Google Shape;179;p5"/>
            <p:cNvSpPr txBox="1"/>
            <p:nvPr/>
          </p:nvSpPr>
          <p:spPr>
            <a:xfrm>
              <a:off x="8357881" y="1222195"/>
              <a:ext cx="1898700" cy="17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30200" lIns="148025" spcFirstLastPara="1" rIns="148025" wrap="square" tIns="3302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Times New Roman"/>
                <a:buNone/>
              </a:pPr>
              <a:r>
                <a:rPr b="1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Response</a:t>
              </a:r>
              <a:endParaRPr b="1" sz="2100">
                <a:solidFill>
                  <a:schemeClr val="dk1"/>
                </a:solidFill>
              </a:endParaRPr>
            </a:p>
            <a:p>
              <a:pPr indent="-190500" lvl="1" marL="171450" marR="0" rtl="0" algn="l">
                <a:lnSpc>
                  <a:spcPct val="90000"/>
                </a:lnSpc>
                <a:spcBef>
                  <a:spcPts val="630"/>
                </a:spcBef>
                <a:spcAft>
                  <a:spcPts val="0"/>
                </a:spcAft>
                <a:buClr>
                  <a:schemeClr val="dk1"/>
                </a:buClr>
                <a:buSzPts val="2100"/>
                <a:buFont typeface="Times New Roman"/>
                <a:buChar char="•"/>
              </a:pPr>
              <a:r>
                <a:rPr b="0" i="0" lang="en-IN" sz="21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Receiver Responds</a:t>
              </a:r>
              <a:endParaRPr sz="2100">
                <a:solidFill>
                  <a:schemeClr val="dk1"/>
                </a:solidFill>
              </a:endParaRPr>
            </a:p>
          </p:txBody>
        </p:sp>
        <p:sp>
          <p:nvSpPr>
            <p:cNvPr id="180" name="Google Shape;180;p5"/>
            <p:cNvSpPr/>
            <p:nvPr/>
          </p:nvSpPr>
          <p:spPr>
            <a:xfrm>
              <a:off x="9065308" y="820196"/>
              <a:ext cx="483860" cy="402072"/>
            </a:xfrm>
            <a:prstGeom prst="ellipse">
              <a:avLst/>
            </a:prstGeom>
            <a:solidFill>
              <a:schemeClr val="dk1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5"/>
            <p:cNvSpPr txBox="1"/>
            <p:nvPr/>
          </p:nvSpPr>
          <p:spPr>
            <a:xfrm>
              <a:off x="9136168" y="879078"/>
              <a:ext cx="342140" cy="2843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62150" spcFirstLastPara="1" rIns="6215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rPr b="0" i="0" lang="en-IN" sz="1800" u="none" cap="none" strike="noStrik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5</a:t>
              </a:r>
              <a:endParaRPr/>
            </a:p>
          </p:txBody>
        </p:sp>
        <p:sp>
          <p:nvSpPr>
            <p:cNvPr id="182" name="Google Shape;182;p5"/>
            <p:cNvSpPr/>
            <p:nvPr/>
          </p:nvSpPr>
          <p:spPr>
            <a:xfrm>
              <a:off x="8357878" y="3014818"/>
              <a:ext cx="1898720" cy="72"/>
            </a:xfrm>
            <a:prstGeom prst="rect">
              <a:avLst/>
            </a:prstGeom>
            <a:solidFill>
              <a:srgbClr val="4372C3"/>
            </a:solidFill>
            <a:ln cap="flat" cmpd="sng" w="12700">
              <a:solidFill>
                <a:srgbClr val="4372C3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7"/>
          <p:cNvSpPr/>
          <p:nvPr/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7"/>
          <p:cNvSpPr/>
          <p:nvPr/>
        </p:nvSpPr>
        <p:spPr>
          <a:xfrm rot="10800000">
            <a:off x="0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7"/>
          <p:cNvSpPr/>
          <p:nvPr/>
        </p:nvSpPr>
        <p:spPr>
          <a:xfrm rot="2700000">
            <a:off x="10739327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7"/>
          <p:cNvSpPr/>
          <p:nvPr/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7"/>
          <p:cNvSpPr/>
          <p:nvPr/>
        </p:nvSpPr>
        <p:spPr>
          <a:xfrm>
            <a:off x="8115423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7"/>
          <p:cNvSpPr/>
          <p:nvPr/>
        </p:nvSpPr>
        <p:spPr>
          <a:xfrm>
            <a:off x="9167297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5" name="Google Shape;195;p7"/>
          <p:cNvGrpSpPr/>
          <p:nvPr/>
        </p:nvGrpSpPr>
        <p:grpSpPr>
          <a:xfrm>
            <a:off x="2755021" y="722878"/>
            <a:ext cx="6486671" cy="5392621"/>
            <a:chOff x="2236547" y="3211"/>
            <a:chExt cx="6486671" cy="5392621"/>
          </a:xfrm>
        </p:grpSpPr>
        <p:sp>
          <p:nvSpPr>
            <p:cNvPr id="196" name="Google Shape;196;p7"/>
            <p:cNvSpPr/>
            <p:nvPr/>
          </p:nvSpPr>
          <p:spPr>
            <a:xfrm>
              <a:off x="2236547" y="1030950"/>
              <a:ext cx="2130583" cy="595790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7"/>
            <p:cNvSpPr txBox="1"/>
            <p:nvPr/>
          </p:nvSpPr>
          <p:spPr>
            <a:xfrm>
              <a:off x="2253997" y="1048400"/>
              <a:ext cx="2095683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Sender</a:t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 rot="-3356232">
              <a:off x="4185218" y="976333"/>
              <a:ext cx="827063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 txBox="1"/>
            <p:nvPr/>
          </p:nvSpPr>
          <p:spPr>
            <a:xfrm rot="-3356232">
              <a:off x="4578073" y="965590"/>
              <a:ext cx="41353" cy="413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4830369" y="345791"/>
              <a:ext cx="1272287" cy="595790"/>
            </a:xfrm>
            <a:prstGeom prst="roundRect">
              <a:avLst>
                <a:gd fmla="val 10000" name="adj"/>
              </a:avLst>
            </a:prstGeom>
            <a:solidFill>
              <a:srgbClr val="FFD96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7"/>
            <p:cNvSpPr txBox="1"/>
            <p:nvPr/>
          </p:nvSpPr>
          <p:spPr>
            <a:xfrm>
              <a:off x="4847819" y="363241"/>
              <a:ext cx="1237387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Speaking</a:t>
              </a:r>
              <a:endParaRPr/>
            </a:p>
          </p:txBody>
        </p:sp>
        <p:sp>
          <p:nvSpPr>
            <p:cNvPr id="202" name="Google Shape;202;p7"/>
            <p:cNvSpPr/>
            <p:nvPr/>
          </p:nvSpPr>
          <p:spPr>
            <a:xfrm rot="-2369784">
              <a:off x="6041163" y="462464"/>
              <a:ext cx="538622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7"/>
            <p:cNvSpPr txBox="1"/>
            <p:nvPr/>
          </p:nvSpPr>
          <p:spPr>
            <a:xfrm rot="-2369784">
              <a:off x="6297009" y="458931"/>
              <a:ext cx="26931" cy="26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7"/>
            <p:cNvSpPr/>
            <p:nvPr/>
          </p:nvSpPr>
          <p:spPr>
            <a:xfrm>
              <a:off x="6518292" y="3211"/>
              <a:ext cx="2069407" cy="595790"/>
            </a:xfrm>
            <a:prstGeom prst="roundRect">
              <a:avLst>
                <a:gd fmla="val 10000" name="adj"/>
              </a:avLst>
            </a:prstGeom>
            <a:solidFill>
              <a:srgbClr val="FFD96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7"/>
            <p:cNvSpPr txBox="1"/>
            <p:nvPr/>
          </p:nvSpPr>
          <p:spPr>
            <a:xfrm>
              <a:off x="6535742" y="20661"/>
              <a:ext cx="2034507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Selection</a:t>
              </a:r>
              <a:endParaRPr/>
            </a:p>
          </p:txBody>
        </p:sp>
        <p:sp>
          <p:nvSpPr>
            <p:cNvPr id="206" name="Google Shape;206;p7"/>
            <p:cNvSpPr/>
            <p:nvPr/>
          </p:nvSpPr>
          <p:spPr>
            <a:xfrm rot="2369784">
              <a:off x="6041163" y="805043"/>
              <a:ext cx="538622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" name="Google Shape;207;p7"/>
            <p:cNvSpPr txBox="1"/>
            <p:nvPr/>
          </p:nvSpPr>
          <p:spPr>
            <a:xfrm rot="2369784">
              <a:off x="6297009" y="801511"/>
              <a:ext cx="26931" cy="269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7"/>
            <p:cNvSpPr/>
            <p:nvPr/>
          </p:nvSpPr>
          <p:spPr>
            <a:xfrm>
              <a:off x="6518292" y="688371"/>
              <a:ext cx="2130535" cy="595790"/>
            </a:xfrm>
            <a:prstGeom prst="roundRect">
              <a:avLst>
                <a:gd fmla="val 10000" name="adj"/>
              </a:avLst>
            </a:prstGeom>
            <a:solidFill>
              <a:srgbClr val="FFD96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" name="Google Shape;209;p7"/>
            <p:cNvSpPr txBox="1"/>
            <p:nvPr/>
          </p:nvSpPr>
          <p:spPr>
            <a:xfrm>
              <a:off x="6535742" y="705821"/>
              <a:ext cx="2095635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Execution</a:t>
              </a:r>
              <a:endParaRPr/>
            </a:p>
          </p:txBody>
        </p:sp>
        <p:sp>
          <p:nvSpPr>
            <p:cNvPr id="210" name="Google Shape;210;p7"/>
            <p:cNvSpPr/>
            <p:nvPr/>
          </p:nvSpPr>
          <p:spPr>
            <a:xfrm rot="3310531">
              <a:off x="4188127" y="1661493"/>
              <a:ext cx="834638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" name="Google Shape;211;p7"/>
            <p:cNvSpPr txBox="1"/>
            <p:nvPr/>
          </p:nvSpPr>
          <p:spPr>
            <a:xfrm rot="3310531">
              <a:off x="4584580" y="1650560"/>
              <a:ext cx="41731" cy="4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7"/>
            <p:cNvSpPr/>
            <p:nvPr/>
          </p:nvSpPr>
          <p:spPr>
            <a:xfrm>
              <a:off x="4843763" y="1716110"/>
              <a:ext cx="1272287" cy="595790"/>
            </a:xfrm>
            <a:prstGeom prst="roundRect">
              <a:avLst>
                <a:gd fmla="val 10000" name="adj"/>
              </a:avLst>
            </a:prstGeom>
            <a:solidFill>
              <a:srgbClr val="8DA9D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" name="Google Shape;213;p7"/>
            <p:cNvSpPr txBox="1"/>
            <p:nvPr/>
          </p:nvSpPr>
          <p:spPr>
            <a:xfrm>
              <a:off x="4861213" y="1733560"/>
              <a:ext cx="1237387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Writing</a:t>
              </a:r>
              <a:endParaRPr/>
            </a:p>
          </p:txBody>
        </p:sp>
        <p:sp>
          <p:nvSpPr>
            <p:cNvPr id="214" name="Google Shape;214;p7"/>
            <p:cNvSpPr/>
            <p:nvPr/>
          </p:nvSpPr>
          <p:spPr>
            <a:xfrm rot="-2142401">
              <a:off x="6060879" y="1832782"/>
              <a:ext cx="586974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7"/>
            <p:cNvSpPr txBox="1"/>
            <p:nvPr/>
          </p:nvSpPr>
          <p:spPr>
            <a:xfrm rot="-2142401">
              <a:off x="6339692" y="1828041"/>
              <a:ext cx="29348" cy="293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7"/>
            <p:cNvSpPr/>
            <p:nvPr/>
          </p:nvSpPr>
          <p:spPr>
            <a:xfrm>
              <a:off x="6592683" y="1373530"/>
              <a:ext cx="2110195" cy="595790"/>
            </a:xfrm>
            <a:prstGeom prst="roundRect">
              <a:avLst>
                <a:gd fmla="val 10000" name="adj"/>
              </a:avLst>
            </a:prstGeom>
            <a:solidFill>
              <a:srgbClr val="8DA9D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" name="Google Shape;217;p7"/>
            <p:cNvSpPr txBox="1"/>
            <p:nvPr/>
          </p:nvSpPr>
          <p:spPr>
            <a:xfrm>
              <a:off x="6610133" y="1390980"/>
              <a:ext cx="2075295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Selection</a:t>
              </a:r>
              <a:endParaRPr/>
            </a:p>
          </p:txBody>
        </p:sp>
        <p:sp>
          <p:nvSpPr>
            <p:cNvPr id="218" name="Google Shape;218;p7"/>
            <p:cNvSpPr/>
            <p:nvPr/>
          </p:nvSpPr>
          <p:spPr>
            <a:xfrm rot="2145799">
              <a:off x="6060670" y="2175720"/>
              <a:ext cx="587392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7"/>
            <p:cNvSpPr txBox="1"/>
            <p:nvPr/>
          </p:nvSpPr>
          <p:spPr>
            <a:xfrm rot="2145799">
              <a:off x="6339681" y="2170968"/>
              <a:ext cx="29369" cy="293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0" name="Google Shape;220;p7"/>
            <p:cNvSpPr/>
            <p:nvPr/>
          </p:nvSpPr>
          <p:spPr>
            <a:xfrm>
              <a:off x="6592683" y="2059404"/>
              <a:ext cx="2130535" cy="595790"/>
            </a:xfrm>
            <a:prstGeom prst="roundRect">
              <a:avLst>
                <a:gd fmla="val 10000" name="adj"/>
              </a:avLst>
            </a:prstGeom>
            <a:solidFill>
              <a:srgbClr val="8DA9DB"/>
            </a:solidFill>
            <a:ln cap="flat" cmpd="sng" w="9525">
              <a:solidFill>
                <a:srgbClr val="8DA9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" name="Google Shape;221;p7"/>
            <p:cNvSpPr txBox="1"/>
            <p:nvPr/>
          </p:nvSpPr>
          <p:spPr>
            <a:xfrm>
              <a:off x="6610133" y="2076854"/>
              <a:ext cx="2095635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Execution</a:t>
              </a:r>
              <a:endParaRPr/>
            </a:p>
          </p:txBody>
        </p:sp>
        <p:sp>
          <p:nvSpPr>
            <p:cNvPr id="222" name="Google Shape;222;p7"/>
            <p:cNvSpPr/>
            <p:nvPr/>
          </p:nvSpPr>
          <p:spPr>
            <a:xfrm>
              <a:off x="2236547" y="3771588"/>
              <a:ext cx="1630274" cy="595790"/>
            </a:xfrm>
            <a:prstGeom prst="roundRect">
              <a:avLst>
                <a:gd fmla="val 10000" name="adj"/>
              </a:avLst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7"/>
            <p:cNvSpPr txBox="1"/>
            <p:nvPr/>
          </p:nvSpPr>
          <p:spPr>
            <a:xfrm>
              <a:off x="2253997" y="3789038"/>
              <a:ext cx="1595374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Receiver</a:t>
              </a:r>
              <a:endParaRPr/>
            </a:p>
          </p:txBody>
        </p:sp>
        <p:sp>
          <p:nvSpPr>
            <p:cNvPr id="224" name="Google Shape;224;p7"/>
            <p:cNvSpPr/>
            <p:nvPr/>
          </p:nvSpPr>
          <p:spPr>
            <a:xfrm rot="-3310531">
              <a:off x="3687818" y="3716971"/>
              <a:ext cx="834638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" name="Google Shape;225;p7"/>
            <p:cNvSpPr txBox="1"/>
            <p:nvPr/>
          </p:nvSpPr>
          <p:spPr>
            <a:xfrm rot="-3310531">
              <a:off x="4084271" y="3706038"/>
              <a:ext cx="41731" cy="41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7"/>
            <p:cNvSpPr/>
            <p:nvPr/>
          </p:nvSpPr>
          <p:spPr>
            <a:xfrm>
              <a:off x="4343453" y="3086428"/>
              <a:ext cx="1272287" cy="595790"/>
            </a:xfrm>
            <a:prstGeom prst="roundRect">
              <a:avLst>
                <a:gd fmla="val 10000" name="adj"/>
              </a:avLst>
            </a:prstGeom>
            <a:solidFill>
              <a:srgbClr val="FFD96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" name="Google Shape;227;p7"/>
            <p:cNvSpPr txBox="1"/>
            <p:nvPr/>
          </p:nvSpPr>
          <p:spPr>
            <a:xfrm>
              <a:off x="4360903" y="3103878"/>
              <a:ext cx="1237387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Listening</a:t>
              </a:r>
              <a:endParaRPr/>
            </a:p>
          </p:txBody>
        </p:sp>
        <p:sp>
          <p:nvSpPr>
            <p:cNvPr id="228" name="Google Shape;228;p7"/>
            <p:cNvSpPr/>
            <p:nvPr/>
          </p:nvSpPr>
          <p:spPr>
            <a:xfrm rot="-2189044">
              <a:off x="5559284" y="3203101"/>
              <a:ext cx="576152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" name="Google Shape;229;p7"/>
            <p:cNvSpPr txBox="1"/>
            <p:nvPr/>
          </p:nvSpPr>
          <p:spPr>
            <a:xfrm rot="-2189044">
              <a:off x="5832956" y="3198630"/>
              <a:ext cx="28807" cy="28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7"/>
            <p:cNvSpPr/>
            <p:nvPr/>
          </p:nvSpPr>
          <p:spPr>
            <a:xfrm>
              <a:off x="6078980" y="2743849"/>
              <a:ext cx="2158585" cy="595790"/>
            </a:xfrm>
            <a:prstGeom prst="roundRect">
              <a:avLst>
                <a:gd fmla="val 10000" name="adj"/>
              </a:avLst>
            </a:prstGeom>
            <a:solidFill>
              <a:srgbClr val="FFD96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7"/>
            <p:cNvSpPr txBox="1"/>
            <p:nvPr/>
          </p:nvSpPr>
          <p:spPr>
            <a:xfrm>
              <a:off x="6096430" y="2761299"/>
              <a:ext cx="2123685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Identification</a:t>
              </a:r>
              <a:endParaRPr/>
            </a:p>
          </p:txBody>
        </p:sp>
        <p:sp>
          <p:nvSpPr>
            <p:cNvPr id="232" name="Google Shape;232;p7"/>
            <p:cNvSpPr/>
            <p:nvPr/>
          </p:nvSpPr>
          <p:spPr>
            <a:xfrm rot="2189044">
              <a:off x="5559284" y="3545681"/>
              <a:ext cx="576152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7"/>
            <p:cNvSpPr txBox="1"/>
            <p:nvPr/>
          </p:nvSpPr>
          <p:spPr>
            <a:xfrm rot="2189044">
              <a:off x="5832956" y="3541210"/>
              <a:ext cx="28807" cy="288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7"/>
            <p:cNvSpPr/>
            <p:nvPr/>
          </p:nvSpPr>
          <p:spPr>
            <a:xfrm>
              <a:off x="6078980" y="3429008"/>
              <a:ext cx="2189626" cy="595790"/>
            </a:xfrm>
            <a:prstGeom prst="roundRect">
              <a:avLst>
                <a:gd fmla="val 10000" name="adj"/>
              </a:avLst>
            </a:prstGeom>
            <a:solidFill>
              <a:srgbClr val="FFD966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" name="Google Shape;235;p7"/>
            <p:cNvSpPr txBox="1"/>
            <p:nvPr/>
          </p:nvSpPr>
          <p:spPr>
            <a:xfrm>
              <a:off x="6096430" y="3446458"/>
              <a:ext cx="2154726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Interpretation</a:t>
              </a:r>
              <a:endParaRPr/>
            </a:p>
          </p:txBody>
        </p:sp>
        <p:sp>
          <p:nvSpPr>
            <p:cNvPr id="236" name="Google Shape;236;p7"/>
            <p:cNvSpPr/>
            <p:nvPr/>
          </p:nvSpPr>
          <p:spPr>
            <a:xfrm rot="3312211">
              <a:off x="3687524" y="4402487"/>
              <a:ext cx="835225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7"/>
            <p:cNvSpPr txBox="1"/>
            <p:nvPr/>
          </p:nvSpPr>
          <p:spPr>
            <a:xfrm rot="3312211">
              <a:off x="4084256" y="4391540"/>
              <a:ext cx="41761" cy="417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7"/>
            <p:cNvSpPr/>
            <p:nvPr/>
          </p:nvSpPr>
          <p:spPr>
            <a:xfrm>
              <a:off x="4343453" y="4457462"/>
              <a:ext cx="1272287" cy="595790"/>
            </a:xfrm>
            <a:prstGeom prst="roundRect">
              <a:avLst>
                <a:gd fmla="val 10000" name="adj"/>
              </a:avLst>
            </a:prstGeom>
            <a:solidFill>
              <a:srgbClr val="8DA9D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" name="Google Shape;239;p7"/>
            <p:cNvSpPr txBox="1"/>
            <p:nvPr/>
          </p:nvSpPr>
          <p:spPr>
            <a:xfrm>
              <a:off x="4360903" y="4474912"/>
              <a:ext cx="1237387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Reading</a:t>
              </a:r>
              <a:endParaRPr/>
            </a:p>
          </p:txBody>
        </p:sp>
        <p:sp>
          <p:nvSpPr>
            <p:cNvPr id="240" name="Google Shape;240;p7"/>
            <p:cNvSpPr/>
            <p:nvPr/>
          </p:nvSpPr>
          <p:spPr>
            <a:xfrm rot="-2201197">
              <a:off x="5560919" y="4580078"/>
              <a:ext cx="553519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7"/>
            <p:cNvSpPr txBox="1"/>
            <p:nvPr/>
          </p:nvSpPr>
          <p:spPr>
            <a:xfrm rot="-2201197">
              <a:off x="5823841" y="4576173"/>
              <a:ext cx="27675" cy="27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7"/>
            <p:cNvSpPr/>
            <p:nvPr/>
          </p:nvSpPr>
          <p:spPr>
            <a:xfrm>
              <a:off x="6059617" y="4126768"/>
              <a:ext cx="2218974" cy="595790"/>
            </a:xfrm>
            <a:prstGeom prst="roundRect">
              <a:avLst>
                <a:gd fmla="val 10000" name="adj"/>
              </a:avLst>
            </a:prstGeom>
            <a:solidFill>
              <a:srgbClr val="8DA9D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7"/>
            <p:cNvSpPr txBox="1"/>
            <p:nvPr/>
          </p:nvSpPr>
          <p:spPr>
            <a:xfrm>
              <a:off x="6077067" y="4144218"/>
              <a:ext cx="2184074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Identification</a:t>
              </a:r>
              <a:endParaRPr/>
            </a:p>
          </p:txBody>
        </p:sp>
        <p:sp>
          <p:nvSpPr>
            <p:cNvPr id="244" name="Google Shape;244;p7"/>
            <p:cNvSpPr/>
            <p:nvPr/>
          </p:nvSpPr>
          <p:spPr>
            <a:xfrm rot="2142401">
              <a:off x="5560570" y="4916714"/>
              <a:ext cx="586974" cy="19865"/>
            </a:xfrm>
            <a:custGeom>
              <a:rect b="b" l="l" r="r" t="t"/>
              <a:pathLst>
                <a:path extrusionOk="0" h="120000" w="120000">
                  <a:moveTo>
                    <a:pt x="0" y="59997"/>
                  </a:moveTo>
                  <a:lnTo>
                    <a:pt x="120000" y="59997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7"/>
            <p:cNvSpPr txBox="1"/>
            <p:nvPr/>
          </p:nvSpPr>
          <p:spPr>
            <a:xfrm rot="2142401">
              <a:off x="5839383" y="4911973"/>
              <a:ext cx="29348" cy="293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7"/>
            <p:cNvSpPr/>
            <p:nvPr/>
          </p:nvSpPr>
          <p:spPr>
            <a:xfrm>
              <a:off x="6092373" y="4800042"/>
              <a:ext cx="2203734" cy="595790"/>
            </a:xfrm>
            <a:prstGeom prst="roundRect">
              <a:avLst>
                <a:gd fmla="val 10000" name="adj"/>
              </a:avLst>
            </a:prstGeom>
            <a:solidFill>
              <a:srgbClr val="8DA9DB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" name="Google Shape;247;p7"/>
            <p:cNvSpPr txBox="1"/>
            <p:nvPr/>
          </p:nvSpPr>
          <p:spPr>
            <a:xfrm>
              <a:off x="6109823" y="4817492"/>
              <a:ext cx="2168834" cy="5608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2700" lIns="12700" spcFirstLastPara="1" rIns="12700" wrap="square" tIns="12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Interpretation</a:t>
              </a:r>
              <a:endParaRPr/>
            </a:p>
          </p:txBody>
        </p:sp>
      </p:grpSp>
      <p:sp>
        <p:nvSpPr>
          <p:cNvPr id="248" name="Google Shape;248;p7"/>
          <p:cNvSpPr txBox="1"/>
          <p:nvPr/>
        </p:nvSpPr>
        <p:spPr>
          <a:xfrm>
            <a:off x="514350" y="371475"/>
            <a:ext cx="425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6"/>
          <p:cNvSpPr/>
          <p:nvPr/>
        </p:nvSpPr>
        <p:spPr>
          <a:xfrm rot="2700000">
            <a:off x="415435" y="655140"/>
            <a:ext cx="687472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6"/>
          <p:cNvSpPr/>
          <p:nvPr/>
        </p:nvSpPr>
        <p:spPr>
          <a:xfrm rot="10800000">
            <a:off x="0" y="0"/>
            <a:ext cx="2835357" cy="1480837"/>
          </a:xfrm>
          <a:custGeom>
            <a:rect b="b" l="l" r="r" t="t"/>
            <a:pathLst>
              <a:path extrusionOk="0" h="1480837" w="283535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6"/>
          <p:cNvSpPr/>
          <p:nvPr/>
        </p:nvSpPr>
        <p:spPr>
          <a:xfrm rot="2700000">
            <a:off x="10739327" y="-253670"/>
            <a:ext cx="1827638" cy="1376989"/>
          </a:xfrm>
          <a:custGeom>
            <a:rect b="b" l="l" r="r" t="t"/>
            <a:pathLst>
              <a:path extrusionOk="0" h="1376989" w="1827638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 rot="2700000">
            <a:off x="10653800" y="422146"/>
            <a:ext cx="645368" cy="645368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8115423" y="6115501"/>
            <a:ext cx="1494513" cy="742499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9167297" y="6453143"/>
            <a:ext cx="814903" cy="404857"/>
          </a:xfrm>
          <a:prstGeom prst="triangle">
            <a:avLst>
              <a:gd fmla="val 50000" name="adj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" name="Google Shape;260;p6"/>
          <p:cNvGrpSpPr/>
          <p:nvPr/>
        </p:nvGrpSpPr>
        <p:grpSpPr>
          <a:xfrm>
            <a:off x="2747035" y="268677"/>
            <a:ext cx="6752324" cy="6236441"/>
            <a:chOff x="2610848" y="64396"/>
            <a:chExt cx="6752324" cy="6236441"/>
          </a:xfrm>
        </p:grpSpPr>
        <p:sp>
          <p:nvSpPr>
            <p:cNvPr id="261" name="Google Shape;261;p6"/>
            <p:cNvSpPr/>
            <p:nvPr/>
          </p:nvSpPr>
          <p:spPr>
            <a:xfrm>
              <a:off x="4796836" y="2356950"/>
              <a:ext cx="2159189" cy="190957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6"/>
            <p:cNvSpPr txBox="1"/>
            <p:nvPr/>
          </p:nvSpPr>
          <p:spPr>
            <a:xfrm>
              <a:off x="4890054" y="2450168"/>
              <a:ext cx="1972753" cy="17231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1" lang="en-IN" sz="33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Barriers</a:t>
              </a:r>
              <a:endParaRPr b="1" sz="2900"/>
            </a:p>
          </p:txBody>
        </p:sp>
        <p:sp>
          <p:nvSpPr>
            <p:cNvPr id="263" name="Google Shape;263;p6"/>
            <p:cNvSpPr/>
            <p:nvPr/>
          </p:nvSpPr>
          <p:spPr>
            <a:xfrm rot="-5400000">
              <a:off x="5369860" y="1850379"/>
              <a:ext cx="1013141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64" name="Google Shape;264;p6"/>
            <p:cNvSpPr/>
            <p:nvPr/>
          </p:nvSpPr>
          <p:spPr>
            <a:xfrm>
              <a:off x="4995510" y="64396"/>
              <a:ext cx="1761839" cy="1279412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" name="Google Shape;265;p6"/>
            <p:cNvSpPr txBox="1"/>
            <p:nvPr/>
          </p:nvSpPr>
          <p:spPr>
            <a:xfrm>
              <a:off x="5057966" y="126852"/>
              <a:ext cx="1636927" cy="11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I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Improper Encoding</a:t>
              </a:r>
              <a:endParaRPr sz="2000"/>
            </a:p>
          </p:txBody>
        </p:sp>
        <p:sp>
          <p:nvSpPr>
            <p:cNvPr id="266" name="Google Shape;266;p6"/>
            <p:cNvSpPr/>
            <p:nvPr/>
          </p:nvSpPr>
          <p:spPr>
            <a:xfrm rot="-2314286">
              <a:off x="6934124" y="2388198"/>
              <a:ext cx="20077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67" name="Google Shape;267;p6"/>
            <p:cNvSpPr/>
            <p:nvPr/>
          </p:nvSpPr>
          <p:spPr>
            <a:xfrm>
              <a:off x="6964736" y="1046197"/>
              <a:ext cx="1900848" cy="1279412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6"/>
            <p:cNvSpPr txBox="1"/>
            <p:nvPr/>
          </p:nvSpPr>
          <p:spPr>
            <a:xfrm>
              <a:off x="7027192" y="1108653"/>
              <a:ext cx="1775936" cy="11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Bypassing</a:t>
              </a:r>
              <a:endParaRPr sz="2000"/>
            </a:p>
          </p:txBody>
        </p:sp>
        <p:sp>
          <p:nvSpPr>
            <p:cNvPr id="269" name="Google Shape;269;p6"/>
            <p:cNvSpPr/>
            <p:nvPr/>
          </p:nvSpPr>
          <p:spPr>
            <a:xfrm rot="771429">
              <a:off x="6949362" y="3617280"/>
              <a:ext cx="531497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70" name="Google Shape;270;p6"/>
            <p:cNvSpPr/>
            <p:nvPr/>
          </p:nvSpPr>
          <p:spPr>
            <a:xfrm>
              <a:off x="7474197" y="3252282"/>
              <a:ext cx="1888975" cy="1279412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6"/>
            <p:cNvSpPr txBox="1"/>
            <p:nvPr/>
          </p:nvSpPr>
          <p:spPr>
            <a:xfrm>
              <a:off x="7536653" y="3314738"/>
              <a:ext cx="1764063" cy="11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I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Frame of Reference</a:t>
              </a:r>
              <a:endParaRPr sz="2000"/>
            </a:p>
          </p:txBody>
        </p:sp>
        <p:sp>
          <p:nvSpPr>
            <p:cNvPr id="272" name="Google Shape;272;p6"/>
            <p:cNvSpPr/>
            <p:nvPr/>
          </p:nvSpPr>
          <p:spPr>
            <a:xfrm rot="3857143">
              <a:off x="6099062" y="4643972"/>
              <a:ext cx="83788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73" name="Google Shape;273;p6"/>
            <p:cNvSpPr/>
            <p:nvPr/>
          </p:nvSpPr>
          <p:spPr>
            <a:xfrm>
              <a:off x="6284511" y="5021425"/>
              <a:ext cx="1446656" cy="1279412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6"/>
            <p:cNvSpPr txBox="1"/>
            <p:nvPr/>
          </p:nvSpPr>
          <p:spPr>
            <a:xfrm>
              <a:off x="6346967" y="5083881"/>
              <a:ext cx="1321744" cy="11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Poor Retention</a:t>
              </a:r>
              <a:endParaRPr sz="2000"/>
            </a:p>
          </p:txBody>
        </p:sp>
        <p:sp>
          <p:nvSpPr>
            <p:cNvPr id="275" name="Google Shape;275;p6"/>
            <p:cNvSpPr/>
            <p:nvPr/>
          </p:nvSpPr>
          <p:spPr>
            <a:xfrm rot="6942857">
              <a:off x="4815918" y="4643972"/>
              <a:ext cx="83788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76" name="Google Shape;276;p6"/>
            <p:cNvSpPr/>
            <p:nvPr/>
          </p:nvSpPr>
          <p:spPr>
            <a:xfrm>
              <a:off x="3829813" y="5021425"/>
              <a:ext cx="1830416" cy="1279412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6"/>
            <p:cNvSpPr txBox="1"/>
            <p:nvPr/>
          </p:nvSpPr>
          <p:spPr>
            <a:xfrm>
              <a:off x="3892269" y="5083881"/>
              <a:ext cx="1705504" cy="11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Physical Factors</a:t>
              </a:r>
              <a:endParaRPr sz="2000"/>
            </a:p>
          </p:txBody>
        </p:sp>
        <p:sp>
          <p:nvSpPr>
            <p:cNvPr id="278" name="Google Shape;278;p6"/>
            <p:cNvSpPr/>
            <p:nvPr/>
          </p:nvSpPr>
          <p:spPr>
            <a:xfrm rot="10028571">
              <a:off x="4047998" y="3642519"/>
              <a:ext cx="758343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79" name="Google Shape;279;p6"/>
            <p:cNvSpPr/>
            <p:nvPr/>
          </p:nvSpPr>
          <p:spPr>
            <a:xfrm>
              <a:off x="2610848" y="3252282"/>
              <a:ext cx="1446656" cy="1279412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6"/>
            <p:cNvSpPr txBox="1"/>
            <p:nvPr/>
          </p:nvSpPr>
          <p:spPr>
            <a:xfrm>
              <a:off x="2673314" y="3314744"/>
              <a:ext cx="1446600" cy="115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lang="en-I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Intercultural </a:t>
              </a: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Semantics</a:t>
              </a:r>
              <a:endParaRPr sz="2000"/>
            </a:p>
          </p:txBody>
        </p:sp>
        <p:sp>
          <p:nvSpPr>
            <p:cNvPr id="281" name="Google Shape;281;p6"/>
            <p:cNvSpPr/>
            <p:nvPr/>
          </p:nvSpPr>
          <p:spPr>
            <a:xfrm rot="-8485714">
              <a:off x="4617966" y="2388198"/>
              <a:ext cx="200770" cy="0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sp>
        <p:sp>
          <p:nvSpPr>
            <p:cNvPr id="282" name="Google Shape;282;p6"/>
            <p:cNvSpPr/>
            <p:nvPr/>
          </p:nvSpPr>
          <p:spPr>
            <a:xfrm>
              <a:off x="2749350" y="1046197"/>
              <a:ext cx="2176702" cy="1279412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6"/>
            <p:cNvSpPr txBox="1"/>
            <p:nvPr/>
          </p:nvSpPr>
          <p:spPr>
            <a:xfrm>
              <a:off x="2811806" y="1108653"/>
              <a:ext cx="2051790" cy="1154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45700" spcFirstLastPara="1" rIns="45700" wrap="square" tIns="457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rPr b="0" i="0" lang="en-IN" sz="20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</a:t>
              </a:r>
              <a:r>
                <a:rPr lang="en-IN" sz="20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sychological Interference</a:t>
              </a:r>
              <a:endParaRPr sz="2000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8"/>
          <p:cNvSpPr txBox="1"/>
          <p:nvPr>
            <p:ph type="title"/>
          </p:nvPr>
        </p:nvSpPr>
        <p:spPr>
          <a:xfrm>
            <a:off x="1140643" y="306371"/>
            <a:ext cx="9502219" cy="7494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Times New Roman"/>
              <a:buNone/>
            </a:pPr>
            <a:r>
              <a:rPr lang="en-IN" sz="2800">
                <a:solidFill>
                  <a:schemeClr val="l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Non-verbal Communication</a:t>
            </a:r>
            <a:endParaRPr/>
          </a:p>
        </p:txBody>
      </p:sp>
      <p:grpSp>
        <p:nvGrpSpPr>
          <p:cNvPr id="289" name="Google Shape;289;p8"/>
          <p:cNvGrpSpPr/>
          <p:nvPr/>
        </p:nvGrpSpPr>
        <p:grpSpPr>
          <a:xfrm>
            <a:off x="1143206" y="1365403"/>
            <a:ext cx="10628307" cy="5186226"/>
            <a:chOff x="2563" y="0"/>
            <a:chExt cx="10628307" cy="5186226"/>
          </a:xfrm>
        </p:grpSpPr>
        <p:sp>
          <p:nvSpPr>
            <p:cNvPr id="290" name="Google Shape;290;p8"/>
            <p:cNvSpPr/>
            <p:nvPr/>
          </p:nvSpPr>
          <p:spPr>
            <a:xfrm>
              <a:off x="2563" y="0"/>
              <a:ext cx="2515575" cy="5186226"/>
            </a:xfrm>
            <a:prstGeom prst="roundRect">
              <a:avLst>
                <a:gd fmla="val 10000" name="adj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8"/>
            <p:cNvSpPr txBox="1"/>
            <p:nvPr/>
          </p:nvSpPr>
          <p:spPr>
            <a:xfrm>
              <a:off x="2563" y="0"/>
              <a:ext cx="2515575" cy="1555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Kinesics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292" name="Google Shape;292;p8"/>
            <p:cNvSpPr/>
            <p:nvPr/>
          </p:nvSpPr>
          <p:spPr>
            <a:xfrm>
              <a:off x="254121" y="1556310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" name="Google Shape;293;p8"/>
            <p:cNvSpPr txBox="1"/>
            <p:nvPr/>
          </p:nvSpPr>
          <p:spPr>
            <a:xfrm>
              <a:off x="283963" y="1586152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Body language</a:t>
              </a:r>
              <a:endParaRPr/>
            </a:p>
          </p:txBody>
        </p:sp>
        <p:sp>
          <p:nvSpPr>
            <p:cNvPr id="294" name="Google Shape;294;p8"/>
            <p:cNvSpPr/>
            <p:nvPr/>
          </p:nvSpPr>
          <p:spPr>
            <a:xfrm>
              <a:off x="254121" y="2731948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8"/>
            <p:cNvSpPr txBox="1"/>
            <p:nvPr/>
          </p:nvSpPr>
          <p:spPr>
            <a:xfrm>
              <a:off x="283963" y="2761790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Facial expressions</a:t>
              </a:r>
              <a:endParaRPr/>
            </a:p>
          </p:txBody>
        </p:sp>
        <p:sp>
          <p:nvSpPr>
            <p:cNvPr id="296" name="Google Shape;296;p8"/>
            <p:cNvSpPr/>
            <p:nvPr/>
          </p:nvSpPr>
          <p:spPr>
            <a:xfrm>
              <a:off x="254121" y="3907585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8"/>
            <p:cNvSpPr txBox="1"/>
            <p:nvPr/>
          </p:nvSpPr>
          <p:spPr>
            <a:xfrm>
              <a:off x="283963" y="3937427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Eye contact</a:t>
              </a:r>
              <a:endParaRPr/>
            </a:p>
          </p:txBody>
        </p:sp>
        <p:sp>
          <p:nvSpPr>
            <p:cNvPr id="298" name="Google Shape;298;p8"/>
            <p:cNvSpPr/>
            <p:nvPr/>
          </p:nvSpPr>
          <p:spPr>
            <a:xfrm>
              <a:off x="2706807" y="0"/>
              <a:ext cx="2515575" cy="5186226"/>
            </a:xfrm>
            <a:prstGeom prst="roundRect">
              <a:avLst>
                <a:gd fmla="val 10000" name="adj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" name="Google Shape;299;p8"/>
            <p:cNvSpPr txBox="1"/>
            <p:nvPr/>
          </p:nvSpPr>
          <p:spPr>
            <a:xfrm>
              <a:off x="2706807" y="0"/>
              <a:ext cx="2515575" cy="1555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Paralinguistics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300" name="Google Shape;300;p8"/>
            <p:cNvSpPr/>
            <p:nvPr/>
          </p:nvSpPr>
          <p:spPr>
            <a:xfrm>
              <a:off x="2958365" y="1556121"/>
              <a:ext cx="2012460" cy="497920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8"/>
            <p:cNvSpPr txBox="1"/>
            <p:nvPr/>
          </p:nvSpPr>
          <p:spPr>
            <a:xfrm>
              <a:off x="2972949" y="1570705"/>
              <a:ext cx="1983292" cy="468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Rate of speech</a:t>
              </a:r>
              <a:endParaRPr/>
            </a:p>
          </p:txBody>
        </p:sp>
        <p:sp>
          <p:nvSpPr>
            <p:cNvPr id="302" name="Google Shape;302;p8"/>
            <p:cNvSpPr/>
            <p:nvPr/>
          </p:nvSpPr>
          <p:spPr>
            <a:xfrm>
              <a:off x="2958365" y="2130644"/>
              <a:ext cx="2012460" cy="497920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8"/>
            <p:cNvSpPr txBox="1"/>
            <p:nvPr/>
          </p:nvSpPr>
          <p:spPr>
            <a:xfrm>
              <a:off x="2972949" y="2145228"/>
              <a:ext cx="1983292" cy="468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Accent</a:t>
              </a:r>
              <a:endParaRPr/>
            </a:p>
          </p:txBody>
        </p:sp>
        <p:sp>
          <p:nvSpPr>
            <p:cNvPr id="304" name="Google Shape;304;p8"/>
            <p:cNvSpPr/>
            <p:nvPr/>
          </p:nvSpPr>
          <p:spPr>
            <a:xfrm>
              <a:off x="2958365" y="2705168"/>
              <a:ext cx="2012460" cy="497920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8"/>
            <p:cNvSpPr txBox="1"/>
            <p:nvPr/>
          </p:nvSpPr>
          <p:spPr>
            <a:xfrm>
              <a:off x="2972949" y="2719752"/>
              <a:ext cx="1983292" cy="468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Volume</a:t>
              </a:r>
              <a:endParaRPr/>
            </a:p>
          </p:txBody>
        </p:sp>
        <p:sp>
          <p:nvSpPr>
            <p:cNvPr id="306" name="Google Shape;306;p8"/>
            <p:cNvSpPr/>
            <p:nvPr/>
          </p:nvSpPr>
          <p:spPr>
            <a:xfrm>
              <a:off x="2958365" y="3279692"/>
              <a:ext cx="2012460" cy="497920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8"/>
            <p:cNvSpPr txBox="1"/>
            <p:nvPr/>
          </p:nvSpPr>
          <p:spPr>
            <a:xfrm>
              <a:off x="2972949" y="3294276"/>
              <a:ext cx="1983292" cy="468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Voice Modulation</a:t>
              </a:r>
              <a:endParaRPr/>
            </a:p>
          </p:txBody>
        </p:sp>
        <p:sp>
          <p:nvSpPr>
            <p:cNvPr id="308" name="Google Shape;308;p8"/>
            <p:cNvSpPr/>
            <p:nvPr/>
          </p:nvSpPr>
          <p:spPr>
            <a:xfrm>
              <a:off x="2958365" y="3854216"/>
              <a:ext cx="2012460" cy="497920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8"/>
            <p:cNvSpPr txBox="1"/>
            <p:nvPr/>
          </p:nvSpPr>
          <p:spPr>
            <a:xfrm>
              <a:off x="2972949" y="3868800"/>
              <a:ext cx="1983292" cy="468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Pitch</a:t>
              </a:r>
              <a:endParaRPr/>
            </a:p>
          </p:txBody>
        </p:sp>
        <p:sp>
          <p:nvSpPr>
            <p:cNvPr id="310" name="Google Shape;310;p8"/>
            <p:cNvSpPr/>
            <p:nvPr/>
          </p:nvSpPr>
          <p:spPr>
            <a:xfrm>
              <a:off x="2958365" y="4428740"/>
              <a:ext cx="2012460" cy="497920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" name="Google Shape;311;p8"/>
            <p:cNvSpPr txBox="1"/>
            <p:nvPr/>
          </p:nvSpPr>
          <p:spPr>
            <a:xfrm>
              <a:off x="2972949" y="4443324"/>
              <a:ext cx="1983292" cy="4687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Fluency</a:t>
              </a:r>
              <a:endParaRPr/>
            </a:p>
          </p:txBody>
        </p:sp>
        <p:sp>
          <p:nvSpPr>
            <p:cNvPr id="312" name="Google Shape;312;p8"/>
            <p:cNvSpPr/>
            <p:nvPr/>
          </p:nvSpPr>
          <p:spPr>
            <a:xfrm>
              <a:off x="5411051" y="0"/>
              <a:ext cx="2515575" cy="5186226"/>
            </a:xfrm>
            <a:prstGeom prst="roundRect">
              <a:avLst>
                <a:gd fmla="val 10000" name="adj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8"/>
            <p:cNvSpPr txBox="1"/>
            <p:nvPr/>
          </p:nvSpPr>
          <p:spPr>
            <a:xfrm>
              <a:off x="5411051" y="0"/>
              <a:ext cx="2515575" cy="1555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Proxemics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314" name="Google Shape;314;p8"/>
            <p:cNvSpPr/>
            <p:nvPr/>
          </p:nvSpPr>
          <p:spPr>
            <a:xfrm>
              <a:off x="5662609" y="1556310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8"/>
            <p:cNvSpPr txBox="1"/>
            <p:nvPr/>
          </p:nvSpPr>
          <p:spPr>
            <a:xfrm>
              <a:off x="5692451" y="1586152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Spacing between Parties</a:t>
              </a:r>
              <a:endParaRPr/>
            </a:p>
          </p:txBody>
        </p:sp>
        <p:sp>
          <p:nvSpPr>
            <p:cNvPr id="316" name="Google Shape;316;p8"/>
            <p:cNvSpPr/>
            <p:nvPr/>
          </p:nvSpPr>
          <p:spPr>
            <a:xfrm>
              <a:off x="5662609" y="2731948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8"/>
            <p:cNvSpPr txBox="1"/>
            <p:nvPr/>
          </p:nvSpPr>
          <p:spPr>
            <a:xfrm>
              <a:off x="5692451" y="2761790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Objects in Space</a:t>
              </a:r>
              <a:endParaRPr/>
            </a:p>
          </p:txBody>
        </p:sp>
        <p:sp>
          <p:nvSpPr>
            <p:cNvPr id="318" name="Google Shape;318;p8"/>
            <p:cNvSpPr/>
            <p:nvPr/>
          </p:nvSpPr>
          <p:spPr>
            <a:xfrm>
              <a:off x="5662609" y="3907585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8"/>
            <p:cNvSpPr txBox="1"/>
            <p:nvPr/>
          </p:nvSpPr>
          <p:spPr>
            <a:xfrm>
              <a:off x="5692451" y="3937427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Standing/ Sitting</a:t>
              </a:r>
              <a:endParaRPr/>
            </a:p>
          </p:txBody>
        </p:sp>
        <p:sp>
          <p:nvSpPr>
            <p:cNvPr id="320" name="Google Shape;320;p8"/>
            <p:cNvSpPr/>
            <p:nvPr/>
          </p:nvSpPr>
          <p:spPr>
            <a:xfrm>
              <a:off x="8115295" y="0"/>
              <a:ext cx="2515575" cy="5186226"/>
            </a:xfrm>
            <a:prstGeom prst="roundRect">
              <a:avLst>
                <a:gd fmla="val 10000" name="adj"/>
              </a:avLst>
            </a:prstGeom>
            <a:solidFill>
              <a:srgbClr val="D8D8D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8"/>
            <p:cNvSpPr txBox="1"/>
            <p:nvPr/>
          </p:nvSpPr>
          <p:spPr>
            <a:xfrm>
              <a:off x="8115295" y="0"/>
              <a:ext cx="2515575" cy="15558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83800" lIns="83800" spcFirstLastPara="1" rIns="83800" wrap="square" tIns="838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1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Chronemics</a:t>
              </a:r>
              <a:endParaRPr b="1">
                <a:solidFill>
                  <a:schemeClr val="dk1"/>
                </a:solidFill>
              </a:endParaRPr>
            </a:p>
          </p:txBody>
        </p:sp>
        <p:sp>
          <p:nvSpPr>
            <p:cNvPr id="322" name="Google Shape;322;p8"/>
            <p:cNvSpPr/>
            <p:nvPr/>
          </p:nvSpPr>
          <p:spPr>
            <a:xfrm>
              <a:off x="8366853" y="1556310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8"/>
            <p:cNvSpPr txBox="1"/>
            <p:nvPr/>
          </p:nvSpPr>
          <p:spPr>
            <a:xfrm>
              <a:off x="8396695" y="1586152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Arriving Early</a:t>
              </a:r>
              <a:endParaRPr/>
            </a:p>
          </p:txBody>
        </p:sp>
        <p:sp>
          <p:nvSpPr>
            <p:cNvPr id="324" name="Google Shape;324;p8"/>
            <p:cNvSpPr/>
            <p:nvPr/>
          </p:nvSpPr>
          <p:spPr>
            <a:xfrm>
              <a:off x="8366853" y="2731948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8"/>
            <p:cNvSpPr txBox="1"/>
            <p:nvPr/>
          </p:nvSpPr>
          <p:spPr>
            <a:xfrm>
              <a:off x="8396695" y="2761790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Arriving Late</a:t>
              </a:r>
              <a:endParaRPr/>
            </a:p>
          </p:txBody>
        </p:sp>
        <p:sp>
          <p:nvSpPr>
            <p:cNvPr id="326" name="Google Shape;326;p8"/>
            <p:cNvSpPr/>
            <p:nvPr/>
          </p:nvSpPr>
          <p:spPr>
            <a:xfrm>
              <a:off x="8366853" y="3907585"/>
              <a:ext cx="2012460" cy="1018885"/>
            </a:xfrm>
            <a:prstGeom prst="roundRect">
              <a:avLst>
                <a:gd fmla="val 10000" name="adj"/>
              </a:avLst>
            </a:prstGeom>
            <a:solidFill>
              <a:srgbClr val="BFBFB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8"/>
            <p:cNvSpPr txBox="1"/>
            <p:nvPr/>
          </p:nvSpPr>
          <p:spPr>
            <a:xfrm>
              <a:off x="8396695" y="3937427"/>
              <a:ext cx="1952776" cy="959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1900" lIns="55875" spcFirstLastPara="1" rIns="55875" wrap="square" tIns="419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Speaking out of Turn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9"/>
          <p:cNvSpPr txBox="1"/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Channels of Communication</a:t>
            </a:r>
            <a:endParaRPr/>
          </a:p>
        </p:txBody>
      </p:sp>
      <p:sp>
        <p:nvSpPr>
          <p:cNvPr id="333" name="Google Shape;333;p9"/>
          <p:cNvSpPr txBox="1"/>
          <p:nvPr>
            <p:ph idx="1" type="body"/>
          </p:nvPr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Formal and Informal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Internal and External Communication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Downward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Upward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Horizontal Communication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 sz="2400">
                <a:latin typeface="Times New Roman"/>
                <a:ea typeface="Times New Roman"/>
                <a:cs typeface="Times New Roman"/>
                <a:sym typeface="Times New Roman"/>
              </a:rPr>
              <a:t>Diagonal Communication</a:t>
            </a:r>
            <a:endParaRPr/>
          </a:p>
        </p:txBody>
      </p:sp>
      <p:pic>
        <p:nvPicPr>
          <p:cNvPr id="334" name="Google Shape;334;p9"/>
          <p:cNvPicPr preferRelativeResize="0"/>
          <p:nvPr/>
        </p:nvPicPr>
        <p:blipFill rotWithShape="1">
          <a:blip r:embed="rId3">
            <a:alphaModFix/>
          </a:blip>
          <a:srcRect b="-1" l="19505" r="35375" t="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5" name="Google Shape;335;p9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cap="flat" cmpd="sng" w="19050">
            <a:solidFill>
              <a:srgbClr val="BAB92D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10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2" name="Google Shape;342;p10"/>
          <p:cNvGrpSpPr/>
          <p:nvPr/>
        </p:nvGrpSpPr>
        <p:grpSpPr>
          <a:xfrm rot="5400000">
            <a:off x="7956356" y="1890469"/>
            <a:ext cx="5860051" cy="2079143"/>
            <a:chOff x="6081624" y="1998368"/>
            <a:chExt cx="5613457" cy="782175"/>
          </a:xfrm>
        </p:grpSpPr>
        <p:sp>
          <p:nvSpPr>
            <p:cNvPr id="343" name="Google Shape;343;p10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10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10"/>
          <p:cNvSpPr/>
          <p:nvPr/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Technical Communication: specific message to specific audience with specific purpose</a:t>
            </a:r>
            <a:endParaRPr/>
          </a:p>
        </p:txBody>
      </p:sp>
      <p:grpSp>
        <p:nvGrpSpPr>
          <p:cNvPr id="347" name="Google Shape;347;p10"/>
          <p:cNvGrpSpPr/>
          <p:nvPr/>
        </p:nvGrpSpPr>
        <p:grpSpPr>
          <a:xfrm>
            <a:off x="3095135" y="1825624"/>
            <a:ext cx="6001729" cy="4351338"/>
            <a:chOff x="2256935" y="-1"/>
            <a:chExt cx="6001729" cy="4351338"/>
          </a:xfrm>
        </p:grpSpPr>
        <p:sp>
          <p:nvSpPr>
            <p:cNvPr id="348" name="Google Shape;348;p10"/>
            <p:cNvSpPr/>
            <p:nvPr/>
          </p:nvSpPr>
          <p:spPr>
            <a:xfrm>
              <a:off x="3083689" y="2175669"/>
              <a:ext cx="542350" cy="1033442"/>
            </a:xfrm>
            <a:custGeom>
              <a:rect b="b" l="l" r="r" t="t"/>
              <a:pathLst>
                <a:path extrusionOk="0" h="120000" w="120000">
                  <a:moveTo>
                    <a:pt x="0" y="0"/>
                  </a:moveTo>
                  <a:lnTo>
                    <a:pt x="60000" y="0"/>
                  </a:lnTo>
                  <a:lnTo>
                    <a:pt x="60000" y="120000"/>
                  </a:lnTo>
                  <a:lnTo>
                    <a:pt x="120000" y="12000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10"/>
            <p:cNvSpPr txBox="1"/>
            <p:nvPr/>
          </p:nvSpPr>
          <p:spPr>
            <a:xfrm>
              <a:off x="3325686" y="2663212"/>
              <a:ext cx="58355" cy="58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10"/>
            <p:cNvSpPr/>
            <p:nvPr/>
          </p:nvSpPr>
          <p:spPr>
            <a:xfrm>
              <a:off x="3083689" y="2129948"/>
              <a:ext cx="542350" cy="91440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10"/>
            <p:cNvSpPr txBox="1"/>
            <p:nvPr/>
          </p:nvSpPr>
          <p:spPr>
            <a:xfrm>
              <a:off x="3341306" y="2162110"/>
              <a:ext cx="27117" cy="2711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10"/>
            <p:cNvSpPr/>
            <p:nvPr/>
          </p:nvSpPr>
          <p:spPr>
            <a:xfrm>
              <a:off x="3083689" y="1142226"/>
              <a:ext cx="542350" cy="1033442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lnTo>
                    <a:pt x="60000" y="120000"/>
                  </a:lnTo>
                  <a:lnTo>
                    <a:pt x="60000" y="0"/>
                  </a:lnTo>
                  <a:lnTo>
                    <a:pt x="120000" y="0"/>
                  </a:lnTo>
                </a:path>
              </a:pathLst>
            </a:cu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10"/>
            <p:cNvSpPr txBox="1"/>
            <p:nvPr/>
          </p:nvSpPr>
          <p:spPr>
            <a:xfrm>
              <a:off x="3325686" y="1629769"/>
              <a:ext cx="58355" cy="583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500"/>
                <a:buFont typeface="Calibri"/>
                <a:buNone/>
              </a:pPr>
              <a:r>
                <a:t/>
              </a:r>
              <a:endParaRPr b="0" i="0" sz="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10"/>
            <p:cNvSpPr/>
            <p:nvPr/>
          </p:nvSpPr>
          <p:spPr>
            <a:xfrm rot="-5400000">
              <a:off x="494643" y="1762291"/>
              <a:ext cx="4351338" cy="826754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10"/>
            <p:cNvSpPr txBox="1"/>
            <p:nvPr/>
          </p:nvSpPr>
          <p:spPr>
            <a:xfrm rot="-5400000">
              <a:off x="494643" y="1762291"/>
              <a:ext cx="4351338" cy="82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13950" spcFirstLastPara="1" rIns="13950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 Communication</a:t>
              </a:r>
              <a:endParaRPr/>
            </a:p>
          </p:txBody>
        </p:sp>
        <p:sp>
          <p:nvSpPr>
            <p:cNvPr id="356" name="Google Shape;356;p10"/>
            <p:cNvSpPr/>
            <p:nvPr/>
          </p:nvSpPr>
          <p:spPr>
            <a:xfrm>
              <a:off x="3626040" y="728849"/>
              <a:ext cx="4632624" cy="826754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10"/>
            <p:cNvSpPr txBox="1"/>
            <p:nvPr/>
          </p:nvSpPr>
          <p:spPr>
            <a:xfrm>
              <a:off x="3626040" y="728849"/>
              <a:ext cx="4632624" cy="82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13950" spcFirstLastPara="1" rIns="13950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Subject Competence</a:t>
              </a:r>
              <a:endParaRPr/>
            </a:p>
          </p:txBody>
        </p:sp>
        <p:sp>
          <p:nvSpPr>
            <p:cNvPr id="358" name="Google Shape;358;p10"/>
            <p:cNvSpPr/>
            <p:nvPr/>
          </p:nvSpPr>
          <p:spPr>
            <a:xfrm>
              <a:off x="3626040" y="1762291"/>
              <a:ext cx="4632624" cy="826754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10"/>
            <p:cNvSpPr txBox="1"/>
            <p:nvPr/>
          </p:nvSpPr>
          <p:spPr>
            <a:xfrm>
              <a:off x="3626040" y="1762291"/>
              <a:ext cx="4632624" cy="82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13950" spcFirstLastPara="1" rIns="13950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Linguistic Competence</a:t>
              </a:r>
              <a:endParaRPr/>
            </a:p>
          </p:txBody>
        </p:sp>
        <p:sp>
          <p:nvSpPr>
            <p:cNvPr id="360" name="Google Shape;360;p10"/>
            <p:cNvSpPr/>
            <p:nvPr/>
          </p:nvSpPr>
          <p:spPr>
            <a:xfrm>
              <a:off x="3626040" y="2795734"/>
              <a:ext cx="4632624" cy="826754"/>
            </a:xfrm>
            <a:prstGeom prst="rect">
              <a:avLst/>
            </a:prstGeom>
            <a:solidFill>
              <a:schemeClr val="dk1"/>
            </a:solid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10"/>
            <p:cNvSpPr txBox="1"/>
            <p:nvPr/>
          </p:nvSpPr>
          <p:spPr>
            <a:xfrm>
              <a:off x="3626040" y="2795734"/>
              <a:ext cx="4632624" cy="8267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3950" lIns="13950" spcFirstLastPara="1" rIns="13950" wrap="square" tIns="139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200"/>
                <a:buFont typeface="Times New Roman"/>
                <a:buNone/>
              </a:pPr>
              <a:r>
                <a:rPr b="0" i="0" lang="en-IN" sz="22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Organizational Competence</a:t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grpSp>
        <p:nvGrpSpPr>
          <p:cNvPr id="367" name="Google Shape;367;p11"/>
          <p:cNvGrpSpPr/>
          <p:nvPr/>
        </p:nvGrpSpPr>
        <p:grpSpPr>
          <a:xfrm>
            <a:off x="920813" y="2734184"/>
            <a:ext cx="10350373" cy="2534219"/>
            <a:chOff x="82613" y="908559"/>
            <a:chExt cx="10350373" cy="2534219"/>
          </a:xfrm>
        </p:grpSpPr>
        <p:sp>
          <p:nvSpPr>
            <p:cNvPr id="368" name="Google Shape;368;p11"/>
            <p:cNvSpPr/>
            <p:nvPr/>
          </p:nvSpPr>
          <p:spPr>
            <a:xfrm>
              <a:off x="82613" y="908559"/>
              <a:ext cx="897246" cy="897246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11"/>
            <p:cNvSpPr/>
            <p:nvPr/>
          </p:nvSpPr>
          <p:spPr>
            <a:xfrm>
              <a:off x="271034" y="1096980"/>
              <a:ext cx="520402" cy="520402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11"/>
            <p:cNvSpPr/>
            <p:nvPr/>
          </p:nvSpPr>
          <p:spPr>
            <a:xfrm>
              <a:off x="1172126" y="908559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11"/>
            <p:cNvSpPr txBox="1"/>
            <p:nvPr/>
          </p:nvSpPr>
          <p:spPr>
            <a:xfrm>
              <a:off x="1172126" y="908559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Technical content and specialised vocabulary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2" name="Google Shape;372;p11"/>
            <p:cNvSpPr/>
            <p:nvPr/>
          </p:nvSpPr>
          <p:spPr>
            <a:xfrm>
              <a:off x="3655575" y="908559"/>
              <a:ext cx="897246" cy="897246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11"/>
            <p:cNvSpPr/>
            <p:nvPr/>
          </p:nvSpPr>
          <p:spPr>
            <a:xfrm>
              <a:off x="3843996" y="1096980"/>
              <a:ext cx="520402" cy="520402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11"/>
            <p:cNvSpPr/>
            <p:nvPr/>
          </p:nvSpPr>
          <p:spPr>
            <a:xfrm>
              <a:off x="4745088" y="908559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11"/>
            <p:cNvSpPr txBox="1"/>
            <p:nvPr/>
          </p:nvSpPr>
          <p:spPr>
            <a:xfrm>
              <a:off x="4745088" y="908559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Formal elements and formal style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76" name="Google Shape;376;p11"/>
            <p:cNvSpPr/>
            <p:nvPr/>
          </p:nvSpPr>
          <p:spPr>
            <a:xfrm>
              <a:off x="7228536" y="908559"/>
              <a:ext cx="897246" cy="897246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11"/>
            <p:cNvSpPr/>
            <p:nvPr/>
          </p:nvSpPr>
          <p:spPr>
            <a:xfrm>
              <a:off x="7416958" y="1096980"/>
              <a:ext cx="520402" cy="520402"/>
            </a:xfrm>
            <a:prstGeom prst="rect">
              <a:avLst/>
            </a:prstGeom>
            <a:blipFill rotWithShape="1">
              <a:blip r:embed="rId5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11"/>
            <p:cNvSpPr/>
            <p:nvPr/>
          </p:nvSpPr>
          <p:spPr>
            <a:xfrm>
              <a:off x="8318049" y="908559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11"/>
            <p:cNvSpPr txBox="1"/>
            <p:nvPr/>
          </p:nvSpPr>
          <p:spPr>
            <a:xfrm>
              <a:off x="8318049" y="908559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Factual and Objective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0" name="Google Shape;380;p11"/>
            <p:cNvSpPr/>
            <p:nvPr/>
          </p:nvSpPr>
          <p:spPr>
            <a:xfrm>
              <a:off x="82613" y="2545532"/>
              <a:ext cx="897246" cy="897246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11"/>
            <p:cNvSpPr/>
            <p:nvPr/>
          </p:nvSpPr>
          <p:spPr>
            <a:xfrm>
              <a:off x="271034" y="2733954"/>
              <a:ext cx="520402" cy="520402"/>
            </a:xfrm>
            <a:prstGeom prst="rect">
              <a:avLst/>
            </a:prstGeom>
            <a:blipFill rotWithShape="1">
              <a:blip r:embed="rId6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11"/>
            <p:cNvSpPr/>
            <p:nvPr/>
          </p:nvSpPr>
          <p:spPr>
            <a:xfrm>
              <a:off x="1172126" y="2545532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11"/>
            <p:cNvSpPr txBox="1"/>
            <p:nvPr/>
          </p:nvSpPr>
          <p:spPr>
            <a:xfrm>
              <a:off x="1172126" y="2545532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Organised and Structured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384" name="Google Shape;384;p11"/>
            <p:cNvSpPr/>
            <p:nvPr/>
          </p:nvSpPr>
          <p:spPr>
            <a:xfrm>
              <a:off x="3655575" y="2545532"/>
              <a:ext cx="897246" cy="897246"/>
            </a:xfrm>
            <a:prstGeom prst="ellipse">
              <a:avLst/>
            </a:prstGeom>
            <a:solidFill>
              <a:srgbClr val="CCD3EA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11"/>
            <p:cNvSpPr/>
            <p:nvPr/>
          </p:nvSpPr>
          <p:spPr>
            <a:xfrm>
              <a:off x="3843996" y="2733954"/>
              <a:ext cx="520402" cy="520402"/>
            </a:xfrm>
            <a:prstGeom prst="rect">
              <a:avLst/>
            </a:prstGeom>
            <a:blipFill rotWithShape="1">
              <a:blip r:embed="rId7">
                <a:alphaModFix/>
              </a:blip>
              <a:stretch>
                <a:fillRect b="0" l="0" r="0" t="0"/>
              </a:stretch>
            </a:blipFill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11"/>
            <p:cNvSpPr/>
            <p:nvPr/>
          </p:nvSpPr>
          <p:spPr>
            <a:xfrm>
              <a:off x="4745088" y="2545532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11"/>
            <p:cNvSpPr txBox="1"/>
            <p:nvPr/>
          </p:nvSpPr>
          <p:spPr>
            <a:xfrm>
              <a:off x="4745088" y="2545532"/>
              <a:ext cx="2114937" cy="897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Times New Roman"/>
                <a:buNone/>
              </a:pPr>
              <a:r>
                <a:rPr b="0" i="0" lang="en-IN" sz="2400" u="none" cap="none" strike="noStrike">
                  <a:solidFill>
                    <a:schemeClr val="lt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Specific audience</a:t>
              </a:r>
              <a:endParaRPr b="0" i="0" sz="2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"/>
          <p:cNvSpPr txBox="1"/>
          <p:nvPr>
            <p:ph type="title"/>
          </p:nvPr>
        </p:nvSpPr>
        <p:spPr>
          <a:xfrm>
            <a:off x="4965430" y="629268"/>
            <a:ext cx="6586491" cy="12861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Corporate Communications</a:t>
            </a:r>
            <a:endParaRPr/>
          </a:p>
        </p:txBody>
      </p:sp>
      <p:sp>
        <p:nvSpPr>
          <p:cNvPr id="393" name="Google Shape;393;p12"/>
          <p:cNvSpPr txBox="1"/>
          <p:nvPr>
            <p:ph idx="1" type="body"/>
          </p:nvPr>
        </p:nvSpPr>
        <p:spPr>
          <a:xfrm>
            <a:off x="4965431" y="2438400"/>
            <a:ext cx="6586489" cy="37854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1" marL="685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Meetings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Presentations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Interview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Tele/Video conferencing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Group Discussions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Reports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Proposals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Notice, Agenda, Minutes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Memos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</a:pPr>
            <a:r>
              <a:rPr lang="en-IN">
                <a:latin typeface="Times New Roman"/>
                <a:ea typeface="Times New Roman"/>
                <a:cs typeface="Times New Roman"/>
                <a:sym typeface="Times New Roman"/>
              </a:rPr>
              <a:t>Business Letters/ Emails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t/>
            </a:r>
            <a:endParaRPr sz="24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94" name="Google Shape;394;p12"/>
          <p:cNvPicPr preferRelativeResize="0"/>
          <p:nvPr/>
        </p:nvPicPr>
        <p:blipFill rotWithShape="1">
          <a:blip r:embed="rId3">
            <a:alphaModFix/>
          </a:blip>
          <a:srcRect b="0" l="39673" r="0" t="0"/>
          <a:stretch/>
        </p:blipFill>
        <p:spPr>
          <a:xfrm>
            <a:off x="20" y="10"/>
            <a:ext cx="4635571" cy="685799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5" name="Google Shape;395;p12"/>
          <p:cNvCxnSpPr/>
          <p:nvPr/>
        </p:nvCxnSpPr>
        <p:spPr>
          <a:xfrm>
            <a:off x="5080934" y="2115117"/>
            <a:ext cx="630936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bg>
      <p:bgPr>
        <a:solidFill>
          <a:schemeClr val="dk1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13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3"/>
          <p:cNvSpPr txBox="1"/>
          <p:nvPr>
            <p:ph type="title"/>
          </p:nvPr>
        </p:nvSpPr>
        <p:spPr>
          <a:xfrm>
            <a:off x="6248400" y="365126"/>
            <a:ext cx="5105398" cy="9675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lang="en-IN" sz="3200">
                <a:latin typeface="Times New Roman"/>
                <a:ea typeface="Times New Roman"/>
                <a:cs typeface="Times New Roman"/>
                <a:sym typeface="Times New Roman"/>
              </a:rPr>
              <a:t>Effective Communication</a:t>
            </a:r>
            <a:endParaRPr/>
          </a:p>
        </p:txBody>
      </p:sp>
      <p:sp>
        <p:nvSpPr>
          <p:cNvPr id="402" name="Google Shape;402;p13"/>
          <p:cNvSpPr/>
          <p:nvPr/>
        </p:nvSpPr>
        <p:spPr>
          <a:xfrm>
            <a:off x="3" y="0"/>
            <a:ext cx="6116569" cy="6858000"/>
          </a:xfrm>
          <a:custGeom>
            <a:rect b="b" l="l" r="r" t="t"/>
            <a:pathLst>
              <a:path extrusionOk="0" h="6879321" w="6116569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dk2">
              <a:alpha val="49803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Question mark" id="403" name="Google Shape;40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134" y="1918107"/>
            <a:ext cx="3195204" cy="3195204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13"/>
          <p:cNvSpPr txBox="1"/>
          <p:nvPr>
            <p:ph idx="1" type="body"/>
          </p:nvPr>
        </p:nvSpPr>
        <p:spPr>
          <a:xfrm>
            <a:off x="6248400" y="1556427"/>
            <a:ext cx="5105398" cy="4620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Ask and answer questions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Provide clarifications, give explanations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Ask for opinions, seek suggestions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Express criticism/ objection/ doubt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Agreeing/ Disagreeing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Initiate Discussions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Coordinating Discussions, Topic transitions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Conducting, Coordinating, Participating, Summarizing and Concluding meetings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Interpreting Data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200"/>
              <a:buChar char="•"/>
            </a:pPr>
            <a:r>
              <a:rPr lang="en-IN" sz="2200">
                <a:latin typeface="Times New Roman"/>
                <a:ea typeface="Times New Roman"/>
                <a:cs typeface="Times New Roman"/>
                <a:sym typeface="Times New Roman"/>
              </a:rPr>
              <a:t>Negotiating, Persuading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4"/>
          <p:cNvSpPr/>
          <p:nvPr/>
        </p:nvSpPr>
        <p:spPr>
          <a:xfrm>
            <a:off x="1528762" y="1247775"/>
            <a:ext cx="9144000" cy="3007447"/>
          </a:xfrm>
          <a:prstGeom prst="rect">
            <a:avLst/>
          </a:prstGeom>
          <a:solidFill>
            <a:schemeClr val="dk1"/>
          </a:solidFill>
          <a:ln cap="flat" cmpd="sng" w="12700">
            <a:solidFill>
              <a:srgbClr val="E1E1E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chemeClr val="dk1">
                <a:alpha val="49803"/>
              </a:scheme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14"/>
          <p:cNvSpPr txBox="1"/>
          <p:nvPr>
            <p:ph type="title"/>
          </p:nvPr>
        </p:nvSpPr>
        <p:spPr>
          <a:xfrm>
            <a:off x="1804988" y="1442172"/>
            <a:ext cx="8582025" cy="21773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imes New Roman"/>
              <a:buNone/>
            </a:pPr>
            <a:r>
              <a:rPr lang="en-IN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</a:t>
            </a:r>
            <a:endParaRPr/>
          </a:p>
        </p:txBody>
      </p:sp>
      <p:sp>
        <p:nvSpPr>
          <p:cNvPr id="412" name="Google Shape;412;p14"/>
          <p:cNvSpPr/>
          <p:nvPr/>
        </p:nvSpPr>
        <p:spPr>
          <a:xfrm>
            <a:off x="2487872" y="3912322"/>
            <a:ext cx="7225780" cy="685800"/>
          </a:xfrm>
          <a:prstGeom prst="roundRect">
            <a:avLst>
              <a:gd fmla="val 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2021-01-04T19:18:10Z</dcterms:created>
  <dc:creator>Ashna Jacob</dc:creator>
</cp:coreProperties>
</file>