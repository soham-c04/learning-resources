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57" r:id="rId4"/>
    <p:sldId id="261" r:id="rId5"/>
    <p:sldId id="260"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85" d="100"/>
          <a:sy n="85" d="100"/>
        </p:scale>
        <p:origin x="36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KONDA NISHANTH KUMAR" userId="40694319746d7667" providerId="LiveId" clId="{25B98C66-B394-4654-8856-E9AF654223D2}"/>
    <pc:docChg chg="modSld">
      <pc:chgData name="TANIKONDA NISHANTH KUMAR" userId="40694319746d7667" providerId="LiveId" clId="{25B98C66-B394-4654-8856-E9AF654223D2}" dt="2023-01-10T19:08:23.361" v="13" actId="20577"/>
      <pc:docMkLst>
        <pc:docMk/>
      </pc:docMkLst>
      <pc:sldChg chg="modSp mod">
        <pc:chgData name="TANIKONDA NISHANTH KUMAR" userId="40694319746d7667" providerId="LiveId" clId="{25B98C66-B394-4654-8856-E9AF654223D2}" dt="2023-01-10T19:08:23.361" v="13" actId="20577"/>
        <pc:sldMkLst>
          <pc:docMk/>
          <pc:sldMk cId="863386011" sldId="257"/>
        </pc:sldMkLst>
        <pc:spChg chg="mod">
          <ac:chgData name="TANIKONDA NISHANTH KUMAR" userId="40694319746d7667" providerId="LiveId" clId="{25B98C66-B394-4654-8856-E9AF654223D2}" dt="2023-01-10T19:08:23.361" v="13" actId="20577"/>
          <ac:spMkLst>
            <pc:docMk/>
            <pc:sldMk cId="863386011" sldId="257"/>
            <ac:spMk id="5" creationId="{00000000-0000-0000-0000-000000000000}"/>
          </ac:spMkLst>
        </pc:spChg>
      </pc:sldChg>
      <pc:sldChg chg="modSp mod">
        <pc:chgData name="TANIKONDA NISHANTH KUMAR" userId="40694319746d7667" providerId="LiveId" clId="{25B98C66-B394-4654-8856-E9AF654223D2}" dt="2023-01-10T18:18:15.814" v="6" actId="20577"/>
        <pc:sldMkLst>
          <pc:docMk/>
          <pc:sldMk cId="421391468" sldId="258"/>
        </pc:sldMkLst>
        <pc:spChg chg="mod">
          <ac:chgData name="TANIKONDA NISHANTH KUMAR" userId="40694319746d7667" providerId="LiveId" clId="{25B98C66-B394-4654-8856-E9AF654223D2}" dt="2023-01-10T18:18:15.814" v="6" actId="20577"/>
          <ac:spMkLst>
            <pc:docMk/>
            <pc:sldMk cId="421391468"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D487A29-C3F0-4159-9DF6-661D819CB3C6}" type="datetimeFigureOut">
              <a:rPr lang="en-IN" smtClean="0"/>
              <a:t>11-01-2023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37851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D487A29-C3F0-4159-9DF6-661D819CB3C6}" type="datetimeFigureOut">
              <a:rPr lang="en-IN" smtClean="0"/>
              <a:t>11-01-2023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2313018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D487A29-C3F0-4159-9DF6-661D819CB3C6}" type="datetimeFigureOut">
              <a:rPr lang="en-IN" smtClean="0"/>
              <a:t>11-01-2023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2040300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D487A29-C3F0-4159-9DF6-661D819CB3C6}" type="datetimeFigureOut">
              <a:rPr lang="en-IN" smtClean="0"/>
              <a:t>11-01-2023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1566418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D487A29-C3F0-4159-9DF6-661D819CB3C6}" type="datetimeFigureOut">
              <a:rPr lang="en-IN" smtClean="0"/>
              <a:t>11-01-2023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872941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D487A29-C3F0-4159-9DF6-661D819CB3C6}" type="datetimeFigureOut">
              <a:rPr lang="en-IN" smtClean="0"/>
              <a:t>11-01-2023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96378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487A29-C3F0-4159-9DF6-661D819CB3C6}" type="datetimeFigureOut">
              <a:rPr lang="en-IN" smtClean="0"/>
              <a:t>11-01-2023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425647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487A29-C3F0-4159-9DF6-661D819CB3C6}" type="datetimeFigureOut">
              <a:rPr lang="en-IN" smtClean="0"/>
              <a:t>11-01-2023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2405295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487A29-C3F0-4159-9DF6-661D819CB3C6}" type="datetimeFigureOut">
              <a:rPr lang="en-IN" smtClean="0"/>
              <a:t>11-01-2023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1100261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D487A29-C3F0-4159-9DF6-661D819CB3C6}" type="datetimeFigureOut">
              <a:rPr lang="en-IN" smtClean="0"/>
              <a:t>11-01-2023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2990041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D487A29-C3F0-4159-9DF6-661D819CB3C6}" type="datetimeFigureOut">
              <a:rPr lang="en-IN" smtClean="0"/>
              <a:t>11-01-2023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F561D6-0C7F-47BC-A9A7-08802B333C17}" type="slidenum">
              <a:rPr lang="en-IN" smtClean="0"/>
              <a:t>‹#›</a:t>
            </a:fld>
            <a:endParaRPr lang="en-IN"/>
          </a:p>
        </p:txBody>
      </p:sp>
    </p:spTree>
    <p:extLst>
      <p:ext uri="{BB962C8B-B14F-4D97-AF65-F5344CB8AC3E}">
        <p14:creationId xmlns:p14="http://schemas.microsoft.com/office/powerpoint/2010/main" val="3530095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87A29-C3F0-4159-9DF6-661D819CB3C6}" type="datetimeFigureOut">
              <a:rPr lang="en-IN" smtClean="0"/>
              <a:t>11-01-2023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561D6-0C7F-47BC-A9A7-08802B333C17}" type="slidenum">
              <a:rPr lang="en-IN" smtClean="0"/>
              <a:t>‹#›</a:t>
            </a:fld>
            <a:endParaRPr lang="en-IN"/>
          </a:p>
        </p:txBody>
      </p:sp>
    </p:spTree>
    <p:extLst>
      <p:ext uri="{BB962C8B-B14F-4D97-AF65-F5344CB8AC3E}">
        <p14:creationId xmlns:p14="http://schemas.microsoft.com/office/powerpoint/2010/main" val="1447332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a:latin typeface="Times New Roman" panose="02020603050405020304" pitchFamily="18" charset="0"/>
                <a:cs typeface="Times New Roman" panose="02020603050405020304" pitchFamily="18" charset="0"/>
              </a:rPr>
              <a:t>1. A 400V, 3phase 4 wire system of the figure has a star connected load with Z</a:t>
            </a:r>
            <a:r>
              <a:rPr lang="en-US" sz="3200" baseline="-25000" dirty="0">
                <a:latin typeface="Times New Roman" panose="02020603050405020304" pitchFamily="18" charset="0"/>
                <a:cs typeface="Times New Roman" panose="02020603050405020304" pitchFamily="18" charset="0"/>
              </a:rPr>
              <a:t>A</a:t>
            </a:r>
            <a:r>
              <a:rPr lang="en-US" sz="3200" dirty="0">
                <a:latin typeface="Times New Roman" panose="02020603050405020304" pitchFamily="18" charset="0"/>
                <a:cs typeface="Times New Roman" panose="02020603050405020304" pitchFamily="18" charset="0"/>
              </a:rPr>
              <a:t> = 10ohm, Z</a:t>
            </a:r>
            <a:r>
              <a:rPr lang="en-US" sz="3200" baseline="-25000" dirty="0">
                <a:latin typeface="Times New Roman" panose="02020603050405020304" pitchFamily="18" charset="0"/>
                <a:cs typeface="Times New Roman" panose="02020603050405020304" pitchFamily="18" charset="0"/>
              </a:rPr>
              <a:t>B</a:t>
            </a:r>
            <a:r>
              <a:rPr lang="en-US" sz="3200" dirty="0">
                <a:latin typeface="Times New Roman" panose="02020603050405020304" pitchFamily="18" charset="0"/>
                <a:cs typeface="Times New Roman" panose="02020603050405020304" pitchFamily="18" charset="0"/>
              </a:rPr>
              <a:t>= 15+j10 ohm and Z</a:t>
            </a:r>
            <a:r>
              <a:rPr lang="en-US" sz="3200" baseline="-25000" dirty="0">
                <a:latin typeface="Times New Roman" panose="02020603050405020304" pitchFamily="18" charset="0"/>
                <a:cs typeface="Times New Roman" panose="02020603050405020304" pitchFamily="18" charset="0"/>
              </a:rPr>
              <a:t>C</a:t>
            </a:r>
            <a:r>
              <a:rPr lang="en-US" sz="3200" dirty="0">
                <a:latin typeface="Times New Roman" panose="02020603050405020304" pitchFamily="18" charset="0"/>
                <a:cs typeface="Times New Roman" panose="02020603050405020304" pitchFamily="18" charset="0"/>
              </a:rPr>
              <a:t> = j5 ohm. Find the line currents and current through the neutral conductor.</a:t>
            </a:r>
            <a:endParaRPr lang="en-IN" sz="3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0" y="1953962"/>
            <a:ext cx="5886625" cy="4767680"/>
          </a:xfrm>
          <a:prstGeom prst="rect">
            <a:avLst/>
          </a:prstGeom>
        </p:spPr>
      </p:pic>
      <p:sp>
        <p:nvSpPr>
          <p:cNvPr id="5" name="TextBox 4"/>
          <p:cNvSpPr txBox="1"/>
          <p:nvPr/>
        </p:nvSpPr>
        <p:spPr>
          <a:xfrm>
            <a:off x="6384758" y="2342147"/>
            <a:ext cx="2204450" cy="1477328"/>
          </a:xfrm>
          <a:prstGeom prst="rect">
            <a:avLst/>
          </a:prstGeom>
          <a:noFill/>
        </p:spPr>
        <p:txBody>
          <a:bodyPr wrap="none" rtlCol="0">
            <a:spAutoFit/>
          </a:bodyPr>
          <a:lstStyle/>
          <a:p>
            <a:r>
              <a:rPr lang="en-US" dirty="0"/>
              <a:t>Phase currents:</a:t>
            </a:r>
          </a:p>
          <a:p>
            <a:r>
              <a:rPr lang="en-US" dirty="0"/>
              <a:t>I</a:t>
            </a:r>
            <a:r>
              <a:rPr lang="en-US" baseline="-25000" dirty="0"/>
              <a:t>A</a:t>
            </a:r>
            <a:r>
              <a:rPr lang="en-US" dirty="0"/>
              <a:t> = 23.094 A, 0</a:t>
            </a:r>
            <a:r>
              <a:rPr lang="en-US" baseline="30000" dirty="0"/>
              <a:t>o</a:t>
            </a:r>
          </a:p>
          <a:p>
            <a:r>
              <a:rPr lang="en-US" dirty="0"/>
              <a:t>I</a:t>
            </a:r>
            <a:r>
              <a:rPr lang="en-US" baseline="-25000" dirty="0"/>
              <a:t>B</a:t>
            </a:r>
            <a:r>
              <a:rPr lang="en-US" dirty="0"/>
              <a:t> = 12.81A , -153.69</a:t>
            </a:r>
            <a:r>
              <a:rPr lang="en-US" baseline="30000" dirty="0"/>
              <a:t>o</a:t>
            </a:r>
          </a:p>
          <a:p>
            <a:r>
              <a:rPr lang="en-US" dirty="0"/>
              <a:t>I</a:t>
            </a:r>
            <a:r>
              <a:rPr lang="en-US" baseline="-25000" dirty="0"/>
              <a:t>C</a:t>
            </a:r>
            <a:r>
              <a:rPr lang="en-US" dirty="0"/>
              <a:t>= 46.19A , 30</a:t>
            </a:r>
            <a:r>
              <a:rPr lang="en-US" baseline="30000" dirty="0"/>
              <a:t>o</a:t>
            </a:r>
          </a:p>
          <a:p>
            <a:r>
              <a:rPr lang="en-US" dirty="0"/>
              <a:t>I</a:t>
            </a:r>
            <a:r>
              <a:rPr lang="en-US" baseline="-25000" dirty="0"/>
              <a:t>N</a:t>
            </a:r>
            <a:r>
              <a:rPr lang="en-US" dirty="0"/>
              <a:t>= 54.47A, 18.65</a:t>
            </a:r>
            <a:r>
              <a:rPr lang="en-US" baseline="30000" dirty="0"/>
              <a:t>o</a:t>
            </a:r>
            <a:endParaRPr lang="en-IN" baseline="30000" dirty="0"/>
          </a:p>
        </p:txBody>
      </p:sp>
    </p:spTree>
    <p:extLst>
      <p:ext uri="{BB962C8B-B14F-4D97-AF65-F5344CB8AC3E}">
        <p14:creationId xmlns:p14="http://schemas.microsoft.com/office/powerpoint/2010/main" val="42139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2. A 100V, 3phase 3 wire supply feed an unbalanced star connected load with an impedance of Z</a:t>
            </a:r>
            <a:r>
              <a:rPr lang="en-US" sz="2800" baseline="-25000" dirty="0">
                <a:latin typeface="Times New Roman" panose="02020603050405020304" pitchFamily="18" charset="0"/>
                <a:cs typeface="Times New Roman" panose="02020603050405020304" pitchFamily="18" charset="0"/>
              </a:rPr>
              <a:t>R</a:t>
            </a:r>
            <a:r>
              <a:rPr lang="en-US" sz="2800" dirty="0">
                <a:latin typeface="Times New Roman" panose="02020603050405020304" pitchFamily="18" charset="0"/>
                <a:cs typeface="Times New Roman" panose="02020603050405020304" pitchFamily="18" charset="0"/>
              </a:rPr>
              <a:t> =5ohm, Z</a:t>
            </a:r>
            <a:r>
              <a:rPr lang="en-US" sz="2800" baseline="-25000" dirty="0">
                <a:latin typeface="Times New Roman" panose="02020603050405020304" pitchFamily="18" charset="0"/>
                <a:cs typeface="Times New Roman" panose="02020603050405020304" pitchFamily="18" charset="0"/>
              </a:rPr>
              <a:t>Y</a:t>
            </a:r>
            <a:r>
              <a:rPr lang="en-US" sz="2800" dirty="0">
                <a:latin typeface="Times New Roman" panose="02020603050405020304" pitchFamily="18" charset="0"/>
                <a:cs typeface="Times New Roman" panose="02020603050405020304" pitchFamily="18" charset="0"/>
              </a:rPr>
              <a:t> = j2 ohm and Z</a:t>
            </a:r>
            <a:r>
              <a:rPr lang="en-US" sz="2800" baseline="-25000" dirty="0">
                <a:latin typeface="Times New Roman" panose="02020603050405020304" pitchFamily="18" charset="0"/>
                <a:cs typeface="Times New Roman" panose="02020603050405020304" pitchFamily="18" charset="0"/>
              </a:rPr>
              <a:t>B</a:t>
            </a:r>
            <a:r>
              <a:rPr lang="en-US" sz="2800" dirty="0">
                <a:latin typeface="Times New Roman" panose="02020603050405020304" pitchFamily="18" charset="0"/>
                <a:cs typeface="Times New Roman" panose="02020603050405020304" pitchFamily="18" charset="0"/>
              </a:rPr>
              <a:t>= -j4 ohm, find the phase and line currents using star delta transformation.</a:t>
            </a:r>
            <a:endParaRPr lang="en-IN" sz="28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251284" y="2903621"/>
            <a:ext cx="2180212" cy="2585323"/>
          </a:xfrm>
          <a:prstGeom prst="rect">
            <a:avLst/>
          </a:prstGeom>
          <a:noFill/>
        </p:spPr>
        <p:txBody>
          <a:bodyPr wrap="none" rtlCol="0">
            <a:spAutoFit/>
          </a:bodyPr>
          <a:lstStyle/>
          <a:p>
            <a:r>
              <a:rPr lang="en-US" dirty="0"/>
              <a:t>Phase currents:</a:t>
            </a:r>
          </a:p>
          <a:p>
            <a:r>
              <a:rPr lang="en-US" dirty="0"/>
              <a:t>I</a:t>
            </a:r>
            <a:r>
              <a:rPr lang="en-US" baseline="-25000" dirty="0"/>
              <a:t>RY</a:t>
            </a:r>
            <a:r>
              <a:rPr lang="en-US" dirty="0"/>
              <a:t> = 31.25, -38.66</a:t>
            </a:r>
            <a:r>
              <a:rPr lang="en-US" baseline="30000" dirty="0"/>
              <a:t>o </a:t>
            </a:r>
            <a:r>
              <a:rPr lang="en-US" dirty="0"/>
              <a:t>A</a:t>
            </a:r>
          </a:p>
          <a:p>
            <a:r>
              <a:rPr lang="en-US" dirty="0"/>
              <a:t>I</a:t>
            </a:r>
            <a:r>
              <a:rPr lang="en-US" baseline="-25000" dirty="0"/>
              <a:t>YB</a:t>
            </a:r>
            <a:r>
              <a:rPr lang="en-US" dirty="0"/>
              <a:t>= 39.06, -68.66</a:t>
            </a:r>
            <a:r>
              <a:rPr lang="en-US" baseline="30000" dirty="0"/>
              <a:t>o </a:t>
            </a:r>
            <a:r>
              <a:rPr lang="en-US" dirty="0"/>
              <a:t>A</a:t>
            </a:r>
          </a:p>
          <a:p>
            <a:r>
              <a:rPr lang="en-US" dirty="0"/>
              <a:t>I</a:t>
            </a:r>
            <a:r>
              <a:rPr lang="en-US" baseline="-25000" dirty="0"/>
              <a:t>BR</a:t>
            </a:r>
            <a:r>
              <a:rPr lang="en-US" dirty="0"/>
              <a:t>= 15.63,-98.66</a:t>
            </a:r>
            <a:r>
              <a:rPr lang="en-US" baseline="30000" dirty="0"/>
              <a:t>o </a:t>
            </a:r>
            <a:r>
              <a:rPr lang="en-US" dirty="0"/>
              <a:t>A </a:t>
            </a:r>
          </a:p>
          <a:p>
            <a:endParaRPr lang="en-US" dirty="0"/>
          </a:p>
          <a:p>
            <a:r>
              <a:rPr lang="en-US" dirty="0"/>
              <a:t>Line currents:</a:t>
            </a:r>
          </a:p>
          <a:p>
            <a:r>
              <a:rPr lang="en-US" dirty="0"/>
              <a:t>I</a:t>
            </a:r>
            <a:r>
              <a:rPr lang="en-US" baseline="-25000" dirty="0"/>
              <a:t>R</a:t>
            </a:r>
            <a:r>
              <a:rPr lang="en-US" dirty="0"/>
              <a:t>= 27.06, -8.65</a:t>
            </a:r>
            <a:r>
              <a:rPr lang="en-US" baseline="30000" dirty="0"/>
              <a:t>o </a:t>
            </a:r>
            <a:r>
              <a:rPr lang="en-US" dirty="0"/>
              <a:t>A</a:t>
            </a:r>
          </a:p>
          <a:p>
            <a:r>
              <a:rPr lang="en-US" dirty="0"/>
              <a:t>I</a:t>
            </a:r>
            <a:r>
              <a:rPr lang="en-US" baseline="-25000" dirty="0"/>
              <a:t>Y</a:t>
            </a:r>
            <a:r>
              <a:rPr lang="en-US" dirty="0"/>
              <a:t>= 19.7, -121.14</a:t>
            </a:r>
            <a:r>
              <a:rPr lang="en-US" baseline="30000" dirty="0"/>
              <a:t>o </a:t>
            </a:r>
            <a:r>
              <a:rPr lang="en-US" dirty="0"/>
              <a:t>A</a:t>
            </a:r>
          </a:p>
          <a:p>
            <a:r>
              <a:rPr lang="en-US" dirty="0"/>
              <a:t>I</a:t>
            </a:r>
            <a:r>
              <a:rPr lang="en-US" baseline="-25000" dirty="0"/>
              <a:t>B</a:t>
            </a:r>
            <a:r>
              <a:rPr lang="en-US" dirty="0"/>
              <a:t>= 26.69, 128.36</a:t>
            </a:r>
            <a:r>
              <a:rPr lang="en-US" baseline="30000" dirty="0"/>
              <a:t>o </a:t>
            </a:r>
            <a:r>
              <a:rPr lang="en-US" dirty="0"/>
              <a:t>A</a:t>
            </a:r>
            <a:endParaRPr lang="en-IN" dirty="0"/>
          </a:p>
        </p:txBody>
      </p:sp>
      <p:pic>
        <p:nvPicPr>
          <p:cNvPr id="6" name="Picture 5"/>
          <p:cNvPicPr>
            <a:picLocks noChangeAspect="1"/>
          </p:cNvPicPr>
          <p:nvPr/>
        </p:nvPicPr>
        <p:blipFill>
          <a:blip r:embed="rId2"/>
          <a:stretch>
            <a:fillRect/>
          </a:stretch>
        </p:blipFill>
        <p:spPr>
          <a:xfrm>
            <a:off x="6442992" y="2903621"/>
            <a:ext cx="5191294" cy="3954379"/>
          </a:xfrm>
          <a:prstGeom prst="rect">
            <a:avLst/>
          </a:prstGeom>
        </p:spPr>
      </p:pic>
    </p:spTree>
    <p:extLst>
      <p:ext uri="{BB962C8B-B14F-4D97-AF65-F5344CB8AC3E}">
        <p14:creationId xmlns:p14="http://schemas.microsoft.com/office/powerpoint/2010/main" val="281340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2. A three phase supply with a line voltage of 250V has an unbalanced delta load as shown in the figure. Determine the phase and line currents, total active and reactive power if the phase sequence is ABC</a:t>
            </a:r>
            <a:endParaRPr lang="en-IN" sz="28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0" y="2115594"/>
            <a:ext cx="8053137" cy="4073311"/>
          </a:xfrm>
          <a:prstGeom prst="rect">
            <a:avLst/>
          </a:prstGeom>
        </p:spPr>
      </p:pic>
      <p:sp>
        <p:nvSpPr>
          <p:cNvPr id="5" name="TextBox 4"/>
          <p:cNvSpPr txBox="1"/>
          <p:nvPr/>
        </p:nvSpPr>
        <p:spPr>
          <a:xfrm>
            <a:off x="8053137" y="2115595"/>
            <a:ext cx="4138863" cy="4801314"/>
          </a:xfrm>
          <a:prstGeom prst="rect">
            <a:avLst/>
          </a:prstGeom>
          <a:noFill/>
        </p:spPr>
        <p:txBody>
          <a:bodyPr wrap="square" rtlCol="0">
            <a:spAutoFit/>
          </a:bodyPr>
          <a:lstStyle/>
          <a:p>
            <a:r>
              <a:rPr lang="en-US" dirty="0"/>
              <a:t>Phase currents:</a:t>
            </a:r>
          </a:p>
          <a:p>
            <a:r>
              <a:rPr lang="en-US" dirty="0"/>
              <a:t>I</a:t>
            </a:r>
            <a:r>
              <a:rPr lang="en-US" baseline="-25000" dirty="0"/>
              <a:t>AB</a:t>
            </a:r>
            <a:r>
              <a:rPr lang="en-US" dirty="0"/>
              <a:t>= 12.5 A, 0</a:t>
            </a:r>
            <a:r>
              <a:rPr lang="en-US" baseline="30000" dirty="0"/>
              <a:t>o</a:t>
            </a:r>
            <a:r>
              <a:rPr lang="en-US" dirty="0"/>
              <a:t>, I</a:t>
            </a:r>
            <a:r>
              <a:rPr lang="en-US" baseline="-25000" dirty="0"/>
              <a:t>BC</a:t>
            </a:r>
            <a:r>
              <a:rPr lang="en-US" dirty="0"/>
              <a:t>= 16.66 A, -140</a:t>
            </a:r>
            <a:r>
              <a:rPr lang="en-US" baseline="30000" dirty="0"/>
              <a:t>o</a:t>
            </a:r>
          </a:p>
          <a:p>
            <a:r>
              <a:rPr lang="en-US" dirty="0"/>
              <a:t>I</a:t>
            </a:r>
            <a:r>
              <a:rPr lang="en-US" baseline="-25000" dirty="0"/>
              <a:t>CA</a:t>
            </a:r>
            <a:r>
              <a:rPr lang="en-US" dirty="0"/>
              <a:t>= 10 A, -330</a:t>
            </a:r>
            <a:r>
              <a:rPr lang="en-US" baseline="30000" dirty="0"/>
              <a:t>o</a:t>
            </a:r>
          </a:p>
          <a:p>
            <a:endParaRPr lang="en-US" dirty="0"/>
          </a:p>
          <a:p>
            <a:r>
              <a:rPr lang="en-US" dirty="0"/>
              <a:t>Line currents:</a:t>
            </a:r>
          </a:p>
          <a:p>
            <a:r>
              <a:rPr lang="en-US" dirty="0"/>
              <a:t>I</a:t>
            </a:r>
            <a:r>
              <a:rPr lang="en-US" baseline="-25000" dirty="0"/>
              <a:t>A</a:t>
            </a:r>
            <a:r>
              <a:rPr lang="en-US" dirty="0"/>
              <a:t> = 6.3 A, -52.48</a:t>
            </a:r>
            <a:r>
              <a:rPr lang="en-US" baseline="30000" dirty="0"/>
              <a:t>o</a:t>
            </a:r>
            <a:r>
              <a:rPr lang="en-US" dirty="0"/>
              <a:t>, I</a:t>
            </a:r>
            <a:r>
              <a:rPr lang="en-US" baseline="-25000" dirty="0"/>
              <a:t>B</a:t>
            </a:r>
            <a:r>
              <a:rPr lang="en-US" dirty="0"/>
              <a:t>= 27.45 A, -157.02</a:t>
            </a:r>
            <a:r>
              <a:rPr lang="en-US" baseline="30000" dirty="0"/>
              <a:t>O</a:t>
            </a:r>
            <a:r>
              <a:rPr lang="en-US" dirty="0"/>
              <a:t>,</a:t>
            </a:r>
          </a:p>
          <a:p>
            <a:r>
              <a:rPr lang="en-US" dirty="0"/>
              <a:t>I</a:t>
            </a:r>
            <a:r>
              <a:rPr lang="en-US" baseline="-25000" dirty="0"/>
              <a:t>C</a:t>
            </a:r>
            <a:r>
              <a:rPr lang="en-US" dirty="0"/>
              <a:t>= 26.57A, 36.25</a:t>
            </a:r>
            <a:r>
              <a:rPr lang="en-US" baseline="30000" dirty="0"/>
              <a:t>o</a:t>
            </a:r>
          </a:p>
          <a:p>
            <a:endParaRPr lang="en-US" dirty="0"/>
          </a:p>
          <a:p>
            <a:r>
              <a:rPr lang="en-US" dirty="0"/>
              <a:t>Active power:</a:t>
            </a:r>
          </a:p>
          <a:p>
            <a:r>
              <a:rPr lang="en-US" dirty="0"/>
              <a:t>P</a:t>
            </a:r>
            <a:r>
              <a:rPr lang="en-US" baseline="-25000" dirty="0"/>
              <a:t>AB</a:t>
            </a:r>
            <a:r>
              <a:rPr lang="en-US" dirty="0"/>
              <a:t> = 3.13kW, P</a:t>
            </a:r>
            <a:r>
              <a:rPr lang="en-US" baseline="-25000" dirty="0"/>
              <a:t>BC</a:t>
            </a:r>
            <a:r>
              <a:rPr lang="en-US" dirty="0"/>
              <a:t>= 3.92kW, P</a:t>
            </a:r>
            <a:r>
              <a:rPr lang="en-US" baseline="-25000" dirty="0"/>
              <a:t>CA</a:t>
            </a:r>
            <a:r>
              <a:rPr lang="en-US" dirty="0"/>
              <a:t>= 0W,</a:t>
            </a:r>
          </a:p>
          <a:p>
            <a:r>
              <a:rPr lang="en-US" dirty="0"/>
              <a:t>Pt= 7.05kW</a:t>
            </a:r>
          </a:p>
          <a:p>
            <a:endParaRPr lang="en-US" dirty="0"/>
          </a:p>
          <a:p>
            <a:r>
              <a:rPr lang="en-US" dirty="0"/>
              <a:t>Reactive power:</a:t>
            </a:r>
          </a:p>
          <a:p>
            <a:r>
              <a:rPr lang="en-US" dirty="0"/>
              <a:t>Q</a:t>
            </a:r>
            <a:r>
              <a:rPr lang="en-US" baseline="-25000" dirty="0"/>
              <a:t>AB</a:t>
            </a:r>
            <a:r>
              <a:rPr lang="en-US" dirty="0"/>
              <a:t>= 0kVAR, Q</a:t>
            </a:r>
            <a:r>
              <a:rPr lang="en-US" baseline="-25000" dirty="0"/>
              <a:t>BC</a:t>
            </a:r>
            <a:r>
              <a:rPr lang="en-US" dirty="0"/>
              <a:t>= 1.43kVAR, Q</a:t>
            </a:r>
            <a:r>
              <a:rPr lang="en-US" baseline="-25000" dirty="0"/>
              <a:t>CA</a:t>
            </a:r>
            <a:r>
              <a:rPr lang="en-US" dirty="0"/>
              <a:t>= 2.5kVAR</a:t>
            </a:r>
          </a:p>
          <a:p>
            <a:r>
              <a:rPr lang="en-US" dirty="0"/>
              <a:t>Qt= 3.93kVAR</a:t>
            </a:r>
          </a:p>
          <a:p>
            <a:endParaRPr lang="en-US" dirty="0"/>
          </a:p>
          <a:p>
            <a:endParaRPr lang="en-IN" dirty="0"/>
          </a:p>
        </p:txBody>
      </p:sp>
    </p:spTree>
    <p:extLst>
      <p:ext uri="{BB962C8B-B14F-4D97-AF65-F5344CB8AC3E}">
        <p14:creationId xmlns:p14="http://schemas.microsoft.com/office/powerpoint/2010/main" val="863386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latin typeface="Times New Roman" panose="02020603050405020304" pitchFamily="18" charset="0"/>
                <a:cs typeface="Times New Roman" panose="02020603050405020304" pitchFamily="18" charset="0"/>
              </a:rPr>
              <a:t>5. In the circuit, a 400 V, 50 Hz, 3-phase supply of phase sequence ABC is supplied to a delta-connected load consisting of a 100 W resistor between lines A and B, a 378 </a:t>
            </a:r>
            <a:r>
              <a:rPr lang="en-US" sz="2400" dirty="0" err="1">
                <a:latin typeface="Times New Roman" panose="02020603050405020304" pitchFamily="18" charset="0"/>
                <a:cs typeface="Times New Roman" panose="02020603050405020304" pitchFamily="18" charset="0"/>
              </a:rPr>
              <a:t>mH</a:t>
            </a:r>
            <a:r>
              <a:rPr lang="en-US" sz="2400" dirty="0">
                <a:latin typeface="Times New Roman" panose="02020603050405020304" pitchFamily="18" charset="0"/>
                <a:cs typeface="Times New Roman" panose="02020603050405020304" pitchFamily="18" charset="0"/>
              </a:rPr>
              <a:t> inductor between lines B and C, and a 37.8 </a:t>
            </a:r>
            <a:r>
              <a:rPr lang="en-US" sz="2400" dirty="0" err="1">
                <a:latin typeface="Times New Roman" panose="02020603050405020304" pitchFamily="18" charset="0"/>
                <a:cs typeface="Times New Roman" panose="02020603050405020304" pitchFamily="18" charset="0"/>
              </a:rPr>
              <a:t>μF</a:t>
            </a:r>
            <a:r>
              <a:rPr lang="en-US" sz="2400" dirty="0">
                <a:latin typeface="Times New Roman" panose="02020603050405020304" pitchFamily="18" charset="0"/>
                <a:cs typeface="Times New Roman" panose="02020603050405020304" pitchFamily="18" charset="0"/>
              </a:rPr>
              <a:t> capacitor between lines C and A. Determine phase and line currents. </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65433" y="2447424"/>
            <a:ext cx="8375921" cy="3391902"/>
          </a:xfrm>
          <a:prstGeom prst="rect">
            <a:avLst/>
          </a:prstGeom>
        </p:spPr>
      </p:pic>
      <p:pic>
        <p:nvPicPr>
          <p:cNvPr id="5" name="Picture 4"/>
          <p:cNvPicPr>
            <a:picLocks noChangeAspect="1"/>
          </p:cNvPicPr>
          <p:nvPr/>
        </p:nvPicPr>
        <p:blipFill>
          <a:blip r:embed="rId3"/>
          <a:stretch>
            <a:fillRect/>
          </a:stretch>
        </p:blipFill>
        <p:spPr>
          <a:xfrm>
            <a:off x="7376439" y="2447424"/>
            <a:ext cx="3977361" cy="1723523"/>
          </a:xfrm>
          <a:prstGeom prst="rect">
            <a:avLst/>
          </a:prstGeom>
        </p:spPr>
      </p:pic>
      <p:sp>
        <p:nvSpPr>
          <p:cNvPr id="6" name="TextBox 5"/>
          <p:cNvSpPr txBox="1"/>
          <p:nvPr/>
        </p:nvSpPr>
        <p:spPr>
          <a:xfrm>
            <a:off x="7376439" y="2078092"/>
            <a:ext cx="1572546" cy="369332"/>
          </a:xfrm>
          <a:prstGeom prst="rect">
            <a:avLst/>
          </a:prstGeom>
          <a:noFill/>
        </p:spPr>
        <p:txBody>
          <a:bodyPr wrap="none" rtlCol="0">
            <a:spAutoFit/>
          </a:bodyPr>
          <a:lstStyle/>
          <a:p>
            <a:r>
              <a:rPr lang="en-US" dirty="0"/>
              <a:t>Phase currents</a:t>
            </a:r>
            <a:endParaRPr lang="en-IN" dirty="0"/>
          </a:p>
        </p:txBody>
      </p:sp>
      <p:pic>
        <p:nvPicPr>
          <p:cNvPr id="7" name="Picture 6"/>
          <p:cNvPicPr>
            <a:picLocks noChangeAspect="1"/>
          </p:cNvPicPr>
          <p:nvPr/>
        </p:nvPicPr>
        <p:blipFill>
          <a:blip r:embed="rId4"/>
          <a:stretch>
            <a:fillRect/>
          </a:stretch>
        </p:blipFill>
        <p:spPr>
          <a:xfrm>
            <a:off x="7997893" y="5703470"/>
            <a:ext cx="4194107" cy="892592"/>
          </a:xfrm>
          <a:prstGeom prst="rect">
            <a:avLst/>
          </a:prstGeom>
        </p:spPr>
      </p:pic>
      <p:sp>
        <p:nvSpPr>
          <p:cNvPr id="8" name="TextBox 7"/>
          <p:cNvSpPr txBox="1"/>
          <p:nvPr/>
        </p:nvSpPr>
        <p:spPr>
          <a:xfrm>
            <a:off x="8016783" y="5334138"/>
            <a:ext cx="1359346" cy="369332"/>
          </a:xfrm>
          <a:prstGeom prst="rect">
            <a:avLst/>
          </a:prstGeom>
          <a:noFill/>
        </p:spPr>
        <p:txBody>
          <a:bodyPr wrap="none" rtlCol="0">
            <a:spAutoFit/>
          </a:bodyPr>
          <a:lstStyle/>
          <a:p>
            <a:r>
              <a:rPr lang="en-US" dirty="0"/>
              <a:t>line currents</a:t>
            </a:r>
            <a:endParaRPr lang="en-IN" dirty="0"/>
          </a:p>
        </p:txBody>
      </p:sp>
    </p:spTree>
    <p:extLst>
      <p:ext uri="{BB962C8B-B14F-4D97-AF65-F5344CB8AC3E}">
        <p14:creationId xmlns:p14="http://schemas.microsoft.com/office/powerpoint/2010/main" val="145491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Calculate the phase currents of b and c and find out which bulb glows brighter.</a:t>
            </a:r>
            <a:endParaRPr lang="en-IN" dirty="0"/>
          </a:p>
        </p:txBody>
      </p:sp>
      <p:pic>
        <p:nvPicPr>
          <p:cNvPr id="4" name="Picture 3"/>
          <p:cNvPicPr>
            <a:picLocks noChangeAspect="1"/>
          </p:cNvPicPr>
          <p:nvPr/>
        </p:nvPicPr>
        <p:blipFill>
          <a:blip r:embed="rId2"/>
          <a:stretch>
            <a:fillRect/>
          </a:stretch>
        </p:blipFill>
        <p:spPr>
          <a:xfrm>
            <a:off x="203195" y="1852519"/>
            <a:ext cx="7407203" cy="5032375"/>
          </a:xfrm>
          <a:prstGeom prst="rect">
            <a:avLst/>
          </a:prstGeom>
        </p:spPr>
      </p:pic>
      <p:sp>
        <p:nvSpPr>
          <p:cNvPr id="5" name="TextBox 4"/>
          <p:cNvSpPr txBox="1"/>
          <p:nvPr/>
        </p:nvSpPr>
        <p:spPr>
          <a:xfrm>
            <a:off x="8005011" y="2390273"/>
            <a:ext cx="2438400" cy="923330"/>
          </a:xfrm>
          <a:prstGeom prst="rect">
            <a:avLst/>
          </a:prstGeom>
          <a:noFill/>
        </p:spPr>
        <p:txBody>
          <a:bodyPr wrap="square" rtlCol="0">
            <a:spAutoFit/>
          </a:bodyPr>
          <a:lstStyle/>
          <a:p>
            <a:r>
              <a:rPr lang="en-US" dirty="0" err="1"/>
              <a:t>Ic</a:t>
            </a:r>
            <a:r>
              <a:rPr lang="en-US" dirty="0"/>
              <a:t> =0.259, 123.06deg</a:t>
            </a:r>
          </a:p>
          <a:p>
            <a:r>
              <a:rPr lang="en-US" dirty="0" err="1"/>
              <a:t>Ib</a:t>
            </a:r>
            <a:r>
              <a:rPr lang="en-US" dirty="0"/>
              <a:t> = 0.91 , 225.36 </a:t>
            </a:r>
            <a:r>
              <a:rPr lang="en-US" dirty="0" err="1"/>
              <a:t>deg</a:t>
            </a:r>
            <a:endParaRPr lang="en-US" dirty="0"/>
          </a:p>
          <a:p>
            <a:r>
              <a:rPr lang="en-US" dirty="0"/>
              <a:t>Bulb ABC glows brighter</a:t>
            </a:r>
          </a:p>
        </p:txBody>
      </p:sp>
    </p:spTree>
    <p:extLst>
      <p:ext uri="{BB962C8B-B14F-4D97-AF65-F5344CB8AC3E}">
        <p14:creationId xmlns:p14="http://schemas.microsoft.com/office/powerpoint/2010/main" val="65564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6. </a:t>
            </a:r>
            <a:r>
              <a:rPr lang="en-US" sz="2800" dirty="0">
                <a:latin typeface="Times New Roman" panose="02020603050405020304" pitchFamily="18" charset="0"/>
                <a:cs typeface="Times New Roman" panose="02020603050405020304" pitchFamily="18" charset="0"/>
              </a:rPr>
              <a:t>Find the line currents and the power absorbed by the delta-connected load </a:t>
            </a:r>
            <a:endParaRPr lang="en-IN" sz="28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494222" y="2202321"/>
            <a:ext cx="7179167" cy="3973890"/>
          </a:xfrm>
          <a:prstGeom prst="rect">
            <a:avLst/>
          </a:prstGeom>
        </p:spPr>
      </p:pic>
      <p:pic>
        <p:nvPicPr>
          <p:cNvPr id="5" name="Picture 4"/>
          <p:cNvPicPr>
            <a:picLocks noChangeAspect="1"/>
          </p:cNvPicPr>
          <p:nvPr/>
        </p:nvPicPr>
        <p:blipFill>
          <a:blip r:embed="rId3"/>
          <a:stretch>
            <a:fillRect/>
          </a:stretch>
        </p:blipFill>
        <p:spPr>
          <a:xfrm>
            <a:off x="7932068" y="2442159"/>
            <a:ext cx="4048462" cy="2113799"/>
          </a:xfrm>
          <a:prstGeom prst="rect">
            <a:avLst/>
          </a:prstGeom>
        </p:spPr>
      </p:pic>
    </p:spTree>
    <p:extLst>
      <p:ext uri="{BB962C8B-B14F-4D97-AF65-F5344CB8AC3E}">
        <p14:creationId xmlns:p14="http://schemas.microsoft.com/office/powerpoint/2010/main" val="382611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TotalTime>
  <Words>401</Words>
  <Application>Microsoft Office PowerPoint</Application>
  <PresentationFormat>Widescreen</PresentationFormat>
  <Paragraphs>40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1. A 400V, 3phase 4 wire system of the figure has a star connected load with ZA = 10ohm, ZB= 15+j10 ohm and ZC = j5 ohm. Find the line currents and current through the neutral conductor.</vt:lpstr>
      <vt:lpstr>2. A 100V, 3phase 3 wire supply feed an unbalanced star connected load with an impedance of ZR =5ohm, ZY = j2 ohm and ZB= -j4 ohm, find the phase and line currents using star delta transformation.</vt:lpstr>
      <vt:lpstr>2. A three phase supply with a line voltage of 250V has an unbalanced delta load as shown in the figure. Determine the phase and line currents, total active and reactive power if the phase sequence is ABC</vt:lpstr>
      <vt:lpstr>5. In the circuit, a 400 V, 50 Hz, 3-phase supply of phase sequence ABC is supplied to a delta-connected load consisting of a 100 W resistor between lines A and B, a 378 mH inductor between lines B and C, and a 37.8 μF capacitor between lines C and A. Determine phase and line currents.  </vt:lpstr>
      <vt:lpstr>5. Calculate the phase currents of b and c and find out which bulb glows brighter.</vt:lpstr>
      <vt:lpstr>6. Find the line currents and the power absorbed by the delta-connected load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 LAB-10</dc:creator>
  <cp:lastModifiedBy>TANIKONDA NISHANTH KUMAR</cp:lastModifiedBy>
  <cp:revision>34</cp:revision>
  <dcterms:created xsi:type="dcterms:W3CDTF">2023-01-10T10:12:29Z</dcterms:created>
  <dcterms:modified xsi:type="dcterms:W3CDTF">2023-01-11T07:44:37Z</dcterms:modified>
</cp:coreProperties>
</file>