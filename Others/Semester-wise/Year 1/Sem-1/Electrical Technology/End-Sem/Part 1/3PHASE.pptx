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4" d="100"/>
          <a:sy n="54" d="100"/>
        </p:scale>
        <p:origin x="102" y="13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2523336-DBEB-4888-BF59-908EB8ACD8AF}" type="datetimeFigureOut">
              <a:rPr lang="en-IN" smtClean="0"/>
              <a:t>04-01-2023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1227621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523336-DBEB-4888-BF59-908EB8ACD8AF}" type="datetimeFigureOut">
              <a:rPr lang="en-IN" smtClean="0"/>
              <a:t>04-01-2023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173451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2523336-DBEB-4888-BF59-908EB8ACD8AF}" type="datetimeFigureOut">
              <a:rPr lang="en-IN" smtClean="0"/>
              <a:t>04-01-2023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1867702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2523336-DBEB-4888-BF59-908EB8ACD8AF}" type="datetimeFigureOut">
              <a:rPr lang="en-IN" smtClean="0"/>
              <a:t>04-01-2023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3641596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2523336-DBEB-4888-BF59-908EB8ACD8AF}" type="datetimeFigureOut">
              <a:rPr lang="en-IN" smtClean="0"/>
              <a:t>04-01-2023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26835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2523336-DBEB-4888-BF59-908EB8ACD8AF}" type="datetimeFigureOut">
              <a:rPr lang="en-IN" smtClean="0"/>
              <a:t>04-01-2023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1690005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523336-DBEB-4888-BF59-908EB8ACD8AF}" type="datetimeFigureOut">
              <a:rPr lang="en-IN" smtClean="0"/>
              <a:t>04-01-2023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1387065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2523336-DBEB-4888-BF59-908EB8ACD8AF}" type="datetimeFigureOut">
              <a:rPr lang="en-IN" smtClean="0"/>
              <a:t>04-01-2023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677150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2523336-DBEB-4888-BF59-908EB8ACD8AF}" type="datetimeFigureOut">
              <a:rPr lang="en-IN" smtClean="0"/>
              <a:t>04-01-2023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3494248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523336-DBEB-4888-BF59-908EB8ACD8AF}" type="datetimeFigureOut">
              <a:rPr lang="en-IN" smtClean="0"/>
              <a:t>04-01-2023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3855308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523336-DBEB-4888-BF59-908EB8ACD8AF}" type="datetimeFigureOut">
              <a:rPr lang="en-IN" smtClean="0"/>
              <a:t>04-01-2023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2723EF-D6AA-479C-8F3F-6DA6E42F2C64}" type="slidenum">
              <a:rPr lang="en-IN" smtClean="0"/>
              <a:t>‹#›</a:t>
            </a:fld>
            <a:endParaRPr lang="en-IN"/>
          </a:p>
        </p:txBody>
      </p:sp>
    </p:spTree>
    <p:extLst>
      <p:ext uri="{BB962C8B-B14F-4D97-AF65-F5344CB8AC3E}">
        <p14:creationId xmlns:p14="http://schemas.microsoft.com/office/powerpoint/2010/main" val="3243930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23336-DBEB-4888-BF59-908EB8ACD8AF}" type="datetimeFigureOut">
              <a:rPr lang="en-IN" smtClean="0"/>
              <a:t>04-01-2023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2723EF-D6AA-479C-8F3F-6DA6E42F2C64}" type="slidenum">
              <a:rPr lang="en-IN" smtClean="0"/>
              <a:t>‹#›</a:t>
            </a:fld>
            <a:endParaRPr lang="en-IN"/>
          </a:p>
        </p:txBody>
      </p:sp>
    </p:spTree>
    <p:extLst>
      <p:ext uri="{BB962C8B-B14F-4D97-AF65-F5344CB8AC3E}">
        <p14:creationId xmlns:p14="http://schemas.microsoft.com/office/powerpoint/2010/main" val="2085280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41069" y="157942"/>
            <a:ext cx="11737571" cy="6500553"/>
          </a:xfrm>
        </p:spPr>
        <p:txBody>
          <a:bodyPr/>
          <a:lstStyle/>
          <a:p>
            <a:pPr marL="514350" indent="-514350">
              <a:buAutoNum type="arabicPeriod"/>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phase sequence of the Y-connected generator </a:t>
            </a:r>
            <a:r>
              <a:rPr lang="en-US" dirty="0" smtClean="0">
                <a:latin typeface="Times New Roman" panose="02020603050405020304" pitchFamily="18" charset="0"/>
                <a:cs typeface="Times New Roman" panose="02020603050405020304" pitchFamily="18" charset="0"/>
              </a:rPr>
              <a:t>is </a:t>
            </a:r>
            <a:r>
              <a:rPr lang="en-US" i="1" dirty="0">
                <a:latin typeface="Times New Roman" panose="02020603050405020304" pitchFamily="18" charset="0"/>
                <a:cs typeface="Times New Roman" panose="02020603050405020304" pitchFamily="18" charset="0"/>
              </a:rPr>
              <a:t>ABC.</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Then find:</a:t>
            </a:r>
          </a:p>
          <a:p>
            <a:pPr marL="0" indent="0">
              <a:buNone/>
            </a:pPr>
            <a:r>
              <a:rPr lang="en-US" dirty="0" smtClean="0">
                <a:latin typeface="Times New Roman" panose="02020603050405020304" pitchFamily="18" charset="0"/>
                <a:cs typeface="Times New Roman" panose="02020603050405020304" pitchFamily="18" charset="0"/>
              </a:rPr>
              <a:t>a. Find </a:t>
            </a:r>
            <a:r>
              <a:rPr lang="en-US" dirty="0">
                <a:latin typeface="Times New Roman" panose="02020603050405020304" pitchFamily="18" charset="0"/>
                <a:cs typeface="Times New Roman" panose="02020603050405020304" pitchFamily="18" charset="0"/>
              </a:rPr>
              <a:t>the phase angles </a:t>
            </a:r>
            <a:r>
              <a:rPr lang="el-GR" dirty="0" smtClean="0">
                <a:latin typeface="Times New Roman" panose="02020603050405020304" pitchFamily="18" charset="0"/>
                <a:cs typeface="Times New Roman" panose="02020603050405020304" pitchFamily="18" charset="0"/>
              </a:rPr>
              <a:t>Θ</a:t>
            </a:r>
            <a:r>
              <a:rPr lang="en-US" baseline="-25000" dirty="0" smtClean="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and </a:t>
            </a:r>
            <a:r>
              <a:rPr lang="el-GR" dirty="0" smtClean="0">
                <a:latin typeface="Times New Roman" panose="02020603050405020304" pitchFamily="18" charset="0"/>
                <a:cs typeface="Times New Roman" panose="02020603050405020304" pitchFamily="18" charset="0"/>
              </a:rPr>
              <a:t>Θ</a:t>
            </a:r>
            <a:r>
              <a:rPr lang="en-US" baseline="-25000" dirty="0" smtClean="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Find the magnitude of the line voltages.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Find the line currents</a:t>
            </a:r>
            <a:r>
              <a:rPr lang="en-US" dirty="0" smtClean="0">
                <a:latin typeface="Times New Roman" panose="02020603050405020304" pitchFamily="18" charset="0"/>
                <a:cs typeface="Times New Roman" panose="02020603050405020304" pitchFamily="18" charset="0"/>
              </a:rPr>
              <a:t>.</a:t>
            </a:r>
            <a:br>
              <a:rPr lang="en-US" dirty="0" smtClean="0">
                <a:latin typeface="Times New Roman" panose="02020603050405020304" pitchFamily="18" charset="0"/>
                <a:cs typeface="Times New Roman" panose="02020603050405020304" pitchFamily="18" charset="0"/>
              </a:rPr>
            </a:b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IN" dirty="0"/>
          </a:p>
        </p:txBody>
      </p:sp>
      <p:pic>
        <p:nvPicPr>
          <p:cNvPr id="12" name="Picture 11"/>
          <p:cNvPicPr>
            <a:picLocks noChangeAspect="1"/>
          </p:cNvPicPr>
          <p:nvPr/>
        </p:nvPicPr>
        <p:blipFill>
          <a:blip r:embed="rId2"/>
          <a:stretch>
            <a:fillRect/>
          </a:stretch>
        </p:blipFill>
        <p:spPr>
          <a:xfrm>
            <a:off x="106074" y="1884218"/>
            <a:ext cx="9275767" cy="3859877"/>
          </a:xfrm>
          <a:prstGeom prst="rect">
            <a:avLst/>
          </a:prstGeom>
        </p:spPr>
      </p:pic>
      <p:sp>
        <p:nvSpPr>
          <p:cNvPr id="13" name="TextBox 12"/>
          <p:cNvSpPr txBox="1"/>
          <p:nvPr/>
        </p:nvSpPr>
        <p:spPr>
          <a:xfrm>
            <a:off x="8993230" y="1801706"/>
            <a:ext cx="2893741" cy="2585323"/>
          </a:xfrm>
          <a:prstGeom prst="rect">
            <a:avLst/>
          </a:prstGeom>
          <a:noFill/>
        </p:spPr>
        <p:txBody>
          <a:bodyPr wrap="none" rtlCol="0">
            <a:spAutoFit/>
          </a:bodyPr>
          <a:lstStyle/>
          <a:p>
            <a:pPr marL="342900" indent="-342900">
              <a:buAutoNum type="alphaLcPeriod"/>
            </a:pPr>
            <a:r>
              <a:rPr lang="el-GR" dirty="0" smtClean="0">
                <a:latin typeface="Times New Roman" panose="02020603050405020304" pitchFamily="18" charset="0"/>
                <a:cs typeface="Times New Roman" panose="02020603050405020304" pitchFamily="18" charset="0"/>
              </a:rPr>
              <a:t>Θ</a:t>
            </a:r>
            <a:r>
              <a:rPr lang="en-US" baseline="-25000" dirty="0" smtClean="0">
                <a:latin typeface="Times New Roman" panose="02020603050405020304" pitchFamily="18" charset="0"/>
                <a:cs typeface="Times New Roman" panose="02020603050405020304" pitchFamily="18" charset="0"/>
              </a:rPr>
              <a:t>2 </a:t>
            </a:r>
            <a:r>
              <a:rPr lang="en-US" dirty="0" smtClean="0"/>
              <a:t>= - </a:t>
            </a:r>
            <a:r>
              <a:rPr lang="en-US" b="1" dirty="0" smtClean="0"/>
              <a:t>120</a:t>
            </a:r>
            <a:r>
              <a:rPr lang="en-US" b="1" dirty="0"/>
              <a:t>° </a:t>
            </a:r>
            <a:r>
              <a:rPr lang="en-US" dirty="0"/>
              <a:t>and </a:t>
            </a:r>
            <a:r>
              <a:rPr lang="el-GR" dirty="0" smtClean="0">
                <a:latin typeface="Times New Roman" panose="02020603050405020304" pitchFamily="18" charset="0"/>
                <a:cs typeface="Times New Roman" panose="02020603050405020304" pitchFamily="18" charset="0"/>
              </a:rPr>
              <a:t>Θ</a:t>
            </a:r>
            <a:r>
              <a:rPr lang="en-US" baseline="-25000" dirty="0" smtClean="0">
                <a:latin typeface="Times New Roman" panose="02020603050405020304" pitchFamily="18" charset="0"/>
                <a:cs typeface="Times New Roman" panose="02020603050405020304" pitchFamily="18" charset="0"/>
              </a:rPr>
              <a:t>3 </a:t>
            </a:r>
            <a:r>
              <a:rPr lang="en-US" dirty="0" smtClean="0">
                <a:latin typeface="Times New Roman" panose="02020603050405020304" pitchFamily="18" charset="0"/>
                <a:cs typeface="Times New Roman" panose="02020603050405020304" pitchFamily="18" charset="0"/>
              </a:rPr>
              <a:t>= </a:t>
            </a:r>
            <a:r>
              <a:rPr lang="en-US" b="1" dirty="0" smtClean="0"/>
              <a:t>120°</a:t>
            </a:r>
          </a:p>
          <a:p>
            <a:pPr marL="342900" indent="-342900">
              <a:buAutoNum type="alphaLcPeriod"/>
            </a:pPr>
            <a:endParaRPr lang="en-US" b="1" dirty="0" smtClean="0"/>
          </a:p>
          <a:p>
            <a:pPr marL="342900" indent="-342900">
              <a:buAutoNum type="alphaLcPeriod"/>
            </a:pPr>
            <a:r>
              <a:rPr lang="en-IN" i="1" dirty="0" smtClean="0"/>
              <a:t>E</a:t>
            </a:r>
            <a:r>
              <a:rPr lang="en-IN" i="1" baseline="-25000" dirty="0" smtClean="0"/>
              <a:t>AB</a:t>
            </a:r>
            <a:r>
              <a:rPr lang="en-IN" i="1" dirty="0" smtClean="0"/>
              <a:t> = E</a:t>
            </a:r>
            <a:r>
              <a:rPr lang="en-IN" i="1" baseline="-25000" dirty="0" smtClean="0"/>
              <a:t>BC</a:t>
            </a:r>
            <a:r>
              <a:rPr lang="en-IN" i="1" dirty="0" smtClean="0"/>
              <a:t> </a:t>
            </a:r>
            <a:r>
              <a:rPr lang="en-IN" dirty="0" smtClean="0"/>
              <a:t>= </a:t>
            </a:r>
            <a:r>
              <a:rPr lang="en-IN" i="1" dirty="0" smtClean="0"/>
              <a:t>E</a:t>
            </a:r>
            <a:r>
              <a:rPr lang="en-IN" i="1" baseline="-25000" dirty="0" smtClean="0"/>
              <a:t>CA</a:t>
            </a:r>
            <a:r>
              <a:rPr lang="en-IN" i="1" dirty="0" smtClean="0"/>
              <a:t> </a:t>
            </a:r>
            <a:r>
              <a:rPr lang="en-IN" dirty="0" smtClean="0"/>
              <a:t>= </a:t>
            </a:r>
            <a:r>
              <a:rPr lang="en-IN" b="1" dirty="0" smtClean="0"/>
              <a:t>208 V</a:t>
            </a:r>
          </a:p>
          <a:p>
            <a:pPr marL="342900" indent="-342900">
              <a:buAutoNum type="alphaLcPeriod"/>
            </a:pPr>
            <a:endParaRPr lang="en-IN" b="1" dirty="0" smtClean="0"/>
          </a:p>
          <a:p>
            <a:pPr marL="342900" indent="-342900">
              <a:buAutoNum type="alphaLcPeriod"/>
            </a:pPr>
            <a:r>
              <a:rPr lang="es-ES" b="1" dirty="0" err="1"/>
              <a:t>I</a:t>
            </a:r>
            <a:r>
              <a:rPr lang="es-ES" i="1" baseline="-25000" dirty="0" err="1"/>
              <a:t>Aa</a:t>
            </a:r>
            <a:r>
              <a:rPr lang="es-ES" i="1" dirty="0"/>
              <a:t> </a:t>
            </a:r>
            <a:r>
              <a:rPr lang="es-ES" dirty="0" smtClean="0"/>
              <a:t>= </a:t>
            </a:r>
            <a:r>
              <a:rPr lang="es-ES" b="1" dirty="0" err="1"/>
              <a:t>I</a:t>
            </a:r>
            <a:r>
              <a:rPr lang="es-ES" i="1" baseline="-25000" dirty="0" err="1"/>
              <a:t>an</a:t>
            </a:r>
            <a:r>
              <a:rPr lang="es-ES" i="1" dirty="0"/>
              <a:t> </a:t>
            </a:r>
            <a:r>
              <a:rPr lang="es-ES" dirty="0" smtClean="0"/>
              <a:t>= </a:t>
            </a:r>
            <a:r>
              <a:rPr lang="es-ES" b="1" dirty="0"/>
              <a:t>24 A </a:t>
            </a:r>
            <a:r>
              <a:rPr lang="es-ES" dirty="0" smtClean="0"/>
              <a:t>, -</a:t>
            </a:r>
            <a:r>
              <a:rPr lang="es-ES" b="1" dirty="0" smtClean="0"/>
              <a:t>53.13</a:t>
            </a:r>
            <a:r>
              <a:rPr lang="es-ES" b="1" dirty="0"/>
              <a:t>°</a:t>
            </a:r>
            <a:br>
              <a:rPr lang="es-ES" b="1" dirty="0"/>
            </a:br>
            <a:r>
              <a:rPr lang="es-ES" b="1" dirty="0" err="1"/>
              <a:t>I</a:t>
            </a:r>
            <a:r>
              <a:rPr lang="es-ES" i="1" baseline="-25000" dirty="0" err="1"/>
              <a:t>Bb</a:t>
            </a:r>
            <a:r>
              <a:rPr lang="es-ES" i="1" dirty="0"/>
              <a:t> </a:t>
            </a:r>
            <a:r>
              <a:rPr lang="es-ES" dirty="0" smtClean="0"/>
              <a:t>= </a:t>
            </a:r>
            <a:r>
              <a:rPr lang="es-ES" b="1" dirty="0" err="1"/>
              <a:t>I</a:t>
            </a:r>
            <a:r>
              <a:rPr lang="es-ES" i="1" baseline="-25000" dirty="0" err="1"/>
              <a:t>bn</a:t>
            </a:r>
            <a:r>
              <a:rPr lang="es-ES" i="1" dirty="0"/>
              <a:t> </a:t>
            </a:r>
            <a:r>
              <a:rPr lang="es-ES" dirty="0" smtClean="0"/>
              <a:t>= </a:t>
            </a:r>
            <a:r>
              <a:rPr lang="es-ES" b="1" dirty="0"/>
              <a:t>24 A </a:t>
            </a:r>
            <a:r>
              <a:rPr lang="es-ES" dirty="0" smtClean="0"/>
              <a:t>, -</a:t>
            </a:r>
            <a:r>
              <a:rPr lang="es-ES" b="1" dirty="0" smtClean="0"/>
              <a:t>173.13</a:t>
            </a:r>
            <a:r>
              <a:rPr lang="es-ES" b="1" dirty="0"/>
              <a:t>°</a:t>
            </a:r>
            <a:br>
              <a:rPr lang="es-ES" b="1" dirty="0"/>
            </a:br>
            <a:r>
              <a:rPr lang="es-ES" b="1" dirty="0" err="1"/>
              <a:t>I</a:t>
            </a:r>
            <a:r>
              <a:rPr lang="es-ES" i="1" baseline="-25000" dirty="0" err="1"/>
              <a:t>Cc</a:t>
            </a:r>
            <a:r>
              <a:rPr lang="es-ES" i="1" dirty="0"/>
              <a:t> </a:t>
            </a:r>
            <a:r>
              <a:rPr lang="es-ES" dirty="0" smtClean="0"/>
              <a:t>=</a:t>
            </a:r>
            <a:r>
              <a:rPr lang="es-ES" b="1" dirty="0" err="1" smtClean="0"/>
              <a:t>I</a:t>
            </a:r>
            <a:r>
              <a:rPr lang="es-ES" i="1" baseline="-25000" dirty="0" err="1" smtClean="0"/>
              <a:t>cn</a:t>
            </a:r>
            <a:r>
              <a:rPr lang="es-ES" i="1" dirty="0" smtClean="0"/>
              <a:t> </a:t>
            </a:r>
            <a:r>
              <a:rPr lang="es-ES" dirty="0" smtClean="0"/>
              <a:t>= </a:t>
            </a:r>
            <a:r>
              <a:rPr lang="es-ES" b="1" dirty="0"/>
              <a:t>24 A </a:t>
            </a:r>
            <a:r>
              <a:rPr lang="es-ES" dirty="0" smtClean="0"/>
              <a:t>, </a:t>
            </a:r>
            <a:r>
              <a:rPr lang="es-ES" b="1" dirty="0" smtClean="0"/>
              <a:t>66.87</a:t>
            </a:r>
            <a:r>
              <a:rPr lang="es-ES" b="1" dirty="0"/>
              <a:t>°</a:t>
            </a:r>
            <a:r>
              <a:rPr lang="es-ES" dirty="0" smtClean="0"/>
              <a:t> </a:t>
            </a:r>
            <a:br>
              <a:rPr lang="es-ES" dirty="0" smtClean="0"/>
            </a:br>
            <a:r>
              <a:rPr lang="en-IN" dirty="0" smtClean="0"/>
              <a:t> </a:t>
            </a:r>
            <a:r>
              <a:rPr lang="en-US" dirty="0" smtClean="0"/>
              <a:t/>
            </a:r>
            <a:br>
              <a:rPr lang="en-US" dirty="0" smtClean="0"/>
            </a:br>
            <a:endParaRPr lang="en-IN" dirty="0"/>
          </a:p>
        </p:txBody>
      </p:sp>
    </p:spTree>
    <p:extLst>
      <p:ext uri="{BB962C8B-B14F-4D97-AF65-F5344CB8AC3E}">
        <p14:creationId xmlns:p14="http://schemas.microsoft.com/office/powerpoint/2010/main" val="189374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005" y="116378"/>
            <a:ext cx="11862260" cy="6675120"/>
          </a:xfrm>
        </p:spPr>
        <p:txBody>
          <a:bodyPr/>
          <a:lstStyle/>
          <a:p>
            <a:pPr marL="0" indent="0">
              <a:buNone/>
            </a:pPr>
            <a:r>
              <a:rPr lang="en-US" dirty="0" smtClean="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For a star connected balanced load, find the following:</a:t>
            </a:r>
          </a:p>
          <a:p>
            <a:pPr marL="0" indent="0">
              <a:buNone/>
            </a:pPr>
            <a:r>
              <a:rPr lang="en-US" sz="2400" dirty="0" smtClean="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Find the average power to each phase and the total load.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Determine the reactive power to each phase and the total </a:t>
            </a:r>
            <a:r>
              <a:rPr lang="en-US" sz="2400" dirty="0" smtClean="0">
                <a:latin typeface="Times New Roman" panose="02020603050405020304" pitchFamily="18" charset="0"/>
                <a:cs typeface="Times New Roman" panose="02020603050405020304" pitchFamily="18" charset="0"/>
              </a:rPr>
              <a:t>reactive power</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Find the apparent power to each phase and the total apparent power.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Find the power factor of the load</a:t>
            </a:r>
            <a:r>
              <a:rPr lang="en-US" sz="2400"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smtClean="0"/>
              <a:t> </a:t>
            </a:r>
            <a:endParaRPr lang="en-IN" dirty="0"/>
          </a:p>
        </p:txBody>
      </p:sp>
      <p:pic>
        <p:nvPicPr>
          <p:cNvPr id="5" name="Picture 4"/>
          <p:cNvPicPr>
            <a:picLocks noChangeAspect="1"/>
          </p:cNvPicPr>
          <p:nvPr/>
        </p:nvPicPr>
        <p:blipFill>
          <a:blip r:embed="rId2"/>
          <a:stretch>
            <a:fillRect/>
          </a:stretch>
        </p:blipFill>
        <p:spPr>
          <a:xfrm>
            <a:off x="189244" y="2079812"/>
            <a:ext cx="7645713" cy="4778188"/>
          </a:xfrm>
          <a:prstGeom prst="rect">
            <a:avLst/>
          </a:prstGeom>
        </p:spPr>
      </p:pic>
      <p:sp>
        <p:nvSpPr>
          <p:cNvPr id="6" name="TextBox 5"/>
          <p:cNvSpPr txBox="1"/>
          <p:nvPr/>
        </p:nvSpPr>
        <p:spPr>
          <a:xfrm>
            <a:off x="7063992" y="2581835"/>
            <a:ext cx="4148059" cy="1477328"/>
          </a:xfrm>
          <a:prstGeom prst="rect">
            <a:avLst/>
          </a:prstGeom>
          <a:noFill/>
        </p:spPr>
        <p:txBody>
          <a:bodyPr wrap="none" rtlCol="0">
            <a:spAutoFit/>
          </a:bodyPr>
          <a:lstStyle/>
          <a:p>
            <a:pPr marL="342900" indent="-342900">
              <a:buAutoNum type="alphaLcPeriod"/>
            </a:pPr>
            <a:r>
              <a:rPr lang="en-US" dirty="0" smtClean="0"/>
              <a:t>P per phase: 1200W, Pt = 3600W</a:t>
            </a:r>
          </a:p>
          <a:p>
            <a:pPr marL="342900" indent="-342900">
              <a:buAutoNum type="alphaLcPeriod"/>
            </a:pPr>
            <a:r>
              <a:rPr lang="en-US" dirty="0" smtClean="0"/>
              <a:t>Q per phase: 1600 VAR, </a:t>
            </a:r>
            <a:r>
              <a:rPr lang="en-US" dirty="0" err="1" smtClean="0"/>
              <a:t>Qt</a:t>
            </a:r>
            <a:r>
              <a:rPr lang="en-US" dirty="0" smtClean="0"/>
              <a:t> = 4800 VAR</a:t>
            </a:r>
          </a:p>
          <a:p>
            <a:pPr marL="342900" indent="-342900">
              <a:buAutoNum type="alphaLcPeriod"/>
            </a:pPr>
            <a:r>
              <a:rPr lang="en-US" dirty="0" smtClean="0"/>
              <a:t>S per phase: 2000VA, St = 6000VA</a:t>
            </a:r>
          </a:p>
          <a:p>
            <a:pPr marL="342900" indent="-342900">
              <a:buAutoNum type="alphaLcPeriod"/>
            </a:pPr>
            <a:r>
              <a:rPr lang="en-US" dirty="0" smtClean="0"/>
              <a:t>Power factor = 0.6 lag</a:t>
            </a:r>
          </a:p>
          <a:p>
            <a:endParaRPr lang="en-IN" dirty="0"/>
          </a:p>
        </p:txBody>
      </p:sp>
    </p:spTree>
    <p:extLst>
      <p:ext uri="{BB962C8B-B14F-4D97-AF65-F5344CB8AC3E}">
        <p14:creationId xmlns:p14="http://schemas.microsoft.com/office/powerpoint/2010/main" val="57927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938" y="1121583"/>
            <a:ext cx="10515600" cy="1325563"/>
          </a:xfrm>
        </p:spPr>
        <p:txBody>
          <a:bodyPr>
            <a:noAutofit/>
          </a:bodyPr>
          <a:lstStyle/>
          <a:p>
            <a:r>
              <a:rPr lang="en-US" sz="2000" dirty="0" smtClean="0">
                <a:latin typeface="Times New Roman" panose="02020603050405020304" pitchFamily="18" charset="0"/>
                <a:cs typeface="Times New Roman" panose="02020603050405020304" pitchFamily="18" charset="0"/>
              </a:rPr>
              <a:t>3. Each </a:t>
            </a:r>
            <a:r>
              <a:rPr lang="en-US" sz="2000" dirty="0">
                <a:latin typeface="Times New Roman" panose="02020603050405020304" pitchFamily="18" charset="0"/>
                <a:cs typeface="Times New Roman" panose="02020603050405020304" pitchFamily="18" charset="0"/>
              </a:rPr>
              <a:t>transmission line of the three-wire, </a:t>
            </a:r>
            <a:r>
              <a:rPr lang="en-US" sz="2000" dirty="0" smtClean="0">
                <a:latin typeface="Times New Roman" panose="02020603050405020304" pitchFamily="18" charset="0"/>
                <a:cs typeface="Times New Roman" panose="02020603050405020304" pitchFamily="18" charset="0"/>
              </a:rPr>
              <a:t>three-phase system has </a:t>
            </a:r>
            <a:r>
              <a:rPr lang="en-US" sz="2000" dirty="0">
                <a:latin typeface="Times New Roman" panose="02020603050405020304" pitchFamily="18" charset="0"/>
                <a:cs typeface="Times New Roman" panose="02020603050405020304" pitchFamily="18" charset="0"/>
              </a:rPr>
              <a:t>an impedance of 15 </a:t>
            </a:r>
            <a:r>
              <a:rPr lang="en-US" sz="2000" dirty="0" smtClean="0">
                <a:latin typeface="Times New Roman" panose="02020603050405020304" pitchFamily="18" charset="0"/>
                <a:cs typeface="Times New Roman" panose="02020603050405020304" pitchFamily="18" charset="0"/>
              </a:rPr>
              <a:t>+ </a:t>
            </a:r>
            <a:r>
              <a:rPr lang="en-US" sz="2000" i="1" dirty="0" smtClean="0">
                <a:latin typeface="Times New Roman" panose="02020603050405020304" pitchFamily="18" charset="0"/>
                <a:cs typeface="Times New Roman" panose="02020603050405020304" pitchFamily="18" charset="0"/>
              </a:rPr>
              <a:t>j </a:t>
            </a:r>
            <a:r>
              <a:rPr lang="en-US" sz="2000" dirty="0">
                <a:latin typeface="Times New Roman" panose="02020603050405020304" pitchFamily="18" charset="0"/>
                <a:cs typeface="Times New Roman" panose="02020603050405020304" pitchFamily="18" charset="0"/>
              </a:rPr>
              <a:t>20 </a:t>
            </a:r>
            <a:r>
              <a:rPr lang="el-GR" sz="2000" dirty="0" smtClean="0">
                <a:latin typeface="Times New Roman" panose="02020603050405020304" pitchFamily="18" charset="0"/>
                <a:cs typeface="Times New Roman" panose="02020603050405020304" pitchFamily="18" charset="0"/>
              </a:rPr>
              <a:t>Ω</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a:t>
            </a:r>
            <a:r>
              <a:rPr lang="en-US" sz="2000" dirty="0" smtClean="0">
                <a:latin typeface="Times New Roman" panose="02020603050405020304" pitchFamily="18" charset="0"/>
                <a:cs typeface="Times New Roman" panose="02020603050405020304" pitchFamily="18" charset="0"/>
              </a:rPr>
              <a:t>system delivers </a:t>
            </a:r>
            <a:r>
              <a:rPr lang="en-US" sz="2000" dirty="0">
                <a:latin typeface="Times New Roman" panose="02020603050405020304" pitchFamily="18" charset="0"/>
                <a:cs typeface="Times New Roman" panose="02020603050405020304" pitchFamily="18" charset="0"/>
              </a:rPr>
              <a:t>a total power of 160 kW at 12,000 V to a balanced </a:t>
            </a:r>
            <a:r>
              <a:rPr lang="en-US" sz="2000" dirty="0" smtClean="0">
                <a:latin typeface="Times New Roman" panose="02020603050405020304" pitchFamily="18" charset="0"/>
                <a:cs typeface="Times New Roman" panose="02020603050405020304" pitchFamily="18" charset="0"/>
              </a:rPr>
              <a:t>three-phase load </a:t>
            </a:r>
            <a:r>
              <a:rPr lang="en-US" sz="2000" dirty="0">
                <a:latin typeface="Times New Roman" panose="02020603050405020304" pitchFamily="18" charset="0"/>
                <a:cs typeface="Times New Roman" panose="02020603050405020304" pitchFamily="18" charset="0"/>
              </a:rPr>
              <a:t>with a lagging power factor of 0.86.</a:t>
            </a:r>
            <a:r>
              <a:rPr lang="en-US" sz="2000" dirty="0" smtClean="0">
                <a:latin typeface="Times New Roman" panose="02020603050405020304" pitchFamily="18" charset="0"/>
                <a:cs typeface="Times New Roman" panose="02020603050405020304" pitchFamily="18" charset="0"/>
              </a:rPr>
              <a:t>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find</a:t>
            </a:r>
            <a:br>
              <a:rPr lang="en-US" sz="2000" dirty="0" smtClean="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 Determine the magnitude of the line voltage </a:t>
            </a:r>
            <a:r>
              <a:rPr lang="en-US" sz="2000" i="1" dirty="0">
                <a:latin typeface="Times New Roman" panose="02020603050405020304" pitchFamily="18" charset="0"/>
                <a:cs typeface="Times New Roman" panose="02020603050405020304" pitchFamily="18" charset="0"/>
              </a:rPr>
              <a:t>E</a:t>
            </a:r>
            <a:r>
              <a:rPr lang="en-US" sz="2000" i="1" baseline="-25000" dirty="0">
                <a:latin typeface="Times New Roman" panose="02020603050405020304" pitchFamily="18" charset="0"/>
                <a:cs typeface="Times New Roman" panose="02020603050405020304" pitchFamily="18" charset="0"/>
              </a:rPr>
              <a:t>AB</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 the generator.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 Find the power factor of the total load applied to the generator</a:t>
            </a:r>
            <a:r>
              <a:rPr lang="en-US" sz="2000" dirty="0" smtClean="0">
                <a:latin typeface="Times New Roman" panose="02020603050405020304" pitchFamily="18" charset="0"/>
                <a:cs typeface="Times New Roman" panose="02020603050405020304" pitchFamily="18" charset="0"/>
              </a:rPr>
              <a:t>.</a:t>
            </a:r>
            <a:r>
              <a:rPr lang="en-US" sz="2000" dirty="0" smtClean="0"/>
              <a:t/>
            </a:r>
            <a:br>
              <a:rPr lang="en-US" sz="2000" dirty="0" smtClean="0"/>
            </a:b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0" y="2624152"/>
            <a:ext cx="8730780" cy="3610393"/>
          </a:xfrm>
          <a:prstGeom prst="rect">
            <a:avLst/>
          </a:prstGeom>
        </p:spPr>
      </p:pic>
      <p:sp>
        <p:nvSpPr>
          <p:cNvPr id="6" name="TextBox 5"/>
          <p:cNvSpPr txBox="1"/>
          <p:nvPr/>
        </p:nvSpPr>
        <p:spPr>
          <a:xfrm>
            <a:off x="9326880" y="3009207"/>
            <a:ext cx="2058769" cy="707886"/>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E</a:t>
            </a:r>
            <a:r>
              <a:rPr lang="en-US" sz="2000" baseline="-25000" dirty="0" smtClean="0">
                <a:latin typeface="Times New Roman" panose="02020603050405020304" pitchFamily="18" charset="0"/>
                <a:cs typeface="Times New Roman" panose="02020603050405020304" pitchFamily="18" charset="0"/>
              </a:rPr>
              <a:t>AB</a:t>
            </a:r>
            <a:r>
              <a:rPr lang="en-US" sz="2000" dirty="0" smtClean="0">
                <a:latin typeface="Times New Roman" panose="02020603050405020304" pitchFamily="18" charset="0"/>
                <a:cs typeface="Times New Roman" panose="02020603050405020304" pitchFamily="18" charset="0"/>
              </a:rPr>
              <a:t> = 12358.26 V</a:t>
            </a:r>
          </a:p>
          <a:p>
            <a:r>
              <a:rPr lang="en-US" sz="2000" dirty="0" smtClean="0">
                <a:latin typeface="Times New Roman" panose="02020603050405020304" pitchFamily="18" charset="0"/>
                <a:cs typeface="Times New Roman" panose="02020603050405020304" pitchFamily="18" charset="0"/>
              </a:rPr>
              <a:t>Pf = 0.856</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24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smtClean="0">
                <a:latin typeface="Times New Roman" panose="02020603050405020304" pitchFamily="18" charset="0"/>
                <a:cs typeface="Times New Roman" panose="02020603050405020304" pitchFamily="18" charset="0"/>
              </a:rPr>
              <a:t>4. A </a:t>
            </a:r>
            <a:r>
              <a:rPr lang="en-US" sz="2400" b="1" dirty="0">
                <a:latin typeface="Times New Roman" panose="02020603050405020304" pitchFamily="18" charset="0"/>
                <a:cs typeface="Times New Roman" panose="02020603050405020304" pitchFamily="18" charset="0"/>
              </a:rPr>
              <a:t>balanced three-phase system with a line voltage of 300 V is supplying a balanced Y-connected load with 1200 W at a leading </a:t>
            </a:r>
            <a:r>
              <a:rPr lang="en-US" sz="2400" b="1" dirty="0" smtClean="0">
                <a:latin typeface="Times New Roman" panose="02020603050405020304" pitchFamily="18" charset="0"/>
                <a:cs typeface="Times New Roman" panose="02020603050405020304" pitchFamily="18" charset="0"/>
              </a:rPr>
              <a:t>PF of </a:t>
            </a:r>
            <a:r>
              <a:rPr lang="en-US" sz="2400" b="1" dirty="0">
                <a:latin typeface="Times New Roman" panose="02020603050405020304" pitchFamily="18" charset="0"/>
                <a:cs typeface="Times New Roman" panose="02020603050405020304" pitchFamily="18" charset="0"/>
              </a:rPr>
              <a:t>0.8. Find the line current and the per-phase load impedance.</a:t>
            </a:r>
            <a:r>
              <a:rPr lang="en-US" sz="2400" dirty="0" smtClean="0">
                <a:latin typeface="Times New Roman" panose="02020603050405020304" pitchFamily="18" charset="0"/>
                <a:cs typeface="Times New Roman" panose="02020603050405020304" pitchFamily="18" charset="0"/>
              </a:rPr>
              <a:t> </a:t>
            </a:r>
            <a:br>
              <a:rPr lang="en-US" sz="2400" dirty="0" smtClean="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863788" y="3173506"/>
            <a:ext cx="4464423" cy="1661993"/>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Line current = 2.89A</a:t>
            </a:r>
          </a:p>
          <a:p>
            <a:r>
              <a:rPr lang="en-US" sz="2800" dirty="0" err="1" smtClean="0">
                <a:latin typeface="Times New Roman" panose="02020603050405020304" pitchFamily="18" charset="0"/>
                <a:cs typeface="Times New Roman" panose="02020603050405020304" pitchFamily="18" charset="0"/>
              </a:rPr>
              <a:t>Zp</a:t>
            </a:r>
            <a:r>
              <a:rPr lang="en-US" sz="2800" dirty="0" smtClean="0">
                <a:latin typeface="Times New Roman" panose="02020603050405020304" pitchFamily="18" charset="0"/>
                <a:cs typeface="Times New Roman" panose="02020603050405020304" pitchFamily="18" charset="0"/>
              </a:rPr>
              <a:t> = 60 </a:t>
            </a:r>
            <a:r>
              <a:rPr lang="el-GR" sz="2800" dirty="0" smtClean="0">
                <a:latin typeface="Times New Roman" panose="02020603050405020304" pitchFamily="18" charset="0"/>
                <a:cs typeface="Times New Roman" panose="02020603050405020304" pitchFamily="18" charset="0"/>
              </a:rPr>
              <a:t>Ω</a:t>
            </a:r>
            <a:r>
              <a:rPr lang="en-US" sz="2800" dirty="0" smtClean="0">
                <a:latin typeface="Times New Roman" panose="02020603050405020304" pitchFamily="18" charset="0"/>
                <a:cs typeface="Times New Roman" panose="02020603050405020304" pitchFamily="18" charset="0"/>
              </a:rPr>
              <a:t>, -36.9</a:t>
            </a:r>
            <a:r>
              <a:rPr lang="en-IN" sz="2800" dirty="0">
                <a:latin typeface="Times New Roman" panose="02020603050405020304" pitchFamily="18" charset="0"/>
                <a:cs typeface="Times New Roman" panose="02020603050405020304" pitchFamily="18" charset="0"/>
              </a:rPr>
              <a:t>◦</a:t>
            </a:r>
            <a:r>
              <a:rPr lang="en-IN" sz="2800" dirty="0" smtClean="0">
                <a:latin typeface="Times New Roman" panose="02020603050405020304" pitchFamily="18" charset="0"/>
                <a:cs typeface="Times New Roman" panose="02020603050405020304" pitchFamily="18" charset="0"/>
              </a:rPr>
              <a:t> </a:t>
            </a:r>
            <a:br>
              <a:rPr lang="en-IN" sz="2800" dirty="0" smtClean="0">
                <a:latin typeface="Times New Roman" panose="02020603050405020304" pitchFamily="18" charset="0"/>
                <a:cs typeface="Times New Roman" panose="02020603050405020304" pitchFamily="18" charset="0"/>
              </a:rPr>
            </a:br>
            <a:endParaRPr lang="en-US" sz="2800" dirty="0" smtClean="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74967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smtClean="0">
                <a:latin typeface="Times New Roman" panose="02020603050405020304" pitchFamily="18" charset="0"/>
                <a:cs typeface="Times New Roman" panose="02020603050405020304" pitchFamily="18" charset="0"/>
              </a:rPr>
              <a:t>5. </a:t>
            </a:r>
            <a:r>
              <a:rPr lang="en-US" sz="2800" dirty="0">
                <a:latin typeface="Times New Roman" panose="02020603050405020304" pitchFamily="18" charset="0"/>
                <a:cs typeface="Times New Roman" panose="02020603050405020304" pitchFamily="18" charset="0"/>
              </a:rPr>
              <a:t>A balanced three-phase three-wire system has a Y-connected load.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Each phase contains three loads in parallel: -</a:t>
            </a:r>
            <a:r>
              <a:rPr lang="en-US" sz="2800" i="1" dirty="0" smtClean="0">
                <a:latin typeface="Times New Roman" panose="02020603050405020304" pitchFamily="18" charset="0"/>
                <a:cs typeface="Times New Roman" panose="02020603050405020304" pitchFamily="18" charset="0"/>
              </a:rPr>
              <a:t>j</a:t>
            </a:r>
            <a:r>
              <a:rPr lang="en-US" sz="2800" dirty="0" smtClean="0">
                <a:latin typeface="Times New Roman" panose="02020603050405020304" pitchFamily="18" charset="0"/>
                <a:cs typeface="Times New Roman" panose="02020603050405020304" pitchFamily="18" charset="0"/>
              </a:rPr>
              <a:t>100</a:t>
            </a:r>
            <a:r>
              <a:rPr lang="el-GR" sz="2800" dirty="0" smtClean="0">
                <a:latin typeface="Times New Roman" panose="02020603050405020304" pitchFamily="18" charset="0"/>
                <a:cs typeface="Times New Roman" panose="02020603050405020304" pitchFamily="18" charset="0"/>
              </a:rPr>
              <a:t>Ω</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100 </a:t>
            </a:r>
            <a:r>
              <a:rPr lang="el-GR" sz="2800" dirty="0" smtClean="0">
                <a:latin typeface="Times New Roman" panose="02020603050405020304" pitchFamily="18" charset="0"/>
                <a:cs typeface="Times New Roman" panose="02020603050405020304" pitchFamily="18" charset="0"/>
              </a:rPr>
              <a:t>Ω</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50 + </a:t>
            </a:r>
            <a:r>
              <a:rPr lang="en-US" sz="2800" i="1" dirty="0" smtClean="0">
                <a:latin typeface="Times New Roman" panose="02020603050405020304" pitchFamily="18" charset="0"/>
                <a:cs typeface="Times New Roman" panose="02020603050405020304" pitchFamily="18" charset="0"/>
              </a:rPr>
              <a:t>j</a:t>
            </a:r>
            <a:r>
              <a:rPr lang="en-US" sz="2800" dirty="0" smtClean="0">
                <a:latin typeface="Times New Roman" panose="02020603050405020304" pitchFamily="18" charset="0"/>
                <a:cs typeface="Times New Roman" panose="02020603050405020304" pitchFamily="18" charset="0"/>
              </a:rPr>
              <a:t>50 </a:t>
            </a:r>
            <a:r>
              <a:rPr lang="el-GR" sz="2800" dirty="0" smtClean="0">
                <a:latin typeface="Times New Roman" panose="02020603050405020304" pitchFamily="18" charset="0"/>
                <a:cs typeface="Times New Roman" panose="02020603050405020304" pitchFamily="18" charset="0"/>
              </a:rPr>
              <a:t>Ω</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Assume positive phase sequence with </a:t>
            </a:r>
            <a:r>
              <a:rPr lang="en-US" sz="2800" b="1" dirty="0" err="1">
                <a:latin typeface="Times New Roman" panose="02020603050405020304" pitchFamily="18" charset="0"/>
                <a:cs typeface="Times New Roman" panose="02020603050405020304" pitchFamily="18" charset="0"/>
              </a:rPr>
              <a:t>V</a:t>
            </a:r>
            <a:r>
              <a:rPr lang="en-US" sz="2800" i="1" dirty="0" err="1">
                <a:latin typeface="Times New Roman" panose="02020603050405020304" pitchFamily="18" charset="0"/>
                <a:cs typeface="Times New Roman" panose="02020603050405020304" pitchFamily="18" charset="0"/>
              </a:rPr>
              <a:t>ab</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400</a:t>
            </a:r>
            <a:r>
              <a:rPr lang="en-US" sz="2800" i="1" dirty="0" smtClean="0">
                <a:latin typeface="Times New Roman" panose="02020603050405020304" pitchFamily="18" charset="0"/>
                <a:cs typeface="Times New Roman" panose="02020603050405020304" pitchFamily="18" charset="0"/>
              </a:rPr>
              <a:t>,</a:t>
            </a:r>
            <a:r>
              <a:rPr lang="en-US" sz="2800" dirty="0" smtClean="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V.</a:t>
            </a:r>
            <a:br>
              <a:rPr lang="en-US"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Find (</a:t>
            </a:r>
            <a:r>
              <a:rPr lang="en-US" i="1" dirty="0" smtClean="0"/>
              <a:t>a</a:t>
            </a:r>
            <a:r>
              <a:rPr lang="en-US" dirty="0" smtClean="0"/>
              <a:t>) </a:t>
            </a:r>
            <a:r>
              <a:rPr lang="en-US" b="1" dirty="0" err="1" smtClean="0"/>
              <a:t>V</a:t>
            </a:r>
            <a:r>
              <a:rPr lang="en-US" i="1" baseline="-25000" dirty="0" err="1" smtClean="0"/>
              <a:t>ph</a:t>
            </a:r>
            <a:r>
              <a:rPr lang="en-US" dirty="0" smtClean="0"/>
              <a:t>; (</a:t>
            </a:r>
            <a:r>
              <a:rPr lang="en-US" i="1" dirty="0" smtClean="0"/>
              <a:t>b</a:t>
            </a:r>
            <a:r>
              <a:rPr lang="en-US" dirty="0" smtClean="0"/>
              <a:t>) </a:t>
            </a:r>
            <a:r>
              <a:rPr lang="en-US" b="1" dirty="0" err="1" smtClean="0"/>
              <a:t>I</a:t>
            </a:r>
            <a:r>
              <a:rPr lang="en-US" i="1" baseline="-25000" dirty="0" err="1" smtClean="0"/>
              <a:t>ph</a:t>
            </a:r>
            <a:r>
              <a:rPr lang="en-US" dirty="0" smtClean="0"/>
              <a:t>; (</a:t>
            </a:r>
            <a:r>
              <a:rPr lang="en-US" i="1" dirty="0" smtClean="0"/>
              <a:t>c</a:t>
            </a:r>
            <a:r>
              <a:rPr lang="en-US" dirty="0" smtClean="0"/>
              <a:t>) the total power drawn by the load. </a:t>
            </a:r>
            <a:br>
              <a:rPr lang="en-US" dirty="0" smtClean="0"/>
            </a:br>
            <a:endParaRPr lang="en-IN" dirty="0"/>
          </a:p>
        </p:txBody>
      </p:sp>
      <p:sp>
        <p:nvSpPr>
          <p:cNvPr id="4" name="TextBox 3"/>
          <p:cNvSpPr txBox="1"/>
          <p:nvPr/>
        </p:nvSpPr>
        <p:spPr>
          <a:xfrm>
            <a:off x="2563906" y="3550024"/>
            <a:ext cx="2782557" cy="1384995"/>
          </a:xfrm>
          <a:prstGeom prst="rect">
            <a:avLst/>
          </a:prstGeom>
          <a:noFill/>
        </p:spPr>
        <p:txBody>
          <a:bodyPr wrap="none" rtlCol="0">
            <a:spAutoFit/>
          </a:bodyPr>
          <a:lstStyle/>
          <a:p>
            <a:r>
              <a:rPr lang="en-US" sz="2800" dirty="0" err="1" smtClean="0">
                <a:latin typeface="Times New Roman" panose="02020603050405020304" pitchFamily="18" charset="0"/>
                <a:cs typeface="Times New Roman" panose="02020603050405020304" pitchFamily="18" charset="0"/>
              </a:rPr>
              <a:t>V</a:t>
            </a:r>
            <a:r>
              <a:rPr lang="en-US" sz="2800" baseline="-25000" dirty="0" err="1" smtClean="0">
                <a:latin typeface="Times New Roman" panose="02020603050405020304" pitchFamily="18" charset="0"/>
                <a:cs typeface="Times New Roman" panose="02020603050405020304" pitchFamily="18" charset="0"/>
              </a:rPr>
              <a:t>ph</a:t>
            </a:r>
            <a:r>
              <a:rPr lang="en-US" sz="2800" dirty="0" smtClean="0">
                <a:latin typeface="Times New Roman" panose="02020603050405020304" pitchFamily="18" charset="0"/>
                <a:cs typeface="Times New Roman" panose="02020603050405020304" pitchFamily="18" charset="0"/>
              </a:rPr>
              <a:t> = 231 V, -30</a:t>
            </a:r>
            <a:r>
              <a:rPr lang="en-US" sz="2800" baseline="30000" dirty="0" smtClean="0">
                <a:latin typeface="Times New Roman" panose="02020603050405020304" pitchFamily="18" charset="0"/>
                <a:cs typeface="Times New Roman" panose="02020603050405020304" pitchFamily="18" charset="0"/>
              </a:rPr>
              <a:t>o</a:t>
            </a:r>
          </a:p>
          <a:p>
            <a:r>
              <a:rPr lang="en-US" sz="2800" dirty="0" err="1" smtClean="0">
                <a:latin typeface="Times New Roman" panose="02020603050405020304" pitchFamily="18" charset="0"/>
                <a:cs typeface="Times New Roman" panose="02020603050405020304" pitchFamily="18" charset="0"/>
              </a:rPr>
              <a:t>I</a:t>
            </a:r>
            <a:r>
              <a:rPr lang="en-US" sz="2800" baseline="-25000" dirty="0" err="1" smtClean="0">
                <a:latin typeface="Times New Roman" panose="02020603050405020304" pitchFamily="18" charset="0"/>
                <a:cs typeface="Times New Roman" panose="02020603050405020304" pitchFamily="18" charset="0"/>
              </a:rPr>
              <a:t>ph</a:t>
            </a:r>
            <a:r>
              <a:rPr lang="en-US" sz="2800" dirty="0" smtClean="0">
                <a:latin typeface="Times New Roman" panose="02020603050405020304" pitchFamily="18" charset="0"/>
                <a:cs typeface="Times New Roman" panose="02020603050405020304" pitchFamily="18" charset="0"/>
              </a:rPr>
              <a:t> = 4.62A , -30</a:t>
            </a:r>
            <a:r>
              <a:rPr lang="en-US" sz="2800" baseline="30000" dirty="0" smtClean="0">
                <a:latin typeface="Times New Roman" panose="02020603050405020304" pitchFamily="18" charset="0"/>
                <a:cs typeface="Times New Roman" panose="02020603050405020304" pitchFamily="18" charset="0"/>
              </a:rPr>
              <a:t>o</a:t>
            </a:r>
          </a:p>
          <a:p>
            <a:r>
              <a:rPr lang="en-US" sz="2800" dirty="0" smtClean="0">
                <a:latin typeface="Times New Roman" panose="02020603050405020304" pitchFamily="18" charset="0"/>
                <a:cs typeface="Times New Roman" panose="02020603050405020304" pitchFamily="18" charset="0"/>
              </a:rPr>
              <a:t>P = 3200W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78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293" y="161366"/>
            <a:ext cx="11851341" cy="6544234"/>
          </a:xfrm>
        </p:spPr>
        <p:txBody>
          <a:bodyPr/>
          <a:lstStyle/>
          <a:p>
            <a:pPr marL="0" indent="0">
              <a:buNone/>
            </a:pPr>
            <a:r>
              <a:rPr lang="en-US" dirty="0" smtClean="0"/>
              <a:t>6. </a:t>
            </a:r>
            <a:r>
              <a:rPr lang="en-US" dirty="0"/>
              <a:t>A balanced three-phase three-wire system has a line voltage </a:t>
            </a:r>
            <a:r>
              <a:rPr lang="en-US" dirty="0" smtClean="0"/>
              <a:t>of 500 </a:t>
            </a:r>
            <a:r>
              <a:rPr lang="en-US" dirty="0"/>
              <a:t>V. Two balanced Y-connected loads are present. One is a </a:t>
            </a:r>
            <a:r>
              <a:rPr lang="en-US" dirty="0" smtClean="0"/>
              <a:t>capacitive load </a:t>
            </a:r>
            <a:r>
              <a:rPr lang="en-US" dirty="0"/>
              <a:t>with 7 - </a:t>
            </a:r>
            <a:r>
              <a:rPr lang="en-US" i="1" dirty="0"/>
              <a:t>j</a:t>
            </a:r>
            <a:r>
              <a:rPr lang="en-US" dirty="0"/>
              <a:t>2 </a:t>
            </a:r>
            <a:r>
              <a:rPr lang="en-US" i="1" dirty="0"/>
              <a:t> </a:t>
            </a:r>
            <a:r>
              <a:rPr lang="en-US" dirty="0"/>
              <a:t>per phase, and the other is an inductive load </a:t>
            </a:r>
            <a:r>
              <a:rPr lang="en-US" dirty="0" smtClean="0"/>
              <a:t>with 4 </a:t>
            </a:r>
            <a:r>
              <a:rPr lang="en-US" dirty="0"/>
              <a:t>+ </a:t>
            </a:r>
            <a:r>
              <a:rPr lang="en-US" i="1" dirty="0"/>
              <a:t>j</a:t>
            </a:r>
            <a:r>
              <a:rPr lang="en-US" dirty="0"/>
              <a:t>2 </a:t>
            </a:r>
            <a:r>
              <a:rPr lang="en-US" i="1" dirty="0"/>
              <a:t> </a:t>
            </a:r>
            <a:r>
              <a:rPr lang="en-US" dirty="0"/>
              <a:t>per phase. Find </a:t>
            </a:r>
            <a:endParaRPr lang="en-US" dirty="0" smtClean="0"/>
          </a:p>
          <a:p>
            <a:pPr marL="514350" indent="-514350">
              <a:buAutoNum type="alphaLcParenBoth"/>
            </a:pPr>
            <a:r>
              <a:rPr lang="en-US" dirty="0" smtClean="0"/>
              <a:t>the </a:t>
            </a:r>
            <a:r>
              <a:rPr lang="en-US" dirty="0"/>
              <a:t>phase voltage; </a:t>
            </a:r>
            <a:endParaRPr lang="en-US" dirty="0" smtClean="0"/>
          </a:p>
          <a:p>
            <a:pPr marL="514350" indent="-514350">
              <a:buAutoNum type="alphaLcParenBoth"/>
            </a:pPr>
            <a:r>
              <a:rPr lang="en-US" dirty="0" smtClean="0"/>
              <a:t>the </a:t>
            </a:r>
            <a:r>
              <a:rPr lang="en-US" dirty="0"/>
              <a:t>line current</a:t>
            </a:r>
            <a:r>
              <a:rPr lang="en-US" dirty="0" smtClean="0"/>
              <a:t>; </a:t>
            </a:r>
          </a:p>
          <a:p>
            <a:pPr marL="514350" indent="-514350">
              <a:buAutoNum type="alphaLcParenBoth"/>
            </a:pPr>
            <a:r>
              <a:rPr lang="en-US" dirty="0" smtClean="0"/>
              <a:t>the </a:t>
            </a:r>
            <a:r>
              <a:rPr lang="en-US" dirty="0"/>
              <a:t>total power drawn by the load; </a:t>
            </a:r>
            <a:endParaRPr lang="en-US" dirty="0" smtClean="0"/>
          </a:p>
          <a:p>
            <a:pPr marL="514350" indent="-514350">
              <a:buAutoNum type="alphaLcParenBoth"/>
            </a:pPr>
            <a:r>
              <a:rPr lang="en-US" dirty="0" smtClean="0"/>
              <a:t>the </a:t>
            </a:r>
            <a:r>
              <a:rPr lang="en-US" dirty="0"/>
              <a:t>power factor at </a:t>
            </a:r>
            <a:r>
              <a:rPr lang="en-US" dirty="0" smtClean="0"/>
              <a:t>which the </a:t>
            </a:r>
            <a:r>
              <a:rPr lang="en-US" dirty="0"/>
              <a:t>source is operating.</a:t>
            </a:r>
            <a:r>
              <a:rPr lang="en-US" dirty="0"/>
              <a:t> </a:t>
            </a:r>
            <a:endParaRPr lang="en-US" dirty="0" smtClean="0"/>
          </a:p>
          <a:p>
            <a:pPr marL="514350" indent="-514350">
              <a:buAutoNum type="alphaLcParenBoth"/>
            </a:pPr>
            <a:endParaRPr lang="en-US" dirty="0"/>
          </a:p>
          <a:p>
            <a:pPr marL="0" indent="0">
              <a:buNone/>
            </a:pPr>
            <a:endParaRPr lang="en-IN" dirty="0"/>
          </a:p>
        </p:txBody>
      </p:sp>
      <p:sp>
        <p:nvSpPr>
          <p:cNvPr id="4" name="TextBox 3"/>
          <p:cNvSpPr txBox="1"/>
          <p:nvPr/>
        </p:nvSpPr>
        <p:spPr>
          <a:xfrm>
            <a:off x="1918447" y="5002305"/>
            <a:ext cx="6060141" cy="830997"/>
          </a:xfrm>
          <a:prstGeom prst="rect">
            <a:avLst/>
          </a:prstGeom>
          <a:noFill/>
        </p:spPr>
        <p:txBody>
          <a:bodyPr wrap="square" rtlCol="0">
            <a:spAutoFit/>
          </a:bodyPr>
          <a:lstStyle/>
          <a:p>
            <a:r>
              <a:rPr lang="pl-PL" sz="2400" dirty="0">
                <a:latin typeface="Times New Roman" panose="02020603050405020304" pitchFamily="18" charset="0"/>
                <a:cs typeface="Times New Roman" panose="02020603050405020304" pitchFamily="18" charset="0"/>
              </a:rPr>
              <a:t>289 V; 97.5 A; </a:t>
            </a:r>
            <a:r>
              <a:rPr lang="pl-PL" sz="2400" dirty="0" smtClean="0">
                <a:latin typeface="Times New Roman" panose="02020603050405020304" pitchFamily="18" charset="0"/>
                <a:cs typeface="Times New Roman" panose="02020603050405020304" pitchFamily="18" charset="0"/>
              </a:rPr>
              <a:t>83.0</a:t>
            </a:r>
            <a:r>
              <a:rPr lang="en-US" sz="2400" dirty="0" smtClean="0">
                <a:latin typeface="Times New Roman" panose="02020603050405020304" pitchFamily="18" charset="0"/>
                <a:cs typeface="Times New Roman" panose="02020603050405020304" pitchFamily="18" charset="0"/>
              </a:rPr>
              <a:t> </a:t>
            </a:r>
            <a:r>
              <a:rPr lang="pl-PL" sz="2400" dirty="0" smtClean="0">
                <a:latin typeface="Times New Roman" panose="02020603050405020304" pitchFamily="18" charset="0"/>
                <a:cs typeface="Times New Roman" panose="02020603050405020304" pitchFamily="18" charset="0"/>
              </a:rPr>
              <a:t>kW</a:t>
            </a:r>
            <a:r>
              <a:rPr lang="pl-PL" sz="2400" dirty="0">
                <a:latin typeface="Times New Roman" panose="02020603050405020304" pitchFamily="18" charset="0"/>
                <a:cs typeface="Times New Roman" panose="02020603050405020304" pitchFamily="18" charset="0"/>
              </a:rPr>
              <a:t>; 0.983 lagging.</a:t>
            </a:r>
            <a:r>
              <a:rPr lang="pl-PL" sz="2400" dirty="0">
                <a:latin typeface="Times New Roman" panose="02020603050405020304" pitchFamily="18" charset="0"/>
                <a:cs typeface="Times New Roman" panose="02020603050405020304" pitchFamily="18" charset="0"/>
              </a:rPr>
              <a:t> </a:t>
            </a:r>
            <a:br>
              <a:rPr lang="pl-PL"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713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359</Words>
  <Application>Microsoft Office PowerPoint</Application>
  <PresentationFormat>Widescreen</PresentationFormat>
  <Paragraphs>30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PowerPoint Presentation</vt:lpstr>
      <vt:lpstr>PowerPoint Presentation</vt:lpstr>
      <vt:lpstr>3. Each transmission line of the three-wire, three-phase system has an impedance of 15 + j 20 Ω. The system delivers a total power of 160 kW at 12,000 V to a balanced three-phase load with a lagging power factor of 0.86.   find a. Determine the magnitude of the line voltage EAB of the generator. b. Find the power factor of the total load applied to the generator.   </vt:lpstr>
      <vt:lpstr>4. A balanced three-phase system with a line voltage of 300 V is supplying a balanced Y-connected load with 1200 W at a leading PF of 0.8. Find the line current and the per-phase load impedance.  </vt:lpstr>
      <vt:lpstr>5. A balanced three-phase three-wire system has a Y-connected load. Each phase contains three loads in parallel: -j100Ω, 100 Ω, and 50 + j50 Ω. Assume positive phase sequence with Vab = 400,0◦ V.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 LAB-10</dc:creator>
  <cp:lastModifiedBy>SA LAB-10</cp:lastModifiedBy>
  <cp:revision>27</cp:revision>
  <dcterms:created xsi:type="dcterms:W3CDTF">2023-01-03T09:11:13Z</dcterms:created>
  <dcterms:modified xsi:type="dcterms:W3CDTF">2023-01-04T07:07:51Z</dcterms:modified>
</cp:coreProperties>
</file>