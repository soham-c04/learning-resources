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92" r:id="rId2"/>
    <p:sldId id="291" r:id="rId3"/>
    <p:sldId id="514" r:id="rId4"/>
    <p:sldId id="527" r:id="rId5"/>
    <p:sldId id="528" r:id="rId6"/>
    <p:sldId id="529" r:id="rId7"/>
    <p:sldId id="530" r:id="rId8"/>
    <p:sldId id="531" r:id="rId9"/>
    <p:sldId id="532" r:id="rId10"/>
    <p:sldId id="533" r:id="rId11"/>
    <p:sldId id="534" r:id="rId12"/>
    <p:sldId id="535" r:id="rId13"/>
    <p:sldId id="536" r:id="rId14"/>
    <p:sldId id="537" r:id="rId15"/>
    <p:sldId id="538" r:id="rId16"/>
    <p:sldId id="539" r:id="rId17"/>
    <p:sldId id="540" r:id="rId18"/>
    <p:sldId id="541" r:id="rId19"/>
    <p:sldId id="542" r:id="rId20"/>
    <p:sldId id="543" r:id="rId21"/>
    <p:sldId id="544" r:id="rId22"/>
    <p:sldId id="545" r:id="rId23"/>
    <p:sldId id="546"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5" autoAdjust="0"/>
    <p:restoredTop sz="94660"/>
  </p:normalViewPr>
  <p:slideViewPr>
    <p:cSldViewPr>
      <p:cViewPr varScale="1">
        <p:scale>
          <a:sx n="67" d="100"/>
          <a:sy n="67" d="100"/>
        </p:scale>
        <p:origin x="1446" y="48"/>
      </p:cViewPr>
      <p:guideLst>
        <p:guide orient="horz" pos="576"/>
        <p:guide pos="576"/>
      </p:guideLst>
    </p:cSldViewPr>
  </p:slideViewPr>
  <p:notesTextViewPr>
    <p:cViewPr>
      <p:scale>
        <a:sx n="100" d="100"/>
        <a:sy n="100" d="100"/>
      </p:scale>
      <p:origin x="0" y="0"/>
    </p:cViewPr>
  </p:notesTextViewPr>
  <p:notesViewPr>
    <p:cSldViewPr showGuides="1">
      <p:cViewPr varScale="1">
        <p:scale>
          <a:sx n="52" d="100"/>
          <a:sy n="52" d="100"/>
        </p:scale>
        <p:origin x="-289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1F3B94F-5F29-4981-8B40-B0A31128BDC7}" type="datetimeFigureOut">
              <a:rPr lang="en-US" smtClean="0"/>
              <a:pPr/>
              <a:t>2/17/2023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EB7E42D-E44C-4AE4-973A-A45C2CFFC753}" type="slidenum">
              <a:rPr lang="en-US" smtClean="0"/>
              <a:pPr/>
              <a:t>‹#›</a:t>
            </a:fld>
            <a:endParaRPr lang="en-US" dirty="0"/>
          </a:p>
        </p:txBody>
      </p:sp>
    </p:spTree>
    <p:extLst>
      <p:ext uri="{BB962C8B-B14F-4D97-AF65-F5344CB8AC3E}">
        <p14:creationId xmlns:p14="http://schemas.microsoft.com/office/powerpoint/2010/main" val="102755849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23T05:58:10.532"/>
    </inkml:context>
    <inkml:brush xml:id="br0">
      <inkml:brushProperty name="width" value="0.05292" units="cm"/>
      <inkml:brushProperty name="height" value="0.05292" units="cm"/>
      <inkml:brushProperty name="color" value="#FF0000"/>
    </inkml:brush>
  </inkml:definitions>
  <inkml:trace contextRef="#ctx0" brushRef="#br0">14075 9040 105 0,'0'1'197'0,"0"1"-9"0,0-1-64 0,-2 1-52 15,2 1-32-15,-1 1-18 0,-1-1-10 16,0-3-2-16,1 2 0 0,1 3 5 15,0 0 5-15,1-1 5 0,3 6 5 0,-1 2 4 16,6 3 7-16,0 4 4 0,3 5-1 0,2 2 2 16,0 6-2-16,-2 4 4 0,6 3-1 15,-2 1-1-15,-2-2-2 0,2 0-3 16,-2 1 4-16,5-8 4 0,-3-3 5 0,6-4 8 16,0-9 6-16,10-12 0 0,6-9-7 15,12-18-12-15,15-16-14 0,25-22-30 0,33-29-25 16,37-24-29-16,49-32-50 0,42-31-136 15,43-19-73-15,44-31-24 0,32-26-7 16,44-37 13-16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23T06:04:23.016"/>
    </inkml:context>
    <inkml:brush xml:id="br0">
      <inkml:brushProperty name="width" value="0.05292" units="cm"/>
      <inkml:brushProperty name="height" value="0.05292" units="cm"/>
      <inkml:brushProperty name="color" value="#FF0000"/>
    </inkml:brush>
  </inkml:definitions>
  <inkml:trace contextRef="#ctx0" brushRef="#br0">18058 6024 7 0,'29'1'9'0,"-5"-1"1"0,4 1-4 0,-2 1-1 16,0-2 0-16,2 0-1 0,-1 1-2 15,0-1-2-15,1 2-2 0,3 0-2 0,-1-2-1 16,0 0-1-16,0-2 1 0,0 0 0 16,3 1 4-16,-3 1-1 0,2 0 5 15,-2 0 4-15,1 0 0 0,-1 0 2 0,5 0-1 16,-4 0 0-16,2 0 1 0,-3 0 0 16,4 0 2-16,-3 0-2 0,4 0 2 0,-2 0 0 15,1 0-2-15,4 0-2 0,-1-2 1 16,1 1-2-16,-1 0-4 0,5-1 2 15,-4-1 1-15,0 3-1 0,-1 0 0 16,2 0 5-16,-3 0 4 0,-1 0 4 0,0 0 4 16,-3 0 6-16,-2 0 2 0,5 0 3 0,-5 0-4 15,1 3-3-15,3-1-7 0,-3-1-6 16,1 0-3-16,-1 1-2 0,4-2-3 16,-4 1-3-16,3 1 1 0,0 0-1 0,0 1-2 15,-1-3-2-15,3 2 3 0,-1 1-1 16,4-3-2-16,-2 0 2 0,-1 0 4 15,2 0 2-15,-2 0 1 0,2 0 2 0,-3 2-1 16,2 0-1-16,-4-2-2 0,3 1 1 16,-1 3-1-16,-4-1 0 0,3-1 5 0,-3 1 0 15,2 1 3-15,-2-1 0 0,-2-2-3 16,3 1 2-16,0 0 0 0,-1 0 1 0,1-1-3 16,3 1 1-16,-2 1 0 0,0-3 0 15,2 0-1-15,0 0-1 0,-2 0 0 16,0 0 0-16,0 0-3 0,1 0-1 15,0 0 0-15,1 0 1 0,0 0-3 0,2 0 2 16,-2 0 1-16,0 0-1 0,0 0-1 16,-2 3 3-16,2-3-2 0,-1 1 1 15,-2-1 2-15,5 0-3 0,-6 0 0 0,-1 0 1 16,2 2-3-16,-4-2-2 0,-1 1 1 16,1-1 1-16,-6 0-2 0,3 1-2 0,-3-1 1 15,-3 2 1-15,-2 1-5 0,4-1-20 16,-5-4-78-16,1-1-42 0,1 0-23 0,-1-1-13 15</inkml:trace>
  <inkml:trace contextRef="#ctx0" brushRef="#br0" timeOffset="85286.6707">5968 13777 105 0,'-4'-3'214'16,"1"2"-11"-16,1-2-20 0,1-2-34 15,-1 2-27-15,0 0-27 0,1 3-15 0,-2-3-16 16,2 2-12-16,-1-2-9 0,-2 1-11 16,4 2-3-16,0 0-6 0,0 0-6 0,0 0-2 0,-1 0-2 15,1 0 3-15,0 0-1 0,0 0-1 0,-3 0 0 16,3 0 1-16,0 0-2 0,0 0-3 16,0 0-1-16,0 0 2 0,0 0-2 0,0 0 0 15,0 0 1-15,0 0-1 0,0 0 1 16,0 2-5-16,0-2-2 0,0 0-2 0,3 0-1 15,-3 0-2-15,0 3-1 0,1-2 0 0,3-1 3 16,-1 3 0-16,1-3 0 0,1 2 1 0,0 1-1 16,0 1-1-16,3-1 1 0,-1 0 3 15,3-1-3-15,-2 3-3 0,3 0 3 0,0 0 1 16,5-3-1-16,0 1-1 0,4 1 1 0,-2-1-1 16,6-1 0-16,1 1 1 0,0-3 1 0,2 4 0 15,3-4-2-15,0 1 1 0,2 1 0 16,-2 0-1-16,-3-1-2 0,1 1 2 0,-1-1-2 15,-2 3 3-15,2-2 0 0,-5 1 1 16,3 0-1-16,-5 1 0 0,2-1 0 0,0-2 0 16,-1 4-1-16,-1 0 1 0,3-1-3 0,-3 0 2 15,3 1-1-15,1-3-3 0,0 3 2 16,-2-3 0-16,5 1 0 0,0 1 2 0,1-4 0 16,2 3 1-16,0-3 5 0,3 0 5 0,-3 0 2 15,5 0 4-15,1-3 1 0,1 3-1 0,-1-2-2 16,4 0-4-16,4 1-4 0,-5-1 1 0,4 0 0 15,1 2-2-15,-4 0-2 0,1 0 1 16,-2 0 0-16,0 0 1 0,-5 2-4 0,0 0 1 16,-1-1-1-16,-2 3 0 0,-2-4 1 15,3 3-2-15,-2-1 3 0,-2 0-1 0,0-1 0 16,-1 1 1-16,0 1-3 0,0-3 2 0,-3 0-1 16,-1 0 4-16,3 0-4 0,-1 0 2 0,0 0 1 15,-1-3 0-15,3 1 0 0,-1 1-4 0,0-1 3 16,4 0-1-16,0 2 3 0,4-3-4 15,1-1 2-15,3 1-3 0,0 1 0 16,-1-3-1-16,4 3-1 0,-2-3 2 0,7 4-3 16,-5-2 3-16,4 2-3 0,0-1 2 0,-2 1-1 15,0-4 0-15,-1 4 0 0,0 1 0 0,0-4 0 16,-2 4-7-16,-1-1 0 0,-1 0-3 16,0-1-2-16,0-1 2 0,-3 2 0 0,2-1 7 15,2 1 4-15,-3 1 1 0,1-3 3 0,-2 3-2 16,2-2 3-16,3-3-4 0,-2 2 4 0,0-1-2 15,0 3 1-15,2-6-1 0,0 3-2 0,1-1 6 16,0 0-1-16,-3 2-2 0,3-2-2 16,-3-1 2-16,0 3 2 0,0-1-3 0,1-2-2 15,-1 1-1-15,1 2 0 0,2-3-4 16,-1 2 4-16,0 0-1 0,1-1 2 0,2 1-1 16,-5-1 2-16,4 0 2 0,-2 3-3 0,0-3 0 15,-3 3 2-15,0-3-2 0,-1 1-2 16,-1 3 1-16,-5-2-2 0,0-3 0 0,-3 2-1 15,-2 3 1-15,-4-2 1 0,-1-1-1 0,-1 1 3 16,-6 0 0-16,-1 1 1 0,-2 0 6 0,-4 1 1 16,1 1 4-16,-4 0 0 0,-1 0 1 0,2 0-2 15,-2 0 1-15,-1 0-1 0,-1 0-4 16,0 0-1-16,0 0-1 0,0 0-3 0,0 0-2 16,0 0 0-16,0 0 2 0,0 0 0 0,0 0-2 15,0 0 0-15,0 0 0 0,0 0-3 16,0 0-2-16,0 0-7 0,0 0-3 0,0 0-10 15,0 0-10-15,0 0-11 0,2 1-14 16,-2 1-33-16,0-2-107 0,0 0-67 0,0 0-28 16,-2 3-10-16,2-3 4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23T06:14:53.064"/>
    </inkml:context>
    <inkml:brush xml:id="br0">
      <inkml:brushProperty name="width" value="0.05292" units="cm"/>
      <inkml:brushProperty name="height" value="0.05292" units="cm"/>
      <inkml:brushProperty name="color" value="#FF0000"/>
    </inkml:brush>
  </inkml:definitions>
  <inkml:trace contextRef="#ctx0" brushRef="#br0">12139 9293 171 0,'1'-3'255'15,"-1"-2"2"-15,0 1-39 0,4 1-49 16,-4-1-53-16,0-2-27 0,2 2-18 0,-2-2-12 15,2-1-5-15,-2 2-4 0,0-1-5 0,3-1 0 16,-3 1-6-16,1 1-2 0,-1-2-4 16,0 0-1-16,0 2 0 0,0 0-4 0,0 0 3 15,0 1 2-15,0 1 2 0,0 0 0 16,0 1-2-16,0 1 4 0,0-1-6 0,-1 2-6 16,1 0-3-16,0 0-7 0,0 0-7 15,0 0-4-15,-3 2-4 0,3-1 4 0,0 1-4 16,0 1 3-16,0 0-2 0,-2-1 1 15,2 1 3-15,0 1-3 0,0-1 2 0,0 2 1 16,0-5 1-16,0 4 1 0,2-1 1 0,-2 2-1 16,3 0 2-16,-2-1-1 0,-1 1 1 15,2 0-2-15,1-1 3 0,1 4 2 0,-1-2-3 16,0 0 1-16,0-1 2 0,0 3-4 0,2-1 0 16,-1-3-2-16,-2 4 2 0,1-4-2 15,1 4-1-15,-3-3 0 0,2 1 0 0,0-1 0 16,1-1 1-16,0-1 0 0,-2 0 1 0,1 0 2 15,0-1 2-15,-3-2 4 0,3 0 1 16,1 0 2-16,0 0 3 0,1 0-2 0,1-2 1 16,1-1-8-16,2-2-1 0,3 0 1 0,-2-3-5 15,6 1-3-15,-2-4-3 0,-1 4 0 16,1-3-2-16,1-3-2 0,0 1 1 0,0 0 2 16,2-1-2-16,0 0 2 0,1 4 2 15,-1-6-1-15,2 0-4 0,1 2 1 0,-2 2 2 16,-1-3-1-16,4 2-1 0,-4 0-2 15,-4-1 4-15,4 2-3 0,-4 3 3 0,1-2 0 16,-4 3 1-16,-1-2 3 0,-2 6 1 16,0-4 7-16,-2 4 3 0,-2 0 6 0,-1 2 5 15,1-2 2-15,-3 1 1 0,0 2 5 0,5-1-2 16,-5 1-1-16,0 0-2 0,0 0-3 16,0 0-5-16,0 0-5 0,0 0-4 0,0 0-2 15,0-2-5-15,0 2 0 0,0-1-4 16,0 1-1-16,0 0 0 0,0 0-9 0,0 0-9 15,0 0-19-15,0 0-24 0,1-2-33 16,-1 2-34-16,0 0-34 0,0 0-88 0,0 0-115 16,0 0-47-16,0 0-3 0,0 0 14 0,0 0 31 15</inkml:trace>
  <inkml:trace contextRef="#ctx0" brushRef="#br0" timeOffset="2788.0553">12334 10771 21 0,'0'0'255'0,"2"-2"27"0,-2 0-11 0,3-3-33 15,-3 2-42-15,0 0-48 0,0 2-31 16,0-5-25-16,0 6-16 0,0-2-13 0,0 1-9 15,0-1-12-15,0 2-10 0,0 0-4 0,0 0-2 16,0 0-2-16,-3 0-5 0,3 0 2 16,0 0-2-16,0 0-3 0,0 0 1 0,-2 0-3 15,2 0 0-15,0 0-3 0,0 0-2 0,0 0-1 16,0 0-2-16,0 0 4 0,0 0-3 0,0 0 2 16,0 0-1-16,0 2-1 0,0-2 0 15,0 0-3-15,0 0-1 0,0 0-2 0,0 0-1 16,0 1-2-16,0-1 2 0,0 0 2 0,0 0 0 15,0 0-2-15,0 2-2 0,0-2 2 16,0 0 0-16,0 0-2 0,0 0 1 0,0 3 2 16,0 0 1-16,0-3 1 0,0 1 2 15,0 1 3-15,0 1 4 0,0 0-1 0,0 0 2 0,2-1 1 16,-2 3 0-16,3-1-2 0,-1 3 1 16,-1-4-3-16,1 2-1 0,0 0-1 0,-1 0-2 15,-1-3 1-15,3 5-3 0,-3-3-1 0,4-1-1 16,-4 3 2-16,4-1-2 0,-3-1 2 15,3-1 0-15,-1 0 1 0,-3 0-3 0,3 0 2 16,-3 2 1-16,2-5-1 0,-1 4 0 16,1-1 0-16,0 0 3 0,-2 1-1 0,2-1 1 15,0 0 0-15,0-1 1 0,-2 3 1 0,3-3-3 16,-3 3 1-16,0-5-2 0,4 3-1 16,-2 2-2-16,0-4 4 0,-1 1-6 0,1-1 3 0,0 1 1 15,-2-1-1-15,3 1 3 0,-2-1-2 16,1 2 4-16,0-3-3 0,-1 0 3 0,-1 0-1 15,3 0 2-15,1 0-2 0,-3-3 2 0,5 2-2 16,-3-2-3-16,2 0-3 0,2 0 1 16,-1-2-3-16,1 2 0 0,0-2 1 0,-1 0 1 15,1 1 1-15,2-2-1 0,1-1 0 16,-2 4 0-16,0-4-1 0,2 1 1 0,0 1 1 16,1-2-4-16,0 1 0 0,0 0 1 0,-1 0-2 15,2-1 0-15,-4 2 0 0,2-2-1 0,1 2 4 16,-2-2-1-16,-1 0 1 0,0 2 0 15,-1 0 1-15,2 0-1 0,-3 1 4 0,-1-2 2 16,3 3-1-16,-3 0 3 0,-1 0 0 0,-2-2 3 16,1 5 0-16,0 0 0 0,-1-3 0 0,-2 1-1 15,2 2-3-15,-2 0-1 0,6 0 0 16,-5-2-1-16,2 2-2 0,1-1 3 0,-3-3-4 16,4 3 4-16,-2 0-2 0,1-2-1 15,-1 3-2-15,1 0 2 0,-1 0 0 0,0-3-1 16,1 3-4-16,-1-1 2 0,0 1 0 0,-2 0 0 15,1-1-1-15,0 1-1 0,-2 0 4 0,3 0-1 16,-3 0 1-16,0 0 0 0,0 0 0 16,0 0-1-16,0 0 0 0,0 0-3 0,0 0-6 15,0-3-12-15,0 1-20 0,0 0-23 0,0 1-37 16,-3 1-50-16,3 0-169 0,0 0-80 16,0 0-29-16,-4-4 0 0,0 2 20 0</inkml:trace>
  <inkml:trace contextRef="#ctx0" brushRef="#br0" timeOffset="23644.2291">15349 11502 91 0,'6'1'101'16,"3"1"-42"-16,-1-2-25 0,0 1-13 15,5 1-13-15,-2 1-16 0,3-2-22 0,-1-1-47 16,3-1-28-16</inkml:trace>
  <inkml:trace contextRef="#ctx0" brushRef="#br0" timeOffset="24340.3457">16928 11700 158 0,'5'0'150'0,"-2"0"-42"15,3 0-40-15,-1 0-27 0,4-2-24 16,-1 2-20-16,5-1-34 0,-3 0-62 0,2-2-36 15,2 3-17-15</inkml:trace>
  <inkml:trace contextRef="#ctx0" brushRef="#br0" timeOffset="24495.8587">17214 11736 159 0,'3'0'161'0,"-2"0"-41"0,4 0-40 16,-2 0-35-16,2 0-36 0,1-2-67 16,1-2-60-16,-1 1-31 0,0-1-16 15</inkml:trace>
  <inkml:trace contextRef="#ctx0" brushRef="#br0" timeOffset="25831.6489">14140 11304 109 0,'0'1'205'0,"0"-1"-1"0,0 0-62 16,0 3-54-16,1-3-33 0,1 0-16 0,-1 0-6 15,0 0-5-15,4 0-1 0,-1 0 2 16,0 0-7-16,4 2-5 0,1-1-4 16,6 1-3-16,-2 3-2 0,2-2-8 0,2-1-9 15,1 1-11-15,1 6-15 0,-3-3-24 16,6 1-36-16,-6 1-69 0,3-2-33 15,-8 0-9-15,3-1 4 0</inkml:trace>
  <inkml:trace contextRef="#ctx0" brushRef="#br0" timeOffset="25981.0805">14505 11475 36 0,'9'1'180'0,"-3"1"-6"15,1-2-40-15,3 2-47 0,0 1-32 16,0-3-17-16,0 2-16 0,3-2-8 0,-1 2-10 15,3-1-13-15,-2 2-21 0,3 0-59 16,-2-1-53-16,3-1-30 0,-2 0-10 0</inkml:trace>
  <inkml:trace contextRef="#ctx0" brushRef="#br0" timeOffset="26170.047">14895 11584 87 0,'3'0'169'0,"1"0"-22"16,1 0-39-16,3-3-33 0,1 3-33 15,0-1-28-15,2-2-24 0,0 1-23 16,3 0-46-16,-4 0-52 0,4-1-25 0,-3-2-7 16</inkml:trace>
  <inkml:trace contextRef="#ctx0" brushRef="#br0" timeOffset="26319.4606">15173 11577 139 0,'11'0'136'0,"-1"0"-45"0,-1 0-35 0,4 0-25 16,1-2-24-16,0 0-14 0,1 1-11 15,-1 0-9-15,-2-1-9 0,-2 1-14 0,4 1-27 16,-3 0-27-16,3 0-13 0</inkml:trace>
  <inkml:trace contextRef="#ctx0" brushRef="#br0" timeOffset="26487.4374">15470 11587 163 0,'4'0'154'0,"-1"0"-34"15,0-1-32-15,1-1-27 0,1 2-17 0,-3 0-16 16,6 0-11-16,0 0-6 0,1 0-7 15,1 0-5-15,-1 0-16 0,5 0-22 0,-2-3-54 16,-2 2-49-16,6-4-23 0,-3 2-8 16</inkml:trace>
  <inkml:trace contextRef="#ctx0" brushRef="#br0" timeOffset="26648.2814">15814 11548 87 0,'1'0'211'0,"3"-2"5"0,-1 2-45 16,1-3-41-16,-1 3-33 0,0-4-27 16,2 0-20-16,2 2-19 0,0-2-20 0,3-2-26 15,-4 1-47-15,7-1-93 0,-4-4-50 16,-1 2-27-16,0-1-8 0</inkml:trace>
  <inkml:trace contextRef="#ctx0" brushRef="#br0" timeOffset="27404.0731">14857 9755 139 0,'1'-3'131'0,"4"1"-63"16,0 0-98-16,4-1-60 0,-1 1-33 16</inkml:trace>
  <inkml:trace contextRef="#ctx0" brushRef="#br0" timeOffset="51255.6746">20075 12564 117 0,'0'-2'108'0,"0"-1"-19"0,0 2-25 0,0-1-22 15,0 1-18-15,0 1-9 0,0-3-8 16,0 3 1-16,0 0-5 0,0 0-3 0,0 0 0 15,0 0 3-15,0 0-3 0,0 0-1 16,0 0-1-16,0 0-2 0,0 0-9 0,0-2-7 16,0 0-14-16,0 2-20 0,0 0-30 15,0 0-31-15,0 0-10 0</inkml:trace>
  <inkml:trace contextRef="#ctx0" brushRef="#br0" timeOffset="52470.6781">19778 14064 102 0,'-12'10'128'0,"2"-1"-38"16,-3-1-39-16,1 4-24 0,-2-2-10 16,2 4-8-16,-4-2 0 0,2 0-5 0,-2 0-3 15,2 1 1-15,-4-1-2 0,7 2 0 0,-3-2-2 16,1 0 2-16,0 0-4 0,1-2-9 15,1 0-14-15,2 0-27 0,1-3-36 16,1-1-29-16</inkml:trace>
  <inkml:trace contextRef="#ctx0" brushRef="#br0" timeOffset="52645.0404">19400 14395 77 0,'-11'5'135'0,"1"0"-27"16,2-2-40-16,1 6-32 0,-1-4-13 0,3 0-13 16,-3 2-3-16,5 0-3 0,-5 1-2 15,2 1-8-15,2-3-20 0,0 1-51 0,-3-2-38 16,0 2-18-16</inkml:trace>
  <inkml:trace contextRef="#ctx0" brushRef="#br0" timeOffset="54981.5316">20729 12471 51 0,'-6'1'84'15,"-4"0"-27"-15,5 1-25 0,-2 3-15 16,-3-4-7-16,5 4-6 0,-3-1-1 0,-1 4 2 15,1-5-5-15,-2 7-8 0,6-3-18 16,-5 1-16-16,2 1-20 0,-1-2-25 0</inkml:trace>
  <inkml:trace contextRef="#ctx0" brushRef="#br0" timeOffset="58107.7772">19546 15466 12 0,'-20'9'44'16,"-2"-1"-16"-16,4-1-7 0,-2 1-6 16,3-4 0-16,-1 1 2 0,0 1 2 0,-3-3 0 15,7 0-1-15,-2-3-1 0,2 1-3 16,-2 2-8-16,3-2-2 0,-1 1-2 0,1 1-2 15,1 1 0-15,-3-4-5 0,1 5-8 16,0-2-25-16,1 1-39 0,1 1-20 16</inkml:trace>
  <inkml:trace contextRef="#ctx0" brushRef="#br0" timeOffset="59757.8202">19602 15020 75 0,'-6'5'111'15,"-4"0"-12"-15,-4-1-23 0,1 5-23 0,-2 0-20 16,-3 2-12-16,-2-1-5 0,5 4-8 16,-7-1-3-16,4 0-3 0,-2 1-1 15,-2 0-1-15,-1-1-3 0,1 3-1 0,1-3-2 16,-3 0 1-16,2-1-1 0,-1 0-4 16,0 1-3-16,0-1-19 0,0 2-11 0,2 0-5 15,0 1-4-15,0-5 0 0,1 0 5 16,2 0 20-16,1-3 13 0,3-1 9 15,1 0 3-15,4-1 6 0,-1-2 4 0,2 0 1 16,-1-2 6-16,7 1 3 0,-1-1 0 16,-1 1-3-16,4-2 0 0,-3 3-3 0,3-3-2 15,0 0 2-15,0 0 0 0,0 0 3 16,0 0 5-16,0 0 2 0,0 0 5 16,0 0 4-16,0 0-1 0,0 0 1 0,3-3-4 15,-1 1-4-15,2-1-7 0,-1 0-2 16,3-1-3-16,3-1-4 0,-1 1-2 15,2-2-2-15,2-1 3 0,1-1 11 0,-1 0 4 16,1-2 7-16,4-2 8 0,-4 1 0 0,4 2-4 16,0 0-10-16,-3-1-8 0,3 4-6 15,0-3-5-15,1 1 1 0,1-1-1 16,-1 0-1-16,0 0 0 0,3 0 1 0,-2 0 2 16,1 2-2-16,-1-3 0 0,2 3-2 15,0-3 0-15,-3 1-1 0,2 1 4 16,-2-1-3-16,-1-1 2 0,1 5-2 0,1-5 0 15,-5 3 1-15,2-1-1 0,-2 2 0 16,-5-4 0-16,4 5 2 0,-3-1-1 0,-3 1-1 16,0 0 0-16,-3 1 4 0,0 1 2 15,-2 2 7-15,-1-1 7 0,-1 1 0 16,0 1 6-16,-3 0-4 0,-2 0-3 0,-2 1-5 16,0 2-4-16,-2-1 0 0,-1 3-1 15,-2 2 1-15,-3-1 0 0,0 1-1 0,0 1-1 16,-5 1-2-16,5 3-2 0,-7 1 0 15,2-2-4-15,-4 2 1 0,2 1-2 16,-3 1-3-16,-1-2-2 0,0 2 0 0,0-1 0 16,4-1-2-16,-3 2 3 0,1-1-17 15,2-1-5-15,4 0-3 0,0 1-3 0,3-3 2 16,1-3-3-16,1 1 17 0,6-2 7 16,-1-3 5-16,1 0 3 0,4-1-1 0,0-1 0 15,0-2-1-15,3 0 0 0,0 0 0 16,3 0 2-16,0 0-1 0,0-2 2 15,-3-1 2-15,7-2 17 0,-2 2-10 0,0-4 12 16,0 3 7-16,1-3 6 0,3 1 6 16,-3 1-13-16,3 1 11 0,-1 1-12 15,4 0-8-15,-2 0-4 0,3-2-4 0,0 1-1 16,1-1-1-16,1 1-2 0,0 0 2 16,4-3-3-16,-5 2 1 0,5-3-2 0,-4 3 0 15,2 1 0-15,1-4 1 0,-1 5-1 16,-3-4-1-16,7 1-1 0,-9 1 2 0,6 1 2 15,-5-2-3-15,5-2 0 0,-1 4 3 16,-2-3-3-16,5 0-2 0,-5 3 1 16,1-5-2-16,-1 1 0 0,2 2 4 0,0 0 0 15,0 0 1-15,-3-1 0 0,3-1 4 16,-1 3-5-16,0-3-3 0,-2 1 1 16,3 2-2-16,-1-1-2 0,-2 0 2 0,0 2 3 15,3 0-4-15,-3 0 1 0,0-1 0 16,-3 1 0-16,3-2-2 0,-2 1 1 0,0 2 1 15,1-3 0-15,-3 2 0 0,3-1 0 16,0-3 0-16,0 4 4 0,-2 1-2 0,3-4 0 16,0 4-1-16,1-2 1 0,0-1-2 15,-3 3-2-15,1-1 2 0,0-1 0 16,0-1 0-16,-2 5 0 0,-1-4 0 0,3 2 3 16,-1 0-2-16,1-1 1 0,-1-2-2 15,-1 2 0-15,3 0 0 0,-3-2-2 0,3-1 1 16,-1 0 0-16,2 3 1 0,-2-3-2 15,1 1 0-15,1 1 2 0,-2-2 0 0,1 2 0 16,0-2-2-16,-1 1 0 0,0-1 0 16,-5 5 1-16,2-3-2 0,2 0 0 15,-4 1 5-15,2 1 0 0,-3 0-2 0,2-1-1 16,0 1 0-16,-2 0-1 0,1 1-3 16,-3 1 1-16,1-1 3 0,3-1-1 0,-2 0 0 15,1-1-7-15,-2 1 1 0,3-2-1 16,-2 0-4-16,-1 0 1 0,4 2 4 15,-3-1-1-15,1 1 3 0,1 1-4 0,-5-1-3 16,2-2-7-16,2 3-13 0,-4 0-18 16,0 0-18-16,0 1-31 0,2-4-48 15,-6 5-42-15,2-3-16 0,-2 3 3 0</inkml:trace>
  <inkml:trace contextRef="#ctx0" brushRef="#br0" timeOffset="60129.5398">20645 14693 51 0,'6'-5'178'0,"6"1"-19"0,-6 0-36 0,3-3-39 15,-1 2-31-15,-3-1-17 0,3 2-13 16,-2-1-9-16,1 2-4 0,1-2-4 0,-2-2-4 16,1-1-2-16,0 6 0 0,0-6-4 15,-3 4-8-15,3 1-3 0,0-5-3 16,0 4-8-16,-4-4-4 0,2 2-4 0,-2 0-1 15,3 0-6-15,2-1-3 0,-5 0-2 16,4-4-1-16,-1 2-3 0,1-2 0 0,-3-1 7 16,7 0 3-16,-5 1 5 0,3-5 9 15,0 3 10-15,-1-1 16 0,-4 1 16 16,1-1 13-16,2-1 11 0,0 1 12 0,0 0 4 16,-2 0 3-16,1 1-4 0,3-2-7 15,-4 1-4-15,0 1-1 0,0-1-6 0,3 2 1 16,-2 0-7-16,0-1-1 0,-1 2-6 15,-4 1-5-15,6 0-7 0,-6 2-12 0,4 0-8 16,-2-1-7-16,2 3-12 0,-5-1-12 16,1 1-16-16,1-1-36 0,0-2-47 15,-2 1-22-15,0-1-2 0</inkml:trace>
  <inkml:trace contextRef="#ctx0" brushRef="#br0" timeOffset="61081.7448">20897 13312 36 0,'1'4'109'0,"-1"4"-29"0,4-2-22 0,-4 0-11 15,3 1-5-15,-3-2-6 0,3 2 1 16,0 3-3-16,0-4-5 0,0 3-6 16,0-2-5-16,-1 4-6 0,3-1-4 0,0 3-3 15,-1-4-1-15,1 1-2 0,-2 2 1 16,2-2-1-16,0 1-2 0,-2-1 0 15,-2-2 1-15,3 4 0 0,-1-3-2 16,-2 2 0-16,4 0 8 0,-2 0 1 0,2-1-3 16,-4 1 5-16,4-1 2 0,-2 2-2 0,1-3-4 15,0 0-5-15,0 0 2 0,-2 0-2 16,2 0 1-16,0 1 1 0,-1-2 0 0,-3 3-1 16,2-1 0-16,0 1 2 0,-2-1 1 15,0 1-2-15,-2 1 0 0,0 0 4 16,2 0-3-16,-3 0 0 0,3 0-4 0,0 0 0 15,-1 0 3-15,1 1-4 0,0-2 1 16,0-1 0-16,0 1-2 0,0-1 1 16,0 2 1-16,0-1 1 0,0-1-1 15,0 1 0-15,0-1 0 0,0-1 3 16,0 3-1-16,0-3 0 0,0 2-2 0,0-1 0 16,0 0 4-16,0 2 0 0,0-2-4 0,0 1 0 15,0 0-3-15,0-2-6 0,0 3-10 16,0-2-18-16,0 2-33 0,0-5-59 15,0 0-29-15,-3 0-8 0</inkml:trace>
  <inkml:trace contextRef="#ctx0" brushRef="#br0" timeOffset="61193.8896">20944 14236 37 0,'-2'5'4'0</inkml:trace>
  <inkml:trace contextRef="#ctx0" brushRef="#br0" timeOffset="61540.224">20557 14720 70 0,'-11'2'185'0,"1"1"-11"15,2 2-54-15,-2-1-48 0,0 2-33 16,4 2-27-16,-6-4-34 0,2 2-81 16,-2 2-42-16,2-1-26 0,-2 0-9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5A90B5-7DF2-4A1A-873D-634730921C98}" type="datetimeFigureOut">
              <a:rPr lang="en-US" smtClean="0"/>
              <a:pPr/>
              <a:t>2/17/2023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FC5872-8AA6-42FC-B5CF-C8FCD4DF3A31}" type="slidenum">
              <a:rPr lang="en-US" smtClean="0"/>
              <a:pPr/>
              <a:t>‹#›</a:t>
            </a:fld>
            <a:endParaRPr lang="en-US" dirty="0"/>
          </a:p>
        </p:txBody>
      </p:sp>
    </p:spTree>
    <p:extLst>
      <p:ext uri="{BB962C8B-B14F-4D97-AF65-F5344CB8AC3E}">
        <p14:creationId xmlns:p14="http://schemas.microsoft.com/office/powerpoint/2010/main" val="1907061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4FC5872-8AA6-42FC-B5CF-C8FCD4DF3A31}" type="slidenum">
              <a:rPr lang="en-US" smtClean="0"/>
              <a:pPr/>
              <a:t>4</a:t>
            </a:fld>
            <a:endParaRPr lang="en-US" dirty="0"/>
          </a:p>
        </p:txBody>
      </p:sp>
    </p:spTree>
    <p:extLst>
      <p:ext uri="{BB962C8B-B14F-4D97-AF65-F5344CB8AC3E}">
        <p14:creationId xmlns:p14="http://schemas.microsoft.com/office/powerpoint/2010/main" val="1112403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21"/>
          <p:cNvSpPr txBox="1">
            <a:spLocks/>
          </p:cNvSpPr>
          <p:nvPr userDrawn="1"/>
        </p:nvSpPr>
        <p:spPr>
          <a:xfrm>
            <a:off x="0" y="6565380"/>
            <a:ext cx="685800" cy="29262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28 – </a:t>
            </a:r>
            <a:fld id="{83AF55C9-8D46-411D-9295-23F0A748FD91}" type="slidenum">
              <a:rPr kumimoji="0" lang="en-US"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r>
              <a:rPr kumimoji="0" lang="en-US"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0" y="3018580"/>
            <a:ext cx="6477000" cy="1569660"/>
          </a:xfrm>
          <a:prstGeom prst="rect">
            <a:avLst/>
          </a:prstGeom>
          <a:noFill/>
        </p:spPr>
        <p:txBody>
          <a:bodyPr wrap="square" rtlCol="0">
            <a:spAutoFit/>
          </a:bodyPr>
          <a:lstStyle/>
          <a:p>
            <a:pPr>
              <a:buClr>
                <a:schemeClr val="accent6">
                  <a:lumMod val="50000"/>
                </a:schemeClr>
              </a:buClr>
              <a:tabLst>
                <a:tab pos="465138" algn="l"/>
              </a:tabLst>
            </a:pPr>
            <a:r>
              <a:rPr lang="en-US" sz="4800" b="1" dirty="0" smtClean="0"/>
              <a:t>Generator</a:t>
            </a:r>
          </a:p>
          <a:p>
            <a:pPr>
              <a:buClr>
                <a:schemeClr val="accent6">
                  <a:lumMod val="50000"/>
                </a:schemeClr>
              </a:buClr>
              <a:tabLst>
                <a:tab pos="465138" algn="l"/>
              </a:tabLst>
            </a:pPr>
            <a:r>
              <a:rPr lang="en-US" sz="4800" b="1" dirty="0" smtClean="0"/>
              <a:t>Characteristics</a:t>
            </a:r>
          </a:p>
        </p:txBody>
      </p:sp>
      <p:sp>
        <p:nvSpPr>
          <p:cNvPr id="8" name="Rectangle 7"/>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914400" y="7745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Generator Characteristics</a:t>
            </a:r>
          </a:p>
        </p:txBody>
      </p:sp>
      <p:sp>
        <p:nvSpPr>
          <p:cNvPr id="2" name="TextBox 1"/>
          <p:cNvSpPr txBox="1"/>
          <p:nvPr/>
        </p:nvSpPr>
        <p:spPr>
          <a:xfrm>
            <a:off x="899410" y="820710"/>
            <a:ext cx="7558790" cy="5893921"/>
          </a:xfrm>
          <a:prstGeom prst="rect">
            <a:avLst/>
          </a:prstGeom>
          <a:noFill/>
        </p:spPr>
        <p:txBody>
          <a:bodyPr wrap="square" rtlCol="0">
            <a:spAutoFit/>
          </a:bodyPr>
          <a:lstStyle/>
          <a:p>
            <a:pPr algn="just">
              <a:spcBef>
                <a:spcPts val="200"/>
              </a:spcBef>
              <a:buClr>
                <a:schemeClr val="accent6">
                  <a:lumMod val="50000"/>
                </a:schemeClr>
              </a:buClr>
              <a:buFont typeface="Wingdings" pitchFamily="2" charset="2"/>
              <a:buChar char="v"/>
              <a:tabLst>
                <a:tab pos="465138" algn="l"/>
              </a:tabLst>
            </a:pPr>
            <a:r>
              <a:rPr lang="en-US" sz="2200" b="1" dirty="0" smtClean="0"/>
              <a:t>	Characteristics of D.C. Generators</a:t>
            </a:r>
          </a:p>
          <a:p>
            <a:pPr algn="just">
              <a:spcBef>
                <a:spcPts val="200"/>
              </a:spcBef>
              <a:buClr>
                <a:schemeClr val="accent6">
                  <a:lumMod val="50000"/>
                </a:schemeClr>
              </a:buClr>
              <a:buFont typeface="Wingdings" pitchFamily="2" charset="2"/>
              <a:buChar char="v"/>
              <a:tabLst>
                <a:tab pos="465138" algn="l"/>
              </a:tabLst>
            </a:pPr>
            <a:r>
              <a:rPr lang="en-US" sz="2200" b="1" dirty="0" smtClean="0"/>
              <a:t> 	Separately-excited Generator</a:t>
            </a:r>
          </a:p>
          <a:p>
            <a:pPr algn="just">
              <a:spcBef>
                <a:spcPts val="200"/>
              </a:spcBef>
              <a:buClr>
                <a:schemeClr val="accent6">
                  <a:lumMod val="50000"/>
                </a:schemeClr>
              </a:buClr>
              <a:buFont typeface="Wingdings" pitchFamily="2" charset="2"/>
              <a:buChar char="v"/>
              <a:tabLst>
                <a:tab pos="465138" algn="l"/>
              </a:tabLst>
            </a:pPr>
            <a:r>
              <a:rPr lang="en-US" sz="2200" b="1" dirty="0" smtClean="0"/>
              <a:t> 	No-load Curve for Self-excited Generator</a:t>
            </a:r>
          </a:p>
          <a:p>
            <a:pPr algn="just">
              <a:spcBef>
                <a:spcPts val="200"/>
              </a:spcBef>
              <a:buClr>
                <a:schemeClr val="accent6">
                  <a:lumMod val="50000"/>
                </a:schemeClr>
              </a:buClr>
              <a:buFont typeface="Wingdings" pitchFamily="2" charset="2"/>
              <a:buChar char="v"/>
              <a:tabLst>
                <a:tab pos="465138" algn="l"/>
              </a:tabLst>
            </a:pPr>
            <a:r>
              <a:rPr lang="en-US" sz="2200" b="1" dirty="0" smtClean="0"/>
              <a:t> 	How to find Critical Resistance R</a:t>
            </a:r>
            <a:r>
              <a:rPr lang="en-US" sz="2200" b="1" baseline="-25000" dirty="0" smtClean="0"/>
              <a:t>c</a:t>
            </a:r>
            <a:r>
              <a:rPr lang="en-US" sz="2200" b="1" dirty="0" smtClean="0"/>
              <a:t>?</a:t>
            </a:r>
          </a:p>
          <a:p>
            <a:pPr algn="just">
              <a:spcBef>
                <a:spcPts val="200"/>
              </a:spcBef>
              <a:buClr>
                <a:schemeClr val="accent6">
                  <a:lumMod val="50000"/>
                </a:schemeClr>
              </a:buClr>
              <a:buFont typeface="Wingdings" pitchFamily="2" charset="2"/>
              <a:buChar char="v"/>
              <a:tabLst>
                <a:tab pos="465138" algn="l"/>
              </a:tabLst>
            </a:pPr>
            <a:r>
              <a:rPr lang="en-US" sz="2200" b="1" dirty="0" smtClean="0"/>
              <a:t> 	How to draw O.C.C. at Different Speeds ?</a:t>
            </a:r>
          </a:p>
          <a:p>
            <a:pPr algn="just">
              <a:spcBef>
                <a:spcPts val="200"/>
              </a:spcBef>
              <a:buClr>
                <a:schemeClr val="accent6">
                  <a:lumMod val="50000"/>
                </a:schemeClr>
              </a:buClr>
              <a:buFont typeface="Wingdings" pitchFamily="2" charset="2"/>
              <a:buChar char="v"/>
              <a:tabLst>
                <a:tab pos="465138" algn="l"/>
              </a:tabLst>
            </a:pPr>
            <a:r>
              <a:rPr lang="en-US" sz="2200" b="1" dirty="0" smtClean="0"/>
              <a:t> 	Critical Speed</a:t>
            </a:r>
          </a:p>
          <a:p>
            <a:pPr algn="just">
              <a:spcBef>
                <a:spcPts val="200"/>
              </a:spcBef>
              <a:buClr>
                <a:schemeClr val="accent6">
                  <a:lumMod val="50000"/>
                </a:schemeClr>
              </a:buClr>
              <a:buFont typeface="Wingdings" pitchFamily="2" charset="2"/>
              <a:buChar char="v"/>
              <a:tabLst>
                <a:tab pos="465138" algn="l"/>
              </a:tabLst>
            </a:pPr>
            <a:r>
              <a:rPr lang="en-US" sz="2200" b="1" dirty="0" smtClean="0"/>
              <a:t> 	Voltage Build up of a Shunt Generator</a:t>
            </a:r>
          </a:p>
          <a:p>
            <a:pPr algn="just">
              <a:spcBef>
                <a:spcPts val="200"/>
              </a:spcBef>
              <a:buClr>
                <a:schemeClr val="accent6">
                  <a:lumMod val="50000"/>
                </a:schemeClr>
              </a:buClr>
              <a:buFont typeface="Wingdings" pitchFamily="2" charset="2"/>
              <a:buChar char="v"/>
              <a:tabLst>
                <a:tab pos="465138" algn="l"/>
              </a:tabLst>
            </a:pPr>
            <a:r>
              <a:rPr lang="en-US" sz="2200" b="1" dirty="0" smtClean="0"/>
              <a:t> 	Conditions for Build-up of a Shunt Generator</a:t>
            </a:r>
          </a:p>
          <a:p>
            <a:pPr algn="just">
              <a:spcBef>
                <a:spcPts val="200"/>
              </a:spcBef>
              <a:buClr>
                <a:schemeClr val="accent6">
                  <a:lumMod val="50000"/>
                </a:schemeClr>
              </a:buClr>
              <a:buFont typeface="Wingdings" pitchFamily="2" charset="2"/>
              <a:buChar char="v"/>
              <a:tabLst>
                <a:tab pos="465138" algn="l"/>
              </a:tabLst>
            </a:pPr>
            <a:r>
              <a:rPr lang="en-US" sz="2200" b="1" dirty="0" smtClean="0"/>
              <a:t> 	Other factors Affecting Voltage Building of a D.C. Generator</a:t>
            </a:r>
          </a:p>
          <a:p>
            <a:pPr algn="just">
              <a:spcBef>
                <a:spcPts val="200"/>
              </a:spcBef>
              <a:buClr>
                <a:schemeClr val="accent6">
                  <a:lumMod val="50000"/>
                </a:schemeClr>
              </a:buClr>
              <a:buFont typeface="Wingdings" pitchFamily="2" charset="2"/>
              <a:buChar char="v"/>
              <a:tabLst>
                <a:tab pos="465138" algn="l"/>
              </a:tabLst>
            </a:pPr>
            <a:r>
              <a:rPr lang="en-US" sz="2200" b="1" dirty="0" smtClean="0"/>
              <a:t> 	External Characteristic</a:t>
            </a:r>
          </a:p>
          <a:p>
            <a:pPr algn="just">
              <a:spcBef>
                <a:spcPts val="200"/>
              </a:spcBef>
              <a:buClr>
                <a:schemeClr val="accent6">
                  <a:lumMod val="50000"/>
                </a:schemeClr>
              </a:buClr>
              <a:buFont typeface="Wingdings" pitchFamily="2" charset="2"/>
              <a:buChar char="v"/>
              <a:tabLst>
                <a:tab pos="465138" algn="l"/>
              </a:tabLst>
            </a:pPr>
            <a:r>
              <a:rPr lang="en-US" sz="2200" b="1" dirty="0" smtClean="0"/>
              <a:t> 	Voltage Regulation</a:t>
            </a:r>
          </a:p>
          <a:p>
            <a:pPr algn="just">
              <a:spcBef>
                <a:spcPts val="200"/>
              </a:spcBef>
              <a:buClr>
                <a:schemeClr val="accent6">
                  <a:lumMod val="50000"/>
                </a:schemeClr>
              </a:buClr>
              <a:buFont typeface="Wingdings" pitchFamily="2" charset="2"/>
              <a:buChar char="v"/>
              <a:tabLst>
                <a:tab pos="465138" algn="l"/>
              </a:tabLst>
            </a:pPr>
            <a:r>
              <a:rPr lang="en-US" sz="2200" b="1" dirty="0" smtClean="0"/>
              <a:t> 	Internal or Total Characteristic</a:t>
            </a:r>
          </a:p>
          <a:p>
            <a:pPr algn="just">
              <a:spcBef>
                <a:spcPts val="200"/>
              </a:spcBef>
              <a:buClr>
                <a:schemeClr val="accent6">
                  <a:lumMod val="50000"/>
                </a:schemeClr>
              </a:buClr>
              <a:buFont typeface="Wingdings" pitchFamily="2" charset="2"/>
              <a:buChar char="v"/>
              <a:tabLst>
                <a:tab pos="465138" algn="l"/>
              </a:tabLst>
            </a:pPr>
            <a:r>
              <a:rPr lang="en-US" sz="2200" b="1" dirty="0" smtClean="0"/>
              <a:t> 	Series Generator</a:t>
            </a:r>
          </a:p>
          <a:p>
            <a:pPr algn="just">
              <a:spcBef>
                <a:spcPts val="200"/>
              </a:spcBef>
              <a:buClr>
                <a:schemeClr val="accent6">
                  <a:lumMod val="50000"/>
                </a:schemeClr>
              </a:buClr>
              <a:buFont typeface="Wingdings" pitchFamily="2" charset="2"/>
              <a:buChar char="v"/>
              <a:tabLst>
                <a:tab pos="465138" algn="l"/>
              </a:tabLst>
            </a:pPr>
            <a:r>
              <a:rPr lang="en-US" sz="2200" b="1" dirty="0" smtClean="0"/>
              <a:t> 	Compound-wound Generator</a:t>
            </a:r>
          </a:p>
          <a:p>
            <a:pPr algn="just">
              <a:spcBef>
                <a:spcPts val="200"/>
              </a:spcBef>
              <a:buClr>
                <a:schemeClr val="accent6">
                  <a:lumMod val="50000"/>
                </a:schemeClr>
              </a:buClr>
              <a:buFont typeface="Wingdings" pitchFamily="2" charset="2"/>
              <a:buChar char="v"/>
              <a:tabLst>
                <a:tab pos="465138" algn="l"/>
              </a:tabLst>
            </a:pPr>
            <a:r>
              <a:rPr lang="en-US" sz="2200" b="1" dirty="0" smtClean="0"/>
              <a:t> 	How to calculate Required Series Turns?</a:t>
            </a:r>
          </a:p>
          <a:p>
            <a:pPr algn="just">
              <a:spcBef>
                <a:spcPts val="200"/>
              </a:spcBef>
              <a:buClr>
                <a:schemeClr val="accent6">
                  <a:lumMod val="50000"/>
                </a:schemeClr>
              </a:buClr>
              <a:buFont typeface="Wingdings" pitchFamily="2" charset="2"/>
              <a:buChar char="v"/>
              <a:tabLst>
                <a:tab pos="465138" algn="l"/>
              </a:tabLst>
            </a:pPr>
            <a:r>
              <a:rPr lang="en-US" sz="2200" b="1" dirty="0" smtClean="0"/>
              <a:t> 	Uses of D.C. Generators</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687050"/>
            <a:ext cx="7482590" cy="3083921"/>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Following are the three most important characteristics or curves of a d.c. generator :</a:t>
            </a:r>
          </a:p>
          <a:p>
            <a:pPr algn="just">
              <a:lnSpc>
                <a:spcPct val="200000"/>
              </a:lnSpc>
              <a:buClr>
                <a:schemeClr val="accent6">
                  <a:lumMod val="50000"/>
                </a:schemeClr>
              </a:buClr>
              <a:buFont typeface="Wingdings" pitchFamily="2" charset="2"/>
              <a:buChar char="v"/>
              <a:tabLst>
                <a:tab pos="465138" algn="l"/>
              </a:tabLst>
            </a:pPr>
            <a:r>
              <a:rPr lang="en-US" sz="2000" b="1" i="1" dirty="0" smtClean="0"/>
              <a:t> 	</a:t>
            </a:r>
            <a:r>
              <a:rPr lang="en-US" sz="2000" b="1" dirty="0" smtClean="0"/>
              <a:t>No-load saturation Characteristic (</a:t>
            </a:r>
            <a:r>
              <a:rPr lang="en-US" sz="2000" b="1" i="1" dirty="0" smtClean="0"/>
              <a:t>E</a:t>
            </a:r>
            <a:r>
              <a:rPr lang="en-US" sz="2000" b="1" i="1" baseline="-25000" dirty="0" smtClean="0"/>
              <a:t>0</a:t>
            </a:r>
            <a:r>
              <a:rPr lang="en-US" sz="2000" b="1" i="1" dirty="0" smtClean="0"/>
              <a:t>/I</a:t>
            </a:r>
            <a:r>
              <a:rPr lang="en-US" sz="2000" b="1" i="1" baseline="-25000" dirty="0" smtClean="0"/>
              <a:t>f</a:t>
            </a:r>
            <a:r>
              <a:rPr lang="en-US" sz="2000" b="1" i="1" dirty="0" smtClean="0"/>
              <a:t>) </a:t>
            </a:r>
            <a:r>
              <a:rPr lang="en-US" sz="2000" dirty="0" smtClean="0"/>
              <a:t>	</a:t>
            </a:r>
          </a:p>
          <a:p>
            <a:pPr algn="just">
              <a:lnSpc>
                <a:spcPct val="200000"/>
              </a:lnSpc>
              <a:buClr>
                <a:schemeClr val="accent6">
                  <a:lumMod val="50000"/>
                </a:schemeClr>
              </a:buClr>
              <a:buFont typeface="Wingdings" pitchFamily="2" charset="2"/>
              <a:buChar char="v"/>
              <a:tabLst>
                <a:tab pos="465138" algn="l"/>
              </a:tabLst>
            </a:pPr>
            <a:r>
              <a:rPr lang="en-US" sz="2000" dirty="0" smtClean="0">
                <a:solidFill>
                  <a:srgbClr val="FF0000"/>
                </a:solidFill>
              </a:rPr>
              <a:t> 	</a:t>
            </a:r>
            <a:r>
              <a:rPr lang="en-US" sz="2000" b="1" dirty="0" smtClean="0"/>
              <a:t> Internal or Total Characteristic (</a:t>
            </a:r>
            <a:r>
              <a:rPr lang="en-US" sz="2000" b="1" i="1" dirty="0" smtClean="0"/>
              <a:t>E/I</a:t>
            </a:r>
            <a:r>
              <a:rPr lang="en-US" sz="2000" b="1" i="1" baseline="-25000" dirty="0" smtClean="0"/>
              <a:t>a</a:t>
            </a:r>
            <a:r>
              <a:rPr lang="en-US" sz="2000" b="1" i="1" dirty="0" smtClean="0"/>
              <a:t>)</a:t>
            </a:r>
          </a:p>
          <a:p>
            <a:pPr algn="just">
              <a:lnSpc>
                <a:spcPct val="200000"/>
              </a:lnSpc>
              <a:buClr>
                <a:schemeClr val="accent6">
                  <a:lumMod val="50000"/>
                </a:schemeClr>
              </a:buClr>
              <a:buFont typeface="Wingdings" pitchFamily="2" charset="2"/>
              <a:buChar char="v"/>
              <a:tabLst>
                <a:tab pos="465138" algn="l"/>
              </a:tabLst>
            </a:pPr>
            <a:r>
              <a:rPr lang="en-US" sz="2000" b="1" i="1" dirty="0" smtClean="0">
                <a:solidFill>
                  <a:srgbClr val="FF0000"/>
                </a:solidFill>
              </a:rPr>
              <a:t> 	</a:t>
            </a:r>
            <a:r>
              <a:rPr lang="en-US" sz="2000" b="1" dirty="0" smtClean="0"/>
              <a:t> External Characteristic (</a:t>
            </a:r>
            <a:r>
              <a:rPr lang="en-US" sz="2000" b="1" i="1" dirty="0" smtClean="0"/>
              <a:t>V/I)</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Characteristics of D.C. Generators</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srcRect/>
          <a:stretch>
            <a:fillRect/>
          </a:stretch>
        </p:blipFill>
        <p:spPr bwMode="auto">
          <a:xfrm>
            <a:off x="1279160" y="3505200"/>
            <a:ext cx="6914590" cy="3124200"/>
          </a:xfrm>
          <a:prstGeom prst="rect">
            <a:avLst/>
          </a:prstGeom>
          <a:noFill/>
          <a:ln w="9525">
            <a:noFill/>
            <a:miter lim="800000"/>
            <a:headEnd/>
            <a:tailEnd/>
          </a:ln>
          <a:effectLst/>
        </p:spPr>
      </p:pic>
      <p:sp>
        <p:nvSpPr>
          <p:cNvPr id="2" name="TextBox 1"/>
          <p:cNvSpPr txBox="1"/>
          <p:nvPr/>
        </p:nvSpPr>
        <p:spPr>
          <a:xfrm>
            <a:off x="868180" y="732020"/>
            <a:ext cx="7482590" cy="286232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b="1" dirty="0" smtClean="0">
                <a:solidFill>
                  <a:schemeClr val="accent6">
                    <a:lumMod val="50000"/>
                  </a:schemeClr>
                </a:solidFill>
              </a:rPr>
              <a:t>(</a:t>
            </a:r>
            <a:r>
              <a:rPr lang="en-US" sz="2000" b="1" i="1" dirty="0" smtClean="0">
                <a:solidFill>
                  <a:schemeClr val="accent6">
                    <a:lumMod val="50000"/>
                  </a:schemeClr>
                </a:solidFill>
              </a:rPr>
              <a:t>a)</a:t>
            </a:r>
            <a:r>
              <a:rPr lang="en-US" sz="2000" i="1" dirty="0" smtClean="0">
                <a:solidFill>
                  <a:schemeClr val="accent6">
                    <a:lumMod val="50000"/>
                  </a:schemeClr>
                </a:solidFill>
              </a:rPr>
              <a:t> </a:t>
            </a:r>
            <a:r>
              <a:rPr lang="en-US" sz="2000" b="1" i="1" dirty="0" smtClean="0">
                <a:solidFill>
                  <a:schemeClr val="accent6">
                    <a:lumMod val="50000"/>
                  </a:schemeClr>
                </a:solidFill>
              </a:rPr>
              <a:t>(i) </a:t>
            </a:r>
            <a:r>
              <a:rPr lang="en-US" sz="2000" b="1" i="1" dirty="0" smtClean="0"/>
              <a:t>No-load Saturation Characteristic (E</a:t>
            </a:r>
            <a:r>
              <a:rPr lang="en-US" sz="2000" b="1" i="1" baseline="-25000" dirty="0" smtClean="0"/>
              <a:t>0</a:t>
            </a:r>
            <a:r>
              <a:rPr lang="en-US" sz="2000" b="1" i="1" dirty="0" smtClean="0"/>
              <a:t>/I</a:t>
            </a:r>
            <a:r>
              <a:rPr lang="en-US" sz="2000" b="1" i="1" baseline="-25000" dirty="0" smtClean="0"/>
              <a:t>f</a:t>
            </a:r>
            <a:r>
              <a:rPr lang="en-US" sz="2000" b="1" i="1" dirty="0" smtClean="0"/>
              <a:t>)</a:t>
            </a:r>
          </a:p>
          <a:p>
            <a:pPr algn="just">
              <a:lnSpc>
                <a:spcPct val="150000"/>
              </a:lnSpc>
              <a:buClr>
                <a:schemeClr val="accent6">
                  <a:lumMod val="50000"/>
                </a:schemeClr>
              </a:buClr>
              <a:tabLst>
                <a:tab pos="465138" algn="l"/>
              </a:tabLst>
            </a:pPr>
            <a:r>
              <a:rPr lang="en-US" sz="2000" dirty="0" smtClean="0"/>
              <a:t>The arrangement for obtaining the necessary data to plot this curve is shown in Fig. 28.1. The exciting or field current </a:t>
            </a:r>
            <a:r>
              <a:rPr lang="en-US" sz="2000" i="1" dirty="0" smtClean="0"/>
              <a:t>I</a:t>
            </a:r>
            <a:r>
              <a:rPr lang="en-US" sz="2000" i="1" baseline="-25000" dirty="0" smtClean="0"/>
              <a:t>f</a:t>
            </a:r>
            <a:r>
              <a:rPr lang="en-US" sz="2000" i="1" dirty="0" smtClean="0"/>
              <a:t> is obtained from an external independent d.c. source. It can be varied from </a:t>
            </a:r>
            <a:r>
              <a:rPr lang="en-US" sz="2000" dirty="0" smtClean="0"/>
              <a:t>zero upwards by a potentiometer and its value read by an ammeter </a:t>
            </a:r>
            <a:r>
              <a:rPr lang="en-US" sz="2000" i="1" dirty="0" smtClean="0"/>
              <a:t>A connected in the field circuit as </a:t>
            </a:r>
            <a:r>
              <a:rPr lang="en-US" sz="2000" dirty="0" smtClean="0"/>
              <a:t>shown.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Separately – Excited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8229600" y="650520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676400" y="3352800"/>
            <a:ext cx="6486525" cy="3142077"/>
          </a:xfrm>
          <a:prstGeom prst="rect">
            <a:avLst/>
          </a:prstGeom>
          <a:noFill/>
          <a:ln w="9525">
            <a:noFill/>
            <a:miter lim="800000"/>
            <a:headEnd/>
            <a:tailEnd/>
          </a:ln>
          <a:effectLst/>
        </p:spPr>
      </p:pic>
      <p:sp>
        <p:nvSpPr>
          <p:cNvPr id="2" name="TextBox 1"/>
          <p:cNvSpPr txBox="1"/>
          <p:nvPr/>
        </p:nvSpPr>
        <p:spPr>
          <a:xfrm>
            <a:off x="868180" y="762000"/>
            <a:ext cx="7482590" cy="286232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b="1" dirty="0" smtClean="0">
                <a:solidFill>
                  <a:schemeClr val="accent6">
                    <a:lumMod val="50000"/>
                  </a:schemeClr>
                </a:solidFill>
              </a:rPr>
              <a:t>(</a:t>
            </a:r>
            <a:r>
              <a:rPr lang="en-US" sz="2000" b="1" i="1" dirty="0" smtClean="0">
                <a:solidFill>
                  <a:schemeClr val="accent6">
                    <a:lumMod val="50000"/>
                  </a:schemeClr>
                </a:solidFill>
              </a:rPr>
              <a:t>ii) </a:t>
            </a:r>
            <a:r>
              <a:rPr lang="en-US" sz="2000" b="1" i="1" dirty="0" smtClean="0"/>
              <a:t>Load Saturation Curve (V/I</a:t>
            </a:r>
            <a:r>
              <a:rPr lang="en-US" sz="2000" b="1" i="1" baseline="-25000" dirty="0" smtClean="0"/>
              <a:t>f</a:t>
            </a:r>
            <a:r>
              <a:rPr lang="en-US" sz="2000" b="1" i="1" dirty="0" smtClean="0"/>
              <a:t>)</a:t>
            </a:r>
          </a:p>
          <a:p>
            <a:pPr algn="just">
              <a:lnSpc>
                <a:spcPct val="150000"/>
              </a:lnSpc>
              <a:buClr>
                <a:schemeClr val="accent6">
                  <a:lumMod val="50000"/>
                </a:schemeClr>
              </a:buClr>
              <a:tabLst>
                <a:tab pos="465138" algn="l"/>
              </a:tabLst>
            </a:pPr>
            <a:r>
              <a:rPr lang="en-US" sz="2000" dirty="0" smtClean="0"/>
              <a:t>The curve showing relation between the terminal voltage </a:t>
            </a:r>
            <a:r>
              <a:rPr lang="en-US" sz="2000" i="1" dirty="0" smtClean="0"/>
              <a:t>V and field current If when the generator </a:t>
            </a:r>
            <a:r>
              <a:rPr lang="en-US" sz="2000" dirty="0" smtClean="0"/>
              <a:t>is loaded, is known as Load Saturation Curve. The curve can be deduced from the no-load saturation curve provided the values of armature reaction and armature resistance are known.</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Separately – Excited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5170646"/>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b="1" dirty="0" smtClean="0">
                <a:solidFill>
                  <a:schemeClr val="accent6">
                    <a:lumMod val="50000"/>
                  </a:schemeClr>
                </a:solidFill>
              </a:rPr>
              <a:t>(</a:t>
            </a:r>
            <a:r>
              <a:rPr lang="en-US" sz="2000" b="1" i="1" dirty="0" smtClean="0">
                <a:solidFill>
                  <a:schemeClr val="accent6">
                    <a:lumMod val="50000"/>
                  </a:schemeClr>
                </a:solidFill>
              </a:rPr>
              <a:t>b)</a:t>
            </a:r>
            <a:r>
              <a:rPr lang="en-US" sz="2000" b="1" i="1" dirty="0" smtClean="0"/>
              <a:t> Internal and External Characteristics</a:t>
            </a:r>
          </a:p>
          <a:p>
            <a:pPr algn="just">
              <a:lnSpc>
                <a:spcPct val="150000"/>
              </a:lnSpc>
              <a:buClr>
                <a:schemeClr val="accent6">
                  <a:lumMod val="50000"/>
                </a:schemeClr>
              </a:buClr>
              <a:tabLst>
                <a:tab pos="465138" algn="l"/>
              </a:tabLst>
            </a:pPr>
            <a:r>
              <a:rPr lang="en-US" sz="2000" dirty="0" smtClean="0"/>
              <a:t>Let us consider a separately-excited generator giving its rated no-load voltage of </a:t>
            </a:r>
            <a:r>
              <a:rPr lang="en-US" sz="2000" i="1" dirty="0" smtClean="0"/>
              <a:t>E</a:t>
            </a:r>
            <a:r>
              <a:rPr lang="en-US" sz="2000" i="1" baseline="-25000" dirty="0" smtClean="0"/>
              <a:t>0</a:t>
            </a:r>
            <a:r>
              <a:rPr lang="en-US" sz="2000" i="1" dirty="0" smtClean="0"/>
              <a:t> for a certain </a:t>
            </a:r>
            <a:r>
              <a:rPr lang="en-US" sz="2000" dirty="0" smtClean="0"/>
              <a:t>constant field current. If there were no armature reaction and armature voltage drop, then this voltage would have remained constant as shown in Fig. 28.3. by the dotted horizontal line </a:t>
            </a:r>
            <a:r>
              <a:rPr lang="en-US" sz="2000" i="1" dirty="0" smtClean="0"/>
              <a:t>I. But when the </a:t>
            </a:r>
            <a:r>
              <a:rPr lang="en-US" sz="2000" dirty="0" smtClean="0"/>
              <a:t>generator is loaded, the voltage falls due to these two causes, thereby giving slightly dropping characteristics.</a:t>
            </a:r>
          </a:p>
          <a:p>
            <a:pPr algn="just">
              <a:lnSpc>
                <a:spcPct val="150000"/>
              </a:lnSpc>
              <a:buClr>
                <a:schemeClr val="accent6">
                  <a:lumMod val="50000"/>
                </a:schemeClr>
              </a:buClr>
              <a:tabLst>
                <a:tab pos="465138" algn="l"/>
              </a:tabLst>
            </a:pPr>
            <a:r>
              <a:rPr lang="en-US" sz="2000" dirty="0" smtClean="0"/>
              <a:t>If we subtract from E</a:t>
            </a:r>
            <a:r>
              <a:rPr lang="en-US" sz="2000" baseline="-25000" dirty="0" smtClean="0"/>
              <a:t>0 </a:t>
            </a:r>
            <a:r>
              <a:rPr lang="en-US" sz="2000" dirty="0" smtClean="0"/>
              <a:t>the values of voltage drops due to armature reaction for different loads, then we get the value of E–the e.m.f. actually induced in the armature under load conditions.</a:t>
            </a:r>
            <a:r>
              <a:rPr lang="en-US" sz="2000" b="1" i="1" dirty="0" smtClean="0"/>
              <a:t> </a:t>
            </a:r>
            <a:r>
              <a:rPr lang="en-US" sz="2000" dirty="0" smtClean="0"/>
              <a:t>Curve II is plotted in this way and is known as the </a:t>
            </a:r>
            <a:r>
              <a:rPr lang="en-US" sz="2000" b="1" i="1" dirty="0" smtClean="0"/>
              <a:t>internal characteristic.</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Separately – Excited Generator</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1526500" y="4101061"/>
            <a:ext cx="6923145" cy="2667000"/>
          </a:xfrm>
          <a:prstGeom prst="rect">
            <a:avLst/>
          </a:prstGeom>
          <a:noFill/>
          <a:ln w="9525">
            <a:noFill/>
            <a:miter lim="800000"/>
            <a:headEnd/>
            <a:tailEnd/>
          </a:ln>
          <a:effectLst/>
        </p:spPr>
      </p:pic>
      <p:sp>
        <p:nvSpPr>
          <p:cNvPr id="2" name="TextBox 1"/>
          <p:cNvSpPr txBox="1"/>
          <p:nvPr/>
        </p:nvSpPr>
        <p:spPr>
          <a:xfrm>
            <a:off x="868180" y="762000"/>
            <a:ext cx="7482590" cy="3323987"/>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 O.C.C. or no-load saturated curves for self-excited generators 	whether shunt or series connected, are obtained in a similar way. </a:t>
            </a:r>
          </a:p>
          <a:p>
            <a:pPr algn="just">
              <a:lnSpc>
                <a:spcPct val="150000"/>
              </a:lnSpc>
              <a:buClr>
                <a:schemeClr val="accent6">
                  <a:lumMod val="50000"/>
                </a:schemeClr>
              </a:buClr>
              <a:buFont typeface="Wingdings" pitchFamily="2" charset="2"/>
              <a:buChar char="v"/>
              <a:tabLst>
                <a:tab pos="465138" algn="l"/>
              </a:tabLst>
            </a:pPr>
            <a:r>
              <a:rPr lang="en-US" sz="2000" dirty="0" smtClean="0"/>
              <a:t> 	The field winding of the generator (whether shunt or series 	wound) is disconnected from the machine and connected to an 	external source of direct current as shown in Fig. 28.4.</a:t>
            </a:r>
          </a:p>
          <a:p>
            <a:pPr algn="just">
              <a:lnSpc>
                <a:spcPct val="150000"/>
              </a:lnSpc>
              <a:buClr>
                <a:schemeClr val="accent6">
                  <a:lumMod val="50000"/>
                </a:schemeClr>
              </a:buClr>
              <a:buFont typeface="Wingdings" pitchFamily="2" charset="2"/>
              <a:buChar char="v"/>
              <a:tabLst>
                <a:tab pos="465138" algn="l"/>
              </a:tabLst>
            </a:pPr>
            <a:r>
              <a:rPr lang="en-US" sz="2000" dirty="0" smtClean="0"/>
              <a:t> 	On plotting the relation between If and E0, a curve of this form 	shown in Fig. 28.5 is obtained.</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No – Load Curve for Self – Excited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8305800" y="655320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1232889"/>
            <a:ext cx="4694420" cy="5122941"/>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Now, connect the field windings back to the armature and run the machine as a shunt generator. Due to residual magnetism in the poles, some e.m.f. and hence current, would be generated. This current while passing through the field coils will strengthen the magnetism of the poles (provided field coils are properly connected as regards polarity). This will increase the pole flux which will further increase the generated e.m.f.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No – Load Curve for Self – Excited Generator</a:t>
            </a:r>
            <a:endParaRPr lang="en-US" sz="2800" b="1" dirty="0">
              <a:solidFill>
                <a:schemeClr val="bg1"/>
              </a:solidFill>
              <a:latin typeface="Arial" pitchFamily="34" charset="0"/>
              <a:cs typeface="Arial" pitchFamily="34" charset="0"/>
            </a:endParaRPr>
          </a:p>
        </p:txBody>
      </p:sp>
      <p:pic>
        <p:nvPicPr>
          <p:cNvPr id="3074" name="Picture 2"/>
          <p:cNvPicPr>
            <a:picLocks noChangeAspect="1" noChangeArrowheads="1"/>
          </p:cNvPicPr>
          <p:nvPr/>
        </p:nvPicPr>
        <p:blipFill>
          <a:blip r:embed="rId2"/>
          <a:srcRect/>
          <a:stretch>
            <a:fillRect/>
          </a:stretch>
        </p:blipFill>
        <p:spPr bwMode="auto">
          <a:xfrm>
            <a:off x="5257800" y="1752600"/>
            <a:ext cx="3348070" cy="3505200"/>
          </a:xfrm>
          <a:prstGeom prst="rect">
            <a:avLst/>
          </a:prstGeom>
          <a:ln>
            <a:noFill/>
          </a:ln>
          <a:effectLst>
            <a:outerShdw blurRad="190500" algn="tl" rotWithShape="0">
              <a:srgbClr val="000000">
                <a:alpha val="70000"/>
              </a:srgbClr>
            </a:outerShdw>
          </a:effectLst>
        </p:spPr>
      </p:pic>
      <p:sp>
        <p:nvSpPr>
          <p:cNvPr id="8" name="Rectangle 7"/>
          <p:cNvSpPr/>
          <p:nvPr/>
        </p:nvSpPr>
        <p:spPr>
          <a:xfrm>
            <a:off x="381000" y="824460"/>
            <a:ext cx="5108193" cy="461665"/>
          </a:xfrm>
          <a:prstGeom prst="rect">
            <a:avLst/>
          </a:prstGeom>
        </p:spPr>
        <p:txBody>
          <a:bodyPr wrap="none">
            <a:spAutoFit/>
          </a:bodyPr>
          <a:lstStyle/>
          <a:p>
            <a:pPr algn="just">
              <a:buClr>
                <a:schemeClr val="accent6">
                  <a:lumMod val="50000"/>
                </a:schemeClr>
              </a:buClr>
              <a:tabLst>
                <a:tab pos="465138" algn="l"/>
              </a:tabLst>
            </a:pPr>
            <a:r>
              <a:rPr lang="en-US" sz="2400" b="1" dirty="0" smtClean="0"/>
              <a:t>Critical Resistance for Shunt Generator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47010"/>
            <a:ext cx="7482590" cy="2699200"/>
          </a:xfrm>
          <a:prstGeom prst="rect">
            <a:avLst/>
          </a:prstGeom>
          <a:noFill/>
        </p:spPr>
        <p:txBody>
          <a:bodyPr wrap="square" rtlCol="0">
            <a:spAutoFit/>
          </a:bodyPr>
          <a:lstStyle/>
          <a:p>
            <a:pPr algn="just">
              <a:lnSpc>
                <a:spcPct val="200000"/>
              </a:lnSpc>
              <a:spcBef>
                <a:spcPts val="1800"/>
              </a:spcBef>
              <a:buClr>
                <a:schemeClr val="accent6">
                  <a:lumMod val="50000"/>
                </a:schemeClr>
              </a:buClr>
              <a:buFont typeface="Wingdings" pitchFamily="2" charset="2"/>
              <a:buChar char="v"/>
              <a:tabLst>
                <a:tab pos="465138" algn="l"/>
              </a:tabLst>
            </a:pPr>
            <a:r>
              <a:rPr lang="en-US" sz="2000" dirty="0" smtClean="0"/>
              <a:t> 	First, O.C.C. is plotted from the given data. Then, tangent is drawn 	to its initial portion. </a:t>
            </a:r>
          </a:p>
          <a:p>
            <a:pPr algn="just">
              <a:lnSpc>
                <a:spcPct val="200000"/>
              </a:lnSpc>
              <a:spcBef>
                <a:spcPts val="1800"/>
              </a:spcBef>
              <a:buClr>
                <a:schemeClr val="accent6">
                  <a:lumMod val="50000"/>
                </a:schemeClr>
              </a:buClr>
              <a:buFont typeface="Wingdings" pitchFamily="2" charset="2"/>
              <a:buChar char="v"/>
              <a:tabLst>
                <a:tab pos="465138" algn="l"/>
              </a:tabLst>
            </a:pPr>
            <a:r>
              <a:rPr lang="en-US" sz="2000" dirty="0" smtClean="0"/>
              <a:t> 	The slope of this curve gives the critical resistance for the speed 	at which the data was obtained.</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How to Find Critical Resistance R</a:t>
            </a:r>
            <a:r>
              <a:rPr lang="en-US" sz="2800" b="1" baseline="-25000" dirty="0" smtClean="0">
                <a:solidFill>
                  <a:schemeClr val="bg1"/>
                </a:solidFill>
                <a:latin typeface="Arial" pitchFamily="34" charset="0"/>
                <a:cs typeface="Arial" pitchFamily="34" charset="0"/>
              </a:rPr>
              <a:t>c</a:t>
            </a:r>
            <a:r>
              <a:rPr lang="en-US" sz="2800" b="1" dirty="0" smtClean="0">
                <a:solidFill>
                  <a:schemeClr val="bg1"/>
                </a:solidFill>
                <a:latin typeface="Arial" pitchFamily="34" charset="0"/>
                <a:cs typeface="Arial" pitchFamily="34" charset="0"/>
              </a:rPr>
              <a:t>?</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914400" y="2705100"/>
            <a:ext cx="7458075" cy="3314700"/>
          </a:xfrm>
          <a:prstGeom prst="rect">
            <a:avLst/>
          </a:prstGeom>
          <a:noFill/>
          <a:ln w="9525">
            <a:noFill/>
            <a:miter lim="800000"/>
            <a:headEnd/>
            <a:tailEnd/>
          </a:ln>
          <a:effectLst/>
        </p:spPr>
      </p:pic>
      <p:sp>
        <p:nvSpPr>
          <p:cNvPr id="2" name="TextBox 1"/>
          <p:cNvSpPr txBox="1"/>
          <p:nvPr/>
        </p:nvSpPr>
        <p:spPr>
          <a:xfrm>
            <a:off x="868180" y="762000"/>
            <a:ext cx="7482590" cy="193899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Suppose we are given the data for </a:t>
            </a:r>
            <a:r>
              <a:rPr lang="en-US" sz="2000" i="1" dirty="0" smtClean="0"/>
              <a:t>O.C.C. of a generator run at a fixed speed, say, N</a:t>
            </a:r>
            <a:r>
              <a:rPr lang="en-US" sz="2000" i="1" baseline="-25000" dirty="0" smtClean="0"/>
              <a:t>1</a:t>
            </a:r>
            <a:r>
              <a:rPr lang="en-US" sz="2000" i="1" dirty="0" smtClean="0"/>
              <a:t>. It will be </a:t>
            </a:r>
            <a:r>
              <a:rPr lang="en-US" sz="2000" dirty="0" smtClean="0"/>
              <a:t>shown that </a:t>
            </a:r>
            <a:r>
              <a:rPr lang="en-US" sz="2000" i="1" dirty="0" smtClean="0"/>
              <a:t>O.C.C. at any other constant speed N</a:t>
            </a:r>
            <a:r>
              <a:rPr lang="en-US" sz="2000" i="1" baseline="-25000" dirty="0" smtClean="0"/>
              <a:t>2</a:t>
            </a:r>
            <a:r>
              <a:rPr lang="en-US" sz="2000" i="1" dirty="0" smtClean="0"/>
              <a:t> can be deduced from the O.C.C. for N</a:t>
            </a:r>
            <a:r>
              <a:rPr lang="en-US" sz="2000" i="1" baseline="-25000" dirty="0" smtClean="0"/>
              <a:t>1</a:t>
            </a:r>
            <a:r>
              <a:rPr lang="en-US" sz="2000" i="1" dirty="0" smtClean="0"/>
              <a:t>. In Fig. 28.7 </a:t>
            </a:r>
            <a:r>
              <a:rPr lang="en-US" sz="2000" dirty="0" smtClean="0"/>
              <a:t>the </a:t>
            </a:r>
            <a:r>
              <a:rPr lang="en-US" sz="2000" i="1" dirty="0" smtClean="0"/>
              <a:t>O.C.C. for speed N</a:t>
            </a:r>
            <a:r>
              <a:rPr lang="en-US" sz="2000" i="1" baseline="-25000" dirty="0" smtClean="0"/>
              <a:t>1</a:t>
            </a:r>
            <a:r>
              <a:rPr lang="en-US" sz="2000" i="1" dirty="0" smtClean="0"/>
              <a:t> is shown.</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How to Draw O.C.C. at Different Speeds?</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1891287"/>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Critical speed of a shunt generator is that speed for which the given shunt field resistance represents critical resistance. In Fig. 28.8, curve 2 corresponds to critical speed because </a:t>
            </a:r>
            <a:r>
              <a:rPr lang="en-US" sz="2000" i="1" dirty="0" smtClean="0"/>
              <a:t>R</a:t>
            </a:r>
            <a:r>
              <a:rPr lang="en-US" sz="2000" i="1" baseline="-25000" dirty="0" smtClean="0"/>
              <a:t>sh</a:t>
            </a:r>
            <a:r>
              <a:rPr lang="en-US" sz="2000" i="1" dirty="0" smtClean="0"/>
              <a:t> line is tangential </a:t>
            </a:r>
            <a:r>
              <a:rPr lang="en-US" sz="2000" dirty="0" smtClean="0"/>
              <a:t>to it. Obviously</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Critical Speed N</a:t>
            </a:r>
            <a:r>
              <a:rPr lang="en-US" sz="2800" b="1" baseline="-25000" dirty="0" smtClean="0">
                <a:solidFill>
                  <a:schemeClr val="bg1"/>
                </a:solidFill>
                <a:latin typeface="Arial" pitchFamily="34" charset="0"/>
                <a:cs typeface="Arial" pitchFamily="34" charset="0"/>
              </a:rPr>
              <a:t>c</a:t>
            </a:r>
            <a:endParaRPr lang="en-US" sz="2800" b="1" baseline="-25000" dirty="0">
              <a:solidFill>
                <a:schemeClr val="bg1"/>
              </a:solidFill>
              <a:latin typeface="Arial" pitchFamily="34" charset="0"/>
              <a:cs typeface="Arial" pitchFamily="34" charset="0"/>
            </a:endParaRPr>
          </a:p>
        </p:txBody>
      </p:sp>
      <p:pic>
        <p:nvPicPr>
          <p:cNvPr id="5122" name="Picture 2"/>
          <p:cNvPicPr>
            <a:picLocks noChangeAspect="1" noChangeArrowheads="1"/>
          </p:cNvPicPr>
          <p:nvPr/>
        </p:nvPicPr>
        <p:blipFill>
          <a:blip r:embed="rId2"/>
          <a:srcRect/>
          <a:stretch>
            <a:fillRect/>
          </a:stretch>
        </p:blipFill>
        <p:spPr bwMode="auto">
          <a:xfrm>
            <a:off x="2057400" y="2590800"/>
            <a:ext cx="5158760" cy="566737"/>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5064120" y="2846880"/>
              <a:ext cx="961200" cy="588240"/>
            </p14:xfrm>
          </p:contentPart>
        </mc:Choice>
        <mc:Fallback xmlns="">
          <p:pic>
            <p:nvPicPr>
              <p:cNvPr id="3" name="Ink 2"/>
              <p:cNvPicPr/>
              <p:nvPr/>
            </p:nvPicPr>
            <p:blipFill>
              <a:blip r:embed="rId4"/>
              <a:stretch>
                <a:fillRect/>
              </a:stretch>
            </p:blipFill>
            <p:spPr>
              <a:xfrm>
                <a:off x="5060160" y="2844360"/>
                <a:ext cx="967680" cy="596160"/>
              </a:xfrm>
              <a:prstGeom prst="rect">
                <a:avLst/>
              </a:prstGeom>
            </p:spPr>
          </p:pic>
        </mc:Fallback>
      </mc:AlternateContent>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4613881" y="2362200"/>
            <a:ext cx="3844319" cy="3883849"/>
          </a:xfrm>
          <a:prstGeom prst="rect">
            <a:avLst/>
          </a:prstGeom>
          <a:noFill/>
          <a:ln w="9525">
            <a:noFill/>
            <a:miter lim="800000"/>
            <a:headEnd/>
            <a:tailEnd/>
          </a:ln>
          <a:effectLst/>
        </p:spPr>
      </p:pic>
      <p:sp>
        <p:nvSpPr>
          <p:cNvPr id="2" name="TextBox 1"/>
          <p:cNvSpPr txBox="1"/>
          <p:nvPr/>
        </p:nvSpPr>
        <p:spPr>
          <a:xfrm>
            <a:off x="685800" y="920889"/>
            <a:ext cx="7482590" cy="5632311"/>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Before loading a shunt generator, it is allowed to build up its 	voltage. Usually, there is always present some residual magnetism 	in the poles, hence a small e.m.f. is produced initially.</a:t>
            </a:r>
          </a:p>
          <a:p>
            <a:pPr algn="just">
              <a:lnSpc>
                <a:spcPct val="150000"/>
              </a:lnSpc>
              <a:buClr>
                <a:schemeClr val="accent6">
                  <a:lumMod val="50000"/>
                </a:schemeClr>
              </a:buClr>
              <a:buFont typeface="Wingdings" pitchFamily="2" charset="2"/>
              <a:buChar char="v"/>
              <a:tabLst>
                <a:tab pos="465138" algn="l"/>
              </a:tabLst>
            </a:pPr>
            <a:r>
              <a:rPr lang="en-US" sz="2000" dirty="0" smtClean="0"/>
              <a:t> 	When flux is increased, </a:t>
            </a:r>
          </a:p>
          <a:p>
            <a:pPr algn="just">
              <a:lnSpc>
                <a:spcPct val="150000"/>
              </a:lnSpc>
              <a:buClr>
                <a:schemeClr val="accent6">
                  <a:lumMod val="50000"/>
                </a:schemeClr>
              </a:buClr>
              <a:tabLst>
                <a:tab pos="465138" algn="l"/>
              </a:tabLst>
            </a:pPr>
            <a:r>
              <a:rPr lang="en-US" sz="2000" dirty="0" smtClean="0"/>
              <a:t>	generated e.m.f. is increased </a:t>
            </a:r>
          </a:p>
          <a:p>
            <a:pPr algn="just">
              <a:lnSpc>
                <a:spcPct val="150000"/>
              </a:lnSpc>
              <a:buClr>
                <a:schemeClr val="accent6">
                  <a:lumMod val="50000"/>
                </a:schemeClr>
              </a:buClr>
              <a:tabLst>
                <a:tab pos="465138" algn="l"/>
              </a:tabLst>
            </a:pPr>
            <a:r>
              <a:rPr lang="en-US" sz="2000" dirty="0" smtClean="0"/>
              <a:t>	which further increases the </a:t>
            </a:r>
          </a:p>
          <a:p>
            <a:pPr algn="just">
              <a:lnSpc>
                <a:spcPct val="150000"/>
              </a:lnSpc>
              <a:buClr>
                <a:schemeClr val="accent6">
                  <a:lumMod val="50000"/>
                </a:schemeClr>
              </a:buClr>
              <a:tabLst>
                <a:tab pos="465138" algn="l"/>
              </a:tabLst>
            </a:pPr>
            <a:r>
              <a:rPr lang="en-US" sz="2000" dirty="0" smtClean="0"/>
              <a:t>	flux and so on. As shown in Fig. </a:t>
            </a:r>
          </a:p>
          <a:p>
            <a:pPr algn="just">
              <a:lnSpc>
                <a:spcPct val="150000"/>
              </a:lnSpc>
              <a:buClr>
                <a:schemeClr val="accent6">
                  <a:lumMod val="50000"/>
                </a:schemeClr>
              </a:buClr>
              <a:tabLst>
                <a:tab pos="465138" algn="l"/>
              </a:tabLst>
            </a:pPr>
            <a:r>
              <a:rPr lang="en-US" sz="2000" dirty="0" smtClean="0"/>
              <a:t>	28.17, </a:t>
            </a:r>
            <a:r>
              <a:rPr lang="en-US" sz="2000" i="1" dirty="0" smtClean="0"/>
              <a:t>Oa is the induced e.m.f. </a:t>
            </a:r>
          </a:p>
          <a:p>
            <a:pPr algn="just">
              <a:lnSpc>
                <a:spcPct val="150000"/>
              </a:lnSpc>
              <a:buClr>
                <a:schemeClr val="accent6">
                  <a:lumMod val="50000"/>
                </a:schemeClr>
              </a:buClr>
              <a:tabLst>
                <a:tab pos="465138" algn="l"/>
              </a:tabLst>
            </a:pPr>
            <a:r>
              <a:rPr lang="en-US" sz="2000" i="1" dirty="0" smtClean="0"/>
              <a:t>	due to residual magnetism </a:t>
            </a:r>
          </a:p>
          <a:p>
            <a:pPr algn="just">
              <a:lnSpc>
                <a:spcPct val="150000"/>
              </a:lnSpc>
              <a:buClr>
                <a:schemeClr val="accent6">
                  <a:lumMod val="50000"/>
                </a:schemeClr>
              </a:buClr>
              <a:tabLst>
                <a:tab pos="465138" algn="l"/>
              </a:tabLst>
            </a:pPr>
            <a:r>
              <a:rPr lang="en-US" sz="2000" i="1" dirty="0" smtClean="0"/>
              <a:t>	which appears across </a:t>
            </a:r>
            <a:r>
              <a:rPr lang="en-US" sz="2000" dirty="0" smtClean="0"/>
              <a:t>the field </a:t>
            </a:r>
          </a:p>
          <a:p>
            <a:pPr algn="just">
              <a:lnSpc>
                <a:spcPct val="150000"/>
              </a:lnSpc>
              <a:buClr>
                <a:schemeClr val="accent6">
                  <a:lumMod val="50000"/>
                </a:schemeClr>
              </a:buClr>
              <a:tabLst>
                <a:tab pos="465138" algn="l"/>
              </a:tabLst>
            </a:pPr>
            <a:r>
              <a:rPr lang="en-US" sz="2000" dirty="0" smtClean="0"/>
              <a:t>	circuit and causes a field current </a:t>
            </a:r>
          </a:p>
          <a:p>
            <a:pPr algn="just">
              <a:lnSpc>
                <a:spcPct val="150000"/>
              </a:lnSpc>
              <a:buClr>
                <a:schemeClr val="accent6">
                  <a:lumMod val="50000"/>
                </a:schemeClr>
              </a:buClr>
              <a:tabLst>
                <a:tab pos="465138" algn="l"/>
              </a:tabLst>
            </a:pPr>
            <a:r>
              <a:rPr lang="en-US" sz="2000" i="1" dirty="0" smtClean="0"/>
              <a:t>	Ob to flow.</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Voltage Build up of a Shunt Generator</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5632311"/>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We may summarize the conditions necessary for the build-up of a (self-excited) shunt generator as follows:</a:t>
            </a:r>
          </a:p>
          <a:p>
            <a:pPr algn="just">
              <a:lnSpc>
                <a:spcPct val="150000"/>
              </a:lnSpc>
              <a:buClr>
                <a:schemeClr val="accent6">
                  <a:lumMod val="50000"/>
                </a:schemeClr>
              </a:buClr>
              <a:buFont typeface="+mj-lt"/>
              <a:buAutoNum type="arabicPeriod"/>
              <a:tabLst>
                <a:tab pos="465138" algn="l"/>
              </a:tabLst>
            </a:pPr>
            <a:r>
              <a:rPr lang="en-US" sz="2000" b="1" dirty="0" smtClean="0"/>
              <a:t> 	</a:t>
            </a:r>
            <a:r>
              <a:rPr lang="en-US" sz="2000" dirty="0" smtClean="0"/>
              <a:t>There must be some residual magnetism in the generator poles.</a:t>
            </a:r>
          </a:p>
          <a:p>
            <a:pPr algn="just">
              <a:lnSpc>
                <a:spcPct val="150000"/>
              </a:lnSpc>
              <a:buClr>
                <a:schemeClr val="accent6">
                  <a:lumMod val="50000"/>
                </a:schemeClr>
              </a:buClr>
              <a:buFont typeface="+mj-lt"/>
              <a:buAutoNum type="arabicPeriod"/>
              <a:tabLst>
                <a:tab pos="465138" algn="l"/>
              </a:tabLst>
            </a:pPr>
            <a:r>
              <a:rPr lang="en-US" sz="2000" b="1" dirty="0" smtClean="0"/>
              <a:t> </a:t>
            </a:r>
            <a:r>
              <a:rPr lang="en-US" sz="2000" dirty="0" smtClean="0"/>
              <a:t>	For the given direction of rotation, the shunt field coils should be 	correctly connected to the armature i.e. they should be so 	connected that the induced current reinforces the e.m.f. 	produced initially due to residual magnetism.</a:t>
            </a:r>
          </a:p>
          <a:p>
            <a:pPr algn="just">
              <a:lnSpc>
                <a:spcPct val="150000"/>
              </a:lnSpc>
              <a:buClr>
                <a:schemeClr val="accent6">
                  <a:lumMod val="50000"/>
                </a:schemeClr>
              </a:buClr>
              <a:buFont typeface="+mj-lt"/>
              <a:buAutoNum type="arabicPeriod"/>
              <a:tabLst>
                <a:tab pos="465138" algn="l"/>
              </a:tabLst>
            </a:pPr>
            <a:r>
              <a:rPr lang="en-US" sz="2000" b="1" dirty="0" smtClean="0"/>
              <a:t> </a:t>
            </a:r>
            <a:r>
              <a:rPr lang="en-US" sz="2000" dirty="0" smtClean="0"/>
              <a:t>	If excited on open circuit, its shunt field resistance should be less 	than the critical resistance (which can be found from its O.C.C.)</a:t>
            </a:r>
          </a:p>
          <a:p>
            <a:pPr algn="just">
              <a:lnSpc>
                <a:spcPct val="150000"/>
              </a:lnSpc>
              <a:buClr>
                <a:schemeClr val="accent6">
                  <a:lumMod val="50000"/>
                </a:schemeClr>
              </a:buClr>
              <a:buFont typeface="+mj-lt"/>
              <a:buAutoNum type="arabicPeriod"/>
              <a:tabLst>
                <a:tab pos="465138" algn="l"/>
              </a:tabLst>
            </a:pPr>
            <a:r>
              <a:rPr lang="en-US" sz="2000" b="1" dirty="0" smtClean="0"/>
              <a:t> </a:t>
            </a:r>
            <a:r>
              <a:rPr lang="en-US" sz="2000" dirty="0" smtClean="0"/>
              <a:t>	If excited on load, then its shunt field resistance should be more 	than a certain minimum value of resistance which is given by 	internal characteristic (Art 28.11).</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Conditions for Build – up of a Shunt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2138040" y="2166840"/>
              <a:ext cx="5691960" cy="2835000"/>
            </p14:xfrm>
          </p:contentPart>
        </mc:Choice>
        <mc:Fallback xmlns="">
          <p:pic>
            <p:nvPicPr>
              <p:cNvPr id="3" name="Ink 2"/>
              <p:cNvPicPr/>
              <p:nvPr/>
            </p:nvPicPr>
            <p:blipFill>
              <a:blip r:embed="rId3"/>
              <a:stretch>
                <a:fillRect/>
              </a:stretch>
            </p:blipFill>
            <p:spPr>
              <a:xfrm>
                <a:off x="2133000" y="2163960"/>
                <a:ext cx="5699520" cy="2843280"/>
              </a:xfrm>
              <a:prstGeom prst="rect">
                <a:avLst/>
              </a:prstGeom>
            </p:spPr>
          </p:pic>
        </mc:Fallback>
      </mc:AlternateContent>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Conditions for Build – up of a Shunt Generator</a:t>
            </a:r>
            <a:endParaRPr lang="en-US" sz="2800" b="1" dirty="0">
              <a:solidFill>
                <a:schemeClr val="bg1"/>
              </a:solidFill>
              <a:latin typeface="Arial" pitchFamily="34" charset="0"/>
              <a:cs typeface="Arial" pitchFamily="34" charset="0"/>
            </a:endParaRPr>
          </a:p>
        </p:txBody>
      </p:sp>
      <p:pic>
        <p:nvPicPr>
          <p:cNvPr id="7170" name="Picture 2"/>
          <p:cNvPicPr>
            <a:picLocks noChangeAspect="1" noChangeArrowheads="1"/>
          </p:cNvPicPr>
          <p:nvPr/>
        </p:nvPicPr>
        <p:blipFill>
          <a:blip r:embed="rId2"/>
          <a:srcRect/>
          <a:stretch>
            <a:fillRect/>
          </a:stretch>
        </p:blipFill>
        <p:spPr bwMode="auto">
          <a:xfrm>
            <a:off x="1676400" y="1295400"/>
            <a:ext cx="5791200" cy="4856641"/>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669560"/>
            <a:ext cx="7482590" cy="5016758"/>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In addition to the factors mentioned above, there are some other factors which affect the voltage building of a self-excited d.c. generator. These factors are:</a:t>
            </a:r>
          </a:p>
          <a:p>
            <a:pPr algn="just">
              <a:lnSpc>
                <a:spcPct val="200000"/>
              </a:lnSpc>
              <a:buClr>
                <a:schemeClr val="accent6">
                  <a:lumMod val="50000"/>
                </a:schemeClr>
              </a:buClr>
              <a:buFont typeface="+mj-lt"/>
              <a:buAutoNum type="romanLcPeriod"/>
              <a:tabLst>
                <a:tab pos="465138" algn="l"/>
              </a:tabLst>
            </a:pPr>
            <a:r>
              <a:rPr lang="en-US" sz="2000" b="1" dirty="0" smtClean="0"/>
              <a:t> 	</a:t>
            </a:r>
            <a:r>
              <a:rPr lang="en-US" sz="2000" dirty="0" smtClean="0"/>
              <a:t>reversed shunt field connection</a:t>
            </a:r>
          </a:p>
          <a:p>
            <a:pPr algn="just">
              <a:lnSpc>
                <a:spcPct val="200000"/>
              </a:lnSpc>
              <a:buClr>
                <a:schemeClr val="accent6">
                  <a:lumMod val="50000"/>
                </a:schemeClr>
              </a:buClr>
              <a:buFont typeface="+mj-lt"/>
              <a:buAutoNum type="romanLcPeriod"/>
              <a:tabLst>
                <a:tab pos="465138" algn="l"/>
              </a:tabLst>
            </a:pPr>
            <a:r>
              <a:rPr lang="en-US" sz="2000" b="1" dirty="0" smtClean="0"/>
              <a:t> 	</a:t>
            </a:r>
            <a:r>
              <a:rPr lang="en-US" sz="2000" dirty="0" smtClean="0"/>
              <a:t>reversed rotation and </a:t>
            </a:r>
          </a:p>
          <a:p>
            <a:pPr algn="just">
              <a:lnSpc>
                <a:spcPct val="200000"/>
              </a:lnSpc>
              <a:buClr>
                <a:schemeClr val="accent6">
                  <a:lumMod val="50000"/>
                </a:schemeClr>
              </a:buClr>
              <a:buFont typeface="+mj-lt"/>
              <a:buAutoNum type="romanLcPeriod"/>
              <a:tabLst>
                <a:tab pos="465138" algn="l"/>
              </a:tabLst>
            </a:pPr>
            <a:r>
              <a:rPr lang="en-US" sz="2000" b="1" dirty="0" smtClean="0"/>
              <a:t> 	</a:t>
            </a:r>
            <a:r>
              <a:rPr lang="en-US" sz="2000" dirty="0" smtClean="0"/>
              <a:t>reversed residual magnetism. </a:t>
            </a:r>
          </a:p>
          <a:p>
            <a:pPr algn="just">
              <a:lnSpc>
                <a:spcPct val="200000"/>
              </a:lnSpc>
              <a:buClr>
                <a:schemeClr val="accent6">
                  <a:lumMod val="50000"/>
                </a:schemeClr>
              </a:buClr>
              <a:tabLst>
                <a:tab pos="465138" algn="l"/>
              </a:tabLst>
            </a:pPr>
            <a:r>
              <a:rPr lang="en-US" sz="2000" dirty="0" smtClean="0"/>
              <a:t>These adverse effects would be explained with the help of Fig. 28.18 and the right-hand rule for finding the direction of the coil flux.</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461665"/>
          </a:xfrm>
          <a:prstGeom prst="rect">
            <a:avLst/>
          </a:prstGeom>
          <a:noFill/>
        </p:spPr>
        <p:txBody>
          <a:bodyPr wrap="square" rtlCol="0">
            <a:spAutoFit/>
          </a:bodyPr>
          <a:lstStyle/>
          <a:p>
            <a:pPr algn="ctr"/>
            <a:r>
              <a:rPr lang="en-US" sz="2400" b="1" dirty="0" smtClean="0">
                <a:solidFill>
                  <a:schemeClr val="bg1"/>
                </a:solidFill>
                <a:latin typeface="Arial" pitchFamily="34" charset="0"/>
                <a:cs typeface="Arial" pitchFamily="34" charset="0"/>
              </a:rPr>
              <a:t>Other Factors Affecting Voltage Building of a DC Generator</a:t>
            </a:r>
            <a:endParaRPr lang="en-US" sz="24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91980"/>
            <a:ext cx="7482590" cy="5276829"/>
          </a:xfrm>
          <a:prstGeom prst="rect">
            <a:avLst/>
          </a:prstGeom>
          <a:noFill/>
        </p:spPr>
        <p:txBody>
          <a:bodyPr wrap="square" rtlCol="0">
            <a:spAutoFit/>
          </a:bodyPr>
          <a:lstStyle/>
          <a:p>
            <a:pPr algn="just">
              <a:lnSpc>
                <a:spcPct val="150000"/>
              </a:lnSpc>
              <a:spcBef>
                <a:spcPts val="1200"/>
              </a:spcBef>
              <a:buClr>
                <a:schemeClr val="accent6">
                  <a:lumMod val="50000"/>
                </a:schemeClr>
              </a:buClr>
              <a:buFont typeface="+mj-lt"/>
              <a:buAutoNum type="arabicPeriod"/>
              <a:tabLst>
                <a:tab pos="465138" algn="l"/>
              </a:tabLst>
            </a:pPr>
            <a:r>
              <a:rPr lang="en-US" sz="2000" b="1" dirty="0" smtClean="0"/>
              <a:t> 	Armature resistance drop :</a:t>
            </a:r>
          </a:p>
          <a:p>
            <a:pPr algn="just">
              <a:lnSpc>
                <a:spcPct val="150000"/>
              </a:lnSpc>
              <a:spcBef>
                <a:spcPts val="1200"/>
              </a:spcBef>
              <a:buClr>
                <a:schemeClr val="accent6">
                  <a:lumMod val="50000"/>
                </a:schemeClr>
              </a:buClr>
              <a:tabLst>
                <a:tab pos="465138" algn="l"/>
              </a:tabLst>
            </a:pPr>
            <a:r>
              <a:rPr lang="en-US" sz="2000" dirty="0" smtClean="0"/>
              <a:t>	As the load current increases, more and more voltage is 	consumed in the ohmic resistance of the armature circuit. Hence, 	the terminal voltage V = E − I</a:t>
            </a:r>
            <a:r>
              <a:rPr lang="en-US" sz="2000" baseline="-25000" dirty="0" smtClean="0"/>
              <a:t>a</a:t>
            </a:r>
            <a:r>
              <a:rPr lang="en-US" sz="2000" dirty="0" smtClean="0"/>
              <a:t> R</a:t>
            </a:r>
            <a:r>
              <a:rPr lang="en-US" sz="2000" baseline="-25000" dirty="0" smtClean="0"/>
              <a:t>a</a:t>
            </a:r>
            <a:r>
              <a:rPr lang="en-US" sz="2000" dirty="0" smtClean="0"/>
              <a:t> is decreased where E is the 	induced e.m.f. in the armature under load condition.</a:t>
            </a:r>
          </a:p>
          <a:p>
            <a:pPr algn="just">
              <a:lnSpc>
                <a:spcPct val="150000"/>
              </a:lnSpc>
              <a:spcBef>
                <a:spcPts val="1200"/>
              </a:spcBef>
              <a:buClr>
                <a:schemeClr val="accent6">
                  <a:lumMod val="50000"/>
                </a:schemeClr>
              </a:buClr>
              <a:buFont typeface="+mj-lt"/>
              <a:buAutoNum type="arabicPeriod" startAt="2"/>
              <a:tabLst>
                <a:tab pos="465138" algn="l"/>
              </a:tabLst>
            </a:pPr>
            <a:r>
              <a:rPr lang="en-US" sz="2000" b="1" dirty="0" smtClean="0"/>
              <a:t> 	Armature reaction drop</a:t>
            </a:r>
          </a:p>
          <a:p>
            <a:pPr algn="just">
              <a:lnSpc>
                <a:spcPct val="150000"/>
              </a:lnSpc>
              <a:spcBef>
                <a:spcPts val="1200"/>
              </a:spcBef>
              <a:buClr>
                <a:schemeClr val="accent6">
                  <a:lumMod val="50000"/>
                </a:schemeClr>
              </a:buClr>
              <a:tabLst>
                <a:tab pos="465138" algn="l"/>
              </a:tabLst>
            </a:pPr>
            <a:r>
              <a:rPr lang="en-US" sz="2000" dirty="0" smtClean="0"/>
              <a:t>	Due to the demagnetising effect of armature reaction, pole flux is 	weakened and so the induced e.m.f. in the armature is decreased.</a:t>
            </a:r>
          </a:p>
          <a:p>
            <a:pPr algn="just">
              <a:lnSpc>
                <a:spcPct val="150000"/>
              </a:lnSpc>
              <a:spcBef>
                <a:spcPts val="1200"/>
              </a:spcBef>
              <a:buClr>
                <a:schemeClr val="accent6">
                  <a:lumMod val="50000"/>
                </a:schemeClr>
              </a:buClr>
              <a:buFont typeface="+mj-lt"/>
              <a:buAutoNum type="arabicPeriod" startAt="3"/>
              <a:tabLst>
                <a:tab pos="465138" algn="l"/>
              </a:tabLst>
            </a:pPr>
            <a:r>
              <a:rPr lang="en-US" sz="2000" b="1" dirty="0" smtClean="0"/>
              <a:t> 	</a:t>
            </a:r>
            <a:r>
              <a:rPr lang="en-US" sz="2000" dirty="0" smtClean="0"/>
              <a:t>The drop in terminal voltage V due to (i) and (ii) results in a 	decreased field current I</a:t>
            </a:r>
            <a:r>
              <a:rPr lang="en-US" sz="2000" baseline="-25000" dirty="0" smtClean="0"/>
              <a:t>f</a:t>
            </a:r>
            <a:r>
              <a:rPr lang="en-US" sz="2000" dirty="0" smtClean="0"/>
              <a:t> which further reduces the induced e.m.f.</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External Characteristic</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806970"/>
            <a:ext cx="7482590" cy="3430170"/>
          </a:xfrm>
          <a:prstGeom prst="rect">
            <a:avLst/>
          </a:prstGeom>
          <a:noFill/>
        </p:spPr>
        <p:txBody>
          <a:bodyPr wrap="square" rtlCol="0">
            <a:spAutoFit/>
          </a:bodyPr>
          <a:lstStyle/>
          <a:p>
            <a:pPr algn="just">
              <a:lnSpc>
                <a:spcPct val="150000"/>
              </a:lnSpc>
              <a:spcBef>
                <a:spcPts val="2400"/>
              </a:spcBef>
              <a:buClr>
                <a:schemeClr val="accent6">
                  <a:lumMod val="50000"/>
                </a:schemeClr>
              </a:buClr>
              <a:buFont typeface="Wingdings" pitchFamily="2" charset="2"/>
              <a:buChar char="v"/>
              <a:tabLst>
                <a:tab pos="465138" algn="l"/>
              </a:tabLst>
            </a:pPr>
            <a:r>
              <a:rPr lang="en-US" sz="2000" dirty="0" smtClean="0"/>
              <a:t> 	The voltage regulation of a d.c. generator is the change in voltage 	when the load is reduced from rated value to zero, expressed as 	percentage of the rated load voltage. </a:t>
            </a:r>
          </a:p>
          <a:p>
            <a:pPr algn="just">
              <a:lnSpc>
                <a:spcPct val="150000"/>
              </a:lnSpc>
              <a:spcBef>
                <a:spcPts val="2400"/>
              </a:spcBef>
              <a:buClr>
                <a:schemeClr val="accent6">
                  <a:lumMod val="50000"/>
                </a:schemeClr>
              </a:buClr>
              <a:buFont typeface="Wingdings" pitchFamily="2" charset="2"/>
              <a:buChar char="v"/>
              <a:tabLst>
                <a:tab pos="465138" algn="l"/>
              </a:tabLst>
            </a:pPr>
            <a:r>
              <a:rPr lang="en-US" sz="2000" dirty="0" smtClean="0"/>
              <a:t> 	If no-load voltage of a certain generator is 240 V and rated-load 	voltage is 220 V, </a:t>
            </a:r>
          </a:p>
          <a:p>
            <a:pPr algn="just">
              <a:lnSpc>
                <a:spcPct val="150000"/>
              </a:lnSpc>
              <a:spcBef>
                <a:spcPts val="2400"/>
              </a:spcBef>
              <a:buClr>
                <a:schemeClr val="accent6">
                  <a:lumMod val="50000"/>
                </a:schemeClr>
              </a:buClr>
              <a:tabLst>
                <a:tab pos="465138" algn="l"/>
              </a:tabLst>
            </a:pPr>
            <a:r>
              <a:rPr lang="en-US" sz="2000" dirty="0" smtClean="0"/>
              <a:t>	then, 		regn. = (240 − 220)/220 = 0.091 or 9.1 %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Voltage Regulation</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142962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As defined before, internal characteristic gives the relation between </a:t>
            </a:r>
            <a:r>
              <a:rPr lang="en-US" sz="2000" i="1" dirty="0" smtClean="0"/>
              <a:t>E and Ia. Now in a shunt   </a:t>
            </a:r>
            <a:r>
              <a:rPr lang="en-US" sz="2000" dirty="0" smtClean="0"/>
              <a:t>generator Hence, </a:t>
            </a:r>
            <a:r>
              <a:rPr lang="en-US" sz="2000" i="1" dirty="0" smtClean="0"/>
              <a:t>E/Ia curve can be obtained from V/I curve as shown in Fig.</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Internal or Total Characteristic</a:t>
            </a:r>
            <a:endParaRPr lang="en-US" sz="2800" b="1" dirty="0">
              <a:solidFill>
                <a:schemeClr val="bg1"/>
              </a:solidFill>
              <a:latin typeface="Arial" pitchFamily="34" charset="0"/>
              <a:cs typeface="Arial" pitchFamily="34" charset="0"/>
            </a:endParaRPr>
          </a:p>
        </p:txBody>
      </p:sp>
      <p:pic>
        <p:nvPicPr>
          <p:cNvPr id="8194" name="Picture 2"/>
          <p:cNvPicPr>
            <a:picLocks noChangeAspect="1" noChangeArrowheads="1"/>
          </p:cNvPicPr>
          <p:nvPr/>
        </p:nvPicPr>
        <p:blipFill>
          <a:blip r:embed="rId2"/>
          <a:srcRect/>
          <a:stretch>
            <a:fillRect/>
          </a:stretch>
        </p:blipFill>
        <p:spPr bwMode="auto">
          <a:xfrm>
            <a:off x="974360" y="2286000"/>
            <a:ext cx="7252877" cy="3733800"/>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4370040" y="3250080"/>
              <a:ext cx="3196440" cy="2348280"/>
            </p14:xfrm>
          </p:contentPart>
        </mc:Choice>
        <mc:Fallback xmlns="">
          <p:pic>
            <p:nvPicPr>
              <p:cNvPr id="3" name="Ink 2"/>
              <p:cNvPicPr/>
              <p:nvPr/>
            </p:nvPicPr>
            <p:blipFill>
              <a:blip r:embed="rId4"/>
              <a:stretch>
                <a:fillRect/>
              </a:stretch>
            </p:blipFill>
            <p:spPr>
              <a:xfrm>
                <a:off x="4366440" y="3243240"/>
                <a:ext cx="3203640" cy="2357640"/>
              </a:xfrm>
              <a:prstGeom prst="rect">
                <a:avLst/>
              </a:prstGeom>
            </p:spPr>
          </p:pic>
        </mc:Fallback>
      </mc:AlternateContent>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590020" cy="378565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In this generator, because field windings are in series with the armature [Fig. 28.23 (</a:t>
            </a:r>
            <a:r>
              <a:rPr lang="en-US" sz="2000" i="1" dirty="0" smtClean="0"/>
              <a:t>a)], they carry full armature current I</a:t>
            </a:r>
            <a:r>
              <a:rPr lang="en-US" sz="2000" i="1" baseline="-25000" dirty="0" smtClean="0"/>
              <a:t>a</a:t>
            </a:r>
            <a:r>
              <a:rPr lang="en-US" sz="2000" i="1" dirty="0" smtClean="0"/>
              <a:t>. As I</a:t>
            </a:r>
            <a:r>
              <a:rPr lang="en-US" sz="2000" i="1" baseline="-25000" dirty="0" smtClean="0"/>
              <a:t>a</a:t>
            </a:r>
            <a:r>
              <a:rPr lang="en-US" sz="2000" i="1" dirty="0" smtClean="0"/>
              <a:t> is increased, flux and hence generated </a:t>
            </a:r>
            <a:r>
              <a:rPr lang="en-US" sz="2000" dirty="0" smtClean="0"/>
              <a:t>e.m.f. is also increased as shown by the curve. Curve </a:t>
            </a:r>
            <a:r>
              <a:rPr lang="en-US" sz="2000" i="1" dirty="0" smtClean="0"/>
              <a:t>Oa is the O.C.C. The extra </a:t>
            </a:r>
            <a:r>
              <a:rPr lang="en-US" sz="2000" dirty="0" smtClean="0"/>
              <a:t>exciting current necessary to neutralize the weakening effect of armature reaction at full load is given by the horizontal distance </a:t>
            </a:r>
            <a:r>
              <a:rPr lang="en-US" sz="2000" i="1" dirty="0" smtClean="0"/>
              <a:t>ab. Hence, point b is on the internal characteristic. </a:t>
            </a:r>
            <a:r>
              <a:rPr lang="en-US" sz="2000" dirty="0" smtClean="0"/>
              <a:t>If the ordinate </a:t>
            </a:r>
            <a:r>
              <a:rPr lang="en-US" sz="2000" i="1" dirty="0" smtClean="0"/>
              <a:t>bc = gh = armature </a:t>
            </a:r>
            <a:r>
              <a:rPr lang="en-US" sz="2000" dirty="0" smtClean="0"/>
              <a:t>voltage drop, then point </a:t>
            </a:r>
            <a:r>
              <a:rPr lang="en-US" sz="2000" i="1" dirty="0" smtClean="0"/>
              <a:t>c lies on the </a:t>
            </a:r>
            <a:r>
              <a:rPr lang="en-US" sz="2000" dirty="0" smtClean="0"/>
              <a:t>external characteristic [Fig. 28.23 (</a:t>
            </a:r>
            <a:r>
              <a:rPr lang="en-US" sz="2000" i="1" dirty="0" smtClean="0"/>
              <a:t>b)].</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Series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3810000" y="6172200"/>
            <a:ext cx="685800" cy="261610"/>
          </a:xfrm>
          <a:prstGeom prst="rect">
            <a:avLst/>
          </a:prstGeom>
          <a:noFill/>
        </p:spPr>
        <p:txBody>
          <a:bodyPr wrap="square" rtlCol="0">
            <a:spAutoFit/>
          </a:bodyPr>
          <a:lstStyle/>
          <a:p>
            <a:r>
              <a:rPr lang="en-US" sz="1100" i="1" dirty="0" smtClean="0"/>
              <a:t>Contd….</a:t>
            </a:r>
            <a:endParaRPr lang="en-US" sz="1100" i="1" dirty="0"/>
          </a:p>
        </p:txBody>
      </p:sp>
      <p:pic>
        <p:nvPicPr>
          <p:cNvPr id="9218" name="Picture 2"/>
          <p:cNvPicPr>
            <a:picLocks noChangeAspect="1" noChangeArrowheads="1"/>
          </p:cNvPicPr>
          <p:nvPr/>
        </p:nvPicPr>
        <p:blipFill>
          <a:blip r:embed="rId2"/>
          <a:srcRect/>
          <a:stretch>
            <a:fillRect/>
          </a:stretch>
        </p:blipFill>
        <p:spPr bwMode="auto">
          <a:xfrm>
            <a:off x="4954250" y="4084820"/>
            <a:ext cx="3733800" cy="2687886"/>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Series Generator</a:t>
            </a:r>
            <a:endParaRPr lang="en-US" sz="2800" b="1" dirty="0">
              <a:solidFill>
                <a:schemeClr val="bg1"/>
              </a:solidFill>
              <a:latin typeface="Arial" pitchFamily="34" charset="0"/>
              <a:cs typeface="Arial" pitchFamily="34" charset="0"/>
            </a:endParaRPr>
          </a:p>
        </p:txBody>
      </p:sp>
      <p:pic>
        <p:nvPicPr>
          <p:cNvPr id="10242" name="Picture 2"/>
          <p:cNvPicPr>
            <a:picLocks noChangeAspect="1" noChangeArrowheads="1"/>
          </p:cNvPicPr>
          <p:nvPr/>
        </p:nvPicPr>
        <p:blipFill>
          <a:blip r:embed="rId2"/>
          <a:srcRect/>
          <a:stretch>
            <a:fillRect/>
          </a:stretch>
        </p:blipFill>
        <p:spPr bwMode="auto">
          <a:xfrm>
            <a:off x="1371600" y="1600200"/>
            <a:ext cx="6313371" cy="3738563"/>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156186"/>
            <a:ext cx="3399020" cy="4939814"/>
          </a:xfrm>
          <a:prstGeom prst="rect">
            <a:avLst/>
          </a:prstGeom>
          <a:noFill/>
        </p:spPr>
        <p:txBody>
          <a:bodyPr wrap="square" rtlCol="0">
            <a:spAutoFit/>
          </a:bodyPr>
          <a:lstStyle/>
          <a:p>
            <a:pPr algn="just">
              <a:spcBef>
                <a:spcPts val="1800"/>
              </a:spcBef>
              <a:buClr>
                <a:schemeClr val="accent6">
                  <a:lumMod val="50000"/>
                </a:schemeClr>
              </a:buClr>
              <a:buFont typeface="Wingdings" pitchFamily="2" charset="2"/>
              <a:buChar char="v"/>
              <a:tabLst>
                <a:tab pos="465138" algn="l"/>
              </a:tabLst>
            </a:pPr>
            <a:r>
              <a:rPr lang="en-US" sz="2000" dirty="0" smtClean="0"/>
              <a:t> 	A shunt generator is 	unsuitable where 	constancy of terminal 	voltage is essential, 	because its terminal 	voltage decreases as the 	load on it increases. </a:t>
            </a:r>
          </a:p>
          <a:p>
            <a:pPr algn="just">
              <a:spcBef>
                <a:spcPts val="1800"/>
              </a:spcBef>
              <a:buClr>
                <a:schemeClr val="accent6">
                  <a:lumMod val="50000"/>
                </a:schemeClr>
              </a:buClr>
              <a:buFont typeface="Wingdings" pitchFamily="2" charset="2"/>
              <a:buChar char="v"/>
              <a:tabLst>
                <a:tab pos="465138" algn="l"/>
              </a:tabLst>
            </a:pPr>
            <a:r>
              <a:rPr lang="en-US" sz="2000" dirty="0" smtClean="0"/>
              <a:t> 	This decrease in </a:t>
            </a:r>
            <a:r>
              <a:rPr lang="en-US" sz="2000" i="1" dirty="0" smtClean="0"/>
              <a:t>V is 	particularly objectionable 	</a:t>
            </a:r>
            <a:r>
              <a:rPr lang="en-US" sz="2000" dirty="0" smtClean="0"/>
              <a:t>for lighting circuit where 	even slight change in the 	voltage makes an 	appreciable change in the 	candle power of the 	incandescent lamps.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Compound – Wound Generator</a:t>
            </a:r>
            <a:endParaRPr lang="en-US" sz="2800" b="1" dirty="0">
              <a:solidFill>
                <a:schemeClr val="bg1"/>
              </a:solidFill>
              <a:latin typeface="Arial" pitchFamily="34" charset="0"/>
              <a:cs typeface="Arial" pitchFamily="34" charset="0"/>
            </a:endParaRPr>
          </a:p>
        </p:txBody>
      </p:sp>
      <p:pic>
        <p:nvPicPr>
          <p:cNvPr id="11266" name="Picture 2"/>
          <p:cNvPicPr>
            <a:picLocks noChangeAspect="1" noChangeArrowheads="1"/>
          </p:cNvPicPr>
          <p:nvPr/>
        </p:nvPicPr>
        <p:blipFill>
          <a:blip r:embed="rId2"/>
          <a:srcRect/>
          <a:stretch>
            <a:fillRect/>
          </a:stretch>
        </p:blipFill>
        <p:spPr bwMode="auto">
          <a:xfrm>
            <a:off x="4114800" y="1600200"/>
            <a:ext cx="4453581" cy="3886200"/>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2400657"/>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Consider a 110-V, 250-ampere generator. Suppose it gives its rated no-load voltage with a field current of 5.8 A. If, now, the series windings are disconnected and the shunt field rheostat is left unchanged then the machine will act as shunt generator, hence its voltage will fall with increase in load current.</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How to Calculate Required Series Turns?</a:t>
            </a:r>
            <a:endParaRPr lang="en-US" sz="2800" b="1" dirty="0">
              <a:solidFill>
                <a:schemeClr val="bg1"/>
              </a:solidFill>
              <a:latin typeface="Arial" pitchFamily="34" charset="0"/>
              <a:cs typeface="Arial" pitchFamily="34" charset="0"/>
            </a:endParaRPr>
          </a:p>
        </p:txBody>
      </p:sp>
      <p:pic>
        <p:nvPicPr>
          <p:cNvPr id="12290" name="Picture 2"/>
          <p:cNvPicPr>
            <a:picLocks noChangeAspect="1" noChangeArrowheads="1"/>
          </p:cNvPicPr>
          <p:nvPr/>
        </p:nvPicPr>
        <p:blipFill>
          <a:blip r:embed="rId2"/>
          <a:srcRect/>
          <a:stretch>
            <a:fillRect/>
          </a:stretch>
        </p:blipFill>
        <p:spPr bwMode="auto">
          <a:xfrm>
            <a:off x="1371600" y="3276600"/>
            <a:ext cx="6656832"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3785652"/>
          </a:xfrm>
          <a:prstGeom prst="rect">
            <a:avLst/>
          </a:prstGeom>
          <a:noFill/>
        </p:spPr>
        <p:txBody>
          <a:bodyPr wrap="square" rtlCol="0">
            <a:spAutoFit/>
          </a:bodyPr>
          <a:lstStyle/>
          <a:p>
            <a:pPr algn="just">
              <a:lnSpc>
                <a:spcPct val="150000"/>
              </a:lnSpc>
              <a:buClr>
                <a:schemeClr val="accent6">
                  <a:lumMod val="50000"/>
                </a:schemeClr>
              </a:buClr>
              <a:buFont typeface="+mj-lt"/>
              <a:buAutoNum type="arabicPeriod"/>
              <a:tabLst>
                <a:tab pos="465138" algn="l"/>
              </a:tabLst>
            </a:pPr>
            <a:r>
              <a:rPr lang="en-US" sz="2000" b="1" dirty="0" smtClean="0"/>
              <a:t>  	Shunt Generators </a:t>
            </a:r>
            <a:r>
              <a:rPr lang="en-US" sz="2000" dirty="0" smtClean="0"/>
              <a:t>with field regulators are used for ordinary 	lighting and power supply purposes.	</a:t>
            </a:r>
          </a:p>
          <a:p>
            <a:pPr algn="just">
              <a:lnSpc>
                <a:spcPct val="150000"/>
              </a:lnSpc>
              <a:buClr>
                <a:schemeClr val="accent6">
                  <a:lumMod val="50000"/>
                </a:schemeClr>
              </a:buClr>
              <a:buFont typeface="+mj-lt"/>
              <a:buAutoNum type="arabicPeriod"/>
              <a:tabLst>
                <a:tab pos="465138" algn="l"/>
              </a:tabLst>
            </a:pPr>
            <a:r>
              <a:rPr lang="en-US" sz="2000" b="1" dirty="0" smtClean="0"/>
              <a:t> 	Series </a:t>
            </a:r>
            <a:r>
              <a:rPr lang="en-US" sz="2000" b="1" dirty="0"/>
              <a:t>G</a:t>
            </a:r>
            <a:r>
              <a:rPr lang="en-US" sz="2000" b="1" dirty="0" smtClean="0"/>
              <a:t>enerators</a:t>
            </a:r>
            <a:r>
              <a:rPr lang="en-US" sz="2000" dirty="0" smtClean="0"/>
              <a:t> are not used for power supply because of their 	rising characteristics.</a:t>
            </a:r>
          </a:p>
          <a:p>
            <a:pPr algn="just">
              <a:lnSpc>
                <a:spcPct val="150000"/>
              </a:lnSpc>
              <a:buClr>
                <a:schemeClr val="accent6">
                  <a:lumMod val="50000"/>
                </a:schemeClr>
              </a:buClr>
              <a:buFont typeface="+mj-lt"/>
              <a:buAutoNum type="arabicPeriod"/>
              <a:tabLst>
                <a:tab pos="465138" algn="l"/>
              </a:tabLst>
            </a:pPr>
            <a:r>
              <a:rPr lang="en-US" sz="2000" b="1" dirty="0" smtClean="0"/>
              <a:t> 	Compound </a:t>
            </a:r>
            <a:r>
              <a:rPr lang="en-US" sz="2000" b="1" dirty="0"/>
              <a:t>G</a:t>
            </a:r>
            <a:r>
              <a:rPr lang="en-US" sz="2000" b="1" dirty="0" smtClean="0"/>
              <a:t>enerators </a:t>
            </a:r>
            <a:r>
              <a:rPr lang="en-US" sz="2000" dirty="0" smtClean="0"/>
              <a:t>The cumulatively-compound generator is 	the most widely used d.c. generator because its external 	characteristic can be adjusted for compensating the voltage drop 	in the line resistance.</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Uses of D.C. Generators</a:t>
            </a:r>
            <a:endParaRPr lang="en-US" sz="2800" b="1" dirty="0">
              <a:solidFill>
                <a:schemeClr val="bg1"/>
              </a:solidFill>
              <a:latin typeface="Arial" pitchFamily="34" charset="0"/>
              <a:cs typeface="Arial" pitchFamily="34" charset="0"/>
            </a:endParaRPr>
          </a:p>
        </p:txBody>
      </p:sp>
      <p:pic>
        <p:nvPicPr>
          <p:cNvPr id="13314" name="Picture 2"/>
          <p:cNvPicPr>
            <a:picLocks noChangeAspect="1" noChangeArrowheads="1"/>
          </p:cNvPicPr>
          <p:nvPr/>
        </p:nvPicPr>
        <p:blipFill>
          <a:blip r:embed="rId2"/>
          <a:srcRect/>
          <a:stretch>
            <a:fillRect/>
          </a:stretch>
        </p:blipFill>
        <p:spPr bwMode="auto">
          <a:xfrm>
            <a:off x="3810000" y="4114800"/>
            <a:ext cx="4267200" cy="2555554"/>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3898146</TotalTime>
  <Words>854</Words>
  <Application>Microsoft Office PowerPoint</Application>
  <PresentationFormat>On-screen Show (4:3)</PresentationFormat>
  <Paragraphs>103</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IIT</cp:lastModifiedBy>
  <cp:revision>335</cp:revision>
  <dcterms:created xsi:type="dcterms:W3CDTF">2015-05-26T08:58:57Z</dcterms:created>
  <dcterms:modified xsi:type="dcterms:W3CDTF">2023-02-16T18:43:40Z</dcterms:modified>
</cp:coreProperties>
</file>