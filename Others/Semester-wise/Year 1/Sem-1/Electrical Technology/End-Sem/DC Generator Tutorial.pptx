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3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3-02-11T08:31:02.361"/>
    </inkml:context>
    <inkml:brush xml:id="br0">
      <inkml:brushProperty name="width" value="0.05292" units="cm"/>
      <inkml:brushProperty name="height" value="0.05292" units="cm"/>
      <inkml:brushProperty name="color" value="#FF0000"/>
    </inkml:brush>
  </inkml:definitions>
  <inkml:trace contextRef="#ctx0" brushRef="#br0">14140 7435 236 0,'-8'-6'256'0,"1"-1"13"15,-3-2-78-15,6-1-67 0,-2-4-37 16,4 2-19-16,2-2-9 0,2-1-5 0,1 0-6 16,3-2-6-16,2 3-6 0,2-3-6 15,1 2-5-15,4 2-7 0,2-1-5 16,6 0-5-16,2 1-4 0,2 3-1 0,3-1-3 15,2-2-2-15,1 2 1 0,3 1-2 16,-1 1 3-16,1 0 0 0,2 0 2 0,-3 3 2 16,0-2-2-16,-2 3 0 0,-3 0-2 15,-3 2 2-15,-3 2-2 0,-4 1-3 16,-4 1 2-16,0 5 1 0,-4-2 0 0,-5 7 0 16,-2 1 0-16,-4 1 7 0,-2 2 5 15,-4 2 4-15,-2-1 8 0,-5-1 5 0,-4 3 4 16,0-6 3-16,-4 4 0 0,-2-6-1 15,-3 0 1-15,4-2 0 0,0-4-1 16,-1-2 3-16,6-4 0 0,-4-2 2 0,8-4-6 16,0-2 1-16,4 0-9 0,3-7-6 15,5 0-6-15,5-2-6 0,6-3-2 0,5-2-4 16,2 2 0-16,5-2-4 0,1 2 0 16,6 1 1-16,3 1 1 0,0 3 0 15,2 1-3-15,4 4 1 0,-1 3-1 0,0 3-1 16,1 5-1-16,0 4 2 0,-3 4 2 15,2 3 0-15,-4 5 1 0,-1 2 1 0,-6 0-3 16,1 4-2-16,-6-1 1 0,-8 2 3 16,-3-4-1-16,-3 2 1 0,-6-1 1 0,-6-1 4 15,-2-2 1-15,-9 2 1 0,2-3 0 16,-9 1 4-16,-3-6-1 0,4-2 3 16,-5 0 1-16,3-3 0 0,2-2 3 0,0-3-3 15,3-2 1-15,6-2-1 0,0-4 0 16,6-2-2-16,6-3-4 0,3-4-1 0,7-1-2 15,3-2-3-15,5 0-4 0,4-1-3 16,7 2 4-16,2 3 0 0,3-2-5 0,6 4 1 16,-5 1 3-16,1 4 0 0,-1 0 0 15,-1 0-1-15,-6 6 0 0,2-2 2 16,-3 4-1-16,-4-1 1 0,-2 2 1 0,0 2 0 16,-2-2 0-16,-3 1 0 0,-4-1 1 15,-2 0-1-15,-1 0 0 0,0 0 0 16,-2 0 4-16,-1-1-3 0,-2-1 1 0,2 1 0 15,-3 1-2-15,-1-2-10 0,0 2-20 16,-2 0-20-16,-2 2-26 0,-1 2-32 0,1 2-49 16,0-1-135-16,-2 4-55 0,0-3-19 15,-2 3 2-15,-1 1 23 0</inkml:trace>
  <inkml:trace contextRef="#ctx0" brushRef="#br0" timeOffset="673.15">14105 7710 239 0,'0'-3'281'15,"0"-1"20"-15,0 0-61 0,0 1-84 16,0 3-50-16,0 0-30 0,0 0-13 0,0 3-7 16,-3 1 0-16,-1 4 5 0,-1 1 4 15,2 4 3-15,-4 1-5 0,-1 3 0 16,5 2 3-16,-4 4 1 0,2-1 3 0,-1 3 2 16,3-2 4-16,-3 3 0 0,2 0-5 15,1-4-4-15,0 3 3 0,1-2-2 16,-1 1 2-16,0-3-6 0,-1 0-1 0,1-3-6 15,-2-2-8-15,3-2-8 0,0-1-6 16,-1-2-7-16,2 1-4 0,-1-4-5 0,0 1-1 16,1-4-3-16,-1 3-1 0,1-3-2 15,1 0-10-15,0-2-18 0,0 0-30 0,0-1-36 16,0-1-46-16,1-1-47 0,2-3-42 16,4-1-45-16,3-7-120 0,0-3-41 0,1-5-2 15,-1-1 25-15,4 2 40 0</inkml:trace>
  <inkml:trace contextRef="#ctx0" brushRef="#br0" timeOffset="1141.8662">14226 7902 159 0,'7'-11'283'0,"-1"-1"21"0,-1 3-7 16,-1-1-101-16,0 0-55 0,-1 1-30 16,0 1-20-16,0-1-10 0,2 1-12 0,3-1-10 15,-2 3-9-15,0-2-13 0,4 3-9 16,0-2-6-16,2 0-9 0,0 1-6 0,0 2-3 15,-1 1-3-15,1-2-1 16,-1 4-1-16,-2 1 1 0,-2 1 1 0,1 4-1 16,-3 2 0-16,-2 0 0 0,0 1-1 0,-3 2 1 15,-1 0 1-15,-2 3-1 16,-2-1 0-16,-2-1 4 0,3 3 0 0,-6-2-1 0,4 2-2 16,-4-2 1-16,1 2 0 0,-1-3-1 15,3 1 2-15,-2 0-2 0,0-2 0 16,4 0 0-16,1-2 0 0,-2-1-1 0,4-1-2 15,0-1-1-15,2 3 0 0,0-4 0 16,2 1 1-16,2-2-3 0,3 1 3 0,-1-1 2 16,5-3-2-16,-1 2 2 0,1-2-2 15,3 0 1-15,-3 0-1 0,3 0 2 0,-3 3 0 16,2-1-1-16,-2 0 1 0,-3-1 1 16,2 3 2-16,-3 0-3 15,0 0-4-15,-3 2 3 0,0 2 0 0,-4-1 0 0,0 2-1 16,-4 4 2-16,0-3 5 0,-3 2-1 15,-5 3 0-15,1-2 2 0,-5-1-4 0,2 1-2 16,-2-1-5-16,2 1-9 16,-2-3-10-16,2-1-14 0,0-1-17 0,-1-2-19 15,5-2-29-15,1-8-122 0,4-4-67 0,2-2-30 16,3-2-6-16,3-1 12 0</inkml:trace>
  <inkml:trace contextRef="#ctx0" brushRef="#br0" timeOffset="1454.2488">14778 7824 144 0,'0'-6'293'15,"0"0"18"-15,0 2 12 0,-5 3-119 0,-1 2-77 16,-1 3-41-16,-3 2-20 0,-2 4-10 16,2 1-9-16,0 3-8 0,-1 1-9 0,1 2-3 15,4 3-6-15,2-1-8 0,4 2-2 16,4 2 0-16,2-2-1 0,5 0-3 15,2-3 0-15,3 0 3 0,0 0-5 0,3-4 2 16,0-4-4-16,-3-1 3 0,-1-8 4 16,-2-1 8-16,1-3 3 0,-5-6 7 0,3-3 1 15,-3-4 3-15,-1-1-5 16,-5-4-7-16,1-3-2 0,-3 2-6 0,-1-2-4 0,-1 2-4 16,-3 0-4-16,1 4-10 0,0 3-13 15,-4 2-17-15,2 3-23 0,-4 4-28 16,4 1-33-16,-1 2-114 0,0 3-73 15,6 0-26-15,0 0-3 0,0 0 19 0</inkml:trace>
  <inkml:trace contextRef="#ctx0" brushRef="#br0" timeOffset="1651.761">15164 7983 36 0,'5'3'297'0,"3"-6"32"16,-3 1 22-16,-1-2-55 0,0-1-107 15,1 1-62-15,-1-4-43 0,0 5-27 0,3-4-23 16,0 2-14-16,-2 3-9 0,2-1-11 16,-3-2-21-16,2 3-30 0,4 1-35 15,-4-3-73-15,2 4-101 0,2-7-53 16,-6 1-13-16,3 2 11 0,-1 4 25 16</inkml:trace>
  <inkml:trace contextRef="#ctx0" brushRef="#br0" timeOffset="2123.888">15429 7849 97 0,'5'-6'277'0,"0"-1"18"0,1 2 8 0,-1-2-97 15,1-1-69-15,-1 0-35 0,1 3-25 0,-2-1-15 16,4-1-13-16,-3 2-5 0,2 1-10 16,-1-2-12-16,1 4-6 0,1-2-6 0,-1 1-2 15,3 2-7-15,0 1-1 0,-1 0-1 16,0 1-2-16,3 1 3 0,-2-1 0 0,2 5 1 15,-3 1 1-15,2-1-1 0,-5 1-1 16,2 4 0-16,-3-2-1 0,-2 0-4 16,-3 3 5-16,0 2-1 0,0 1 1 0,-3-2-2 15,0 0 2-15,-3 2 2 0,-1 2-3 16,-1 0 2-16,1-3-1 0,-1 1 0 0,-2-1-7 16,7 2-2-16,-5-2 0 0,3 1-5 15,1-3-4-15,4-2 2 0,0-2 4 16,3 2 1-16,2 0 1 0,0-6 3 0,0 0 1 15,3 3 2-15,0-5-3 0,-2 1 0 16,4-1 3-16,-4 0 2 0,4 0 2 16,-4 0 0-16,5 0 0 0,-4 2 2 0,2-1-2 15,0 0 1-15,-2 1 1 0,-1 0-1 16,-1 1-1-16,2 0 3 0,-2-1-2 0,-2 2 3 16,1-3-3-16,-3 1 6 0,1 3 1 15,-2-4 1-15,-2 2 4 0,-1-3 2 0,-2 5 6 16,0-3-5-16,-4 0 4 0,-2 1-4 15,-2 1-3-15,1 1-1 0,-4-2-9 16,0 2-10-16,-2-3-14 0,0 0-22 0,2-1-34 16,2-3-141-16,-2-3-68 0,7-1-33 15,-1-4-8-15,4 3 11 0</inkml:trace>
  <inkml:trace contextRef="#ctx0" brushRef="#br0" timeOffset="2474.783">16158 7841 216 0,'5'-11'349'0,"-4"-1"31"0,2 2 22 0,-1 5-141 16,0 0-82-16,-1 2-66 0,3 3-47 16,-1 0-32-16,2 6-18 0,0 0-10 0,0 5-4 15,3 4 2-15,0 0-1 0,3 2 3 16,-1 3-2-16,2 0 4 0,-1 3 1 0,1-4 3 15,2 3 7-15,-3-2 3 0,-2 1 3 16,4-4 14-16,-4-3 18 0,-2-2 18 16,0-1 33-16,-3-4 41 0,0 0 50 0,0-3 54 15,-1-4 51-15,0 0 55 0,0 0 45 16,1-4 0-16,0-6-29 0,4 0-47 16,0-5-62-16,3-3-77 0,1-7-74 0,1-1-55 15,4-5-53-15,-2-1-64 0,1-3-75 16,1 3-87-16,0 3-103 0,-2 2-113 0,0 3-100 15,-2 3-88-15,0 6-104 0,-4 5-10 16,1 2 52-16,-1 5 95 0,-9 3 108 16</inkml:trace>
  <inkml:trace contextRef="#ctx0" brushRef="#br0" timeOffset="2631.7051">16865 8015 237 0,'0'17'389'15,"0"0"38"-15,0-5 22 0,0-2-110 0,0 0-125 16,0-6-85-16,0 4-70 0,0-3-78 16,1-1-88-16,2 1-171 0,1-2-91 15,3-3-40-15,-1-2-11 0,6-2 25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F8A6C69-6CC2-4099-BB77-ECF93E5B93DD}"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1768805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8A6C69-6CC2-4099-BB77-ECF93E5B93DD}"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290926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F8A6C69-6CC2-4099-BB77-ECF93E5B93DD}"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1921529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71487" y="1825625"/>
            <a:ext cx="2900363"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3486150" y="1825625"/>
            <a:ext cx="2900363"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F8A6C69-6CC2-4099-BB77-ECF93E5B93DD}"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220696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F8A6C69-6CC2-4099-BB77-ECF93E5B93DD}" type="datetimeFigureOut">
              <a:rPr lang="en-IN" smtClean="0"/>
              <a:t>16-02-2023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3375089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F8A6C69-6CC2-4099-BB77-ECF93E5B93DD}" type="datetimeFigureOut">
              <a:rPr lang="en-IN" smtClean="0"/>
              <a:t>16-02-2023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1595210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8A6C69-6CC2-4099-BB77-ECF93E5B93DD}" type="datetimeFigureOut">
              <a:rPr lang="en-IN" smtClean="0"/>
              <a:t>16-02-2023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1874234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8A6C69-6CC2-4099-BB77-ECF93E5B93DD}"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231376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8A6C69-6CC2-4099-BB77-ECF93E5B93DD}" type="datetimeFigureOut">
              <a:rPr lang="en-IN" smtClean="0"/>
              <a:t>16-02-2023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1949894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8A6C69-6CC2-4099-BB77-ECF93E5B93DD}"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2330384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365125"/>
            <a:ext cx="1478756"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71488" y="365125"/>
            <a:ext cx="4321969"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8A6C69-6CC2-4099-BB77-ECF93E5B93DD}" type="datetimeFigureOut">
              <a:rPr lang="en-IN" smtClean="0"/>
              <a:t>16-02-2023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2A650-3C35-4866-B3A9-712796E7CB89}" type="slidenum">
              <a:rPr lang="en-IN" smtClean="0"/>
              <a:t>‹#›</a:t>
            </a:fld>
            <a:endParaRPr lang="en-IN"/>
          </a:p>
        </p:txBody>
      </p:sp>
    </p:spTree>
    <p:extLst>
      <p:ext uri="{BB962C8B-B14F-4D97-AF65-F5344CB8AC3E}">
        <p14:creationId xmlns:p14="http://schemas.microsoft.com/office/powerpoint/2010/main" val="601829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40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389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F8A6C69-6CC2-4099-BB77-ECF93E5B93DD}" type="datetimeFigureOut">
              <a:rPr lang="en-IN" smtClean="0"/>
              <a:t>16-02-2023</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C2A650-3C35-4866-B3A9-712796E7CB89}" type="slidenum">
              <a:rPr lang="en-IN" smtClean="0"/>
              <a:t>‹#›</a:t>
            </a:fld>
            <a:endParaRPr lang="en-IN"/>
          </a:p>
        </p:txBody>
      </p:sp>
    </p:spTree>
    <p:extLst>
      <p:ext uri="{BB962C8B-B14F-4D97-AF65-F5344CB8AC3E}">
        <p14:creationId xmlns:p14="http://schemas.microsoft.com/office/powerpoint/2010/main" val="1872513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image" Target="../media/image20.emf"/><Relationship Id="rId4" Type="http://schemas.openxmlformats.org/officeDocument/2006/relationships/customXml" Target="../ink/ink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Example-1</a:t>
            </a:r>
            <a:endParaRPr lang="en-US" sz="2800" b="1" dirty="0">
              <a:solidFill>
                <a:schemeClr val="bg1"/>
              </a:solidFill>
              <a:latin typeface="Arial" pitchFamily="34" charset="0"/>
              <a:cs typeface="Arial" pitchFamily="34" charset="0"/>
            </a:endParaRPr>
          </a:p>
        </p:txBody>
      </p:sp>
      <p:sp>
        <p:nvSpPr>
          <p:cNvPr id="7" name="Rectangle 6"/>
          <p:cNvSpPr/>
          <p:nvPr/>
        </p:nvSpPr>
        <p:spPr>
          <a:xfrm>
            <a:off x="342900" y="914400"/>
            <a:ext cx="8458200" cy="1200329"/>
          </a:xfrm>
          <a:prstGeom prst="rect">
            <a:avLst/>
          </a:prstGeom>
        </p:spPr>
        <p:txBody>
          <a:bodyPr wrap="square">
            <a:spAutoFit/>
          </a:bodyPr>
          <a:lstStyle/>
          <a:p>
            <a:pPr algn="just"/>
            <a:r>
              <a:rPr lang="en-IN" sz="2400" dirty="0"/>
              <a:t>A shunt generator delivers 450 A at 230 V and the resistance of the shunt </a:t>
            </a:r>
            <a:r>
              <a:rPr lang="en-IN" sz="2400" dirty="0" smtClean="0"/>
              <a:t>field and </a:t>
            </a:r>
            <a:r>
              <a:rPr lang="en-IN" sz="2400" dirty="0"/>
              <a:t>armature are 50 Ω and 0.03 Ω respectively. Calculate the generated </a:t>
            </a:r>
            <a:r>
              <a:rPr lang="en-IN" sz="2400" dirty="0" err="1"/>
              <a:t>e.m.f</a:t>
            </a:r>
            <a:r>
              <a:rPr lang="en-IN" sz="2400" dirty="0"/>
              <a:t>.</a:t>
            </a:r>
          </a:p>
        </p:txBody>
      </p:sp>
      <p:pic>
        <p:nvPicPr>
          <p:cNvPr id="8" name="Picture 7"/>
          <p:cNvPicPr>
            <a:picLocks noChangeAspect="1"/>
          </p:cNvPicPr>
          <p:nvPr/>
        </p:nvPicPr>
        <p:blipFill>
          <a:blip r:embed="rId2"/>
          <a:stretch>
            <a:fillRect/>
          </a:stretch>
        </p:blipFill>
        <p:spPr>
          <a:xfrm>
            <a:off x="5715000" y="2114729"/>
            <a:ext cx="3230884" cy="2000071"/>
          </a:xfrm>
          <a:prstGeom prst="rect">
            <a:avLst/>
          </a:prstGeom>
        </p:spPr>
      </p:pic>
      <p:sp>
        <p:nvSpPr>
          <p:cNvPr id="10" name="Rectangle 9"/>
          <p:cNvSpPr/>
          <p:nvPr/>
        </p:nvSpPr>
        <p:spPr>
          <a:xfrm>
            <a:off x="342900" y="2152829"/>
            <a:ext cx="7277100" cy="3785652"/>
          </a:xfrm>
          <a:prstGeom prst="rect">
            <a:avLst/>
          </a:prstGeom>
        </p:spPr>
        <p:txBody>
          <a:bodyPr wrap="square">
            <a:spAutoFit/>
          </a:bodyPr>
          <a:lstStyle/>
          <a:p>
            <a:r>
              <a:rPr lang="en-IN" sz="2400" b="1" dirty="0" smtClean="0"/>
              <a:t>Solution:</a:t>
            </a:r>
          </a:p>
          <a:p>
            <a:r>
              <a:rPr lang="en-IN" sz="2400" dirty="0" smtClean="0"/>
              <a:t>Current </a:t>
            </a:r>
            <a:r>
              <a:rPr lang="en-IN" sz="2400" dirty="0"/>
              <a:t>through shunt field winding is</a:t>
            </a:r>
          </a:p>
          <a:p>
            <a:r>
              <a:rPr lang="en-IN" sz="2400" dirty="0" err="1"/>
              <a:t>Ish</a:t>
            </a:r>
            <a:r>
              <a:rPr lang="en-IN" sz="2400" dirty="0"/>
              <a:t> = 230/50 = 4.6 A</a:t>
            </a:r>
          </a:p>
          <a:p>
            <a:r>
              <a:rPr lang="en-IN" sz="2400" dirty="0"/>
              <a:t>Load current I = 450 A</a:t>
            </a:r>
          </a:p>
          <a:p>
            <a:r>
              <a:rPr lang="en-IN" sz="2400" dirty="0"/>
              <a:t>∴ Armature current </a:t>
            </a:r>
            <a:r>
              <a:rPr lang="en-IN" sz="2400" dirty="0" err="1"/>
              <a:t>Ia</a:t>
            </a:r>
            <a:r>
              <a:rPr lang="en-IN" sz="2400" dirty="0"/>
              <a:t>= I + </a:t>
            </a:r>
            <a:r>
              <a:rPr lang="en-IN" sz="2400" dirty="0" err="1"/>
              <a:t>Ish</a:t>
            </a:r>
            <a:endParaRPr lang="en-IN" sz="2400" dirty="0"/>
          </a:p>
          <a:p>
            <a:r>
              <a:rPr lang="en-IN" sz="2400" dirty="0"/>
              <a:t>= 450 + 4.6 = 454.6 A</a:t>
            </a:r>
          </a:p>
          <a:p>
            <a:endParaRPr lang="en-IN" sz="2400" dirty="0"/>
          </a:p>
          <a:p>
            <a:r>
              <a:rPr lang="en-IN" sz="2400" dirty="0"/>
              <a:t>Now </a:t>
            </a:r>
            <a:r>
              <a:rPr lang="en-IN" sz="2400" i="1" dirty="0" err="1"/>
              <a:t>Eg</a:t>
            </a:r>
            <a:r>
              <a:rPr lang="en-IN" sz="2400" i="1" dirty="0"/>
              <a:t> </a:t>
            </a:r>
            <a:r>
              <a:rPr lang="en-IN" sz="2400" dirty="0"/>
              <a:t>= terminal voltage + armature </a:t>
            </a:r>
            <a:r>
              <a:rPr lang="en-IN" sz="2400" dirty="0" smtClean="0"/>
              <a:t>drop = </a:t>
            </a:r>
            <a:r>
              <a:rPr lang="en-IN" sz="2400" i="1" dirty="0"/>
              <a:t>V </a:t>
            </a:r>
            <a:r>
              <a:rPr lang="en-IN" sz="2400" dirty="0"/>
              <a:t>+ </a:t>
            </a:r>
            <a:r>
              <a:rPr lang="en-IN" sz="2400" i="1" dirty="0" err="1"/>
              <a:t>IaRa</a:t>
            </a:r>
            <a:endParaRPr lang="en-IN" sz="2400" i="1" dirty="0"/>
          </a:p>
          <a:p>
            <a:r>
              <a:rPr lang="en-IN" sz="2400" dirty="0"/>
              <a:t>∴ </a:t>
            </a:r>
            <a:r>
              <a:rPr lang="en-IN" sz="2400" dirty="0" err="1"/>
              <a:t>e.m.f</a:t>
            </a:r>
            <a:r>
              <a:rPr lang="en-IN" sz="2400" dirty="0"/>
              <a:t>. generated in the armature</a:t>
            </a:r>
          </a:p>
          <a:p>
            <a:r>
              <a:rPr lang="nn-NO" sz="2400" i="1" dirty="0" smtClean="0"/>
              <a:t>		Eg </a:t>
            </a:r>
            <a:r>
              <a:rPr lang="nn-NO" sz="2400" dirty="0"/>
              <a:t>= 230 + 13.6 = </a:t>
            </a:r>
            <a:r>
              <a:rPr lang="nn-NO" sz="2400" b="1" dirty="0"/>
              <a:t>243.6 V</a:t>
            </a:r>
            <a:endParaRPr lang="en-IN" sz="2400" dirty="0"/>
          </a:p>
        </p:txBody>
      </p:sp>
    </p:spTree>
    <p:extLst>
      <p:ext uri="{BB962C8B-B14F-4D97-AF65-F5344CB8AC3E}">
        <p14:creationId xmlns:p14="http://schemas.microsoft.com/office/powerpoint/2010/main" val="81695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- 2</a:t>
            </a:r>
          </a:p>
        </p:txBody>
      </p:sp>
      <p:sp>
        <p:nvSpPr>
          <p:cNvPr id="2" name="TextBox 1"/>
          <p:cNvSpPr txBox="1"/>
          <p:nvPr/>
        </p:nvSpPr>
        <p:spPr>
          <a:xfrm>
            <a:off x="457200" y="685800"/>
            <a:ext cx="8229600" cy="2669962"/>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long-shunt compound generator delivers a load current of 50 A at 500 V and has armature, series field and shunt field resistances of 0.05 Ω, 0.03 Ω and 250 Ω respectively. Calculate the generated voltage and the armature current. Allow 1 V per brush for contact drop.</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stretch>
            <a:fillRect/>
          </a:stretch>
        </p:blipFill>
        <p:spPr>
          <a:xfrm>
            <a:off x="5300662" y="3652837"/>
            <a:ext cx="3695097" cy="2247759"/>
          </a:xfrm>
          <a:prstGeom prst="rect">
            <a:avLst/>
          </a:prstGeom>
        </p:spPr>
      </p:pic>
      <p:pic>
        <p:nvPicPr>
          <p:cNvPr id="4" name="Picture 3"/>
          <p:cNvPicPr>
            <a:picLocks noChangeAspect="1"/>
          </p:cNvPicPr>
          <p:nvPr/>
        </p:nvPicPr>
        <p:blipFill rotWithShape="1">
          <a:blip r:embed="rId3"/>
          <a:srcRect b="85894"/>
          <a:stretch/>
        </p:blipFill>
        <p:spPr>
          <a:xfrm>
            <a:off x="457199" y="3355762"/>
            <a:ext cx="4300769" cy="358988"/>
          </a:xfrm>
          <a:prstGeom prst="rect">
            <a:avLst/>
          </a:prstGeom>
        </p:spPr>
      </p:pic>
      <p:pic>
        <p:nvPicPr>
          <p:cNvPr id="5" name="Picture 4"/>
          <p:cNvPicPr>
            <a:picLocks noChangeAspect="1"/>
          </p:cNvPicPr>
          <p:nvPr/>
        </p:nvPicPr>
        <p:blipFill rotWithShape="1">
          <a:blip r:embed="rId4"/>
          <a:srcRect b="51749"/>
          <a:stretch/>
        </p:blipFill>
        <p:spPr>
          <a:xfrm>
            <a:off x="457199" y="6038211"/>
            <a:ext cx="5382154" cy="319727"/>
          </a:xfrm>
          <a:prstGeom prst="rect">
            <a:avLst/>
          </a:prstGeom>
        </p:spPr>
      </p:pic>
      <p:pic>
        <p:nvPicPr>
          <p:cNvPr id="12" name="Picture 11"/>
          <p:cNvPicPr>
            <a:picLocks noChangeAspect="1"/>
          </p:cNvPicPr>
          <p:nvPr/>
        </p:nvPicPr>
        <p:blipFill rotWithShape="1">
          <a:blip r:embed="rId3"/>
          <a:srcRect t="13545" b="62874"/>
          <a:stretch/>
        </p:blipFill>
        <p:spPr>
          <a:xfrm>
            <a:off x="457199" y="3700463"/>
            <a:ext cx="4300769" cy="600076"/>
          </a:xfrm>
          <a:prstGeom prst="rect">
            <a:avLst/>
          </a:prstGeom>
        </p:spPr>
      </p:pic>
      <p:pic>
        <p:nvPicPr>
          <p:cNvPr id="14" name="Picture 13"/>
          <p:cNvPicPr>
            <a:picLocks noChangeAspect="1"/>
          </p:cNvPicPr>
          <p:nvPr/>
        </p:nvPicPr>
        <p:blipFill rotWithShape="1">
          <a:blip r:embed="rId3"/>
          <a:srcRect t="37687" b="37610"/>
          <a:stretch/>
        </p:blipFill>
        <p:spPr>
          <a:xfrm>
            <a:off x="457199" y="4314824"/>
            <a:ext cx="4300769" cy="628651"/>
          </a:xfrm>
          <a:prstGeom prst="rect">
            <a:avLst/>
          </a:prstGeom>
        </p:spPr>
      </p:pic>
      <p:pic>
        <p:nvPicPr>
          <p:cNvPr id="15" name="Picture 14"/>
          <p:cNvPicPr>
            <a:picLocks noChangeAspect="1"/>
          </p:cNvPicPr>
          <p:nvPr/>
        </p:nvPicPr>
        <p:blipFill rotWithShape="1">
          <a:blip r:embed="rId3"/>
          <a:srcRect t="62951" b="11784"/>
          <a:stretch/>
        </p:blipFill>
        <p:spPr>
          <a:xfrm>
            <a:off x="457199" y="4957763"/>
            <a:ext cx="4300769" cy="642938"/>
          </a:xfrm>
          <a:prstGeom prst="rect">
            <a:avLst/>
          </a:prstGeom>
        </p:spPr>
      </p:pic>
      <p:pic>
        <p:nvPicPr>
          <p:cNvPr id="16" name="Picture 15"/>
          <p:cNvPicPr>
            <a:picLocks noChangeAspect="1"/>
          </p:cNvPicPr>
          <p:nvPr/>
        </p:nvPicPr>
        <p:blipFill rotWithShape="1">
          <a:blip r:embed="rId3"/>
          <a:srcRect t="87654"/>
          <a:stretch/>
        </p:blipFill>
        <p:spPr>
          <a:xfrm>
            <a:off x="457199" y="5586412"/>
            <a:ext cx="4300769" cy="314183"/>
          </a:xfrm>
          <a:prstGeom prst="rect">
            <a:avLst/>
          </a:prstGeom>
        </p:spPr>
      </p:pic>
      <p:pic>
        <p:nvPicPr>
          <p:cNvPr id="17" name="Picture 16"/>
          <p:cNvPicPr>
            <a:picLocks noChangeAspect="1"/>
          </p:cNvPicPr>
          <p:nvPr/>
        </p:nvPicPr>
        <p:blipFill rotWithShape="1">
          <a:blip r:embed="rId4"/>
          <a:srcRect t="50408"/>
          <a:stretch/>
        </p:blipFill>
        <p:spPr>
          <a:xfrm>
            <a:off x="457199" y="6372225"/>
            <a:ext cx="5382154" cy="328613"/>
          </a:xfrm>
          <a:prstGeom prst="rect">
            <a:avLst/>
          </a:prstGeom>
        </p:spPr>
      </p:pic>
    </p:spTree>
    <p:extLst>
      <p:ext uri="{BB962C8B-B14F-4D97-AF65-F5344CB8AC3E}">
        <p14:creationId xmlns:p14="http://schemas.microsoft.com/office/powerpoint/2010/main" val="125073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- 3</a:t>
            </a:r>
          </a:p>
        </p:txBody>
      </p:sp>
      <p:sp>
        <p:nvSpPr>
          <p:cNvPr id="2" name="TextBox 1"/>
          <p:cNvSpPr txBox="1"/>
          <p:nvPr/>
        </p:nvSpPr>
        <p:spPr>
          <a:xfrm>
            <a:off x="457200" y="685800"/>
            <a:ext cx="8229600" cy="2162130"/>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short-shunt compound generator delivers a load current of 30 A at 220 V, and has armature, series-field and shunt-field resistances of</a:t>
            </a:r>
          </a:p>
          <a:p>
            <a:pPr algn="just">
              <a:lnSpc>
                <a:spcPct val="150000"/>
              </a:lnSpc>
              <a:spcBef>
                <a:spcPts val="300"/>
              </a:spcBef>
              <a:buClr>
                <a:schemeClr val="accent6">
                  <a:lumMod val="50000"/>
                </a:schemeClr>
              </a:buClr>
              <a:tabLst>
                <a:tab pos="465138" algn="l"/>
              </a:tabLst>
            </a:pPr>
            <a:r>
              <a:rPr lang="en-IN" sz="2200" b="1" dirty="0" smtClean="0"/>
              <a:t>0.05 Ω, 0.30 Ω and 200 Ω respectively. Calculate the induced </a:t>
            </a:r>
            <a:r>
              <a:rPr lang="en-IN" sz="2200" b="1" dirty="0" err="1" smtClean="0"/>
              <a:t>e.m.f</a:t>
            </a:r>
            <a:r>
              <a:rPr lang="en-IN" sz="2200" b="1" dirty="0" smtClean="0"/>
              <a:t>. and the armature current. Allow 1.0 V per brush for contact drop.</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5591174" y="3124199"/>
            <a:ext cx="3365790" cy="3219451"/>
          </a:xfrm>
          <a:prstGeom prst="rect">
            <a:avLst/>
          </a:prstGeom>
        </p:spPr>
      </p:pic>
      <p:pic>
        <p:nvPicPr>
          <p:cNvPr id="7" name="Picture 6"/>
          <p:cNvPicPr>
            <a:picLocks noChangeAspect="1"/>
          </p:cNvPicPr>
          <p:nvPr/>
        </p:nvPicPr>
        <p:blipFill rotWithShape="1">
          <a:blip r:embed="rId3"/>
          <a:srcRect b="89014"/>
          <a:stretch/>
        </p:blipFill>
        <p:spPr>
          <a:xfrm>
            <a:off x="457200" y="3343557"/>
            <a:ext cx="5073332" cy="299756"/>
          </a:xfrm>
          <a:prstGeom prst="rect">
            <a:avLst/>
          </a:prstGeom>
        </p:spPr>
      </p:pic>
      <p:pic>
        <p:nvPicPr>
          <p:cNvPr id="12" name="Picture 11"/>
          <p:cNvPicPr>
            <a:picLocks noChangeAspect="1"/>
          </p:cNvPicPr>
          <p:nvPr/>
        </p:nvPicPr>
        <p:blipFill rotWithShape="1">
          <a:blip r:embed="rId3"/>
          <a:srcRect t="13080" b="76448"/>
          <a:stretch/>
        </p:blipFill>
        <p:spPr>
          <a:xfrm>
            <a:off x="457200" y="3700463"/>
            <a:ext cx="5073332" cy="285750"/>
          </a:xfrm>
          <a:prstGeom prst="rect">
            <a:avLst/>
          </a:prstGeom>
        </p:spPr>
      </p:pic>
      <p:pic>
        <p:nvPicPr>
          <p:cNvPr id="14" name="Picture 13"/>
          <p:cNvPicPr>
            <a:picLocks noChangeAspect="1"/>
          </p:cNvPicPr>
          <p:nvPr/>
        </p:nvPicPr>
        <p:blipFill rotWithShape="1">
          <a:blip r:embed="rId3"/>
          <a:srcRect t="26694" b="61786"/>
          <a:stretch/>
        </p:blipFill>
        <p:spPr>
          <a:xfrm>
            <a:off x="457200" y="4071938"/>
            <a:ext cx="5073332" cy="314326"/>
          </a:xfrm>
          <a:prstGeom prst="rect">
            <a:avLst/>
          </a:prstGeom>
        </p:spPr>
      </p:pic>
      <p:pic>
        <p:nvPicPr>
          <p:cNvPr id="15" name="Picture 14"/>
          <p:cNvPicPr>
            <a:picLocks noChangeAspect="1"/>
          </p:cNvPicPr>
          <p:nvPr/>
        </p:nvPicPr>
        <p:blipFill rotWithShape="1">
          <a:blip r:embed="rId3"/>
          <a:srcRect t="37690" b="50267"/>
          <a:stretch/>
        </p:blipFill>
        <p:spPr>
          <a:xfrm>
            <a:off x="457200" y="4371975"/>
            <a:ext cx="5073332" cy="328613"/>
          </a:xfrm>
          <a:prstGeom prst="rect">
            <a:avLst/>
          </a:prstGeom>
        </p:spPr>
      </p:pic>
      <p:pic>
        <p:nvPicPr>
          <p:cNvPr id="16" name="Picture 15"/>
          <p:cNvPicPr>
            <a:picLocks noChangeAspect="1"/>
          </p:cNvPicPr>
          <p:nvPr/>
        </p:nvPicPr>
        <p:blipFill rotWithShape="1">
          <a:blip r:embed="rId3"/>
          <a:srcRect t="50257" b="38223"/>
          <a:stretch/>
        </p:blipFill>
        <p:spPr>
          <a:xfrm>
            <a:off x="457200" y="4714875"/>
            <a:ext cx="5073332" cy="314325"/>
          </a:xfrm>
          <a:prstGeom prst="rect">
            <a:avLst/>
          </a:prstGeom>
        </p:spPr>
      </p:pic>
      <p:pic>
        <p:nvPicPr>
          <p:cNvPr id="17" name="Picture 16"/>
          <p:cNvPicPr>
            <a:picLocks noChangeAspect="1"/>
          </p:cNvPicPr>
          <p:nvPr/>
        </p:nvPicPr>
        <p:blipFill rotWithShape="1">
          <a:blip r:embed="rId3"/>
          <a:srcRect t="63870" b="26181"/>
          <a:stretch/>
        </p:blipFill>
        <p:spPr>
          <a:xfrm>
            <a:off x="457200" y="5086350"/>
            <a:ext cx="5073332" cy="271464"/>
          </a:xfrm>
          <a:prstGeom prst="rect">
            <a:avLst/>
          </a:prstGeom>
        </p:spPr>
      </p:pic>
      <p:pic>
        <p:nvPicPr>
          <p:cNvPr id="18" name="Picture 17"/>
          <p:cNvPicPr>
            <a:picLocks noChangeAspect="1"/>
          </p:cNvPicPr>
          <p:nvPr/>
        </p:nvPicPr>
        <p:blipFill rotWithShape="1">
          <a:blip r:embed="rId3"/>
          <a:srcRect t="74343" b="12043"/>
          <a:stretch/>
        </p:blipFill>
        <p:spPr>
          <a:xfrm>
            <a:off x="457200" y="5372100"/>
            <a:ext cx="5073332" cy="371476"/>
          </a:xfrm>
          <a:prstGeom prst="rect">
            <a:avLst/>
          </a:prstGeom>
        </p:spPr>
      </p:pic>
      <p:pic>
        <p:nvPicPr>
          <p:cNvPr id="19" name="Picture 18"/>
          <p:cNvPicPr>
            <a:picLocks noChangeAspect="1"/>
          </p:cNvPicPr>
          <p:nvPr/>
        </p:nvPicPr>
        <p:blipFill rotWithShape="1">
          <a:blip r:embed="rId3"/>
          <a:srcRect t="87433"/>
          <a:stretch/>
        </p:blipFill>
        <p:spPr>
          <a:xfrm>
            <a:off x="457200" y="5729287"/>
            <a:ext cx="5073332" cy="342899"/>
          </a:xfrm>
          <a:prstGeom prst="rect">
            <a:avLst/>
          </a:prstGeom>
        </p:spPr>
      </p:pic>
    </p:spTree>
    <p:extLst>
      <p:ext uri="{BB962C8B-B14F-4D97-AF65-F5344CB8AC3E}">
        <p14:creationId xmlns:p14="http://schemas.microsoft.com/office/powerpoint/2010/main" val="9091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- 4</a:t>
            </a:r>
          </a:p>
        </p:txBody>
      </p:sp>
      <p:sp>
        <p:nvSpPr>
          <p:cNvPr id="2" name="TextBox 1"/>
          <p:cNvSpPr txBox="1"/>
          <p:nvPr/>
        </p:nvSpPr>
        <p:spPr>
          <a:xfrm>
            <a:off x="457200" y="685800"/>
            <a:ext cx="8229600" cy="2123658"/>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four-pole generator, having wave-wound armature winding has 51 slots, each slot containing 20 conductors. What will be the voltage generated in the machine when driven at 1500 rpm assuming the flux per pole to be 7.0 </a:t>
            </a:r>
            <a:r>
              <a:rPr lang="en-IN" sz="2200" b="1" dirty="0" err="1" smtClean="0"/>
              <a:t>mWb</a:t>
            </a:r>
            <a:r>
              <a:rPr lang="en-IN" sz="2200" b="1" dirty="0" smtClean="0"/>
              <a:t> ?</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rotWithShape="1">
          <a:blip r:embed="rId2"/>
          <a:srcRect b="66149"/>
          <a:stretch/>
        </p:blipFill>
        <p:spPr>
          <a:xfrm>
            <a:off x="457200" y="3224212"/>
            <a:ext cx="8201030" cy="519113"/>
          </a:xfrm>
          <a:prstGeom prst="rect">
            <a:avLst/>
          </a:prstGeom>
        </p:spPr>
      </p:pic>
      <p:pic>
        <p:nvPicPr>
          <p:cNvPr id="9" name="Picture 8"/>
          <p:cNvPicPr>
            <a:picLocks noChangeAspect="1"/>
          </p:cNvPicPr>
          <p:nvPr/>
        </p:nvPicPr>
        <p:blipFill rotWithShape="1">
          <a:blip r:embed="rId2"/>
          <a:srcRect t="35714" b="42858"/>
          <a:stretch/>
        </p:blipFill>
        <p:spPr>
          <a:xfrm>
            <a:off x="457200" y="3771900"/>
            <a:ext cx="8201030" cy="328613"/>
          </a:xfrm>
          <a:prstGeom prst="rect">
            <a:avLst/>
          </a:prstGeom>
        </p:spPr>
      </p:pic>
      <p:pic>
        <p:nvPicPr>
          <p:cNvPr id="12" name="Picture 11"/>
          <p:cNvPicPr>
            <a:picLocks noChangeAspect="1"/>
          </p:cNvPicPr>
          <p:nvPr/>
        </p:nvPicPr>
        <p:blipFill rotWithShape="1">
          <a:blip r:embed="rId2"/>
          <a:srcRect t="58074"/>
          <a:stretch/>
        </p:blipFill>
        <p:spPr>
          <a:xfrm>
            <a:off x="457200" y="4114800"/>
            <a:ext cx="8201030" cy="642938"/>
          </a:xfrm>
          <a:prstGeom prst="rect">
            <a:avLst/>
          </a:prstGeom>
        </p:spPr>
      </p:pic>
    </p:spTree>
    <p:extLst>
      <p:ext uri="{BB962C8B-B14F-4D97-AF65-F5344CB8AC3E}">
        <p14:creationId xmlns:p14="http://schemas.microsoft.com/office/powerpoint/2010/main" val="350389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- 4</a:t>
            </a:r>
          </a:p>
        </p:txBody>
      </p:sp>
      <p:sp>
        <p:nvSpPr>
          <p:cNvPr id="2" name="TextBox 1"/>
          <p:cNvSpPr txBox="1"/>
          <p:nvPr/>
        </p:nvSpPr>
        <p:spPr>
          <a:xfrm>
            <a:off x="457200" y="685800"/>
            <a:ext cx="8229600" cy="2631490"/>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An 8-pole </a:t>
            </a:r>
            <a:r>
              <a:rPr lang="en-IN" sz="2200" b="1" dirty="0" err="1" smtClean="0"/>
              <a:t>d.c.</a:t>
            </a:r>
            <a:r>
              <a:rPr lang="en-IN" sz="2200" b="1" dirty="0" smtClean="0"/>
              <a:t> shunt generator with 778 wave-connected armature conductors and running at 500 </a:t>
            </a:r>
            <a:r>
              <a:rPr lang="en-IN" sz="2200" b="1" dirty="0" err="1" smtClean="0"/>
              <a:t>r.p.m</a:t>
            </a:r>
            <a:r>
              <a:rPr lang="en-IN" sz="2200" b="1" dirty="0" smtClean="0"/>
              <a:t>. supplies a load of 12.5 Ω resistance at terminal voltage of 250 V. The armature resistance </a:t>
            </a:r>
            <a:r>
              <a:rPr lang="en-IN" sz="2200" b="1" smtClean="0"/>
              <a:t>is 0.24 Ω </a:t>
            </a:r>
            <a:r>
              <a:rPr lang="en-IN" sz="2200" b="1" dirty="0" smtClean="0"/>
              <a:t>and the field resistance is 250 Ω. Find the armature current, the induced </a:t>
            </a:r>
            <a:r>
              <a:rPr lang="en-IN" sz="2200" b="1" dirty="0" err="1" smtClean="0"/>
              <a:t>e.m.f</a:t>
            </a:r>
            <a:r>
              <a:rPr lang="en-IN" sz="2200" b="1" dirty="0" smtClean="0"/>
              <a:t>. and the flux per pole.</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5029200" y="3290886"/>
            <a:ext cx="3966369" cy="2714625"/>
          </a:xfrm>
          <a:prstGeom prst="rect">
            <a:avLst/>
          </a:prstGeom>
        </p:spPr>
      </p:pic>
      <p:pic>
        <p:nvPicPr>
          <p:cNvPr id="5" name="Picture 4"/>
          <p:cNvPicPr>
            <a:picLocks noChangeAspect="1"/>
          </p:cNvPicPr>
          <p:nvPr/>
        </p:nvPicPr>
        <p:blipFill rotWithShape="1">
          <a:blip r:embed="rId3"/>
          <a:srcRect b="89143"/>
          <a:stretch/>
        </p:blipFill>
        <p:spPr>
          <a:xfrm>
            <a:off x="180975" y="3714750"/>
            <a:ext cx="4739930" cy="271464"/>
          </a:xfrm>
          <a:prstGeom prst="rect">
            <a:avLst/>
          </a:prstGeom>
        </p:spPr>
      </p:pic>
      <p:pic>
        <p:nvPicPr>
          <p:cNvPr id="12" name="Picture 11"/>
          <p:cNvPicPr>
            <a:picLocks noChangeAspect="1"/>
          </p:cNvPicPr>
          <p:nvPr/>
        </p:nvPicPr>
        <p:blipFill rotWithShape="1">
          <a:blip r:embed="rId3"/>
          <a:srcRect t="12000" b="78286"/>
          <a:stretch/>
        </p:blipFill>
        <p:spPr>
          <a:xfrm>
            <a:off x="180975" y="4014788"/>
            <a:ext cx="4739930" cy="242887"/>
          </a:xfrm>
          <a:prstGeom prst="rect">
            <a:avLst/>
          </a:prstGeom>
        </p:spPr>
      </p:pic>
      <p:pic>
        <p:nvPicPr>
          <p:cNvPr id="14" name="Picture 13"/>
          <p:cNvPicPr>
            <a:picLocks noChangeAspect="1"/>
          </p:cNvPicPr>
          <p:nvPr/>
        </p:nvPicPr>
        <p:blipFill rotWithShape="1">
          <a:blip r:embed="rId3"/>
          <a:srcRect t="22286" b="66857"/>
          <a:stretch/>
        </p:blipFill>
        <p:spPr>
          <a:xfrm>
            <a:off x="180975" y="4271964"/>
            <a:ext cx="4739930" cy="271462"/>
          </a:xfrm>
          <a:prstGeom prst="rect">
            <a:avLst/>
          </a:prstGeom>
        </p:spPr>
      </p:pic>
      <p:pic>
        <p:nvPicPr>
          <p:cNvPr id="15" name="Picture 14"/>
          <p:cNvPicPr>
            <a:picLocks noChangeAspect="1"/>
          </p:cNvPicPr>
          <p:nvPr/>
        </p:nvPicPr>
        <p:blipFill rotWithShape="1">
          <a:blip r:embed="rId3"/>
          <a:srcRect t="33143" b="55429"/>
          <a:stretch/>
        </p:blipFill>
        <p:spPr>
          <a:xfrm>
            <a:off x="180975" y="4543426"/>
            <a:ext cx="4739930" cy="285750"/>
          </a:xfrm>
          <a:prstGeom prst="rect">
            <a:avLst/>
          </a:prstGeom>
        </p:spPr>
      </p:pic>
      <p:pic>
        <p:nvPicPr>
          <p:cNvPr id="16" name="Picture 15"/>
          <p:cNvPicPr>
            <a:picLocks noChangeAspect="1"/>
          </p:cNvPicPr>
          <p:nvPr/>
        </p:nvPicPr>
        <p:blipFill rotWithShape="1">
          <a:blip r:embed="rId3"/>
          <a:srcRect t="45143" b="34857"/>
          <a:stretch/>
        </p:blipFill>
        <p:spPr>
          <a:xfrm>
            <a:off x="180975" y="4843464"/>
            <a:ext cx="4739930" cy="500062"/>
          </a:xfrm>
          <a:prstGeom prst="rect">
            <a:avLst/>
          </a:prstGeom>
        </p:spPr>
      </p:pic>
      <p:pic>
        <p:nvPicPr>
          <p:cNvPr id="17" name="Picture 16"/>
          <p:cNvPicPr>
            <a:picLocks noChangeAspect="1"/>
          </p:cNvPicPr>
          <p:nvPr/>
        </p:nvPicPr>
        <p:blipFill rotWithShape="1">
          <a:blip r:embed="rId3"/>
          <a:srcRect t="65714"/>
          <a:stretch/>
        </p:blipFill>
        <p:spPr>
          <a:xfrm>
            <a:off x="180975" y="5357813"/>
            <a:ext cx="4739930" cy="857249"/>
          </a:xfrm>
          <a:prstGeom prst="rect">
            <a:avLst/>
          </a:prstGeom>
        </p:spPr>
      </p:pic>
    </p:spTree>
    <p:extLst>
      <p:ext uri="{BB962C8B-B14F-4D97-AF65-F5344CB8AC3E}">
        <p14:creationId xmlns:p14="http://schemas.microsoft.com/office/powerpoint/2010/main" val="416578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- 5</a:t>
            </a:r>
          </a:p>
        </p:txBody>
      </p:sp>
      <p:sp>
        <p:nvSpPr>
          <p:cNvPr id="2" name="TextBox 1"/>
          <p:cNvSpPr txBox="1"/>
          <p:nvPr/>
        </p:nvSpPr>
        <p:spPr>
          <a:xfrm>
            <a:off x="457200" y="685800"/>
            <a:ext cx="8229600" cy="4855175"/>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4-pole lap-connected armature of a </a:t>
            </a:r>
            <a:r>
              <a:rPr lang="en-IN" sz="2200" b="1" dirty="0" err="1" smtClean="0"/>
              <a:t>d.c.</a:t>
            </a:r>
            <a:r>
              <a:rPr lang="en-IN" sz="2200" b="1" dirty="0" smtClean="0"/>
              <a:t> shunt generator is required to supply the loads connected in parallel :</a:t>
            </a:r>
          </a:p>
          <a:p>
            <a:pPr algn="just">
              <a:lnSpc>
                <a:spcPct val="150000"/>
              </a:lnSpc>
              <a:spcBef>
                <a:spcPts val="300"/>
              </a:spcBef>
              <a:buClr>
                <a:schemeClr val="accent6">
                  <a:lumMod val="50000"/>
                </a:schemeClr>
              </a:buClr>
              <a:tabLst>
                <a:tab pos="465138" algn="l"/>
              </a:tabLst>
            </a:pPr>
            <a:r>
              <a:rPr lang="en-IN" sz="2200" b="1" dirty="0" smtClean="0"/>
              <a:t>(1) 5 kW Geyser at 250 V, and</a:t>
            </a:r>
          </a:p>
          <a:p>
            <a:pPr algn="just">
              <a:lnSpc>
                <a:spcPct val="150000"/>
              </a:lnSpc>
              <a:spcBef>
                <a:spcPts val="300"/>
              </a:spcBef>
              <a:buClr>
                <a:schemeClr val="accent6">
                  <a:lumMod val="50000"/>
                </a:schemeClr>
              </a:buClr>
              <a:tabLst>
                <a:tab pos="465138" algn="l"/>
              </a:tabLst>
            </a:pPr>
            <a:r>
              <a:rPr lang="en-IN" sz="2200" b="1" dirty="0" smtClean="0"/>
              <a:t>(2) 2.5 kW Lighting load also at 250 V.</a:t>
            </a:r>
          </a:p>
          <a:p>
            <a:pPr algn="just">
              <a:lnSpc>
                <a:spcPct val="150000"/>
              </a:lnSpc>
              <a:spcBef>
                <a:spcPts val="300"/>
              </a:spcBef>
              <a:buClr>
                <a:schemeClr val="accent6">
                  <a:lumMod val="50000"/>
                </a:schemeClr>
              </a:buClr>
              <a:tabLst>
                <a:tab pos="465138" algn="l"/>
              </a:tabLst>
            </a:pPr>
            <a:r>
              <a:rPr lang="en-IN" sz="2200" b="1" dirty="0" smtClean="0"/>
              <a:t>The Generator has an armature resistance of 0.2 ohm and a field resistance of 250 ohms. The armature has 120 conductors in the slots and runs at 1000 rpm. Allowing 1 V per brush for contact drops and neglecting friction, find (1) Flux per pole, (2) Armature-current per parallel path.</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rotWithShape="1">
          <a:blip r:embed="rId2"/>
          <a:srcRect b="67434"/>
          <a:stretch/>
        </p:blipFill>
        <p:spPr>
          <a:xfrm>
            <a:off x="457200" y="5540975"/>
            <a:ext cx="5608390" cy="331188"/>
          </a:xfrm>
          <a:prstGeom prst="rect">
            <a:avLst/>
          </a:prstGeom>
        </p:spPr>
      </p:pic>
      <p:pic>
        <p:nvPicPr>
          <p:cNvPr id="9" name="Picture 8"/>
          <p:cNvPicPr>
            <a:picLocks noChangeAspect="1"/>
          </p:cNvPicPr>
          <p:nvPr/>
        </p:nvPicPr>
        <p:blipFill rotWithShape="1">
          <a:blip r:embed="rId2"/>
          <a:srcRect t="33971" b="33717"/>
          <a:stretch/>
        </p:blipFill>
        <p:spPr>
          <a:xfrm>
            <a:off x="457200" y="5886450"/>
            <a:ext cx="5608390" cy="328614"/>
          </a:xfrm>
          <a:prstGeom prst="rect">
            <a:avLst/>
          </a:prstGeom>
        </p:spPr>
      </p:pic>
      <p:pic>
        <p:nvPicPr>
          <p:cNvPr id="12" name="Picture 11"/>
          <p:cNvPicPr>
            <a:picLocks noChangeAspect="1"/>
          </p:cNvPicPr>
          <p:nvPr/>
        </p:nvPicPr>
        <p:blipFill rotWithShape="1">
          <a:blip r:embed="rId2"/>
          <a:srcRect t="70497"/>
          <a:stretch/>
        </p:blipFill>
        <p:spPr>
          <a:xfrm>
            <a:off x="457200" y="6257925"/>
            <a:ext cx="5608390" cy="300038"/>
          </a:xfrm>
          <a:prstGeom prst="rect">
            <a:avLst/>
          </a:prstGeom>
        </p:spPr>
      </p:pic>
    </p:spTree>
    <p:extLst>
      <p:ext uri="{BB962C8B-B14F-4D97-AF65-F5344CB8AC3E}">
        <p14:creationId xmlns:p14="http://schemas.microsoft.com/office/powerpoint/2010/main" val="5183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- 5</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rotWithShape="1">
          <a:blip r:embed="rId2"/>
          <a:srcRect b="92468"/>
          <a:stretch/>
        </p:blipFill>
        <p:spPr>
          <a:xfrm>
            <a:off x="457200" y="1081416"/>
            <a:ext cx="8356643" cy="375910"/>
          </a:xfrm>
          <a:prstGeom prst="rect">
            <a:avLst/>
          </a:prstGeom>
        </p:spPr>
      </p:pic>
      <p:pic>
        <p:nvPicPr>
          <p:cNvPr id="9" name="Picture 8"/>
          <p:cNvPicPr>
            <a:picLocks noChangeAspect="1"/>
          </p:cNvPicPr>
          <p:nvPr/>
        </p:nvPicPr>
        <p:blipFill rotWithShape="1">
          <a:blip r:embed="rId2"/>
          <a:srcRect t="8677" b="84739"/>
          <a:stretch/>
        </p:blipFill>
        <p:spPr>
          <a:xfrm>
            <a:off x="457200" y="1514475"/>
            <a:ext cx="8356643" cy="328613"/>
          </a:xfrm>
          <a:prstGeom prst="rect">
            <a:avLst/>
          </a:prstGeom>
        </p:spPr>
      </p:pic>
      <p:pic>
        <p:nvPicPr>
          <p:cNvPr id="12" name="Picture 11"/>
          <p:cNvPicPr>
            <a:picLocks noChangeAspect="1"/>
          </p:cNvPicPr>
          <p:nvPr/>
        </p:nvPicPr>
        <p:blipFill rotWithShape="1">
          <a:blip r:embed="rId2"/>
          <a:srcRect t="16120" b="76723"/>
          <a:stretch/>
        </p:blipFill>
        <p:spPr>
          <a:xfrm>
            <a:off x="457200" y="1885950"/>
            <a:ext cx="8356643" cy="357188"/>
          </a:xfrm>
          <a:prstGeom prst="rect">
            <a:avLst/>
          </a:prstGeom>
        </p:spPr>
      </p:pic>
      <p:pic>
        <p:nvPicPr>
          <p:cNvPr id="14" name="Picture 13"/>
          <p:cNvPicPr>
            <a:picLocks noChangeAspect="1"/>
          </p:cNvPicPr>
          <p:nvPr/>
        </p:nvPicPr>
        <p:blipFill rotWithShape="1">
          <a:blip r:embed="rId2"/>
          <a:srcRect t="23850" b="69566"/>
          <a:stretch/>
        </p:blipFill>
        <p:spPr>
          <a:xfrm>
            <a:off x="457200" y="2271714"/>
            <a:ext cx="8356643" cy="328612"/>
          </a:xfrm>
          <a:prstGeom prst="rect">
            <a:avLst/>
          </a:prstGeom>
        </p:spPr>
      </p:pic>
      <p:pic>
        <p:nvPicPr>
          <p:cNvPr id="15" name="Picture 14"/>
          <p:cNvPicPr>
            <a:picLocks noChangeAspect="1"/>
          </p:cNvPicPr>
          <p:nvPr/>
        </p:nvPicPr>
        <p:blipFill rotWithShape="1">
          <a:blip r:embed="rId2"/>
          <a:srcRect t="30148" b="60977"/>
          <a:stretch/>
        </p:blipFill>
        <p:spPr>
          <a:xfrm>
            <a:off x="457200" y="2586038"/>
            <a:ext cx="8356643" cy="442912"/>
          </a:xfrm>
          <a:prstGeom prst="rect">
            <a:avLst/>
          </a:prstGeom>
        </p:spPr>
      </p:pic>
      <p:pic>
        <p:nvPicPr>
          <p:cNvPr id="16" name="Picture 15"/>
          <p:cNvPicPr>
            <a:picLocks noChangeAspect="1"/>
          </p:cNvPicPr>
          <p:nvPr/>
        </p:nvPicPr>
        <p:blipFill rotWithShape="1">
          <a:blip r:embed="rId2"/>
          <a:srcRect t="38450" b="46663"/>
          <a:stretch/>
        </p:blipFill>
        <p:spPr>
          <a:xfrm>
            <a:off x="457200" y="3000376"/>
            <a:ext cx="8356643" cy="742950"/>
          </a:xfrm>
          <a:prstGeom prst="rect">
            <a:avLst/>
          </a:prstGeom>
        </p:spPr>
      </p:pic>
      <p:pic>
        <p:nvPicPr>
          <p:cNvPr id="17" name="Picture 16"/>
          <p:cNvPicPr>
            <a:picLocks noChangeAspect="1"/>
          </p:cNvPicPr>
          <p:nvPr/>
        </p:nvPicPr>
        <p:blipFill rotWithShape="1">
          <a:blip r:embed="rId2"/>
          <a:srcRect t="53623" b="23475"/>
          <a:stretch/>
        </p:blipFill>
        <p:spPr>
          <a:xfrm>
            <a:off x="457200" y="3757614"/>
            <a:ext cx="8356643" cy="1143000"/>
          </a:xfrm>
          <a:prstGeom prst="rect">
            <a:avLst/>
          </a:prstGeom>
        </p:spPr>
      </p:pic>
      <p:pic>
        <p:nvPicPr>
          <p:cNvPr id="18" name="Picture 17"/>
          <p:cNvPicPr>
            <a:picLocks noChangeAspect="1"/>
          </p:cNvPicPr>
          <p:nvPr/>
        </p:nvPicPr>
        <p:blipFill rotWithShape="1">
          <a:blip r:embed="rId2"/>
          <a:srcRect t="83396" b="9161"/>
          <a:stretch/>
        </p:blipFill>
        <p:spPr>
          <a:xfrm>
            <a:off x="457200" y="5243513"/>
            <a:ext cx="8356643" cy="371475"/>
          </a:xfrm>
          <a:prstGeom prst="rect">
            <a:avLst/>
          </a:prstGeom>
        </p:spPr>
      </p:pic>
      <p:pic>
        <p:nvPicPr>
          <p:cNvPr id="19" name="Picture 18"/>
          <p:cNvPicPr>
            <a:picLocks noChangeAspect="1"/>
          </p:cNvPicPr>
          <p:nvPr/>
        </p:nvPicPr>
        <p:blipFill rotWithShape="1">
          <a:blip r:embed="rId2"/>
          <a:srcRect t="91984"/>
          <a:stretch/>
        </p:blipFill>
        <p:spPr>
          <a:xfrm>
            <a:off x="457200" y="5672138"/>
            <a:ext cx="8356643" cy="400050"/>
          </a:xfrm>
          <a:prstGeom prst="rect">
            <a:avLst/>
          </a:prstGeom>
        </p:spPr>
      </p:pic>
    </p:spTree>
    <p:extLst>
      <p:ext uri="{BB962C8B-B14F-4D97-AF65-F5344CB8AC3E}">
        <p14:creationId xmlns:p14="http://schemas.microsoft.com/office/powerpoint/2010/main" val="220983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- 6</a:t>
            </a:r>
          </a:p>
        </p:txBody>
      </p:sp>
      <p:sp>
        <p:nvSpPr>
          <p:cNvPr id="2" name="TextBox 1"/>
          <p:cNvSpPr txBox="1"/>
          <p:nvPr/>
        </p:nvSpPr>
        <p:spPr>
          <a:xfrm>
            <a:off x="457200" y="685800"/>
            <a:ext cx="8229600" cy="4193456"/>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In a 120 V compound generator, the resistances of the armature, shunt and series windings are 0.06 Ω, 25 Ω and 0.04 Ω respectively. The load current is 100 A at 120 V. Find the induced </a:t>
            </a:r>
            <a:r>
              <a:rPr lang="en-IN" sz="2200" b="1" dirty="0" err="1" smtClean="0"/>
              <a:t>e.m.f</a:t>
            </a:r>
            <a:r>
              <a:rPr lang="en-IN" sz="2200" b="1" dirty="0" smtClean="0"/>
              <a:t>. and the armature current when the machine is connected as (</a:t>
            </a:r>
            <a:r>
              <a:rPr lang="en-IN" sz="2200" b="1" dirty="0" err="1" smtClean="0"/>
              <a:t>i</a:t>
            </a:r>
            <a:r>
              <a:rPr lang="en-IN" sz="2200" b="1" dirty="0" smtClean="0"/>
              <a:t>) long-shunt and as (ii) short-shunt. How will the ampere-turns of the series field be changed in (</a:t>
            </a:r>
            <a:r>
              <a:rPr lang="en-IN" sz="2200" b="1" dirty="0" err="1" smtClean="0"/>
              <a:t>i</a:t>
            </a:r>
            <a:r>
              <a:rPr lang="en-IN" sz="2200" b="1" dirty="0" smtClean="0"/>
              <a:t>) if a diverter of 0.1 ohm be connected in parallel with the series winding ? Neglect brush contact drop and ignore armature reaction.</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6343650" y="4267200"/>
            <a:ext cx="2343150" cy="2463312"/>
          </a:xfrm>
          <a:prstGeom prst="rect">
            <a:avLst/>
          </a:prstGeom>
        </p:spPr>
      </p:pic>
      <p:pic>
        <p:nvPicPr>
          <p:cNvPr id="5" name="Picture 4"/>
          <p:cNvPicPr>
            <a:picLocks noChangeAspect="1"/>
          </p:cNvPicPr>
          <p:nvPr/>
        </p:nvPicPr>
        <p:blipFill rotWithShape="1">
          <a:blip r:embed="rId3"/>
          <a:srcRect b="60195"/>
          <a:stretch/>
        </p:blipFill>
        <p:spPr>
          <a:xfrm>
            <a:off x="128588" y="4960546"/>
            <a:ext cx="6080498" cy="568717"/>
          </a:xfrm>
          <a:prstGeom prst="rect">
            <a:avLst/>
          </a:prstGeom>
        </p:spPr>
      </p:pic>
      <p:pic>
        <p:nvPicPr>
          <p:cNvPr id="12" name="Picture 11"/>
          <p:cNvPicPr>
            <a:picLocks noChangeAspect="1"/>
          </p:cNvPicPr>
          <p:nvPr/>
        </p:nvPicPr>
        <p:blipFill rotWithShape="1">
          <a:blip r:embed="rId3"/>
          <a:srcRect t="39805" b="45195"/>
          <a:stretch/>
        </p:blipFill>
        <p:spPr>
          <a:xfrm>
            <a:off x="128588" y="5529263"/>
            <a:ext cx="6080498" cy="214312"/>
          </a:xfrm>
          <a:prstGeom prst="rect">
            <a:avLst/>
          </a:prstGeom>
        </p:spPr>
      </p:pic>
      <p:pic>
        <p:nvPicPr>
          <p:cNvPr id="14" name="Picture 13"/>
          <p:cNvPicPr>
            <a:picLocks noChangeAspect="1"/>
          </p:cNvPicPr>
          <p:nvPr/>
        </p:nvPicPr>
        <p:blipFill rotWithShape="1">
          <a:blip r:embed="rId3"/>
          <a:srcRect t="55805" b="22195"/>
          <a:stretch/>
        </p:blipFill>
        <p:spPr>
          <a:xfrm>
            <a:off x="128588" y="5757863"/>
            <a:ext cx="6080498" cy="314325"/>
          </a:xfrm>
          <a:prstGeom prst="rect">
            <a:avLst/>
          </a:prstGeom>
        </p:spPr>
      </p:pic>
      <p:pic>
        <p:nvPicPr>
          <p:cNvPr id="15" name="Picture 14"/>
          <p:cNvPicPr>
            <a:picLocks noChangeAspect="1"/>
          </p:cNvPicPr>
          <p:nvPr/>
        </p:nvPicPr>
        <p:blipFill rotWithShape="1">
          <a:blip r:embed="rId3"/>
          <a:srcRect t="76805"/>
          <a:stretch/>
        </p:blipFill>
        <p:spPr>
          <a:xfrm>
            <a:off x="128588" y="6057900"/>
            <a:ext cx="6080498" cy="331397"/>
          </a:xfrm>
          <a:prstGeom prst="rect">
            <a:avLst/>
          </a:prstGeom>
        </p:spPr>
      </p:pic>
    </p:spTree>
    <p:extLst>
      <p:ext uri="{BB962C8B-B14F-4D97-AF65-F5344CB8AC3E}">
        <p14:creationId xmlns:p14="http://schemas.microsoft.com/office/powerpoint/2010/main" val="144385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- 6</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stretch>
            <a:fillRect/>
          </a:stretch>
        </p:blipFill>
        <p:spPr>
          <a:xfrm>
            <a:off x="6150766" y="2924502"/>
            <a:ext cx="3014663" cy="2940774"/>
          </a:xfrm>
          <a:prstGeom prst="rect">
            <a:avLst/>
          </a:prstGeom>
        </p:spPr>
      </p:pic>
      <p:pic>
        <p:nvPicPr>
          <p:cNvPr id="6" name="Picture 5"/>
          <p:cNvPicPr>
            <a:picLocks noChangeAspect="1"/>
          </p:cNvPicPr>
          <p:nvPr/>
        </p:nvPicPr>
        <p:blipFill rotWithShape="1">
          <a:blip r:embed="rId3"/>
          <a:srcRect b="82988"/>
          <a:stretch/>
        </p:blipFill>
        <p:spPr>
          <a:xfrm>
            <a:off x="176211" y="1018277"/>
            <a:ext cx="7813003" cy="310462"/>
          </a:xfrm>
          <a:prstGeom prst="rect">
            <a:avLst/>
          </a:prstGeom>
        </p:spPr>
      </p:pic>
      <p:pic>
        <p:nvPicPr>
          <p:cNvPr id="14" name="Picture 13"/>
          <p:cNvPicPr>
            <a:picLocks noChangeAspect="1"/>
          </p:cNvPicPr>
          <p:nvPr/>
        </p:nvPicPr>
        <p:blipFill rotWithShape="1">
          <a:blip r:embed="rId3"/>
          <a:srcRect t="19361" b="62632"/>
          <a:stretch/>
        </p:blipFill>
        <p:spPr>
          <a:xfrm>
            <a:off x="176211" y="1371600"/>
            <a:ext cx="7813003" cy="328613"/>
          </a:xfrm>
          <a:prstGeom prst="rect">
            <a:avLst/>
          </a:prstGeom>
        </p:spPr>
      </p:pic>
      <p:pic>
        <p:nvPicPr>
          <p:cNvPr id="15" name="Picture 14"/>
          <p:cNvPicPr>
            <a:picLocks noChangeAspect="1"/>
          </p:cNvPicPr>
          <p:nvPr/>
        </p:nvPicPr>
        <p:blipFill rotWithShape="1">
          <a:blip r:embed="rId3"/>
          <a:srcRect t="38151" b="43060"/>
          <a:stretch/>
        </p:blipFill>
        <p:spPr>
          <a:xfrm>
            <a:off x="176211" y="1714501"/>
            <a:ext cx="7813003" cy="342900"/>
          </a:xfrm>
          <a:prstGeom prst="rect">
            <a:avLst/>
          </a:prstGeom>
        </p:spPr>
      </p:pic>
      <p:pic>
        <p:nvPicPr>
          <p:cNvPr id="16" name="Picture 15"/>
          <p:cNvPicPr>
            <a:picLocks noChangeAspect="1"/>
          </p:cNvPicPr>
          <p:nvPr/>
        </p:nvPicPr>
        <p:blipFill rotWithShape="1">
          <a:blip r:embed="rId3"/>
          <a:srcRect t="57723" b="25053"/>
          <a:stretch/>
        </p:blipFill>
        <p:spPr>
          <a:xfrm>
            <a:off x="176211" y="2071688"/>
            <a:ext cx="7813003" cy="314325"/>
          </a:xfrm>
          <a:prstGeom prst="rect">
            <a:avLst/>
          </a:prstGeom>
        </p:spPr>
      </p:pic>
      <p:pic>
        <p:nvPicPr>
          <p:cNvPr id="17" name="Picture 16"/>
          <p:cNvPicPr>
            <a:picLocks noChangeAspect="1"/>
          </p:cNvPicPr>
          <p:nvPr/>
        </p:nvPicPr>
        <p:blipFill rotWithShape="1">
          <a:blip r:embed="rId3"/>
          <a:srcRect t="76513"/>
          <a:stretch/>
        </p:blipFill>
        <p:spPr>
          <a:xfrm>
            <a:off x="176211" y="2414588"/>
            <a:ext cx="7813003" cy="428623"/>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5039640" y="2517480"/>
              <a:ext cx="1044000" cy="444240"/>
            </p14:xfrm>
          </p:contentPart>
        </mc:Choice>
        <mc:Fallback xmlns="">
          <p:pic>
            <p:nvPicPr>
              <p:cNvPr id="4" name="Ink 3"/>
              <p:cNvPicPr/>
              <p:nvPr/>
            </p:nvPicPr>
            <p:blipFill>
              <a:blip r:embed="rId5"/>
              <a:stretch>
                <a:fillRect/>
              </a:stretch>
            </p:blipFill>
            <p:spPr>
              <a:xfrm>
                <a:off x="5031720" y="2511360"/>
                <a:ext cx="1054800" cy="455400"/>
              </a:xfrm>
              <a:prstGeom prst="rect">
                <a:avLst/>
              </a:prstGeom>
            </p:spPr>
          </p:pic>
        </mc:Fallback>
      </mc:AlternateContent>
    </p:spTree>
    <p:extLst>
      <p:ext uri="{BB962C8B-B14F-4D97-AF65-F5344CB8AC3E}">
        <p14:creationId xmlns:p14="http://schemas.microsoft.com/office/powerpoint/2010/main" val="241435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- 6</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142875" y="955655"/>
            <a:ext cx="5872163" cy="5262979"/>
          </a:xfrm>
          <a:prstGeom prst="rect">
            <a:avLst/>
          </a:prstGeom>
        </p:spPr>
        <p:txBody>
          <a:bodyPr wrap="square">
            <a:spAutoFit/>
          </a:bodyPr>
          <a:lstStyle/>
          <a:p>
            <a:pPr algn="just"/>
            <a:r>
              <a:rPr lang="en-IN" sz="2400" dirty="0" smtClean="0"/>
              <a:t>When a diverter of 0.1 Ω is connected in parallel with the series winding, the diagram becomes as shown in Fig. As per current-divider rule, the current through the series winding is = 104.8 × 0.1/(0.1 + 0.04) = 74.86 A. It means that the series field current has decreased from an original value of 104.8 A to 74.86 A. Since No. of turns in the series winding remains the same, the change in series field ampere-turns would be the same as the change in the field current. Hence, the</a:t>
            </a:r>
          </a:p>
          <a:p>
            <a:pPr algn="just"/>
            <a:r>
              <a:rPr lang="en-IN" sz="2400" dirty="0" smtClean="0"/>
              <a:t>percentage decrease in the series field ampere-turns = (74.86 − 104.8) × 100/104.8 = −28.6%.</a:t>
            </a:r>
            <a:endParaRPr lang="en-IN" sz="2400" dirty="0"/>
          </a:p>
        </p:txBody>
      </p:sp>
      <p:pic>
        <p:nvPicPr>
          <p:cNvPr id="2" name="Picture 1"/>
          <p:cNvPicPr>
            <a:picLocks noChangeAspect="1"/>
          </p:cNvPicPr>
          <p:nvPr/>
        </p:nvPicPr>
        <p:blipFill rotWithShape="1">
          <a:blip r:embed="rId2"/>
          <a:srcRect b="12755"/>
          <a:stretch/>
        </p:blipFill>
        <p:spPr>
          <a:xfrm>
            <a:off x="6015038" y="2085975"/>
            <a:ext cx="3022404" cy="2443163"/>
          </a:xfrm>
          <a:prstGeom prst="rect">
            <a:avLst/>
          </a:prstGeom>
        </p:spPr>
      </p:pic>
    </p:spTree>
    <p:extLst>
      <p:ext uri="{BB962C8B-B14F-4D97-AF65-F5344CB8AC3E}">
        <p14:creationId xmlns:p14="http://schemas.microsoft.com/office/powerpoint/2010/main" val="321841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- 7</a:t>
            </a:r>
          </a:p>
        </p:txBody>
      </p:sp>
      <p:sp>
        <p:nvSpPr>
          <p:cNvPr id="2" name="TextBox 1"/>
          <p:cNvSpPr txBox="1"/>
          <p:nvPr/>
        </p:nvSpPr>
        <p:spPr>
          <a:xfrm>
            <a:off x="457200" y="685800"/>
            <a:ext cx="8229600" cy="2123658"/>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4-pole, lap-wound, </a:t>
            </a:r>
            <a:r>
              <a:rPr lang="en-IN" sz="2200" b="1" dirty="0" err="1" smtClean="0"/>
              <a:t>d.c.</a:t>
            </a:r>
            <a:r>
              <a:rPr lang="en-IN" sz="2200" b="1" dirty="0" smtClean="0"/>
              <a:t> shunt generator has a useful flux per pole of 0.07 </a:t>
            </a:r>
            <a:r>
              <a:rPr lang="en-IN" sz="2200" b="1" dirty="0" err="1" smtClean="0"/>
              <a:t>Wb</a:t>
            </a:r>
            <a:r>
              <a:rPr lang="en-IN" sz="2200" b="1" dirty="0" smtClean="0"/>
              <a:t>. The armature winding consists of 220 turns each of 0.004 Ω resistance. Calculate the terminal voltage when running at 900 </a:t>
            </a:r>
            <a:r>
              <a:rPr lang="en-IN" sz="2200" b="1" dirty="0" err="1" smtClean="0"/>
              <a:t>r.p.m</a:t>
            </a:r>
            <a:r>
              <a:rPr lang="en-IN" sz="2200" b="1" dirty="0" smtClean="0"/>
              <a:t>. if the armature current is 50 A.</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rotWithShape="1">
          <a:blip r:embed="rId2"/>
          <a:srcRect b="82046"/>
          <a:stretch/>
        </p:blipFill>
        <p:spPr>
          <a:xfrm>
            <a:off x="457199" y="2890748"/>
            <a:ext cx="8515501" cy="609690"/>
          </a:xfrm>
          <a:prstGeom prst="rect">
            <a:avLst/>
          </a:prstGeom>
        </p:spPr>
      </p:pic>
      <p:pic>
        <p:nvPicPr>
          <p:cNvPr id="9" name="Picture 8"/>
          <p:cNvPicPr>
            <a:picLocks noChangeAspect="1"/>
          </p:cNvPicPr>
          <p:nvPr/>
        </p:nvPicPr>
        <p:blipFill rotWithShape="1">
          <a:blip r:embed="rId2"/>
          <a:srcRect t="18375" b="64795"/>
          <a:stretch/>
        </p:blipFill>
        <p:spPr>
          <a:xfrm>
            <a:off x="457199" y="3514724"/>
            <a:ext cx="8515501" cy="571501"/>
          </a:xfrm>
          <a:prstGeom prst="rect">
            <a:avLst/>
          </a:prstGeom>
        </p:spPr>
      </p:pic>
      <p:pic>
        <p:nvPicPr>
          <p:cNvPr id="12" name="Picture 11"/>
          <p:cNvPicPr>
            <a:picLocks noChangeAspect="1"/>
          </p:cNvPicPr>
          <p:nvPr/>
        </p:nvPicPr>
        <p:blipFill rotWithShape="1">
          <a:blip r:embed="rId2"/>
          <a:srcRect t="37309" b="55959"/>
          <a:stretch/>
        </p:blipFill>
        <p:spPr>
          <a:xfrm>
            <a:off x="457199" y="4157662"/>
            <a:ext cx="8515501" cy="228601"/>
          </a:xfrm>
          <a:prstGeom prst="rect">
            <a:avLst/>
          </a:prstGeom>
        </p:spPr>
      </p:pic>
      <p:pic>
        <p:nvPicPr>
          <p:cNvPr id="14" name="Picture 13"/>
          <p:cNvPicPr>
            <a:picLocks noChangeAspect="1"/>
          </p:cNvPicPr>
          <p:nvPr/>
        </p:nvPicPr>
        <p:blipFill rotWithShape="1">
          <a:blip r:embed="rId2"/>
          <a:srcRect t="45724" b="36604"/>
          <a:stretch/>
        </p:blipFill>
        <p:spPr>
          <a:xfrm>
            <a:off x="457199" y="4443413"/>
            <a:ext cx="8515501" cy="600076"/>
          </a:xfrm>
          <a:prstGeom prst="rect">
            <a:avLst/>
          </a:prstGeom>
        </p:spPr>
      </p:pic>
      <p:pic>
        <p:nvPicPr>
          <p:cNvPr id="15" name="Picture 14"/>
          <p:cNvPicPr>
            <a:picLocks noChangeAspect="1"/>
          </p:cNvPicPr>
          <p:nvPr/>
        </p:nvPicPr>
        <p:blipFill rotWithShape="1">
          <a:blip r:embed="rId2"/>
          <a:srcRect t="63395" b="28190"/>
          <a:stretch/>
        </p:blipFill>
        <p:spPr>
          <a:xfrm>
            <a:off x="457199" y="5043488"/>
            <a:ext cx="8515501" cy="285750"/>
          </a:xfrm>
          <a:prstGeom prst="rect">
            <a:avLst/>
          </a:prstGeom>
        </p:spPr>
      </p:pic>
      <p:pic>
        <p:nvPicPr>
          <p:cNvPr id="16" name="Picture 15"/>
          <p:cNvPicPr>
            <a:picLocks noChangeAspect="1"/>
          </p:cNvPicPr>
          <p:nvPr/>
        </p:nvPicPr>
        <p:blipFill rotWithShape="1">
          <a:blip r:embed="rId2"/>
          <a:srcRect t="73493" b="18092"/>
          <a:stretch/>
        </p:blipFill>
        <p:spPr>
          <a:xfrm>
            <a:off x="457199" y="5386388"/>
            <a:ext cx="8515501" cy="285750"/>
          </a:xfrm>
          <a:prstGeom prst="rect">
            <a:avLst/>
          </a:prstGeom>
        </p:spPr>
      </p:pic>
      <p:pic>
        <p:nvPicPr>
          <p:cNvPr id="17" name="Picture 16"/>
          <p:cNvPicPr>
            <a:picLocks noChangeAspect="1"/>
          </p:cNvPicPr>
          <p:nvPr/>
        </p:nvPicPr>
        <p:blipFill rotWithShape="1">
          <a:blip r:embed="rId2"/>
          <a:srcRect t="80646" b="9256"/>
          <a:stretch/>
        </p:blipFill>
        <p:spPr>
          <a:xfrm>
            <a:off x="457199" y="5629274"/>
            <a:ext cx="8515501" cy="342901"/>
          </a:xfrm>
          <a:prstGeom prst="rect">
            <a:avLst/>
          </a:prstGeom>
        </p:spPr>
      </p:pic>
      <p:pic>
        <p:nvPicPr>
          <p:cNvPr id="18" name="Picture 17"/>
          <p:cNvPicPr>
            <a:picLocks noChangeAspect="1"/>
          </p:cNvPicPr>
          <p:nvPr/>
        </p:nvPicPr>
        <p:blipFill rotWithShape="1">
          <a:blip r:embed="rId2"/>
          <a:srcRect t="89902"/>
          <a:stretch/>
        </p:blipFill>
        <p:spPr>
          <a:xfrm>
            <a:off x="457199" y="5943600"/>
            <a:ext cx="8515501" cy="342900"/>
          </a:xfrm>
          <a:prstGeom prst="rect">
            <a:avLst/>
          </a:prstGeom>
        </p:spPr>
      </p:pic>
    </p:spTree>
    <p:extLst>
      <p:ext uri="{BB962C8B-B14F-4D97-AF65-F5344CB8AC3E}">
        <p14:creationId xmlns:p14="http://schemas.microsoft.com/office/powerpoint/2010/main" val="328566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- 8</a:t>
            </a:r>
          </a:p>
        </p:txBody>
      </p:sp>
      <p:sp>
        <p:nvSpPr>
          <p:cNvPr id="2" name="TextBox 1"/>
          <p:cNvSpPr txBox="1"/>
          <p:nvPr/>
        </p:nvSpPr>
        <p:spPr>
          <a:xfrm>
            <a:off x="457200" y="685800"/>
            <a:ext cx="8229600" cy="2708434"/>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shunt generator delivers 195 A at terminal </a:t>
            </a:r>
            <a:r>
              <a:rPr lang="en-IN" sz="2200" b="1" dirty="0" err="1" smtClean="0"/>
              <a:t>p.d</a:t>
            </a:r>
            <a:r>
              <a:rPr lang="en-IN" sz="2200" b="1" dirty="0" smtClean="0"/>
              <a:t>. of 250 V. The armature resistance and shunt field resistance are 0.02 Ω and 50 Ω respectively. The iron and friction losses equal 950 W. Find</a:t>
            </a:r>
          </a:p>
          <a:p>
            <a:pPr algn="just">
              <a:lnSpc>
                <a:spcPct val="150000"/>
              </a:lnSpc>
              <a:spcBef>
                <a:spcPts val="300"/>
              </a:spcBef>
              <a:buClr>
                <a:schemeClr val="accent6">
                  <a:lumMod val="50000"/>
                </a:schemeClr>
              </a:buClr>
              <a:tabLst>
                <a:tab pos="465138" algn="l"/>
              </a:tabLst>
            </a:pPr>
            <a:r>
              <a:rPr lang="en-IN" sz="2200" b="1" dirty="0" smtClean="0"/>
              <a:t>(a) E.M.F. generated (b) Cu losses (c) output of the prime motor</a:t>
            </a:r>
          </a:p>
          <a:p>
            <a:pPr algn="just">
              <a:lnSpc>
                <a:spcPct val="150000"/>
              </a:lnSpc>
              <a:spcBef>
                <a:spcPts val="300"/>
              </a:spcBef>
              <a:buClr>
                <a:schemeClr val="accent6">
                  <a:lumMod val="50000"/>
                </a:schemeClr>
              </a:buClr>
              <a:tabLst>
                <a:tab pos="465138" algn="l"/>
              </a:tabLst>
            </a:pPr>
            <a:r>
              <a:rPr lang="en-IN" sz="2200" b="1" dirty="0" smtClean="0"/>
              <a:t>(d) commercial, mechanical and electrical efficiencies.</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rotWithShape="1">
          <a:blip r:embed="rId2"/>
          <a:srcRect r="23657" b="93830"/>
          <a:stretch/>
        </p:blipFill>
        <p:spPr>
          <a:xfrm>
            <a:off x="457200" y="4219575"/>
            <a:ext cx="7074456" cy="352425"/>
          </a:xfrm>
          <a:prstGeom prst="rect">
            <a:avLst/>
          </a:prstGeom>
        </p:spPr>
      </p:pic>
      <p:pic>
        <p:nvPicPr>
          <p:cNvPr id="9" name="Picture 8"/>
          <p:cNvPicPr>
            <a:picLocks noChangeAspect="1"/>
          </p:cNvPicPr>
          <p:nvPr/>
        </p:nvPicPr>
        <p:blipFill rotWithShape="1">
          <a:blip r:embed="rId2"/>
          <a:srcRect t="6670" r="23657" b="86827"/>
          <a:stretch/>
        </p:blipFill>
        <p:spPr>
          <a:xfrm>
            <a:off x="457200" y="4600575"/>
            <a:ext cx="7074456" cy="371475"/>
          </a:xfrm>
          <a:prstGeom prst="rect">
            <a:avLst/>
          </a:prstGeom>
        </p:spPr>
      </p:pic>
      <p:pic>
        <p:nvPicPr>
          <p:cNvPr id="12" name="Picture 11"/>
          <p:cNvPicPr>
            <a:picLocks noChangeAspect="1"/>
          </p:cNvPicPr>
          <p:nvPr/>
        </p:nvPicPr>
        <p:blipFill rotWithShape="1">
          <a:blip r:embed="rId2"/>
          <a:srcRect t="12173" r="23657" b="82324"/>
          <a:stretch/>
        </p:blipFill>
        <p:spPr>
          <a:xfrm>
            <a:off x="457200" y="4914899"/>
            <a:ext cx="7074456" cy="314325"/>
          </a:xfrm>
          <a:prstGeom prst="rect">
            <a:avLst/>
          </a:prstGeom>
        </p:spPr>
      </p:pic>
    </p:spTree>
    <p:extLst>
      <p:ext uri="{BB962C8B-B14F-4D97-AF65-F5344CB8AC3E}">
        <p14:creationId xmlns:p14="http://schemas.microsoft.com/office/powerpoint/2010/main" val="236794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- 8</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p:cNvPicPr>
            <a:picLocks noChangeAspect="1"/>
          </p:cNvPicPr>
          <p:nvPr/>
        </p:nvPicPr>
        <p:blipFill rotWithShape="1">
          <a:blip r:embed="rId2"/>
          <a:srcRect t="18038" b="75309"/>
          <a:stretch/>
        </p:blipFill>
        <p:spPr>
          <a:xfrm>
            <a:off x="300037" y="1328737"/>
            <a:ext cx="8710100" cy="357188"/>
          </a:xfrm>
          <a:prstGeom prst="rect">
            <a:avLst/>
          </a:prstGeom>
        </p:spPr>
      </p:pic>
      <p:pic>
        <p:nvPicPr>
          <p:cNvPr id="8" name="Picture 7"/>
          <p:cNvPicPr>
            <a:picLocks noChangeAspect="1"/>
          </p:cNvPicPr>
          <p:nvPr/>
        </p:nvPicPr>
        <p:blipFill rotWithShape="1">
          <a:blip r:embed="rId2"/>
          <a:srcRect t="25755" b="68656"/>
          <a:stretch/>
        </p:blipFill>
        <p:spPr>
          <a:xfrm>
            <a:off x="300037" y="1743075"/>
            <a:ext cx="8710100" cy="300038"/>
          </a:xfrm>
          <a:prstGeom prst="rect">
            <a:avLst/>
          </a:prstGeom>
        </p:spPr>
      </p:pic>
      <p:pic>
        <p:nvPicPr>
          <p:cNvPr id="9" name="Picture 8"/>
          <p:cNvPicPr>
            <a:picLocks noChangeAspect="1"/>
          </p:cNvPicPr>
          <p:nvPr/>
        </p:nvPicPr>
        <p:blipFill rotWithShape="1">
          <a:blip r:embed="rId2"/>
          <a:srcRect t="31876" b="63068"/>
          <a:stretch/>
        </p:blipFill>
        <p:spPr>
          <a:xfrm>
            <a:off x="300037" y="2071687"/>
            <a:ext cx="8710100" cy="271463"/>
          </a:xfrm>
          <a:prstGeom prst="rect">
            <a:avLst/>
          </a:prstGeom>
        </p:spPr>
      </p:pic>
      <p:pic>
        <p:nvPicPr>
          <p:cNvPr id="12" name="Picture 11"/>
          <p:cNvPicPr>
            <a:picLocks noChangeAspect="1"/>
          </p:cNvPicPr>
          <p:nvPr/>
        </p:nvPicPr>
        <p:blipFill rotWithShape="1">
          <a:blip r:embed="rId2"/>
          <a:srcRect t="37730" b="56682"/>
          <a:stretch/>
        </p:blipFill>
        <p:spPr>
          <a:xfrm>
            <a:off x="300037" y="2386013"/>
            <a:ext cx="8710100" cy="300037"/>
          </a:xfrm>
          <a:prstGeom prst="rect">
            <a:avLst/>
          </a:prstGeom>
        </p:spPr>
      </p:pic>
      <p:pic>
        <p:nvPicPr>
          <p:cNvPr id="14" name="Picture 13"/>
          <p:cNvPicPr>
            <a:picLocks noChangeAspect="1"/>
          </p:cNvPicPr>
          <p:nvPr/>
        </p:nvPicPr>
        <p:blipFill rotWithShape="1">
          <a:blip r:embed="rId2"/>
          <a:srcRect t="43851" b="50028"/>
          <a:stretch/>
        </p:blipFill>
        <p:spPr>
          <a:xfrm>
            <a:off x="300037" y="2714625"/>
            <a:ext cx="8710100" cy="328613"/>
          </a:xfrm>
          <a:prstGeom prst="rect">
            <a:avLst/>
          </a:prstGeom>
        </p:spPr>
      </p:pic>
      <p:pic>
        <p:nvPicPr>
          <p:cNvPr id="15" name="Picture 14"/>
          <p:cNvPicPr>
            <a:picLocks noChangeAspect="1"/>
          </p:cNvPicPr>
          <p:nvPr/>
        </p:nvPicPr>
        <p:blipFill rotWithShape="1">
          <a:blip r:embed="rId2"/>
          <a:srcRect t="50237" b="43909"/>
          <a:stretch/>
        </p:blipFill>
        <p:spPr>
          <a:xfrm>
            <a:off x="300037" y="3057525"/>
            <a:ext cx="8710100" cy="314325"/>
          </a:xfrm>
          <a:prstGeom prst="rect">
            <a:avLst/>
          </a:prstGeom>
        </p:spPr>
      </p:pic>
      <p:pic>
        <p:nvPicPr>
          <p:cNvPr id="16" name="Picture 15"/>
          <p:cNvPicPr>
            <a:picLocks noChangeAspect="1"/>
          </p:cNvPicPr>
          <p:nvPr/>
        </p:nvPicPr>
        <p:blipFill rotWithShape="1">
          <a:blip r:embed="rId2"/>
          <a:srcRect t="56624" b="38054"/>
          <a:stretch/>
        </p:blipFill>
        <p:spPr>
          <a:xfrm>
            <a:off x="300037" y="3400425"/>
            <a:ext cx="8710100" cy="285750"/>
          </a:xfrm>
          <a:prstGeom prst="rect">
            <a:avLst/>
          </a:prstGeom>
        </p:spPr>
      </p:pic>
      <p:pic>
        <p:nvPicPr>
          <p:cNvPr id="17" name="Picture 16"/>
          <p:cNvPicPr>
            <a:picLocks noChangeAspect="1"/>
          </p:cNvPicPr>
          <p:nvPr/>
        </p:nvPicPr>
        <p:blipFill rotWithShape="1">
          <a:blip r:embed="rId2"/>
          <a:srcRect t="63543" b="30869"/>
          <a:stretch/>
        </p:blipFill>
        <p:spPr>
          <a:xfrm>
            <a:off x="300037" y="3771899"/>
            <a:ext cx="8710100" cy="300039"/>
          </a:xfrm>
          <a:prstGeom prst="rect">
            <a:avLst/>
          </a:prstGeom>
        </p:spPr>
      </p:pic>
      <p:pic>
        <p:nvPicPr>
          <p:cNvPr id="18" name="Picture 17"/>
          <p:cNvPicPr>
            <a:picLocks noChangeAspect="1"/>
          </p:cNvPicPr>
          <p:nvPr/>
        </p:nvPicPr>
        <p:blipFill rotWithShape="1">
          <a:blip r:embed="rId2"/>
          <a:srcRect t="69929" b="25015"/>
          <a:stretch/>
        </p:blipFill>
        <p:spPr>
          <a:xfrm>
            <a:off x="300037" y="4114800"/>
            <a:ext cx="8710100" cy="271464"/>
          </a:xfrm>
          <a:prstGeom prst="rect">
            <a:avLst/>
          </a:prstGeom>
        </p:spPr>
      </p:pic>
      <p:pic>
        <p:nvPicPr>
          <p:cNvPr id="19" name="Picture 18"/>
          <p:cNvPicPr>
            <a:picLocks noChangeAspect="1"/>
          </p:cNvPicPr>
          <p:nvPr/>
        </p:nvPicPr>
        <p:blipFill rotWithShape="1">
          <a:blip r:embed="rId2"/>
          <a:srcRect t="75784" b="7185"/>
          <a:stretch/>
        </p:blipFill>
        <p:spPr>
          <a:xfrm>
            <a:off x="300037" y="4429125"/>
            <a:ext cx="8710100" cy="914400"/>
          </a:xfrm>
          <a:prstGeom prst="rect">
            <a:avLst/>
          </a:prstGeom>
        </p:spPr>
      </p:pic>
      <p:pic>
        <p:nvPicPr>
          <p:cNvPr id="20" name="Picture 19"/>
          <p:cNvPicPr>
            <a:picLocks noChangeAspect="1"/>
          </p:cNvPicPr>
          <p:nvPr/>
        </p:nvPicPr>
        <p:blipFill rotWithShape="1">
          <a:blip r:embed="rId2"/>
          <a:srcRect t="93347"/>
          <a:stretch/>
        </p:blipFill>
        <p:spPr>
          <a:xfrm>
            <a:off x="300037" y="5372099"/>
            <a:ext cx="8710100" cy="357187"/>
          </a:xfrm>
          <a:prstGeom prst="rect">
            <a:avLst/>
          </a:prstGeom>
        </p:spPr>
      </p:pic>
    </p:spTree>
    <p:extLst>
      <p:ext uri="{BB962C8B-B14F-4D97-AF65-F5344CB8AC3E}">
        <p14:creationId xmlns:p14="http://schemas.microsoft.com/office/powerpoint/2010/main" val="5478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- 9</a:t>
            </a:r>
          </a:p>
        </p:txBody>
      </p:sp>
      <p:sp>
        <p:nvSpPr>
          <p:cNvPr id="2" name="TextBox 1"/>
          <p:cNvSpPr txBox="1"/>
          <p:nvPr/>
        </p:nvSpPr>
        <p:spPr>
          <a:xfrm>
            <a:off x="457200" y="685800"/>
            <a:ext cx="8229600" cy="2123658"/>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shunt generator has a F.L. current of 196 A at 220 V. The stray losses are 720 W and the shunt field coil resistance is 55 Ω. If it has a F.L. efficiency of 88%, find the armature resistance. Also, find the load current corresponding to maximum efficiency.</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rotWithShape="1">
          <a:blip r:embed="rId2"/>
          <a:srcRect b="91619"/>
          <a:stretch/>
        </p:blipFill>
        <p:spPr>
          <a:xfrm>
            <a:off x="457200" y="2890748"/>
            <a:ext cx="8499130" cy="295365"/>
          </a:xfrm>
          <a:prstGeom prst="rect">
            <a:avLst/>
          </a:prstGeom>
        </p:spPr>
      </p:pic>
      <p:pic>
        <p:nvPicPr>
          <p:cNvPr id="9" name="Picture 8"/>
          <p:cNvPicPr>
            <a:picLocks noChangeAspect="1"/>
          </p:cNvPicPr>
          <p:nvPr/>
        </p:nvPicPr>
        <p:blipFill rotWithShape="1">
          <a:blip r:embed="rId2"/>
          <a:srcRect t="8786" b="83106"/>
          <a:stretch/>
        </p:blipFill>
        <p:spPr>
          <a:xfrm>
            <a:off x="457200" y="3200400"/>
            <a:ext cx="8499130" cy="285750"/>
          </a:xfrm>
          <a:prstGeom prst="rect">
            <a:avLst/>
          </a:prstGeom>
        </p:spPr>
      </p:pic>
      <p:pic>
        <p:nvPicPr>
          <p:cNvPr id="12" name="Picture 11"/>
          <p:cNvPicPr>
            <a:picLocks noChangeAspect="1"/>
          </p:cNvPicPr>
          <p:nvPr/>
        </p:nvPicPr>
        <p:blipFill rotWithShape="1">
          <a:blip r:embed="rId2"/>
          <a:srcRect t="17300" b="74593"/>
          <a:stretch/>
        </p:blipFill>
        <p:spPr>
          <a:xfrm>
            <a:off x="457200" y="3500438"/>
            <a:ext cx="8499130" cy="285750"/>
          </a:xfrm>
          <a:prstGeom prst="rect">
            <a:avLst/>
          </a:prstGeom>
        </p:spPr>
      </p:pic>
      <p:pic>
        <p:nvPicPr>
          <p:cNvPr id="14" name="Picture 13"/>
          <p:cNvPicPr>
            <a:picLocks noChangeAspect="1"/>
          </p:cNvPicPr>
          <p:nvPr/>
        </p:nvPicPr>
        <p:blipFill rotWithShape="1">
          <a:blip r:embed="rId2"/>
          <a:srcRect t="25813" b="64863"/>
          <a:stretch/>
        </p:blipFill>
        <p:spPr>
          <a:xfrm>
            <a:off x="457200" y="3800475"/>
            <a:ext cx="8499130" cy="328614"/>
          </a:xfrm>
          <a:prstGeom prst="rect">
            <a:avLst/>
          </a:prstGeom>
        </p:spPr>
      </p:pic>
      <p:pic>
        <p:nvPicPr>
          <p:cNvPr id="15" name="Picture 14"/>
          <p:cNvPicPr>
            <a:picLocks noChangeAspect="1"/>
          </p:cNvPicPr>
          <p:nvPr/>
        </p:nvPicPr>
        <p:blipFill rotWithShape="1">
          <a:blip r:embed="rId2"/>
          <a:srcRect t="36353" b="55945"/>
          <a:stretch/>
        </p:blipFill>
        <p:spPr>
          <a:xfrm>
            <a:off x="457200" y="4171950"/>
            <a:ext cx="8499130" cy="271463"/>
          </a:xfrm>
          <a:prstGeom prst="rect">
            <a:avLst/>
          </a:prstGeom>
        </p:spPr>
      </p:pic>
      <p:pic>
        <p:nvPicPr>
          <p:cNvPr id="16" name="Picture 15"/>
          <p:cNvPicPr>
            <a:picLocks noChangeAspect="1"/>
          </p:cNvPicPr>
          <p:nvPr/>
        </p:nvPicPr>
        <p:blipFill rotWithShape="1">
          <a:blip r:embed="rId2"/>
          <a:srcRect t="43650" b="47837"/>
          <a:stretch/>
        </p:blipFill>
        <p:spPr>
          <a:xfrm>
            <a:off x="457200" y="4429124"/>
            <a:ext cx="8499130" cy="300039"/>
          </a:xfrm>
          <a:prstGeom prst="rect">
            <a:avLst/>
          </a:prstGeom>
        </p:spPr>
      </p:pic>
      <p:pic>
        <p:nvPicPr>
          <p:cNvPr id="17" name="Picture 16"/>
          <p:cNvPicPr>
            <a:picLocks noChangeAspect="1"/>
          </p:cNvPicPr>
          <p:nvPr/>
        </p:nvPicPr>
        <p:blipFill rotWithShape="1">
          <a:blip r:embed="rId2"/>
          <a:srcRect t="51758" b="38513"/>
          <a:stretch/>
        </p:blipFill>
        <p:spPr>
          <a:xfrm>
            <a:off x="457200" y="4714874"/>
            <a:ext cx="8499130" cy="342901"/>
          </a:xfrm>
          <a:prstGeom prst="rect">
            <a:avLst/>
          </a:prstGeom>
        </p:spPr>
      </p:pic>
      <p:pic>
        <p:nvPicPr>
          <p:cNvPr id="18" name="Picture 17"/>
          <p:cNvPicPr>
            <a:picLocks noChangeAspect="1"/>
          </p:cNvPicPr>
          <p:nvPr/>
        </p:nvPicPr>
        <p:blipFill rotWithShape="1">
          <a:blip r:embed="rId2"/>
          <a:srcRect t="61082" b="29594"/>
          <a:stretch/>
        </p:blipFill>
        <p:spPr>
          <a:xfrm>
            <a:off x="457200" y="5043488"/>
            <a:ext cx="8499130" cy="328612"/>
          </a:xfrm>
          <a:prstGeom prst="rect">
            <a:avLst/>
          </a:prstGeom>
        </p:spPr>
      </p:pic>
      <p:pic>
        <p:nvPicPr>
          <p:cNvPr id="19" name="Picture 18"/>
          <p:cNvPicPr>
            <a:picLocks noChangeAspect="1"/>
          </p:cNvPicPr>
          <p:nvPr/>
        </p:nvPicPr>
        <p:blipFill rotWithShape="1">
          <a:blip r:embed="rId2"/>
          <a:srcRect t="70001" b="20675"/>
          <a:stretch/>
        </p:blipFill>
        <p:spPr>
          <a:xfrm>
            <a:off x="457200" y="5357812"/>
            <a:ext cx="8499130" cy="328613"/>
          </a:xfrm>
          <a:prstGeom prst="rect">
            <a:avLst/>
          </a:prstGeom>
        </p:spPr>
      </p:pic>
      <p:pic>
        <p:nvPicPr>
          <p:cNvPr id="20" name="Picture 19"/>
          <p:cNvPicPr>
            <a:picLocks noChangeAspect="1"/>
          </p:cNvPicPr>
          <p:nvPr/>
        </p:nvPicPr>
        <p:blipFill rotWithShape="1">
          <a:blip r:embed="rId2"/>
          <a:srcRect t="80136"/>
          <a:stretch/>
        </p:blipFill>
        <p:spPr>
          <a:xfrm>
            <a:off x="457200" y="5715000"/>
            <a:ext cx="8499130" cy="700088"/>
          </a:xfrm>
          <a:prstGeom prst="rect">
            <a:avLst/>
          </a:prstGeom>
        </p:spPr>
      </p:pic>
    </p:spTree>
    <p:extLst>
      <p:ext uri="{BB962C8B-B14F-4D97-AF65-F5344CB8AC3E}">
        <p14:creationId xmlns:p14="http://schemas.microsoft.com/office/powerpoint/2010/main" val="174623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- 10</a:t>
            </a:r>
          </a:p>
        </p:txBody>
      </p:sp>
      <p:sp>
        <p:nvSpPr>
          <p:cNvPr id="2" name="TextBox 1"/>
          <p:cNvSpPr txBox="1"/>
          <p:nvPr/>
        </p:nvSpPr>
        <p:spPr>
          <a:xfrm>
            <a:off x="457200" y="685800"/>
            <a:ext cx="8229600" cy="1615827"/>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The hysteresis and eddy current losses in a </a:t>
            </a:r>
            <a:r>
              <a:rPr lang="en-IN" sz="2200" b="1" dirty="0" err="1" smtClean="0"/>
              <a:t>d.c.</a:t>
            </a:r>
            <a:r>
              <a:rPr lang="en-IN" sz="2200" b="1" dirty="0" smtClean="0"/>
              <a:t> machine running at 1000 </a:t>
            </a:r>
            <a:r>
              <a:rPr lang="en-IN" sz="2200" b="1" dirty="0" err="1" smtClean="0"/>
              <a:t>r.p.m</a:t>
            </a:r>
            <a:r>
              <a:rPr lang="en-IN" sz="2200" b="1" dirty="0" smtClean="0"/>
              <a:t>. are 250 W and 100 W respectively. If the flux remains constant, at what speed will be total iron losses be halved ?</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rotWithShape="1">
          <a:blip r:embed="rId2"/>
          <a:srcRect b="86932"/>
          <a:stretch/>
        </p:blipFill>
        <p:spPr>
          <a:xfrm>
            <a:off x="223076" y="2857500"/>
            <a:ext cx="8697847" cy="328614"/>
          </a:xfrm>
          <a:prstGeom prst="rect">
            <a:avLst/>
          </a:prstGeom>
        </p:spPr>
      </p:pic>
      <p:pic>
        <p:nvPicPr>
          <p:cNvPr id="8" name="Picture 7"/>
          <p:cNvPicPr>
            <a:picLocks noChangeAspect="1"/>
          </p:cNvPicPr>
          <p:nvPr/>
        </p:nvPicPr>
        <p:blipFill rotWithShape="1">
          <a:blip r:embed="rId2"/>
          <a:srcRect t="14204" b="61932"/>
          <a:stretch/>
        </p:blipFill>
        <p:spPr>
          <a:xfrm>
            <a:off x="223076" y="3214688"/>
            <a:ext cx="8697847" cy="600075"/>
          </a:xfrm>
          <a:prstGeom prst="rect">
            <a:avLst/>
          </a:prstGeom>
        </p:spPr>
      </p:pic>
      <p:pic>
        <p:nvPicPr>
          <p:cNvPr id="9" name="Picture 8"/>
          <p:cNvPicPr>
            <a:picLocks noChangeAspect="1"/>
          </p:cNvPicPr>
          <p:nvPr/>
        </p:nvPicPr>
        <p:blipFill rotWithShape="1">
          <a:blip r:embed="rId2"/>
          <a:srcRect t="38068" b="40909"/>
          <a:stretch/>
        </p:blipFill>
        <p:spPr>
          <a:xfrm>
            <a:off x="223076" y="3814763"/>
            <a:ext cx="8697847" cy="528637"/>
          </a:xfrm>
          <a:prstGeom prst="rect">
            <a:avLst/>
          </a:prstGeom>
        </p:spPr>
      </p:pic>
      <p:pic>
        <p:nvPicPr>
          <p:cNvPr id="12" name="Picture 11"/>
          <p:cNvPicPr>
            <a:picLocks noChangeAspect="1"/>
          </p:cNvPicPr>
          <p:nvPr/>
        </p:nvPicPr>
        <p:blipFill rotWithShape="1">
          <a:blip r:embed="rId2"/>
          <a:srcRect t="59659" b="26705"/>
          <a:stretch/>
        </p:blipFill>
        <p:spPr>
          <a:xfrm>
            <a:off x="223076" y="4357688"/>
            <a:ext cx="8697847" cy="342900"/>
          </a:xfrm>
          <a:prstGeom prst="rect">
            <a:avLst/>
          </a:prstGeom>
        </p:spPr>
      </p:pic>
      <p:pic>
        <p:nvPicPr>
          <p:cNvPr id="14" name="Picture 13"/>
          <p:cNvPicPr>
            <a:picLocks noChangeAspect="1"/>
          </p:cNvPicPr>
          <p:nvPr/>
        </p:nvPicPr>
        <p:blipFill rotWithShape="1">
          <a:blip r:embed="rId2"/>
          <a:srcRect t="73864"/>
          <a:stretch/>
        </p:blipFill>
        <p:spPr>
          <a:xfrm>
            <a:off x="223076" y="4714875"/>
            <a:ext cx="8697847" cy="657225"/>
          </a:xfrm>
          <a:prstGeom prst="rect">
            <a:avLst/>
          </a:prstGeom>
        </p:spPr>
      </p:pic>
    </p:spTree>
    <p:extLst>
      <p:ext uri="{BB962C8B-B14F-4D97-AF65-F5344CB8AC3E}">
        <p14:creationId xmlns:p14="http://schemas.microsoft.com/office/powerpoint/2010/main" val="62652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- 11</a:t>
            </a:r>
          </a:p>
        </p:txBody>
      </p:sp>
      <p:sp>
        <p:nvSpPr>
          <p:cNvPr id="2" name="TextBox 1"/>
          <p:cNvSpPr txBox="1"/>
          <p:nvPr/>
        </p:nvSpPr>
        <p:spPr>
          <a:xfrm>
            <a:off x="457200" y="685800"/>
            <a:ext cx="8229600" cy="3139321"/>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 </a:t>
            </a:r>
            <a:r>
              <a:rPr lang="en-IN" sz="2200" b="1" dirty="0" err="1" smtClean="0"/>
              <a:t>d.c.</a:t>
            </a:r>
            <a:r>
              <a:rPr lang="en-IN" sz="2200" b="1" dirty="0" smtClean="0"/>
              <a:t> shunt generator has a full load output of 10 kW at a terminal voltage of 240 V. The armature and the shunt field winding resistances are 0.6 and 160 ohms respectively. The sum of the mechanical and core-losses is 500 W. Calculate the power required, in kW, at the driving shaft at full load, and the corresponding efficiency.</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rotWithShape="1">
          <a:blip r:embed="rId2"/>
          <a:srcRect b="77512"/>
          <a:stretch/>
        </p:blipFill>
        <p:spPr>
          <a:xfrm>
            <a:off x="457200" y="3906411"/>
            <a:ext cx="8493268" cy="551289"/>
          </a:xfrm>
          <a:prstGeom prst="rect">
            <a:avLst/>
          </a:prstGeom>
        </p:spPr>
      </p:pic>
      <p:pic>
        <p:nvPicPr>
          <p:cNvPr id="8" name="Picture 7"/>
          <p:cNvPicPr>
            <a:picLocks noChangeAspect="1"/>
          </p:cNvPicPr>
          <p:nvPr/>
        </p:nvPicPr>
        <p:blipFill rotWithShape="1">
          <a:blip r:embed="rId2"/>
          <a:srcRect t="23653" b="64108"/>
          <a:stretch/>
        </p:blipFill>
        <p:spPr>
          <a:xfrm>
            <a:off x="457200" y="4486276"/>
            <a:ext cx="8493268" cy="300038"/>
          </a:xfrm>
          <a:prstGeom prst="rect">
            <a:avLst/>
          </a:prstGeom>
        </p:spPr>
      </p:pic>
      <p:pic>
        <p:nvPicPr>
          <p:cNvPr id="9" name="Picture 8"/>
          <p:cNvPicPr>
            <a:picLocks noChangeAspect="1"/>
          </p:cNvPicPr>
          <p:nvPr/>
        </p:nvPicPr>
        <p:blipFill rotWithShape="1">
          <a:blip r:embed="rId2"/>
          <a:srcRect t="36475" b="51869"/>
          <a:stretch/>
        </p:blipFill>
        <p:spPr>
          <a:xfrm>
            <a:off x="457200" y="4800600"/>
            <a:ext cx="8493268" cy="285750"/>
          </a:xfrm>
          <a:prstGeom prst="rect">
            <a:avLst/>
          </a:prstGeom>
        </p:spPr>
      </p:pic>
      <p:pic>
        <p:nvPicPr>
          <p:cNvPr id="12" name="Picture 11"/>
          <p:cNvPicPr>
            <a:picLocks noChangeAspect="1"/>
          </p:cNvPicPr>
          <p:nvPr/>
        </p:nvPicPr>
        <p:blipFill rotWithShape="1">
          <a:blip r:embed="rId2"/>
          <a:srcRect t="50462" b="37299"/>
          <a:stretch/>
        </p:blipFill>
        <p:spPr>
          <a:xfrm>
            <a:off x="457200" y="5143500"/>
            <a:ext cx="8493268" cy="300038"/>
          </a:xfrm>
          <a:prstGeom prst="rect">
            <a:avLst/>
          </a:prstGeom>
        </p:spPr>
      </p:pic>
      <p:pic>
        <p:nvPicPr>
          <p:cNvPr id="14" name="Picture 13"/>
          <p:cNvPicPr>
            <a:picLocks noChangeAspect="1"/>
          </p:cNvPicPr>
          <p:nvPr/>
        </p:nvPicPr>
        <p:blipFill rotWithShape="1">
          <a:blip r:embed="rId2"/>
          <a:srcRect t="64449" b="24478"/>
          <a:stretch/>
        </p:blipFill>
        <p:spPr>
          <a:xfrm>
            <a:off x="457200" y="5486400"/>
            <a:ext cx="8493268" cy="271463"/>
          </a:xfrm>
          <a:prstGeom prst="rect">
            <a:avLst/>
          </a:prstGeom>
        </p:spPr>
      </p:pic>
      <p:pic>
        <p:nvPicPr>
          <p:cNvPr id="15" name="Picture 14"/>
          <p:cNvPicPr>
            <a:picLocks noChangeAspect="1"/>
          </p:cNvPicPr>
          <p:nvPr/>
        </p:nvPicPr>
        <p:blipFill rotWithShape="1">
          <a:blip r:embed="rId2"/>
          <a:srcRect t="76688"/>
          <a:stretch/>
        </p:blipFill>
        <p:spPr>
          <a:xfrm>
            <a:off x="457200" y="5786438"/>
            <a:ext cx="8493268" cy="571500"/>
          </a:xfrm>
          <a:prstGeom prst="rect">
            <a:avLst/>
          </a:prstGeom>
        </p:spPr>
      </p:pic>
    </p:spTree>
    <p:extLst>
      <p:ext uri="{BB962C8B-B14F-4D97-AF65-F5344CB8AC3E}">
        <p14:creationId xmlns:p14="http://schemas.microsoft.com/office/powerpoint/2010/main" val="355147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- 12</a:t>
            </a:r>
          </a:p>
        </p:txBody>
      </p:sp>
      <p:sp>
        <p:nvSpPr>
          <p:cNvPr id="2" name="TextBox 1"/>
          <p:cNvSpPr txBox="1"/>
          <p:nvPr/>
        </p:nvSpPr>
        <p:spPr>
          <a:xfrm>
            <a:off x="457200" y="685800"/>
            <a:ext cx="8229600" cy="2123658"/>
          </a:xfrm>
          <a:prstGeom prst="rect">
            <a:avLst/>
          </a:prstGeom>
          <a:noFill/>
        </p:spPr>
        <p:txBody>
          <a:bodyPr wrap="square" rtlCol="0">
            <a:spAutoFit/>
          </a:bodyPr>
          <a:lstStyle/>
          <a:p>
            <a:pPr algn="just">
              <a:lnSpc>
                <a:spcPct val="150000"/>
              </a:lnSpc>
              <a:spcBef>
                <a:spcPts val="300"/>
              </a:spcBef>
              <a:buClr>
                <a:schemeClr val="accent6">
                  <a:lumMod val="50000"/>
                </a:schemeClr>
              </a:buClr>
              <a:tabLst>
                <a:tab pos="465138" algn="l"/>
              </a:tabLst>
            </a:pPr>
            <a:r>
              <a:rPr lang="en-IN" sz="2200" b="1" dirty="0" smtClean="0"/>
              <a:t>An 8-pole </a:t>
            </a:r>
            <a:r>
              <a:rPr lang="en-IN" sz="2200" b="1" dirty="0" err="1" smtClean="0"/>
              <a:t>d.c.</a:t>
            </a:r>
            <a:r>
              <a:rPr lang="en-IN" sz="2200" b="1" dirty="0" smtClean="0"/>
              <a:t> generator has 500 armature conductors, and a useful flux of 0.05 </a:t>
            </a:r>
            <a:r>
              <a:rPr lang="en-IN" sz="2200" b="1" dirty="0" err="1" smtClean="0"/>
              <a:t>Wb</a:t>
            </a:r>
            <a:r>
              <a:rPr lang="en-IN" sz="2200" b="1" dirty="0" smtClean="0"/>
              <a:t> per pole. What will be the </a:t>
            </a:r>
            <a:r>
              <a:rPr lang="en-IN" sz="2200" b="1" dirty="0" err="1" smtClean="0"/>
              <a:t>e.m.f</a:t>
            </a:r>
            <a:r>
              <a:rPr lang="en-IN" sz="2200" b="1" dirty="0" smtClean="0"/>
              <a:t>. generated if it is lap-connected and runs at 1200 rpm ? What must be the speed at which it is to be driven produce the same </a:t>
            </a:r>
            <a:r>
              <a:rPr lang="en-IN" sz="2200" b="1" dirty="0" err="1" smtClean="0"/>
              <a:t>e.m.f</a:t>
            </a:r>
            <a:r>
              <a:rPr lang="en-IN" sz="2200" b="1" dirty="0" smtClean="0"/>
              <a:t>. if it is wave-wound?</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728663" y="2809458"/>
            <a:ext cx="6480052" cy="3862805"/>
          </a:xfrm>
          <a:prstGeom prst="rect">
            <a:avLst/>
          </a:prstGeom>
        </p:spPr>
      </p:pic>
    </p:spTree>
    <p:extLst>
      <p:ext uri="{BB962C8B-B14F-4D97-AF65-F5344CB8AC3E}">
        <p14:creationId xmlns:p14="http://schemas.microsoft.com/office/powerpoint/2010/main" val="35505472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Example - 12</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stretch>
            <a:fillRect/>
          </a:stretch>
        </p:blipFill>
        <p:spPr>
          <a:xfrm>
            <a:off x="6005511" y="1346177"/>
            <a:ext cx="3138489" cy="4768873"/>
          </a:xfrm>
          <a:prstGeom prst="rect">
            <a:avLst/>
          </a:prstGeom>
        </p:spPr>
      </p:pic>
      <p:pic>
        <p:nvPicPr>
          <p:cNvPr id="5" name="Picture 4"/>
          <p:cNvPicPr>
            <a:picLocks noChangeAspect="1"/>
          </p:cNvPicPr>
          <p:nvPr/>
        </p:nvPicPr>
        <p:blipFill>
          <a:blip r:embed="rId3"/>
          <a:stretch>
            <a:fillRect/>
          </a:stretch>
        </p:blipFill>
        <p:spPr>
          <a:xfrm>
            <a:off x="0" y="2933700"/>
            <a:ext cx="5867400" cy="2105025"/>
          </a:xfrm>
          <a:prstGeom prst="rect">
            <a:avLst/>
          </a:prstGeom>
        </p:spPr>
      </p:pic>
    </p:spTree>
    <p:extLst>
      <p:ext uri="{BB962C8B-B14F-4D97-AF65-F5344CB8AC3E}">
        <p14:creationId xmlns:p14="http://schemas.microsoft.com/office/powerpoint/2010/main" val="18923899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TotalTime>
  <Words>1013</Words>
  <Application>Microsoft Office PowerPoint</Application>
  <PresentationFormat>On-screen Show (4:3)</PresentationFormat>
  <Paragraphs>49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dc:creator>
  <cp:lastModifiedBy>IIT</cp:lastModifiedBy>
  <cp:revision>16</cp:revision>
  <dcterms:created xsi:type="dcterms:W3CDTF">2020-04-09T06:32:37Z</dcterms:created>
  <dcterms:modified xsi:type="dcterms:W3CDTF">2023-02-16T18:30:08Z</dcterms:modified>
</cp:coreProperties>
</file>