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9" r:id="rId2"/>
    <p:sldId id="257" r:id="rId3"/>
    <p:sldId id="266" r:id="rId4"/>
    <p:sldId id="260" r:id="rId5"/>
    <p:sldId id="268" r:id="rId6"/>
    <p:sldId id="261" r:id="rId7"/>
    <p:sldId id="269" r:id="rId8"/>
    <p:sldId id="270" r:id="rId9"/>
    <p:sldId id="272" r:id="rId10"/>
    <p:sldId id="273" r:id="rId11"/>
    <p:sldId id="274" r:id="rId12"/>
    <p:sldId id="275" r:id="rId13"/>
    <p:sldId id="276" r:id="rId14"/>
    <p:sldId id="277" r:id="rId15"/>
    <p:sldId id="278" r:id="rId16"/>
    <p:sldId id="279" r:id="rId17"/>
    <p:sldId id="262" r:id="rId18"/>
    <p:sldId id="280" r:id="rId19"/>
    <p:sldId id="281" r:id="rId20"/>
    <p:sldId id="294" r:id="rId21"/>
    <p:sldId id="295" r:id="rId22"/>
    <p:sldId id="296" r:id="rId23"/>
    <p:sldId id="297" r:id="rId24"/>
    <p:sldId id="298" r:id="rId25"/>
    <p:sldId id="299" r:id="rId26"/>
    <p:sldId id="264" r:id="rId27"/>
    <p:sldId id="302" r:id="rId28"/>
    <p:sldId id="301" r:id="rId29"/>
    <p:sldId id="303" r:id="rId30"/>
    <p:sldId id="305" r:id="rId31"/>
    <p:sldId id="304" r:id="rId32"/>
    <p:sldId id="300" r:id="rId33"/>
    <p:sldId id="306" r:id="rId34"/>
    <p:sldId id="307" r:id="rId35"/>
    <p:sldId id="309" r:id="rId36"/>
    <p:sldId id="308" r:id="rId37"/>
    <p:sldId id="310" r:id="rId38"/>
    <p:sldId id="311" r:id="rId39"/>
    <p:sldId id="312" r:id="rId40"/>
    <p:sldId id="313" r:id="rId41"/>
    <p:sldId id="314" r:id="rId42"/>
    <p:sldId id="315" r:id="rId43"/>
    <p:sldId id="316" r:id="rId44"/>
    <p:sldId id="317" r:id="rId45"/>
    <p:sldId id="319" r:id="rId46"/>
    <p:sldId id="265" r:id="rId47"/>
    <p:sldId id="320" r:id="rId48"/>
    <p:sldId id="318"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F9FF"/>
    <a:srgbClr val="EFFBFF"/>
    <a:srgbClr val="CDF2FF"/>
    <a:srgbClr val="9FE6FF"/>
    <a:srgbClr val="00AD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82" d="100"/>
          <a:sy n="82" d="100"/>
        </p:scale>
        <p:origin x="1474"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FFD6A3-3281-44BD-9CB2-4C730879CFB0}" type="datetimeFigureOut">
              <a:rPr lang="en-US" smtClean="0"/>
              <a:pPr/>
              <a:t>9/4/2023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E02AA5-E4F7-43D4-827A-6CE9F576CFC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xt title">
    <p:spTree>
      <p:nvGrpSpPr>
        <p:cNvPr id="1" name=""/>
        <p:cNvGrpSpPr/>
        <p:nvPr/>
      </p:nvGrpSpPr>
      <p:grpSpPr>
        <a:xfrm>
          <a:off x="0" y="0"/>
          <a:ext cx="0" cy="0"/>
          <a:chOff x="0" y="0"/>
          <a:chExt cx="0" cy="0"/>
        </a:xfrm>
      </p:grpSpPr>
      <p:grpSp>
        <p:nvGrpSpPr>
          <p:cNvPr id="21" name="Group 20"/>
          <p:cNvGrpSpPr/>
          <p:nvPr userDrawn="1"/>
        </p:nvGrpSpPr>
        <p:grpSpPr>
          <a:xfrm>
            <a:off x="0" y="0"/>
            <a:ext cx="9144000" cy="6858000"/>
            <a:chOff x="0" y="0"/>
            <a:chExt cx="9144000" cy="6858000"/>
          </a:xfrm>
        </p:grpSpPr>
        <p:pic>
          <p:nvPicPr>
            <p:cNvPr id="1036" name="Picture 12"/>
            <p:cNvPicPr>
              <a:picLocks noChangeAspect="1" noChangeArrowheads="1"/>
            </p:cNvPicPr>
            <p:nvPr userDrawn="1"/>
          </p:nvPicPr>
          <p:blipFill>
            <a:blip r:embed="rId2" cstate="print"/>
            <a:srcRect/>
            <a:stretch>
              <a:fillRect/>
            </a:stretch>
          </p:blipFill>
          <p:spPr bwMode="auto">
            <a:xfrm>
              <a:off x="0" y="1102002"/>
              <a:ext cx="9144000" cy="5070198"/>
            </a:xfrm>
            <a:prstGeom prst="rect">
              <a:avLst/>
            </a:prstGeom>
            <a:noFill/>
            <a:ln w="9525">
              <a:noFill/>
              <a:miter lim="800000"/>
              <a:headEnd/>
              <a:tailEnd/>
            </a:ln>
          </p:spPr>
        </p:pic>
        <p:pic>
          <p:nvPicPr>
            <p:cNvPr id="1038" name="Picture 14"/>
            <p:cNvPicPr>
              <a:picLocks noChangeAspect="1" noChangeArrowheads="1"/>
            </p:cNvPicPr>
            <p:nvPr userDrawn="1"/>
          </p:nvPicPr>
          <p:blipFill>
            <a:blip r:embed="rId3" cstate="print"/>
            <a:srcRect/>
            <a:stretch>
              <a:fillRect/>
            </a:stretch>
          </p:blipFill>
          <p:spPr bwMode="auto">
            <a:xfrm>
              <a:off x="1" y="6102862"/>
              <a:ext cx="9143999" cy="755138"/>
            </a:xfrm>
            <a:prstGeom prst="rect">
              <a:avLst/>
            </a:prstGeom>
            <a:noFill/>
            <a:ln w="9525">
              <a:noFill/>
              <a:miter lim="800000"/>
              <a:headEnd/>
              <a:tailEnd/>
            </a:ln>
          </p:spPr>
        </p:pic>
        <p:pic>
          <p:nvPicPr>
            <p:cNvPr id="1037" name="Picture 13"/>
            <p:cNvPicPr>
              <a:picLocks noChangeAspect="1" noChangeArrowheads="1"/>
            </p:cNvPicPr>
            <p:nvPr userDrawn="1"/>
          </p:nvPicPr>
          <p:blipFill>
            <a:blip r:embed="rId4" cstate="print"/>
            <a:srcRect/>
            <a:stretch>
              <a:fillRect/>
            </a:stretch>
          </p:blipFill>
          <p:spPr bwMode="auto">
            <a:xfrm>
              <a:off x="0" y="0"/>
              <a:ext cx="9144000" cy="3047332"/>
            </a:xfrm>
            <a:prstGeom prst="rect">
              <a:avLst/>
            </a:prstGeom>
            <a:noFill/>
            <a:ln w="9525">
              <a:noFill/>
              <a:miter lim="800000"/>
              <a:headEnd/>
              <a:tailEnd/>
            </a:ln>
          </p:spPr>
        </p:pic>
      </p:grpSp>
      <p:sp>
        <p:nvSpPr>
          <p:cNvPr id="6" name="Slide Number Placeholder 5"/>
          <p:cNvSpPr>
            <a:spLocks noGrp="1"/>
          </p:cNvSpPr>
          <p:nvPr>
            <p:ph type="sldNum" sz="quarter" idx="12"/>
          </p:nvPr>
        </p:nvSpPr>
        <p:spPr/>
        <p:txBody>
          <a:bodyPr/>
          <a:lstStyle/>
          <a:p>
            <a:fld id="{A7433447-5B6D-461F-92B6-F60C76EA706E}" type="slidenum">
              <a:rPr lang="en-US" smtClean="0"/>
              <a:pPr/>
              <a:t>‹#›</a:t>
            </a:fld>
            <a:endParaRPr lang="en-US"/>
          </a:p>
        </p:txBody>
      </p:sp>
      <p:sp>
        <p:nvSpPr>
          <p:cNvPr id="5" name="Footer Placeholder 4"/>
          <p:cNvSpPr>
            <a:spLocks noGrp="1"/>
          </p:cNvSpPr>
          <p:nvPr>
            <p:ph type="ftr" sz="quarter" idx="11"/>
          </p:nvPr>
        </p:nvSpPr>
        <p:spPr>
          <a:xfrm>
            <a:off x="1852551" y="6448301"/>
            <a:ext cx="6863936" cy="409699"/>
          </a:xfrm>
        </p:spPr>
        <p:txBody>
          <a:bodyPr/>
          <a:lstStyle/>
          <a:p>
            <a:r>
              <a:rPr lang="en-US" dirty="0"/>
              <a:t>© 2011 Cengage Learning. All Rights Reserved.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_title">
    <p:spTree>
      <p:nvGrpSpPr>
        <p:cNvPr id="1" name=""/>
        <p:cNvGrpSpPr/>
        <p:nvPr/>
      </p:nvGrpSpPr>
      <p:grpSpPr>
        <a:xfrm>
          <a:off x="0" y="0"/>
          <a:ext cx="0" cy="0"/>
          <a:chOff x="0" y="0"/>
          <a:chExt cx="0" cy="0"/>
        </a:xfrm>
      </p:grpSpPr>
      <p:pic>
        <p:nvPicPr>
          <p:cNvPr id="3075" name="Picture 3"/>
          <p:cNvPicPr>
            <a:picLocks noChangeAspect="1" noChangeArrowheads="1"/>
          </p:cNvPicPr>
          <p:nvPr userDrawn="1"/>
        </p:nvPicPr>
        <p:blipFill>
          <a:blip r:embed="rId2" cstate="print"/>
          <a:srcRect/>
          <a:stretch>
            <a:fillRect/>
          </a:stretch>
        </p:blipFill>
        <p:spPr bwMode="auto">
          <a:xfrm>
            <a:off x="0" y="1219200"/>
            <a:ext cx="9144000" cy="3465456"/>
          </a:xfrm>
          <a:prstGeom prst="rect">
            <a:avLst/>
          </a:prstGeom>
          <a:noFill/>
          <a:ln w="9525">
            <a:noFill/>
            <a:miter lim="800000"/>
            <a:headEnd/>
            <a:tailEnd/>
          </a:ln>
        </p:spPr>
      </p:pic>
      <p:sp>
        <p:nvSpPr>
          <p:cNvPr id="2" name="Title 1"/>
          <p:cNvSpPr>
            <a:spLocks noGrp="1"/>
          </p:cNvSpPr>
          <p:nvPr>
            <p:ph type="ctrTitle" hasCustomPrompt="1"/>
          </p:nvPr>
        </p:nvSpPr>
        <p:spPr>
          <a:xfrm>
            <a:off x="838200" y="3254375"/>
            <a:ext cx="7772400" cy="1470025"/>
          </a:xfrm>
        </p:spPr>
        <p:txBody>
          <a:bodyPr>
            <a:noAutofit/>
          </a:bodyPr>
          <a:lstStyle>
            <a:lvl1pPr algn="r">
              <a:defRPr sz="4600">
                <a:solidFill>
                  <a:schemeClr val="bg1"/>
                </a:solidFill>
              </a:defRPr>
            </a:lvl1pPr>
          </a:lstStyle>
          <a:p>
            <a:r>
              <a:rPr lang="en-US" dirty="0"/>
              <a:t>Chapter</a:t>
            </a:r>
            <a:br>
              <a:rPr lang="en-US" dirty="0"/>
            </a:br>
            <a:r>
              <a:rPr lang="en-US" dirty="0"/>
              <a:t>Title</a:t>
            </a:r>
          </a:p>
        </p:txBody>
      </p:sp>
      <p:sp>
        <p:nvSpPr>
          <p:cNvPr id="5" name="Footer Placeholder 4"/>
          <p:cNvSpPr>
            <a:spLocks noGrp="1"/>
          </p:cNvSpPr>
          <p:nvPr>
            <p:ph type="ftr" sz="quarter" idx="11"/>
          </p:nvPr>
        </p:nvSpPr>
        <p:spPr/>
        <p:txBody>
          <a:bodyPr/>
          <a:lstStyle/>
          <a:p>
            <a:r>
              <a:rPr lang="en-US" dirty="0"/>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p:cNvSpPr>
            <a:spLocks noGrp="1"/>
          </p:cNvSpPr>
          <p:nvPr>
            <p:ph type="sldNum" sz="quarter" idx="12"/>
          </p:nvPr>
        </p:nvSpPr>
        <p:spPr/>
        <p:txBody>
          <a:bodyPr/>
          <a:lstStyle/>
          <a:p>
            <a:fld id="{A7433447-5B6D-461F-92B6-F60C76EA706E}" type="slidenum">
              <a:rPr lang="en-US" smtClean="0"/>
              <a:pPr/>
              <a:t>‹#›</a:t>
            </a:fld>
            <a:endParaRPr lang="en-US"/>
          </a:p>
        </p:txBody>
      </p:sp>
      <p:pic>
        <p:nvPicPr>
          <p:cNvPr id="1028" name="Picture 4"/>
          <p:cNvPicPr>
            <a:picLocks noChangeAspect="1" noChangeArrowheads="1"/>
          </p:cNvPicPr>
          <p:nvPr userDrawn="1"/>
        </p:nvPicPr>
        <p:blipFill>
          <a:blip r:embed="rId3" cstate="print"/>
          <a:srcRect/>
          <a:stretch>
            <a:fillRect/>
          </a:stretch>
        </p:blipFill>
        <p:spPr bwMode="auto">
          <a:xfrm>
            <a:off x="0" y="4679825"/>
            <a:ext cx="9144000" cy="609600"/>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84138"/>
            <a:ext cx="8763000" cy="944562"/>
          </a:xfrm>
        </p:spPr>
        <p:txBody>
          <a:bodyPr>
            <a:normAutofit/>
          </a:bodyPr>
          <a:lstStyle>
            <a:lvl1pPr>
              <a:defRPr sz="4200">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190280" y="1085851"/>
            <a:ext cx="8801320" cy="5487072"/>
          </a:xfrm>
        </p:spPr>
        <p:txBody>
          <a:bodyPr/>
          <a:lstStyle>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507678"/>
            <a:ext cx="8716488" cy="385948"/>
          </a:xfrm>
        </p:spPr>
        <p:txBody>
          <a:bodyPr/>
          <a:lstStyle>
            <a:lvl1pPr>
              <a:defRPr sz="1100"/>
            </a:lvl1p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Slide Number Placeholder 5"/>
          <p:cNvSpPr>
            <a:spLocks noGrp="1"/>
          </p:cNvSpPr>
          <p:nvPr>
            <p:ph type="sldNum" sz="quarter" idx="12"/>
          </p:nvPr>
        </p:nvSpPr>
        <p:spPr/>
        <p:txBody>
          <a:bodyPr/>
          <a:lstStyle/>
          <a:p>
            <a:fld id="{A7433447-5B6D-461F-92B6-F60C76EA706E}" type="slidenum">
              <a:rPr lang="en-US" smtClean="0"/>
              <a:pPr/>
              <a:t>‹#›</a:t>
            </a:fld>
            <a:endParaRPr lang="en-US"/>
          </a:p>
        </p:txBody>
      </p:sp>
      <p:cxnSp>
        <p:nvCxnSpPr>
          <p:cNvPr id="8" name="Straight Connector 7"/>
          <p:cNvCxnSpPr/>
          <p:nvPr userDrawn="1"/>
        </p:nvCxnSpPr>
        <p:spPr>
          <a:xfrm>
            <a:off x="260168" y="1028700"/>
            <a:ext cx="8678092" cy="5443"/>
          </a:xfrm>
          <a:prstGeom prst="line">
            <a:avLst/>
          </a:prstGeom>
          <a:ln w="101600" cap="rnd">
            <a:solidFill>
              <a:srgbClr val="00ADEA"/>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62049" y="6513325"/>
            <a:ext cx="9019903" cy="6531"/>
          </a:xfrm>
          <a:prstGeom prst="line">
            <a:avLst/>
          </a:prstGeom>
          <a:ln w="38100" cap="rnd">
            <a:solidFill>
              <a:srgbClr val="00ADEA"/>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83926"/>
            <a:ext cx="8680862" cy="409699"/>
          </a:xfrm>
        </p:spPr>
        <p:txBody>
          <a:bodyPr/>
          <a:lstStyle/>
          <a:p>
            <a:r>
              <a:rPr lang="en-US" dirty="0"/>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p:cNvSpPr>
            <a:spLocks noGrp="1"/>
          </p:cNvSpPr>
          <p:nvPr>
            <p:ph type="sldNum" sz="quarter" idx="12"/>
          </p:nvPr>
        </p:nvSpPr>
        <p:spPr/>
        <p:txBody>
          <a:bodyPr/>
          <a:lstStyle/>
          <a:p>
            <a:fld id="{A7433447-5B6D-461F-92B6-F60C76EA706E}" type="slidenum">
              <a:rPr lang="en-US" smtClean="0"/>
              <a:pPr/>
              <a:t>‹#›</a:t>
            </a:fld>
            <a:endParaRPr lang="en-US"/>
          </a:p>
        </p:txBody>
      </p:sp>
      <p:cxnSp>
        <p:nvCxnSpPr>
          <p:cNvPr id="10" name="Straight Connector 9"/>
          <p:cNvCxnSpPr/>
          <p:nvPr userDrawn="1"/>
        </p:nvCxnSpPr>
        <p:spPr>
          <a:xfrm>
            <a:off x="62049" y="6501450"/>
            <a:ext cx="9019903" cy="6531"/>
          </a:xfrm>
          <a:prstGeom prst="line">
            <a:avLst/>
          </a:prstGeom>
          <a:ln w="38100" cap="rnd">
            <a:solidFill>
              <a:srgbClr val="00ADEA"/>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a:xfrm>
            <a:off x="0" y="209287"/>
            <a:ext cx="8818179" cy="418581"/>
            <a:chOff x="-2500" y="209287"/>
            <a:chExt cx="8847729" cy="418581"/>
          </a:xfrm>
        </p:grpSpPr>
        <p:grpSp>
          <p:nvGrpSpPr>
            <p:cNvPr id="17" name="Group 16"/>
            <p:cNvGrpSpPr/>
            <p:nvPr userDrawn="1"/>
          </p:nvGrpSpPr>
          <p:grpSpPr>
            <a:xfrm>
              <a:off x="179537" y="418454"/>
              <a:ext cx="8665692" cy="2225"/>
              <a:chOff x="234968" y="1218554"/>
              <a:chExt cx="8665692" cy="2225"/>
            </a:xfrm>
          </p:grpSpPr>
          <p:cxnSp>
            <p:nvCxnSpPr>
              <p:cNvPr id="8" name="Straight Connector 7"/>
              <p:cNvCxnSpPr/>
              <p:nvPr userDrawn="1"/>
            </p:nvCxnSpPr>
            <p:spPr>
              <a:xfrm>
                <a:off x="247428" y="1219200"/>
                <a:ext cx="8653232" cy="1314"/>
              </a:xfrm>
              <a:prstGeom prst="line">
                <a:avLst/>
              </a:prstGeom>
              <a:ln w="384175" cap="rnd">
                <a:solidFill>
                  <a:srgbClr val="00B0F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flipV="1">
                <a:off x="234968" y="1218554"/>
                <a:ext cx="1606241" cy="2225"/>
              </a:xfrm>
              <a:prstGeom prst="line">
                <a:avLst/>
              </a:prstGeom>
              <a:ln w="330200" cap="rnd">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3" name="Rectangle 22"/>
            <p:cNvSpPr/>
            <p:nvPr userDrawn="1"/>
          </p:nvSpPr>
          <p:spPr>
            <a:xfrm>
              <a:off x="-2500" y="209287"/>
              <a:ext cx="174383" cy="418581"/>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hasCustomPrompt="1"/>
          </p:nvPr>
        </p:nvSpPr>
        <p:spPr>
          <a:xfrm>
            <a:off x="1968285" y="232707"/>
            <a:ext cx="7175715" cy="358588"/>
          </a:xfrm>
        </p:spPr>
        <p:txBody>
          <a:bodyPr>
            <a:noAutofit/>
          </a:bodyPr>
          <a:lstStyle>
            <a:lvl1pPr algn="l">
              <a:defRPr sz="2800">
                <a:solidFill>
                  <a:schemeClr val="tx1"/>
                </a:solidFill>
              </a:defRPr>
            </a:lvl1pPr>
          </a:lstStyle>
          <a:p>
            <a:r>
              <a:rPr lang="en-US" dirty="0"/>
              <a:t>Title of table</a:t>
            </a:r>
          </a:p>
        </p:txBody>
      </p:sp>
      <p:sp>
        <p:nvSpPr>
          <p:cNvPr id="39" name="Content Placeholder 38"/>
          <p:cNvSpPr>
            <a:spLocks noGrp="1"/>
          </p:cNvSpPr>
          <p:nvPr>
            <p:ph sz="quarter" idx="13" hasCustomPrompt="1"/>
          </p:nvPr>
        </p:nvSpPr>
        <p:spPr>
          <a:xfrm>
            <a:off x="154371" y="165980"/>
            <a:ext cx="1839681" cy="506049"/>
          </a:xfrm>
        </p:spPr>
        <p:txBody>
          <a:bodyPr>
            <a:normAutofit/>
          </a:bodyPr>
          <a:lstStyle>
            <a:lvl1pPr>
              <a:buNone/>
              <a:defRPr sz="2800">
                <a:solidFill>
                  <a:schemeClr val="bg1"/>
                </a:solidFill>
                <a:latin typeface="+mj-lt"/>
              </a:defRPr>
            </a:lvl1pPr>
          </a:lstStyle>
          <a:p>
            <a:pPr lvl="0"/>
            <a:r>
              <a:rPr lang="en-US" dirty="0"/>
              <a:t>TABLE 1.11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p:bg>
      <p:bgPr>
        <a:blipFill dpi="0" rotWithShape="1">
          <a:blip r:embed="rId2" cstate="print">
            <a:lum/>
          </a:blip>
          <a:srcRect/>
          <a:stretch>
            <a:fillRect t="-34000" b="-34000"/>
          </a:stretch>
        </a:blipFill>
        <a:effectLst/>
      </p:bgPr>
    </p:bg>
    <p:spTree>
      <p:nvGrpSpPr>
        <p:cNvPr id="1" name=""/>
        <p:cNvGrpSpPr/>
        <p:nvPr/>
      </p:nvGrpSpPr>
      <p:grpSpPr>
        <a:xfrm>
          <a:off x="0" y="0"/>
          <a:ext cx="0" cy="0"/>
          <a:chOff x="0" y="0"/>
          <a:chExt cx="0" cy="0"/>
        </a:xfrm>
      </p:grpSpPr>
      <p:grpSp>
        <p:nvGrpSpPr>
          <p:cNvPr id="14" name="Group 13"/>
          <p:cNvGrpSpPr/>
          <p:nvPr userDrawn="1"/>
        </p:nvGrpSpPr>
        <p:grpSpPr>
          <a:xfrm>
            <a:off x="1" y="196553"/>
            <a:ext cx="8818178" cy="436548"/>
            <a:chOff x="1" y="196553"/>
            <a:chExt cx="8818178" cy="436548"/>
          </a:xfrm>
        </p:grpSpPr>
        <p:grpSp>
          <p:nvGrpSpPr>
            <p:cNvPr id="7" name="Group 16"/>
            <p:cNvGrpSpPr/>
            <p:nvPr userDrawn="1"/>
          </p:nvGrpSpPr>
          <p:grpSpPr>
            <a:xfrm>
              <a:off x="181429" y="415513"/>
              <a:ext cx="8636750" cy="4901"/>
              <a:chOff x="234968" y="1215613"/>
              <a:chExt cx="8665692" cy="4901"/>
            </a:xfrm>
          </p:grpSpPr>
          <p:cxnSp>
            <p:nvCxnSpPr>
              <p:cNvPr id="8" name="Straight Connector 7"/>
              <p:cNvCxnSpPr/>
              <p:nvPr userDrawn="1"/>
            </p:nvCxnSpPr>
            <p:spPr>
              <a:xfrm>
                <a:off x="247428" y="1219200"/>
                <a:ext cx="8653232" cy="1314"/>
              </a:xfrm>
              <a:prstGeom prst="line">
                <a:avLst/>
              </a:prstGeom>
              <a:ln w="384175" cap="rnd">
                <a:solidFill>
                  <a:srgbClr val="00B0F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234968" y="1215613"/>
                <a:ext cx="1781408" cy="4328"/>
              </a:xfrm>
              <a:prstGeom prst="line">
                <a:avLst/>
              </a:prstGeom>
              <a:ln w="330200" cap="rnd">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pic>
          <p:nvPicPr>
            <p:cNvPr id="29697" name="Picture 1"/>
            <p:cNvPicPr>
              <a:picLocks noChangeAspect="1" noChangeArrowheads="1"/>
            </p:cNvPicPr>
            <p:nvPr userDrawn="1"/>
          </p:nvPicPr>
          <p:blipFill>
            <a:blip r:embed="rId3" cstate="print"/>
            <a:srcRect/>
            <a:stretch>
              <a:fillRect/>
            </a:stretch>
          </p:blipFill>
          <p:spPr bwMode="auto">
            <a:xfrm>
              <a:off x="1" y="196553"/>
              <a:ext cx="185158" cy="436548"/>
            </a:xfrm>
            <a:prstGeom prst="rect">
              <a:avLst/>
            </a:prstGeom>
            <a:noFill/>
            <a:ln w="9525">
              <a:noFill/>
              <a:miter lim="800000"/>
              <a:headEnd/>
              <a:tailEnd/>
            </a:ln>
            <a:effectLst/>
          </p:spPr>
        </p:pic>
      </p:grpSp>
      <p:sp>
        <p:nvSpPr>
          <p:cNvPr id="3" name="Content Placeholder 2"/>
          <p:cNvSpPr>
            <a:spLocks noGrp="1"/>
          </p:cNvSpPr>
          <p:nvPr>
            <p:ph idx="1" hasCustomPrompt="1"/>
          </p:nvPr>
        </p:nvSpPr>
        <p:spPr>
          <a:xfrm>
            <a:off x="129654" y="5909481"/>
            <a:ext cx="8884693" cy="562696"/>
          </a:xfrm>
        </p:spPr>
        <p:txBody>
          <a:bodyPr>
            <a:normAutofit/>
          </a:bodyPr>
          <a:lstStyle>
            <a:lvl1pPr marL="0" indent="0">
              <a:buNone/>
              <a:defRPr sz="1800">
                <a:solidFill>
                  <a:srgbClr val="002060"/>
                </a:solidFill>
              </a:defRPr>
            </a:lvl1pPr>
            <a:lvl2pPr>
              <a:buNone/>
              <a:defRPr sz="1800">
                <a:solidFill>
                  <a:srgbClr val="002060"/>
                </a:solidFill>
              </a:defRPr>
            </a:lvl2pPr>
            <a:lvl3pPr>
              <a:buNone/>
              <a:defRPr sz="1800">
                <a:solidFill>
                  <a:srgbClr val="002060"/>
                </a:solidFill>
              </a:defRPr>
            </a:lvl3pPr>
            <a:lvl4pPr>
              <a:buNone/>
              <a:defRPr sz="1800">
                <a:solidFill>
                  <a:srgbClr val="002060"/>
                </a:solidFill>
              </a:defRPr>
            </a:lvl4pPr>
            <a:lvl5pPr>
              <a:buNone/>
              <a:defRPr sz="1800">
                <a:solidFill>
                  <a:srgbClr val="002060"/>
                </a:solidFill>
              </a:defRPr>
            </a:lvl5pPr>
          </a:lstStyle>
          <a:p>
            <a:pPr lvl="0"/>
            <a:r>
              <a:rPr lang="en-US" dirty="0"/>
              <a:t>Text </a:t>
            </a:r>
          </a:p>
        </p:txBody>
      </p:sp>
      <p:sp>
        <p:nvSpPr>
          <p:cNvPr id="5" name="Footer Placeholder 4"/>
          <p:cNvSpPr>
            <a:spLocks noGrp="1"/>
          </p:cNvSpPr>
          <p:nvPr>
            <p:ph type="ftr" sz="quarter" idx="11"/>
          </p:nvPr>
        </p:nvSpPr>
        <p:spPr>
          <a:xfrm>
            <a:off x="0" y="6483926"/>
            <a:ext cx="8680862" cy="409699"/>
          </a:xfrm>
        </p:spPr>
        <p:txBody>
          <a:bodyPr/>
          <a:lstStyle/>
          <a:p>
            <a:r>
              <a:rPr lang="en-US" dirty="0"/>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p:cNvSpPr>
            <a:spLocks noGrp="1"/>
          </p:cNvSpPr>
          <p:nvPr>
            <p:ph type="sldNum" sz="quarter" idx="12"/>
          </p:nvPr>
        </p:nvSpPr>
        <p:spPr/>
        <p:txBody>
          <a:bodyPr/>
          <a:lstStyle/>
          <a:p>
            <a:fld id="{A7433447-5B6D-461F-92B6-F60C76EA706E}" type="slidenum">
              <a:rPr lang="en-US" smtClean="0"/>
              <a:pPr/>
              <a:t>‹#›</a:t>
            </a:fld>
            <a:endParaRPr lang="en-US"/>
          </a:p>
        </p:txBody>
      </p:sp>
      <p:cxnSp>
        <p:nvCxnSpPr>
          <p:cNvPr id="10" name="Straight Connector 9"/>
          <p:cNvCxnSpPr/>
          <p:nvPr userDrawn="1"/>
        </p:nvCxnSpPr>
        <p:spPr>
          <a:xfrm>
            <a:off x="62049" y="6501450"/>
            <a:ext cx="9019903" cy="6531"/>
          </a:xfrm>
          <a:prstGeom prst="line">
            <a:avLst/>
          </a:prstGeom>
          <a:ln w="38100" cap="rnd">
            <a:solidFill>
              <a:srgbClr val="00ADEA"/>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2108498" y="237631"/>
            <a:ext cx="7014481" cy="358588"/>
          </a:xfrm>
        </p:spPr>
        <p:txBody>
          <a:bodyPr>
            <a:noAutofit/>
          </a:bodyPr>
          <a:lstStyle>
            <a:lvl1pPr algn="l">
              <a:defRPr sz="2800">
                <a:solidFill>
                  <a:schemeClr val="tx1"/>
                </a:solidFill>
              </a:defRPr>
            </a:lvl1pPr>
          </a:lstStyle>
          <a:p>
            <a:r>
              <a:rPr lang="en-US" dirty="0"/>
              <a:t>Title of figure</a:t>
            </a:r>
          </a:p>
        </p:txBody>
      </p:sp>
      <p:sp>
        <p:nvSpPr>
          <p:cNvPr id="15" name="Content Placeholder 14"/>
          <p:cNvSpPr>
            <a:spLocks noGrp="1"/>
          </p:cNvSpPr>
          <p:nvPr>
            <p:ph sz="quarter" idx="13" hasCustomPrompt="1"/>
          </p:nvPr>
        </p:nvSpPr>
        <p:spPr>
          <a:xfrm>
            <a:off x="132204" y="164775"/>
            <a:ext cx="2159000" cy="528637"/>
          </a:xfrm>
        </p:spPr>
        <p:txBody>
          <a:bodyPr>
            <a:normAutofit/>
          </a:bodyPr>
          <a:lstStyle>
            <a:lvl1pPr>
              <a:buNone/>
              <a:defRPr sz="2800">
                <a:solidFill>
                  <a:schemeClr val="bg1"/>
                </a:solidFill>
                <a:latin typeface="+mj-lt"/>
              </a:defRPr>
            </a:lvl1pPr>
          </a:lstStyle>
          <a:p>
            <a:pPr lvl="0"/>
            <a:r>
              <a:rPr lang="en-US" sz="2800" dirty="0">
                <a:solidFill>
                  <a:schemeClr val="bg1"/>
                </a:solidFill>
              </a:rPr>
              <a:t>FIGURE 1.13</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globalization">
    <p:bg>
      <p:bgPr>
        <a:blipFill dpi="0" rotWithShape="1">
          <a:blip r:embed="rId2" cstate="print">
            <a:lum/>
          </a:blip>
          <a:srcRect/>
          <a:stretch>
            <a:fillRect t="-57000" b="-57000"/>
          </a:stretch>
        </a:blip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465908" y="1061755"/>
            <a:ext cx="8678092" cy="5443"/>
          </a:xfrm>
          <a:prstGeom prst="line">
            <a:avLst/>
          </a:prstGeom>
          <a:ln w="101600" cap="rnd">
            <a:solidFill>
              <a:srgbClr val="00ADEA"/>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099" name="Picture 3" descr="C:\Users\Andreea\Desktop\Carbaugh\pic\global.bmp"/>
          <p:cNvPicPr>
            <a:picLocks noChangeAspect="1" noChangeArrowheads="1"/>
          </p:cNvPicPr>
          <p:nvPr userDrawn="1"/>
        </p:nvPicPr>
        <p:blipFill>
          <a:blip r:embed="rId3" cstate="print"/>
          <a:srcRect/>
          <a:stretch>
            <a:fillRect/>
          </a:stretch>
        </p:blipFill>
        <p:spPr bwMode="auto">
          <a:xfrm>
            <a:off x="0" y="0"/>
            <a:ext cx="1884179" cy="1112704"/>
          </a:xfrm>
          <a:prstGeom prst="rect">
            <a:avLst/>
          </a:prstGeom>
          <a:noFill/>
        </p:spPr>
      </p:pic>
      <p:sp>
        <p:nvSpPr>
          <p:cNvPr id="2" name="Title 1"/>
          <p:cNvSpPr>
            <a:spLocks noGrp="1"/>
          </p:cNvSpPr>
          <p:nvPr>
            <p:ph type="title"/>
          </p:nvPr>
        </p:nvSpPr>
        <p:spPr>
          <a:xfrm>
            <a:off x="1861850" y="84138"/>
            <a:ext cx="7129749" cy="944562"/>
          </a:xfrm>
        </p:spPr>
        <p:txBody>
          <a:bodyPr>
            <a:normAutofit/>
          </a:bodyPr>
          <a:lstStyle>
            <a:lvl1pPr>
              <a:defRPr sz="4200">
                <a:solidFill>
                  <a:srgbClr val="C00000"/>
                </a:solidFill>
              </a:defRPr>
            </a:lvl1pPr>
          </a:lstStyle>
          <a:p>
            <a:r>
              <a:rPr lang="en-US" dirty="0"/>
              <a:t>Click to edit Master title style</a:t>
            </a:r>
          </a:p>
        </p:txBody>
      </p:sp>
      <p:sp>
        <p:nvSpPr>
          <p:cNvPr id="3" name="Content Placeholder 2"/>
          <p:cNvSpPr>
            <a:spLocks noGrp="1"/>
          </p:cNvSpPr>
          <p:nvPr>
            <p:ph idx="1"/>
          </p:nvPr>
        </p:nvSpPr>
        <p:spPr>
          <a:xfrm>
            <a:off x="190280" y="1211855"/>
            <a:ext cx="8801320" cy="536106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483926"/>
            <a:ext cx="8704613" cy="409699"/>
          </a:xfrm>
        </p:spPr>
        <p:txBody>
          <a:bodyPr/>
          <a:lstStyle/>
          <a:p>
            <a:r>
              <a:rPr lang="en-US" dirty="0"/>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p:cNvSpPr>
            <a:spLocks noGrp="1"/>
          </p:cNvSpPr>
          <p:nvPr>
            <p:ph type="sldNum" sz="quarter" idx="12"/>
          </p:nvPr>
        </p:nvSpPr>
        <p:spPr/>
        <p:txBody>
          <a:bodyPr/>
          <a:lstStyle/>
          <a:p>
            <a:fld id="{A7433447-5B6D-461F-92B6-F60C76EA706E}" type="slidenum">
              <a:rPr lang="en-US" smtClean="0"/>
              <a:pPr/>
              <a:t>‹#›</a:t>
            </a:fld>
            <a:endParaRPr lang="en-US"/>
          </a:p>
        </p:txBody>
      </p:sp>
      <p:cxnSp>
        <p:nvCxnSpPr>
          <p:cNvPr id="10" name="Straight Connector 9"/>
          <p:cNvCxnSpPr/>
          <p:nvPr userDrawn="1"/>
        </p:nvCxnSpPr>
        <p:spPr>
          <a:xfrm>
            <a:off x="62049" y="6489575"/>
            <a:ext cx="9019903" cy="6531"/>
          </a:xfrm>
          <a:prstGeom prst="line">
            <a:avLst/>
          </a:prstGeom>
          <a:ln w="38100" cap="rnd">
            <a:solidFill>
              <a:srgbClr val="00ADEA"/>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a:xfrm>
            <a:off x="0" y="330504"/>
            <a:ext cx="1861851" cy="400110"/>
          </a:xfrm>
          <a:prstGeom prst="rect">
            <a:avLst/>
          </a:prstGeom>
          <a:noFill/>
        </p:spPr>
        <p:txBody>
          <a:bodyPr wrap="square" rtlCol="0">
            <a:spAutoFit/>
          </a:bodyPr>
          <a:lstStyle/>
          <a:p>
            <a:pPr algn="ctr"/>
            <a:r>
              <a:rPr lang="en-US" sz="2000" dirty="0">
                <a:solidFill>
                  <a:schemeClr val="bg1"/>
                </a:solidFill>
              </a:rPr>
              <a:t>GLOBALIZATION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rade conflicts">
    <p:bg>
      <p:bgPr>
        <a:blipFill dpi="0" rotWithShape="1">
          <a:blip r:embed="rId2" cstate="print">
            <a:lum/>
          </a:blip>
          <a:srcRect/>
          <a:stretch>
            <a:fillRect t="-57000" b="-57000"/>
          </a:stretch>
        </a:blip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465908" y="1061755"/>
            <a:ext cx="8678092" cy="5443"/>
          </a:xfrm>
          <a:prstGeom prst="line">
            <a:avLst/>
          </a:prstGeom>
          <a:ln w="101600" cap="rnd">
            <a:solidFill>
              <a:srgbClr val="00ADEA"/>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099" name="Picture 3" descr="C:\Users\Andreea\Desktop\Carbaugh\pic\global.bmp"/>
          <p:cNvPicPr>
            <a:picLocks noChangeAspect="1" noChangeArrowheads="1"/>
          </p:cNvPicPr>
          <p:nvPr userDrawn="1"/>
        </p:nvPicPr>
        <p:blipFill>
          <a:blip r:embed="rId3" cstate="print"/>
          <a:srcRect/>
          <a:stretch>
            <a:fillRect/>
          </a:stretch>
        </p:blipFill>
        <p:spPr bwMode="auto">
          <a:xfrm>
            <a:off x="0" y="0"/>
            <a:ext cx="1884179" cy="1112704"/>
          </a:xfrm>
          <a:prstGeom prst="rect">
            <a:avLst/>
          </a:prstGeom>
          <a:noFill/>
        </p:spPr>
      </p:pic>
      <p:sp>
        <p:nvSpPr>
          <p:cNvPr id="2" name="Title 1"/>
          <p:cNvSpPr>
            <a:spLocks noGrp="1"/>
          </p:cNvSpPr>
          <p:nvPr>
            <p:ph type="title"/>
          </p:nvPr>
        </p:nvSpPr>
        <p:spPr>
          <a:xfrm>
            <a:off x="1861850" y="84138"/>
            <a:ext cx="7129749" cy="944562"/>
          </a:xfrm>
        </p:spPr>
        <p:txBody>
          <a:bodyPr>
            <a:normAutofit/>
          </a:bodyPr>
          <a:lstStyle>
            <a:lvl1pPr>
              <a:defRPr sz="4200">
                <a:solidFill>
                  <a:srgbClr val="C00000"/>
                </a:solidFill>
              </a:defRPr>
            </a:lvl1pPr>
          </a:lstStyle>
          <a:p>
            <a:r>
              <a:rPr lang="en-US" dirty="0"/>
              <a:t>Click to edit Master title style</a:t>
            </a:r>
          </a:p>
        </p:txBody>
      </p:sp>
      <p:sp>
        <p:nvSpPr>
          <p:cNvPr id="3" name="Content Placeholder 2"/>
          <p:cNvSpPr>
            <a:spLocks noGrp="1"/>
          </p:cNvSpPr>
          <p:nvPr>
            <p:ph idx="1"/>
          </p:nvPr>
        </p:nvSpPr>
        <p:spPr>
          <a:xfrm>
            <a:off x="190280" y="1211855"/>
            <a:ext cx="8801320" cy="536106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483926"/>
            <a:ext cx="8704613" cy="409699"/>
          </a:xfrm>
        </p:spPr>
        <p:txBody>
          <a:bodyPr/>
          <a:lstStyle/>
          <a:p>
            <a:r>
              <a:rPr lang="en-US" dirty="0"/>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p:cNvSpPr>
            <a:spLocks noGrp="1"/>
          </p:cNvSpPr>
          <p:nvPr>
            <p:ph type="sldNum" sz="quarter" idx="12"/>
          </p:nvPr>
        </p:nvSpPr>
        <p:spPr/>
        <p:txBody>
          <a:bodyPr/>
          <a:lstStyle/>
          <a:p>
            <a:fld id="{A7433447-5B6D-461F-92B6-F60C76EA706E}" type="slidenum">
              <a:rPr lang="en-US" smtClean="0"/>
              <a:pPr/>
              <a:t>‹#›</a:t>
            </a:fld>
            <a:endParaRPr lang="en-US"/>
          </a:p>
        </p:txBody>
      </p:sp>
      <p:cxnSp>
        <p:nvCxnSpPr>
          <p:cNvPr id="10" name="Straight Connector 9"/>
          <p:cNvCxnSpPr/>
          <p:nvPr userDrawn="1"/>
        </p:nvCxnSpPr>
        <p:spPr>
          <a:xfrm>
            <a:off x="62049" y="6489575"/>
            <a:ext cx="9019903" cy="6531"/>
          </a:xfrm>
          <a:prstGeom prst="line">
            <a:avLst/>
          </a:prstGeom>
          <a:ln w="38100" cap="rnd">
            <a:solidFill>
              <a:srgbClr val="00ADEA"/>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a:xfrm>
            <a:off x="0" y="154232"/>
            <a:ext cx="1861851" cy="707886"/>
          </a:xfrm>
          <a:prstGeom prst="rect">
            <a:avLst/>
          </a:prstGeom>
          <a:noFill/>
        </p:spPr>
        <p:txBody>
          <a:bodyPr wrap="square" rtlCol="0">
            <a:spAutoFit/>
          </a:bodyPr>
          <a:lstStyle/>
          <a:p>
            <a:pPr algn="ctr"/>
            <a:r>
              <a:rPr lang="en-US" sz="2000" dirty="0">
                <a:solidFill>
                  <a:schemeClr val="bg1"/>
                </a:solidFill>
              </a:rPr>
              <a:t>TRADE CONFLICTS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6448301"/>
            <a:ext cx="9144000" cy="409699"/>
          </a:xfrm>
          <a:prstGeom prst="rect">
            <a:avLst/>
          </a:prstGeom>
        </p:spPr>
        <p:txBody>
          <a:bodyPr vert="horz" lIns="91440" tIns="45720" rIns="91440" bIns="45720" rtlCol="0" anchor="b"/>
          <a:lstStyle>
            <a:lvl1pPr algn="l">
              <a:defRPr sz="1100">
                <a:solidFill>
                  <a:schemeClr val="tx1">
                    <a:lumMod val="95000"/>
                    <a:lumOff val="5000"/>
                  </a:schemeClr>
                </a:solidFill>
              </a:defRPr>
            </a:lvl1pPr>
          </a:lstStyle>
          <a:p>
            <a:r>
              <a:rPr lang="en-US" dirty="0"/>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b"/>
          <a:lstStyle>
            <a:lvl1pPr algn="r">
              <a:defRPr sz="1200">
                <a:solidFill>
                  <a:srgbClr val="0070C0"/>
                </a:solidFill>
              </a:defRPr>
            </a:lvl1pPr>
          </a:lstStyle>
          <a:p>
            <a:fld id="{A7433447-5B6D-461F-92B6-F60C76EA706E}"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7" r:id="rId2"/>
    <p:sldLayoutId id="2147483650" r:id="rId3"/>
    <p:sldLayoutId id="2147483658" r:id="rId4"/>
    <p:sldLayoutId id="2147483659" r:id="rId5"/>
    <p:sldLayoutId id="2147483660" r:id="rId6"/>
    <p:sldLayoutId id="2147483661" r:id="rId7"/>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itchFamily="34" charset="0"/>
        <a:buChar char="•"/>
        <a:defRPr sz="3200" kern="1200">
          <a:solidFill>
            <a:srgbClr val="002060"/>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800" kern="1200">
          <a:solidFill>
            <a:srgbClr val="002060"/>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400" kern="1200">
          <a:solidFill>
            <a:srgbClr val="002060"/>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400" kern="1200">
          <a:solidFill>
            <a:srgbClr val="00206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3254375"/>
            <a:ext cx="7772400" cy="1470025"/>
          </a:xfrm>
        </p:spPr>
        <p:txBody>
          <a:bodyPr/>
          <a:lstStyle/>
          <a:p>
            <a:r>
              <a:rPr lang="en-US" dirty="0"/>
              <a:t>The International Economy</a:t>
            </a:r>
            <a:br>
              <a:rPr lang="en-US" dirty="0"/>
            </a:br>
            <a:r>
              <a:rPr lang="en-US" dirty="0"/>
              <a:t>and Globalization</a:t>
            </a:r>
          </a:p>
        </p:txBody>
      </p:sp>
      <p:sp>
        <p:nvSpPr>
          <p:cNvPr id="5" name="Slide Number Placeholder 4"/>
          <p:cNvSpPr>
            <a:spLocks noGrp="1"/>
          </p:cNvSpPr>
          <p:nvPr>
            <p:ph type="sldNum" sz="quarter" idx="12"/>
          </p:nvPr>
        </p:nvSpPr>
        <p:spPr/>
        <p:txBody>
          <a:bodyPr/>
          <a:lstStyle/>
          <a:p>
            <a:fld id="{A7433447-5B6D-461F-92B6-F60C76EA706E}"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International Economy</a:t>
            </a:r>
          </a:p>
        </p:txBody>
      </p:sp>
      <p:sp>
        <p:nvSpPr>
          <p:cNvPr id="3" name="Content Placeholder 2"/>
          <p:cNvSpPr>
            <a:spLocks noGrp="1"/>
          </p:cNvSpPr>
          <p:nvPr>
            <p:ph idx="1"/>
          </p:nvPr>
        </p:nvSpPr>
        <p:spPr/>
        <p:txBody>
          <a:bodyPr>
            <a:normAutofit/>
          </a:bodyPr>
          <a:lstStyle/>
          <a:p>
            <a:r>
              <a:rPr lang="en-US" dirty="0"/>
              <a:t>High degree of economic interdependence</a:t>
            </a:r>
          </a:p>
          <a:p>
            <a:pPr lvl="1"/>
            <a:r>
              <a:rPr lang="en-US" dirty="0"/>
              <a:t>No nation exists in economic isolation</a:t>
            </a:r>
          </a:p>
          <a:p>
            <a:pPr lvl="1"/>
            <a:r>
              <a:rPr lang="en-US" dirty="0"/>
              <a:t>All aspects of a nation’s economy are linked to the economies of its trading partners</a:t>
            </a:r>
          </a:p>
          <a:p>
            <a:pPr lvl="1"/>
            <a:r>
              <a:rPr lang="en-US" dirty="0"/>
              <a:t>Reflects the historical evolution of the world’s economic and political order</a:t>
            </a:r>
          </a:p>
          <a:p>
            <a:pPr lvl="1"/>
            <a:r>
              <a:rPr lang="en-US" dirty="0"/>
              <a:t>Complex and its effects uneven</a:t>
            </a:r>
          </a:p>
        </p:txBody>
      </p:sp>
      <p:sp>
        <p:nvSpPr>
          <p:cNvPr id="5" name="Slide Number Placeholder 4"/>
          <p:cNvSpPr>
            <a:spLocks noGrp="1"/>
          </p:cNvSpPr>
          <p:nvPr>
            <p:ph type="sldNum" sz="quarter" idx="12"/>
          </p:nvPr>
        </p:nvSpPr>
        <p:spPr/>
        <p:txBody>
          <a:bodyPr/>
          <a:lstStyle/>
          <a:p>
            <a:fld id="{A7433447-5B6D-461F-92B6-F60C76EA706E}"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International Economy</a:t>
            </a:r>
          </a:p>
        </p:txBody>
      </p:sp>
      <p:sp>
        <p:nvSpPr>
          <p:cNvPr id="3" name="Content Placeholder 2"/>
          <p:cNvSpPr>
            <a:spLocks noGrp="1"/>
          </p:cNvSpPr>
          <p:nvPr>
            <p:ph idx="1"/>
          </p:nvPr>
        </p:nvSpPr>
        <p:spPr/>
        <p:txBody>
          <a:bodyPr>
            <a:normAutofit/>
          </a:bodyPr>
          <a:lstStyle/>
          <a:p>
            <a:r>
              <a:rPr lang="en-US" dirty="0"/>
              <a:t>High degree of economic interdependence</a:t>
            </a:r>
          </a:p>
          <a:p>
            <a:pPr lvl="1"/>
            <a:r>
              <a:rPr lang="en-US" dirty="0"/>
              <a:t>Steps toward international cooperation</a:t>
            </a:r>
          </a:p>
          <a:p>
            <a:pPr lvl="1"/>
            <a:r>
              <a:rPr lang="en-US" dirty="0"/>
              <a:t>Mutually advantageous for trading nations</a:t>
            </a:r>
          </a:p>
          <a:p>
            <a:pPr lvl="2"/>
            <a:r>
              <a:rPr lang="en-US" dirty="0"/>
              <a:t>Specialization, efficiencies of large scale production</a:t>
            </a:r>
          </a:p>
          <a:p>
            <a:pPr lvl="2"/>
            <a:r>
              <a:rPr lang="en-US" dirty="0"/>
              <a:t>Wider variety of products at lower cost</a:t>
            </a:r>
          </a:p>
          <a:p>
            <a:pPr lvl="1"/>
            <a:r>
              <a:rPr lang="en-US" dirty="0"/>
              <a:t>Protectionist pressures </a:t>
            </a:r>
          </a:p>
          <a:p>
            <a:pPr lvl="1"/>
            <a:r>
              <a:rPr lang="en-US" dirty="0"/>
              <a:t>Developing nations</a:t>
            </a:r>
          </a:p>
          <a:p>
            <a:pPr lvl="2"/>
            <a:r>
              <a:rPr lang="en-US" dirty="0"/>
              <a:t>Liberalized trading system - serves to keep the developing nations in poverty</a:t>
            </a:r>
          </a:p>
        </p:txBody>
      </p:sp>
      <p:sp>
        <p:nvSpPr>
          <p:cNvPr id="4" name="Footer Placeholder 3"/>
          <p:cNvSpPr>
            <a:spLocks noGrp="1"/>
          </p:cNvSpPr>
          <p:nvPr>
            <p:ph type="ftr" sz="quarter" idx="11"/>
          </p:nvPr>
        </p:nvSpPr>
        <p:spPr/>
        <p:txBody>
          <a:bodyPr/>
          <a:lstStyle/>
          <a:p>
            <a:r>
              <a:rPr lang="en-US">
                <a:solidFill>
                  <a:schemeClr val="tx1"/>
                </a:solidFill>
                <a:cs typeface="Arial" pitchFamily="34" charset="0"/>
              </a:rPr>
              <a:t>© 2011 Cengage Learning. All Rights Reserved. May not be copied, scanned, or duplicated, in whole or in part, except for use as permitted in a license distributed with a certain product or service or otherwise on a password‐protected website for classroom use</a:t>
            </a:r>
            <a:endParaRPr lang="en-US" dirty="0">
              <a:solidFill>
                <a:schemeClr val="tx1"/>
              </a:solidFill>
            </a:endParaRPr>
          </a:p>
        </p:txBody>
      </p:sp>
      <p:sp>
        <p:nvSpPr>
          <p:cNvPr id="5" name="Slide Number Placeholder 4"/>
          <p:cNvSpPr>
            <a:spLocks noGrp="1"/>
          </p:cNvSpPr>
          <p:nvPr>
            <p:ph type="sldNum" sz="quarter" idx="12"/>
          </p:nvPr>
        </p:nvSpPr>
        <p:spPr/>
        <p:txBody>
          <a:bodyPr/>
          <a:lstStyle/>
          <a:p>
            <a:fld id="{A7433447-5B6D-461F-92B6-F60C76EA706E}"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Globalization of Economic Activity</a:t>
            </a:r>
          </a:p>
        </p:txBody>
      </p:sp>
      <p:sp>
        <p:nvSpPr>
          <p:cNvPr id="3" name="Content Placeholder 2"/>
          <p:cNvSpPr>
            <a:spLocks noGrp="1"/>
          </p:cNvSpPr>
          <p:nvPr>
            <p:ph idx="1"/>
          </p:nvPr>
        </p:nvSpPr>
        <p:spPr/>
        <p:txBody>
          <a:bodyPr>
            <a:normAutofit/>
          </a:bodyPr>
          <a:lstStyle/>
          <a:p>
            <a:r>
              <a:rPr lang="en-US" dirty="0"/>
              <a:t>Globalization </a:t>
            </a:r>
          </a:p>
          <a:p>
            <a:pPr lvl="1"/>
            <a:r>
              <a:rPr lang="en-US" dirty="0"/>
              <a:t>Greater interdependence</a:t>
            </a:r>
          </a:p>
          <a:p>
            <a:pPr lvl="2"/>
            <a:r>
              <a:rPr lang="en-US" dirty="0"/>
              <a:t>Countries and their citizens</a:t>
            </a:r>
          </a:p>
          <a:p>
            <a:pPr lvl="1"/>
            <a:r>
              <a:rPr lang="en-US" dirty="0"/>
              <a:t>International flows </a:t>
            </a:r>
          </a:p>
          <a:p>
            <a:pPr lvl="2"/>
            <a:r>
              <a:rPr lang="en-US" dirty="0"/>
              <a:t>Goods and services</a:t>
            </a:r>
          </a:p>
          <a:p>
            <a:pPr lvl="2"/>
            <a:r>
              <a:rPr lang="en-US" dirty="0"/>
              <a:t>People</a:t>
            </a:r>
          </a:p>
          <a:p>
            <a:pPr lvl="2"/>
            <a:r>
              <a:rPr lang="en-US" dirty="0"/>
              <a:t>Investments in equipment, factories, stocks, bonds</a:t>
            </a:r>
          </a:p>
          <a:p>
            <a:pPr lvl="2"/>
            <a:r>
              <a:rPr lang="en-US" dirty="0"/>
              <a:t>Non-economic elements</a:t>
            </a:r>
          </a:p>
          <a:p>
            <a:pPr lvl="3"/>
            <a:r>
              <a:rPr lang="en-US" dirty="0"/>
              <a:t>Culture and the environment</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Globalization of Economic Activity</a:t>
            </a:r>
          </a:p>
        </p:txBody>
      </p:sp>
      <p:sp>
        <p:nvSpPr>
          <p:cNvPr id="3" name="Content Placeholder 2"/>
          <p:cNvSpPr>
            <a:spLocks noGrp="1"/>
          </p:cNvSpPr>
          <p:nvPr>
            <p:ph idx="1"/>
          </p:nvPr>
        </p:nvSpPr>
        <p:spPr/>
        <p:txBody>
          <a:bodyPr>
            <a:normAutofit/>
          </a:bodyPr>
          <a:lstStyle/>
          <a:p>
            <a:r>
              <a:rPr lang="en-US" dirty="0"/>
              <a:t>What forces are driving globalization?</a:t>
            </a:r>
          </a:p>
          <a:p>
            <a:pPr lvl="1"/>
            <a:r>
              <a:rPr lang="en-US" dirty="0"/>
              <a:t>Technological change</a:t>
            </a:r>
          </a:p>
          <a:p>
            <a:pPr lvl="1"/>
            <a:r>
              <a:rPr lang="en-US" dirty="0"/>
              <a:t>Multilateral trade negotiations</a:t>
            </a:r>
          </a:p>
          <a:p>
            <a:pPr lvl="2"/>
            <a:r>
              <a:rPr lang="en-US" dirty="0"/>
              <a:t>Continuing liberalization of trade and investment</a:t>
            </a:r>
          </a:p>
          <a:p>
            <a:pPr lvl="1"/>
            <a:r>
              <a:rPr lang="en-US" dirty="0"/>
              <a:t>Widespread liberalization of investment transactions</a:t>
            </a:r>
          </a:p>
          <a:p>
            <a:pPr lvl="1"/>
            <a:r>
              <a:rPr lang="en-US" dirty="0"/>
              <a:t>Development of international financial markets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a:bodyPr>
          <a:lstStyle/>
          <a:p>
            <a:r>
              <a:rPr lang="en-US" dirty="0"/>
              <a:t>First Wave of Globalization: 1870–1914</a:t>
            </a:r>
          </a:p>
          <a:p>
            <a:pPr lvl="1"/>
            <a:r>
              <a:rPr lang="en-US" dirty="0"/>
              <a:t>Decreases in tariff barriers &amp; new technologies</a:t>
            </a:r>
          </a:p>
          <a:p>
            <a:pPr lvl="2"/>
            <a:r>
              <a:rPr lang="en-US" dirty="0"/>
              <a:t>Declining transportation costs</a:t>
            </a:r>
          </a:p>
          <a:p>
            <a:pPr lvl="3"/>
            <a:r>
              <a:rPr lang="en-US" dirty="0"/>
              <a:t>Shift from sail to steamships; Railways</a:t>
            </a:r>
          </a:p>
          <a:p>
            <a:pPr lvl="1"/>
            <a:r>
              <a:rPr lang="en-US" dirty="0"/>
              <a:t>Driven by European and American businesses and individuals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a:bodyPr>
          <a:lstStyle/>
          <a:p>
            <a:r>
              <a:rPr lang="en-US" dirty="0"/>
              <a:t>First Wave of Globalization: 1870–1914</a:t>
            </a:r>
          </a:p>
          <a:p>
            <a:pPr lvl="1"/>
            <a:r>
              <a:rPr lang="en-US" dirty="0"/>
              <a:t>Exports as a share of world income</a:t>
            </a:r>
          </a:p>
          <a:p>
            <a:pPr lvl="2"/>
            <a:r>
              <a:rPr lang="en-US" dirty="0"/>
              <a:t>Nearly doubled to 8%</a:t>
            </a:r>
          </a:p>
          <a:p>
            <a:pPr lvl="1"/>
            <a:r>
              <a:rPr lang="en-US" dirty="0"/>
              <a:t>Per capita incomes increased 1.3% per year</a:t>
            </a:r>
          </a:p>
          <a:p>
            <a:pPr lvl="2"/>
            <a:r>
              <a:rPr lang="en-US" dirty="0"/>
              <a:t>Previous 50 years: 0.5% per year</a:t>
            </a:r>
          </a:p>
          <a:p>
            <a:pPr lvl="1"/>
            <a:r>
              <a:rPr lang="en-US" dirty="0"/>
              <a:t>Countries that actively participated in globalization</a:t>
            </a:r>
          </a:p>
          <a:p>
            <a:pPr lvl="2"/>
            <a:r>
              <a:rPr lang="en-US" dirty="0"/>
              <a:t>Became the richest countries in the world</a:t>
            </a:r>
          </a:p>
          <a:p>
            <a:pPr lvl="1"/>
            <a:r>
              <a:rPr lang="en-US" dirty="0"/>
              <a:t>Brought to an end by World War I</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a:bodyPr>
          <a:lstStyle/>
          <a:p>
            <a:r>
              <a:rPr lang="en-US" dirty="0"/>
              <a:t>Great Depression of the 1930s</a:t>
            </a:r>
          </a:p>
          <a:p>
            <a:pPr lvl="1"/>
            <a:r>
              <a:rPr lang="en-US" dirty="0"/>
              <a:t>Governments – protectionism</a:t>
            </a:r>
          </a:p>
          <a:p>
            <a:pPr lvl="2"/>
            <a:r>
              <a:rPr lang="en-US" dirty="0"/>
              <a:t>Tariffs on imports</a:t>
            </a:r>
          </a:p>
          <a:p>
            <a:pPr lvl="3"/>
            <a:r>
              <a:rPr lang="en-US" dirty="0"/>
              <a:t>Try to shift demand into domestic markets</a:t>
            </a:r>
          </a:p>
          <a:p>
            <a:pPr lvl="4"/>
            <a:r>
              <a:rPr lang="en-US" dirty="0"/>
              <a:t>Promote sales for domestic companies</a:t>
            </a:r>
          </a:p>
          <a:p>
            <a:pPr lvl="4"/>
            <a:r>
              <a:rPr lang="en-US" dirty="0"/>
              <a:t>Promote jobs for domestic workers</a:t>
            </a:r>
          </a:p>
          <a:p>
            <a:pPr lvl="1"/>
            <a:r>
              <a:rPr lang="en-US" dirty="0"/>
              <a:t>Exports as a share of national income</a:t>
            </a:r>
          </a:p>
          <a:p>
            <a:pPr lvl="2"/>
            <a:r>
              <a:rPr lang="en-US" dirty="0"/>
              <a:t>Falls to 5%</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a:bodyPr>
          <a:lstStyle/>
          <a:p>
            <a:r>
              <a:rPr lang="en-US" dirty="0"/>
              <a:t>Second Wave of Globalization: 1945–1980</a:t>
            </a:r>
          </a:p>
          <a:p>
            <a:pPr lvl="1"/>
            <a:r>
              <a:rPr lang="en-US" dirty="0"/>
              <a:t>Horrors of the retreat into nationalism</a:t>
            </a:r>
          </a:p>
          <a:p>
            <a:pPr lvl="1"/>
            <a:r>
              <a:rPr lang="en-US" dirty="0"/>
              <a:t>Falling transportation costs</a:t>
            </a:r>
          </a:p>
          <a:p>
            <a:pPr lvl="1"/>
            <a:r>
              <a:rPr lang="en-US" dirty="0"/>
              <a:t>Decrease previously established trade barriers</a:t>
            </a:r>
          </a:p>
          <a:p>
            <a:pPr lvl="1"/>
            <a:r>
              <a:rPr lang="en-US" dirty="0"/>
              <a:t>Trade liberalization – discrimination </a:t>
            </a:r>
          </a:p>
          <a:p>
            <a:pPr lvl="2"/>
            <a:r>
              <a:rPr lang="en-US" dirty="0"/>
              <a:t>Which countries participated</a:t>
            </a:r>
          </a:p>
          <a:p>
            <a:pPr lvl="2"/>
            <a:r>
              <a:rPr lang="en-US" dirty="0"/>
              <a:t>Which products were included</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a:bodyPr>
          <a:lstStyle/>
          <a:p>
            <a:r>
              <a:rPr lang="en-US" dirty="0"/>
              <a:t>Trade liberalization – discrimination </a:t>
            </a:r>
          </a:p>
          <a:p>
            <a:pPr lvl="1"/>
            <a:r>
              <a:rPr lang="en-US" dirty="0"/>
              <a:t>Developed countries, manufactured goods</a:t>
            </a:r>
          </a:p>
          <a:p>
            <a:pPr lvl="2"/>
            <a:r>
              <a:rPr lang="en-US" dirty="0"/>
              <a:t>Largely freed of barriers</a:t>
            </a:r>
          </a:p>
          <a:p>
            <a:pPr lvl="3"/>
            <a:r>
              <a:rPr lang="en-US" dirty="0"/>
              <a:t>Greatly increased the exchange of manufactured goods</a:t>
            </a:r>
          </a:p>
          <a:p>
            <a:pPr lvl="3"/>
            <a:r>
              <a:rPr lang="en-US" dirty="0"/>
              <a:t>Raise the incomes of developed countries  </a:t>
            </a:r>
          </a:p>
          <a:p>
            <a:pPr lvl="1"/>
            <a:r>
              <a:rPr lang="en-US" dirty="0"/>
              <a:t>Developing countries</a:t>
            </a:r>
          </a:p>
          <a:p>
            <a:pPr lvl="2"/>
            <a:r>
              <a:rPr lang="en-US" dirty="0"/>
              <a:t>Eliminate barriers only for those agricultural products that did not compete with agriculture in developed countries</a:t>
            </a:r>
          </a:p>
          <a:p>
            <a:pPr lvl="2"/>
            <a:r>
              <a:rPr lang="en-US" dirty="0"/>
              <a:t>Manufactured goods - sizable barriers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a:bodyPr>
          <a:lstStyle/>
          <a:p>
            <a:r>
              <a:rPr lang="en-US" dirty="0"/>
              <a:t>Second Wave of Globalization: 1945–1980</a:t>
            </a:r>
          </a:p>
          <a:p>
            <a:pPr lvl="1"/>
            <a:r>
              <a:rPr lang="en-US" dirty="0"/>
              <a:t>New kind of trade</a:t>
            </a:r>
          </a:p>
          <a:p>
            <a:pPr lvl="2"/>
            <a:r>
              <a:rPr lang="en-US" dirty="0"/>
              <a:t>Rich country specialization in manufacturing niches</a:t>
            </a:r>
          </a:p>
          <a:p>
            <a:pPr lvl="3"/>
            <a:r>
              <a:rPr lang="en-US" dirty="0"/>
              <a:t>Gained productivity through agglomeration economies</a:t>
            </a:r>
          </a:p>
          <a:p>
            <a:pPr lvl="4"/>
            <a:r>
              <a:rPr lang="en-US" dirty="0"/>
              <a:t>Firms clustered together</a:t>
            </a:r>
          </a:p>
          <a:p>
            <a:pPr lvl="4"/>
            <a:r>
              <a:rPr lang="en-US" dirty="0"/>
              <a:t>Some clusters produced the same product</a:t>
            </a:r>
          </a:p>
          <a:p>
            <a:pPr lvl="4"/>
            <a:r>
              <a:rPr lang="en-US" dirty="0"/>
              <a:t>Others were connected by vertical linkages</a:t>
            </a:r>
          </a:p>
          <a:p>
            <a:pPr lvl="1"/>
            <a:r>
              <a:rPr lang="en-US" dirty="0"/>
              <a:t>Agglomeration economies </a:t>
            </a:r>
          </a:p>
          <a:p>
            <a:pPr lvl="2"/>
            <a:r>
              <a:rPr lang="en-US" dirty="0"/>
              <a:t>Benefit those in the clusters</a:t>
            </a:r>
          </a:p>
          <a:p>
            <a:pPr lvl="2"/>
            <a:r>
              <a:rPr lang="en-US" dirty="0"/>
              <a:t>Bad news for those who are left out</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a:bodyPr>
          <a:lstStyle/>
          <a:p>
            <a:r>
              <a:rPr lang="en-US" dirty="0"/>
              <a:t>Second Wave of Globalization: 1945–1980</a:t>
            </a:r>
          </a:p>
          <a:p>
            <a:pPr lvl="1"/>
            <a:r>
              <a:rPr lang="en-US" dirty="0"/>
              <a:t>Most developing countries</a:t>
            </a:r>
          </a:p>
          <a:p>
            <a:pPr lvl="2"/>
            <a:r>
              <a:rPr lang="en-US" dirty="0"/>
              <a:t>Did not participate in the growth of global trade in manufacturing and services</a:t>
            </a:r>
          </a:p>
          <a:p>
            <a:pPr lvl="3"/>
            <a:r>
              <a:rPr lang="en-US" dirty="0"/>
              <a:t>Continuing trade barriers in developed countries</a:t>
            </a:r>
          </a:p>
          <a:p>
            <a:pPr lvl="3"/>
            <a:r>
              <a:rPr lang="en-US" dirty="0"/>
              <a:t>Unfavorable investment climates</a:t>
            </a:r>
          </a:p>
          <a:p>
            <a:pPr lvl="3"/>
            <a:r>
              <a:rPr lang="en-US" dirty="0"/>
              <a:t>Antitrade policies in developing countries</a:t>
            </a:r>
          </a:p>
          <a:p>
            <a:pPr lvl="2"/>
            <a:r>
              <a:rPr lang="en-US" dirty="0"/>
              <a:t>Dependence on agricultural and natural-resource products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a:bodyPr>
          <a:lstStyle/>
          <a:p>
            <a:r>
              <a:rPr lang="en-US" dirty="0"/>
              <a:t>Second Wave of Globalization: 1945–1980</a:t>
            </a:r>
          </a:p>
          <a:p>
            <a:pPr lvl="1"/>
            <a:r>
              <a:rPr lang="en-US" dirty="0"/>
              <a:t>Increased per capita incomes within the developed countries</a:t>
            </a:r>
          </a:p>
          <a:p>
            <a:pPr lvl="1"/>
            <a:r>
              <a:rPr lang="en-US" dirty="0"/>
              <a:t>Developing countries as a group were being left behind</a:t>
            </a:r>
          </a:p>
          <a:p>
            <a:pPr lvl="1"/>
            <a:r>
              <a:rPr lang="en-US" dirty="0"/>
              <a:t>World inequality</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a:bodyPr>
          <a:lstStyle/>
          <a:p>
            <a:r>
              <a:rPr lang="en-US" dirty="0"/>
              <a:t>Latest Wave of Globalization, began in 1980</a:t>
            </a:r>
          </a:p>
          <a:p>
            <a:pPr lvl="1"/>
            <a:r>
              <a:rPr lang="en-US" dirty="0"/>
              <a:t>A large number of developing countries</a:t>
            </a:r>
          </a:p>
          <a:p>
            <a:pPr lvl="2"/>
            <a:r>
              <a:rPr lang="en-US" dirty="0"/>
              <a:t>China, India, and Brazil</a:t>
            </a:r>
          </a:p>
          <a:p>
            <a:pPr lvl="2"/>
            <a:r>
              <a:rPr lang="en-US" dirty="0"/>
              <a:t>Broke into the world markets for manufacturers</a:t>
            </a:r>
          </a:p>
          <a:p>
            <a:pPr lvl="1"/>
            <a:r>
              <a:rPr lang="en-US" dirty="0"/>
              <a:t>Other developing countries </a:t>
            </a:r>
          </a:p>
          <a:p>
            <a:pPr lvl="2"/>
            <a:r>
              <a:rPr lang="en-US" dirty="0"/>
              <a:t>Increasingly marginalized in the world economy</a:t>
            </a:r>
          </a:p>
          <a:p>
            <a:pPr lvl="2"/>
            <a:r>
              <a:rPr lang="en-US" dirty="0"/>
              <a:t>Decreasing incomes</a:t>
            </a:r>
          </a:p>
          <a:p>
            <a:pPr lvl="2"/>
            <a:r>
              <a:rPr lang="en-US" dirty="0"/>
              <a:t>Increasing poverty</a:t>
            </a:r>
          </a:p>
          <a:p>
            <a:pPr lvl="1"/>
            <a:r>
              <a:rPr lang="en-US" dirty="0"/>
              <a:t>Significant international capital movements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a:bodyPr>
          <a:lstStyle/>
          <a:p>
            <a:r>
              <a:rPr lang="en-US" dirty="0"/>
              <a:t>Latest Wave of Globalization, began in 1980</a:t>
            </a:r>
          </a:p>
          <a:p>
            <a:pPr lvl="1"/>
            <a:r>
              <a:rPr lang="en-US" dirty="0"/>
              <a:t>Some developing countries</a:t>
            </a:r>
          </a:p>
          <a:p>
            <a:pPr lvl="2"/>
            <a:r>
              <a:rPr lang="en-US" dirty="0"/>
              <a:t>Competitive advantage in labor-intensive manufacturing</a:t>
            </a:r>
          </a:p>
          <a:p>
            <a:pPr lvl="3"/>
            <a:r>
              <a:rPr lang="en-US" dirty="0"/>
              <a:t>Bangladesh, Malaysia, Turkey, Mexico, Hungary, Indonesia, Sri Lanka, Thailand, and the Philippines</a:t>
            </a:r>
          </a:p>
          <a:p>
            <a:pPr lvl="3"/>
            <a:r>
              <a:rPr lang="en-US" dirty="0"/>
              <a:t>Tariff cuts</a:t>
            </a:r>
          </a:p>
          <a:p>
            <a:pPr lvl="3"/>
            <a:r>
              <a:rPr lang="en-US" dirty="0"/>
              <a:t>Lower barriers to foreign investment</a:t>
            </a:r>
          </a:p>
          <a:p>
            <a:pPr lvl="3"/>
            <a:r>
              <a:rPr lang="en-US" dirty="0"/>
              <a:t>Technological progress in transportation and communications </a:t>
            </a:r>
          </a:p>
          <a:p>
            <a:pPr lvl="1"/>
            <a:r>
              <a:rPr lang="en-US" dirty="0"/>
              <a:t>Protectionist policies in developed countries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lnSpcReduction="10000"/>
          </a:bodyPr>
          <a:lstStyle/>
          <a:p>
            <a:r>
              <a:rPr lang="en-US" dirty="0"/>
              <a:t>Latest Wave of Globalization, began in 1980</a:t>
            </a:r>
          </a:p>
          <a:p>
            <a:pPr lvl="1"/>
            <a:r>
              <a:rPr lang="en-US" dirty="0"/>
              <a:t>World</a:t>
            </a:r>
          </a:p>
          <a:p>
            <a:pPr lvl="2"/>
            <a:r>
              <a:rPr lang="en-US" dirty="0"/>
              <a:t>More globalized - international trade, capital flows </a:t>
            </a:r>
          </a:p>
          <a:p>
            <a:pPr lvl="2"/>
            <a:r>
              <a:rPr lang="en-US" dirty="0"/>
              <a:t>Less globalization - labor flows</a:t>
            </a:r>
          </a:p>
          <a:p>
            <a:pPr lvl="1"/>
            <a:r>
              <a:rPr lang="en-US" dirty="0"/>
              <a:t>Foreign outsourcing</a:t>
            </a:r>
          </a:p>
          <a:p>
            <a:pPr lvl="2"/>
            <a:r>
              <a:rPr lang="en-US" dirty="0"/>
              <a:t>Certain aspects of a product’s manufacture are performed in more than one country</a:t>
            </a:r>
          </a:p>
          <a:p>
            <a:pPr lvl="2"/>
            <a:r>
              <a:rPr lang="en-US" dirty="0"/>
              <a:t>Manufacturing - moved to wherever costs were the lowest</a:t>
            </a:r>
          </a:p>
          <a:p>
            <a:pPr lvl="3"/>
            <a:r>
              <a:rPr lang="en-US" dirty="0"/>
              <a:t>Job losses for blue-collar workers </a:t>
            </a:r>
          </a:p>
          <a:p>
            <a:pPr lvl="3"/>
            <a:r>
              <a:rPr lang="en-US" dirty="0"/>
              <a:t>Cries for the passage of laws to restrict outsourcing</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3" name="Slide Number Placeholder 2"/>
          <p:cNvSpPr>
            <a:spLocks noGrp="1"/>
          </p:cNvSpPr>
          <p:nvPr>
            <p:ph type="sldNum" sz="quarter" idx="12"/>
          </p:nvPr>
        </p:nvSpPr>
        <p:spPr/>
        <p:txBody>
          <a:bodyPr/>
          <a:lstStyle/>
          <a:p>
            <a:fld id="{A7433447-5B6D-461F-92B6-F60C76EA706E}" type="slidenum">
              <a:rPr lang="en-US" smtClean="0"/>
              <a:pPr/>
              <a:t>17</a:t>
            </a:fld>
            <a:endParaRPr lang="en-US"/>
          </a:p>
        </p:txBody>
      </p:sp>
      <p:sp>
        <p:nvSpPr>
          <p:cNvPr id="4" name="Title 3"/>
          <p:cNvSpPr>
            <a:spLocks noGrp="1"/>
          </p:cNvSpPr>
          <p:nvPr>
            <p:ph type="title"/>
          </p:nvPr>
        </p:nvSpPr>
        <p:spPr>
          <a:xfrm>
            <a:off x="1888177" y="232707"/>
            <a:ext cx="7255823" cy="358588"/>
          </a:xfrm>
        </p:spPr>
        <p:txBody>
          <a:bodyPr/>
          <a:lstStyle/>
          <a:p>
            <a:r>
              <a:rPr lang="en-US" sz="2400" dirty="0"/>
              <a:t>Manufacturing an HP Pavilion, ZD8000 laptop computer</a:t>
            </a:r>
          </a:p>
        </p:txBody>
      </p:sp>
      <p:sp>
        <p:nvSpPr>
          <p:cNvPr id="5" name="Content Placeholder 4"/>
          <p:cNvSpPr>
            <a:spLocks noGrp="1"/>
          </p:cNvSpPr>
          <p:nvPr>
            <p:ph sz="quarter" idx="13"/>
          </p:nvPr>
        </p:nvSpPr>
        <p:spPr>
          <a:xfrm>
            <a:off x="154371" y="199031"/>
            <a:ext cx="1839681" cy="506049"/>
          </a:xfrm>
        </p:spPr>
        <p:txBody>
          <a:bodyPr>
            <a:normAutofit lnSpcReduction="10000"/>
          </a:bodyPr>
          <a:lstStyle/>
          <a:p>
            <a:r>
              <a:rPr lang="en-US" dirty="0"/>
              <a:t>TABLE 1.1</a:t>
            </a:r>
          </a:p>
        </p:txBody>
      </p:sp>
      <p:pic>
        <p:nvPicPr>
          <p:cNvPr id="2050" name="Picture 2"/>
          <p:cNvPicPr>
            <a:picLocks noChangeAspect="1" noChangeArrowheads="1"/>
          </p:cNvPicPr>
          <p:nvPr/>
        </p:nvPicPr>
        <p:blipFill>
          <a:blip r:embed="rId2" cstate="print"/>
          <a:srcRect/>
          <a:stretch>
            <a:fillRect/>
          </a:stretch>
        </p:blipFill>
        <p:spPr bwMode="auto">
          <a:xfrm>
            <a:off x="1514475" y="760028"/>
            <a:ext cx="6061982" cy="550488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up)">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Waves of Globalization</a:t>
            </a:r>
          </a:p>
        </p:txBody>
      </p:sp>
      <p:sp>
        <p:nvSpPr>
          <p:cNvPr id="3" name="Content Placeholder 2"/>
          <p:cNvSpPr>
            <a:spLocks noGrp="1"/>
          </p:cNvSpPr>
          <p:nvPr>
            <p:ph idx="1"/>
          </p:nvPr>
        </p:nvSpPr>
        <p:spPr/>
        <p:txBody>
          <a:bodyPr>
            <a:normAutofit/>
          </a:bodyPr>
          <a:lstStyle/>
          <a:p>
            <a:r>
              <a:rPr lang="en-US" dirty="0"/>
              <a:t>Latest Wave of Globalization, began in 1980</a:t>
            </a:r>
          </a:p>
          <a:p>
            <a:pPr lvl="1"/>
            <a:r>
              <a:rPr lang="en-US" dirty="0"/>
              <a:t>By the 2000s, foreign outsourcing of white-collar work</a:t>
            </a:r>
          </a:p>
          <a:p>
            <a:pPr lvl="2"/>
            <a:r>
              <a:rPr lang="en-US" dirty="0"/>
              <a:t>Information Age</a:t>
            </a:r>
          </a:p>
          <a:p>
            <a:pPr lvl="3"/>
            <a:r>
              <a:rPr lang="en-US" dirty="0"/>
              <a:t>Digitization, Internet, and high-speed data networks around the world</a:t>
            </a:r>
          </a:p>
          <a:p>
            <a:pPr lvl="2"/>
            <a:r>
              <a:rPr lang="en-US" dirty="0"/>
              <a:t>Sending upscale jobs offshore</a:t>
            </a:r>
          </a:p>
          <a:p>
            <a:pPr lvl="3"/>
            <a:r>
              <a:rPr lang="en-US" dirty="0"/>
              <a:t>Accounting, chip design, engineering, basic research, and financial analysis</a:t>
            </a:r>
          </a:p>
          <a:p>
            <a:pPr lvl="1"/>
            <a:r>
              <a:rPr lang="en-US" dirty="0"/>
              <a:t>Foreign outsourcing </a:t>
            </a:r>
          </a:p>
          <a:p>
            <a:pPr lvl="2"/>
            <a:r>
              <a:rPr lang="en-US" dirty="0"/>
              <a:t>Reduce costs of a given service: 30 to 50%</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3" name="Slide Number Placeholder 2"/>
          <p:cNvSpPr>
            <a:spLocks noGrp="1"/>
          </p:cNvSpPr>
          <p:nvPr>
            <p:ph type="sldNum" sz="quarter" idx="12"/>
          </p:nvPr>
        </p:nvSpPr>
        <p:spPr/>
        <p:txBody>
          <a:bodyPr/>
          <a:lstStyle/>
          <a:p>
            <a:fld id="{A7433447-5B6D-461F-92B6-F60C76EA706E}" type="slidenum">
              <a:rPr lang="en-US" smtClean="0"/>
              <a:pPr/>
              <a:t>19</a:t>
            </a:fld>
            <a:endParaRPr lang="en-US"/>
          </a:p>
        </p:txBody>
      </p:sp>
      <p:sp>
        <p:nvSpPr>
          <p:cNvPr id="4" name="Title 3"/>
          <p:cNvSpPr>
            <a:spLocks noGrp="1"/>
          </p:cNvSpPr>
          <p:nvPr>
            <p:ph type="title"/>
          </p:nvPr>
        </p:nvSpPr>
        <p:spPr/>
        <p:txBody>
          <a:bodyPr/>
          <a:lstStyle/>
          <a:p>
            <a:r>
              <a:rPr lang="en-US" dirty="0"/>
              <a:t>Globalization goes white collar</a:t>
            </a:r>
          </a:p>
        </p:txBody>
      </p:sp>
      <p:sp>
        <p:nvSpPr>
          <p:cNvPr id="5" name="Content Placeholder 4"/>
          <p:cNvSpPr>
            <a:spLocks noGrp="1"/>
          </p:cNvSpPr>
          <p:nvPr>
            <p:ph sz="quarter" idx="13"/>
          </p:nvPr>
        </p:nvSpPr>
        <p:spPr>
          <a:xfrm>
            <a:off x="154371" y="189730"/>
            <a:ext cx="1839681" cy="506049"/>
          </a:xfrm>
        </p:spPr>
        <p:txBody>
          <a:bodyPr>
            <a:normAutofit lnSpcReduction="10000"/>
          </a:bodyPr>
          <a:lstStyle/>
          <a:p>
            <a:r>
              <a:rPr lang="en-US" dirty="0"/>
              <a:t>TABLE 1.2</a:t>
            </a:r>
          </a:p>
        </p:txBody>
      </p:sp>
      <p:pic>
        <p:nvPicPr>
          <p:cNvPr id="1026" name="Picture 2"/>
          <p:cNvPicPr>
            <a:picLocks noChangeAspect="1" noChangeArrowheads="1"/>
          </p:cNvPicPr>
          <p:nvPr/>
        </p:nvPicPr>
        <p:blipFill>
          <a:blip r:embed="rId2" cstate="print"/>
          <a:srcRect/>
          <a:stretch>
            <a:fillRect/>
          </a:stretch>
        </p:blipFill>
        <p:spPr bwMode="auto">
          <a:xfrm>
            <a:off x="0" y="994834"/>
            <a:ext cx="9144632" cy="280208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ipe(up)">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Globalization Important?</a:t>
            </a:r>
          </a:p>
        </p:txBody>
      </p:sp>
      <p:sp>
        <p:nvSpPr>
          <p:cNvPr id="3" name="Content Placeholder 2"/>
          <p:cNvSpPr>
            <a:spLocks noGrp="1"/>
          </p:cNvSpPr>
          <p:nvPr>
            <p:ph idx="1"/>
          </p:nvPr>
        </p:nvSpPr>
        <p:spPr/>
        <p:txBody>
          <a:bodyPr>
            <a:normAutofit/>
          </a:bodyPr>
          <a:lstStyle/>
          <a:p>
            <a:r>
              <a:rPr lang="en-US" dirty="0"/>
              <a:t>Law of comparative advantage</a:t>
            </a:r>
          </a:p>
          <a:p>
            <a:pPr lvl="1"/>
            <a:r>
              <a:rPr lang="en-US" dirty="0"/>
              <a:t>Citizens of each nation can gain</a:t>
            </a:r>
          </a:p>
          <a:p>
            <a:pPr lvl="2"/>
            <a:r>
              <a:rPr lang="en-US" dirty="0"/>
              <a:t>Spend more of their time and resources doing those things in which they have a relative advantage</a:t>
            </a:r>
          </a:p>
          <a:p>
            <a:pPr lvl="1"/>
            <a:r>
              <a:rPr lang="en-US" dirty="0"/>
              <a:t>If a good or service can be obtained more economically through trade</a:t>
            </a:r>
          </a:p>
          <a:p>
            <a:pPr lvl="2"/>
            <a:r>
              <a:rPr lang="en-US" dirty="0"/>
              <a:t>Trade for it instead of producing it domestically</a:t>
            </a:r>
          </a:p>
          <a:p>
            <a:pPr lvl="1"/>
            <a:r>
              <a:rPr lang="en-US" dirty="0"/>
              <a:t>How the available resources can be used to obtain each good at the lowest possible cost</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Globalization Important?</a:t>
            </a:r>
          </a:p>
        </p:txBody>
      </p:sp>
      <p:sp>
        <p:nvSpPr>
          <p:cNvPr id="3" name="Content Placeholder 2"/>
          <p:cNvSpPr>
            <a:spLocks noGrp="1"/>
          </p:cNvSpPr>
          <p:nvPr>
            <p:ph idx="1"/>
          </p:nvPr>
        </p:nvSpPr>
        <p:spPr/>
        <p:txBody>
          <a:bodyPr>
            <a:normAutofit/>
          </a:bodyPr>
          <a:lstStyle/>
          <a:p>
            <a:r>
              <a:rPr lang="en-US" dirty="0"/>
              <a:t>Open economies</a:t>
            </a:r>
          </a:p>
          <a:p>
            <a:pPr lvl="1"/>
            <a:r>
              <a:rPr lang="en-US" dirty="0"/>
              <a:t>Produce a larger joint output</a:t>
            </a:r>
          </a:p>
          <a:p>
            <a:pPr lvl="1"/>
            <a:r>
              <a:rPr lang="en-US" dirty="0"/>
              <a:t>Competition - essential to both innovation and efficient production</a:t>
            </a:r>
          </a:p>
          <a:p>
            <a:pPr lvl="1"/>
            <a:r>
              <a:rPr lang="en-US" dirty="0"/>
              <a:t>International competition </a:t>
            </a:r>
          </a:p>
          <a:p>
            <a:pPr lvl="2"/>
            <a:r>
              <a:rPr lang="en-US" dirty="0"/>
              <a:t>Domestic producers - strong incentive to improve the quality of their products</a:t>
            </a:r>
          </a:p>
          <a:p>
            <a:pPr lvl="2"/>
            <a:r>
              <a:rPr lang="en-US" dirty="0"/>
              <a:t>Weakens monopolies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654" y="5688279"/>
            <a:ext cx="8884693" cy="914400"/>
          </a:xfrm>
        </p:spPr>
        <p:txBody>
          <a:bodyPr>
            <a:noAutofit/>
          </a:bodyPr>
          <a:lstStyle/>
          <a:p>
            <a:r>
              <a:rPr lang="en-US" sz="1600" dirty="0"/>
              <a:t>World imports relative to U.S. consumption have doubled over the past four decades, making more of what consumers purchase subject to increased competition inherent in international trade. This added competition tends to hold down the cost of goods and services as seen for the period 1987 to 2003.</a:t>
            </a:r>
          </a:p>
        </p:txBody>
      </p:sp>
      <p:sp>
        <p:nvSpPr>
          <p:cNvPr id="3" name="Footer Placeholder 2"/>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4" name="Slide Number Placeholder 3"/>
          <p:cNvSpPr>
            <a:spLocks noGrp="1"/>
          </p:cNvSpPr>
          <p:nvPr>
            <p:ph type="sldNum" sz="quarter" idx="12"/>
          </p:nvPr>
        </p:nvSpPr>
        <p:spPr/>
        <p:txBody>
          <a:bodyPr/>
          <a:lstStyle/>
          <a:p>
            <a:fld id="{A7433447-5B6D-461F-92B6-F60C76EA706E}" type="slidenum">
              <a:rPr lang="en-US" smtClean="0"/>
              <a:pPr/>
              <a:t>22</a:t>
            </a:fld>
            <a:endParaRPr lang="en-US"/>
          </a:p>
        </p:txBody>
      </p:sp>
      <p:sp>
        <p:nvSpPr>
          <p:cNvPr id="5" name="Title 4"/>
          <p:cNvSpPr>
            <a:spLocks noGrp="1"/>
          </p:cNvSpPr>
          <p:nvPr>
            <p:ph type="title"/>
          </p:nvPr>
        </p:nvSpPr>
        <p:spPr/>
        <p:txBody>
          <a:bodyPr/>
          <a:lstStyle/>
          <a:p>
            <a:r>
              <a:rPr lang="en-US" dirty="0"/>
              <a:t>Global competition lowers inflation</a:t>
            </a:r>
          </a:p>
        </p:txBody>
      </p:sp>
      <p:sp>
        <p:nvSpPr>
          <p:cNvPr id="6" name="Content Placeholder 5"/>
          <p:cNvSpPr>
            <a:spLocks noGrp="1"/>
          </p:cNvSpPr>
          <p:nvPr>
            <p:ph sz="quarter" idx="13"/>
          </p:nvPr>
        </p:nvSpPr>
        <p:spPr/>
        <p:txBody>
          <a:bodyPr/>
          <a:lstStyle/>
          <a:p>
            <a:r>
              <a:rPr lang="en-US" dirty="0"/>
              <a:t>FIGURE 1.2</a:t>
            </a:r>
          </a:p>
        </p:txBody>
      </p:sp>
      <p:pic>
        <p:nvPicPr>
          <p:cNvPr id="8194" name="Picture 2"/>
          <p:cNvPicPr>
            <a:picLocks noChangeAspect="1" noChangeArrowheads="1"/>
          </p:cNvPicPr>
          <p:nvPr/>
        </p:nvPicPr>
        <p:blipFill>
          <a:blip r:embed="rId2" cstate="print"/>
          <a:srcRect/>
          <a:stretch>
            <a:fillRect/>
          </a:stretch>
        </p:blipFill>
        <p:spPr bwMode="auto">
          <a:xfrm>
            <a:off x="1340478" y="696250"/>
            <a:ext cx="6463044" cy="493770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wipe(left)">
                                      <p:cBhvr>
                                        <p:cTn id="7" dur="500"/>
                                        <p:tgtEl>
                                          <p:spTgt spid="819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Globalization Important?</a:t>
            </a:r>
          </a:p>
        </p:txBody>
      </p:sp>
      <p:sp>
        <p:nvSpPr>
          <p:cNvPr id="3" name="Content Placeholder 2"/>
          <p:cNvSpPr>
            <a:spLocks noGrp="1"/>
          </p:cNvSpPr>
          <p:nvPr>
            <p:ph idx="1"/>
          </p:nvPr>
        </p:nvSpPr>
        <p:spPr/>
        <p:txBody>
          <a:bodyPr>
            <a:normAutofit/>
          </a:bodyPr>
          <a:lstStyle/>
          <a:p>
            <a:r>
              <a:rPr lang="en-US" dirty="0"/>
              <a:t>Open economies</a:t>
            </a:r>
          </a:p>
          <a:p>
            <a:pPr lvl="1"/>
            <a:r>
              <a:rPr lang="en-US" dirty="0"/>
              <a:t>More competition</a:t>
            </a:r>
          </a:p>
          <a:p>
            <a:pPr lvl="1"/>
            <a:r>
              <a:rPr lang="en-US" dirty="0"/>
              <a:t>More firm turnover </a:t>
            </a:r>
          </a:p>
          <a:p>
            <a:pPr lvl="2"/>
            <a:r>
              <a:rPr lang="en-US" dirty="0"/>
              <a:t>Improvements for the industry</a:t>
            </a:r>
          </a:p>
          <a:p>
            <a:r>
              <a:rPr lang="en-US" dirty="0"/>
              <a:t>Economic growth rates - close relation to:</a:t>
            </a:r>
          </a:p>
          <a:p>
            <a:pPr lvl="1"/>
            <a:r>
              <a:rPr lang="en-US" dirty="0"/>
              <a:t>Openness to trade</a:t>
            </a:r>
          </a:p>
          <a:p>
            <a:pPr lvl="1"/>
            <a:r>
              <a:rPr lang="en-US" dirty="0"/>
              <a:t>Education</a:t>
            </a:r>
          </a:p>
          <a:p>
            <a:pPr lvl="1"/>
            <a:r>
              <a:rPr lang="en-US" dirty="0"/>
              <a:t>Communications infrastructure</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9654" y="5605155"/>
            <a:ext cx="8884693" cy="878772"/>
          </a:xfrm>
        </p:spPr>
        <p:txBody>
          <a:bodyPr>
            <a:noAutofit/>
          </a:bodyPr>
          <a:lstStyle/>
          <a:p>
            <a:pPr marL="0" indent="0"/>
            <a:r>
              <a:rPr lang="en-US" sz="1700" dirty="0"/>
              <a:t>The figure shows the weighted average tariff rate and per-capita growth rate in GDP for 23 nations in 2002. According to the figure, there is evidence of an inverse relationship between the level of tariff barriers and the economic growth of nations.</a:t>
            </a:r>
          </a:p>
        </p:txBody>
      </p:sp>
      <p:sp>
        <p:nvSpPr>
          <p:cNvPr id="3" name="Footer Placeholder 2"/>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4" name="Slide Number Placeholder 3"/>
          <p:cNvSpPr>
            <a:spLocks noGrp="1"/>
          </p:cNvSpPr>
          <p:nvPr>
            <p:ph type="sldNum" sz="quarter" idx="12"/>
          </p:nvPr>
        </p:nvSpPr>
        <p:spPr/>
        <p:txBody>
          <a:bodyPr/>
          <a:lstStyle/>
          <a:p>
            <a:fld id="{A7433447-5B6D-461F-92B6-F60C76EA706E}" type="slidenum">
              <a:rPr lang="en-US" smtClean="0"/>
              <a:pPr/>
              <a:t>24</a:t>
            </a:fld>
            <a:endParaRPr lang="en-US"/>
          </a:p>
        </p:txBody>
      </p:sp>
      <p:sp>
        <p:nvSpPr>
          <p:cNvPr id="5" name="Title 4"/>
          <p:cNvSpPr>
            <a:spLocks noGrp="1"/>
          </p:cNvSpPr>
          <p:nvPr>
            <p:ph type="title"/>
          </p:nvPr>
        </p:nvSpPr>
        <p:spPr/>
        <p:txBody>
          <a:bodyPr/>
          <a:lstStyle/>
          <a:p>
            <a:r>
              <a:rPr lang="en-US" dirty="0"/>
              <a:t>Tariff barriers versus economic growth</a:t>
            </a:r>
          </a:p>
        </p:txBody>
      </p:sp>
      <p:sp>
        <p:nvSpPr>
          <p:cNvPr id="6" name="Content Placeholder 5"/>
          <p:cNvSpPr>
            <a:spLocks noGrp="1"/>
          </p:cNvSpPr>
          <p:nvPr>
            <p:ph sz="quarter" idx="13"/>
          </p:nvPr>
        </p:nvSpPr>
        <p:spPr/>
        <p:txBody>
          <a:bodyPr/>
          <a:lstStyle/>
          <a:p>
            <a:r>
              <a:rPr lang="en-US" dirty="0"/>
              <a:t>FIGURE 1.3</a:t>
            </a:r>
          </a:p>
        </p:txBody>
      </p:sp>
      <p:pic>
        <p:nvPicPr>
          <p:cNvPr id="9218" name="Picture 2"/>
          <p:cNvPicPr>
            <a:picLocks noChangeAspect="1" noChangeArrowheads="1"/>
          </p:cNvPicPr>
          <p:nvPr/>
        </p:nvPicPr>
        <p:blipFill>
          <a:blip r:embed="rId2" cstate="print"/>
          <a:srcRect/>
          <a:stretch>
            <a:fillRect/>
          </a:stretch>
        </p:blipFill>
        <p:spPr bwMode="auto">
          <a:xfrm>
            <a:off x="1939503" y="662425"/>
            <a:ext cx="5264995" cy="493085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left)">
                                      <p:cBhvr>
                                        <p:cTn id="7" dur="500"/>
                                        <p:tgtEl>
                                          <p:spTgt spid="921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Globalization Important?</a:t>
            </a:r>
          </a:p>
        </p:txBody>
      </p:sp>
      <p:sp>
        <p:nvSpPr>
          <p:cNvPr id="3" name="Content Placeholder 2"/>
          <p:cNvSpPr>
            <a:spLocks noGrp="1"/>
          </p:cNvSpPr>
          <p:nvPr>
            <p:ph idx="1"/>
          </p:nvPr>
        </p:nvSpPr>
        <p:spPr/>
        <p:txBody>
          <a:bodyPr>
            <a:normAutofit/>
          </a:bodyPr>
          <a:lstStyle/>
          <a:p>
            <a:r>
              <a:rPr lang="en-US" dirty="0"/>
              <a:t>Globalization	</a:t>
            </a:r>
          </a:p>
          <a:p>
            <a:pPr lvl="1"/>
            <a:r>
              <a:rPr lang="en-US" dirty="0"/>
              <a:t>Rapid growth in some countries</a:t>
            </a:r>
          </a:p>
          <a:p>
            <a:pPr lvl="2"/>
            <a:r>
              <a:rPr lang="en-US" dirty="0"/>
              <a:t>Increased demand for commodities</a:t>
            </a:r>
          </a:p>
          <a:p>
            <a:pPr lvl="3"/>
            <a:r>
              <a:rPr lang="en-US" dirty="0"/>
              <a:t>Crude oil, cooper, steel - higher prices</a:t>
            </a:r>
          </a:p>
          <a:p>
            <a:pPr lvl="2"/>
            <a:r>
              <a:rPr lang="en-US" dirty="0"/>
              <a:t>Increased supply of substitutes</a:t>
            </a:r>
          </a:p>
          <a:p>
            <a:pPr lvl="3"/>
            <a:r>
              <a:rPr lang="en-US" dirty="0"/>
              <a:t>Biodiesel, ethanol</a:t>
            </a:r>
          </a:p>
          <a:p>
            <a:pPr lvl="1"/>
            <a:r>
              <a:rPr lang="en-US" dirty="0"/>
              <a:t>Domestic economy</a:t>
            </a:r>
          </a:p>
          <a:p>
            <a:pPr lvl="2"/>
            <a:r>
              <a:rPr lang="en-US" dirty="0"/>
              <a:t>Vulnerable to disturbances initiated overseas</a:t>
            </a:r>
          </a:p>
          <a:p>
            <a:pPr lvl="1"/>
            <a:r>
              <a:rPr lang="en-US" dirty="0"/>
              <a:t>Increased competition from abroad</a:t>
            </a:r>
          </a:p>
          <a:p>
            <a:pPr lvl="3"/>
            <a:r>
              <a:rPr lang="en-US" dirty="0" err="1"/>
              <a:t>Schwinn</a:t>
            </a:r>
            <a:r>
              <a:rPr lang="en-US" dirty="0"/>
              <a:t> Bicycle Company, Dell Computer Corporation</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9648" y="40070"/>
            <a:ext cx="7261951" cy="944562"/>
          </a:xfrm>
        </p:spPr>
        <p:txBody>
          <a:bodyPr>
            <a:normAutofit/>
          </a:bodyPr>
          <a:lstStyle/>
          <a:p>
            <a:r>
              <a:rPr lang="en-US" sz="3600" dirty="0"/>
              <a:t>The Global Recession of 2007 – 2009 </a:t>
            </a:r>
          </a:p>
        </p:txBody>
      </p:sp>
      <p:sp>
        <p:nvSpPr>
          <p:cNvPr id="3" name="Content Placeholder 2"/>
          <p:cNvSpPr>
            <a:spLocks noGrp="1"/>
          </p:cNvSpPr>
          <p:nvPr>
            <p:ph idx="1"/>
          </p:nvPr>
        </p:nvSpPr>
        <p:spPr/>
        <p:txBody>
          <a:bodyPr>
            <a:normAutofit/>
          </a:bodyPr>
          <a:lstStyle/>
          <a:p>
            <a:r>
              <a:rPr lang="en-US" dirty="0"/>
              <a:t>Immediate cause of the global economic crisis</a:t>
            </a:r>
          </a:p>
          <a:p>
            <a:pPr lvl="1"/>
            <a:r>
              <a:rPr lang="en-US" dirty="0"/>
              <a:t>Collapse of the U.S. housing market</a:t>
            </a:r>
          </a:p>
          <a:p>
            <a:pPr lvl="1"/>
            <a:r>
              <a:rPr lang="en-US" dirty="0"/>
              <a:t>Resulting surge in mortgage loan defaults</a:t>
            </a:r>
          </a:p>
          <a:p>
            <a:pPr lvl="2"/>
            <a:r>
              <a:rPr lang="en-US" dirty="0"/>
              <a:t>Undermined the financial institutions that originated and invested in them</a:t>
            </a:r>
          </a:p>
          <a:p>
            <a:pPr lvl="1"/>
            <a:r>
              <a:rPr lang="en-US" dirty="0"/>
              <a:t>Creditors and uninsured depositors</a:t>
            </a:r>
          </a:p>
          <a:p>
            <a:pPr lvl="2"/>
            <a:r>
              <a:rPr lang="en-US" dirty="0"/>
              <a:t>Pulled their funds and cashed out of securities issued by risky institutions</a:t>
            </a:r>
          </a:p>
          <a:p>
            <a:pPr lvl="2"/>
            <a:r>
              <a:rPr lang="en-US" dirty="0"/>
              <a:t>Invested in U.S. Treasury securities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9648" y="40070"/>
            <a:ext cx="7261951" cy="944562"/>
          </a:xfrm>
        </p:spPr>
        <p:txBody>
          <a:bodyPr>
            <a:normAutofit/>
          </a:bodyPr>
          <a:lstStyle/>
          <a:p>
            <a:r>
              <a:rPr lang="en-US" sz="3600" dirty="0"/>
              <a:t>The Global Recession of 2007 – 2009 </a:t>
            </a:r>
          </a:p>
        </p:txBody>
      </p:sp>
      <p:sp>
        <p:nvSpPr>
          <p:cNvPr id="3" name="Content Placeholder 2"/>
          <p:cNvSpPr>
            <a:spLocks noGrp="1"/>
          </p:cNvSpPr>
          <p:nvPr>
            <p:ph idx="1"/>
          </p:nvPr>
        </p:nvSpPr>
        <p:spPr/>
        <p:txBody>
          <a:bodyPr>
            <a:normAutofit/>
          </a:bodyPr>
          <a:lstStyle/>
          <a:p>
            <a:r>
              <a:rPr lang="en-US" dirty="0"/>
              <a:t>Immediate cause of the global economic crisis</a:t>
            </a:r>
          </a:p>
          <a:p>
            <a:pPr lvl="1"/>
            <a:r>
              <a:rPr lang="en-US" dirty="0"/>
              <a:t>Many institutions failed, others struggled to survive</a:t>
            </a:r>
          </a:p>
          <a:p>
            <a:pPr lvl="1"/>
            <a:r>
              <a:rPr lang="en-US" dirty="0"/>
              <a:t>Banks - fearful about making loans</a:t>
            </a:r>
          </a:p>
          <a:p>
            <a:pPr lvl="1"/>
            <a:r>
              <a:rPr lang="en-US" dirty="0"/>
              <a:t>The credit spigot closed</a:t>
            </a:r>
          </a:p>
          <a:p>
            <a:pPr lvl="1"/>
            <a:r>
              <a:rPr lang="en-US" dirty="0"/>
              <a:t>The global economy withered</a:t>
            </a:r>
          </a:p>
          <a:p>
            <a:pPr lvl="1"/>
            <a:r>
              <a:rPr lang="en-US" dirty="0"/>
              <a:t>Global stock investors dumped their holdings</a:t>
            </a:r>
          </a:p>
          <a:p>
            <a:pPr lvl="1"/>
            <a:r>
              <a:rPr lang="en-US" dirty="0"/>
              <a:t>Self-reinforcing adverse economic downturn</a:t>
            </a:r>
          </a:p>
          <a:p>
            <a:pPr lvl="1"/>
            <a:r>
              <a:rPr lang="en-US" dirty="0"/>
              <a:t>Crisis in confidence </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9648" y="40070"/>
            <a:ext cx="7261951" cy="944562"/>
          </a:xfrm>
        </p:spPr>
        <p:txBody>
          <a:bodyPr>
            <a:normAutofit/>
          </a:bodyPr>
          <a:lstStyle/>
          <a:p>
            <a:r>
              <a:rPr lang="en-US" sz="3600" dirty="0"/>
              <a:t>The Global Recession of 2007 – 2009 </a:t>
            </a:r>
          </a:p>
        </p:txBody>
      </p:sp>
      <p:sp>
        <p:nvSpPr>
          <p:cNvPr id="3" name="Content Placeholder 2"/>
          <p:cNvSpPr>
            <a:spLocks noGrp="1"/>
          </p:cNvSpPr>
          <p:nvPr>
            <p:ph idx="1"/>
          </p:nvPr>
        </p:nvSpPr>
        <p:spPr/>
        <p:txBody>
          <a:bodyPr>
            <a:normAutofit/>
          </a:bodyPr>
          <a:lstStyle/>
          <a:p>
            <a:r>
              <a:rPr lang="en-US" dirty="0"/>
              <a:t>Roots of the problem</a:t>
            </a:r>
          </a:p>
          <a:p>
            <a:pPr lvl="1"/>
            <a:r>
              <a:rPr lang="en-US" dirty="0"/>
              <a:t>Lack of fear - booming housing market of 2006</a:t>
            </a:r>
          </a:p>
          <a:p>
            <a:pPr lvl="2"/>
            <a:r>
              <a:rPr lang="en-US" dirty="0"/>
              <a:t>Mortgage-backed securities</a:t>
            </a:r>
          </a:p>
          <a:p>
            <a:pPr lvl="2"/>
            <a:r>
              <a:rPr lang="en-US" dirty="0"/>
              <a:t>Booming housing market</a:t>
            </a:r>
          </a:p>
          <a:p>
            <a:pPr lvl="1"/>
            <a:r>
              <a:rPr lang="en-US" dirty="0"/>
              <a:t>Government pressured banks to serve poor borrowers and poor regions of the country</a:t>
            </a:r>
          </a:p>
          <a:p>
            <a:pPr lvl="1"/>
            <a:r>
              <a:rPr lang="en-US" dirty="0"/>
              <a:t>Community Reinvestment Act</a:t>
            </a:r>
          </a:p>
          <a:p>
            <a:pPr lvl="1"/>
            <a:r>
              <a:rPr lang="en-US" dirty="0"/>
              <a:t>Default mortgages </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9648" y="40070"/>
            <a:ext cx="7261951" cy="944562"/>
          </a:xfrm>
        </p:spPr>
        <p:txBody>
          <a:bodyPr>
            <a:normAutofit/>
          </a:bodyPr>
          <a:lstStyle/>
          <a:p>
            <a:r>
              <a:rPr lang="en-US" sz="3600" dirty="0"/>
              <a:t>The Global Recession of 2007 – 2009 </a:t>
            </a:r>
          </a:p>
        </p:txBody>
      </p:sp>
      <p:sp>
        <p:nvSpPr>
          <p:cNvPr id="3" name="Content Placeholder 2"/>
          <p:cNvSpPr>
            <a:spLocks noGrp="1"/>
          </p:cNvSpPr>
          <p:nvPr>
            <p:ph idx="1"/>
          </p:nvPr>
        </p:nvSpPr>
        <p:spPr/>
        <p:txBody>
          <a:bodyPr>
            <a:normAutofit/>
          </a:bodyPr>
          <a:lstStyle/>
          <a:p>
            <a:r>
              <a:rPr lang="en-US" dirty="0"/>
              <a:t>The crisis goes global</a:t>
            </a:r>
          </a:p>
          <a:p>
            <a:pPr lvl="1"/>
            <a:r>
              <a:rPr lang="en-US" dirty="0"/>
              <a:t>Europe</a:t>
            </a:r>
          </a:p>
          <a:p>
            <a:pPr lvl="2"/>
            <a:r>
              <a:rPr lang="en-US" dirty="0"/>
              <a:t>Exposure to defaulted mortgages in the U.S.</a:t>
            </a:r>
          </a:p>
          <a:p>
            <a:pPr lvl="1"/>
            <a:r>
              <a:rPr lang="en-US" dirty="0"/>
              <a:t>Emerging economies</a:t>
            </a:r>
          </a:p>
          <a:p>
            <a:pPr lvl="2"/>
            <a:r>
              <a:rPr lang="en-US" dirty="0"/>
              <a:t>Lacked resources</a:t>
            </a:r>
          </a:p>
          <a:p>
            <a:pPr lvl="1"/>
            <a:r>
              <a:rPr lang="en-US" dirty="0"/>
              <a:t>Extremely poor countries </a:t>
            </a:r>
          </a:p>
          <a:p>
            <a:pPr lvl="2"/>
            <a:r>
              <a:rPr lang="en-US" dirty="0"/>
              <a:t>Decrease in foreign aid </a:t>
            </a:r>
          </a:p>
          <a:p>
            <a:pPr lvl="1"/>
            <a:r>
              <a:rPr lang="en-US" dirty="0"/>
              <a:t>China - depressed its export markets</a:t>
            </a:r>
          </a:p>
          <a:p>
            <a:pPr lvl="1"/>
            <a:r>
              <a:rPr lang="en-US" dirty="0"/>
              <a:t>Crisis in confidence</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9648" y="40070"/>
            <a:ext cx="7261951" cy="944562"/>
          </a:xfrm>
        </p:spPr>
        <p:txBody>
          <a:bodyPr>
            <a:normAutofit/>
          </a:bodyPr>
          <a:lstStyle/>
          <a:p>
            <a:r>
              <a:rPr lang="en-US" sz="3600" dirty="0"/>
              <a:t>The Global Recession of 2007 – 2009 </a:t>
            </a:r>
          </a:p>
        </p:txBody>
      </p:sp>
      <p:sp>
        <p:nvSpPr>
          <p:cNvPr id="3" name="Content Placeholder 2"/>
          <p:cNvSpPr>
            <a:spLocks noGrp="1"/>
          </p:cNvSpPr>
          <p:nvPr>
            <p:ph idx="1"/>
          </p:nvPr>
        </p:nvSpPr>
        <p:spPr/>
        <p:txBody>
          <a:bodyPr>
            <a:normAutofit/>
          </a:bodyPr>
          <a:lstStyle/>
          <a:p>
            <a:r>
              <a:rPr lang="en-US" dirty="0"/>
              <a:t>Combating a crisis in confidence</a:t>
            </a:r>
          </a:p>
          <a:p>
            <a:pPr lvl="1"/>
            <a:r>
              <a:rPr lang="en-US" dirty="0"/>
              <a:t>Pump liquidity into troubled financial institutions</a:t>
            </a:r>
          </a:p>
          <a:p>
            <a:pPr lvl="1"/>
            <a:r>
              <a:rPr lang="en-US" dirty="0"/>
              <a:t>Provide increased or unlimited deposit insurance</a:t>
            </a:r>
          </a:p>
          <a:p>
            <a:pPr lvl="1"/>
            <a:r>
              <a:rPr lang="en-US" dirty="0"/>
              <a:t>Central banks</a:t>
            </a:r>
          </a:p>
          <a:p>
            <a:pPr lvl="2"/>
            <a:r>
              <a:rPr lang="en-US" dirty="0"/>
              <a:t>Coordinated interest-rate reductions</a:t>
            </a:r>
          </a:p>
          <a:p>
            <a:pPr lvl="2"/>
            <a:r>
              <a:rPr lang="en-US" dirty="0"/>
              <a:t>Purchased commercial paper &amp; money market instruments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9648" y="40070"/>
            <a:ext cx="7261951" cy="944562"/>
          </a:xfrm>
        </p:spPr>
        <p:txBody>
          <a:bodyPr>
            <a:normAutofit/>
          </a:bodyPr>
          <a:lstStyle/>
          <a:p>
            <a:r>
              <a:rPr lang="en-US" sz="3600" dirty="0"/>
              <a:t>The Global Recession of 2007 – 2009 </a:t>
            </a:r>
          </a:p>
        </p:txBody>
      </p:sp>
      <p:sp>
        <p:nvSpPr>
          <p:cNvPr id="3" name="Content Placeholder 2"/>
          <p:cNvSpPr>
            <a:spLocks noGrp="1"/>
          </p:cNvSpPr>
          <p:nvPr>
            <p:ph idx="1"/>
          </p:nvPr>
        </p:nvSpPr>
        <p:spPr/>
        <p:txBody>
          <a:bodyPr>
            <a:normAutofit/>
          </a:bodyPr>
          <a:lstStyle/>
          <a:p>
            <a:r>
              <a:rPr lang="en-US" dirty="0"/>
              <a:t>Combating a crisis in confidence</a:t>
            </a:r>
          </a:p>
          <a:p>
            <a:pPr lvl="1"/>
            <a:r>
              <a:rPr lang="en-US" dirty="0"/>
              <a:t>Governments</a:t>
            </a:r>
          </a:p>
          <a:p>
            <a:pPr lvl="2"/>
            <a:r>
              <a:rPr lang="en-US" dirty="0"/>
              <a:t>Large fiscal stimulus packages</a:t>
            </a:r>
          </a:p>
          <a:p>
            <a:pPr lvl="3"/>
            <a:r>
              <a:rPr lang="en-US" dirty="0"/>
              <a:t>Tax cuts</a:t>
            </a:r>
          </a:p>
          <a:p>
            <a:pPr lvl="3"/>
            <a:r>
              <a:rPr lang="en-US" dirty="0"/>
              <a:t>Increased government spending</a:t>
            </a:r>
          </a:p>
          <a:p>
            <a:pPr lvl="1"/>
            <a:r>
              <a:rPr lang="en-US" dirty="0"/>
              <a:t>International Monetary Fund</a:t>
            </a:r>
          </a:p>
          <a:p>
            <a:pPr lvl="2"/>
            <a:r>
              <a:rPr lang="en-US" dirty="0"/>
              <a:t>Financial aid to emerging countries</a:t>
            </a:r>
          </a:p>
          <a:p>
            <a:endParaRPr lang="en-US" dirty="0"/>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100" dirty="0"/>
              <a:t>Common Fallacies of International Trade</a:t>
            </a:r>
          </a:p>
        </p:txBody>
      </p:sp>
      <p:sp>
        <p:nvSpPr>
          <p:cNvPr id="3" name="Content Placeholder 2"/>
          <p:cNvSpPr>
            <a:spLocks noGrp="1"/>
          </p:cNvSpPr>
          <p:nvPr>
            <p:ph idx="1"/>
          </p:nvPr>
        </p:nvSpPr>
        <p:spPr/>
        <p:txBody>
          <a:bodyPr>
            <a:normAutofit/>
          </a:bodyPr>
          <a:lstStyle/>
          <a:p>
            <a:r>
              <a:rPr lang="en-US" dirty="0"/>
              <a:t>“Trade is a zero-sum activity”</a:t>
            </a:r>
          </a:p>
          <a:p>
            <a:pPr lvl="1"/>
            <a:r>
              <a:rPr lang="en-US" dirty="0"/>
              <a:t>Both partners gain from trade</a:t>
            </a:r>
          </a:p>
          <a:p>
            <a:r>
              <a:rPr lang="en-US" dirty="0"/>
              <a:t>“Imports reduce employment and act as a drag on the economy, while exports promote growth and employment”</a:t>
            </a:r>
          </a:p>
          <a:p>
            <a:pPr lvl="1"/>
            <a:r>
              <a:rPr lang="en-US" dirty="0"/>
              <a:t>Failure to consider the link between imports and exports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100" dirty="0"/>
              <a:t>Common Fallacies of International Trade</a:t>
            </a:r>
          </a:p>
        </p:txBody>
      </p:sp>
      <p:sp>
        <p:nvSpPr>
          <p:cNvPr id="3" name="Content Placeholder 2"/>
          <p:cNvSpPr>
            <a:spLocks noGrp="1"/>
          </p:cNvSpPr>
          <p:nvPr>
            <p:ph idx="1"/>
          </p:nvPr>
        </p:nvSpPr>
        <p:spPr/>
        <p:txBody>
          <a:bodyPr>
            <a:normAutofit/>
          </a:bodyPr>
          <a:lstStyle/>
          <a:p>
            <a:r>
              <a:rPr lang="en-US" dirty="0"/>
              <a:t>“Tariffs, quotas, and other import restrictions will save jobs and promote a higher level of employment”</a:t>
            </a:r>
          </a:p>
          <a:p>
            <a:pPr lvl="1"/>
            <a:r>
              <a:rPr lang="en-US" dirty="0"/>
              <a:t>Failure to recognize that a reduction in imports does not occur in isolation</a:t>
            </a:r>
          </a:p>
          <a:p>
            <a:r>
              <a:rPr lang="en-US" dirty="0"/>
              <a:t>Free trade</a:t>
            </a:r>
          </a:p>
          <a:p>
            <a:pPr lvl="1"/>
            <a:r>
              <a:rPr lang="en-US" dirty="0"/>
              <a:t>Increases competition, lowers prices</a:t>
            </a:r>
          </a:p>
          <a:p>
            <a:pPr lvl="1"/>
            <a:r>
              <a:rPr lang="en-US" dirty="0"/>
              <a:t>Makes better products available to consumers</a:t>
            </a:r>
          </a:p>
          <a:p>
            <a:pPr lvl="1"/>
            <a:r>
              <a:rPr lang="en-US" dirty="0"/>
              <a:t>Higher consumption</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Does Free Trade Apply to Cigarettes?</a:t>
            </a:r>
          </a:p>
        </p:txBody>
      </p:sp>
      <p:sp>
        <p:nvSpPr>
          <p:cNvPr id="3" name="Content Placeholder 2"/>
          <p:cNvSpPr>
            <a:spLocks noGrp="1"/>
          </p:cNvSpPr>
          <p:nvPr>
            <p:ph idx="1"/>
          </p:nvPr>
        </p:nvSpPr>
        <p:spPr/>
        <p:txBody>
          <a:bodyPr>
            <a:normAutofit lnSpcReduction="10000"/>
          </a:bodyPr>
          <a:lstStyle/>
          <a:p>
            <a:r>
              <a:rPr lang="en-US" dirty="0"/>
              <a:t>Free cigarettes trade</a:t>
            </a:r>
          </a:p>
          <a:p>
            <a:pPr lvl="1"/>
            <a:r>
              <a:rPr lang="en-US" dirty="0"/>
              <a:t>Higher consumption</a:t>
            </a:r>
          </a:p>
          <a:p>
            <a:pPr lvl="1"/>
            <a:r>
              <a:rPr lang="en-US" dirty="0"/>
              <a:t>More smoking, disease, and death</a:t>
            </a:r>
          </a:p>
          <a:p>
            <a:r>
              <a:rPr lang="en-US" dirty="0"/>
              <a:t>Globally - 4 million people die each year from:</a:t>
            </a:r>
          </a:p>
          <a:p>
            <a:pPr lvl="2"/>
            <a:r>
              <a:rPr lang="en-US" dirty="0"/>
              <a:t>Lung cancer, emphysema</a:t>
            </a:r>
          </a:p>
          <a:p>
            <a:pPr lvl="2"/>
            <a:r>
              <a:rPr lang="en-US" dirty="0"/>
              <a:t>Other smoking-related diseases</a:t>
            </a:r>
          </a:p>
          <a:p>
            <a:r>
              <a:rPr lang="en-US" dirty="0"/>
              <a:t>Antismoking activists</a:t>
            </a:r>
          </a:p>
          <a:p>
            <a:pPr lvl="1"/>
            <a:r>
              <a:rPr lang="en-US" dirty="0"/>
              <a:t>Cigarettes are “bads” </a:t>
            </a:r>
          </a:p>
          <a:p>
            <a:pPr lvl="2"/>
            <a:r>
              <a:rPr lang="en-US" dirty="0"/>
              <a:t>Require their own set of regulations</a:t>
            </a:r>
          </a:p>
          <a:p>
            <a:pPr lvl="1"/>
            <a:r>
              <a:rPr lang="en-US" dirty="0"/>
              <a:t>Benefits of free trade do not apply to cigarettes </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Does Free Trade Apply to Cigarettes?</a:t>
            </a:r>
          </a:p>
        </p:txBody>
      </p:sp>
      <p:sp>
        <p:nvSpPr>
          <p:cNvPr id="3" name="Content Placeholder 2"/>
          <p:cNvSpPr>
            <a:spLocks noGrp="1"/>
          </p:cNvSpPr>
          <p:nvPr>
            <p:ph idx="1"/>
          </p:nvPr>
        </p:nvSpPr>
        <p:spPr/>
        <p:txBody>
          <a:bodyPr>
            <a:normAutofit lnSpcReduction="10000"/>
          </a:bodyPr>
          <a:lstStyle/>
          <a:p>
            <a:r>
              <a:rPr lang="en-US" dirty="0"/>
              <a:t>World Health Organization </a:t>
            </a:r>
          </a:p>
          <a:p>
            <a:pPr lvl="1"/>
            <a:r>
              <a:rPr lang="en-US" dirty="0"/>
              <a:t>Some nations </a:t>
            </a:r>
          </a:p>
          <a:p>
            <a:pPr lvl="2"/>
            <a:r>
              <a:rPr lang="en-US"/>
              <a:t>Support provisions </a:t>
            </a:r>
            <a:r>
              <a:rPr lang="en-US" dirty="0"/>
              <a:t>to emphasize antismoking measures over free-trade rules</a:t>
            </a:r>
          </a:p>
          <a:p>
            <a:pPr lvl="1"/>
            <a:r>
              <a:rPr lang="en-US" dirty="0"/>
              <a:t>United States</a:t>
            </a:r>
          </a:p>
          <a:p>
            <a:pPr lvl="2"/>
            <a:r>
              <a:rPr lang="en-US" dirty="0"/>
              <a:t>Promoted freer trade in cigarettes</a:t>
            </a:r>
          </a:p>
          <a:p>
            <a:pPr lvl="2"/>
            <a:r>
              <a:rPr lang="en-US" dirty="0"/>
              <a:t>Challenged rules imposed to aid local cigarette makers</a:t>
            </a:r>
          </a:p>
          <a:p>
            <a:r>
              <a:rPr lang="en-US" dirty="0"/>
              <a:t>Current trade rules </a:t>
            </a:r>
          </a:p>
          <a:p>
            <a:pPr lvl="2"/>
            <a:r>
              <a:rPr lang="en-US" dirty="0"/>
              <a:t>Countries can enact measures to protect the health and safety of their citizens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638"/>
            <a:ext cx="8763000" cy="944562"/>
          </a:xfrm>
        </p:spPr>
        <p:txBody>
          <a:bodyPr>
            <a:normAutofit fontScale="90000"/>
          </a:bodyPr>
          <a:lstStyle/>
          <a:p>
            <a:r>
              <a:rPr lang="en-US" dirty="0"/>
              <a:t>Is International Trade an Opportunity or a Threat to Workers?</a:t>
            </a:r>
          </a:p>
        </p:txBody>
      </p:sp>
      <p:sp>
        <p:nvSpPr>
          <p:cNvPr id="3" name="Content Placeholder 2"/>
          <p:cNvSpPr>
            <a:spLocks noGrp="1"/>
          </p:cNvSpPr>
          <p:nvPr>
            <p:ph idx="1"/>
          </p:nvPr>
        </p:nvSpPr>
        <p:spPr/>
        <p:txBody>
          <a:bodyPr>
            <a:normAutofit/>
          </a:bodyPr>
          <a:lstStyle/>
          <a:p>
            <a:r>
              <a:rPr lang="en-US" dirty="0"/>
              <a:t>International trade benefits many workers</a:t>
            </a:r>
          </a:p>
          <a:p>
            <a:pPr lvl="1"/>
            <a:r>
              <a:rPr lang="en-US" dirty="0"/>
              <a:t>Cheaper consumption goods </a:t>
            </a:r>
          </a:p>
          <a:p>
            <a:pPr lvl="1"/>
            <a:r>
              <a:rPr lang="en-US" dirty="0"/>
              <a:t>Employers – better technologies and equipment</a:t>
            </a:r>
          </a:p>
          <a:p>
            <a:pPr lvl="1"/>
            <a:r>
              <a:rPr lang="en-US" dirty="0"/>
              <a:t>Workers - more productive</a:t>
            </a:r>
          </a:p>
          <a:p>
            <a:pPr lvl="1"/>
            <a:r>
              <a:rPr lang="en-US" dirty="0"/>
              <a:t>Exports - generates jobs and income for domestic workers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638"/>
            <a:ext cx="8763000" cy="944562"/>
          </a:xfrm>
        </p:spPr>
        <p:txBody>
          <a:bodyPr>
            <a:normAutofit fontScale="90000"/>
          </a:bodyPr>
          <a:lstStyle/>
          <a:p>
            <a:r>
              <a:rPr lang="en-US" dirty="0"/>
              <a:t>Is International Trade an Opportunity or a Threat to Workers?</a:t>
            </a:r>
          </a:p>
        </p:txBody>
      </p:sp>
      <p:sp>
        <p:nvSpPr>
          <p:cNvPr id="3" name="Content Placeholder 2"/>
          <p:cNvSpPr>
            <a:spLocks noGrp="1"/>
          </p:cNvSpPr>
          <p:nvPr>
            <p:ph idx="1"/>
          </p:nvPr>
        </p:nvSpPr>
        <p:spPr/>
        <p:txBody>
          <a:bodyPr>
            <a:normAutofit/>
          </a:bodyPr>
          <a:lstStyle/>
          <a:p>
            <a:r>
              <a:rPr lang="en-US" dirty="0"/>
              <a:t>Not all workers gain from international trade</a:t>
            </a:r>
          </a:p>
          <a:p>
            <a:pPr lvl="1"/>
            <a:r>
              <a:rPr lang="en-US" dirty="0"/>
              <a:t>Cheap imports</a:t>
            </a:r>
          </a:p>
          <a:p>
            <a:pPr lvl="2"/>
            <a:r>
              <a:rPr lang="en-US" dirty="0"/>
              <a:t>Rising unemployment and wage inequality</a:t>
            </a:r>
          </a:p>
          <a:p>
            <a:pPr lvl="2"/>
            <a:r>
              <a:rPr lang="en-US" dirty="0"/>
              <a:t>Threatening to unskilled workers in the import-competing sectors</a:t>
            </a:r>
          </a:p>
          <a:p>
            <a:pPr lvl="1"/>
            <a:r>
              <a:rPr lang="en-US" dirty="0"/>
              <a:t>Lobby to restrict imports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638"/>
            <a:ext cx="8763000" cy="944562"/>
          </a:xfrm>
        </p:spPr>
        <p:txBody>
          <a:bodyPr>
            <a:normAutofit fontScale="90000"/>
          </a:bodyPr>
          <a:lstStyle/>
          <a:p>
            <a:r>
              <a:rPr lang="en-US" dirty="0"/>
              <a:t>Is International Trade an Opportunity or a Threat to Workers?</a:t>
            </a:r>
          </a:p>
        </p:txBody>
      </p:sp>
      <p:sp>
        <p:nvSpPr>
          <p:cNvPr id="3" name="Content Placeholder 2"/>
          <p:cNvSpPr>
            <a:spLocks noGrp="1"/>
          </p:cNvSpPr>
          <p:nvPr>
            <p:ph idx="1"/>
          </p:nvPr>
        </p:nvSpPr>
        <p:spPr/>
        <p:txBody>
          <a:bodyPr>
            <a:normAutofit/>
          </a:bodyPr>
          <a:lstStyle/>
          <a:p>
            <a:r>
              <a:rPr lang="en-US" dirty="0"/>
              <a:t>International trade</a:t>
            </a:r>
          </a:p>
          <a:p>
            <a:pPr lvl="1"/>
            <a:r>
              <a:rPr lang="en-US" dirty="0"/>
              <a:t>Domestic prices - aligned with international prices</a:t>
            </a:r>
          </a:p>
          <a:p>
            <a:pPr lvl="1"/>
            <a:r>
              <a:rPr lang="en-US" dirty="0"/>
              <a:t>Wages increase</a:t>
            </a:r>
          </a:p>
          <a:p>
            <a:pPr lvl="2"/>
            <a:r>
              <a:rPr lang="en-US" dirty="0"/>
              <a:t>Workers whose skills are scarce</a:t>
            </a:r>
          </a:p>
          <a:p>
            <a:pPr lvl="1"/>
            <a:r>
              <a:rPr lang="en-US" dirty="0"/>
              <a:t>Wages decrease </a:t>
            </a:r>
          </a:p>
          <a:p>
            <a:pPr lvl="2"/>
            <a:r>
              <a:rPr lang="en-US" dirty="0"/>
              <a:t>Workers who face increased competition</a:t>
            </a:r>
          </a:p>
          <a:p>
            <a:pPr lvl="1"/>
            <a:r>
              <a:rPr lang="en-US" dirty="0"/>
              <a:t>Jobs lost in one industry</a:t>
            </a:r>
          </a:p>
          <a:p>
            <a:pPr lvl="2"/>
            <a:r>
              <a:rPr lang="en-US" dirty="0"/>
              <a:t>Replaced by jobs gained in another industry</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638"/>
            <a:ext cx="8763000" cy="944562"/>
          </a:xfrm>
        </p:spPr>
        <p:txBody>
          <a:bodyPr>
            <a:normAutofit fontScale="90000"/>
          </a:bodyPr>
          <a:lstStyle/>
          <a:p>
            <a:r>
              <a:rPr lang="en-US" dirty="0"/>
              <a:t>Is International Trade an Opportunity or a Threat to Workers?</a:t>
            </a:r>
          </a:p>
        </p:txBody>
      </p:sp>
      <p:sp>
        <p:nvSpPr>
          <p:cNvPr id="3" name="Content Placeholder 2"/>
          <p:cNvSpPr>
            <a:spLocks noGrp="1"/>
          </p:cNvSpPr>
          <p:nvPr>
            <p:ph idx="1"/>
          </p:nvPr>
        </p:nvSpPr>
        <p:spPr/>
        <p:txBody>
          <a:bodyPr>
            <a:normAutofit/>
          </a:bodyPr>
          <a:lstStyle/>
          <a:p>
            <a:r>
              <a:rPr lang="en-US" dirty="0"/>
              <a:t>The long-run effect of trade barriers</a:t>
            </a:r>
          </a:p>
          <a:p>
            <a:pPr lvl="1"/>
            <a:r>
              <a:rPr lang="en-US" dirty="0"/>
              <a:t>Does not increase total domestic employment</a:t>
            </a:r>
          </a:p>
          <a:p>
            <a:pPr lvl="1"/>
            <a:r>
              <a:rPr lang="en-US" dirty="0"/>
              <a:t>Reallocates workers </a:t>
            </a:r>
          </a:p>
          <a:p>
            <a:pPr lvl="2"/>
            <a:r>
              <a:rPr lang="en-US" dirty="0"/>
              <a:t>Away from export industries</a:t>
            </a:r>
          </a:p>
          <a:p>
            <a:pPr lvl="2"/>
            <a:r>
              <a:rPr lang="en-US" dirty="0"/>
              <a:t>Toward less efficient, import-competing industries</a:t>
            </a:r>
          </a:p>
          <a:p>
            <a:pPr lvl="2"/>
            <a:r>
              <a:rPr lang="en-US" dirty="0"/>
              <a:t>Leads to a less efficient utilization of resources</a:t>
            </a:r>
          </a:p>
          <a:p>
            <a:r>
              <a:rPr lang="en-US" dirty="0"/>
              <a:t>International trade</a:t>
            </a:r>
          </a:p>
          <a:p>
            <a:pPr lvl="1"/>
            <a:r>
              <a:rPr lang="en-US" dirty="0"/>
              <a:t>Just another kind of technology</a:t>
            </a:r>
          </a:p>
          <a:p>
            <a:pPr lvl="1"/>
            <a:r>
              <a:rPr lang="en-US" dirty="0"/>
              <a:t>Adds value to its inputs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Backlash Against Globalization</a:t>
            </a:r>
          </a:p>
        </p:txBody>
      </p:sp>
      <p:sp>
        <p:nvSpPr>
          <p:cNvPr id="3" name="Content Placeholder 2"/>
          <p:cNvSpPr>
            <a:spLocks noGrp="1"/>
          </p:cNvSpPr>
          <p:nvPr>
            <p:ph idx="1"/>
          </p:nvPr>
        </p:nvSpPr>
        <p:spPr/>
        <p:txBody>
          <a:bodyPr>
            <a:normAutofit/>
          </a:bodyPr>
          <a:lstStyle/>
          <a:p>
            <a:r>
              <a:rPr lang="en-US" dirty="0"/>
              <a:t>Proponents of free trade and globalization</a:t>
            </a:r>
          </a:p>
          <a:p>
            <a:pPr lvl="1"/>
            <a:r>
              <a:rPr lang="en-US" dirty="0"/>
              <a:t>Countries prosper</a:t>
            </a:r>
          </a:p>
          <a:p>
            <a:pPr lvl="1"/>
            <a:r>
              <a:rPr lang="en-US" dirty="0"/>
              <a:t>New ideas and technology flow freely around the world</a:t>
            </a:r>
          </a:p>
          <a:p>
            <a:pPr lvl="1"/>
            <a:r>
              <a:rPr lang="en-US" dirty="0"/>
              <a:t>Productivity growth</a:t>
            </a:r>
          </a:p>
          <a:p>
            <a:pPr lvl="1"/>
            <a:r>
              <a:rPr lang="en-US" dirty="0"/>
              <a:t>Increasing living standards</a:t>
            </a:r>
          </a:p>
          <a:p>
            <a:pPr lvl="1"/>
            <a:r>
              <a:rPr lang="en-US" dirty="0"/>
              <a:t>Lower consumer prices</a:t>
            </a:r>
          </a:p>
          <a:p>
            <a:pPr lvl="1"/>
            <a:r>
              <a:rPr lang="en-US" dirty="0"/>
              <a:t>Increased variety of goods and services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Backlash Against Globalization</a:t>
            </a:r>
          </a:p>
        </p:txBody>
      </p:sp>
      <p:sp>
        <p:nvSpPr>
          <p:cNvPr id="3" name="Content Placeholder 2"/>
          <p:cNvSpPr>
            <a:spLocks noGrp="1"/>
          </p:cNvSpPr>
          <p:nvPr>
            <p:ph idx="1"/>
          </p:nvPr>
        </p:nvSpPr>
        <p:spPr/>
        <p:txBody>
          <a:bodyPr>
            <a:normAutofit/>
          </a:bodyPr>
          <a:lstStyle/>
          <a:p>
            <a:r>
              <a:rPr lang="en-US" dirty="0"/>
              <a:t>Critics of free trade and globalization</a:t>
            </a:r>
          </a:p>
          <a:p>
            <a:pPr lvl="1"/>
            <a:r>
              <a:rPr lang="en-US" dirty="0"/>
              <a:t>Benefit large corporations</a:t>
            </a:r>
          </a:p>
          <a:p>
            <a:pPr lvl="2"/>
            <a:r>
              <a:rPr lang="en-US" dirty="0"/>
              <a:t>Rather than average citizens</a:t>
            </a:r>
          </a:p>
          <a:p>
            <a:pPr lvl="1"/>
            <a:r>
              <a:rPr lang="en-US" dirty="0"/>
              <a:t>Environmentalists</a:t>
            </a:r>
          </a:p>
          <a:p>
            <a:pPr lvl="2"/>
            <a:r>
              <a:rPr lang="en-US" dirty="0"/>
              <a:t>Elitist trade organizations make undemocratic decisions</a:t>
            </a:r>
          </a:p>
          <a:p>
            <a:pPr lvl="3"/>
            <a:r>
              <a:rPr lang="en-US" dirty="0"/>
              <a:t>Undermine national sovereignty on environmental regulation</a:t>
            </a:r>
          </a:p>
          <a:p>
            <a:pPr lvl="1"/>
            <a:r>
              <a:rPr lang="en-US" dirty="0"/>
              <a:t>Unions </a:t>
            </a:r>
          </a:p>
          <a:p>
            <a:pPr lvl="2"/>
            <a:r>
              <a:rPr lang="en-US" dirty="0"/>
              <a:t>Unfettered trade permits unfair competition</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Backlash Against Globalization</a:t>
            </a:r>
          </a:p>
        </p:txBody>
      </p:sp>
      <p:sp>
        <p:nvSpPr>
          <p:cNvPr id="3" name="Content Placeholder 2"/>
          <p:cNvSpPr>
            <a:spLocks noGrp="1"/>
          </p:cNvSpPr>
          <p:nvPr>
            <p:ph idx="1"/>
          </p:nvPr>
        </p:nvSpPr>
        <p:spPr/>
        <p:txBody>
          <a:bodyPr>
            <a:normAutofit/>
          </a:bodyPr>
          <a:lstStyle/>
          <a:p>
            <a:r>
              <a:rPr lang="en-US" dirty="0"/>
              <a:t>Critics of free trade and globalization</a:t>
            </a:r>
          </a:p>
          <a:p>
            <a:pPr lvl="1"/>
            <a:r>
              <a:rPr lang="en-US" dirty="0"/>
              <a:t>Human rights activists</a:t>
            </a:r>
          </a:p>
          <a:p>
            <a:pPr lvl="2"/>
            <a:r>
              <a:rPr lang="en-US" dirty="0"/>
              <a:t>World Bank and International Monetary Fund support governments that:</a:t>
            </a:r>
          </a:p>
          <a:p>
            <a:pPr lvl="3"/>
            <a:r>
              <a:rPr lang="en-US" dirty="0"/>
              <a:t>Allow sweatshops</a:t>
            </a:r>
          </a:p>
          <a:p>
            <a:pPr lvl="3"/>
            <a:r>
              <a:rPr lang="en-US" dirty="0"/>
              <a:t>Pursue policies that bail out governmental officials at the expense of local economies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3" name="Slide Number Placeholder 2"/>
          <p:cNvSpPr>
            <a:spLocks noGrp="1"/>
          </p:cNvSpPr>
          <p:nvPr>
            <p:ph type="sldNum" sz="quarter" idx="12"/>
          </p:nvPr>
        </p:nvSpPr>
        <p:spPr/>
        <p:txBody>
          <a:bodyPr/>
          <a:lstStyle/>
          <a:p>
            <a:fld id="{A7433447-5B6D-461F-92B6-F60C76EA706E}" type="slidenum">
              <a:rPr lang="en-US" smtClean="0"/>
              <a:pPr/>
              <a:t>43</a:t>
            </a:fld>
            <a:endParaRPr lang="en-US"/>
          </a:p>
        </p:txBody>
      </p:sp>
      <p:sp>
        <p:nvSpPr>
          <p:cNvPr id="4" name="Title 3"/>
          <p:cNvSpPr>
            <a:spLocks noGrp="1"/>
          </p:cNvSpPr>
          <p:nvPr>
            <p:ph type="title"/>
          </p:nvPr>
        </p:nvSpPr>
        <p:spPr/>
        <p:txBody>
          <a:bodyPr/>
          <a:lstStyle/>
          <a:p>
            <a:r>
              <a:rPr lang="en-US" dirty="0"/>
              <a:t>Advantages and disadvantages of globalization</a:t>
            </a:r>
          </a:p>
        </p:txBody>
      </p:sp>
      <p:sp>
        <p:nvSpPr>
          <p:cNvPr id="5" name="Content Placeholder 4"/>
          <p:cNvSpPr>
            <a:spLocks noGrp="1"/>
          </p:cNvSpPr>
          <p:nvPr>
            <p:ph sz="quarter" idx="13"/>
          </p:nvPr>
        </p:nvSpPr>
        <p:spPr>
          <a:xfrm>
            <a:off x="154371" y="189730"/>
            <a:ext cx="1839681" cy="506049"/>
          </a:xfrm>
        </p:spPr>
        <p:txBody>
          <a:bodyPr>
            <a:normAutofit lnSpcReduction="10000"/>
          </a:bodyPr>
          <a:lstStyle/>
          <a:p>
            <a:r>
              <a:rPr lang="en-US" dirty="0"/>
              <a:t>TABLE 1.6</a:t>
            </a:r>
          </a:p>
        </p:txBody>
      </p:sp>
      <p:graphicFrame>
        <p:nvGraphicFramePr>
          <p:cNvPr id="7" name="Table 6"/>
          <p:cNvGraphicFramePr>
            <a:graphicFrameLocks noGrp="1"/>
          </p:cNvGraphicFramePr>
          <p:nvPr/>
        </p:nvGraphicFramePr>
        <p:xfrm>
          <a:off x="201880" y="660740"/>
          <a:ext cx="8716490" cy="5674360"/>
        </p:xfrm>
        <a:graphic>
          <a:graphicData uri="http://schemas.openxmlformats.org/drawingml/2006/table">
            <a:tbl>
              <a:tblPr>
                <a:tableStyleId>{5C22544A-7EE6-4342-B048-85BDC9FD1C3A}</a:tableStyleId>
              </a:tblPr>
              <a:tblGrid>
                <a:gridCol w="4465123">
                  <a:extLst>
                    <a:ext uri="{9D8B030D-6E8A-4147-A177-3AD203B41FA5}">
                      <a16:colId xmlns:a16="http://schemas.microsoft.com/office/drawing/2014/main" val="20000"/>
                    </a:ext>
                  </a:extLst>
                </a:gridCol>
                <a:gridCol w="4251367">
                  <a:extLst>
                    <a:ext uri="{9D8B030D-6E8A-4147-A177-3AD203B41FA5}">
                      <a16:colId xmlns:a16="http://schemas.microsoft.com/office/drawing/2014/main" val="20001"/>
                    </a:ext>
                  </a:extLst>
                </a:gridCol>
              </a:tblGrid>
              <a:tr h="370840">
                <a:tc>
                  <a:txBody>
                    <a:bodyPr/>
                    <a:lstStyle/>
                    <a:p>
                      <a:r>
                        <a:rPr lang="en-US" sz="1800" b="1" kern="1200" baseline="0" dirty="0">
                          <a:solidFill>
                            <a:schemeClr val="dk1"/>
                          </a:solidFill>
                          <a:latin typeface="+mn-lt"/>
                          <a:ea typeface="+mn-ea"/>
                          <a:cs typeface="+mn-cs"/>
                        </a:rPr>
                        <a:t>Advantages</a:t>
                      </a:r>
                      <a:endParaRPr lang="en-US"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ADE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1" kern="1200" baseline="0" dirty="0">
                          <a:solidFill>
                            <a:schemeClr val="dk1"/>
                          </a:solidFill>
                          <a:latin typeface="+mn-lt"/>
                          <a:ea typeface="+mn-ea"/>
                          <a:cs typeface="+mn-cs"/>
                        </a:rPr>
                        <a:t>Disadvantages</a:t>
                      </a:r>
                      <a:endParaRPr lang="en-US"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ADE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buFont typeface="Arial" pitchFamily="34" charset="0"/>
                        <a:buChar char="•"/>
                      </a:pPr>
                      <a:r>
                        <a:rPr lang="en-US" sz="1800" kern="1200" baseline="0" dirty="0">
                          <a:solidFill>
                            <a:schemeClr val="dk1"/>
                          </a:solidFill>
                          <a:latin typeface="+mn-lt"/>
                          <a:ea typeface="+mn-ea"/>
                          <a:cs typeface="+mn-cs"/>
                        </a:rPr>
                        <a:t>Productivity increases faster when countries produce goods and services in which they have a comparative advantage. Living standards can increase more rapidly.</a:t>
                      </a:r>
                    </a:p>
                    <a:p>
                      <a:pPr>
                        <a:buFont typeface="Arial" pitchFamily="34" charset="0"/>
                        <a:buChar char="•"/>
                      </a:pPr>
                      <a:r>
                        <a:rPr lang="en-US" sz="1800" kern="1200" baseline="0" dirty="0">
                          <a:solidFill>
                            <a:schemeClr val="dk1"/>
                          </a:solidFill>
                          <a:latin typeface="+mn-lt"/>
                          <a:ea typeface="+mn-ea"/>
                          <a:cs typeface="+mn-cs"/>
                        </a:rPr>
                        <a:t>Global competition and cheap imports keep a constraint on prices, so inflation is less likely to disrupt economic growth.</a:t>
                      </a:r>
                    </a:p>
                    <a:p>
                      <a:pPr>
                        <a:buFont typeface="Arial" pitchFamily="34" charset="0"/>
                        <a:buChar char="•"/>
                      </a:pPr>
                      <a:r>
                        <a:rPr lang="en-US" sz="1800" kern="1200" baseline="0" dirty="0">
                          <a:solidFill>
                            <a:schemeClr val="dk1"/>
                          </a:solidFill>
                          <a:latin typeface="+mn-lt"/>
                          <a:ea typeface="+mn-ea"/>
                          <a:cs typeface="+mn-cs"/>
                        </a:rPr>
                        <a:t>An open economy promotes technological development and innovation, with fresh ideas from abroad.</a:t>
                      </a:r>
                    </a:p>
                    <a:p>
                      <a:pPr>
                        <a:buFont typeface="Arial" pitchFamily="34" charset="0"/>
                        <a:buChar char="•"/>
                      </a:pPr>
                      <a:r>
                        <a:rPr lang="en-US" sz="1800" kern="1200" baseline="0" dirty="0">
                          <a:solidFill>
                            <a:schemeClr val="dk1"/>
                          </a:solidFill>
                          <a:latin typeface="+mn-lt"/>
                          <a:ea typeface="+mn-ea"/>
                          <a:cs typeface="+mn-cs"/>
                        </a:rPr>
                        <a:t>Jobs in export industries tend to pay about 15 percent more than jobs in import-competing industries.</a:t>
                      </a:r>
                    </a:p>
                    <a:p>
                      <a:pPr>
                        <a:buFont typeface="Arial" pitchFamily="34" charset="0"/>
                        <a:buChar char="•"/>
                      </a:pPr>
                      <a:r>
                        <a:rPr lang="en-US" sz="1800" kern="1200" baseline="0" dirty="0">
                          <a:solidFill>
                            <a:schemeClr val="dk1"/>
                          </a:solidFill>
                          <a:latin typeface="+mn-lt"/>
                          <a:ea typeface="+mn-ea"/>
                          <a:cs typeface="+mn-cs"/>
                        </a:rPr>
                        <a:t>Unfettered capital movements provide the United States access to foreign investment and maintain low interest rates.</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ADEA"/>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Font typeface="Arial" pitchFamily="34" charset="0"/>
                        <a:buChar char="•"/>
                      </a:pPr>
                      <a:r>
                        <a:rPr lang="en-US" sz="1800" kern="1200" baseline="0" dirty="0">
                          <a:solidFill>
                            <a:schemeClr val="dk1"/>
                          </a:solidFill>
                          <a:latin typeface="+mn-lt"/>
                          <a:ea typeface="+mn-ea"/>
                          <a:cs typeface="+mn-cs"/>
                        </a:rPr>
                        <a:t>Millions of Americans have lost jobs because of imports or shifts in production abroad. Most find new jobs that pay less.</a:t>
                      </a:r>
                    </a:p>
                    <a:p>
                      <a:pPr>
                        <a:buFont typeface="Arial" pitchFamily="34" charset="0"/>
                        <a:buChar char="•"/>
                      </a:pPr>
                      <a:r>
                        <a:rPr lang="en-US" sz="1800" kern="1200" baseline="0" dirty="0">
                          <a:solidFill>
                            <a:schemeClr val="dk1"/>
                          </a:solidFill>
                          <a:latin typeface="+mn-lt"/>
                          <a:ea typeface="+mn-ea"/>
                          <a:cs typeface="+mn-cs"/>
                        </a:rPr>
                        <a:t>Millions of other Americans fear getting laid off, especially at those firms operating in import-competing industries.</a:t>
                      </a:r>
                    </a:p>
                    <a:p>
                      <a:pPr>
                        <a:buFont typeface="Arial" pitchFamily="34" charset="0"/>
                        <a:buChar char="•"/>
                      </a:pPr>
                      <a:r>
                        <a:rPr lang="en-US" sz="1800" kern="1200" baseline="0" dirty="0">
                          <a:solidFill>
                            <a:schemeClr val="dk1"/>
                          </a:solidFill>
                          <a:latin typeface="+mn-lt"/>
                          <a:ea typeface="+mn-ea"/>
                          <a:cs typeface="+mn-cs"/>
                        </a:rPr>
                        <a:t>Workers face demands of wage concessions from their employers, which often threaten to export jobs abroad if wage concessions are not accepted.</a:t>
                      </a:r>
                    </a:p>
                    <a:p>
                      <a:pPr>
                        <a:buFont typeface="Arial" pitchFamily="34" charset="0"/>
                        <a:buChar char="•"/>
                      </a:pPr>
                      <a:r>
                        <a:rPr lang="en-US" sz="1800" kern="1200" baseline="0" dirty="0">
                          <a:solidFill>
                            <a:schemeClr val="dk1"/>
                          </a:solidFill>
                          <a:latin typeface="+mn-lt"/>
                          <a:ea typeface="+mn-ea"/>
                          <a:cs typeface="+mn-cs"/>
                        </a:rPr>
                        <a:t>Besides blue-collar jobs, service and white-collar jobs are increasingly vulnerable to operations being sent overseas.</a:t>
                      </a:r>
                    </a:p>
                    <a:p>
                      <a:pPr>
                        <a:buFont typeface="Arial" pitchFamily="34" charset="0"/>
                        <a:buChar char="•"/>
                      </a:pPr>
                      <a:r>
                        <a:rPr lang="en-US" sz="1800" kern="1200" baseline="0" dirty="0">
                          <a:solidFill>
                            <a:schemeClr val="dk1"/>
                          </a:solidFill>
                          <a:latin typeface="+mn-lt"/>
                          <a:ea typeface="+mn-ea"/>
                          <a:cs typeface="+mn-cs"/>
                        </a:rPr>
                        <a:t>American employees can lose their competitiveness when companies build state-of-the-art factories in low-wage countries, making them as productive as those in the United States.</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ADEA"/>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Terrorism Jolts the Global Economy</a:t>
            </a:r>
          </a:p>
        </p:txBody>
      </p:sp>
      <p:sp>
        <p:nvSpPr>
          <p:cNvPr id="3" name="Content Placeholder 2"/>
          <p:cNvSpPr>
            <a:spLocks noGrp="1"/>
          </p:cNvSpPr>
          <p:nvPr>
            <p:ph idx="1"/>
          </p:nvPr>
        </p:nvSpPr>
        <p:spPr/>
        <p:txBody>
          <a:bodyPr>
            <a:normAutofit/>
          </a:bodyPr>
          <a:lstStyle/>
          <a:p>
            <a:r>
              <a:rPr lang="en-US" dirty="0"/>
              <a:t>Continuing terrorism</a:t>
            </a:r>
          </a:p>
          <a:p>
            <a:pPr lvl="1"/>
            <a:r>
              <a:rPr lang="en-US" dirty="0"/>
              <a:t>Companies – increased security costs</a:t>
            </a:r>
          </a:p>
          <a:p>
            <a:pPr lvl="1"/>
            <a:r>
              <a:rPr lang="en-US" dirty="0"/>
              <a:t>Heightened border inspections </a:t>
            </a:r>
          </a:p>
          <a:p>
            <a:pPr lvl="2"/>
            <a:r>
              <a:rPr lang="en-US" dirty="0"/>
              <a:t>Slow shipments of cargo</a:t>
            </a:r>
          </a:p>
          <a:p>
            <a:pPr lvl="2"/>
            <a:r>
              <a:rPr lang="en-US" dirty="0"/>
              <a:t>Companies - stock more inventory</a:t>
            </a:r>
          </a:p>
          <a:p>
            <a:pPr lvl="1"/>
            <a:r>
              <a:rPr lang="en-US" dirty="0"/>
              <a:t>Tighter immigration policies</a:t>
            </a:r>
          </a:p>
          <a:p>
            <a:pPr lvl="2"/>
            <a:r>
              <a:rPr lang="en-US" dirty="0"/>
              <a:t>Reduce inflows of skilled and blue-collar laborers</a:t>
            </a:r>
          </a:p>
          <a:p>
            <a:pPr lvl="1"/>
            <a:r>
              <a:rPr lang="en-US" dirty="0"/>
              <a:t>Greater preoccupation with political risk</a:t>
            </a:r>
          </a:p>
          <a:p>
            <a:pPr lvl="2"/>
            <a:r>
              <a:rPr lang="en-US" dirty="0"/>
              <a:t>Companies – fewer investments</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Terrorism Jolts the Global Economy</a:t>
            </a:r>
          </a:p>
        </p:txBody>
      </p:sp>
      <p:sp>
        <p:nvSpPr>
          <p:cNvPr id="3" name="Content Placeholder 2"/>
          <p:cNvSpPr>
            <a:spLocks noGrp="1"/>
          </p:cNvSpPr>
          <p:nvPr>
            <p:ph idx="1"/>
          </p:nvPr>
        </p:nvSpPr>
        <p:spPr/>
        <p:txBody>
          <a:bodyPr>
            <a:normAutofit/>
          </a:bodyPr>
          <a:lstStyle/>
          <a:p>
            <a:r>
              <a:rPr lang="en-US" dirty="0"/>
              <a:t>International trade</a:t>
            </a:r>
          </a:p>
          <a:p>
            <a:pPr lvl="1"/>
            <a:r>
              <a:rPr lang="en-US" dirty="0"/>
              <a:t>Weapon in the war against terrorism in the long-run</a:t>
            </a:r>
          </a:p>
          <a:p>
            <a:pPr lvl="1"/>
            <a:r>
              <a:rPr lang="en-US" dirty="0"/>
              <a:t>Increasing living standards in impoverished regions</a:t>
            </a:r>
          </a:p>
          <a:p>
            <a:pPr lvl="1"/>
            <a:r>
              <a:rPr lang="en-US" dirty="0"/>
              <a:t>Eliminating an important cause of war and terror</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1850" y="51087"/>
            <a:ext cx="7129749" cy="944562"/>
          </a:xfrm>
        </p:spPr>
        <p:txBody>
          <a:bodyPr>
            <a:noAutofit/>
          </a:bodyPr>
          <a:lstStyle/>
          <a:p>
            <a:r>
              <a:rPr lang="en-US" sz="3600" dirty="0"/>
              <a:t>Competition in the World Steel Industry</a:t>
            </a:r>
          </a:p>
        </p:txBody>
      </p:sp>
      <p:sp>
        <p:nvSpPr>
          <p:cNvPr id="3" name="Content Placeholder 2"/>
          <p:cNvSpPr>
            <a:spLocks noGrp="1"/>
          </p:cNvSpPr>
          <p:nvPr>
            <p:ph idx="1"/>
          </p:nvPr>
        </p:nvSpPr>
        <p:spPr/>
        <p:txBody>
          <a:bodyPr>
            <a:normAutofit/>
          </a:bodyPr>
          <a:lstStyle/>
          <a:p>
            <a:r>
              <a:rPr lang="en-US" dirty="0"/>
              <a:t>1982, average cost per ton of steel</a:t>
            </a:r>
          </a:p>
          <a:p>
            <a:pPr lvl="1"/>
            <a:r>
              <a:rPr lang="en-US" dirty="0"/>
              <a:t>U.S. producers: $685 per ton</a:t>
            </a:r>
          </a:p>
          <a:p>
            <a:pPr lvl="2"/>
            <a:r>
              <a:rPr lang="en-US" dirty="0"/>
              <a:t>52%  higher than for Japanese producers</a:t>
            </a:r>
          </a:p>
          <a:p>
            <a:pPr lvl="1"/>
            <a:r>
              <a:rPr lang="en-US" dirty="0"/>
              <a:t>Cost differential</a:t>
            </a:r>
          </a:p>
          <a:p>
            <a:pPr lvl="2"/>
            <a:r>
              <a:rPr lang="en-US" dirty="0"/>
              <a:t>Strong U.S. dollar</a:t>
            </a:r>
          </a:p>
          <a:p>
            <a:pPr lvl="2"/>
            <a:r>
              <a:rPr lang="en-US" dirty="0"/>
              <a:t>Higher U.S. costs of labor (25% of total cost)</a:t>
            </a:r>
          </a:p>
          <a:p>
            <a:pPr lvl="2"/>
            <a:r>
              <a:rPr lang="en-US" dirty="0"/>
              <a:t>Higher U.S. cost of raw materials (45% of total cost)</a:t>
            </a:r>
          </a:p>
          <a:p>
            <a:pPr lvl="2"/>
            <a:r>
              <a:rPr lang="en-US" dirty="0"/>
              <a:t>High fixed costs of production</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1850" y="51087"/>
            <a:ext cx="7129749" cy="944562"/>
          </a:xfrm>
        </p:spPr>
        <p:txBody>
          <a:bodyPr>
            <a:noAutofit/>
          </a:bodyPr>
          <a:lstStyle/>
          <a:p>
            <a:r>
              <a:rPr lang="en-US" sz="3600" dirty="0"/>
              <a:t>Competition in the World Steel Industry</a:t>
            </a:r>
          </a:p>
        </p:txBody>
      </p:sp>
      <p:sp>
        <p:nvSpPr>
          <p:cNvPr id="3" name="Content Placeholder 2"/>
          <p:cNvSpPr>
            <a:spLocks noGrp="1"/>
          </p:cNvSpPr>
          <p:nvPr>
            <p:ph idx="1"/>
          </p:nvPr>
        </p:nvSpPr>
        <p:spPr>
          <a:xfrm>
            <a:off x="190280" y="1211855"/>
            <a:ext cx="8953720" cy="5361067"/>
          </a:xfrm>
        </p:spPr>
        <p:txBody>
          <a:bodyPr>
            <a:normAutofit/>
          </a:bodyPr>
          <a:lstStyle/>
          <a:p>
            <a:r>
              <a:rPr lang="en-US" dirty="0"/>
              <a:t>U.S. steelmakers</a:t>
            </a:r>
          </a:p>
          <a:p>
            <a:pPr lvl="1"/>
            <a:r>
              <a:rPr lang="en-US" sz="3100" dirty="0"/>
              <a:t>Reduce production costs, regain competitiveness</a:t>
            </a:r>
          </a:p>
          <a:p>
            <a:pPr lvl="2"/>
            <a:r>
              <a:rPr lang="en-US" dirty="0"/>
              <a:t>Long-term contracts for raw materials (lower prices)</a:t>
            </a:r>
          </a:p>
          <a:p>
            <a:pPr lvl="2"/>
            <a:r>
              <a:rPr lang="en-US" dirty="0"/>
              <a:t>Labor contracts - 20 to 40 percent improvement in labor productivity</a:t>
            </a:r>
          </a:p>
          <a:p>
            <a:pPr lvl="1"/>
            <a:r>
              <a:rPr lang="en-US" dirty="0"/>
              <a:t>Problems</a:t>
            </a:r>
          </a:p>
          <a:p>
            <a:pPr lvl="2"/>
            <a:r>
              <a:rPr lang="en-US" dirty="0"/>
              <a:t>Large unfunded pension obligations</a:t>
            </a:r>
          </a:p>
          <a:p>
            <a:pPr lvl="2"/>
            <a:r>
              <a:rPr lang="en-US" dirty="0"/>
              <a:t>Large healthcare costs for retirees</a:t>
            </a:r>
          </a:p>
          <a:p>
            <a:pPr lvl="2"/>
            <a:r>
              <a:rPr lang="en-US" dirty="0"/>
              <a:t>Shrinking employee base</a:t>
            </a:r>
          </a:p>
        </p:txBody>
      </p:sp>
      <p:sp>
        <p:nvSpPr>
          <p:cNvPr id="4" name="Footer Placeholder 3"/>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5" name="Slide Number Placeholder 4"/>
          <p:cNvSpPr>
            <a:spLocks noGrp="1"/>
          </p:cNvSpPr>
          <p:nvPr>
            <p:ph type="sldNum" sz="quarter" idx="12"/>
          </p:nvPr>
        </p:nvSpPr>
        <p:spPr/>
        <p:txBody>
          <a:bodyPr/>
          <a:lstStyle/>
          <a:p>
            <a:fld id="{A7433447-5B6D-461F-92B6-F60C76EA706E}"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t="-57000" b="-57000"/>
          </a:stretch>
        </a:blipFill>
        <a:effectLst/>
      </p:bgPr>
    </p:bg>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2011 Cengage Learning. All Rights Reserved. May not be copied, scanned, or duplicated, in whole or in part, except for use as permitted in a license distributed with a certain product or service or otherwise on a password‐protected website for classroom use</a:t>
            </a:r>
          </a:p>
        </p:txBody>
      </p:sp>
      <p:sp>
        <p:nvSpPr>
          <p:cNvPr id="3" name="Slide Number Placeholder 2"/>
          <p:cNvSpPr>
            <a:spLocks noGrp="1"/>
          </p:cNvSpPr>
          <p:nvPr>
            <p:ph type="sldNum" sz="quarter" idx="12"/>
          </p:nvPr>
        </p:nvSpPr>
        <p:spPr/>
        <p:txBody>
          <a:bodyPr/>
          <a:lstStyle/>
          <a:p>
            <a:fld id="{A7433447-5B6D-461F-92B6-F60C76EA706E}" type="slidenum">
              <a:rPr lang="en-US" smtClean="0"/>
              <a:pPr/>
              <a:t>48</a:t>
            </a:fld>
            <a:endParaRPr lang="en-US"/>
          </a:p>
        </p:txBody>
      </p:sp>
      <p:sp>
        <p:nvSpPr>
          <p:cNvPr id="4" name="Title 3"/>
          <p:cNvSpPr>
            <a:spLocks noGrp="1"/>
          </p:cNvSpPr>
          <p:nvPr>
            <p:ph type="title"/>
          </p:nvPr>
        </p:nvSpPr>
        <p:spPr>
          <a:xfrm>
            <a:off x="1876301" y="232707"/>
            <a:ext cx="7267699" cy="358588"/>
          </a:xfrm>
        </p:spPr>
        <p:txBody>
          <a:bodyPr/>
          <a:lstStyle/>
          <a:p>
            <a:r>
              <a:rPr lang="en-US" sz="2400" dirty="0"/>
              <a:t>World steel cost comparisons: cost per ton of steel, 2009</a:t>
            </a:r>
          </a:p>
        </p:txBody>
      </p:sp>
      <p:sp>
        <p:nvSpPr>
          <p:cNvPr id="5" name="Content Placeholder 4"/>
          <p:cNvSpPr>
            <a:spLocks noGrp="1"/>
          </p:cNvSpPr>
          <p:nvPr>
            <p:ph sz="quarter" idx="13"/>
          </p:nvPr>
        </p:nvSpPr>
        <p:spPr>
          <a:xfrm>
            <a:off x="154371" y="189730"/>
            <a:ext cx="1839681" cy="506049"/>
          </a:xfrm>
        </p:spPr>
        <p:txBody>
          <a:bodyPr>
            <a:normAutofit lnSpcReduction="10000"/>
          </a:bodyPr>
          <a:lstStyle/>
          <a:p>
            <a:r>
              <a:rPr lang="en-US" dirty="0"/>
              <a:t>TABLE 1.7</a:t>
            </a:r>
          </a:p>
        </p:txBody>
      </p:sp>
      <p:pic>
        <p:nvPicPr>
          <p:cNvPr id="36866" name="Picture 2"/>
          <p:cNvPicPr>
            <a:picLocks noChangeAspect="1" noChangeArrowheads="1"/>
          </p:cNvPicPr>
          <p:nvPr/>
        </p:nvPicPr>
        <p:blipFill>
          <a:blip r:embed="rId3" cstate="print"/>
          <a:srcRect/>
          <a:stretch>
            <a:fillRect/>
          </a:stretch>
        </p:blipFill>
        <p:spPr bwMode="auto">
          <a:xfrm>
            <a:off x="1400175" y="1000688"/>
            <a:ext cx="6343650" cy="44291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wipe(up)">
                                      <p:cBhvr>
                                        <p:cTn id="7" dur="500"/>
                                        <p:tgtEl>
                                          <p:spTgt spid="36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1066</TotalTime>
  <Words>4622</Words>
  <Application>Microsoft Office PowerPoint</Application>
  <PresentationFormat>On-screen Show (4:3)</PresentationFormat>
  <Paragraphs>459</Paragraphs>
  <Slides>48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The International Economy and Globalization</vt:lpstr>
      <vt:lpstr>The International Economy</vt:lpstr>
      <vt:lpstr>The International Economy</vt:lpstr>
      <vt:lpstr>Globalization of Economic Activity</vt:lpstr>
      <vt:lpstr>Globalization of Economic Activity</vt:lpstr>
      <vt:lpstr>Waves of Globalization</vt:lpstr>
      <vt:lpstr>Waves of Globalization</vt:lpstr>
      <vt:lpstr>Waves of Globalization</vt:lpstr>
      <vt:lpstr>Waves of Globalization</vt:lpstr>
      <vt:lpstr>Waves of Globalization</vt:lpstr>
      <vt:lpstr>Waves of Globalization</vt:lpstr>
      <vt:lpstr>Waves of Globalization</vt:lpstr>
      <vt:lpstr>Waves of Globalization</vt:lpstr>
      <vt:lpstr>Waves of Globalization</vt:lpstr>
      <vt:lpstr>Waves of Globalization</vt:lpstr>
      <vt:lpstr>Waves of Globalization</vt:lpstr>
      <vt:lpstr>Manufacturing an HP Pavilion, ZD8000 laptop computer</vt:lpstr>
      <vt:lpstr>Waves of Globalization</vt:lpstr>
      <vt:lpstr>Globalization goes white collar</vt:lpstr>
      <vt:lpstr>Why Is Globalization Important?</vt:lpstr>
      <vt:lpstr>Why Is Globalization Important?</vt:lpstr>
      <vt:lpstr>Global competition lowers inflation</vt:lpstr>
      <vt:lpstr>Why Is Globalization Important?</vt:lpstr>
      <vt:lpstr>Tariff barriers versus economic growth</vt:lpstr>
      <vt:lpstr>Why Is Globalization Important?</vt:lpstr>
      <vt:lpstr>The Global Recession of 2007 – 2009 </vt:lpstr>
      <vt:lpstr>The Global Recession of 2007 – 2009 </vt:lpstr>
      <vt:lpstr>The Global Recession of 2007 – 2009 </vt:lpstr>
      <vt:lpstr>The Global Recession of 2007 – 2009 </vt:lpstr>
      <vt:lpstr>The Global Recession of 2007 – 2009 </vt:lpstr>
      <vt:lpstr>The Global Recession of 2007 – 2009 </vt:lpstr>
      <vt:lpstr>Common Fallacies of International Trade</vt:lpstr>
      <vt:lpstr>Common Fallacies of International Trade</vt:lpstr>
      <vt:lpstr>Does Free Trade Apply to Cigarettes?</vt:lpstr>
      <vt:lpstr>Does Free Trade Apply to Cigarettes?</vt:lpstr>
      <vt:lpstr>Is International Trade an Opportunity or a Threat to Workers?</vt:lpstr>
      <vt:lpstr>Is International Trade an Opportunity or a Threat to Workers?</vt:lpstr>
      <vt:lpstr>Is International Trade an Opportunity or a Threat to Workers?</vt:lpstr>
      <vt:lpstr>Is International Trade an Opportunity or a Threat to Workers?</vt:lpstr>
      <vt:lpstr>Backlash Against Globalization</vt:lpstr>
      <vt:lpstr>Backlash Against Globalization</vt:lpstr>
      <vt:lpstr>Backlash Against Globalization</vt:lpstr>
      <vt:lpstr>Advantages and disadvantages of globalization</vt:lpstr>
      <vt:lpstr>Terrorism Jolts the Global Economy</vt:lpstr>
      <vt:lpstr>Terrorism Jolts the Global Economy</vt:lpstr>
      <vt:lpstr>Competition in the World Steel Industry</vt:lpstr>
      <vt:lpstr>Competition in the World Steel Industry</vt:lpstr>
      <vt:lpstr>World steel cost comparisons: cost per ton of steel, 2009</vt:lpstr>
    </vt:vector>
  </TitlesOfParts>
  <Company>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Network Administrator</dc:creator>
  <cp:lastModifiedBy>Avishek Bhandari</cp:lastModifiedBy>
  <cp:revision>68</cp:revision>
  <dcterms:created xsi:type="dcterms:W3CDTF">2010-06-29T16:43:20Z</dcterms:created>
  <dcterms:modified xsi:type="dcterms:W3CDTF">2023-09-04T07:34:26Z</dcterms:modified>
</cp:coreProperties>
</file>