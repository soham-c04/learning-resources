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342" r:id="rId3"/>
    <p:sldId id="258" r:id="rId4"/>
    <p:sldId id="263" r:id="rId5"/>
    <p:sldId id="261" r:id="rId6"/>
    <p:sldId id="262" r:id="rId7"/>
    <p:sldId id="330" r:id="rId8"/>
    <p:sldId id="331" r:id="rId9"/>
    <p:sldId id="346" r:id="rId10"/>
    <p:sldId id="265" r:id="rId11"/>
    <p:sldId id="329" r:id="rId12"/>
    <p:sldId id="266" r:id="rId13"/>
    <p:sldId id="268" r:id="rId14"/>
    <p:sldId id="270" r:id="rId15"/>
    <p:sldId id="271" r:id="rId16"/>
    <p:sldId id="272" r:id="rId17"/>
    <p:sldId id="289" r:id="rId18"/>
    <p:sldId id="294" r:id="rId19"/>
    <p:sldId id="303" r:id="rId20"/>
    <p:sldId id="295" r:id="rId21"/>
    <p:sldId id="296" r:id="rId22"/>
    <p:sldId id="333" r:id="rId23"/>
    <p:sldId id="343" r:id="rId24"/>
    <p:sldId id="302" r:id="rId25"/>
    <p:sldId id="297" r:id="rId26"/>
    <p:sldId id="298" r:id="rId27"/>
    <p:sldId id="299" r:id="rId28"/>
    <p:sldId id="304" r:id="rId29"/>
    <p:sldId id="305" r:id="rId30"/>
    <p:sldId id="307" r:id="rId31"/>
    <p:sldId id="308" r:id="rId32"/>
    <p:sldId id="310" r:id="rId33"/>
    <p:sldId id="311" r:id="rId34"/>
    <p:sldId id="312" r:id="rId35"/>
    <p:sldId id="349" r:id="rId36"/>
    <p:sldId id="314" r:id="rId37"/>
    <p:sldId id="316" r:id="rId38"/>
    <p:sldId id="319" r:id="rId39"/>
    <p:sldId id="322" r:id="rId40"/>
    <p:sldId id="324" r:id="rId41"/>
    <p:sldId id="327" r:id="rId42"/>
    <p:sldId id="328" r:id="rId43"/>
    <p:sldId id="334" r:id="rId44"/>
    <p:sldId id="338" r:id="rId45"/>
    <p:sldId id="337" r:id="rId46"/>
    <p:sldId id="340" r:id="rId47"/>
    <p:sldId id="341" r:id="rId48"/>
    <p:sldId id="336" r:id="rId49"/>
    <p:sldId id="335" r:id="rId50"/>
    <p:sldId id="35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bhasmita Parida" initials="SP" lastIdx="1" clrIdx="0">
    <p:extLst>
      <p:ext uri="{19B8F6BF-5375-455C-9EA6-DF929625EA0E}">
        <p15:presenceInfo xmlns:p15="http://schemas.microsoft.com/office/powerpoint/2012/main" userId="45db87eead8b3a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60"/>
  </p:normalViewPr>
  <p:slideViewPr>
    <p:cSldViewPr snapToGrid="0">
      <p:cViewPr varScale="1">
        <p:scale>
          <a:sx n="85" d="100"/>
          <a:sy n="85" d="100"/>
        </p:scale>
        <p:origin x="82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asmita Parida" userId="45db87eead8b3a66" providerId="LiveId" clId="{55EBB8B7-8C72-43B1-9038-2CA6E3B3331A}"/>
    <pc:docChg chg="undo redo custSel addSld delSld modSld">
      <pc:chgData name="Subhasmita Parida" userId="45db87eead8b3a66" providerId="LiveId" clId="{55EBB8B7-8C72-43B1-9038-2CA6E3B3331A}" dt="2025-08-12T05:04:40.588" v="883" actId="255"/>
      <pc:docMkLst>
        <pc:docMk/>
      </pc:docMkLst>
      <pc:sldChg chg="addSp delSp modSp mod">
        <pc:chgData name="Subhasmita Parida" userId="45db87eead8b3a66" providerId="LiveId" clId="{55EBB8B7-8C72-43B1-9038-2CA6E3B3331A}" dt="2025-08-11T05:18:31.630" v="26" actId="478"/>
        <pc:sldMkLst>
          <pc:docMk/>
          <pc:sldMk cId="1826771589" sldId="263"/>
        </pc:sldMkLst>
        <pc:spChg chg="add del mod">
          <ac:chgData name="Subhasmita Parida" userId="45db87eead8b3a66" providerId="LiveId" clId="{55EBB8B7-8C72-43B1-9038-2CA6E3B3331A}" dt="2025-08-11T05:16:58.227" v="1"/>
          <ac:spMkLst>
            <pc:docMk/>
            <pc:sldMk cId="1826771589" sldId="263"/>
            <ac:spMk id="4" creationId="{78AA1CD4-69D1-4017-960A-0F5B520625BB}"/>
          </ac:spMkLst>
        </pc:spChg>
        <pc:spChg chg="del mod">
          <ac:chgData name="Subhasmita Parida" userId="45db87eead8b3a66" providerId="LiveId" clId="{55EBB8B7-8C72-43B1-9038-2CA6E3B3331A}" dt="2025-08-11T05:17:30.687" v="13" actId="478"/>
          <ac:spMkLst>
            <pc:docMk/>
            <pc:sldMk cId="1826771589" sldId="263"/>
            <ac:spMk id="6" creationId="{1970A44A-65E4-47D6-A72D-9B88BBE31D9A}"/>
          </ac:spMkLst>
        </pc:spChg>
        <pc:spChg chg="add del mod">
          <ac:chgData name="Subhasmita Parida" userId="45db87eead8b3a66" providerId="LiveId" clId="{55EBB8B7-8C72-43B1-9038-2CA6E3B3331A}" dt="2025-08-11T05:17:34.236" v="14" actId="478"/>
          <ac:spMkLst>
            <pc:docMk/>
            <pc:sldMk cId="1826771589" sldId="263"/>
            <ac:spMk id="10" creationId="{9B62D3B0-A403-4236-9E3C-0833F59B3BB2}"/>
          </ac:spMkLst>
        </pc:spChg>
        <pc:spChg chg="add mod">
          <ac:chgData name="Subhasmita Parida" userId="45db87eead8b3a66" providerId="LiveId" clId="{55EBB8B7-8C72-43B1-9038-2CA6E3B3331A}" dt="2025-08-11T05:18:19.441" v="25" actId="255"/>
          <ac:spMkLst>
            <pc:docMk/>
            <pc:sldMk cId="1826771589" sldId="263"/>
            <ac:spMk id="13" creationId="{D3490BC0-2C10-4252-BF01-481344ECA57B}"/>
          </ac:spMkLst>
        </pc:spChg>
        <pc:picChg chg="del">
          <ac:chgData name="Subhasmita Parida" userId="45db87eead8b3a66" providerId="LiveId" clId="{55EBB8B7-8C72-43B1-9038-2CA6E3B3331A}" dt="2025-08-11T05:18:31.630" v="26" actId="478"/>
          <ac:picMkLst>
            <pc:docMk/>
            <pc:sldMk cId="1826771589" sldId="263"/>
            <ac:picMk id="7" creationId="{BAE7FF26-9E97-4166-8E1A-B566981EEF90}"/>
          </ac:picMkLst>
        </pc:picChg>
        <pc:picChg chg="add mod">
          <ac:chgData name="Subhasmita Parida" userId="45db87eead8b3a66" providerId="LiveId" clId="{55EBB8B7-8C72-43B1-9038-2CA6E3B3331A}" dt="2025-08-11T05:17:54.894" v="19" actId="1076"/>
          <ac:picMkLst>
            <pc:docMk/>
            <pc:sldMk cId="1826771589" sldId="263"/>
            <ac:picMk id="8" creationId="{7D6A081A-AC63-4D3F-BA78-A11AD667CB7F}"/>
          </ac:picMkLst>
        </pc:picChg>
        <pc:picChg chg="del">
          <ac:chgData name="Subhasmita Parida" userId="45db87eead8b3a66" providerId="LiveId" clId="{55EBB8B7-8C72-43B1-9038-2CA6E3B3331A}" dt="2025-08-11T05:16:56.920" v="0" actId="478"/>
          <ac:picMkLst>
            <pc:docMk/>
            <pc:sldMk cId="1826771589" sldId="263"/>
            <ac:picMk id="33" creationId="{54CCDDF8-D5E9-461B-949A-1520AAA18805}"/>
          </ac:picMkLst>
        </pc:picChg>
      </pc:sldChg>
      <pc:sldChg chg="modSp">
        <pc:chgData name="Subhasmita Parida" userId="45db87eead8b3a66" providerId="LiveId" clId="{55EBB8B7-8C72-43B1-9038-2CA6E3B3331A}" dt="2025-08-12T05:04:40.588" v="883" actId="255"/>
        <pc:sldMkLst>
          <pc:docMk/>
          <pc:sldMk cId="964594848" sldId="272"/>
        </pc:sldMkLst>
        <pc:graphicFrameChg chg="mod">
          <ac:chgData name="Subhasmita Parida" userId="45db87eead8b3a66" providerId="LiveId" clId="{55EBB8B7-8C72-43B1-9038-2CA6E3B3331A}" dt="2025-08-12T05:04:40.588" v="883" actId="255"/>
          <ac:graphicFrameMkLst>
            <pc:docMk/>
            <pc:sldMk cId="964594848" sldId="272"/>
            <ac:graphicFrameMk id="7" creationId="{BD44794C-00BF-4A6E-8C60-512484B356B7}"/>
          </ac:graphicFrameMkLst>
        </pc:graphicFrameChg>
      </pc:sldChg>
      <pc:sldChg chg="modSp mod">
        <pc:chgData name="Subhasmita Parida" userId="45db87eead8b3a66" providerId="LiveId" clId="{55EBB8B7-8C72-43B1-9038-2CA6E3B3331A}" dt="2025-08-11T12:09:45.718" v="259" actId="113"/>
        <pc:sldMkLst>
          <pc:docMk/>
          <pc:sldMk cId="1991777381" sldId="304"/>
        </pc:sldMkLst>
        <pc:spChg chg="mod">
          <ac:chgData name="Subhasmita Parida" userId="45db87eead8b3a66" providerId="LiveId" clId="{55EBB8B7-8C72-43B1-9038-2CA6E3B3331A}" dt="2025-08-11T12:09:45.718" v="259" actId="113"/>
          <ac:spMkLst>
            <pc:docMk/>
            <pc:sldMk cId="1991777381" sldId="304"/>
            <ac:spMk id="3" creationId="{A72C9E36-B70B-46C9-997A-F4D7C97AA8D8}"/>
          </ac:spMkLst>
        </pc:spChg>
      </pc:sldChg>
      <pc:sldChg chg="modSp mod">
        <pc:chgData name="Subhasmita Parida" userId="45db87eead8b3a66" providerId="LiveId" clId="{55EBB8B7-8C72-43B1-9038-2CA6E3B3331A}" dt="2025-08-11T05:26:47.309" v="45" actId="20577"/>
        <pc:sldMkLst>
          <pc:docMk/>
          <pc:sldMk cId="2626677533" sldId="310"/>
        </pc:sldMkLst>
        <pc:spChg chg="mod">
          <ac:chgData name="Subhasmita Parida" userId="45db87eead8b3a66" providerId="LiveId" clId="{55EBB8B7-8C72-43B1-9038-2CA6E3B3331A}" dt="2025-08-11T05:26:47.309" v="45" actId="20577"/>
          <ac:spMkLst>
            <pc:docMk/>
            <pc:sldMk cId="2626677533" sldId="310"/>
            <ac:spMk id="6" creationId="{B35397F6-81DF-43F6-8019-A32EC23D05FE}"/>
          </ac:spMkLst>
        </pc:spChg>
      </pc:sldChg>
      <pc:sldChg chg="modSp mod">
        <pc:chgData name="Subhasmita Parida" userId="45db87eead8b3a66" providerId="LiveId" clId="{55EBB8B7-8C72-43B1-9038-2CA6E3B3331A}" dt="2025-08-11T05:26:56.804" v="46" actId="20577"/>
        <pc:sldMkLst>
          <pc:docMk/>
          <pc:sldMk cId="341263661" sldId="311"/>
        </pc:sldMkLst>
        <pc:spChg chg="mod">
          <ac:chgData name="Subhasmita Parida" userId="45db87eead8b3a66" providerId="LiveId" clId="{55EBB8B7-8C72-43B1-9038-2CA6E3B3331A}" dt="2025-08-11T05:26:56.804" v="46" actId="20577"/>
          <ac:spMkLst>
            <pc:docMk/>
            <pc:sldMk cId="341263661" sldId="311"/>
            <ac:spMk id="6" creationId="{32A55AD2-9140-4FB8-B9D8-456601881322}"/>
          </ac:spMkLst>
        </pc:spChg>
      </pc:sldChg>
      <pc:sldChg chg="modSp mod">
        <pc:chgData name="Subhasmita Parida" userId="45db87eead8b3a66" providerId="LiveId" clId="{55EBB8B7-8C72-43B1-9038-2CA6E3B3331A}" dt="2025-08-11T12:29:15.293" v="461" actId="20577"/>
        <pc:sldMkLst>
          <pc:docMk/>
          <pc:sldMk cId="2490589242" sldId="330"/>
        </pc:sldMkLst>
        <pc:spChg chg="mod">
          <ac:chgData name="Subhasmita Parida" userId="45db87eead8b3a66" providerId="LiveId" clId="{55EBB8B7-8C72-43B1-9038-2CA6E3B3331A}" dt="2025-08-11T12:29:15.293" v="461" actId="20577"/>
          <ac:spMkLst>
            <pc:docMk/>
            <pc:sldMk cId="2490589242" sldId="330"/>
            <ac:spMk id="3" creationId="{A72C9E36-B70B-46C9-997A-F4D7C97AA8D8}"/>
          </ac:spMkLst>
        </pc:spChg>
      </pc:sldChg>
      <pc:sldChg chg="modSp mod">
        <pc:chgData name="Subhasmita Parida" userId="45db87eead8b3a66" providerId="LiveId" clId="{55EBB8B7-8C72-43B1-9038-2CA6E3B3331A}" dt="2025-08-11T15:49:42.429" v="491" actId="2710"/>
        <pc:sldMkLst>
          <pc:docMk/>
          <pc:sldMk cId="3883915137" sldId="331"/>
        </pc:sldMkLst>
        <pc:spChg chg="mod">
          <ac:chgData name="Subhasmita Parida" userId="45db87eead8b3a66" providerId="LiveId" clId="{55EBB8B7-8C72-43B1-9038-2CA6E3B3331A}" dt="2025-08-11T15:49:42.429" v="491" actId="2710"/>
          <ac:spMkLst>
            <pc:docMk/>
            <pc:sldMk cId="3883915137" sldId="331"/>
            <ac:spMk id="3" creationId="{A72C9E36-B70B-46C9-997A-F4D7C97AA8D8}"/>
          </ac:spMkLst>
        </pc:spChg>
        <pc:spChg chg="mod">
          <ac:chgData name="Subhasmita Parida" userId="45db87eead8b3a66" providerId="LiveId" clId="{55EBB8B7-8C72-43B1-9038-2CA6E3B3331A}" dt="2025-08-11T05:19:03.521" v="28"/>
          <ac:spMkLst>
            <pc:docMk/>
            <pc:sldMk cId="3883915137" sldId="331"/>
            <ac:spMk id="8" creationId="{82714268-F9F5-47E0-8FEA-51A498BE6ACF}"/>
          </ac:spMkLst>
        </pc:spChg>
      </pc:sldChg>
      <pc:sldChg chg="modSp mod">
        <pc:chgData name="Subhasmita Parida" userId="45db87eead8b3a66" providerId="LiveId" clId="{55EBB8B7-8C72-43B1-9038-2CA6E3B3331A}" dt="2025-08-11T05:23:00.226" v="30" actId="14100"/>
        <pc:sldMkLst>
          <pc:docMk/>
          <pc:sldMk cId="4129656579" sldId="333"/>
        </pc:sldMkLst>
        <pc:spChg chg="mod">
          <ac:chgData name="Subhasmita Parida" userId="45db87eead8b3a66" providerId="LiveId" clId="{55EBB8B7-8C72-43B1-9038-2CA6E3B3331A}" dt="2025-08-11T05:23:00.226" v="30" actId="14100"/>
          <ac:spMkLst>
            <pc:docMk/>
            <pc:sldMk cId="4129656579" sldId="333"/>
            <ac:spMk id="3" creationId="{A72C9E36-B70B-46C9-997A-F4D7C97AA8D8}"/>
          </ac:spMkLst>
        </pc:spChg>
      </pc:sldChg>
      <pc:sldChg chg="addSp delSp modSp mod">
        <pc:chgData name="Subhasmita Parida" userId="45db87eead8b3a66" providerId="LiveId" clId="{55EBB8B7-8C72-43B1-9038-2CA6E3B3331A}" dt="2025-08-11T16:36:03.486" v="515" actId="14100"/>
        <pc:sldMkLst>
          <pc:docMk/>
          <pc:sldMk cId="3061441584" sldId="334"/>
        </pc:sldMkLst>
        <pc:picChg chg="add del mod">
          <ac:chgData name="Subhasmita Parida" userId="45db87eead8b3a66" providerId="LiveId" clId="{55EBB8B7-8C72-43B1-9038-2CA6E3B3331A}" dt="2025-08-11T16:35:35.591" v="504" actId="478"/>
          <ac:picMkLst>
            <pc:docMk/>
            <pc:sldMk cId="3061441584" sldId="334"/>
            <ac:picMk id="5" creationId="{15D64C60-337F-4625-92C7-0C0CA4A3DFBB}"/>
          </ac:picMkLst>
        </pc:picChg>
        <pc:picChg chg="add mod">
          <ac:chgData name="Subhasmita Parida" userId="45db87eead8b3a66" providerId="LiveId" clId="{55EBB8B7-8C72-43B1-9038-2CA6E3B3331A}" dt="2025-08-11T16:36:03.486" v="515" actId="14100"/>
          <ac:picMkLst>
            <pc:docMk/>
            <pc:sldMk cId="3061441584" sldId="334"/>
            <ac:picMk id="1026" creationId="{B4C4BC5B-C8D4-4CEC-83EF-345D3877074E}"/>
          </ac:picMkLst>
        </pc:picChg>
      </pc:sldChg>
      <pc:sldChg chg="delSp modSp add mod">
        <pc:chgData name="Subhasmita Parida" userId="45db87eead8b3a66" providerId="LiveId" clId="{55EBB8B7-8C72-43B1-9038-2CA6E3B3331A}" dt="2025-08-11T09:56:32.715" v="76" actId="20577"/>
        <pc:sldMkLst>
          <pc:docMk/>
          <pc:sldMk cId="237798437" sldId="342"/>
        </pc:sldMkLst>
        <pc:spChg chg="mod">
          <ac:chgData name="Subhasmita Parida" userId="45db87eead8b3a66" providerId="LiveId" clId="{55EBB8B7-8C72-43B1-9038-2CA6E3B3331A}" dt="2025-08-11T09:56:32.715" v="76" actId="20577"/>
          <ac:spMkLst>
            <pc:docMk/>
            <pc:sldMk cId="237798437" sldId="342"/>
            <ac:spMk id="3" creationId="{A72C9E36-B70B-46C9-997A-F4D7C97AA8D8}"/>
          </ac:spMkLst>
        </pc:spChg>
        <pc:spChg chg="mod">
          <ac:chgData name="Subhasmita Parida" userId="45db87eead8b3a66" providerId="LiveId" clId="{55EBB8B7-8C72-43B1-9038-2CA6E3B3331A}" dt="2025-08-11T09:55:48.123" v="69" actId="20577"/>
          <ac:spMkLst>
            <pc:docMk/>
            <pc:sldMk cId="237798437" sldId="342"/>
            <ac:spMk id="4" creationId="{4750F95C-005F-42A1-AD9B-6631B5ED5937}"/>
          </ac:spMkLst>
        </pc:spChg>
        <pc:picChg chg="del">
          <ac:chgData name="Subhasmita Parida" userId="45db87eead8b3a66" providerId="LiveId" clId="{55EBB8B7-8C72-43B1-9038-2CA6E3B3331A}" dt="2025-08-11T09:55:30.550" v="50" actId="478"/>
          <ac:picMkLst>
            <pc:docMk/>
            <pc:sldMk cId="237798437" sldId="342"/>
            <ac:picMk id="7" creationId="{B8C3D8B4-C5E8-4C3E-BD6E-5CAF558BFF84}"/>
          </ac:picMkLst>
        </pc:picChg>
      </pc:sldChg>
      <pc:sldChg chg="addSp delSp modSp add del mod">
        <pc:chgData name="Subhasmita Parida" userId="45db87eead8b3a66" providerId="LiveId" clId="{55EBB8B7-8C72-43B1-9038-2CA6E3B3331A}" dt="2025-08-11T11:55:49.942" v="143" actId="47"/>
        <pc:sldMkLst>
          <pc:docMk/>
          <pc:sldMk cId="2367664942" sldId="343"/>
        </pc:sldMkLst>
        <pc:spChg chg="del mod">
          <ac:chgData name="Subhasmita Parida" userId="45db87eead8b3a66" providerId="LiveId" clId="{55EBB8B7-8C72-43B1-9038-2CA6E3B3331A}" dt="2025-08-11T11:55:00.237" v="137" actId="478"/>
          <ac:spMkLst>
            <pc:docMk/>
            <pc:sldMk cId="2367664942" sldId="343"/>
            <ac:spMk id="3" creationId="{A72C9E36-B70B-46C9-997A-F4D7C97AA8D8}"/>
          </ac:spMkLst>
        </pc:spChg>
        <pc:spChg chg="add del">
          <ac:chgData name="Subhasmita Parida" userId="45db87eead8b3a66" providerId="LiveId" clId="{55EBB8B7-8C72-43B1-9038-2CA6E3B3331A}" dt="2025-08-11T11:55:00.237" v="137" actId="478"/>
          <ac:spMkLst>
            <pc:docMk/>
            <pc:sldMk cId="2367664942" sldId="343"/>
            <ac:spMk id="4" creationId="{F93551A3-D5DD-40F0-95B5-9693C829CC3C}"/>
          </ac:spMkLst>
        </pc:spChg>
        <pc:spChg chg="add del mod">
          <ac:chgData name="Subhasmita Parida" userId="45db87eead8b3a66" providerId="LiveId" clId="{55EBB8B7-8C72-43B1-9038-2CA6E3B3331A}" dt="2025-08-11T11:55:40.152" v="142"/>
          <ac:spMkLst>
            <pc:docMk/>
            <pc:sldMk cId="2367664942" sldId="343"/>
            <ac:spMk id="5" creationId="{A019ABA2-7C0B-4F71-A36D-F66B62876CF4}"/>
          </ac:spMkLst>
        </pc:spChg>
        <pc:spChg chg="add del mod">
          <ac:chgData name="Subhasmita Parida" userId="45db87eead8b3a66" providerId="LiveId" clId="{55EBB8B7-8C72-43B1-9038-2CA6E3B3331A}" dt="2025-08-11T11:55:40.152" v="142"/>
          <ac:spMkLst>
            <pc:docMk/>
            <pc:sldMk cId="2367664942" sldId="343"/>
            <ac:spMk id="6" creationId="{DBDF1F43-C02E-40D1-9073-408D4545E832}"/>
          </ac:spMkLst>
        </pc:spChg>
      </pc:sldChg>
      <pc:sldChg chg="addSp delSp modSp add mod">
        <pc:chgData name="Subhasmita Parida" userId="45db87eead8b3a66" providerId="LiveId" clId="{55EBB8B7-8C72-43B1-9038-2CA6E3B3331A}" dt="2025-08-11T15:50:53.772" v="493" actId="20577"/>
        <pc:sldMkLst>
          <pc:docMk/>
          <pc:sldMk cId="2783473792" sldId="343"/>
        </pc:sldMkLst>
        <pc:spChg chg="add del mod">
          <ac:chgData name="Subhasmita Parida" userId="45db87eead8b3a66" providerId="LiveId" clId="{55EBB8B7-8C72-43B1-9038-2CA6E3B3331A}" dt="2025-08-11T15:50:53.772" v="493" actId="20577"/>
          <ac:spMkLst>
            <pc:docMk/>
            <pc:sldMk cId="2783473792" sldId="343"/>
            <ac:spMk id="3" creationId="{A72C9E36-B70B-46C9-997A-F4D7C97AA8D8}"/>
          </ac:spMkLst>
        </pc:spChg>
        <pc:spChg chg="mod">
          <ac:chgData name="Subhasmita Parida" userId="45db87eead8b3a66" providerId="LiveId" clId="{55EBB8B7-8C72-43B1-9038-2CA6E3B3331A}" dt="2025-08-11T11:58:03.891" v="151" actId="20577"/>
          <ac:spMkLst>
            <pc:docMk/>
            <pc:sldMk cId="2783473792" sldId="343"/>
            <ac:spMk id="4" creationId="{4750F95C-005F-42A1-AD9B-6631B5ED5937}"/>
          </ac:spMkLst>
        </pc:spChg>
        <pc:spChg chg="add del mod">
          <ac:chgData name="Subhasmita Parida" userId="45db87eead8b3a66" providerId="LiveId" clId="{55EBB8B7-8C72-43B1-9038-2CA6E3B3331A}" dt="2025-08-11T11:57:48.282" v="147"/>
          <ac:spMkLst>
            <pc:docMk/>
            <pc:sldMk cId="2783473792" sldId="343"/>
            <ac:spMk id="6" creationId="{93638CB1-660E-4549-B5FA-D912E874986D}"/>
          </ac:spMkLst>
        </pc:spChg>
      </pc:sldChg>
      <pc:sldChg chg="modSp add del mod">
        <pc:chgData name="Subhasmita Parida" userId="45db87eead8b3a66" providerId="LiveId" clId="{55EBB8B7-8C72-43B1-9038-2CA6E3B3331A}" dt="2025-08-11T15:51:19.393" v="497" actId="47"/>
        <pc:sldMkLst>
          <pc:docMk/>
          <pc:sldMk cId="1848787821" sldId="344"/>
        </pc:sldMkLst>
        <pc:spChg chg="mod">
          <ac:chgData name="Subhasmita Parida" userId="45db87eead8b3a66" providerId="LiveId" clId="{55EBB8B7-8C72-43B1-9038-2CA6E3B3331A}" dt="2025-08-11T15:51:16.575" v="496" actId="6549"/>
          <ac:spMkLst>
            <pc:docMk/>
            <pc:sldMk cId="1848787821" sldId="344"/>
            <ac:spMk id="3" creationId="{A72C9E36-B70B-46C9-997A-F4D7C97AA8D8}"/>
          </ac:spMkLst>
        </pc:spChg>
      </pc:sldChg>
      <pc:sldChg chg="addSp delSp modSp add del mod modClrScheme chgLayout">
        <pc:chgData name="Subhasmita Parida" userId="45db87eead8b3a66" providerId="LiveId" clId="{55EBB8B7-8C72-43B1-9038-2CA6E3B3331A}" dt="2025-08-11T16:47:09.666" v="641" actId="47"/>
        <pc:sldMkLst>
          <pc:docMk/>
          <pc:sldMk cId="2831412730" sldId="345"/>
        </pc:sldMkLst>
        <pc:spChg chg="mod ord">
          <ac:chgData name="Subhasmita Parida" userId="45db87eead8b3a66" providerId="LiveId" clId="{55EBB8B7-8C72-43B1-9038-2CA6E3B3331A}" dt="2025-08-11T16:47:02.874" v="638" actId="700"/>
          <ac:spMkLst>
            <pc:docMk/>
            <pc:sldMk cId="2831412730" sldId="345"/>
            <ac:spMk id="2" creationId="{2D5C4431-8D22-4D79-B869-EB2E4D127FDD}"/>
          </ac:spMkLst>
        </pc:spChg>
        <pc:spChg chg="add del mod ord">
          <ac:chgData name="Subhasmita Parida" userId="45db87eead8b3a66" providerId="LiveId" clId="{55EBB8B7-8C72-43B1-9038-2CA6E3B3331A}" dt="2025-08-11T12:11:38.380" v="284" actId="700"/>
          <ac:spMkLst>
            <pc:docMk/>
            <pc:sldMk cId="2831412730" sldId="345"/>
            <ac:spMk id="3" creationId="{8023C14B-DC5F-4A1C-9BA2-61DB08CD9C65}"/>
          </ac:spMkLst>
        </pc:spChg>
        <pc:spChg chg="add mod ord">
          <ac:chgData name="Subhasmita Parida" userId="45db87eead8b3a66" providerId="LiveId" clId="{55EBB8B7-8C72-43B1-9038-2CA6E3B3331A}" dt="2025-08-11T16:47:02.874" v="638" actId="700"/>
          <ac:spMkLst>
            <pc:docMk/>
            <pc:sldMk cId="2831412730" sldId="345"/>
            <ac:spMk id="3" creationId="{A7DF41F3-887C-4BBD-BBAE-97140B378089}"/>
          </ac:spMkLst>
        </pc:spChg>
        <pc:spChg chg="add mod ord">
          <ac:chgData name="Subhasmita Parida" userId="45db87eead8b3a66" providerId="LiveId" clId="{55EBB8B7-8C72-43B1-9038-2CA6E3B3331A}" dt="2025-08-11T16:47:02.874" v="638" actId="700"/>
          <ac:spMkLst>
            <pc:docMk/>
            <pc:sldMk cId="2831412730" sldId="345"/>
            <ac:spMk id="4" creationId="{7DA93FA6-BCBB-4AC9-A6FE-7B90E1A14672}"/>
          </ac:spMkLst>
        </pc:spChg>
        <pc:spChg chg="add del mod ord">
          <ac:chgData name="Subhasmita Parida" userId="45db87eead8b3a66" providerId="LiveId" clId="{55EBB8B7-8C72-43B1-9038-2CA6E3B3331A}" dt="2025-08-11T12:11:34.621" v="283" actId="700"/>
          <ac:spMkLst>
            <pc:docMk/>
            <pc:sldMk cId="2831412730" sldId="345"/>
            <ac:spMk id="4" creationId="{B5D84966-5A00-4B55-9CB2-97231C2188DB}"/>
          </ac:spMkLst>
        </pc:spChg>
        <pc:spChg chg="add del mod ord">
          <ac:chgData name="Subhasmita Parida" userId="45db87eead8b3a66" providerId="LiveId" clId="{55EBB8B7-8C72-43B1-9038-2CA6E3B3331A}" dt="2025-08-11T12:11:34.621" v="283" actId="700"/>
          <ac:spMkLst>
            <pc:docMk/>
            <pc:sldMk cId="2831412730" sldId="345"/>
            <ac:spMk id="5" creationId="{F91F02D5-A229-4D36-8631-50353FD2E00B}"/>
          </ac:spMkLst>
        </pc:spChg>
        <pc:spChg chg="mod">
          <ac:chgData name="Subhasmita Parida" userId="45db87eead8b3a66" providerId="LiveId" clId="{55EBB8B7-8C72-43B1-9038-2CA6E3B3331A}" dt="2025-08-11T12:10:29.396" v="280" actId="20577"/>
          <ac:spMkLst>
            <pc:docMk/>
            <pc:sldMk cId="2831412730" sldId="345"/>
            <ac:spMk id="6" creationId="{0BC643D3-97BA-4A1B-825F-B2770124C1A2}"/>
          </ac:spMkLst>
        </pc:spChg>
        <pc:spChg chg="add del mod ord">
          <ac:chgData name="Subhasmita Parida" userId="45db87eead8b3a66" providerId="LiveId" clId="{55EBB8B7-8C72-43B1-9038-2CA6E3B3331A}" dt="2025-08-11T12:11:34.621" v="283" actId="700"/>
          <ac:spMkLst>
            <pc:docMk/>
            <pc:sldMk cId="2831412730" sldId="345"/>
            <ac:spMk id="7" creationId="{7DAA320C-AA39-4F8C-81E4-172A0BBC52F6}"/>
          </ac:spMkLst>
        </pc:spChg>
        <pc:spChg chg="add del mod ord">
          <ac:chgData name="Subhasmita Parida" userId="45db87eead8b3a66" providerId="LiveId" clId="{55EBB8B7-8C72-43B1-9038-2CA6E3B3331A}" dt="2025-08-11T12:11:34.621" v="283" actId="700"/>
          <ac:spMkLst>
            <pc:docMk/>
            <pc:sldMk cId="2831412730" sldId="345"/>
            <ac:spMk id="8" creationId="{4A2EB3B0-13DD-4FB9-80D9-7DEB67F9C00F}"/>
          </ac:spMkLst>
        </pc:spChg>
        <pc:spChg chg="add del mod ord">
          <ac:chgData name="Subhasmita Parida" userId="45db87eead8b3a66" providerId="LiveId" clId="{55EBB8B7-8C72-43B1-9038-2CA6E3B3331A}" dt="2025-08-11T12:11:34.621" v="283" actId="700"/>
          <ac:spMkLst>
            <pc:docMk/>
            <pc:sldMk cId="2831412730" sldId="345"/>
            <ac:spMk id="10" creationId="{920B798C-0672-4F6E-B2EE-B5C4D5A29D1D}"/>
          </ac:spMkLst>
        </pc:spChg>
        <pc:spChg chg="add del mod ord">
          <ac:chgData name="Subhasmita Parida" userId="45db87eead8b3a66" providerId="LiveId" clId="{55EBB8B7-8C72-43B1-9038-2CA6E3B3331A}" dt="2025-08-11T16:47:02.874" v="638" actId="700"/>
          <ac:spMkLst>
            <pc:docMk/>
            <pc:sldMk cId="2831412730" sldId="345"/>
            <ac:spMk id="11" creationId="{4C2ABC43-643C-4A71-9CD6-CC7D9FECB699}"/>
          </ac:spMkLst>
        </pc:spChg>
        <pc:spChg chg="add del mod ord">
          <ac:chgData name="Subhasmita Parida" userId="45db87eead8b3a66" providerId="LiveId" clId="{55EBB8B7-8C72-43B1-9038-2CA6E3B3331A}" dt="2025-08-11T16:47:02.874" v="638" actId="700"/>
          <ac:spMkLst>
            <pc:docMk/>
            <pc:sldMk cId="2831412730" sldId="345"/>
            <ac:spMk id="12" creationId="{5C726153-130D-488B-BDCA-D2E8CD5801FA}"/>
          </ac:spMkLst>
        </pc:spChg>
        <pc:spChg chg="add del mod ord">
          <ac:chgData name="Subhasmita Parida" userId="45db87eead8b3a66" providerId="LiveId" clId="{55EBB8B7-8C72-43B1-9038-2CA6E3B3331A}" dt="2025-08-11T16:47:02.874" v="638" actId="700"/>
          <ac:spMkLst>
            <pc:docMk/>
            <pc:sldMk cId="2831412730" sldId="345"/>
            <ac:spMk id="13" creationId="{922D1243-94AB-496C-A2CC-791045C71117}"/>
          </ac:spMkLst>
        </pc:spChg>
        <pc:spChg chg="add del">
          <ac:chgData name="Subhasmita Parida" userId="45db87eead8b3a66" providerId="LiveId" clId="{55EBB8B7-8C72-43B1-9038-2CA6E3B3331A}" dt="2025-08-11T12:14:26.559" v="331"/>
          <ac:spMkLst>
            <pc:docMk/>
            <pc:sldMk cId="2831412730" sldId="345"/>
            <ac:spMk id="14" creationId="{858E519B-CDC2-4D4E-A0A1-D71A5A0D44B0}"/>
          </ac:spMkLst>
        </pc:spChg>
      </pc:sldChg>
      <pc:sldChg chg="modSp add mod">
        <pc:chgData name="Subhasmita Parida" userId="45db87eead8b3a66" providerId="LiveId" clId="{55EBB8B7-8C72-43B1-9038-2CA6E3B3331A}" dt="2025-08-11T15:49:18.025" v="482" actId="20577"/>
        <pc:sldMkLst>
          <pc:docMk/>
          <pc:sldMk cId="1108083124" sldId="346"/>
        </pc:sldMkLst>
        <pc:spChg chg="mod">
          <ac:chgData name="Subhasmita Parida" userId="45db87eead8b3a66" providerId="LiveId" clId="{55EBB8B7-8C72-43B1-9038-2CA6E3B3331A}" dt="2025-08-11T15:49:18.025" v="482" actId="20577"/>
          <ac:spMkLst>
            <pc:docMk/>
            <pc:sldMk cId="1108083124" sldId="346"/>
            <ac:spMk id="3" creationId="{A72C9E36-B70B-46C9-997A-F4D7C97AA8D8}"/>
          </ac:spMkLst>
        </pc:spChg>
      </pc:sldChg>
      <pc:sldChg chg="add del">
        <pc:chgData name="Subhasmita Parida" userId="45db87eead8b3a66" providerId="LiveId" clId="{55EBB8B7-8C72-43B1-9038-2CA6E3B3331A}" dt="2025-08-11T15:48:12.715" v="468" actId="47"/>
        <pc:sldMkLst>
          <pc:docMk/>
          <pc:sldMk cId="3465860272" sldId="347"/>
        </pc:sldMkLst>
      </pc:sldChg>
      <pc:sldChg chg="addSp delSp modSp add del mod modClrScheme chgLayout">
        <pc:chgData name="Subhasmita Parida" userId="45db87eead8b3a66" providerId="LiveId" clId="{55EBB8B7-8C72-43B1-9038-2CA6E3B3331A}" dt="2025-08-11T16:49:29.386" v="662" actId="47"/>
        <pc:sldMkLst>
          <pc:docMk/>
          <pc:sldMk cId="3816026766" sldId="347"/>
        </pc:sldMkLst>
        <pc:spChg chg="mod ord">
          <ac:chgData name="Subhasmita Parida" userId="45db87eead8b3a66" providerId="LiveId" clId="{55EBB8B7-8C72-43B1-9038-2CA6E3B3331A}" dt="2025-08-11T16:37:23.356" v="540" actId="700"/>
          <ac:spMkLst>
            <pc:docMk/>
            <pc:sldMk cId="3816026766" sldId="347"/>
            <ac:spMk id="2" creationId="{C96ABCD6-D332-4A73-9519-77D17AC49C2B}"/>
          </ac:spMkLst>
        </pc:spChg>
        <pc:spChg chg="add mod ord">
          <ac:chgData name="Subhasmita Parida" userId="45db87eead8b3a66" providerId="LiveId" clId="{55EBB8B7-8C72-43B1-9038-2CA6E3B3331A}" dt="2025-08-11T16:38:06.527" v="564" actId="27636"/>
          <ac:spMkLst>
            <pc:docMk/>
            <pc:sldMk cId="3816026766" sldId="347"/>
            <ac:spMk id="3" creationId="{D8676D37-9945-4F4B-9C40-DFB136A73EB5}"/>
          </ac:spMkLst>
        </pc:spChg>
        <pc:spChg chg="add mod ord">
          <ac:chgData name="Subhasmita Parida" userId="45db87eead8b3a66" providerId="LiveId" clId="{55EBB8B7-8C72-43B1-9038-2CA6E3B3331A}" dt="2025-08-11T16:40:01.161" v="590" actId="207"/>
          <ac:spMkLst>
            <pc:docMk/>
            <pc:sldMk cId="3816026766" sldId="347"/>
            <ac:spMk id="4" creationId="{CF419F17-0EC0-47F6-B583-7709AD0F3F4E}"/>
          </ac:spMkLst>
        </pc:spChg>
        <pc:spChg chg="add mod ord">
          <ac:chgData name="Subhasmita Parida" userId="45db87eead8b3a66" providerId="LiveId" clId="{55EBB8B7-8C72-43B1-9038-2CA6E3B3331A}" dt="2025-08-11T16:42:33.215" v="609" actId="255"/>
          <ac:spMkLst>
            <pc:docMk/>
            <pc:sldMk cId="3816026766" sldId="347"/>
            <ac:spMk id="5" creationId="{647A679F-20FA-472D-9D75-C6B2B2320300}"/>
          </ac:spMkLst>
        </pc:spChg>
        <pc:spChg chg="del mod">
          <ac:chgData name="Subhasmita Parida" userId="45db87eead8b3a66" providerId="LiveId" clId="{55EBB8B7-8C72-43B1-9038-2CA6E3B3331A}" dt="2025-08-11T16:49:25.424" v="661" actId="478"/>
          <ac:spMkLst>
            <pc:docMk/>
            <pc:sldMk cId="3816026766" sldId="347"/>
            <ac:spMk id="6" creationId="{A9A2D781-E4FC-4659-83A8-EB4CED18466B}"/>
          </ac:spMkLst>
        </pc:spChg>
        <pc:spChg chg="add mod ord">
          <ac:chgData name="Subhasmita Parida" userId="45db87eead8b3a66" providerId="LiveId" clId="{55EBB8B7-8C72-43B1-9038-2CA6E3B3331A}" dt="2025-08-11T16:40:07.189" v="592" actId="207"/>
          <ac:spMkLst>
            <pc:docMk/>
            <pc:sldMk cId="3816026766" sldId="347"/>
            <ac:spMk id="7" creationId="{1DB0B133-91F2-4056-B80D-7EE1309A97C9}"/>
          </ac:spMkLst>
        </pc:spChg>
        <pc:spChg chg="del mod ord">
          <ac:chgData name="Subhasmita Parida" userId="45db87eead8b3a66" providerId="LiveId" clId="{55EBB8B7-8C72-43B1-9038-2CA6E3B3331A}" dt="2025-08-11T16:37:23.356" v="540" actId="700"/>
          <ac:spMkLst>
            <pc:docMk/>
            <pc:sldMk cId="3816026766" sldId="347"/>
            <ac:spMk id="8" creationId="{10D83BF2-BE7A-46B1-AA4B-817896CFCEE9}"/>
          </ac:spMkLst>
        </pc:spChg>
        <pc:spChg chg="add mod ord">
          <ac:chgData name="Subhasmita Parida" userId="45db87eead8b3a66" providerId="LiveId" clId="{55EBB8B7-8C72-43B1-9038-2CA6E3B3331A}" dt="2025-08-11T16:44:39.278" v="635" actId="20577"/>
          <ac:spMkLst>
            <pc:docMk/>
            <pc:sldMk cId="3816026766" sldId="347"/>
            <ac:spMk id="10" creationId="{6B0DC38D-0B5E-48FF-87DC-15F7FB18CC46}"/>
          </ac:spMkLst>
        </pc:spChg>
      </pc:sldChg>
      <pc:sldChg chg="add del">
        <pc:chgData name="Subhasmita Parida" userId="45db87eead8b3a66" providerId="LiveId" clId="{55EBB8B7-8C72-43B1-9038-2CA6E3B3331A}" dt="2025-08-11T16:48:56.083" v="660" actId="47"/>
        <pc:sldMkLst>
          <pc:docMk/>
          <pc:sldMk cId="2889301127" sldId="348"/>
        </pc:sldMkLst>
      </pc:sldChg>
      <pc:sldChg chg="addSp delSp modSp new mod modClrScheme chgLayout">
        <pc:chgData name="Subhasmita Parida" userId="45db87eead8b3a66" providerId="LiveId" clId="{55EBB8B7-8C72-43B1-9038-2CA6E3B3331A}" dt="2025-08-11T16:48:45.948" v="659" actId="14100"/>
        <pc:sldMkLst>
          <pc:docMk/>
          <pc:sldMk cId="4232131132" sldId="349"/>
        </pc:sldMkLst>
        <pc:spChg chg="del mod ord">
          <ac:chgData name="Subhasmita Parida" userId="45db87eead8b3a66" providerId="LiveId" clId="{55EBB8B7-8C72-43B1-9038-2CA6E3B3331A}" dt="2025-08-11T16:47:18.672" v="642" actId="700"/>
          <ac:spMkLst>
            <pc:docMk/>
            <pc:sldMk cId="4232131132" sldId="349"/>
            <ac:spMk id="2" creationId="{D1ECA176-EB32-40D4-B498-C5A4E7C37C00}"/>
          </ac:spMkLst>
        </pc:spChg>
        <pc:spChg chg="del mod ord">
          <ac:chgData name="Subhasmita Parida" userId="45db87eead8b3a66" providerId="LiveId" clId="{55EBB8B7-8C72-43B1-9038-2CA6E3B3331A}" dt="2025-08-11T16:47:18.672" v="642" actId="700"/>
          <ac:spMkLst>
            <pc:docMk/>
            <pc:sldMk cId="4232131132" sldId="349"/>
            <ac:spMk id="3" creationId="{64FF8DC5-7271-4191-A305-73CE3B06D7CD}"/>
          </ac:spMkLst>
        </pc:spChg>
        <pc:spChg chg="del">
          <ac:chgData name="Subhasmita Parida" userId="45db87eead8b3a66" providerId="LiveId" clId="{55EBB8B7-8C72-43B1-9038-2CA6E3B3331A}" dt="2025-08-11T16:47:18.672" v="642" actId="700"/>
          <ac:spMkLst>
            <pc:docMk/>
            <pc:sldMk cId="4232131132" sldId="349"/>
            <ac:spMk id="4" creationId="{1334EC73-F92F-4C61-898C-E3E19F40D53D}"/>
          </ac:spMkLst>
        </pc:spChg>
        <pc:spChg chg="mod ord">
          <ac:chgData name="Subhasmita Parida" userId="45db87eead8b3a66" providerId="LiveId" clId="{55EBB8B7-8C72-43B1-9038-2CA6E3B3331A}" dt="2025-08-11T16:47:18.672" v="642" actId="700"/>
          <ac:spMkLst>
            <pc:docMk/>
            <pc:sldMk cId="4232131132" sldId="349"/>
            <ac:spMk id="5" creationId="{99BE0A52-535D-4D26-B88E-96DEFBAD2335}"/>
          </ac:spMkLst>
        </pc:spChg>
        <pc:spChg chg="add del mod ord">
          <ac:chgData name="Subhasmita Parida" userId="45db87eead8b3a66" providerId="LiveId" clId="{55EBB8B7-8C72-43B1-9038-2CA6E3B3331A}" dt="2025-08-11T16:48:17.584" v="653"/>
          <ac:spMkLst>
            <pc:docMk/>
            <pc:sldMk cId="4232131132" sldId="349"/>
            <ac:spMk id="6" creationId="{8DE03C5E-3FBB-47BF-B481-C84A4F05CD76}"/>
          </ac:spMkLst>
        </pc:spChg>
        <pc:spChg chg="add del mod ord">
          <ac:chgData name="Subhasmita Parida" userId="45db87eead8b3a66" providerId="LiveId" clId="{55EBB8B7-8C72-43B1-9038-2CA6E3B3331A}" dt="2025-08-11T16:47:28.307" v="643"/>
          <ac:spMkLst>
            <pc:docMk/>
            <pc:sldMk cId="4232131132" sldId="349"/>
            <ac:spMk id="7" creationId="{0383195D-68B9-408A-876E-BA29040856B5}"/>
          </ac:spMkLst>
        </pc:spChg>
        <pc:spChg chg="add mod">
          <ac:chgData name="Subhasmita Parida" userId="45db87eead8b3a66" providerId="LiveId" clId="{55EBB8B7-8C72-43B1-9038-2CA6E3B3331A}" dt="2025-08-11T16:48:39.351" v="658" actId="14100"/>
          <ac:spMkLst>
            <pc:docMk/>
            <pc:sldMk cId="4232131132" sldId="349"/>
            <ac:spMk id="9" creationId="{4C5ABD90-BC27-4A2C-B0CA-5FD4CCA5F610}"/>
          </ac:spMkLst>
        </pc:spChg>
        <pc:graphicFrameChg chg="add mod modGraphic">
          <ac:chgData name="Subhasmita Parida" userId="45db87eead8b3a66" providerId="LiveId" clId="{55EBB8B7-8C72-43B1-9038-2CA6E3B3331A}" dt="2025-08-11T16:48:45.948" v="659" actId="14100"/>
          <ac:graphicFrameMkLst>
            <pc:docMk/>
            <pc:sldMk cId="4232131132" sldId="349"/>
            <ac:graphicFrameMk id="8" creationId="{CF0707EB-84B7-4F6A-8607-3B00A0FB72B1}"/>
          </ac:graphicFrameMkLst>
        </pc:graphicFrameChg>
        <pc:picChg chg="add mod">
          <ac:chgData name="Subhasmita Parida" userId="45db87eead8b3a66" providerId="LiveId" clId="{55EBB8B7-8C72-43B1-9038-2CA6E3B3331A}" dt="2025-08-11T16:48:35.220" v="657" actId="1076"/>
          <ac:picMkLst>
            <pc:docMk/>
            <pc:sldMk cId="4232131132" sldId="349"/>
            <ac:picMk id="10" creationId="{A993D18F-2323-4C6B-91CB-D6E2BCD840EE}"/>
          </ac:picMkLst>
        </pc:picChg>
      </pc:sldChg>
      <pc:sldChg chg="add del">
        <pc:chgData name="Subhasmita Parida" userId="45db87eead8b3a66" providerId="LiveId" clId="{55EBB8B7-8C72-43B1-9038-2CA6E3B3331A}" dt="2025-08-11T16:47:07.561" v="640" actId="47"/>
        <pc:sldMkLst>
          <pc:docMk/>
          <pc:sldMk cId="2007422699" sldId="350"/>
        </pc:sldMkLst>
      </pc:sldChg>
      <pc:sldChg chg="addSp delSp modSp add mod">
        <pc:chgData name="Subhasmita Parida" userId="45db87eead8b3a66" providerId="LiveId" clId="{55EBB8B7-8C72-43B1-9038-2CA6E3B3331A}" dt="2025-08-12T04:49:43.504" v="796" actId="20577"/>
        <pc:sldMkLst>
          <pc:docMk/>
          <pc:sldMk cId="2268270415" sldId="350"/>
        </pc:sldMkLst>
        <pc:spChg chg="add del">
          <ac:chgData name="Subhasmita Parida" userId="45db87eead8b3a66" providerId="LiveId" clId="{55EBB8B7-8C72-43B1-9038-2CA6E3B3331A}" dt="2025-08-12T04:47:09.575" v="756"/>
          <ac:spMkLst>
            <pc:docMk/>
            <pc:sldMk cId="2268270415" sldId="350"/>
            <ac:spMk id="3" creationId="{6DE59346-EC8C-4FA9-BFDF-B74D30086AE2}"/>
          </ac:spMkLst>
        </pc:spChg>
        <pc:spChg chg="add del">
          <ac:chgData name="Subhasmita Parida" userId="45db87eead8b3a66" providerId="LiveId" clId="{55EBB8B7-8C72-43B1-9038-2CA6E3B3331A}" dt="2025-08-12T04:47:19.121" v="759"/>
          <ac:spMkLst>
            <pc:docMk/>
            <pc:sldMk cId="2268270415" sldId="350"/>
            <ac:spMk id="4" creationId="{477962B9-1B07-4F14-BEDF-262B6018D7A8}"/>
          </ac:spMkLst>
        </pc:spChg>
        <pc:spChg chg="add del">
          <ac:chgData name="Subhasmita Parida" userId="45db87eead8b3a66" providerId="LiveId" clId="{55EBB8B7-8C72-43B1-9038-2CA6E3B3331A}" dt="2025-08-12T04:48:09.568" v="766"/>
          <ac:spMkLst>
            <pc:docMk/>
            <pc:sldMk cId="2268270415" sldId="350"/>
            <ac:spMk id="5" creationId="{7068DD46-5FA2-4348-9EE8-2220713AF6E3}"/>
          </ac:spMkLst>
        </pc:spChg>
        <pc:spChg chg="mod">
          <ac:chgData name="Subhasmita Parida" userId="45db87eead8b3a66" providerId="LiveId" clId="{55EBB8B7-8C72-43B1-9038-2CA6E3B3331A}" dt="2025-08-11T16:55:02.896" v="742" actId="313"/>
          <ac:spMkLst>
            <pc:docMk/>
            <pc:sldMk cId="2268270415" sldId="350"/>
            <ac:spMk id="6" creationId="{A9A2D781-E4FC-4659-83A8-EB4CED18466B}"/>
          </ac:spMkLst>
        </pc:spChg>
        <pc:spChg chg="add del mod">
          <ac:chgData name="Subhasmita Parida" userId="45db87eead8b3a66" providerId="LiveId" clId="{55EBB8B7-8C72-43B1-9038-2CA6E3B3331A}" dt="2025-08-11T16:50:38.405" v="679" actId="22"/>
          <ac:spMkLst>
            <pc:docMk/>
            <pc:sldMk cId="2268270415" sldId="350"/>
            <ac:spMk id="7" creationId="{5553A3CE-B349-46CF-AD8B-4B6B136B530D}"/>
          </ac:spMkLst>
        </pc:spChg>
        <pc:spChg chg="mod">
          <ac:chgData name="Subhasmita Parida" userId="45db87eead8b3a66" providerId="LiveId" clId="{55EBB8B7-8C72-43B1-9038-2CA6E3B3331A}" dt="2025-08-12T04:49:43.504" v="796" actId="20577"/>
          <ac:spMkLst>
            <pc:docMk/>
            <pc:sldMk cId="2268270415" sldId="350"/>
            <ac:spMk id="8" creationId="{10D83BF2-BE7A-46B1-AA4B-817896CFCEE9}"/>
          </ac:spMkLst>
        </pc:spChg>
      </pc:sldChg>
      <pc:sldChg chg="modSp add mod">
        <pc:chgData name="Subhasmita Parida" userId="45db87eead8b3a66" providerId="LiveId" clId="{55EBB8B7-8C72-43B1-9038-2CA6E3B3331A}" dt="2025-08-12T05:00:20.208" v="874" actId="255"/>
        <pc:sldMkLst>
          <pc:docMk/>
          <pc:sldMk cId="1007704442" sldId="351"/>
        </pc:sldMkLst>
        <pc:spChg chg="mod">
          <ac:chgData name="Subhasmita Parida" userId="45db87eead8b3a66" providerId="LiveId" clId="{55EBB8B7-8C72-43B1-9038-2CA6E3B3331A}" dt="2025-08-11T16:55:35.225" v="743"/>
          <ac:spMkLst>
            <pc:docMk/>
            <pc:sldMk cId="1007704442" sldId="351"/>
            <ac:spMk id="6" creationId="{A9A2D781-E4FC-4659-83A8-EB4CED18466B}"/>
          </ac:spMkLst>
        </pc:spChg>
        <pc:spChg chg="mod">
          <ac:chgData name="Subhasmita Parida" userId="45db87eead8b3a66" providerId="LiveId" clId="{55EBB8B7-8C72-43B1-9038-2CA6E3B3331A}" dt="2025-08-12T05:00:20.208" v="874" actId="255"/>
          <ac:spMkLst>
            <pc:docMk/>
            <pc:sldMk cId="1007704442" sldId="351"/>
            <ac:spMk id="8" creationId="{10D83BF2-BE7A-46B1-AA4B-817896CFCEE9}"/>
          </ac:spMkLst>
        </pc:spChg>
      </pc:sldChg>
      <pc:sldChg chg="modSp add mod addCm delCm">
        <pc:chgData name="Subhasmita Parida" userId="45db87eead8b3a66" providerId="LiveId" clId="{55EBB8B7-8C72-43B1-9038-2CA6E3B3331A}" dt="2025-08-12T05:00:28.704" v="875" actId="255"/>
        <pc:sldMkLst>
          <pc:docMk/>
          <pc:sldMk cId="3291194003" sldId="352"/>
        </pc:sldMkLst>
        <pc:spChg chg="mod">
          <ac:chgData name="Subhasmita Parida" userId="45db87eead8b3a66" providerId="LiveId" clId="{55EBB8B7-8C72-43B1-9038-2CA6E3B3331A}" dt="2025-08-11T16:55:39.846" v="744"/>
          <ac:spMkLst>
            <pc:docMk/>
            <pc:sldMk cId="3291194003" sldId="352"/>
            <ac:spMk id="6" creationId="{A9A2D781-E4FC-4659-83A8-EB4CED18466B}"/>
          </ac:spMkLst>
        </pc:spChg>
        <pc:spChg chg="mod">
          <ac:chgData name="Subhasmita Parida" userId="45db87eead8b3a66" providerId="LiveId" clId="{55EBB8B7-8C72-43B1-9038-2CA6E3B3331A}" dt="2025-08-12T05:00:28.704" v="875" actId="255"/>
          <ac:spMkLst>
            <pc:docMk/>
            <pc:sldMk cId="3291194003" sldId="352"/>
            <ac:spMk id="8" creationId="{10D83BF2-BE7A-46B1-AA4B-817896CFCEE9}"/>
          </ac:spMkLst>
        </pc:spChg>
      </pc:sldChg>
      <pc:sldChg chg="add del">
        <pc:chgData name="Subhasmita Parida" userId="45db87eead8b3a66" providerId="LiveId" clId="{55EBB8B7-8C72-43B1-9038-2CA6E3B3331A}" dt="2025-08-11T16:57:02.164" v="747" actId="47"/>
        <pc:sldMkLst>
          <pc:docMk/>
          <pc:sldMk cId="652463181" sldId="353"/>
        </pc:sldMkLst>
      </pc:sldChg>
      <pc:sldChg chg="delSp modSp new del mod modClrScheme chgLayout">
        <pc:chgData name="Subhasmita Parida" userId="45db87eead8b3a66" providerId="LiveId" clId="{55EBB8B7-8C72-43B1-9038-2CA6E3B3331A}" dt="2025-08-12T04:41:59.378" v="750" actId="47"/>
        <pc:sldMkLst>
          <pc:docMk/>
          <pc:sldMk cId="1994227824" sldId="354"/>
        </pc:sldMkLst>
        <pc:spChg chg="del">
          <ac:chgData name="Subhasmita Parida" userId="45db87eead8b3a66" providerId="LiveId" clId="{55EBB8B7-8C72-43B1-9038-2CA6E3B3331A}" dt="2025-08-11T16:57:06.974" v="748" actId="700"/>
          <ac:spMkLst>
            <pc:docMk/>
            <pc:sldMk cId="1994227824" sldId="354"/>
            <ac:spMk id="2" creationId="{0AB4A5E9-5CB1-4729-B05F-D8A7AFB0DA9C}"/>
          </ac:spMkLst>
        </pc:spChg>
        <pc:spChg chg="del">
          <ac:chgData name="Subhasmita Parida" userId="45db87eead8b3a66" providerId="LiveId" clId="{55EBB8B7-8C72-43B1-9038-2CA6E3B3331A}" dt="2025-08-11T16:57:06.974" v="748" actId="700"/>
          <ac:spMkLst>
            <pc:docMk/>
            <pc:sldMk cId="1994227824" sldId="354"/>
            <ac:spMk id="3" creationId="{E3C80CBF-3819-4425-9F18-60C20FF53CC3}"/>
          </ac:spMkLst>
        </pc:spChg>
        <pc:spChg chg="mod ord">
          <ac:chgData name="Subhasmita Parida" userId="45db87eead8b3a66" providerId="LiveId" clId="{55EBB8B7-8C72-43B1-9038-2CA6E3B3331A}" dt="2025-08-11T16:57:06.974" v="748" actId="700"/>
          <ac:spMkLst>
            <pc:docMk/>
            <pc:sldMk cId="1994227824" sldId="354"/>
            <ac:spMk id="4" creationId="{98F18C34-6C2D-4A0E-8808-D75464443BF8}"/>
          </ac:spMkLst>
        </pc:spChg>
      </pc:sldChg>
      <pc:sldChg chg="modSp add mod">
        <pc:chgData name="Subhasmita Parida" userId="45db87eead8b3a66" providerId="LiveId" clId="{55EBB8B7-8C72-43B1-9038-2CA6E3B3331A}" dt="2025-08-12T04:42:50.848" v="753" actId="1076"/>
        <pc:sldMkLst>
          <pc:docMk/>
          <pc:sldMk cId="2345139483" sldId="355"/>
        </pc:sldMkLst>
        <pc:spChg chg="mod">
          <ac:chgData name="Subhasmita Parida" userId="45db87eead8b3a66" providerId="LiveId" clId="{55EBB8B7-8C72-43B1-9038-2CA6E3B3331A}" dt="2025-08-12T04:42:46.796" v="752" actId="14100"/>
          <ac:spMkLst>
            <pc:docMk/>
            <pc:sldMk cId="2345139483" sldId="355"/>
            <ac:spMk id="2" creationId="{B1A04FA7-BC3C-1C4E-6FCD-9A6E365A9066}"/>
          </ac:spMkLst>
        </pc:spChg>
        <pc:picChg chg="mod">
          <ac:chgData name="Subhasmita Parida" userId="45db87eead8b3a66" providerId="LiveId" clId="{55EBB8B7-8C72-43B1-9038-2CA6E3B3331A}" dt="2025-08-12T04:42:50.848" v="753" actId="1076"/>
          <ac:picMkLst>
            <pc:docMk/>
            <pc:sldMk cId="2345139483" sldId="355"/>
            <ac:picMk id="6" creationId="{FA9DA3CC-F1A7-82E8-1424-8FFAE572EA71}"/>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5.png"/><Relationship Id="rId4" Type="http://schemas.openxmlformats.org/officeDocument/2006/relationships/image" Target="../media/image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5.png"/><Relationship Id="rId4"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D1A7B5-BA9E-4AF9-8BE3-CEE8CA392FBA}"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IN"/>
        </a:p>
      </dgm:t>
    </dgm:pt>
    <dgm:pt modelId="{02EE14DB-B69E-49A5-88DA-5B1D8BD0A6F2}">
      <dgm:prSet phldrT="[Text]" custT="1"/>
      <dgm:spPr/>
      <dgm:t>
        <a:bodyPr/>
        <a:lstStyle/>
        <a:p>
          <a:r>
            <a:rPr lang="en-US" sz="2400" dirty="0">
              <a:solidFill>
                <a:schemeClr val="accent1">
                  <a:lumMod val="75000"/>
                </a:schemeClr>
              </a:solidFill>
              <a:latin typeface="Arial" panose="020B0604020202020204" pitchFamily="34" charset="0"/>
              <a:cs typeface="Arial" panose="020B0604020202020204" pitchFamily="34" charset="0"/>
            </a:rPr>
            <a:t>Bonds</a:t>
          </a:r>
          <a:endParaRPr lang="en-IN" sz="2400" dirty="0">
            <a:solidFill>
              <a:schemeClr val="accent1">
                <a:lumMod val="75000"/>
              </a:schemeClr>
            </a:solidFill>
            <a:latin typeface="Arial" panose="020B0604020202020204" pitchFamily="34" charset="0"/>
            <a:cs typeface="Arial" panose="020B0604020202020204" pitchFamily="34" charset="0"/>
          </a:endParaRPr>
        </a:p>
      </dgm:t>
    </dgm:pt>
    <dgm:pt modelId="{C86A74AE-2410-4006-86D1-4D2CE98B2EB5}" type="parTrans" cxnId="{692DC4AF-0BCD-4B99-B85C-83C00B1F55FC}">
      <dgm:prSet/>
      <dgm:spPr/>
      <dgm:t>
        <a:bodyPr/>
        <a:lstStyle/>
        <a:p>
          <a:endParaRPr lang="en-IN"/>
        </a:p>
      </dgm:t>
    </dgm:pt>
    <dgm:pt modelId="{E40F27DA-F32C-4F79-B6D6-6076FC90EC0F}" type="sibTrans" cxnId="{692DC4AF-0BCD-4B99-B85C-83C00B1F55FC}">
      <dgm:prSet/>
      <dgm:spPr/>
      <dgm:t>
        <a:bodyPr/>
        <a:lstStyle/>
        <a:p>
          <a:endParaRPr lang="en-IN"/>
        </a:p>
      </dgm:t>
    </dgm:pt>
    <dgm:pt modelId="{BF72CAC0-BE3B-457A-952A-9F70CEDE939D}">
      <dgm:prSet phldrT="[Text]" custT="1"/>
      <dgm:spPr/>
      <dgm:t>
        <a:bodyPr/>
        <a:lstStyle/>
        <a:p>
          <a:r>
            <a:rPr lang="en-US" sz="2400" dirty="0">
              <a:solidFill>
                <a:schemeClr val="accent1">
                  <a:lumMod val="75000"/>
                </a:schemeClr>
              </a:solidFill>
              <a:latin typeface="Arial" panose="020B0604020202020204" pitchFamily="34" charset="0"/>
              <a:cs typeface="Arial" panose="020B0604020202020204" pitchFamily="34" charset="0"/>
            </a:rPr>
            <a:t>Debenture</a:t>
          </a:r>
          <a:endParaRPr lang="en-IN" sz="2400" dirty="0">
            <a:solidFill>
              <a:schemeClr val="accent1">
                <a:lumMod val="75000"/>
              </a:schemeClr>
            </a:solidFill>
            <a:latin typeface="Arial" panose="020B0604020202020204" pitchFamily="34" charset="0"/>
            <a:cs typeface="Arial" panose="020B0604020202020204" pitchFamily="34" charset="0"/>
          </a:endParaRPr>
        </a:p>
      </dgm:t>
    </dgm:pt>
    <dgm:pt modelId="{D102A664-C95E-4351-A9DF-81487356D119}" type="parTrans" cxnId="{E8E07B5F-D1A6-4D9D-A4C1-842A644427CA}">
      <dgm:prSet/>
      <dgm:spPr/>
      <dgm:t>
        <a:bodyPr/>
        <a:lstStyle/>
        <a:p>
          <a:endParaRPr lang="en-IN"/>
        </a:p>
      </dgm:t>
    </dgm:pt>
    <dgm:pt modelId="{BFB7507D-8EE9-47F7-B791-44E3B9E26E09}" type="sibTrans" cxnId="{E8E07B5F-D1A6-4D9D-A4C1-842A644427CA}">
      <dgm:prSet/>
      <dgm:spPr/>
      <dgm:t>
        <a:bodyPr/>
        <a:lstStyle/>
        <a:p>
          <a:endParaRPr lang="en-IN"/>
        </a:p>
      </dgm:t>
    </dgm:pt>
    <dgm:pt modelId="{17229E96-2177-41D0-A4BB-5DF07A6996A4}">
      <dgm:prSet phldrT="[Text]" custT="1"/>
      <dgm:spPr/>
      <dgm:t>
        <a:bodyPr/>
        <a:lstStyle/>
        <a:p>
          <a:r>
            <a:rPr lang="en-US" sz="2400" dirty="0">
              <a:solidFill>
                <a:schemeClr val="accent1">
                  <a:lumMod val="75000"/>
                </a:schemeClr>
              </a:solidFill>
              <a:latin typeface="Arial" panose="020B0604020202020204" pitchFamily="34" charset="0"/>
              <a:cs typeface="Arial" panose="020B0604020202020204" pitchFamily="34" charset="0"/>
            </a:rPr>
            <a:t>Certificate of Deposit(CDs)</a:t>
          </a:r>
          <a:endParaRPr lang="en-IN" sz="2400" dirty="0">
            <a:solidFill>
              <a:schemeClr val="accent1">
                <a:lumMod val="75000"/>
              </a:schemeClr>
            </a:solidFill>
            <a:latin typeface="Arial" panose="020B0604020202020204" pitchFamily="34" charset="0"/>
            <a:cs typeface="Arial" panose="020B0604020202020204" pitchFamily="34" charset="0"/>
          </a:endParaRPr>
        </a:p>
      </dgm:t>
    </dgm:pt>
    <dgm:pt modelId="{2CC3EA7D-675D-4941-9996-8BE84D57BD3D}" type="parTrans" cxnId="{967F385E-9B6E-421D-A88D-1F47A9096516}">
      <dgm:prSet/>
      <dgm:spPr/>
      <dgm:t>
        <a:bodyPr/>
        <a:lstStyle/>
        <a:p>
          <a:endParaRPr lang="en-IN"/>
        </a:p>
      </dgm:t>
    </dgm:pt>
    <dgm:pt modelId="{9B06FC7A-3E23-4899-AE53-601B2ECFF599}" type="sibTrans" cxnId="{967F385E-9B6E-421D-A88D-1F47A9096516}">
      <dgm:prSet/>
      <dgm:spPr/>
      <dgm:t>
        <a:bodyPr/>
        <a:lstStyle/>
        <a:p>
          <a:endParaRPr lang="en-IN"/>
        </a:p>
      </dgm:t>
    </dgm:pt>
    <dgm:pt modelId="{81F2B6B9-56EE-47F9-B0B0-EAB8256E7B32}">
      <dgm:prSet phldrT="[Text]" custT="1"/>
      <dgm:spPr/>
      <dgm:t>
        <a:bodyPr/>
        <a:lstStyle/>
        <a:p>
          <a:r>
            <a:rPr lang="en-US" sz="2400" dirty="0">
              <a:solidFill>
                <a:schemeClr val="accent1">
                  <a:lumMod val="75000"/>
                </a:schemeClr>
              </a:solidFill>
              <a:latin typeface="Arial" panose="020B0604020202020204" pitchFamily="34" charset="0"/>
              <a:cs typeface="Arial" panose="020B0604020202020204" pitchFamily="34" charset="0"/>
            </a:rPr>
            <a:t>Commercial Paper</a:t>
          </a:r>
          <a:endParaRPr lang="en-IN" sz="2400" dirty="0">
            <a:solidFill>
              <a:schemeClr val="accent1">
                <a:lumMod val="75000"/>
              </a:schemeClr>
            </a:solidFill>
            <a:latin typeface="Arial" panose="020B0604020202020204" pitchFamily="34" charset="0"/>
            <a:cs typeface="Arial" panose="020B0604020202020204" pitchFamily="34" charset="0"/>
          </a:endParaRPr>
        </a:p>
      </dgm:t>
    </dgm:pt>
    <dgm:pt modelId="{68D1EE42-3286-4CEC-A8EA-46CD6CF83FEB}" type="parTrans" cxnId="{A5A2C112-9D68-4D2A-A675-3B7C2AAB3174}">
      <dgm:prSet/>
      <dgm:spPr/>
      <dgm:t>
        <a:bodyPr/>
        <a:lstStyle/>
        <a:p>
          <a:endParaRPr lang="en-IN"/>
        </a:p>
      </dgm:t>
    </dgm:pt>
    <dgm:pt modelId="{C1B3258A-8C58-4421-B696-C59656D0F2F3}" type="sibTrans" cxnId="{A5A2C112-9D68-4D2A-A675-3B7C2AAB3174}">
      <dgm:prSet/>
      <dgm:spPr/>
      <dgm:t>
        <a:bodyPr/>
        <a:lstStyle/>
        <a:p>
          <a:endParaRPr lang="en-IN"/>
        </a:p>
      </dgm:t>
    </dgm:pt>
    <dgm:pt modelId="{DA51F2FB-048D-4D8B-AB83-B39F30186F8B}" type="pres">
      <dgm:prSet presAssocID="{64D1A7B5-BA9E-4AF9-8BE3-CEE8CA392FBA}" presName="Name0" presStyleCnt="0">
        <dgm:presLayoutVars>
          <dgm:dir/>
          <dgm:resizeHandles val="exact"/>
        </dgm:presLayoutVars>
      </dgm:prSet>
      <dgm:spPr/>
    </dgm:pt>
    <dgm:pt modelId="{0EAB7CF4-9B09-4A2B-BDBD-F70A19887ACC}" type="pres">
      <dgm:prSet presAssocID="{02EE14DB-B69E-49A5-88DA-5B1D8BD0A6F2}" presName="compNode" presStyleCnt="0"/>
      <dgm:spPr/>
    </dgm:pt>
    <dgm:pt modelId="{58AA051B-DA00-44CB-B150-D12CAF4CC524}" type="pres">
      <dgm:prSet presAssocID="{02EE14DB-B69E-49A5-88DA-5B1D8BD0A6F2}" presName="pictRect" presStyleLbl="node1" presStyleIdx="0" presStyleCnt="4" custScaleY="102306"/>
      <dgm:spPr>
        <a:blipFill>
          <a:blip xmlns:r="http://schemas.openxmlformats.org/officeDocument/2006/relationships" r:embed="rId1">
            <a:extLst>
              <a:ext uri="{28A0092B-C50C-407E-A947-70E740481C1C}">
                <a14:useLocalDpi xmlns:a14="http://schemas.microsoft.com/office/drawing/2010/main" val="0"/>
              </a:ext>
            </a:extLst>
          </a:blip>
          <a:srcRect/>
          <a:stretch>
            <a:fillRect l="-18000" r="-18000"/>
          </a:stretch>
        </a:blipFill>
      </dgm:spPr>
    </dgm:pt>
    <dgm:pt modelId="{E63AAD6F-A318-4A78-971E-0B717A48898A}" type="pres">
      <dgm:prSet presAssocID="{02EE14DB-B69E-49A5-88DA-5B1D8BD0A6F2}" presName="textRect" presStyleLbl="revTx" presStyleIdx="0" presStyleCnt="4" custScaleY="64637">
        <dgm:presLayoutVars>
          <dgm:bulletEnabled val="1"/>
        </dgm:presLayoutVars>
      </dgm:prSet>
      <dgm:spPr/>
    </dgm:pt>
    <dgm:pt modelId="{96490A00-2C95-4626-B0EC-CD201DDB125E}" type="pres">
      <dgm:prSet presAssocID="{E40F27DA-F32C-4F79-B6D6-6076FC90EC0F}" presName="sibTrans" presStyleLbl="sibTrans2D1" presStyleIdx="0" presStyleCnt="0"/>
      <dgm:spPr/>
    </dgm:pt>
    <dgm:pt modelId="{F3266AA4-F5C0-428C-BA84-CA54F755998A}" type="pres">
      <dgm:prSet presAssocID="{BF72CAC0-BE3B-457A-952A-9F70CEDE939D}" presName="compNode" presStyleCnt="0"/>
      <dgm:spPr/>
    </dgm:pt>
    <dgm:pt modelId="{A90CD9F7-8F2C-42E1-8002-34D07C5AC63B}" type="pres">
      <dgm:prSet presAssocID="{BF72CAC0-BE3B-457A-952A-9F70CEDE939D}" presName="pictRect" presStyleLbl="node1" presStyleIdx="1" presStyleCnt="4" custScaleX="105776"/>
      <dgm:spPr>
        <a:blipFill>
          <a:blip xmlns:r="http://schemas.openxmlformats.org/officeDocument/2006/relationships" r:embed="rId2" cstate="hqprint">
            <a:extLst>
              <a:ext uri="{28A0092B-C50C-407E-A947-70E740481C1C}">
                <a14:useLocalDpi xmlns:a14="http://schemas.microsoft.com/office/drawing/2010/main" val="0"/>
              </a:ext>
            </a:extLst>
          </a:blip>
          <a:srcRect/>
          <a:stretch>
            <a:fillRect t="-26000" b="-26000"/>
          </a:stretch>
        </a:blipFill>
      </dgm:spPr>
    </dgm:pt>
    <dgm:pt modelId="{B6926B2D-3F18-4428-9D54-CD08A88A75B4}" type="pres">
      <dgm:prSet presAssocID="{BF72CAC0-BE3B-457A-952A-9F70CEDE939D}" presName="textRect" presStyleLbl="revTx" presStyleIdx="1" presStyleCnt="4" custScaleY="69730">
        <dgm:presLayoutVars>
          <dgm:bulletEnabled val="1"/>
        </dgm:presLayoutVars>
      </dgm:prSet>
      <dgm:spPr/>
    </dgm:pt>
    <dgm:pt modelId="{F66A296E-B51C-4260-81EC-AA5AAEDCA80C}" type="pres">
      <dgm:prSet presAssocID="{BFB7507D-8EE9-47F7-B791-44E3B9E26E09}" presName="sibTrans" presStyleLbl="sibTrans2D1" presStyleIdx="0" presStyleCnt="0"/>
      <dgm:spPr/>
    </dgm:pt>
    <dgm:pt modelId="{3E2BFD72-6BCC-494E-9752-CE1D502BE3EE}" type="pres">
      <dgm:prSet presAssocID="{17229E96-2177-41D0-A4BB-5DF07A6996A4}" presName="compNode" presStyleCnt="0"/>
      <dgm:spPr/>
    </dgm:pt>
    <dgm:pt modelId="{373D4F4B-E60B-4B68-9291-9776E122EFCE}" type="pres">
      <dgm:prSet presAssocID="{17229E96-2177-41D0-A4BB-5DF07A6996A4}" presName="pictRect" presStyleLbl="node1" presStyleIdx="2" presStyleCnt="4" custScaleX="115640"/>
      <dgm:spPr>
        <a:blipFill>
          <a:blip xmlns:r="http://schemas.openxmlformats.org/officeDocument/2006/relationships" r:embed="rId3">
            <a:extLst>
              <a:ext uri="{28A0092B-C50C-407E-A947-70E740481C1C}">
                <a14:useLocalDpi xmlns:a14="http://schemas.microsoft.com/office/drawing/2010/main" val="0"/>
              </a:ext>
            </a:extLst>
          </a:blip>
          <a:srcRect/>
          <a:stretch>
            <a:fillRect l="-6000" r="-6000"/>
          </a:stretch>
        </a:blipFill>
      </dgm:spPr>
    </dgm:pt>
    <dgm:pt modelId="{A4B0B260-64A5-47CD-BC59-3EE3264FB1A7}" type="pres">
      <dgm:prSet presAssocID="{17229E96-2177-41D0-A4BB-5DF07A6996A4}" presName="textRect" presStyleLbl="revTx" presStyleIdx="2" presStyleCnt="4" custScaleX="133921" custScaleY="98132">
        <dgm:presLayoutVars>
          <dgm:bulletEnabled val="1"/>
        </dgm:presLayoutVars>
      </dgm:prSet>
      <dgm:spPr/>
    </dgm:pt>
    <dgm:pt modelId="{D4B62D0F-EA54-43FE-A967-34E5F625515D}" type="pres">
      <dgm:prSet presAssocID="{9B06FC7A-3E23-4899-AE53-601B2ECFF599}" presName="sibTrans" presStyleLbl="sibTrans2D1" presStyleIdx="0" presStyleCnt="0"/>
      <dgm:spPr/>
    </dgm:pt>
    <dgm:pt modelId="{FD1F093F-EC0A-4DF9-8527-64C0FCE339F5}" type="pres">
      <dgm:prSet presAssocID="{81F2B6B9-56EE-47F9-B0B0-EAB8256E7B32}" presName="compNode" presStyleCnt="0"/>
      <dgm:spPr/>
    </dgm:pt>
    <dgm:pt modelId="{1776D991-24FC-4063-9364-AD979F0A672E}" type="pres">
      <dgm:prSet presAssocID="{81F2B6B9-56EE-47F9-B0B0-EAB8256E7B32}" presName="pictRect" presStyleLbl="nod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t="-4000" b="-4000"/>
          </a:stretch>
        </a:blipFill>
      </dgm:spPr>
    </dgm:pt>
    <dgm:pt modelId="{B213D844-5043-4316-9575-260A760DEF90}" type="pres">
      <dgm:prSet presAssocID="{81F2B6B9-56EE-47F9-B0B0-EAB8256E7B32}" presName="textRect" presStyleLbl="revTx" presStyleIdx="3" presStyleCnt="4" custScaleX="110069" custScaleY="81420">
        <dgm:presLayoutVars>
          <dgm:bulletEnabled val="1"/>
        </dgm:presLayoutVars>
      </dgm:prSet>
      <dgm:spPr/>
    </dgm:pt>
  </dgm:ptLst>
  <dgm:cxnLst>
    <dgm:cxn modelId="{A5A2C112-9D68-4D2A-A675-3B7C2AAB3174}" srcId="{64D1A7B5-BA9E-4AF9-8BE3-CEE8CA392FBA}" destId="{81F2B6B9-56EE-47F9-B0B0-EAB8256E7B32}" srcOrd="3" destOrd="0" parTransId="{68D1EE42-3286-4CEC-A8EA-46CD6CF83FEB}" sibTransId="{C1B3258A-8C58-4421-B696-C59656D0F2F3}"/>
    <dgm:cxn modelId="{7A7C6B3A-3BDA-47DE-A791-7D951CB5089C}" type="presOf" srcId="{E40F27DA-F32C-4F79-B6D6-6076FC90EC0F}" destId="{96490A00-2C95-4626-B0EC-CD201DDB125E}" srcOrd="0" destOrd="0" presId="urn:microsoft.com/office/officeart/2005/8/layout/pList1"/>
    <dgm:cxn modelId="{967F385E-9B6E-421D-A88D-1F47A9096516}" srcId="{64D1A7B5-BA9E-4AF9-8BE3-CEE8CA392FBA}" destId="{17229E96-2177-41D0-A4BB-5DF07A6996A4}" srcOrd="2" destOrd="0" parTransId="{2CC3EA7D-675D-4941-9996-8BE84D57BD3D}" sibTransId="{9B06FC7A-3E23-4899-AE53-601B2ECFF599}"/>
    <dgm:cxn modelId="{E8E07B5F-D1A6-4D9D-A4C1-842A644427CA}" srcId="{64D1A7B5-BA9E-4AF9-8BE3-CEE8CA392FBA}" destId="{BF72CAC0-BE3B-457A-952A-9F70CEDE939D}" srcOrd="1" destOrd="0" parTransId="{D102A664-C95E-4351-A9DF-81487356D119}" sibTransId="{BFB7507D-8EE9-47F7-B791-44E3B9E26E09}"/>
    <dgm:cxn modelId="{27BBCF63-2F4E-482D-B77B-327033099729}" type="presOf" srcId="{BF72CAC0-BE3B-457A-952A-9F70CEDE939D}" destId="{B6926B2D-3F18-4428-9D54-CD08A88A75B4}" srcOrd="0" destOrd="0" presId="urn:microsoft.com/office/officeart/2005/8/layout/pList1"/>
    <dgm:cxn modelId="{056FE96A-AE10-4F51-BF49-55C789BF9837}" type="presOf" srcId="{BFB7507D-8EE9-47F7-B791-44E3B9E26E09}" destId="{F66A296E-B51C-4260-81EC-AA5AAEDCA80C}" srcOrd="0" destOrd="0" presId="urn:microsoft.com/office/officeart/2005/8/layout/pList1"/>
    <dgm:cxn modelId="{4673EA50-0547-463E-A7C9-18BDACC28F8E}" type="presOf" srcId="{9B06FC7A-3E23-4899-AE53-601B2ECFF599}" destId="{D4B62D0F-EA54-43FE-A967-34E5F625515D}" srcOrd="0" destOrd="0" presId="urn:microsoft.com/office/officeart/2005/8/layout/pList1"/>
    <dgm:cxn modelId="{D4406D75-64CC-4FC8-B119-79B380917B93}" type="presOf" srcId="{17229E96-2177-41D0-A4BB-5DF07A6996A4}" destId="{A4B0B260-64A5-47CD-BC59-3EE3264FB1A7}" srcOrd="0" destOrd="0" presId="urn:microsoft.com/office/officeart/2005/8/layout/pList1"/>
    <dgm:cxn modelId="{C30A3389-7392-49F9-BEA8-7848588CDB08}" type="presOf" srcId="{64D1A7B5-BA9E-4AF9-8BE3-CEE8CA392FBA}" destId="{DA51F2FB-048D-4D8B-AB83-B39F30186F8B}" srcOrd="0" destOrd="0" presId="urn:microsoft.com/office/officeart/2005/8/layout/pList1"/>
    <dgm:cxn modelId="{692DC4AF-0BCD-4B99-B85C-83C00B1F55FC}" srcId="{64D1A7B5-BA9E-4AF9-8BE3-CEE8CA392FBA}" destId="{02EE14DB-B69E-49A5-88DA-5B1D8BD0A6F2}" srcOrd="0" destOrd="0" parTransId="{C86A74AE-2410-4006-86D1-4D2CE98B2EB5}" sibTransId="{E40F27DA-F32C-4F79-B6D6-6076FC90EC0F}"/>
    <dgm:cxn modelId="{760E60E3-2EE7-44A1-A66A-D776CC2A5510}" type="presOf" srcId="{81F2B6B9-56EE-47F9-B0B0-EAB8256E7B32}" destId="{B213D844-5043-4316-9575-260A760DEF90}" srcOrd="0" destOrd="0" presId="urn:microsoft.com/office/officeart/2005/8/layout/pList1"/>
    <dgm:cxn modelId="{15B01BF1-0D14-4790-99E3-15B94010899B}" type="presOf" srcId="{02EE14DB-B69E-49A5-88DA-5B1D8BD0A6F2}" destId="{E63AAD6F-A318-4A78-971E-0B717A48898A}" srcOrd="0" destOrd="0" presId="urn:microsoft.com/office/officeart/2005/8/layout/pList1"/>
    <dgm:cxn modelId="{C200EDB3-A156-41F3-B895-4F7CAC2DC382}" type="presParOf" srcId="{DA51F2FB-048D-4D8B-AB83-B39F30186F8B}" destId="{0EAB7CF4-9B09-4A2B-BDBD-F70A19887ACC}" srcOrd="0" destOrd="0" presId="urn:microsoft.com/office/officeart/2005/8/layout/pList1"/>
    <dgm:cxn modelId="{530D5D55-2B0B-47A6-B02D-A2CEB1CA92B3}" type="presParOf" srcId="{0EAB7CF4-9B09-4A2B-BDBD-F70A19887ACC}" destId="{58AA051B-DA00-44CB-B150-D12CAF4CC524}" srcOrd="0" destOrd="0" presId="urn:microsoft.com/office/officeart/2005/8/layout/pList1"/>
    <dgm:cxn modelId="{9F8B6B78-6DBC-4807-B3B1-F7385DFFD015}" type="presParOf" srcId="{0EAB7CF4-9B09-4A2B-BDBD-F70A19887ACC}" destId="{E63AAD6F-A318-4A78-971E-0B717A48898A}" srcOrd="1" destOrd="0" presId="urn:microsoft.com/office/officeart/2005/8/layout/pList1"/>
    <dgm:cxn modelId="{82B31671-490A-4691-BCB9-9085BED03924}" type="presParOf" srcId="{DA51F2FB-048D-4D8B-AB83-B39F30186F8B}" destId="{96490A00-2C95-4626-B0EC-CD201DDB125E}" srcOrd="1" destOrd="0" presId="urn:microsoft.com/office/officeart/2005/8/layout/pList1"/>
    <dgm:cxn modelId="{06173B01-9831-40B3-B500-F0AD9E0B4FA6}" type="presParOf" srcId="{DA51F2FB-048D-4D8B-AB83-B39F30186F8B}" destId="{F3266AA4-F5C0-428C-BA84-CA54F755998A}" srcOrd="2" destOrd="0" presId="urn:microsoft.com/office/officeart/2005/8/layout/pList1"/>
    <dgm:cxn modelId="{87D51B68-4E07-44D1-BB4A-C1458A3E60C4}" type="presParOf" srcId="{F3266AA4-F5C0-428C-BA84-CA54F755998A}" destId="{A90CD9F7-8F2C-42E1-8002-34D07C5AC63B}" srcOrd="0" destOrd="0" presId="urn:microsoft.com/office/officeart/2005/8/layout/pList1"/>
    <dgm:cxn modelId="{4D0AA0C6-14FB-4FCE-8482-534B0F3F1E1D}" type="presParOf" srcId="{F3266AA4-F5C0-428C-BA84-CA54F755998A}" destId="{B6926B2D-3F18-4428-9D54-CD08A88A75B4}" srcOrd="1" destOrd="0" presId="urn:microsoft.com/office/officeart/2005/8/layout/pList1"/>
    <dgm:cxn modelId="{F2A5DAA0-E201-479E-A55C-B92DDCF27EA8}" type="presParOf" srcId="{DA51F2FB-048D-4D8B-AB83-B39F30186F8B}" destId="{F66A296E-B51C-4260-81EC-AA5AAEDCA80C}" srcOrd="3" destOrd="0" presId="urn:microsoft.com/office/officeart/2005/8/layout/pList1"/>
    <dgm:cxn modelId="{370E05D0-F0C8-45D1-803A-D580C241C094}" type="presParOf" srcId="{DA51F2FB-048D-4D8B-AB83-B39F30186F8B}" destId="{3E2BFD72-6BCC-494E-9752-CE1D502BE3EE}" srcOrd="4" destOrd="0" presId="urn:microsoft.com/office/officeart/2005/8/layout/pList1"/>
    <dgm:cxn modelId="{F8910089-893A-4AA0-8B1D-016F484F53DA}" type="presParOf" srcId="{3E2BFD72-6BCC-494E-9752-CE1D502BE3EE}" destId="{373D4F4B-E60B-4B68-9291-9776E122EFCE}" srcOrd="0" destOrd="0" presId="urn:microsoft.com/office/officeart/2005/8/layout/pList1"/>
    <dgm:cxn modelId="{A013D442-50D2-4FC7-B518-EF853FCE0247}" type="presParOf" srcId="{3E2BFD72-6BCC-494E-9752-CE1D502BE3EE}" destId="{A4B0B260-64A5-47CD-BC59-3EE3264FB1A7}" srcOrd="1" destOrd="0" presId="urn:microsoft.com/office/officeart/2005/8/layout/pList1"/>
    <dgm:cxn modelId="{7C45AE5B-AB09-4627-AACA-1CDF8682F1F4}" type="presParOf" srcId="{DA51F2FB-048D-4D8B-AB83-B39F30186F8B}" destId="{D4B62D0F-EA54-43FE-A967-34E5F625515D}" srcOrd="5" destOrd="0" presId="urn:microsoft.com/office/officeart/2005/8/layout/pList1"/>
    <dgm:cxn modelId="{375083E1-6C25-457A-8F42-06FE46FB924F}" type="presParOf" srcId="{DA51F2FB-048D-4D8B-AB83-B39F30186F8B}" destId="{FD1F093F-EC0A-4DF9-8527-64C0FCE339F5}" srcOrd="6" destOrd="0" presId="urn:microsoft.com/office/officeart/2005/8/layout/pList1"/>
    <dgm:cxn modelId="{EDA9BA25-E24E-4A13-99C4-B40E6AC94CBE}" type="presParOf" srcId="{FD1F093F-EC0A-4DF9-8527-64C0FCE339F5}" destId="{1776D991-24FC-4063-9364-AD979F0A672E}" srcOrd="0" destOrd="0" presId="urn:microsoft.com/office/officeart/2005/8/layout/pList1"/>
    <dgm:cxn modelId="{4882FFDF-12E7-4D15-B35A-C4403EC52D15}" type="presParOf" srcId="{FD1F093F-EC0A-4DF9-8527-64C0FCE339F5}" destId="{B213D844-5043-4316-9575-260A760DEF90}"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AA051B-DA00-44CB-B150-D12CAF4CC524}">
      <dsp:nvSpPr>
        <dsp:cNvPr id="0" name=""/>
        <dsp:cNvSpPr/>
      </dsp:nvSpPr>
      <dsp:spPr>
        <a:xfrm>
          <a:off x="544" y="1043151"/>
          <a:ext cx="2259734" cy="1592860"/>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8000" r="-1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3AAD6F-A318-4A78-971E-0B717A48898A}">
      <dsp:nvSpPr>
        <dsp:cNvPr id="0" name=""/>
        <dsp:cNvSpPr/>
      </dsp:nvSpPr>
      <dsp:spPr>
        <a:xfrm>
          <a:off x="544" y="2766294"/>
          <a:ext cx="2259734" cy="541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solidFill>
                <a:schemeClr val="accent1">
                  <a:lumMod val="75000"/>
                </a:schemeClr>
              </a:solidFill>
              <a:latin typeface="Arial" panose="020B0604020202020204" pitchFamily="34" charset="0"/>
              <a:cs typeface="Arial" panose="020B0604020202020204" pitchFamily="34" charset="0"/>
            </a:rPr>
            <a:t>Bonds</a:t>
          </a:r>
          <a:endParaRPr lang="en-IN" sz="2400" kern="1200" dirty="0">
            <a:solidFill>
              <a:schemeClr val="accent1">
                <a:lumMod val="75000"/>
              </a:schemeClr>
            </a:solidFill>
            <a:latin typeface="Arial" panose="020B0604020202020204" pitchFamily="34" charset="0"/>
            <a:cs typeface="Arial" panose="020B0604020202020204" pitchFamily="34" charset="0"/>
          </a:endParaRPr>
        </a:p>
      </dsp:txBody>
      <dsp:txXfrm>
        <a:off x="544" y="2766294"/>
        <a:ext cx="2259734" cy="541891"/>
      </dsp:txXfrm>
    </dsp:sp>
    <dsp:sp modelId="{A90CD9F7-8F2C-42E1-8002-34D07C5AC63B}">
      <dsp:nvSpPr>
        <dsp:cNvPr id="0" name=""/>
        <dsp:cNvSpPr/>
      </dsp:nvSpPr>
      <dsp:spPr>
        <a:xfrm>
          <a:off x="2486347" y="1041452"/>
          <a:ext cx="2390256" cy="1556957"/>
        </a:xfrm>
        <a:prstGeom prst="roundRect">
          <a:avLst/>
        </a:prstGeom>
        <a:blipFill>
          <a:blip xmlns:r="http://schemas.openxmlformats.org/officeDocument/2006/relationships" r:embed="rId2" cstate="hqprint">
            <a:extLst>
              <a:ext uri="{28A0092B-C50C-407E-A947-70E740481C1C}">
                <a14:useLocalDpi xmlns:a14="http://schemas.microsoft.com/office/drawing/2010/main" val="0"/>
              </a:ext>
            </a:extLst>
          </a:blip>
          <a:srcRect/>
          <a:stretch>
            <a:fillRect t="-26000" b="-2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926B2D-3F18-4428-9D54-CD08A88A75B4}">
      <dsp:nvSpPr>
        <dsp:cNvPr id="0" name=""/>
        <dsp:cNvSpPr/>
      </dsp:nvSpPr>
      <dsp:spPr>
        <a:xfrm>
          <a:off x="2551608" y="2725295"/>
          <a:ext cx="2259734" cy="584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solidFill>
                <a:schemeClr val="accent1">
                  <a:lumMod val="75000"/>
                </a:schemeClr>
              </a:solidFill>
              <a:latin typeface="Arial" panose="020B0604020202020204" pitchFamily="34" charset="0"/>
              <a:cs typeface="Arial" panose="020B0604020202020204" pitchFamily="34" charset="0"/>
            </a:rPr>
            <a:t>Debenture</a:t>
          </a:r>
          <a:endParaRPr lang="en-IN" sz="2400" kern="1200" dirty="0">
            <a:solidFill>
              <a:schemeClr val="accent1">
                <a:lumMod val="75000"/>
              </a:schemeClr>
            </a:solidFill>
            <a:latin typeface="Arial" panose="020B0604020202020204" pitchFamily="34" charset="0"/>
            <a:cs typeface="Arial" panose="020B0604020202020204" pitchFamily="34" charset="0"/>
          </a:endParaRPr>
        </a:p>
      </dsp:txBody>
      <dsp:txXfrm>
        <a:off x="2551608" y="2725295"/>
        <a:ext cx="2259734" cy="584589"/>
      </dsp:txXfrm>
    </dsp:sp>
    <dsp:sp modelId="{373D4F4B-E60B-4B68-9291-9776E122EFCE}">
      <dsp:nvSpPr>
        <dsp:cNvPr id="0" name=""/>
        <dsp:cNvSpPr/>
      </dsp:nvSpPr>
      <dsp:spPr>
        <a:xfrm>
          <a:off x="5309223" y="981924"/>
          <a:ext cx="2613156" cy="1556957"/>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6000" r="-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B0B260-64A5-47CD-BC59-3EE3264FB1A7}">
      <dsp:nvSpPr>
        <dsp:cNvPr id="0" name=""/>
        <dsp:cNvSpPr/>
      </dsp:nvSpPr>
      <dsp:spPr>
        <a:xfrm>
          <a:off x="5102672" y="2546712"/>
          <a:ext cx="3026258" cy="82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solidFill>
                <a:schemeClr val="accent1">
                  <a:lumMod val="75000"/>
                </a:schemeClr>
              </a:solidFill>
              <a:latin typeface="Arial" panose="020B0604020202020204" pitchFamily="34" charset="0"/>
              <a:cs typeface="Arial" panose="020B0604020202020204" pitchFamily="34" charset="0"/>
            </a:rPr>
            <a:t>Certificate of Deposit(CDs)</a:t>
          </a:r>
          <a:endParaRPr lang="en-IN" sz="2400" kern="1200" dirty="0">
            <a:solidFill>
              <a:schemeClr val="accent1">
                <a:lumMod val="75000"/>
              </a:schemeClr>
            </a:solidFill>
            <a:latin typeface="Arial" panose="020B0604020202020204" pitchFamily="34" charset="0"/>
            <a:cs typeface="Arial" panose="020B0604020202020204" pitchFamily="34" charset="0"/>
          </a:endParaRPr>
        </a:p>
      </dsp:txBody>
      <dsp:txXfrm>
        <a:off x="5102672" y="2546712"/>
        <a:ext cx="3026258" cy="822700"/>
      </dsp:txXfrm>
    </dsp:sp>
    <dsp:sp modelId="{1776D991-24FC-4063-9364-AD979F0A672E}">
      <dsp:nvSpPr>
        <dsp:cNvPr id="0" name=""/>
        <dsp:cNvSpPr/>
      </dsp:nvSpPr>
      <dsp:spPr>
        <a:xfrm>
          <a:off x="8468766" y="1016951"/>
          <a:ext cx="2259734" cy="1556957"/>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4000" b="-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3D844-5043-4316-9575-260A760DEF90}">
      <dsp:nvSpPr>
        <dsp:cNvPr id="0" name=""/>
        <dsp:cNvSpPr/>
      </dsp:nvSpPr>
      <dsp:spPr>
        <a:xfrm>
          <a:off x="8355000" y="2651792"/>
          <a:ext cx="2487267" cy="682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solidFill>
                <a:schemeClr val="accent1">
                  <a:lumMod val="75000"/>
                </a:schemeClr>
              </a:solidFill>
              <a:latin typeface="Arial" panose="020B0604020202020204" pitchFamily="34" charset="0"/>
              <a:cs typeface="Arial" panose="020B0604020202020204" pitchFamily="34" charset="0"/>
            </a:rPr>
            <a:t>Commercial Paper</a:t>
          </a:r>
          <a:endParaRPr lang="en-IN" sz="2400" kern="1200" dirty="0">
            <a:solidFill>
              <a:schemeClr val="accent1">
                <a:lumMod val="75000"/>
              </a:schemeClr>
            </a:solidFill>
            <a:latin typeface="Arial" panose="020B0604020202020204" pitchFamily="34" charset="0"/>
            <a:cs typeface="Arial" panose="020B0604020202020204" pitchFamily="34" charset="0"/>
          </a:endParaRPr>
        </a:p>
      </dsp:txBody>
      <dsp:txXfrm>
        <a:off x="8355000" y="2651792"/>
        <a:ext cx="2487267" cy="682593"/>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CBFF0-55DA-46BF-ABBC-80B6E9B7CFC6}" type="datetimeFigureOut">
              <a:rPr lang="en-IN" smtClean="0"/>
              <a:t>19-08-2025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4E888-E85A-42B3-A132-76FB83273110}" type="slidenum">
              <a:rPr lang="en-IN" smtClean="0"/>
              <a:t>‹#›</a:t>
            </a:fld>
            <a:endParaRPr lang="en-IN"/>
          </a:p>
        </p:txBody>
      </p:sp>
    </p:spTree>
    <p:extLst>
      <p:ext uri="{BB962C8B-B14F-4D97-AF65-F5344CB8AC3E}">
        <p14:creationId xmlns:p14="http://schemas.microsoft.com/office/powerpoint/2010/main" val="3196879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5AEF-1FB5-4171-9074-BE372BB7FD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B181D1A-6A5F-4EB1-B181-509C11C0D4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AF0220-69B9-4D17-914A-ED5BE674EEDE}"/>
              </a:ext>
            </a:extLst>
          </p:cNvPr>
          <p:cNvSpPr>
            <a:spLocks noGrp="1"/>
          </p:cNvSpPr>
          <p:nvPr>
            <p:ph type="dt" sz="half" idx="10"/>
          </p:nvPr>
        </p:nvSpPr>
        <p:spPr/>
        <p:txBody>
          <a:bodyPr/>
          <a:lstStyle/>
          <a:p>
            <a:fld id="{0938DDE0-71C3-4DE6-ABD4-9B29E890D6D4}" type="datetime1">
              <a:rPr lang="en-IN" smtClean="0"/>
              <a:t>19-08-2025</a:t>
            </a:fld>
            <a:endParaRPr lang="en-IN"/>
          </a:p>
        </p:txBody>
      </p:sp>
      <p:sp>
        <p:nvSpPr>
          <p:cNvPr id="5" name="Footer Placeholder 4">
            <a:extLst>
              <a:ext uri="{FF2B5EF4-FFF2-40B4-BE49-F238E27FC236}">
                <a16:creationId xmlns:a16="http://schemas.microsoft.com/office/drawing/2014/main" id="{F48E941C-75BC-469A-BB9E-74E1491C50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1C9206-14C9-41DB-A9E5-126FC0FFA6FA}"/>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3357656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9F43-400F-4EB1-B27F-3B3BB2811D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C67FA5-0981-44A3-A68D-9FFF79533B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778C53-2187-4201-9FED-3AECFD4155A8}"/>
              </a:ext>
            </a:extLst>
          </p:cNvPr>
          <p:cNvSpPr>
            <a:spLocks noGrp="1"/>
          </p:cNvSpPr>
          <p:nvPr>
            <p:ph type="dt" sz="half" idx="10"/>
          </p:nvPr>
        </p:nvSpPr>
        <p:spPr/>
        <p:txBody>
          <a:bodyPr/>
          <a:lstStyle/>
          <a:p>
            <a:fld id="{1BD02A3E-5850-45AC-B0F2-871E74E43FF8}" type="datetime1">
              <a:rPr lang="en-IN" smtClean="0"/>
              <a:t>19-08-2025</a:t>
            </a:fld>
            <a:endParaRPr lang="en-IN"/>
          </a:p>
        </p:txBody>
      </p:sp>
      <p:sp>
        <p:nvSpPr>
          <p:cNvPr id="5" name="Footer Placeholder 4">
            <a:extLst>
              <a:ext uri="{FF2B5EF4-FFF2-40B4-BE49-F238E27FC236}">
                <a16:creationId xmlns:a16="http://schemas.microsoft.com/office/drawing/2014/main" id="{2217BE5C-62D6-4AAA-A805-0B10C62E21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2531A6-BD97-4A04-9103-CEFBD32FF438}"/>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257456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88FA4-0694-47DA-8444-EA7EB2F43E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A986A7-6113-4FD7-AB13-EF0CBABF89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446A84-822F-44AF-B09D-361D48D399F0}"/>
              </a:ext>
            </a:extLst>
          </p:cNvPr>
          <p:cNvSpPr>
            <a:spLocks noGrp="1"/>
          </p:cNvSpPr>
          <p:nvPr>
            <p:ph type="dt" sz="half" idx="10"/>
          </p:nvPr>
        </p:nvSpPr>
        <p:spPr/>
        <p:txBody>
          <a:bodyPr/>
          <a:lstStyle/>
          <a:p>
            <a:fld id="{8C4D92D8-4D9A-4C84-A1A2-DBBB5F2C35C3}" type="datetime1">
              <a:rPr lang="en-IN" smtClean="0"/>
              <a:t>19-08-2025</a:t>
            </a:fld>
            <a:endParaRPr lang="en-IN"/>
          </a:p>
        </p:txBody>
      </p:sp>
      <p:sp>
        <p:nvSpPr>
          <p:cNvPr id="5" name="Footer Placeholder 4">
            <a:extLst>
              <a:ext uri="{FF2B5EF4-FFF2-40B4-BE49-F238E27FC236}">
                <a16:creationId xmlns:a16="http://schemas.microsoft.com/office/drawing/2014/main" id="{23D0B175-527A-4805-A484-B449FF97C1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70C6A4-1153-4F21-B43F-4814797D34E5}"/>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3438202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6F3B0-666F-44D8-A03B-47964D8314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062BFB-4ACD-4695-A90B-0657D05206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0777C6-6B54-4499-AE8E-F36E96AFCB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D0A966-695B-44B8-ADB7-BBD7BFB266BB}"/>
              </a:ext>
            </a:extLst>
          </p:cNvPr>
          <p:cNvSpPr>
            <a:spLocks noGrp="1"/>
          </p:cNvSpPr>
          <p:nvPr>
            <p:ph type="dt" sz="half" idx="10"/>
          </p:nvPr>
        </p:nvSpPr>
        <p:spPr/>
        <p:txBody>
          <a:bodyPr/>
          <a:lstStyle/>
          <a:p>
            <a:fld id="{905E536A-DD93-4896-9D53-EADA7EB8089C}" type="datetime1">
              <a:rPr lang="en-IN" smtClean="0"/>
              <a:t>19-08-2025</a:t>
            </a:fld>
            <a:endParaRPr lang="en-IN"/>
          </a:p>
        </p:txBody>
      </p:sp>
      <p:sp>
        <p:nvSpPr>
          <p:cNvPr id="6" name="Footer Placeholder 5">
            <a:extLst>
              <a:ext uri="{FF2B5EF4-FFF2-40B4-BE49-F238E27FC236}">
                <a16:creationId xmlns:a16="http://schemas.microsoft.com/office/drawing/2014/main" id="{E6882D4A-0493-424C-93B5-9221B8A164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726C22-4CB2-4EFD-901A-60EC4A2C080A}"/>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367994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5D3F-DFE5-4798-8C20-80A5AEF4C1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1FCE09-4CE6-433C-9FC3-BE20AAEDE7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175E3F-BFAC-434B-A3B1-E030C2F707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44F0BD-EF91-433D-A8FC-EB1897C4E6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3F3779-2313-4CCD-A992-D5C63AF179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02E75C-2048-41FF-A572-24D4EBFB6F05}"/>
              </a:ext>
            </a:extLst>
          </p:cNvPr>
          <p:cNvSpPr>
            <a:spLocks noGrp="1"/>
          </p:cNvSpPr>
          <p:nvPr>
            <p:ph type="dt" sz="half" idx="10"/>
          </p:nvPr>
        </p:nvSpPr>
        <p:spPr/>
        <p:txBody>
          <a:bodyPr/>
          <a:lstStyle/>
          <a:p>
            <a:fld id="{A84CC70E-E59D-4860-90C2-4135FC2451A2}" type="datetime1">
              <a:rPr lang="en-IN" smtClean="0"/>
              <a:t>19-08-2025</a:t>
            </a:fld>
            <a:endParaRPr lang="en-IN"/>
          </a:p>
        </p:txBody>
      </p:sp>
      <p:sp>
        <p:nvSpPr>
          <p:cNvPr id="8" name="Footer Placeholder 7">
            <a:extLst>
              <a:ext uri="{FF2B5EF4-FFF2-40B4-BE49-F238E27FC236}">
                <a16:creationId xmlns:a16="http://schemas.microsoft.com/office/drawing/2014/main" id="{973340F4-9480-425A-968A-225F7CD558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22B49A-3451-42D8-B5D1-1F3FD2E4E533}"/>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159298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CC3D-7BBC-485E-8ACD-4AD63572F1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F9A5B69-569D-4F0E-8D12-72BE8D183BE8}"/>
              </a:ext>
            </a:extLst>
          </p:cNvPr>
          <p:cNvSpPr>
            <a:spLocks noGrp="1"/>
          </p:cNvSpPr>
          <p:nvPr>
            <p:ph type="dt" sz="half" idx="10"/>
          </p:nvPr>
        </p:nvSpPr>
        <p:spPr/>
        <p:txBody>
          <a:bodyPr/>
          <a:lstStyle/>
          <a:p>
            <a:fld id="{1406B0DA-0D19-4E7D-A0EC-88D9CB14B7F9}" type="datetime1">
              <a:rPr lang="en-IN" smtClean="0"/>
              <a:t>19-08-2025</a:t>
            </a:fld>
            <a:endParaRPr lang="en-IN"/>
          </a:p>
        </p:txBody>
      </p:sp>
      <p:sp>
        <p:nvSpPr>
          <p:cNvPr id="4" name="Footer Placeholder 3">
            <a:extLst>
              <a:ext uri="{FF2B5EF4-FFF2-40B4-BE49-F238E27FC236}">
                <a16:creationId xmlns:a16="http://schemas.microsoft.com/office/drawing/2014/main" id="{78C246E6-29FF-4FD3-BFD4-1E29990BCC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CE62EC-D042-4013-A45B-9C0E60AFB7E7}"/>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180253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92625E-0752-42BF-9123-93305AC0E43D}"/>
              </a:ext>
            </a:extLst>
          </p:cNvPr>
          <p:cNvSpPr>
            <a:spLocks noGrp="1"/>
          </p:cNvSpPr>
          <p:nvPr>
            <p:ph type="dt" sz="half" idx="10"/>
          </p:nvPr>
        </p:nvSpPr>
        <p:spPr/>
        <p:txBody>
          <a:bodyPr/>
          <a:lstStyle/>
          <a:p>
            <a:fld id="{915BB5B7-C5F8-4A50-9E2B-30D4395196D3}" type="datetime1">
              <a:rPr lang="en-IN" smtClean="0"/>
              <a:t>19-08-2025</a:t>
            </a:fld>
            <a:endParaRPr lang="en-IN"/>
          </a:p>
        </p:txBody>
      </p:sp>
      <p:sp>
        <p:nvSpPr>
          <p:cNvPr id="3" name="Footer Placeholder 2">
            <a:extLst>
              <a:ext uri="{FF2B5EF4-FFF2-40B4-BE49-F238E27FC236}">
                <a16:creationId xmlns:a16="http://schemas.microsoft.com/office/drawing/2014/main" id="{186AF888-D5F1-4F74-8A47-E30FFF2341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076B96-6440-47A4-96EA-AC39E5ACB4AB}"/>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104852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11A78-607A-4DAA-ABFF-1289C32E44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FB3B4A-A26E-4B2F-8B2B-A501A9D61F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3850BB-9E10-43F0-B680-FB759E56A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9CC4F-C4E3-4E5F-BEBC-DD2BDE9C862D}"/>
              </a:ext>
            </a:extLst>
          </p:cNvPr>
          <p:cNvSpPr>
            <a:spLocks noGrp="1"/>
          </p:cNvSpPr>
          <p:nvPr>
            <p:ph type="dt" sz="half" idx="10"/>
          </p:nvPr>
        </p:nvSpPr>
        <p:spPr/>
        <p:txBody>
          <a:bodyPr/>
          <a:lstStyle/>
          <a:p>
            <a:fld id="{4476A5AA-5445-4D11-9A94-812CAA914554}" type="datetime1">
              <a:rPr lang="en-IN" smtClean="0"/>
              <a:t>19-08-2025</a:t>
            </a:fld>
            <a:endParaRPr lang="en-IN"/>
          </a:p>
        </p:txBody>
      </p:sp>
      <p:sp>
        <p:nvSpPr>
          <p:cNvPr id="6" name="Footer Placeholder 5">
            <a:extLst>
              <a:ext uri="{FF2B5EF4-FFF2-40B4-BE49-F238E27FC236}">
                <a16:creationId xmlns:a16="http://schemas.microsoft.com/office/drawing/2014/main" id="{25E4B841-A2D7-4B52-B475-4ADA6E6819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5AE225-BB1F-4848-8F52-48FF4D7FF0DF}"/>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181632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1BAE8-F7E2-4A48-A709-3B61EC157F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390A84-E352-407E-A98F-E12B91C156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4BD618-70FC-40BF-A198-4EF56E2476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67BA31-FBFD-4545-8AE8-3FCD1056ADB7}"/>
              </a:ext>
            </a:extLst>
          </p:cNvPr>
          <p:cNvSpPr>
            <a:spLocks noGrp="1"/>
          </p:cNvSpPr>
          <p:nvPr>
            <p:ph type="dt" sz="half" idx="10"/>
          </p:nvPr>
        </p:nvSpPr>
        <p:spPr/>
        <p:txBody>
          <a:bodyPr/>
          <a:lstStyle/>
          <a:p>
            <a:fld id="{82CFA8C1-B484-4A2E-B21A-137D66C2842E}" type="datetime1">
              <a:rPr lang="en-IN" smtClean="0"/>
              <a:t>19-08-2025</a:t>
            </a:fld>
            <a:endParaRPr lang="en-IN"/>
          </a:p>
        </p:txBody>
      </p:sp>
      <p:sp>
        <p:nvSpPr>
          <p:cNvPr id="6" name="Footer Placeholder 5">
            <a:extLst>
              <a:ext uri="{FF2B5EF4-FFF2-40B4-BE49-F238E27FC236}">
                <a16:creationId xmlns:a16="http://schemas.microsoft.com/office/drawing/2014/main" id="{678ED585-AECE-4654-9B06-2A239B6C4C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C6E397-FC9B-466D-A747-E173DD317BFF}"/>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1966195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96D0A-DDA3-40A6-AFF0-923BA5049B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A1CCC-4C7F-4374-91F6-7A61C40112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6A2CEA-1D20-4DB2-BD3B-9730CDF7DB64}"/>
              </a:ext>
            </a:extLst>
          </p:cNvPr>
          <p:cNvSpPr>
            <a:spLocks noGrp="1"/>
          </p:cNvSpPr>
          <p:nvPr>
            <p:ph type="dt" sz="half" idx="10"/>
          </p:nvPr>
        </p:nvSpPr>
        <p:spPr/>
        <p:txBody>
          <a:bodyPr/>
          <a:lstStyle/>
          <a:p>
            <a:fld id="{33B4CBDA-B01C-46E4-8E22-8AA9A2398E2F}" type="datetime1">
              <a:rPr lang="en-IN" smtClean="0"/>
              <a:t>19-08-2025</a:t>
            </a:fld>
            <a:endParaRPr lang="en-IN"/>
          </a:p>
        </p:txBody>
      </p:sp>
      <p:sp>
        <p:nvSpPr>
          <p:cNvPr id="5" name="Footer Placeholder 4">
            <a:extLst>
              <a:ext uri="{FF2B5EF4-FFF2-40B4-BE49-F238E27FC236}">
                <a16:creationId xmlns:a16="http://schemas.microsoft.com/office/drawing/2014/main" id="{A69DE915-0C10-4C05-B1CD-14CFE5CAF6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DA3D3C-1B5D-4513-9E9D-E569F378072C}"/>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221300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804133-F6D8-4B9F-912E-588675B3C0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455832-3160-4989-9944-0A8CD6260A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E29271-79DD-4F75-8F02-7F91A6113033}"/>
              </a:ext>
            </a:extLst>
          </p:cNvPr>
          <p:cNvSpPr>
            <a:spLocks noGrp="1"/>
          </p:cNvSpPr>
          <p:nvPr>
            <p:ph type="dt" sz="half" idx="10"/>
          </p:nvPr>
        </p:nvSpPr>
        <p:spPr/>
        <p:txBody>
          <a:bodyPr/>
          <a:lstStyle/>
          <a:p>
            <a:fld id="{CDC68DC9-DDB1-41A0-81D4-41B965397A40}" type="datetime1">
              <a:rPr lang="en-IN" smtClean="0"/>
              <a:t>19-08-2025</a:t>
            </a:fld>
            <a:endParaRPr lang="en-IN"/>
          </a:p>
        </p:txBody>
      </p:sp>
      <p:sp>
        <p:nvSpPr>
          <p:cNvPr id="5" name="Footer Placeholder 4">
            <a:extLst>
              <a:ext uri="{FF2B5EF4-FFF2-40B4-BE49-F238E27FC236}">
                <a16:creationId xmlns:a16="http://schemas.microsoft.com/office/drawing/2014/main" id="{0FEF4E75-3A08-4632-8BA2-6D99C0CDF7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4DC064-11A1-4F9A-9A86-F6932554F352}"/>
              </a:ext>
            </a:extLst>
          </p:cNvPr>
          <p:cNvSpPr>
            <a:spLocks noGrp="1"/>
          </p:cNvSpPr>
          <p:nvPr>
            <p:ph type="sldNum" sz="quarter" idx="12"/>
          </p:nvPr>
        </p:nvSpPr>
        <p:spPr/>
        <p:txBody>
          <a:bodyPr/>
          <a:lstStyle/>
          <a:p>
            <a:fld id="{B7991F04-3566-4BB1-A8CB-A35BE8E11603}" type="slidenum">
              <a:rPr lang="en-IN" smtClean="0"/>
              <a:t>‹#›</a:t>
            </a:fld>
            <a:endParaRPr lang="en-IN"/>
          </a:p>
        </p:txBody>
      </p:sp>
    </p:spTree>
    <p:extLst>
      <p:ext uri="{BB962C8B-B14F-4D97-AF65-F5344CB8AC3E}">
        <p14:creationId xmlns:p14="http://schemas.microsoft.com/office/powerpoint/2010/main" val="1457730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7B2CA-EEDD-454D-B26E-2564E7C6F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B66A8E-1270-493C-A848-36EC8B2CE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5E376-B2E3-4F38-87A8-58632D27EF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50DB48-71D8-4A28-8AED-4694F34DF1B4}" type="datetime1">
              <a:rPr lang="en-IN" smtClean="0"/>
              <a:t>19-08-2025</a:t>
            </a:fld>
            <a:endParaRPr lang="en-IN"/>
          </a:p>
        </p:txBody>
      </p:sp>
      <p:sp>
        <p:nvSpPr>
          <p:cNvPr id="5" name="Footer Placeholder 4">
            <a:extLst>
              <a:ext uri="{FF2B5EF4-FFF2-40B4-BE49-F238E27FC236}">
                <a16:creationId xmlns:a16="http://schemas.microsoft.com/office/drawing/2014/main" id="{10A7AF9D-F5DC-45E2-B11E-141E6CF5B1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5F962B-DEC3-4939-B10E-2BBF1361F7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91F04-3566-4BB1-A8CB-A35BE8E11603}" type="slidenum">
              <a:rPr lang="en-IN" smtClean="0"/>
              <a:t>‹#›</a:t>
            </a:fld>
            <a:endParaRPr lang="en-IN"/>
          </a:p>
        </p:txBody>
      </p:sp>
    </p:spTree>
    <p:extLst>
      <p:ext uri="{BB962C8B-B14F-4D97-AF65-F5344CB8AC3E}">
        <p14:creationId xmlns:p14="http://schemas.microsoft.com/office/powerpoint/2010/main" val="1227998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F455-BC79-E0BD-A932-4AAC82BBBCCD}"/>
              </a:ext>
            </a:extLst>
          </p:cNvPr>
          <p:cNvSpPr>
            <a:spLocks noGrp="1"/>
          </p:cNvSpPr>
          <p:nvPr>
            <p:ph type="ctrTitle"/>
          </p:nvPr>
        </p:nvSpPr>
        <p:spPr>
          <a:xfrm>
            <a:off x="2348752" y="412376"/>
            <a:ext cx="7584141" cy="1029404"/>
          </a:xfrm>
        </p:spPr>
        <p:txBody>
          <a:bodyPr>
            <a:normAutofit/>
          </a:bodyPr>
          <a:lstStyle/>
          <a:p>
            <a:r>
              <a:rPr lang="en-US" sz="2800" b="1" dirty="0">
                <a:latin typeface="Arial" panose="020B0604020202020204" pitchFamily="34" charset="0"/>
                <a:cs typeface="Arial" panose="020B0604020202020204" pitchFamily="34" charset="0"/>
              </a:rPr>
              <a:t>FINANCIAL INSTRUMENTS </a:t>
            </a:r>
            <a:endParaRPr lang="en-IN" sz="28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348BDD4-5999-D88C-CDA9-369D927A8A04}"/>
              </a:ext>
            </a:extLst>
          </p:cNvPr>
          <p:cNvSpPr>
            <a:spLocks noGrp="1"/>
          </p:cNvSpPr>
          <p:nvPr>
            <p:ph type="subTitle" idx="1"/>
          </p:nvPr>
        </p:nvSpPr>
        <p:spPr>
          <a:xfrm>
            <a:off x="1210235" y="3598546"/>
            <a:ext cx="9599821" cy="2192216"/>
          </a:xfrm>
        </p:spPr>
        <p:txBody>
          <a:bodyPr/>
          <a:lstStyle/>
          <a:p>
            <a:r>
              <a:rPr lang="en-IN" b="1" dirty="0"/>
              <a:t>Dr. Naresh Chandra Sahu</a:t>
            </a:r>
          </a:p>
          <a:p>
            <a:r>
              <a:rPr lang="en-IN" dirty="0"/>
              <a:t>Associate Professor (Economics)</a:t>
            </a:r>
          </a:p>
        </p:txBody>
      </p:sp>
      <p:sp>
        <p:nvSpPr>
          <p:cNvPr id="4" name="Subtitle 2">
            <a:extLst>
              <a:ext uri="{FF2B5EF4-FFF2-40B4-BE49-F238E27FC236}">
                <a16:creationId xmlns:a16="http://schemas.microsoft.com/office/drawing/2014/main" id="{E611643E-496F-6C24-52CF-26048AD81153}"/>
              </a:ext>
            </a:extLst>
          </p:cNvPr>
          <p:cNvSpPr txBox="1">
            <a:spLocks/>
          </p:cNvSpPr>
          <p:nvPr/>
        </p:nvSpPr>
        <p:spPr>
          <a:xfrm>
            <a:off x="1524000" y="5116313"/>
            <a:ext cx="9144000" cy="932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en-US" sz="2200" b="1" dirty="0">
                <a:solidFill>
                  <a:prstClr val="black"/>
                </a:solidFill>
                <a:latin typeface="Arial" panose="020B0604020202020204" pitchFamily="34" charset="0"/>
                <a:cs typeface="Arial" panose="020B0604020202020204" pitchFamily="34" charset="0"/>
              </a:rPr>
              <a:t>School of Humanities, Social Sciences &amp; Management</a:t>
            </a:r>
          </a:p>
          <a:p>
            <a:pPr>
              <a:defRPr/>
            </a:pPr>
            <a:r>
              <a:rPr lang="en-US" sz="2200" dirty="0">
                <a:solidFill>
                  <a:prstClr val="black"/>
                </a:solidFill>
                <a:latin typeface="Arial" panose="020B0604020202020204" pitchFamily="34" charset="0"/>
                <a:cs typeface="Arial" panose="020B0604020202020204" pitchFamily="34" charset="0"/>
              </a:rPr>
              <a:t>Indian Institute of Technology, Bhubaneswar</a:t>
            </a:r>
          </a:p>
          <a:p>
            <a:endParaRPr lang="en-IN" dirty="0"/>
          </a:p>
        </p:txBody>
      </p:sp>
      <p:pic>
        <p:nvPicPr>
          <p:cNvPr id="5" name="Picture 4">
            <a:extLst>
              <a:ext uri="{FF2B5EF4-FFF2-40B4-BE49-F238E27FC236}">
                <a16:creationId xmlns:a16="http://schemas.microsoft.com/office/drawing/2014/main" id="{FB343BF9-7F17-532D-D9D7-7DDB3D55C91E}"/>
              </a:ext>
            </a:extLst>
          </p:cNvPr>
          <p:cNvPicPr>
            <a:picLocks noChangeAspect="1"/>
          </p:cNvPicPr>
          <p:nvPr/>
        </p:nvPicPr>
        <p:blipFill>
          <a:blip r:embed="rId2"/>
          <a:stretch>
            <a:fillRect/>
          </a:stretch>
        </p:blipFill>
        <p:spPr>
          <a:xfrm>
            <a:off x="4881057" y="1630919"/>
            <a:ext cx="1979076" cy="1817674"/>
          </a:xfrm>
          <a:prstGeom prst="rect">
            <a:avLst/>
          </a:prstGeom>
        </p:spPr>
      </p:pic>
      <p:sp>
        <p:nvSpPr>
          <p:cNvPr id="6" name="Slide Number Placeholder 5">
            <a:extLst>
              <a:ext uri="{FF2B5EF4-FFF2-40B4-BE49-F238E27FC236}">
                <a16:creationId xmlns:a16="http://schemas.microsoft.com/office/drawing/2014/main" id="{FEE30A92-D783-6F7E-FFC5-F3C3B0CA929A}"/>
              </a:ext>
            </a:extLst>
          </p:cNvPr>
          <p:cNvSpPr>
            <a:spLocks noGrp="1"/>
          </p:cNvSpPr>
          <p:nvPr>
            <p:ph type="sldNum" sz="quarter" idx="12"/>
          </p:nvPr>
        </p:nvSpPr>
        <p:spPr/>
        <p:txBody>
          <a:bodyPr/>
          <a:lstStyle/>
          <a:p>
            <a:fld id="{A1DCFAE8-8E9E-42B1-9A81-DFF72612FDA6}" type="slidenum">
              <a:rPr lang="en-IN" smtClean="0"/>
              <a:t>1</a:t>
            </a:fld>
            <a:endParaRPr lang="en-IN"/>
          </a:p>
        </p:txBody>
      </p:sp>
    </p:spTree>
    <p:extLst>
      <p:ext uri="{BB962C8B-B14F-4D97-AF65-F5344CB8AC3E}">
        <p14:creationId xmlns:p14="http://schemas.microsoft.com/office/powerpoint/2010/main" val="41011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Learning Outcomes</a:t>
            </a:r>
            <a:endParaRPr lang="en-IN" sz="2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199" y="1174376"/>
            <a:ext cx="10403541" cy="4694612"/>
          </a:xfrm>
        </p:spPr>
        <p:txBody>
          <a:bodyPr>
            <a:normAutofit lnSpcReduction="10000"/>
          </a:bodyPr>
          <a:lstStyle/>
          <a:p>
            <a:pPr algn="just">
              <a:lnSpc>
                <a:spcPct val="200000"/>
              </a:lnSpc>
            </a:pPr>
            <a:r>
              <a:rPr lang="en-US" sz="1900" dirty="0">
                <a:latin typeface="Arial" panose="020B0604020202020204" pitchFamily="34" charset="0"/>
                <a:cs typeface="Arial" panose="020B0604020202020204" pitchFamily="34" charset="0"/>
              </a:rPr>
              <a:t>Explain the concept and purpose of financial instruments in investment, capital raising, and risk management.</a:t>
            </a:r>
          </a:p>
          <a:p>
            <a:pPr algn="just">
              <a:lnSpc>
                <a:spcPct val="200000"/>
              </a:lnSpc>
            </a:pPr>
            <a:r>
              <a:rPr lang="en-US" sz="1900" dirty="0">
                <a:latin typeface="Arial" panose="020B0604020202020204" pitchFamily="34" charset="0"/>
                <a:cs typeface="Arial" panose="020B0604020202020204" pitchFamily="34" charset="0"/>
              </a:rPr>
              <a:t>Differentiate between equity, debt, and derivative instruments. </a:t>
            </a:r>
          </a:p>
          <a:p>
            <a:pPr algn="just">
              <a:lnSpc>
                <a:spcPct val="200000"/>
              </a:lnSpc>
            </a:pPr>
            <a:r>
              <a:rPr lang="en-US" sz="1900" dirty="0">
                <a:latin typeface="Arial" panose="020B0604020202020204" pitchFamily="34" charset="0"/>
                <a:cs typeface="Arial" panose="020B0604020202020204" pitchFamily="34" charset="0"/>
              </a:rPr>
              <a:t>Describe the features, advantages, and risks of each type of financial instrument.</a:t>
            </a:r>
          </a:p>
          <a:p>
            <a:pPr algn="just">
              <a:lnSpc>
                <a:spcPct val="200000"/>
              </a:lnSpc>
            </a:pPr>
            <a:r>
              <a:rPr lang="en-US" sz="1900" dirty="0">
                <a:latin typeface="Arial" panose="020B0604020202020204" pitchFamily="34" charset="0"/>
                <a:cs typeface="Arial" panose="020B0604020202020204" pitchFamily="34" charset="0"/>
              </a:rPr>
              <a:t>Understand how these instruments are issued and traded in different markets.</a:t>
            </a:r>
          </a:p>
          <a:p>
            <a:pPr algn="just">
              <a:lnSpc>
                <a:spcPct val="200000"/>
              </a:lnSpc>
            </a:pPr>
            <a:r>
              <a:rPr lang="en-US" sz="1900" dirty="0">
                <a:latin typeface="Arial" panose="020B0604020202020204" pitchFamily="34" charset="0"/>
                <a:cs typeface="Arial" panose="020B0604020202020204" pitchFamily="34" charset="0"/>
              </a:rPr>
              <a:t>Interpret examples of financial instruments in real-world contexts.</a:t>
            </a:r>
          </a:p>
          <a:p>
            <a:pPr algn="just">
              <a:lnSpc>
                <a:spcPct val="200000"/>
              </a:lnSpc>
            </a:pPr>
            <a:r>
              <a:rPr lang="en-US" sz="1900" dirty="0">
                <a:latin typeface="Arial" panose="020B0604020202020204" pitchFamily="34" charset="0"/>
                <a:cs typeface="Arial" panose="020B0604020202020204" pitchFamily="34" charset="0"/>
              </a:rPr>
              <a:t>Explain how market factors like interest rates and risk affect instrument prices.</a:t>
            </a: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a:t>
            </a:fld>
            <a:endParaRPr lang="en-IN"/>
          </a:p>
        </p:txBody>
      </p:sp>
    </p:spTree>
    <p:extLst>
      <p:ext uri="{BB962C8B-B14F-4D97-AF65-F5344CB8AC3E}">
        <p14:creationId xmlns:p14="http://schemas.microsoft.com/office/powerpoint/2010/main" val="23779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Financial Instruments</a:t>
            </a:r>
            <a:endParaRPr lang="en-IN" sz="2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838200" y="1174376"/>
            <a:ext cx="5688106" cy="4694612"/>
          </a:xfrm>
        </p:spPr>
        <p:txBody>
          <a:bodyPr>
            <a:normAutofit/>
          </a:bodyPr>
          <a:lstStyle/>
          <a:p>
            <a:pPr algn="just">
              <a:lnSpc>
                <a:spcPct val="200000"/>
              </a:lnSpc>
            </a:pPr>
            <a:r>
              <a:rPr lang="en-US" sz="1900" dirty="0">
                <a:latin typeface="Arial" panose="020B0604020202020204" pitchFamily="34" charset="0"/>
                <a:cs typeface="Arial" panose="020B0604020202020204" pitchFamily="34" charset="0"/>
              </a:rPr>
              <a:t>A financial instrument is any asset that can be traded and represents a legal agreement involving monetary value.</a:t>
            </a:r>
          </a:p>
          <a:p>
            <a:pPr algn="just">
              <a:lnSpc>
                <a:spcPct val="200000"/>
              </a:lnSpc>
            </a:pPr>
            <a:r>
              <a:rPr lang="en-US" sz="1900" dirty="0">
                <a:latin typeface="Arial" panose="020B0604020202020204" pitchFamily="34" charset="0"/>
                <a:cs typeface="Arial" panose="020B0604020202020204" pitchFamily="34" charset="0"/>
              </a:rPr>
              <a:t>Purpose: Used for investment, raising capital, hedging risks, or transferring funds.</a:t>
            </a:r>
          </a:p>
          <a:p>
            <a:pPr marL="0" indent="0" algn="just">
              <a:lnSpc>
                <a:spcPct val="200000"/>
              </a:lnSpc>
              <a:buNone/>
            </a:pPr>
            <a:endParaRPr lang="en-US" sz="19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pic>
        <p:nvPicPr>
          <p:cNvPr id="7" name="Picture 6">
            <a:extLst>
              <a:ext uri="{FF2B5EF4-FFF2-40B4-BE49-F238E27FC236}">
                <a16:creationId xmlns:a16="http://schemas.microsoft.com/office/drawing/2014/main" id="{B8C3D8B4-C5E8-4C3E-BD6E-5CAF558BF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1106" y="1389530"/>
            <a:ext cx="4679575" cy="4034117"/>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3</a:t>
            </a:fld>
            <a:endParaRPr lang="en-IN"/>
          </a:p>
        </p:txBody>
      </p:sp>
    </p:spTree>
    <p:extLst>
      <p:ext uri="{BB962C8B-B14F-4D97-AF65-F5344CB8AC3E}">
        <p14:creationId xmlns:p14="http://schemas.microsoft.com/office/powerpoint/2010/main" val="2425785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BD6C0C-D78B-48C4-BC3A-2331233C3962}"/>
              </a:ext>
            </a:extLst>
          </p:cNvPr>
          <p:cNvSpPr>
            <a:spLocks noGrp="1"/>
          </p:cNvSpPr>
          <p:nvPr>
            <p:ph type="sldNum" sz="quarter" idx="12"/>
          </p:nvPr>
        </p:nvSpPr>
        <p:spPr/>
        <p:txBody>
          <a:bodyPr/>
          <a:lstStyle/>
          <a:p>
            <a:fld id="{B7991F04-3566-4BB1-A8CB-A35BE8E11603}" type="slidenum">
              <a:rPr lang="en-IN" smtClean="0"/>
              <a:t>4</a:t>
            </a:fld>
            <a:endParaRPr lang="en-IN"/>
          </a:p>
        </p:txBody>
      </p:sp>
      <p:pic>
        <p:nvPicPr>
          <p:cNvPr id="8" name="Content Placeholder 7">
            <a:extLst>
              <a:ext uri="{FF2B5EF4-FFF2-40B4-BE49-F238E27FC236}">
                <a16:creationId xmlns:a16="http://schemas.microsoft.com/office/drawing/2014/main" id="{7D6A081A-AC63-4D3F-BA78-A11AD667CB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8459" y="1545290"/>
            <a:ext cx="8381999" cy="4993622"/>
          </a:xfrm>
        </p:spPr>
      </p:pic>
      <p:sp>
        <p:nvSpPr>
          <p:cNvPr id="13" name="TextBox 12">
            <a:extLst>
              <a:ext uri="{FF2B5EF4-FFF2-40B4-BE49-F238E27FC236}">
                <a16:creationId xmlns:a16="http://schemas.microsoft.com/office/drawing/2014/main" id="{D3490BC0-2C10-4252-BF01-481344ECA57B}"/>
              </a:ext>
            </a:extLst>
          </p:cNvPr>
          <p:cNvSpPr txBox="1"/>
          <p:nvPr/>
        </p:nvSpPr>
        <p:spPr>
          <a:xfrm>
            <a:off x="1470212" y="613192"/>
            <a:ext cx="9557423" cy="461665"/>
          </a:xfrm>
          <a:prstGeom prst="rect">
            <a:avLst/>
          </a:prstGeom>
          <a:noFill/>
        </p:spPr>
        <p:txBody>
          <a:bodyPr wrap="square">
            <a:spAutoFit/>
          </a:bodyPr>
          <a:lstStyle/>
          <a:p>
            <a:pPr algn="ctr"/>
            <a:r>
              <a:rPr lang="en-US" sz="2400" dirty="0">
                <a:solidFill>
                  <a:schemeClr val="tx1"/>
                </a:solidFill>
                <a:latin typeface="Arial" panose="020B0604020202020204" pitchFamily="34" charset="0"/>
                <a:cs typeface="Arial" panose="020B0604020202020204" pitchFamily="34" charset="0"/>
              </a:rPr>
              <a:t>Why do we use Financial Instruments?</a:t>
            </a:r>
            <a:endParaRPr lang="en-IN" sz="2400" dirty="0"/>
          </a:p>
        </p:txBody>
      </p:sp>
    </p:spTree>
    <p:extLst>
      <p:ext uri="{BB962C8B-B14F-4D97-AF65-F5344CB8AC3E}">
        <p14:creationId xmlns:p14="http://schemas.microsoft.com/office/powerpoint/2010/main" val="1826771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07DC2B2-9B5F-4667-9E32-6B1A5BEFB56F}"/>
              </a:ext>
            </a:extLst>
          </p:cNvPr>
          <p:cNvSpPr/>
          <p:nvPr/>
        </p:nvSpPr>
        <p:spPr>
          <a:xfrm>
            <a:off x="4253754" y="1338619"/>
            <a:ext cx="3514165" cy="1257912"/>
          </a:xfrm>
          <a:prstGeom prst="roundRect">
            <a:avLst/>
          </a:prstGeom>
          <a:solidFill>
            <a:schemeClr val="accent1">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1900" dirty="0">
                <a:solidFill>
                  <a:schemeClr val="tx1"/>
                </a:solidFill>
                <a:latin typeface="Arial" panose="020B0604020202020204" pitchFamily="34" charset="0"/>
                <a:cs typeface="Arial" panose="020B0604020202020204" pitchFamily="34" charset="0"/>
              </a:rPr>
              <a:t>Types of Financial Instruments</a:t>
            </a:r>
            <a:endParaRPr lang="en-IN" sz="1900" dirty="0">
              <a:solidFill>
                <a:schemeClr val="tx1"/>
              </a:solidFill>
            </a:endParaRPr>
          </a:p>
        </p:txBody>
      </p:sp>
      <p:sp>
        <p:nvSpPr>
          <p:cNvPr id="7" name="Rectangle: Rounded Corners 6">
            <a:extLst>
              <a:ext uri="{FF2B5EF4-FFF2-40B4-BE49-F238E27FC236}">
                <a16:creationId xmlns:a16="http://schemas.microsoft.com/office/drawing/2014/main" id="{78591CC6-F48B-453C-9525-4F55B5BEBF6E}"/>
              </a:ext>
            </a:extLst>
          </p:cNvPr>
          <p:cNvSpPr/>
          <p:nvPr/>
        </p:nvSpPr>
        <p:spPr>
          <a:xfrm>
            <a:off x="1231525" y="3874190"/>
            <a:ext cx="2232213" cy="1121153"/>
          </a:xfrm>
          <a:prstGeom prst="roundRect">
            <a:avLst/>
          </a:prstGeom>
          <a:solidFill>
            <a:schemeClr val="accent1">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1900" dirty="0">
                <a:solidFill>
                  <a:schemeClr val="tx1"/>
                </a:solidFill>
                <a:latin typeface="Arial" panose="020B0604020202020204" pitchFamily="34" charset="0"/>
                <a:cs typeface="Arial" panose="020B0604020202020204" pitchFamily="34" charset="0"/>
              </a:rPr>
              <a:t>Equity Instruments</a:t>
            </a:r>
          </a:p>
        </p:txBody>
      </p:sp>
      <p:sp>
        <p:nvSpPr>
          <p:cNvPr id="8" name="Rectangle: Rounded Corners 7">
            <a:extLst>
              <a:ext uri="{FF2B5EF4-FFF2-40B4-BE49-F238E27FC236}">
                <a16:creationId xmlns:a16="http://schemas.microsoft.com/office/drawing/2014/main" id="{87D01C1D-CA3E-4B1E-B617-C1F76F17A4A4}"/>
              </a:ext>
            </a:extLst>
          </p:cNvPr>
          <p:cNvSpPr/>
          <p:nvPr/>
        </p:nvSpPr>
        <p:spPr>
          <a:xfrm>
            <a:off x="8281147" y="3874190"/>
            <a:ext cx="2375646" cy="999339"/>
          </a:xfrm>
          <a:prstGeom prst="roundRect">
            <a:avLst/>
          </a:prstGeom>
          <a:solidFill>
            <a:schemeClr val="accent1">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1900" dirty="0">
                <a:solidFill>
                  <a:schemeClr val="tx1"/>
                </a:solidFill>
                <a:latin typeface="Arial" panose="020B0604020202020204" pitchFamily="34" charset="0"/>
                <a:cs typeface="Arial" panose="020B0604020202020204" pitchFamily="34" charset="0"/>
              </a:rPr>
              <a:t>Derivative Instruments</a:t>
            </a:r>
          </a:p>
        </p:txBody>
      </p:sp>
      <p:sp>
        <p:nvSpPr>
          <p:cNvPr id="9" name="Rectangle: Rounded Corners 8">
            <a:extLst>
              <a:ext uri="{FF2B5EF4-FFF2-40B4-BE49-F238E27FC236}">
                <a16:creationId xmlns:a16="http://schemas.microsoft.com/office/drawing/2014/main" id="{BFD05897-723C-45BE-8A0E-A800091783D3}"/>
              </a:ext>
            </a:extLst>
          </p:cNvPr>
          <p:cNvSpPr/>
          <p:nvPr/>
        </p:nvSpPr>
        <p:spPr>
          <a:xfrm>
            <a:off x="4749053" y="3838333"/>
            <a:ext cx="2438400" cy="1121153"/>
          </a:xfrm>
          <a:prstGeom prst="roundRect">
            <a:avLst/>
          </a:prstGeom>
          <a:solidFill>
            <a:schemeClr val="accent1">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1900" dirty="0">
                <a:solidFill>
                  <a:schemeClr val="tx1"/>
                </a:solidFill>
                <a:latin typeface="Arial" panose="020B0604020202020204" pitchFamily="34" charset="0"/>
                <a:cs typeface="Arial" panose="020B0604020202020204" pitchFamily="34" charset="0"/>
              </a:rPr>
              <a:t>Debt Instruments</a:t>
            </a:r>
          </a:p>
        </p:txBody>
      </p:sp>
      <p:cxnSp>
        <p:nvCxnSpPr>
          <p:cNvPr id="11" name="Straight Arrow Connector 10">
            <a:extLst>
              <a:ext uri="{FF2B5EF4-FFF2-40B4-BE49-F238E27FC236}">
                <a16:creationId xmlns:a16="http://schemas.microsoft.com/office/drawing/2014/main" id="{A9D564FF-20A6-4EA3-8847-C13FAD9CF3EE}"/>
              </a:ext>
            </a:extLst>
          </p:cNvPr>
          <p:cNvCxnSpPr>
            <a:cxnSpLocks/>
          </p:cNvCxnSpPr>
          <p:nvPr/>
        </p:nvCxnSpPr>
        <p:spPr>
          <a:xfrm flipH="1">
            <a:off x="2887758" y="2865941"/>
            <a:ext cx="963704" cy="563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FC61B32-518C-49D5-A6D3-BD36AB6F21FF}"/>
              </a:ext>
            </a:extLst>
          </p:cNvPr>
          <p:cNvCxnSpPr>
            <a:cxnSpLocks/>
          </p:cNvCxnSpPr>
          <p:nvPr/>
        </p:nvCxnSpPr>
        <p:spPr>
          <a:xfrm flipH="1">
            <a:off x="5968252" y="2988593"/>
            <a:ext cx="1" cy="628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6F4E1CF-C08B-4532-9D7D-E9EEFBA3282B}"/>
              </a:ext>
            </a:extLst>
          </p:cNvPr>
          <p:cNvCxnSpPr>
            <a:cxnSpLocks/>
          </p:cNvCxnSpPr>
          <p:nvPr/>
        </p:nvCxnSpPr>
        <p:spPr>
          <a:xfrm>
            <a:off x="7767919" y="2802749"/>
            <a:ext cx="1026457" cy="626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2FFA1B8-EC66-4081-AF26-C8A17E568B97}"/>
              </a:ext>
            </a:extLst>
          </p:cNvPr>
          <p:cNvSpPr>
            <a:spLocks noGrp="1"/>
          </p:cNvSpPr>
          <p:nvPr>
            <p:ph type="sldNum" sz="quarter" idx="12"/>
          </p:nvPr>
        </p:nvSpPr>
        <p:spPr/>
        <p:txBody>
          <a:bodyPr/>
          <a:lstStyle/>
          <a:p>
            <a:fld id="{B7991F04-3566-4BB1-A8CB-A35BE8E11603}" type="slidenum">
              <a:rPr lang="en-IN" smtClean="0"/>
              <a:t>5</a:t>
            </a:fld>
            <a:endParaRPr lang="en-IN"/>
          </a:p>
        </p:txBody>
      </p:sp>
      <p:sp>
        <p:nvSpPr>
          <p:cNvPr id="13" name="Title 3">
            <a:extLst>
              <a:ext uri="{FF2B5EF4-FFF2-40B4-BE49-F238E27FC236}">
                <a16:creationId xmlns:a16="http://schemas.microsoft.com/office/drawing/2014/main" id="{FE66BCE9-0A51-47D5-B8A9-B36EA212679A}"/>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a:solidFill>
                  <a:schemeClr val="tx1"/>
                </a:solidFill>
                <a:latin typeface="Arial" panose="020B0604020202020204" pitchFamily="34" charset="0"/>
                <a:cs typeface="Arial" panose="020B0604020202020204" pitchFamily="34" charset="0"/>
              </a:rPr>
              <a:t>Financial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65E5D151-39F0-459D-911A-F0B400DEC013}"/>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304760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lstStyle/>
          <a:p>
            <a:pPr marL="0" indent="0" algn="just">
              <a:lnSpc>
                <a:spcPct val="150000"/>
              </a:lnSpc>
              <a:buNone/>
            </a:pPr>
            <a:r>
              <a:rPr lang="en-US" sz="1900" dirty="0">
                <a:latin typeface="Arial" panose="020B0604020202020204" pitchFamily="34" charset="0"/>
                <a:cs typeface="Arial" panose="020B0604020202020204" pitchFamily="34" charset="0"/>
              </a:rPr>
              <a:t>Equity instruments represent ownership interest in a company or entity. When you hold equity, you essentially own a part of that company and have a claim on its assets and earnings.</a:t>
            </a:r>
          </a:p>
          <a:p>
            <a:pPr marL="0" indent="0" algn="just">
              <a:lnSpc>
                <a:spcPct val="100000"/>
              </a:lnSpc>
              <a:buNone/>
            </a:pPr>
            <a:r>
              <a:rPr lang="en-US" sz="1900" dirty="0">
                <a:solidFill>
                  <a:schemeClr val="accent1">
                    <a:lumMod val="75000"/>
                  </a:schemeClr>
                </a:solidFill>
                <a:latin typeface="Arial" panose="020B0604020202020204" pitchFamily="34" charset="0"/>
                <a:cs typeface="Arial" panose="020B0604020202020204" pitchFamily="34" charset="0"/>
              </a:rPr>
              <a:t>Key Features of Equity Instruments:</a:t>
            </a:r>
          </a:p>
          <a:p>
            <a:pPr algn="just">
              <a:lnSpc>
                <a:spcPct val="1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Ownership Rights:</a:t>
            </a:r>
            <a:r>
              <a:rPr lang="en-US" sz="1900" dirty="0">
                <a:latin typeface="Arial" panose="020B0604020202020204" pitchFamily="34" charset="0"/>
                <a:cs typeface="Arial" panose="020B0604020202020204" pitchFamily="34" charset="0"/>
              </a:rPr>
              <a:t> Holders are part-owners of the company.</a:t>
            </a:r>
          </a:p>
          <a:p>
            <a:pPr algn="just">
              <a:lnSpc>
                <a:spcPct val="1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Voting Rights: </a:t>
            </a:r>
            <a:r>
              <a:rPr lang="en-US" sz="1900" dirty="0">
                <a:latin typeface="Arial" panose="020B0604020202020204" pitchFamily="34" charset="0"/>
                <a:cs typeface="Arial" panose="020B0604020202020204" pitchFamily="34" charset="0"/>
              </a:rPr>
              <a:t>Usually, equity holders can vote on corporate matters (e.g., electing the board of directors).</a:t>
            </a:r>
          </a:p>
          <a:p>
            <a:pPr algn="just">
              <a:lnSpc>
                <a:spcPct val="1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Dividends:</a:t>
            </a:r>
            <a:r>
              <a:rPr lang="en-US" sz="1900" dirty="0">
                <a:latin typeface="Arial" panose="020B0604020202020204" pitchFamily="34" charset="0"/>
                <a:cs typeface="Arial" panose="020B0604020202020204" pitchFamily="34" charset="0"/>
              </a:rPr>
              <a:t> Equity holders may receive dividends, which are a share of the company’s profits.</a:t>
            </a:r>
          </a:p>
          <a:p>
            <a:pPr algn="just">
              <a:lnSpc>
                <a:spcPct val="1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Capital Gains: </a:t>
            </a:r>
            <a:r>
              <a:rPr lang="en-US" sz="1900" dirty="0">
                <a:latin typeface="Arial" panose="020B0604020202020204" pitchFamily="34" charset="0"/>
                <a:cs typeface="Arial" panose="020B0604020202020204" pitchFamily="34" charset="0"/>
              </a:rPr>
              <a:t>Investors may earn returns through an increase in share price.</a:t>
            </a:r>
          </a:p>
          <a:p>
            <a:pPr algn="just">
              <a:lnSpc>
                <a:spcPct val="1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Residual Claim:</a:t>
            </a:r>
            <a:r>
              <a:rPr lang="en-US" sz="1900" dirty="0">
                <a:latin typeface="Arial" panose="020B0604020202020204" pitchFamily="34" charset="0"/>
                <a:cs typeface="Arial" panose="020B0604020202020204" pitchFamily="34" charset="0"/>
              </a:rPr>
              <a:t> In case of company liquidation, equity holders get paid after all debts are settled.</a:t>
            </a:r>
          </a:p>
          <a:p>
            <a:pPr algn="just">
              <a:lnSpc>
                <a:spcPct val="1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Risk: </a:t>
            </a:r>
            <a:r>
              <a:rPr lang="en-US" sz="1900" dirty="0">
                <a:latin typeface="Arial" panose="020B0604020202020204" pitchFamily="34" charset="0"/>
                <a:cs typeface="Arial" panose="020B0604020202020204" pitchFamily="34" charset="0"/>
              </a:rPr>
              <a:t>Higher risk compared to debt because equity returns depend on company performance and market conditions.</a:t>
            </a:r>
          </a:p>
          <a:p>
            <a:pPr marL="0" indent="0" algn="just">
              <a:lnSpc>
                <a:spcPct val="200000"/>
              </a:lnSpc>
              <a:buNone/>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8DDCEF92-2763-4BDD-AC20-B9720FAB0642}"/>
              </a:ext>
            </a:extLst>
          </p:cNvPr>
          <p:cNvSpPr>
            <a:spLocks noGrp="1"/>
          </p:cNvSpPr>
          <p:nvPr>
            <p:ph type="sldNum" sz="quarter" idx="12"/>
          </p:nvPr>
        </p:nvSpPr>
        <p:spPr/>
        <p:txBody>
          <a:bodyPr/>
          <a:lstStyle/>
          <a:p>
            <a:fld id="{B7991F04-3566-4BB1-A8CB-A35BE8E11603}" type="slidenum">
              <a:rPr lang="en-IN" smtClean="0"/>
              <a:t>6</a:t>
            </a:fld>
            <a:endParaRPr lang="en-IN"/>
          </a:p>
        </p:txBody>
      </p:sp>
      <p:sp>
        <p:nvSpPr>
          <p:cNvPr id="8" name="Title 3">
            <a:extLst>
              <a:ext uri="{FF2B5EF4-FFF2-40B4-BE49-F238E27FC236}">
                <a16:creationId xmlns:a16="http://schemas.microsoft.com/office/drawing/2014/main" id="{1BA14423-066C-4DD4-AE50-2772A5CD04A4}"/>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Equity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3152FF0-E08D-46F0-9413-9D3FE5BC9D77}"/>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26269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normAutofit fontScale="92500" lnSpcReduction="10000"/>
          </a:bodyPr>
          <a:lstStyle/>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a. Common Equity</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Ownership in a company through common shares.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Gives voting rights and potential dividends.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Residual claim on assets after debt and preferred equity.</a:t>
            </a:r>
          </a:p>
          <a:p>
            <a:pPr marL="0" indent="0" algn="just">
              <a:lnSpc>
                <a:spcPct val="150000"/>
              </a:lnSpc>
              <a:buNone/>
            </a:pPr>
            <a:r>
              <a:rPr lang="en-US" sz="1900" dirty="0">
                <a:latin typeface="Arial" panose="020B0604020202020204" pitchFamily="34" charset="0"/>
                <a:cs typeface="Arial" panose="020B0604020202020204" pitchFamily="34" charset="0"/>
              </a:rPr>
              <a:t>Example: Shares of TCS, Infosys, Apple, </a:t>
            </a:r>
            <a:r>
              <a:rPr lang="en-IN" sz="2100" dirty="0">
                <a:latin typeface="Arial" panose="020B0604020202020204" pitchFamily="34" charset="0"/>
                <a:cs typeface="Arial" panose="020B0604020202020204" pitchFamily="34" charset="0"/>
              </a:rPr>
              <a:t>Reliance Industries, HDFC Bank.</a:t>
            </a:r>
            <a:endParaRPr lang="en-US" sz="2100" dirty="0">
              <a:latin typeface="Arial" panose="020B0604020202020204" pitchFamily="34" charset="0"/>
              <a:cs typeface="Arial" panose="020B0604020202020204" pitchFamily="34" charset="0"/>
            </a:endParaRPr>
          </a:p>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b. Preferred Equity (Preferred Stock)</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Hybrid between equity and debt.</a:t>
            </a:r>
          </a:p>
          <a:p>
            <a:pPr algn="just">
              <a:lnSpc>
                <a:spcPct val="150000"/>
              </a:lnSpc>
              <a:buFont typeface="Arial" panose="020B0604020202020204" pitchFamily="34" charset="0"/>
              <a:buChar char="•"/>
            </a:pPr>
            <a:r>
              <a:rPr lang="en-US" sz="2100" dirty="0">
                <a:latin typeface="Arial" panose="020B0604020202020204" pitchFamily="34" charset="0"/>
                <a:cs typeface="Arial" panose="020B0604020202020204" pitchFamily="34" charset="0"/>
              </a:rPr>
              <a:t>They receive fixed dividends but have no voting rights.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Higher claim than common equity in liquidation.</a:t>
            </a:r>
          </a:p>
          <a:p>
            <a:pPr marL="0" indent="0" algn="just">
              <a:lnSpc>
                <a:spcPct val="150000"/>
              </a:lnSpc>
              <a:buNone/>
            </a:pPr>
            <a:r>
              <a:rPr lang="en-US" sz="1900" dirty="0">
                <a:latin typeface="Arial" panose="020B0604020202020204" pitchFamily="34" charset="0"/>
                <a:cs typeface="Arial" panose="020B0604020202020204" pitchFamily="34" charset="0"/>
              </a:rPr>
              <a:t> Example: Preferred shares in Tata Capital</a:t>
            </a:r>
          </a:p>
          <a:p>
            <a:pPr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0" indent="0">
              <a:buNone/>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A1FFC0B4-4362-4AD6-B1F7-1D4B4BB2D664}"/>
              </a:ext>
            </a:extLst>
          </p:cNvPr>
          <p:cNvSpPr>
            <a:spLocks noGrp="1"/>
          </p:cNvSpPr>
          <p:nvPr>
            <p:ph type="sldNum" sz="quarter" idx="12"/>
          </p:nvPr>
        </p:nvSpPr>
        <p:spPr/>
        <p:txBody>
          <a:bodyPr/>
          <a:lstStyle/>
          <a:p>
            <a:fld id="{B7991F04-3566-4BB1-A8CB-A35BE8E11603}" type="slidenum">
              <a:rPr lang="en-IN" smtClean="0"/>
              <a:t>7</a:t>
            </a:fld>
            <a:endParaRPr lang="en-IN"/>
          </a:p>
        </p:txBody>
      </p:sp>
      <p:sp>
        <p:nvSpPr>
          <p:cNvPr id="11" name="Title 3">
            <a:extLst>
              <a:ext uri="{FF2B5EF4-FFF2-40B4-BE49-F238E27FC236}">
                <a16:creationId xmlns:a16="http://schemas.microsoft.com/office/drawing/2014/main" id="{5EB56F10-8229-46FF-B11A-2F80038155BA}"/>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Types of Equity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2FC2F275-5838-488A-A34A-9FEF00C12FD7}"/>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490589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normAutofit/>
          </a:bodyPr>
          <a:lstStyle/>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c. Private Equity</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Investment in private (non-public) companies.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Includes buyouts, venture capital, and growth equity.</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Usually provided by private equity firms or venture capitalists.</a:t>
            </a:r>
          </a:p>
          <a:p>
            <a:pPr marL="0" indent="0" algn="just">
              <a:lnSpc>
                <a:spcPct val="150000"/>
              </a:lnSpc>
              <a:buNone/>
            </a:pPr>
            <a:r>
              <a:rPr lang="en-US" sz="1900" dirty="0">
                <a:latin typeface="Arial" panose="020B0604020202020204" pitchFamily="34" charset="0"/>
                <a:cs typeface="Arial" panose="020B0604020202020204" pitchFamily="34" charset="0"/>
              </a:rPr>
              <a:t>Example: Blackstone investing in Indian startups</a:t>
            </a:r>
          </a:p>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d. Venture Capital</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A form of private equity focused on startups and early-stage companies.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High risk, high reward.</a:t>
            </a:r>
          </a:p>
          <a:p>
            <a:pPr marL="0" indent="0" algn="just">
              <a:lnSpc>
                <a:spcPct val="150000"/>
              </a:lnSpc>
              <a:buNone/>
            </a:pPr>
            <a:r>
              <a:rPr lang="en-US" sz="1900" dirty="0">
                <a:latin typeface="Arial" panose="020B0604020202020204" pitchFamily="34" charset="0"/>
                <a:cs typeface="Arial" panose="020B0604020202020204" pitchFamily="34" charset="0"/>
              </a:rPr>
              <a:t>Example:</a:t>
            </a:r>
            <a:r>
              <a:rPr lang="en-IN" sz="1400" dirty="0">
                <a:latin typeface="Arial" panose="020B0604020202020204" pitchFamily="34" charset="0"/>
                <a:cs typeface="Arial" panose="020B0604020202020204" pitchFamily="34" charset="0"/>
              </a:rPr>
              <a:t> </a:t>
            </a:r>
            <a:r>
              <a:rPr lang="en-IN" sz="1900" dirty="0">
                <a:latin typeface="Arial" panose="020B0604020202020204" pitchFamily="34" charset="0"/>
                <a:cs typeface="Arial" panose="020B0604020202020204" pitchFamily="34" charset="0"/>
              </a:rPr>
              <a:t>Sequoia Capital funding Byju’s</a:t>
            </a:r>
            <a:endParaRPr lang="en-US" sz="1900" dirty="0">
              <a:latin typeface="Arial" panose="020B0604020202020204" pitchFamily="34" charset="0"/>
              <a:cs typeface="Arial" panose="020B0604020202020204" pitchFamily="34" charset="0"/>
            </a:endParaRPr>
          </a:p>
          <a:p>
            <a:pPr marL="0" indent="0">
              <a:buNone/>
            </a:pPr>
            <a:endParaRPr lang="en-US" sz="1900" dirty="0">
              <a:latin typeface="Arial" panose="020B0604020202020204" pitchFamily="34" charset="0"/>
              <a:cs typeface="Arial" panose="020B0604020202020204" pitchFamily="34" charset="0"/>
            </a:endParaRPr>
          </a:p>
          <a:p>
            <a:pPr marL="0" indent="0" algn="just">
              <a:lnSpc>
                <a:spcPct val="200000"/>
              </a:lnSpc>
              <a:buNone/>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52D03095-139D-49CA-8989-50DD943EB0A3}"/>
              </a:ext>
            </a:extLst>
          </p:cNvPr>
          <p:cNvSpPr>
            <a:spLocks noGrp="1"/>
          </p:cNvSpPr>
          <p:nvPr>
            <p:ph type="sldNum" sz="quarter" idx="12"/>
          </p:nvPr>
        </p:nvSpPr>
        <p:spPr/>
        <p:txBody>
          <a:bodyPr/>
          <a:lstStyle/>
          <a:p>
            <a:fld id="{B7991F04-3566-4BB1-A8CB-A35BE8E11603}" type="slidenum">
              <a:rPr lang="en-IN" smtClean="0"/>
              <a:t>8</a:t>
            </a:fld>
            <a:endParaRPr lang="en-IN"/>
          </a:p>
        </p:txBody>
      </p:sp>
      <p:sp>
        <p:nvSpPr>
          <p:cNvPr id="8" name="Title 3">
            <a:extLst>
              <a:ext uri="{FF2B5EF4-FFF2-40B4-BE49-F238E27FC236}">
                <a16:creationId xmlns:a16="http://schemas.microsoft.com/office/drawing/2014/main" id="{82714268-F9F5-47E0-8FEA-51A498BE6ACF}"/>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Types of Equity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F11D3CEC-5D03-4884-945B-FA53416A0E32}"/>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883915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normAutofit/>
          </a:bodyPr>
          <a:lstStyle/>
          <a:p>
            <a:pPr marL="0" indent="0">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e. Shareholders’ Equity</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Total equity interest of shareholders in a company.</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Found on a company’s balance sheet:</a:t>
            </a:r>
            <a:br>
              <a:rPr lang="en-US" sz="1900" dirty="0">
                <a:latin typeface="Arial" panose="020B0604020202020204" pitchFamily="34" charset="0"/>
                <a:cs typeface="Arial" panose="020B0604020202020204" pitchFamily="34" charset="0"/>
              </a:rPr>
            </a:br>
            <a:r>
              <a:rPr lang="en-US" sz="1900" dirty="0">
                <a:latin typeface="Arial" panose="020B0604020202020204" pitchFamily="34" charset="0"/>
                <a:cs typeface="Arial" panose="020B0604020202020204" pitchFamily="34" charset="0"/>
              </a:rPr>
              <a:t>Assets – Liabilities = Shareholders’ Equity</a:t>
            </a:r>
          </a:p>
          <a:p>
            <a:pPr marL="0" indent="0">
              <a:lnSpc>
                <a:spcPct val="150000"/>
              </a:lnSpc>
              <a:buNone/>
            </a:pPr>
            <a:r>
              <a:rPr lang="en-US" sz="1900" dirty="0">
                <a:solidFill>
                  <a:schemeClr val="accent1"/>
                </a:solidFill>
                <a:latin typeface="Arial" panose="020B0604020202020204" pitchFamily="34" charset="0"/>
                <a:cs typeface="Arial" panose="020B0604020202020204" pitchFamily="34" charset="0"/>
              </a:rPr>
              <a:t>f. Retained Earnings (Part of Equity)</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Profits a company keeps instead of paying out as dividends.</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Used to finance growth, pay debt, or buy back shares.</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Appears in the equity section of the balance sheet.</a:t>
            </a:r>
          </a:p>
          <a:p>
            <a:pPr marL="0" indent="0">
              <a:lnSpc>
                <a:spcPct val="150000"/>
              </a:lnSpc>
              <a:buNone/>
            </a:pPr>
            <a:endParaRPr lang="en-US" sz="19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0" indent="0">
              <a:lnSpc>
                <a:spcPct val="150000"/>
              </a:lnSpc>
              <a:buNone/>
            </a:pPr>
            <a:endParaRPr lang="en-US" sz="1900" dirty="0">
              <a:latin typeface="Arial" panose="020B0604020202020204" pitchFamily="34" charset="0"/>
              <a:cs typeface="Arial" panose="020B0604020202020204" pitchFamily="34" charset="0"/>
            </a:endParaRPr>
          </a:p>
          <a:p>
            <a:pPr marL="0" indent="0" algn="just">
              <a:lnSpc>
                <a:spcPct val="200000"/>
              </a:lnSpc>
              <a:buNone/>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52D03095-139D-49CA-8989-50DD943EB0A3}"/>
              </a:ext>
            </a:extLst>
          </p:cNvPr>
          <p:cNvSpPr>
            <a:spLocks noGrp="1"/>
          </p:cNvSpPr>
          <p:nvPr>
            <p:ph type="sldNum" sz="quarter" idx="12"/>
          </p:nvPr>
        </p:nvSpPr>
        <p:spPr/>
        <p:txBody>
          <a:bodyPr/>
          <a:lstStyle/>
          <a:p>
            <a:fld id="{B7991F04-3566-4BB1-A8CB-A35BE8E11603}" type="slidenum">
              <a:rPr lang="en-IN" smtClean="0"/>
              <a:t>9</a:t>
            </a:fld>
            <a:endParaRPr lang="en-IN"/>
          </a:p>
        </p:txBody>
      </p:sp>
      <p:sp>
        <p:nvSpPr>
          <p:cNvPr id="8" name="Title 3">
            <a:extLst>
              <a:ext uri="{FF2B5EF4-FFF2-40B4-BE49-F238E27FC236}">
                <a16:creationId xmlns:a16="http://schemas.microsoft.com/office/drawing/2014/main" id="{82714268-F9F5-47E0-8FEA-51A498BE6ACF}"/>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Types of Equity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F11D3CEC-5D03-4884-945B-FA53416A0E32}"/>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108083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lstStyle/>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Stock Exchanges:</a:t>
            </a:r>
            <a:r>
              <a:rPr lang="en-US" sz="1900" dirty="0">
                <a:latin typeface="Arial" panose="020B0604020202020204" pitchFamily="34" charset="0"/>
                <a:cs typeface="Arial" panose="020B0604020202020204" pitchFamily="34" charset="0"/>
              </a:rPr>
              <a:t> Publicly traded equities are bought and sold on stock markets (e.g., NSE, BSE).</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Over-the-Counter (OTC): </a:t>
            </a:r>
            <a:r>
              <a:rPr lang="en-US" sz="1900" dirty="0">
                <a:latin typeface="Arial" panose="020B0604020202020204" pitchFamily="34" charset="0"/>
                <a:cs typeface="Arial" panose="020B0604020202020204" pitchFamily="34" charset="0"/>
              </a:rPr>
              <a:t>Some shares, especially in smaller companies, are traded OTC.</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Initial Public Offering (IPO): </a:t>
            </a:r>
            <a:r>
              <a:rPr lang="en-US" sz="1900" dirty="0">
                <a:latin typeface="Arial" panose="020B0604020202020204" pitchFamily="34" charset="0"/>
                <a:cs typeface="Arial" panose="020B0604020202020204" pitchFamily="34" charset="0"/>
              </a:rPr>
              <a:t>When a company offers its shares to the public for the first time.</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Secondary Market: </a:t>
            </a:r>
            <a:r>
              <a:rPr lang="en-US" sz="1900" dirty="0">
                <a:latin typeface="Arial" panose="020B0604020202020204" pitchFamily="34" charset="0"/>
                <a:cs typeface="Arial" panose="020B0604020202020204" pitchFamily="34" charset="0"/>
              </a:rPr>
              <a:t>Where investors trade shares after the IPO.</a:t>
            </a:r>
          </a:p>
          <a:p>
            <a:pPr marL="0" indent="0" algn="just">
              <a:lnSpc>
                <a:spcPct val="200000"/>
              </a:lnSpc>
              <a:buNone/>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2F384627-101E-4197-882D-A3C04B615478}"/>
              </a:ext>
            </a:extLst>
          </p:cNvPr>
          <p:cNvSpPr>
            <a:spLocks noGrp="1"/>
          </p:cNvSpPr>
          <p:nvPr>
            <p:ph type="sldNum" sz="quarter" idx="12"/>
          </p:nvPr>
        </p:nvSpPr>
        <p:spPr/>
        <p:txBody>
          <a:bodyPr/>
          <a:lstStyle/>
          <a:p>
            <a:fld id="{B7991F04-3566-4BB1-A8CB-A35BE8E11603}" type="slidenum">
              <a:rPr lang="en-IN" smtClean="0"/>
              <a:t>10</a:t>
            </a:fld>
            <a:endParaRPr lang="en-IN"/>
          </a:p>
        </p:txBody>
      </p:sp>
      <p:sp>
        <p:nvSpPr>
          <p:cNvPr id="8" name="Title 3">
            <a:extLst>
              <a:ext uri="{FF2B5EF4-FFF2-40B4-BE49-F238E27FC236}">
                <a16:creationId xmlns:a16="http://schemas.microsoft.com/office/drawing/2014/main" id="{4A8B66A0-8D24-410D-AF83-5397E60A6054}"/>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How are Equity Instruments Traded?</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C2171C7-FBD4-44FC-904D-5B2A2890A9D9}"/>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916098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lstStyle/>
          <a:p>
            <a:pPr>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Shares of Public Companies: </a:t>
            </a:r>
            <a:r>
              <a:rPr lang="en-US" sz="1900" dirty="0">
                <a:latin typeface="Arial" panose="020B0604020202020204" pitchFamily="34" charset="0"/>
                <a:cs typeface="Arial" panose="020B0604020202020204" pitchFamily="34" charset="0"/>
              </a:rPr>
              <a:t>Apple, Google, Tesla stocks.</a:t>
            </a:r>
          </a:p>
          <a:p>
            <a:pPr>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Preferred Shares: </a:t>
            </a:r>
            <a:r>
              <a:rPr lang="en-US" sz="1900" dirty="0">
                <a:latin typeface="Arial" panose="020B0604020202020204" pitchFamily="34" charset="0"/>
                <a:cs typeface="Arial" panose="020B0604020202020204" pitchFamily="34" charset="0"/>
              </a:rPr>
              <a:t>Often issued by banks and utilities.</a:t>
            </a:r>
          </a:p>
          <a:p>
            <a:pPr>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Equity Mutual Funds: </a:t>
            </a:r>
            <a:r>
              <a:rPr lang="en-US" sz="1900" dirty="0">
                <a:latin typeface="Arial" panose="020B0604020202020204" pitchFamily="34" charset="0"/>
                <a:cs typeface="Arial" panose="020B0604020202020204" pitchFamily="34" charset="0"/>
              </a:rPr>
              <a:t>Pooled investments in various stocks.</a:t>
            </a:r>
          </a:p>
          <a:p>
            <a:pPr>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Employee Stock Options: </a:t>
            </a:r>
            <a:r>
              <a:rPr lang="en-US" sz="1900" dirty="0">
                <a:latin typeface="Arial" panose="020B0604020202020204" pitchFamily="34" charset="0"/>
                <a:cs typeface="Arial" panose="020B0604020202020204" pitchFamily="34" charset="0"/>
              </a:rPr>
              <a:t>Rights given to employees to buy company stock.</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FECFDA1-675A-4B52-9455-C6938FC91F21}"/>
              </a:ext>
            </a:extLst>
          </p:cNvPr>
          <p:cNvSpPr>
            <a:spLocks noGrp="1"/>
          </p:cNvSpPr>
          <p:nvPr>
            <p:ph type="sldNum" sz="quarter" idx="12"/>
          </p:nvPr>
        </p:nvSpPr>
        <p:spPr/>
        <p:txBody>
          <a:bodyPr/>
          <a:lstStyle/>
          <a:p>
            <a:fld id="{B7991F04-3566-4BB1-A8CB-A35BE8E11603}" type="slidenum">
              <a:rPr lang="en-IN" smtClean="0"/>
              <a:t>11</a:t>
            </a:fld>
            <a:endParaRPr lang="en-IN"/>
          </a:p>
        </p:txBody>
      </p:sp>
      <p:sp>
        <p:nvSpPr>
          <p:cNvPr id="8" name="Title 3">
            <a:extLst>
              <a:ext uri="{FF2B5EF4-FFF2-40B4-BE49-F238E27FC236}">
                <a16:creationId xmlns:a16="http://schemas.microsoft.com/office/drawing/2014/main" id="{C77353F5-88AC-41FB-85A5-6CDAB42A0C63}"/>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Example of Equity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C5B739E-512A-4987-AC43-11F8C3C29717}"/>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034902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lstStyle/>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Potential for High Returns: </a:t>
            </a:r>
            <a:r>
              <a:rPr lang="en-US" sz="1900" dirty="0">
                <a:latin typeface="Arial" panose="020B0604020202020204" pitchFamily="34" charset="0"/>
                <a:cs typeface="Arial" panose="020B0604020202020204" pitchFamily="34" charset="0"/>
              </a:rPr>
              <a:t>Through dividends and price appreciation.</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Ownership &amp; Control:</a:t>
            </a:r>
            <a:r>
              <a:rPr lang="en-US" sz="1900" dirty="0">
                <a:latin typeface="Arial" panose="020B0604020202020204" pitchFamily="34" charset="0"/>
                <a:cs typeface="Arial" panose="020B0604020202020204" pitchFamily="34" charset="0"/>
              </a:rPr>
              <a:t> Voting rights allow influence over company decisions.</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Liquidity: </a:t>
            </a:r>
            <a:r>
              <a:rPr lang="en-US" sz="1900" dirty="0">
                <a:latin typeface="Arial" panose="020B0604020202020204" pitchFamily="34" charset="0"/>
                <a:cs typeface="Arial" panose="020B0604020202020204" pitchFamily="34" charset="0"/>
              </a:rPr>
              <a:t>Publicly traded stocks are generally liquid.</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No Fixed Obligation: </a:t>
            </a:r>
            <a:r>
              <a:rPr lang="en-US" sz="1900" dirty="0">
                <a:latin typeface="Arial" panose="020B0604020202020204" pitchFamily="34" charset="0"/>
                <a:cs typeface="Arial" panose="020B0604020202020204" pitchFamily="34" charset="0"/>
              </a:rPr>
              <a:t>Unlike debt, companies don’t have to pay dividends if they don’t want to.</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9671FDF-DC5D-49EF-B33C-4DBB150F185E}"/>
              </a:ext>
            </a:extLst>
          </p:cNvPr>
          <p:cNvSpPr>
            <a:spLocks noGrp="1"/>
          </p:cNvSpPr>
          <p:nvPr>
            <p:ph type="sldNum" sz="quarter" idx="12"/>
          </p:nvPr>
        </p:nvSpPr>
        <p:spPr/>
        <p:txBody>
          <a:bodyPr/>
          <a:lstStyle/>
          <a:p>
            <a:fld id="{B7991F04-3566-4BB1-A8CB-A35BE8E11603}" type="slidenum">
              <a:rPr lang="en-IN" smtClean="0"/>
              <a:t>12</a:t>
            </a:fld>
            <a:endParaRPr lang="en-IN"/>
          </a:p>
        </p:txBody>
      </p:sp>
      <p:sp>
        <p:nvSpPr>
          <p:cNvPr id="8" name="Title 3">
            <a:extLst>
              <a:ext uri="{FF2B5EF4-FFF2-40B4-BE49-F238E27FC236}">
                <a16:creationId xmlns:a16="http://schemas.microsoft.com/office/drawing/2014/main" id="{5C0B7072-2720-4D73-AC30-3C6508E1FCA0}"/>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Advantages of Equity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56D3EC9F-776F-4E8D-BF72-99BEB882E875}"/>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934242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B0F75C9E-2756-494F-8ABB-6FBD280A7415}"/>
              </a:ext>
            </a:extLst>
          </p:cNvPr>
          <p:cNvSpPr>
            <a:spLocks noGrp="1" noChangeArrowheads="1"/>
          </p:cNvSpPr>
          <p:nvPr>
            <p:ph idx="1"/>
          </p:nvPr>
        </p:nvSpPr>
        <p:spPr bwMode="auto">
          <a:xfrm>
            <a:off x="905434" y="1346247"/>
            <a:ext cx="9520517" cy="2340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900" i="0" u="none" strike="noStrike" cap="none" normalizeH="0" baseline="0" dirty="0">
                <a:ln>
                  <a:noFill/>
                </a:ln>
                <a:solidFill>
                  <a:schemeClr val="accent1"/>
                </a:solidFill>
                <a:effectLst/>
                <a:latin typeface="Arial" panose="020B0604020202020204" pitchFamily="34" charset="0"/>
              </a:rPr>
              <a:t>Market Risk: </a:t>
            </a:r>
            <a:r>
              <a:rPr kumimoji="0" lang="en-US" altLang="en-US" sz="1900" i="0" u="none" strike="noStrike" cap="none" normalizeH="0" baseline="0" dirty="0">
                <a:ln>
                  <a:noFill/>
                </a:ln>
                <a:solidFill>
                  <a:schemeClr val="tx1"/>
                </a:solidFill>
                <a:effectLst/>
                <a:latin typeface="Arial" panose="020B0604020202020204" pitchFamily="34" charset="0"/>
              </a:rPr>
              <a:t>Share prices can be volatile.</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900" i="0" u="none" strike="noStrike" cap="none" normalizeH="0" baseline="0" dirty="0">
                <a:ln>
                  <a:noFill/>
                </a:ln>
                <a:solidFill>
                  <a:schemeClr val="accent1"/>
                </a:solidFill>
                <a:effectLst/>
                <a:latin typeface="Arial" panose="020B0604020202020204" pitchFamily="34" charset="0"/>
              </a:rPr>
              <a:t>Business Risk: </a:t>
            </a:r>
            <a:r>
              <a:rPr kumimoji="0" lang="en-US" altLang="en-US" sz="1900" i="0" u="none" strike="noStrike" cap="none" normalizeH="0" baseline="0" dirty="0">
                <a:ln>
                  <a:noFill/>
                </a:ln>
                <a:solidFill>
                  <a:schemeClr val="tx1"/>
                </a:solidFill>
                <a:effectLst/>
                <a:latin typeface="Arial" panose="020B0604020202020204" pitchFamily="34" charset="0"/>
              </a:rPr>
              <a:t>Company performance affects returns.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900" i="0" u="none" strike="noStrike" cap="none" normalizeH="0" baseline="0" dirty="0">
                <a:ln>
                  <a:noFill/>
                </a:ln>
                <a:solidFill>
                  <a:schemeClr val="accent1"/>
                </a:solidFill>
                <a:effectLst/>
                <a:latin typeface="Arial" panose="020B0604020202020204" pitchFamily="34" charset="0"/>
              </a:rPr>
              <a:t>Dividend Risk: </a:t>
            </a:r>
            <a:r>
              <a:rPr kumimoji="0" lang="en-US" altLang="en-US" sz="1900" i="0" u="none" strike="noStrike" cap="none" normalizeH="0" baseline="0" dirty="0">
                <a:ln>
                  <a:noFill/>
                </a:ln>
                <a:solidFill>
                  <a:schemeClr val="tx1"/>
                </a:solidFill>
                <a:effectLst/>
                <a:latin typeface="Arial" panose="020B0604020202020204" pitchFamily="34" charset="0"/>
              </a:rPr>
              <a:t>Dividends are not guaranteed and can be cut.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900" i="0" u="none" strike="noStrike" cap="none" normalizeH="0" baseline="0" dirty="0">
                <a:ln>
                  <a:noFill/>
                </a:ln>
                <a:solidFill>
                  <a:schemeClr val="accent1"/>
                </a:solidFill>
                <a:effectLst/>
                <a:latin typeface="Arial" panose="020B0604020202020204" pitchFamily="34" charset="0"/>
              </a:rPr>
              <a:t>Dilution: </a:t>
            </a:r>
            <a:r>
              <a:rPr kumimoji="0" lang="en-US" altLang="en-US" sz="1900" i="0" u="none" strike="noStrike" cap="none" normalizeH="0" baseline="0" dirty="0">
                <a:ln>
                  <a:noFill/>
                </a:ln>
                <a:solidFill>
                  <a:schemeClr val="tx1"/>
                </a:solidFill>
                <a:effectLst/>
                <a:latin typeface="Arial" panose="020B0604020202020204" pitchFamily="34" charset="0"/>
              </a:rPr>
              <a:t>Issuance of new shares may dilute ownership</a:t>
            </a:r>
            <a:r>
              <a:rPr kumimoji="0" lang="en-US" altLang="en-US" sz="1900" b="0" i="0" u="none" strike="noStrike" cap="none" normalizeH="0" baseline="0" dirty="0">
                <a:ln>
                  <a:noFill/>
                </a:ln>
                <a:solidFill>
                  <a:schemeClr val="tx1"/>
                </a:solidFill>
                <a:effectLst/>
                <a:latin typeface="Arial" panose="020B0604020202020204" pitchFamily="34" charset="0"/>
              </a:rPr>
              <a:t>.</a:t>
            </a:r>
          </a:p>
        </p:txBody>
      </p:sp>
      <p:pic>
        <p:nvPicPr>
          <p:cNvPr id="8" name="Picture 4" descr="Ways to Manage Your Market Risk - IERP®">
            <a:extLst>
              <a:ext uri="{FF2B5EF4-FFF2-40B4-BE49-F238E27FC236}">
                <a16:creationId xmlns:a16="http://schemas.microsoft.com/office/drawing/2014/main" id="{2BC891C1-B0ED-4672-8CD4-16DC21D01FA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7853081" y="1679473"/>
            <a:ext cx="3460377" cy="235903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070F4750-E966-4315-B33D-DA363B95EF52}"/>
              </a:ext>
            </a:extLst>
          </p:cNvPr>
          <p:cNvSpPr>
            <a:spLocks noGrp="1"/>
          </p:cNvSpPr>
          <p:nvPr>
            <p:ph type="sldNum" sz="quarter" idx="12"/>
          </p:nvPr>
        </p:nvSpPr>
        <p:spPr/>
        <p:txBody>
          <a:bodyPr/>
          <a:lstStyle/>
          <a:p>
            <a:fld id="{B7991F04-3566-4BB1-A8CB-A35BE8E11603}" type="slidenum">
              <a:rPr lang="en-IN" smtClean="0"/>
              <a:t>13</a:t>
            </a:fld>
            <a:endParaRPr lang="en-IN"/>
          </a:p>
        </p:txBody>
      </p:sp>
      <p:sp>
        <p:nvSpPr>
          <p:cNvPr id="9" name="Title 3">
            <a:extLst>
              <a:ext uri="{FF2B5EF4-FFF2-40B4-BE49-F238E27FC236}">
                <a16:creationId xmlns:a16="http://schemas.microsoft.com/office/drawing/2014/main" id="{BC99E052-6254-4941-B8B2-CC89EAF12110}"/>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Risk Associated with Equity</a:t>
            </a:r>
            <a:endParaRPr lang="en-IN" sz="2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F18DA10-CE0B-4CDB-8FBD-F7B032BE17B8}"/>
              </a:ext>
            </a:extLst>
          </p:cNvPr>
          <p:cNvPicPr>
            <a:picLocks noChangeAspect="1"/>
          </p:cNvPicPr>
          <p:nvPr/>
        </p:nvPicPr>
        <p:blipFill>
          <a:blip r:embed="rId3"/>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934647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lstStyle/>
          <a:p>
            <a:pPr marL="0" indent="0" algn="just">
              <a:lnSpc>
                <a:spcPct val="200000"/>
              </a:lnSpc>
              <a:buNone/>
            </a:pPr>
            <a:r>
              <a:rPr lang="en-US" sz="1900" dirty="0">
                <a:solidFill>
                  <a:schemeClr val="accent1">
                    <a:lumMod val="75000"/>
                  </a:schemeClr>
                </a:solidFill>
                <a:latin typeface="Arial" panose="020B0604020202020204" pitchFamily="34" charset="0"/>
                <a:cs typeface="Arial" panose="020B0604020202020204" pitchFamily="34" charset="0"/>
              </a:rPr>
              <a:t>What Are Debt Instruments?</a:t>
            </a:r>
          </a:p>
          <a:p>
            <a:pPr algn="just">
              <a:lnSpc>
                <a:spcPct val="200000"/>
              </a:lnSpc>
            </a:pPr>
            <a:r>
              <a:rPr lang="en-US" sz="1900" dirty="0">
                <a:latin typeface="Arial" panose="020B0604020202020204" pitchFamily="34" charset="0"/>
                <a:cs typeface="Arial" panose="020B0604020202020204" pitchFamily="34" charset="0"/>
              </a:rPr>
              <a:t>Debt instruments are financial contracts that represent a loan made by an investor to a borrower (such as a corporation, government, or individual). The borrower promises to repay the principal amount along with interest on specified dates.</a:t>
            </a:r>
          </a:p>
          <a:p>
            <a:pPr algn="just">
              <a:lnSpc>
                <a:spcPct val="200000"/>
              </a:lnSpc>
            </a:pPr>
            <a:r>
              <a:rPr lang="en-US" sz="1900" dirty="0">
                <a:latin typeface="Arial" panose="020B0604020202020204" pitchFamily="34" charset="0"/>
                <a:cs typeface="Arial" panose="020B0604020202020204" pitchFamily="34" charset="0"/>
              </a:rPr>
              <a:t>In other words, debt instruments are borrowings where the issuer owes the holder money and must pay interest and principal back.</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8B20F531-7CE8-428B-8316-3F86DCB07032}"/>
              </a:ext>
            </a:extLst>
          </p:cNvPr>
          <p:cNvSpPr>
            <a:spLocks noGrp="1"/>
          </p:cNvSpPr>
          <p:nvPr>
            <p:ph type="sldNum" sz="quarter" idx="12"/>
          </p:nvPr>
        </p:nvSpPr>
        <p:spPr/>
        <p:txBody>
          <a:bodyPr/>
          <a:lstStyle/>
          <a:p>
            <a:fld id="{B7991F04-3566-4BB1-A8CB-A35BE8E11603}" type="slidenum">
              <a:rPr lang="en-IN" smtClean="0"/>
              <a:t>14</a:t>
            </a:fld>
            <a:endParaRPr lang="en-IN"/>
          </a:p>
        </p:txBody>
      </p:sp>
      <p:sp>
        <p:nvSpPr>
          <p:cNvPr id="8" name="Title 3">
            <a:extLst>
              <a:ext uri="{FF2B5EF4-FFF2-40B4-BE49-F238E27FC236}">
                <a16:creationId xmlns:a16="http://schemas.microsoft.com/office/drawing/2014/main" id="{6DF07782-970B-4410-B0B6-E91377FF4030}"/>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Debt  Instruments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46F2342-2183-4D98-BC5A-BD8D6C0361BD}"/>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036145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lstStyle/>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Fixed Income: </a:t>
            </a:r>
            <a:r>
              <a:rPr lang="en-US" sz="1900" dirty="0">
                <a:latin typeface="Arial" panose="020B0604020202020204" pitchFamily="34" charset="0"/>
                <a:cs typeface="Arial" panose="020B0604020202020204" pitchFamily="34" charset="0"/>
              </a:rPr>
              <a:t>Investors receive interest (coupon payments) periodically.</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Repayment of Principal: </a:t>
            </a:r>
            <a:r>
              <a:rPr lang="en-US" sz="1900" dirty="0">
                <a:latin typeface="Arial" panose="020B0604020202020204" pitchFamily="34" charset="0"/>
                <a:cs typeface="Arial" panose="020B0604020202020204" pitchFamily="34" charset="0"/>
              </a:rPr>
              <a:t>The original amount (principal) is returned at maturity.</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Maturity Date:</a:t>
            </a:r>
            <a:r>
              <a:rPr lang="en-US" sz="1900" dirty="0">
                <a:latin typeface="Arial" panose="020B0604020202020204" pitchFamily="34" charset="0"/>
                <a:cs typeface="Arial" panose="020B0604020202020204" pitchFamily="34" charset="0"/>
              </a:rPr>
              <a:t> Debt instruments have a defined term or maturity when the principal is repaid.</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Credit Risk: </a:t>
            </a:r>
            <a:r>
              <a:rPr lang="en-US" sz="1900" dirty="0">
                <a:latin typeface="Arial" panose="020B0604020202020204" pitchFamily="34" charset="0"/>
                <a:cs typeface="Arial" panose="020B0604020202020204" pitchFamily="34" charset="0"/>
              </a:rPr>
              <a:t>The risk that the borrower may default on payments.</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Priority: </a:t>
            </a:r>
            <a:r>
              <a:rPr lang="en-US" sz="1900" dirty="0">
                <a:latin typeface="Arial" panose="020B0604020202020204" pitchFamily="34" charset="0"/>
                <a:cs typeface="Arial" panose="020B0604020202020204" pitchFamily="34" charset="0"/>
              </a:rPr>
              <a:t>Debt holders have priority over equity holders in case of liquidation.</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Lower Risk Compared to Equity: </a:t>
            </a:r>
            <a:r>
              <a:rPr lang="en-US" sz="1900" dirty="0">
                <a:latin typeface="Arial" panose="020B0604020202020204" pitchFamily="34" charset="0"/>
                <a:cs typeface="Arial" panose="020B0604020202020204" pitchFamily="34" charset="0"/>
              </a:rPr>
              <a:t>Because of fixed payments and a priority claim.</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0271EB8-C86E-4803-935B-C3B17AAF8F29}"/>
              </a:ext>
            </a:extLst>
          </p:cNvPr>
          <p:cNvSpPr>
            <a:spLocks noGrp="1"/>
          </p:cNvSpPr>
          <p:nvPr>
            <p:ph type="sldNum" sz="quarter" idx="12"/>
          </p:nvPr>
        </p:nvSpPr>
        <p:spPr/>
        <p:txBody>
          <a:bodyPr/>
          <a:lstStyle/>
          <a:p>
            <a:fld id="{B7991F04-3566-4BB1-A8CB-A35BE8E11603}" type="slidenum">
              <a:rPr lang="en-IN" smtClean="0"/>
              <a:t>15</a:t>
            </a:fld>
            <a:endParaRPr lang="en-IN"/>
          </a:p>
        </p:txBody>
      </p:sp>
      <p:sp>
        <p:nvSpPr>
          <p:cNvPr id="8" name="Title 3">
            <a:extLst>
              <a:ext uri="{FF2B5EF4-FFF2-40B4-BE49-F238E27FC236}">
                <a16:creationId xmlns:a16="http://schemas.microsoft.com/office/drawing/2014/main" id="{AF72771D-6F0C-434F-A394-82FDA94C1973}"/>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Key Features of Debt Instruments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4625725-5C09-4745-ACFD-2D544FDA7814}"/>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686733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D44794C-00BF-4A6E-8C60-512484B356B7}"/>
              </a:ext>
            </a:extLst>
          </p:cNvPr>
          <p:cNvGraphicFramePr>
            <a:graphicFrameLocks noGrp="1"/>
          </p:cNvGraphicFramePr>
          <p:nvPr>
            <p:ph idx="1"/>
            <p:extLst>
              <p:ext uri="{D42A27DB-BD31-4B8C-83A1-F6EECF244321}">
                <p14:modId xmlns:p14="http://schemas.microsoft.com/office/powerpoint/2010/main" val="960425823"/>
              </p:ext>
            </p:extLst>
          </p:nvPr>
        </p:nvGraphicFramePr>
        <p:xfrm>
          <a:off x="838200" y="1825625"/>
          <a:ext cx="1084281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324F8DB5-1F8E-41C4-B4F2-9EF4F1E75224}"/>
              </a:ext>
            </a:extLst>
          </p:cNvPr>
          <p:cNvSpPr>
            <a:spLocks noGrp="1"/>
          </p:cNvSpPr>
          <p:nvPr>
            <p:ph type="sldNum" sz="quarter" idx="12"/>
          </p:nvPr>
        </p:nvSpPr>
        <p:spPr/>
        <p:txBody>
          <a:bodyPr/>
          <a:lstStyle/>
          <a:p>
            <a:fld id="{B7991F04-3566-4BB1-A8CB-A35BE8E11603}" type="slidenum">
              <a:rPr lang="en-IN" smtClean="0"/>
              <a:t>16</a:t>
            </a:fld>
            <a:endParaRPr lang="en-IN"/>
          </a:p>
        </p:txBody>
      </p:sp>
      <p:sp>
        <p:nvSpPr>
          <p:cNvPr id="6" name="Title 3">
            <a:extLst>
              <a:ext uri="{FF2B5EF4-FFF2-40B4-BE49-F238E27FC236}">
                <a16:creationId xmlns:a16="http://schemas.microsoft.com/office/drawing/2014/main" id="{2F10B2C7-4D95-4A6A-8A52-5FBD365FEFB7}"/>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2400" dirty="0">
                <a:solidFill>
                  <a:schemeClr val="tx1"/>
                </a:solidFill>
                <a:latin typeface="Arial" panose="020B0604020202020204" pitchFamily="34" charset="0"/>
                <a:cs typeface="Arial" panose="020B0604020202020204" pitchFamily="34" charset="0"/>
              </a:rPr>
              <a:t>Types of Debt Instruments</a:t>
            </a:r>
          </a:p>
        </p:txBody>
      </p:sp>
      <p:pic>
        <p:nvPicPr>
          <p:cNvPr id="9" name="Picture 8">
            <a:extLst>
              <a:ext uri="{FF2B5EF4-FFF2-40B4-BE49-F238E27FC236}">
                <a16:creationId xmlns:a16="http://schemas.microsoft.com/office/drawing/2014/main" id="{860B50B6-20A2-4450-8CD1-200FC69C776B}"/>
              </a:ext>
            </a:extLst>
          </p:cNvPr>
          <p:cNvPicPr>
            <a:picLocks noChangeAspect="1"/>
          </p:cNvPicPr>
          <p:nvPr/>
        </p:nvPicPr>
        <p:blipFill>
          <a:blip r:embed="rId7"/>
          <a:stretch>
            <a:fillRect/>
          </a:stretch>
        </p:blipFill>
        <p:spPr>
          <a:xfrm>
            <a:off x="11027635" y="51275"/>
            <a:ext cx="966091" cy="746583"/>
          </a:xfrm>
          <a:prstGeom prst="rect">
            <a:avLst/>
          </a:prstGeom>
        </p:spPr>
      </p:pic>
    </p:spTree>
    <p:extLst>
      <p:ext uri="{BB962C8B-B14F-4D97-AF65-F5344CB8AC3E}">
        <p14:creationId xmlns:p14="http://schemas.microsoft.com/office/powerpoint/2010/main" val="964594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A4AD33-9388-A96E-EBB6-FCB66742550F}"/>
              </a:ext>
            </a:extLst>
          </p:cNvPr>
          <p:cNvSpPr>
            <a:spLocks noGrp="1"/>
          </p:cNvSpPr>
          <p:nvPr>
            <p:ph type="sldNum" sz="quarter" idx="12"/>
          </p:nvPr>
        </p:nvSpPr>
        <p:spPr/>
        <p:txBody>
          <a:bodyPr/>
          <a:lstStyle/>
          <a:p>
            <a:fld id="{A1DCFAE8-8E9E-42B1-9A81-DFF72612FDA6}" type="slidenum">
              <a:rPr lang="en-IN" smtClean="0"/>
              <a:t>17</a:t>
            </a:fld>
            <a:endParaRPr lang="en-IN" dirty="0"/>
          </a:p>
        </p:txBody>
      </p:sp>
      <p:pic>
        <p:nvPicPr>
          <p:cNvPr id="22" name="Graphic 21" descr="Bank with solid fill">
            <a:extLst>
              <a:ext uri="{FF2B5EF4-FFF2-40B4-BE49-F238E27FC236}">
                <a16:creationId xmlns:a16="http://schemas.microsoft.com/office/drawing/2014/main" id="{412D28E9-46E5-467E-8240-6D7215DD0C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3088" y="2113717"/>
            <a:ext cx="1447595" cy="1470212"/>
          </a:xfrm>
          <a:prstGeom prst="rect">
            <a:avLst/>
          </a:prstGeom>
        </p:spPr>
      </p:pic>
      <p:pic>
        <p:nvPicPr>
          <p:cNvPr id="24" name="Graphic 23" descr="Coins with solid fill">
            <a:extLst>
              <a:ext uri="{FF2B5EF4-FFF2-40B4-BE49-F238E27FC236}">
                <a16:creationId xmlns:a16="http://schemas.microsoft.com/office/drawing/2014/main" id="{83E8770F-63F1-4185-AFAE-81EAB10D762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46637" y="2201221"/>
            <a:ext cx="1250598" cy="1281952"/>
          </a:xfrm>
          <a:prstGeom prst="rect">
            <a:avLst/>
          </a:prstGeom>
        </p:spPr>
      </p:pic>
      <p:pic>
        <p:nvPicPr>
          <p:cNvPr id="26" name="Graphic 25" descr="Checklist with solid fill">
            <a:extLst>
              <a:ext uri="{FF2B5EF4-FFF2-40B4-BE49-F238E27FC236}">
                <a16:creationId xmlns:a16="http://schemas.microsoft.com/office/drawing/2014/main" id="{30B406A8-06BE-41FC-AB30-1C79DFE113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1" y="2250141"/>
            <a:ext cx="1095974" cy="1121261"/>
          </a:xfrm>
          <a:prstGeom prst="rect">
            <a:avLst/>
          </a:prstGeom>
        </p:spPr>
      </p:pic>
      <p:pic>
        <p:nvPicPr>
          <p:cNvPr id="28" name="Graphic 27" descr="Money with solid fill">
            <a:extLst>
              <a:ext uri="{FF2B5EF4-FFF2-40B4-BE49-F238E27FC236}">
                <a16:creationId xmlns:a16="http://schemas.microsoft.com/office/drawing/2014/main" id="{515C1116-48EF-4533-9CA6-568D04A561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0096" y="2212546"/>
            <a:ext cx="1094780" cy="1107717"/>
          </a:xfrm>
          <a:prstGeom prst="rect">
            <a:avLst/>
          </a:prstGeom>
        </p:spPr>
      </p:pic>
      <p:sp>
        <p:nvSpPr>
          <p:cNvPr id="29" name="Equals 28">
            <a:extLst>
              <a:ext uri="{FF2B5EF4-FFF2-40B4-BE49-F238E27FC236}">
                <a16:creationId xmlns:a16="http://schemas.microsoft.com/office/drawing/2014/main" id="{F5767FFD-EE10-4731-B573-6F71CF8E17DC}"/>
              </a:ext>
            </a:extLst>
          </p:cNvPr>
          <p:cNvSpPr/>
          <p:nvPr/>
        </p:nvSpPr>
        <p:spPr>
          <a:xfrm>
            <a:off x="6784971" y="2614055"/>
            <a:ext cx="678217" cy="440956"/>
          </a:xfrm>
          <a:prstGeom prst="mathEqual">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Plus Sign 29">
            <a:extLst>
              <a:ext uri="{FF2B5EF4-FFF2-40B4-BE49-F238E27FC236}">
                <a16:creationId xmlns:a16="http://schemas.microsoft.com/office/drawing/2014/main" id="{F3D1D72C-264D-44CA-996D-6F267A525601}"/>
              </a:ext>
            </a:extLst>
          </p:cNvPr>
          <p:cNvSpPr/>
          <p:nvPr/>
        </p:nvSpPr>
        <p:spPr>
          <a:xfrm>
            <a:off x="8981817" y="2618259"/>
            <a:ext cx="582706" cy="466165"/>
          </a:xfrm>
          <a:prstGeom prst="math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FE3096C5-F801-426E-8903-FA7EB6556F3D}"/>
              </a:ext>
            </a:extLst>
          </p:cNvPr>
          <p:cNvSpPr/>
          <p:nvPr/>
        </p:nvSpPr>
        <p:spPr>
          <a:xfrm>
            <a:off x="1969853" y="2614055"/>
            <a:ext cx="657624" cy="37045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Right 31">
            <a:extLst>
              <a:ext uri="{FF2B5EF4-FFF2-40B4-BE49-F238E27FC236}">
                <a16:creationId xmlns:a16="http://schemas.microsoft.com/office/drawing/2014/main" id="{213DA09F-2485-4935-BEA0-067DAB715B77}"/>
              </a:ext>
            </a:extLst>
          </p:cNvPr>
          <p:cNvSpPr/>
          <p:nvPr/>
        </p:nvSpPr>
        <p:spPr>
          <a:xfrm>
            <a:off x="4422526" y="2618259"/>
            <a:ext cx="676686" cy="36625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6" name="Graphic 35" descr="Diploma roll with solid fill">
            <a:extLst>
              <a:ext uri="{FF2B5EF4-FFF2-40B4-BE49-F238E27FC236}">
                <a16:creationId xmlns:a16="http://schemas.microsoft.com/office/drawing/2014/main" id="{41E4997E-7AA3-4724-933C-6A75C8538C5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2164" y="3055011"/>
            <a:ext cx="1072011" cy="914400"/>
          </a:xfrm>
          <a:prstGeom prst="rect">
            <a:avLst/>
          </a:prstGeom>
        </p:spPr>
      </p:pic>
      <p:pic>
        <p:nvPicPr>
          <p:cNvPr id="40" name="Graphic 39" descr="Ribbon with solid fill">
            <a:extLst>
              <a:ext uri="{FF2B5EF4-FFF2-40B4-BE49-F238E27FC236}">
                <a16:creationId xmlns:a16="http://schemas.microsoft.com/office/drawing/2014/main" id="{B75C7279-570D-4D92-849A-918712A8999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474868" y="2322100"/>
            <a:ext cx="1094780" cy="1040193"/>
          </a:xfrm>
          <a:prstGeom prst="rect">
            <a:avLst/>
          </a:prstGeom>
        </p:spPr>
      </p:pic>
      <p:sp>
        <p:nvSpPr>
          <p:cNvPr id="46" name="Rectangle 45">
            <a:extLst>
              <a:ext uri="{FF2B5EF4-FFF2-40B4-BE49-F238E27FC236}">
                <a16:creationId xmlns:a16="http://schemas.microsoft.com/office/drawing/2014/main" id="{B1A6A323-657F-4F59-9A48-0FAC6A2E4401}"/>
              </a:ext>
            </a:extLst>
          </p:cNvPr>
          <p:cNvSpPr/>
          <p:nvPr/>
        </p:nvSpPr>
        <p:spPr>
          <a:xfrm>
            <a:off x="600635" y="3873491"/>
            <a:ext cx="2160494" cy="1044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a:t>
            </a:r>
            <a:r>
              <a:rPr lang="en-US" sz="2000" dirty="0">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bond</a:t>
            </a:r>
            <a:r>
              <a:rPr lang="en-US" sz="2000" dirty="0">
                <a:latin typeface="Arial" panose="020B0604020202020204" pitchFamily="34"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175D966D-4844-439B-8F5A-8F8E49F45C01}"/>
              </a:ext>
            </a:extLst>
          </p:cNvPr>
          <p:cNvSpPr/>
          <p:nvPr/>
        </p:nvSpPr>
        <p:spPr>
          <a:xfrm>
            <a:off x="3092825" y="4003127"/>
            <a:ext cx="1783976"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Is issued by a government or corporation</a:t>
            </a:r>
            <a:endParaRPr lang="en-IN" sz="2000" dirty="0">
              <a:solidFill>
                <a:schemeClr val="tx1"/>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8157F934-819D-4E4B-BF03-07D22407C935}"/>
              </a:ext>
            </a:extLst>
          </p:cNvPr>
          <p:cNvSpPr/>
          <p:nvPr/>
        </p:nvSpPr>
        <p:spPr>
          <a:xfrm>
            <a:off x="5387788" y="4002412"/>
            <a:ext cx="1783976"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To generate funds</a:t>
            </a:r>
            <a:endParaRPr lang="en-IN" sz="2000" dirty="0">
              <a:solidFill>
                <a:schemeClr val="tx1"/>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FDC029FF-9B4E-4D13-9F1C-ADC93A7F67FD}"/>
              </a:ext>
            </a:extLst>
          </p:cNvPr>
          <p:cNvSpPr/>
          <p:nvPr/>
        </p:nvSpPr>
        <p:spPr>
          <a:xfrm>
            <a:off x="8153400" y="3537739"/>
            <a:ext cx="2551280" cy="15891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And is  paid back to the investor as principal amount and interest</a:t>
            </a:r>
            <a:endParaRPr lang="en-IN" sz="2000" dirty="0">
              <a:solidFill>
                <a:schemeClr val="tx1"/>
              </a:solidFill>
              <a:latin typeface="Arial" panose="020B0604020202020204" pitchFamily="34" charset="0"/>
              <a:cs typeface="Arial" panose="020B0604020202020204" pitchFamily="34" charset="0"/>
            </a:endParaRPr>
          </a:p>
        </p:txBody>
      </p:sp>
      <p:sp>
        <p:nvSpPr>
          <p:cNvPr id="25" name="Title 3">
            <a:extLst>
              <a:ext uri="{FF2B5EF4-FFF2-40B4-BE49-F238E27FC236}">
                <a16:creationId xmlns:a16="http://schemas.microsoft.com/office/drawing/2014/main" id="{9F233A9F-EEF1-4407-901F-3468195F9600}"/>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What are Bonds?  </a:t>
            </a:r>
            <a:endParaRPr lang="en-IN" sz="2400" dirty="0">
              <a:solidFill>
                <a:schemeClr val="tx1"/>
              </a:solidFill>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33DE0353-98CD-45C4-8E89-47275FEB77A4}"/>
              </a:ext>
            </a:extLst>
          </p:cNvPr>
          <p:cNvPicPr>
            <a:picLocks noChangeAspect="1"/>
          </p:cNvPicPr>
          <p:nvPr/>
        </p:nvPicPr>
        <p:blipFill>
          <a:blip r:embed="rId14"/>
          <a:stretch>
            <a:fillRect/>
          </a:stretch>
        </p:blipFill>
        <p:spPr>
          <a:xfrm>
            <a:off x="11027635" y="51275"/>
            <a:ext cx="966091" cy="746583"/>
          </a:xfrm>
          <a:prstGeom prst="rect">
            <a:avLst/>
          </a:prstGeom>
        </p:spPr>
      </p:pic>
    </p:spTree>
    <p:extLst>
      <p:ext uri="{BB962C8B-B14F-4D97-AF65-F5344CB8AC3E}">
        <p14:creationId xmlns:p14="http://schemas.microsoft.com/office/powerpoint/2010/main" val="76097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07B1390-2BC1-49F0-8003-213D0CC57965}"/>
              </a:ext>
            </a:extLst>
          </p:cNvPr>
          <p:cNvSpPr>
            <a:spLocks noGrp="1"/>
          </p:cNvSpPr>
          <p:nvPr>
            <p:ph idx="1"/>
          </p:nvPr>
        </p:nvSpPr>
        <p:spPr>
          <a:xfrm>
            <a:off x="679938" y="933206"/>
            <a:ext cx="10673862" cy="5243757"/>
          </a:xfrm>
        </p:spPr>
        <p:txBody>
          <a:bodyPr>
            <a:normAutofit/>
          </a:bodyPr>
          <a:lstStyle/>
          <a:p>
            <a:pPr algn="l">
              <a:lnSpc>
                <a:spcPct val="200000"/>
              </a:lnSpc>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A bond is a debt security or loan agreement.</a:t>
            </a:r>
          </a:p>
          <a:p>
            <a:pPr algn="l">
              <a:lnSpc>
                <a:spcPct val="200000"/>
              </a:lnSpc>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Issued by entities like governments, corporations, or municipalities.</a:t>
            </a:r>
          </a:p>
          <a:p>
            <a:pPr algn="l">
              <a:lnSpc>
                <a:spcPct val="200000"/>
              </a:lnSpc>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Purpose: To raise funds from investors.</a:t>
            </a:r>
          </a:p>
          <a:p>
            <a:pPr algn="l">
              <a:lnSpc>
                <a:spcPct val="200000"/>
              </a:lnSpc>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Investors receive:</a:t>
            </a:r>
          </a:p>
          <a:p>
            <a:pPr marL="457200" lvl="1" indent="0" algn="l">
              <a:lnSpc>
                <a:spcPct val="200000"/>
              </a:lnSpc>
              <a:buNone/>
            </a:pPr>
            <a:r>
              <a:rPr lang="en-US" sz="2000" b="0" i="0" dirty="0">
                <a:solidFill>
                  <a:schemeClr val="accent1"/>
                </a:solidFill>
                <a:effectLst/>
                <a:latin typeface="Arial" panose="020B0604020202020204" pitchFamily="34" charset="0"/>
                <a:cs typeface="Arial" panose="020B0604020202020204" pitchFamily="34" charset="0"/>
              </a:rPr>
              <a:t>Periodic interest payments (called coupons).</a:t>
            </a:r>
          </a:p>
          <a:p>
            <a:pPr marL="457200" lvl="1" indent="0" algn="l">
              <a:lnSpc>
                <a:spcPct val="200000"/>
              </a:lnSpc>
              <a:buNone/>
            </a:pPr>
            <a:r>
              <a:rPr lang="en-US" sz="2000" b="0" i="0" dirty="0">
                <a:solidFill>
                  <a:schemeClr val="accent1"/>
                </a:solidFill>
                <a:effectLst/>
                <a:latin typeface="Arial" panose="020B0604020202020204" pitchFamily="34" charset="0"/>
                <a:cs typeface="Arial" panose="020B0604020202020204" pitchFamily="34" charset="0"/>
              </a:rPr>
              <a:t>Return of the principal amount at maturity</a:t>
            </a:r>
            <a:r>
              <a:rPr lang="en-US" sz="2000" b="0" i="0" dirty="0">
                <a:effectLst/>
                <a:latin typeface="Arial" panose="020B0604020202020204" pitchFamily="34" charset="0"/>
                <a:cs typeface="Arial" panose="020B0604020202020204" pitchFamily="34" charset="0"/>
              </a:rPr>
              <a:t>.</a:t>
            </a:r>
          </a:p>
          <a:p>
            <a:pPr algn="l">
              <a:lnSpc>
                <a:spcPct val="200000"/>
              </a:lnSpc>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Essentially, a bond is a way for the issuer to borrow money from investors.</a:t>
            </a:r>
          </a:p>
          <a:p>
            <a:pPr algn="just"/>
            <a:endParaRPr lang="en-IN" sz="2000" dirty="0"/>
          </a:p>
        </p:txBody>
      </p:sp>
      <p:sp>
        <p:nvSpPr>
          <p:cNvPr id="2" name="Slide Number Placeholder 1">
            <a:extLst>
              <a:ext uri="{FF2B5EF4-FFF2-40B4-BE49-F238E27FC236}">
                <a16:creationId xmlns:a16="http://schemas.microsoft.com/office/drawing/2014/main" id="{1AA4AD33-9388-A96E-EBB6-FCB66742550F}"/>
              </a:ext>
            </a:extLst>
          </p:cNvPr>
          <p:cNvSpPr>
            <a:spLocks noGrp="1"/>
          </p:cNvSpPr>
          <p:nvPr>
            <p:ph type="sldNum" sz="quarter" idx="12"/>
          </p:nvPr>
        </p:nvSpPr>
        <p:spPr/>
        <p:txBody>
          <a:bodyPr/>
          <a:lstStyle/>
          <a:p>
            <a:fld id="{A1DCFAE8-8E9E-42B1-9A81-DFF72612FDA6}" type="slidenum">
              <a:rPr lang="en-IN" smtClean="0"/>
              <a:t>18</a:t>
            </a:fld>
            <a:endParaRPr lang="en-IN" dirty="0"/>
          </a:p>
        </p:txBody>
      </p:sp>
      <p:sp>
        <p:nvSpPr>
          <p:cNvPr id="7" name="Title 3">
            <a:extLst>
              <a:ext uri="{FF2B5EF4-FFF2-40B4-BE49-F238E27FC236}">
                <a16:creationId xmlns:a16="http://schemas.microsoft.com/office/drawing/2014/main" id="{3BC80182-2C57-47AB-81D6-8813F46E3890}"/>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400" dirty="0">
                <a:solidFill>
                  <a:schemeClr val="tx1"/>
                </a:solidFill>
                <a:latin typeface="Arial" panose="020B0604020202020204" pitchFamily="34" charset="0"/>
                <a:cs typeface="Arial" panose="020B0604020202020204" pitchFamily="34" charset="0"/>
              </a:rPr>
              <a:t>What are Bonds?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CFEE8E8-8A11-4AC0-9E3F-BF9FC504FF5F}"/>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609376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9A3D8-4830-4B88-B172-9FCB1EFEAFF8}"/>
              </a:ext>
            </a:extLst>
          </p:cNvPr>
          <p:cNvSpPr>
            <a:spLocks noGrp="1"/>
          </p:cNvSpPr>
          <p:nvPr>
            <p:ph idx="1"/>
          </p:nvPr>
        </p:nvSpPr>
        <p:spPr>
          <a:xfrm>
            <a:off x="838200" y="1219200"/>
            <a:ext cx="10515600" cy="4957763"/>
          </a:xfrm>
        </p:spPr>
        <p:txBody>
          <a:bodyPr>
            <a:normAutofit/>
          </a:bodyPr>
          <a:lstStyle/>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Issuer: </a:t>
            </a:r>
            <a:r>
              <a:rPr lang="en-US" sz="1900" dirty="0">
                <a:latin typeface="Arial" panose="020B0604020202020204" pitchFamily="34" charset="0"/>
                <a:cs typeface="Arial" panose="020B0604020202020204" pitchFamily="34" charset="0"/>
              </a:rPr>
              <a:t>The entity borrowing the funds (e.g., government, corporation).</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Face Value (Par Value): </a:t>
            </a:r>
            <a:r>
              <a:rPr lang="en-US" sz="1900" dirty="0">
                <a:latin typeface="Arial" panose="020B0604020202020204" pitchFamily="34" charset="0"/>
                <a:cs typeface="Arial" panose="020B0604020202020204" pitchFamily="34" charset="0"/>
              </a:rPr>
              <a:t>The principal amount the issuer promises to pay back at maturity, usually 1000 per bond.</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Coupon Rate: </a:t>
            </a:r>
            <a:r>
              <a:rPr lang="en-US" sz="1900" dirty="0">
                <a:latin typeface="Arial" panose="020B0604020202020204" pitchFamily="34" charset="0"/>
                <a:cs typeface="Arial" panose="020B0604020202020204" pitchFamily="34" charset="0"/>
              </a:rPr>
              <a:t>The interest rate paid to bondholders, typically annually or semi-annually.</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Coupon Payment: </a:t>
            </a:r>
            <a:r>
              <a:rPr lang="en-US" sz="1900" dirty="0">
                <a:latin typeface="Arial" panose="020B0604020202020204" pitchFamily="34" charset="0"/>
                <a:cs typeface="Arial" panose="020B0604020202020204" pitchFamily="34" charset="0"/>
              </a:rPr>
              <a:t>Actual interest payment amount based on coupon rate and face value.</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Maturity Date: </a:t>
            </a:r>
            <a:r>
              <a:rPr lang="en-US" sz="1900" dirty="0">
                <a:latin typeface="Arial" panose="020B0604020202020204" pitchFamily="34" charset="0"/>
                <a:cs typeface="Arial" panose="020B0604020202020204" pitchFamily="34" charset="0"/>
              </a:rPr>
              <a:t>The date when the issuer must repay the face value to bondholders.</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Price: </a:t>
            </a:r>
            <a:r>
              <a:rPr lang="en-US" sz="1900" dirty="0">
                <a:latin typeface="Arial" panose="020B0604020202020204" pitchFamily="34" charset="0"/>
                <a:cs typeface="Arial" panose="020B0604020202020204" pitchFamily="34" charset="0"/>
              </a:rPr>
              <a:t>Bonds can be traded in the secondary market, and prices can vary from face value.</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Yield: </a:t>
            </a:r>
            <a:r>
              <a:rPr lang="en-US" sz="1900" dirty="0">
                <a:latin typeface="Arial" panose="020B0604020202020204" pitchFamily="34" charset="0"/>
                <a:cs typeface="Arial" panose="020B0604020202020204" pitchFamily="34" charset="0"/>
              </a:rPr>
              <a:t>The return an investor earns on a bond, based on the price paid and coupon payments.</a:t>
            </a:r>
          </a:p>
          <a:p>
            <a:endParaRPr lang="en-IN" dirty="0"/>
          </a:p>
        </p:txBody>
      </p:sp>
      <p:sp>
        <p:nvSpPr>
          <p:cNvPr id="2" name="Slide Number Placeholder 1">
            <a:extLst>
              <a:ext uri="{FF2B5EF4-FFF2-40B4-BE49-F238E27FC236}">
                <a16:creationId xmlns:a16="http://schemas.microsoft.com/office/drawing/2014/main" id="{4FFF4698-3C4D-4C29-B553-F8C5152049C2}"/>
              </a:ext>
            </a:extLst>
          </p:cNvPr>
          <p:cNvSpPr>
            <a:spLocks noGrp="1"/>
          </p:cNvSpPr>
          <p:nvPr>
            <p:ph type="sldNum" sz="quarter" idx="12"/>
          </p:nvPr>
        </p:nvSpPr>
        <p:spPr/>
        <p:txBody>
          <a:bodyPr/>
          <a:lstStyle/>
          <a:p>
            <a:fld id="{B7991F04-3566-4BB1-A8CB-A35BE8E11603}" type="slidenum">
              <a:rPr lang="en-IN" smtClean="0"/>
              <a:t>19</a:t>
            </a:fld>
            <a:endParaRPr lang="en-IN"/>
          </a:p>
        </p:txBody>
      </p:sp>
      <p:sp>
        <p:nvSpPr>
          <p:cNvPr id="5" name="Title 3">
            <a:extLst>
              <a:ext uri="{FF2B5EF4-FFF2-40B4-BE49-F238E27FC236}">
                <a16:creationId xmlns:a16="http://schemas.microsoft.com/office/drawing/2014/main" id="{1CA7F338-52D6-462D-9F95-9EF527180451}"/>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Key Features of Bonds</a:t>
            </a:r>
            <a:endParaRPr lang="en-IN" sz="2400" dirty="0">
              <a:solidFill>
                <a:schemeClr val="tx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8FE24EC0-E12A-441A-8014-97EA7775BBA0}"/>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755626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07B1390-2BC1-49F0-8003-213D0CC57965}"/>
              </a:ext>
            </a:extLst>
          </p:cNvPr>
          <p:cNvSpPr>
            <a:spLocks noGrp="1"/>
          </p:cNvSpPr>
          <p:nvPr>
            <p:ph idx="1"/>
          </p:nvPr>
        </p:nvSpPr>
        <p:spPr>
          <a:xfrm>
            <a:off x="679938" y="933206"/>
            <a:ext cx="10673862" cy="5243757"/>
          </a:xfrm>
        </p:spPr>
        <p:txBody>
          <a:bodyPr>
            <a:normAutofit/>
          </a:bodyPr>
          <a:lstStyle/>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1. Government Bonds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Issued by national governments.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Considered very safe (e.g., Government Securities).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Examples: Treasury Bills (short-term), Treasury Notes, Treasury Bonds (long-term).</a:t>
            </a:r>
          </a:p>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2. Municipal Bonds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Issued by states, cities, or local governments.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Often tax-exempt on interest income.</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Used to fund public projects.</a:t>
            </a:r>
          </a:p>
          <a:p>
            <a:pPr algn="l">
              <a:lnSpc>
                <a:spcPct val="200000"/>
              </a:lnSpc>
              <a:buFont typeface="Arial" panose="020B0604020202020204" pitchFamily="34" charset="0"/>
              <a:buChar char="•"/>
            </a:pPr>
            <a:endParaRPr lang="en-US" sz="2000" b="0" i="0" dirty="0">
              <a:effectLst/>
              <a:latin typeface="Arial" panose="020B0604020202020204" pitchFamily="34" charset="0"/>
              <a:cs typeface="Arial" panose="020B0604020202020204" pitchFamily="34" charset="0"/>
            </a:endParaRPr>
          </a:p>
          <a:p>
            <a:pPr algn="just"/>
            <a:endParaRPr lang="en-IN" sz="2000" dirty="0"/>
          </a:p>
        </p:txBody>
      </p:sp>
      <p:sp>
        <p:nvSpPr>
          <p:cNvPr id="2" name="Slide Number Placeholder 1">
            <a:extLst>
              <a:ext uri="{FF2B5EF4-FFF2-40B4-BE49-F238E27FC236}">
                <a16:creationId xmlns:a16="http://schemas.microsoft.com/office/drawing/2014/main" id="{1AA4AD33-9388-A96E-EBB6-FCB66742550F}"/>
              </a:ext>
            </a:extLst>
          </p:cNvPr>
          <p:cNvSpPr>
            <a:spLocks noGrp="1"/>
          </p:cNvSpPr>
          <p:nvPr>
            <p:ph type="sldNum" sz="quarter" idx="12"/>
          </p:nvPr>
        </p:nvSpPr>
        <p:spPr/>
        <p:txBody>
          <a:bodyPr/>
          <a:lstStyle/>
          <a:p>
            <a:fld id="{A1DCFAE8-8E9E-42B1-9A81-DFF72612FDA6}" type="slidenum">
              <a:rPr lang="en-IN" smtClean="0"/>
              <a:t>20</a:t>
            </a:fld>
            <a:endParaRPr lang="en-IN" dirty="0"/>
          </a:p>
        </p:txBody>
      </p:sp>
      <p:sp>
        <p:nvSpPr>
          <p:cNvPr id="10" name="Title 3">
            <a:extLst>
              <a:ext uri="{FF2B5EF4-FFF2-40B4-BE49-F238E27FC236}">
                <a16:creationId xmlns:a16="http://schemas.microsoft.com/office/drawing/2014/main" id="{BA2416BF-29BE-4CEE-8906-A407548A114E}"/>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Bonds </a:t>
            </a:r>
            <a:endParaRPr lang="en-IN" sz="2400" dirty="0">
              <a:solidFill>
                <a:schemeClr val="tx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41D13995-DE84-448C-8248-6E8055B3BA8B}"/>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594625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07B1390-2BC1-49F0-8003-213D0CC57965}"/>
              </a:ext>
            </a:extLst>
          </p:cNvPr>
          <p:cNvSpPr>
            <a:spLocks noGrp="1"/>
          </p:cNvSpPr>
          <p:nvPr>
            <p:ph idx="1"/>
          </p:nvPr>
        </p:nvSpPr>
        <p:spPr>
          <a:xfrm>
            <a:off x="679938" y="933206"/>
            <a:ext cx="10673862" cy="5243757"/>
          </a:xfrm>
        </p:spPr>
        <p:txBody>
          <a:bodyPr>
            <a:normAutofit fontScale="92500" lnSpcReduction="10000"/>
          </a:bodyPr>
          <a:lstStyle/>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3. Corporate Bonds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Issued by companies to raise capital.</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Riskier than government bonds; higher yields.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Can be investment grade or high-yield (junk bonds).</a:t>
            </a:r>
          </a:p>
          <a:p>
            <a:pPr marL="0" indent="0" algn="just">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4. Zero-Coupon Bonds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Pay no periodic interest.</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Sold at a discount to face value.</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Full face value paid at maturity</a:t>
            </a:r>
            <a:r>
              <a:rPr lang="en-US" sz="1400" dirty="0"/>
              <a:t>.</a:t>
            </a:r>
          </a:p>
          <a:p>
            <a:pPr marL="0" indent="0">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5. Convertible Bonds</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Can be converted into a predetermined number of company shares.</a:t>
            </a:r>
          </a:p>
          <a:p>
            <a:pPr algn="just">
              <a:lnSpc>
                <a:spcPct val="150000"/>
              </a:lnSpc>
              <a:buFont typeface="Arial" panose="020B0604020202020204" pitchFamily="34" charset="0"/>
              <a:buChar char="•"/>
            </a:pPr>
            <a:endParaRPr lang="en-US" sz="1400" dirty="0"/>
          </a:p>
          <a:p>
            <a:pPr algn="just">
              <a:lnSpc>
                <a:spcPct val="150000"/>
              </a:lnSpc>
              <a:buFont typeface="Arial" panose="020B0604020202020204" pitchFamily="34" charset="0"/>
              <a:buChar char="•"/>
            </a:pPr>
            <a:endParaRPr lang="en-US" sz="2000" b="0" i="0" dirty="0">
              <a:effectLst/>
              <a:latin typeface="Arial" panose="020B0604020202020204" pitchFamily="34" charset="0"/>
              <a:cs typeface="Arial" panose="020B0604020202020204" pitchFamily="34" charset="0"/>
            </a:endParaRPr>
          </a:p>
          <a:p>
            <a:pPr algn="just"/>
            <a:endParaRPr lang="en-IN" sz="2000" dirty="0"/>
          </a:p>
        </p:txBody>
      </p:sp>
      <p:sp>
        <p:nvSpPr>
          <p:cNvPr id="2" name="Slide Number Placeholder 1">
            <a:extLst>
              <a:ext uri="{FF2B5EF4-FFF2-40B4-BE49-F238E27FC236}">
                <a16:creationId xmlns:a16="http://schemas.microsoft.com/office/drawing/2014/main" id="{1AA4AD33-9388-A96E-EBB6-FCB66742550F}"/>
              </a:ext>
            </a:extLst>
          </p:cNvPr>
          <p:cNvSpPr>
            <a:spLocks noGrp="1"/>
          </p:cNvSpPr>
          <p:nvPr>
            <p:ph type="sldNum" sz="quarter" idx="12"/>
          </p:nvPr>
        </p:nvSpPr>
        <p:spPr/>
        <p:txBody>
          <a:bodyPr/>
          <a:lstStyle/>
          <a:p>
            <a:fld id="{A1DCFAE8-8E9E-42B1-9A81-DFF72612FDA6}" type="slidenum">
              <a:rPr lang="en-IN" smtClean="0"/>
              <a:t>21</a:t>
            </a:fld>
            <a:endParaRPr lang="en-IN" dirty="0"/>
          </a:p>
        </p:txBody>
      </p:sp>
      <p:sp>
        <p:nvSpPr>
          <p:cNvPr id="9" name="Title 3">
            <a:extLst>
              <a:ext uri="{FF2B5EF4-FFF2-40B4-BE49-F238E27FC236}">
                <a16:creationId xmlns:a16="http://schemas.microsoft.com/office/drawing/2014/main" id="{72AFA104-1739-4802-BA7F-5029C1855A48}"/>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Bonds </a:t>
            </a:r>
            <a:endParaRPr lang="en-IN" sz="2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557258C-B77A-448E-9895-587CF0424BAC}"/>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132888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399011" y="648017"/>
            <a:ext cx="11594715" cy="5890895"/>
          </a:xfrm>
        </p:spPr>
        <p:txBody>
          <a:bodyPr>
            <a:noAutofit/>
          </a:bodyPr>
          <a:lstStyle/>
          <a:p>
            <a:pPr marL="0" indent="0">
              <a:lnSpc>
                <a:spcPct val="170000"/>
              </a:lnSpc>
              <a:buNone/>
            </a:pPr>
            <a:r>
              <a:rPr lang="en-US" sz="2000" dirty="0">
                <a:solidFill>
                  <a:schemeClr val="accent1">
                    <a:lumMod val="75000"/>
                  </a:schemeClr>
                </a:solidFill>
                <a:latin typeface="Arial" panose="020B0604020202020204" pitchFamily="34" charset="0"/>
                <a:cs typeface="Arial" panose="020B0604020202020204" pitchFamily="34" charset="0"/>
              </a:rPr>
              <a:t>6 . Fixed-Rate Bonds</a:t>
            </a:r>
          </a:p>
          <a:p>
            <a:pPr>
              <a:lnSpc>
                <a:spcPct val="170000"/>
              </a:lnSpc>
              <a:buFont typeface="Arial" panose="020B0604020202020204" pitchFamily="34" charset="0"/>
              <a:buChar char="•"/>
            </a:pPr>
            <a:r>
              <a:rPr lang="en-US" sz="1900" dirty="0">
                <a:latin typeface="Arial" panose="020B0604020202020204" pitchFamily="34" charset="0"/>
                <a:cs typeface="Arial" panose="020B0604020202020204" pitchFamily="34" charset="0"/>
              </a:rPr>
              <a:t>A fixed-rate bond pays a constant interest rate, giving the bondholder the same regular interest payments regardless of market rate changes.</a:t>
            </a:r>
          </a:p>
          <a:p>
            <a:pPr>
              <a:lnSpc>
                <a:spcPct val="170000"/>
              </a:lnSpc>
              <a:buFont typeface="Arial" panose="020B0604020202020204" pitchFamily="34" charset="0"/>
              <a:buChar char="•"/>
            </a:pPr>
            <a:r>
              <a:rPr lang="en-US" sz="1900" dirty="0">
                <a:latin typeface="Arial" panose="020B0604020202020204" pitchFamily="34" charset="0"/>
                <a:cs typeface="Arial" panose="020B0604020202020204" pitchFamily="34" charset="0"/>
              </a:rPr>
              <a:t>Bond price is sensitive to interest rate changes</a:t>
            </a:r>
          </a:p>
          <a:p>
            <a:pPr>
              <a:lnSpc>
                <a:spcPct val="170000"/>
              </a:lnSpc>
              <a:buFont typeface="Arial" panose="020B0604020202020204" pitchFamily="34" charset="0"/>
              <a:buChar char="•"/>
            </a:pPr>
            <a:r>
              <a:rPr lang="en-US" sz="1900" dirty="0">
                <a:latin typeface="Arial" panose="020B0604020202020204" pitchFamily="34" charset="0"/>
                <a:cs typeface="Arial" panose="020B0604020202020204" pitchFamily="34" charset="0"/>
              </a:rPr>
              <a:t>Popular with conservative investors</a:t>
            </a:r>
          </a:p>
          <a:p>
            <a:pPr marL="0" indent="0">
              <a:lnSpc>
                <a:spcPct val="170000"/>
              </a:lnSpc>
              <a:buNone/>
            </a:pPr>
            <a:r>
              <a:rPr lang="en-US" sz="1900" dirty="0">
                <a:latin typeface="Arial" panose="020B0604020202020204" pitchFamily="34" charset="0"/>
                <a:cs typeface="Arial" panose="020B0604020202020204" pitchFamily="34" charset="0"/>
              </a:rPr>
              <a:t> </a:t>
            </a:r>
            <a:r>
              <a:rPr lang="en-US" sz="2000" dirty="0">
                <a:solidFill>
                  <a:schemeClr val="accent1">
                    <a:lumMod val="75000"/>
                  </a:schemeClr>
                </a:solidFill>
                <a:latin typeface="Arial" panose="020B0604020202020204" pitchFamily="34" charset="0"/>
                <a:cs typeface="Arial" panose="020B0604020202020204" pitchFamily="34" charset="0"/>
              </a:rPr>
              <a:t>7. Floating-Rate Bonds</a:t>
            </a:r>
          </a:p>
          <a:p>
            <a:pPr>
              <a:lnSpc>
                <a:spcPct val="170000"/>
              </a:lnSpc>
            </a:pPr>
            <a:r>
              <a:rPr lang="en-US" sz="1800" dirty="0">
                <a:latin typeface="Arial" panose="020B0604020202020204" pitchFamily="34" charset="0"/>
                <a:cs typeface="Arial" panose="020B0604020202020204" pitchFamily="34" charset="0"/>
              </a:rPr>
              <a:t>A floating-rate bond pays variable interest linked to a benchmark rate( </a:t>
            </a:r>
            <a:r>
              <a:rPr lang="en-US" sz="1800" b="1" i="1" dirty="0">
                <a:solidFill>
                  <a:srgbClr val="0070C0"/>
                </a:solidFill>
                <a:latin typeface="Arial" panose="020B0604020202020204" pitchFamily="34" charset="0"/>
                <a:cs typeface="Arial" panose="020B0604020202020204" pitchFamily="34" charset="0"/>
              </a:rPr>
              <a:t>MIBOR,SOFR,URIBOR,TONA, TIBOR,) </a:t>
            </a:r>
            <a:r>
              <a:rPr lang="en-US" sz="1800" dirty="0">
                <a:latin typeface="Arial" panose="020B0604020202020204" pitchFamily="34" charset="0"/>
                <a:cs typeface="Arial" panose="020B0604020202020204" pitchFamily="34" charset="0"/>
              </a:rPr>
              <a:t>with coupons resetting periodically based on that rate.</a:t>
            </a:r>
          </a:p>
          <a:p>
            <a:pPr>
              <a:lnSpc>
                <a:spcPct val="170000"/>
              </a:lnSpc>
              <a:buFont typeface="Arial" panose="020B0604020202020204" pitchFamily="34" charset="0"/>
              <a:buChar char="•"/>
            </a:pPr>
            <a:r>
              <a:rPr lang="en-US" sz="1800" dirty="0">
                <a:latin typeface="Arial" panose="020B0604020202020204" pitchFamily="34" charset="0"/>
                <a:cs typeface="Arial" panose="020B0604020202020204" pitchFamily="34" charset="0"/>
              </a:rPr>
              <a:t>Interest income changes with market rates</a:t>
            </a:r>
          </a:p>
          <a:p>
            <a:pPr>
              <a:lnSpc>
                <a:spcPct val="170000"/>
              </a:lnSpc>
              <a:buFont typeface="Arial" panose="020B0604020202020204" pitchFamily="34" charset="0"/>
              <a:buChar char="•"/>
            </a:pPr>
            <a:r>
              <a:rPr lang="en-US" sz="1800" dirty="0">
                <a:latin typeface="Arial" panose="020B0604020202020204" pitchFamily="34" charset="0"/>
                <a:cs typeface="Arial" panose="020B0604020202020204" pitchFamily="34" charset="0"/>
              </a:rPr>
              <a:t>Suitable in volatile or rising rate environments</a:t>
            </a:r>
          </a:p>
          <a:p>
            <a:pPr algn="just">
              <a:lnSpc>
                <a:spcPct val="170000"/>
              </a:lnSpc>
            </a:pPr>
            <a:endParaRPr lang="en-US" sz="1900" dirty="0">
              <a:latin typeface="Arial" panose="020B0604020202020204" pitchFamily="34" charset="0"/>
              <a:cs typeface="Arial" panose="020B0604020202020204" pitchFamily="34" charset="0"/>
            </a:endParaRP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B97D327-3FD0-466F-B141-4E050A8C7340}"/>
              </a:ext>
            </a:extLst>
          </p:cNvPr>
          <p:cNvSpPr>
            <a:spLocks noGrp="1"/>
          </p:cNvSpPr>
          <p:nvPr>
            <p:ph type="sldNum" sz="quarter" idx="12"/>
          </p:nvPr>
        </p:nvSpPr>
        <p:spPr/>
        <p:txBody>
          <a:bodyPr/>
          <a:lstStyle/>
          <a:p>
            <a:fld id="{B7991F04-3566-4BB1-A8CB-A35BE8E11603}" type="slidenum">
              <a:rPr lang="en-IN" smtClean="0"/>
              <a:t>22</a:t>
            </a:fld>
            <a:endParaRPr lang="en-IN"/>
          </a:p>
        </p:txBody>
      </p:sp>
      <p:sp>
        <p:nvSpPr>
          <p:cNvPr id="8" name="Title 3">
            <a:extLst>
              <a:ext uri="{FF2B5EF4-FFF2-40B4-BE49-F238E27FC236}">
                <a16:creationId xmlns:a16="http://schemas.microsoft.com/office/drawing/2014/main" id="{123E6997-2110-42CB-AB3E-74C41AAC943F}"/>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Bonds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DD1E11D-B911-4B40-8ADE-C70A592D7DCC}"/>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4129656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0F95C-005F-42A1-AD9B-6631B5ED5937}"/>
              </a:ext>
            </a:extLst>
          </p:cNvPr>
          <p:cNvSpPr>
            <a:spLocks noGrp="1"/>
          </p:cNvSpPr>
          <p:nvPr>
            <p:ph type="title"/>
          </p:nvPr>
        </p:nvSpPr>
        <p:spPr>
          <a:xfrm>
            <a:off x="748553" y="153147"/>
            <a:ext cx="10123235" cy="459628"/>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Types of Bonds </a:t>
            </a:r>
            <a:br>
              <a:rPr lang="en-IN" sz="2400" dirty="0">
                <a:solidFill>
                  <a:schemeClr val="tx1"/>
                </a:solidFill>
                <a:latin typeface="Arial" panose="020B0604020202020204" pitchFamily="34" charset="0"/>
                <a:cs typeface="Arial" panose="020B0604020202020204" pitchFamily="34" charset="0"/>
              </a:rPr>
            </a:br>
            <a:endParaRPr lang="en-IN" sz="2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2C9E36-B70B-46C9-997A-F4D7C97AA8D8}"/>
              </a:ext>
            </a:extLst>
          </p:cNvPr>
          <p:cNvSpPr>
            <a:spLocks noGrp="1"/>
          </p:cNvSpPr>
          <p:nvPr>
            <p:ph type="body" sz="half" idx="4294967295"/>
          </p:nvPr>
        </p:nvSpPr>
        <p:spPr>
          <a:xfrm>
            <a:off x="362987" y="1137256"/>
            <a:ext cx="11416147" cy="4694612"/>
          </a:xfrm>
        </p:spPr>
        <p:txBody>
          <a:bodyPr>
            <a:normAutofit lnSpcReduction="10000"/>
          </a:bodyPr>
          <a:lstStyle/>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8. Call Bond ( Callable Bond) : </a:t>
            </a:r>
          </a:p>
          <a:p>
            <a:pPr algn="just">
              <a:lnSpc>
                <a:spcPct val="150000"/>
              </a:lnSpc>
            </a:pPr>
            <a:r>
              <a:rPr lang="en-US" sz="1900" dirty="0">
                <a:latin typeface="Arial" panose="020B0604020202020204" pitchFamily="34" charset="0"/>
                <a:cs typeface="Arial" panose="020B0604020202020204" pitchFamily="34" charset="0"/>
              </a:rPr>
              <a:t>A call bond (or callable bond) is a bond that gives the issuer the right to redeem (call back) the bond before its maturity date</a:t>
            </a:r>
            <a:r>
              <a:rPr lang="en-US" sz="1400" dirty="0"/>
              <a:t>.</a:t>
            </a:r>
          </a:p>
          <a:p>
            <a:pPr algn="just">
              <a:lnSpc>
                <a:spcPct val="150000"/>
              </a:lnSpc>
            </a:pPr>
            <a:r>
              <a:rPr lang="en-US" sz="1900" dirty="0">
                <a:latin typeface="Arial" panose="020B0604020202020204" pitchFamily="34" charset="0"/>
                <a:cs typeface="Arial" panose="020B0604020202020204" pitchFamily="34" charset="0"/>
              </a:rPr>
              <a:t>The issuer usually calls the bond at a predetermined call price, often above the face value.</a:t>
            </a:r>
          </a:p>
          <a:p>
            <a:pPr marL="0" indent="0">
              <a:lnSpc>
                <a:spcPct val="150000"/>
              </a:lnSpc>
              <a:buNone/>
            </a:pPr>
            <a:r>
              <a:rPr lang="en-US" sz="1900" dirty="0">
                <a:solidFill>
                  <a:schemeClr val="accent1"/>
                </a:solidFill>
                <a:latin typeface="Arial" panose="020B0604020202020204" pitchFamily="34" charset="0"/>
                <a:cs typeface="Arial" panose="020B0604020202020204" pitchFamily="34" charset="0"/>
              </a:rPr>
              <a:t>9. Put Bond</a:t>
            </a:r>
            <a:r>
              <a:rPr lang="en-US" sz="1900" dirty="0">
                <a:latin typeface="Arial" panose="020B0604020202020204" pitchFamily="34" charset="0"/>
                <a:cs typeface="Arial" panose="020B0604020202020204" pitchFamily="34" charset="0"/>
              </a:rPr>
              <a:t> </a:t>
            </a:r>
            <a:r>
              <a:rPr lang="en-US" sz="1900" dirty="0">
                <a:solidFill>
                  <a:schemeClr val="accent1"/>
                </a:solidFill>
                <a:latin typeface="Arial" panose="020B0604020202020204" pitchFamily="34" charset="0"/>
                <a:cs typeface="Arial" panose="020B0604020202020204" pitchFamily="34" charset="0"/>
              </a:rPr>
              <a:t>(</a:t>
            </a:r>
            <a:r>
              <a:rPr lang="en-US" sz="1900" dirty="0" err="1">
                <a:solidFill>
                  <a:schemeClr val="accent1"/>
                </a:solidFill>
                <a:latin typeface="Arial" panose="020B0604020202020204" pitchFamily="34" charset="0"/>
                <a:cs typeface="Arial" panose="020B0604020202020204" pitchFamily="34" charset="0"/>
              </a:rPr>
              <a:t>Putable</a:t>
            </a:r>
            <a:r>
              <a:rPr lang="en-US" sz="1900" dirty="0">
                <a:solidFill>
                  <a:schemeClr val="accent1"/>
                </a:solidFill>
                <a:latin typeface="Arial" panose="020B0604020202020204" pitchFamily="34" charset="0"/>
                <a:cs typeface="Arial" panose="020B0604020202020204" pitchFamily="34" charset="0"/>
              </a:rPr>
              <a:t> Bond) :</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A put bond (putable bond) gives the investor the right to sell (put) the bond back to the issuer before maturity.</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The investor can exercise this right at specified put dates.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The put price is usually at or near the bond’s face value.</a:t>
            </a:r>
          </a:p>
          <a:p>
            <a:pPr marL="0" indent="0" algn="just">
              <a:lnSpc>
                <a:spcPct val="150000"/>
              </a:lnSpc>
              <a:buNone/>
            </a:pPr>
            <a:endParaRPr lang="en-US" sz="1800" dirty="0">
              <a:latin typeface="Arial" panose="020B0604020202020204" pitchFamily="34" charset="0"/>
              <a:cs typeface="Arial" panose="020B0604020202020204" pitchFamily="34" charset="0"/>
            </a:endParaRPr>
          </a:p>
          <a:p>
            <a:pPr marL="0" indent="0" algn="just">
              <a:lnSpc>
                <a:spcPct val="200000"/>
              </a:lnSpc>
              <a:buNone/>
            </a:pPr>
            <a:endParaRPr lang="en-US" sz="19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1027635" y="51275"/>
            <a:ext cx="966091" cy="746583"/>
          </a:xfrm>
          <a:prstGeom prst="rect">
            <a:avLst/>
          </a:prstGeom>
        </p:spPr>
      </p:pic>
      <p:sp>
        <p:nvSpPr>
          <p:cNvPr id="2" name="Slide Number Placeholder 1">
            <a:extLst>
              <a:ext uri="{FF2B5EF4-FFF2-40B4-BE49-F238E27FC236}">
                <a16:creationId xmlns:a16="http://schemas.microsoft.com/office/drawing/2014/main" id="{3EEE3E35-0D13-469A-9E0F-622ACCC7CC9A}"/>
              </a:ext>
            </a:extLst>
          </p:cNvPr>
          <p:cNvSpPr>
            <a:spLocks noGrp="1"/>
          </p:cNvSpPr>
          <p:nvPr>
            <p:ph type="sldNum" sz="quarter" idx="12"/>
          </p:nvPr>
        </p:nvSpPr>
        <p:spPr/>
        <p:txBody>
          <a:bodyPr/>
          <a:lstStyle/>
          <a:p>
            <a:fld id="{B7991F04-3566-4BB1-A8CB-A35BE8E11603}" type="slidenum">
              <a:rPr lang="en-IN" smtClean="0"/>
              <a:t>23</a:t>
            </a:fld>
            <a:endParaRPr lang="en-IN"/>
          </a:p>
        </p:txBody>
      </p:sp>
    </p:spTree>
    <p:extLst>
      <p:ext uri="{BB962C8B-B14F-4D97-AF65-F5344CB8AC3E}">
        <p14:creationId xmlns:p14="http://schemas.microsoft.com/office/powerpoint/2010/main" val="2783473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E2357-3553-406A-9600-C2B18C3F5BDD}"/>
              </a:ext>
            </a:extLst>
          </p:cNvPr>
          <p:cNvSpPr>
            <a:spLocks noGrp="1"/>
          </p:cNvSpPr>
          <p:nvPr>
            <p:ph idx="1"/>
          </p:nvPr>
        </p:nvSpPr>
        <p:spPr>
          <a:xfrm>
            <a:off x="838200" y="1124688"/>
            <a:ext cx="10515600" cy="5052275"/>
          </a:xfrm>
        </p:spPr>
        <p:txBody>
          <a:bodyPr>
            <a:normAutofit/>
          </a:bodyPr>
          <a:lstStyle/>
          <a:p>
            <a:pPr marL="0" indent="0">
              <a:lnSpc>
                <a:spcPct val="150000"/>
              </a:lnSpc>
              <a:buNone/>
            </a:pPr>
            <a:r>
              <a:rPr lang="en-US" sz="1900" dirty="0">
                <a:solidFill>
                  <a:schemeClr val="accent1"/>
                </a:solidFill>
                <a:latin typeface="Arial" panose="020B0604020202020204" pitchFamily="34" charset="0"/>
                <a:cs typeface="Arial" panose="020B0604020202020204" pitchFamily="34" charset="0"/>
              </a:rPr>
              <a:t>Example</a:t>
            </a:r>
          </a:p>
          <a:p>
            <a:pPr>
              <a:lnSpc>
                <a:spcPct val="150000"/>
              </a:lnSpc>
            </a:pPr>
            <a:r>
              <a:rPr lang="en-US" sz="1900" dirty="0">
                <a:latin typeface="Arial" panose="020B0604020202020204" pitchFamily="34" charset="0"/>
                <a:cs typeface="Arial" panose="020B0604020202020204" pitchFamily="34" charset="0"/>
              </a:rPr>
              <a:t>Suppose you buy a bond with:</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Face Value = 1,000</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Coupon Rate = 6% annually</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Maturity = 5 years</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Market Price = 950</a:t>
            </a:r>
          </a:p>
          <a:p>
            <a:pPr marL="0" indent="0">
              <a:lnSpc>
                <a:spcPct val="150000"/>
              </a:lnSpc>
              <a:buNone/>
            </a:pPr>
            <a:r>
              <a:rPr lang="en-US" sz="1900" dirty="0">
                <a:solidFill>
                  <a:schemeClr val="accent1"/>
                </a:solidFill>
                <a:latin typeface="Arial" panose="020B0604020202020204" pitchFamily="34" charset="0"/>
                <a:cs typeface="Arial" panose="020B0604020202020204" pitchFamily="34" charset="0"/>
              </a:rPr>
              <a:t>Coupon Payment:</a:t>
            </a:r>
            <a:br>
              <a:rPr lang="en-US" sz="1900" dirty="0">
                <a:solidFill>
                  <a:schemeClr val="accent1"/>
                </a:solidFill>
                <a:latin typeface="Arial" panose="020B0604020202020204" pitchFamily="34" charset="0"/>
                <a:cs typeface="Arial" panose="020B0604020202020204" pitchFamily="34" charset="0"/>
              </a:rPr>
            </a:br>
            <a:r>
              <a:rPr lang="en-US" sz="1900" dirty="0">
                <a:latin typeface="Arial" panose="020B0604020202020204" pitchFamily="34" charset="0"/>
                <a:cs typeface="Arial" panose="020B0604020202020204" pitchFamily="34" charset="0"/>
              </a:rPr>
              <a:t>6% × 1,000 = 60 per year</a:t>
            </a:r>
          </a:p>
          <a:p>
            <a:pPr>
              <a:lnSpc>
                <a:spcPct val="150000"/>
              </a:lnSpc>
            </a:pPr>
            <a:r>
              <a:rPr lang="en-US" sz="1900" dirty="0">
                <a:latin typeface="Arial" panose="020B0604020202020204" pitchFamily="34" charset="0"/>
                <a:cs typeface="Arial" panose="020B0604020202020204" pitchFamily="34" charset="0"/>
              </a:rPr>
              <a:t>You will receive 60 every year for 5 years, plus 1,000 at the end of year 5</a:t>
            </a:r>
          </a:p>
          <a:p>
            <a:endParaRPr lang="en-IN" dirty="0"/>
          </a:p>
        </p:txBody>
      </p:sp>
      <p:sp>
        <p:nvSpPr>
          <p:cNvPr id="2" name="Slide Number Placeholder 1">
            <a:extLst>
              <a:ext uri="{FF2B5EF4-FFF2-40B4-BE49-F238E27FC236}">
                <a16:creationId xmlns:a16="http://schemas.microsoft.com/office/drawing/2014/main" id="{8E70EABF-72E5-4886-AE8B-084C80E9ECCE}"/>
              </a:ext>
            </a:extLst>
          </p:cNvPr>
          <p:cNvSpPr>
            <a:spLocks noGrp="1"/>
          </p:cNvSpPr>
          <p:nvPr>
            <p:ph type="sldNum" sz="quarter" idx="12"/>
          </p:nvPr>
        </p:nvSpPr>
        <p:spPr/>
        <p:txBody>
          <a:bodyPr/>
          <a:lstStyle/>
          <a:p>
            <a:fld id="{B7991F04-3566-4BB1-A8CB-A35BE8E11603}" type="slidenum">
              <a:rPr lang="en-IN" smtClean="0"/>
              <a:t>24</a:t>
            </a:fld>
            <a:endParaRPr lang="en-IN"/>
          </a:p>
        </p:txBody>
      </p:sp>
      <p:sp>
        <p:nvSpPr>
          <p:cNvPr id="6" name="Title 3">
            <a:extLst>
              <a:ext uri="{FF2B5EF4-FFF2-40B4-BE49-F238E27FC236}">
                <a16:creationId xmlns:a16="http://schemas.microsoft.com/office/drawing/2014/main" id="{F9533B69-28C8-4CF0-9808-34788F2ADC90}"/>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Example of Bonds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DB440AD-01D3-43AD-8427-43E46E59C528}"/>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898635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07B1390-2BC1-49F0-8003-213D0CC57965}"/>
              </a:ext>
            </a:extLst>
          </p:cNvPr>
          <p:cNvSpPr>
            <a:spLocks noGrp="1"/>
          </p:cNvSpPr>
          <p:nvPr>
            <p:ph idx="1"/>
          </p:nvPr>
        </p:nvSpPr>
        <p:spPr>
          <a:xfrm>
            <a:off x="679938" y="933207"/>
            <a:ext cx="10673862" cy="3235382"/>
          </a:xfrm>
        </p:spPr>
        <p:txBody>
          <a:bodyPr>
            <a:normAutofit lnSpcReduction="10000"/>
          </a:bodyPr>
          <a:lstStyle/>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When interest rates fall, bond prices rise, and vice versa.</a:t>
            </a:r>
          </a:p>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If a bond is priced above par, the yield is lower than the coupon rate.</a:t>
            </a:r>
          </a:p>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If priced below par, the yield is higher than the coupon rate.</a:t>
            </a:r>
          </a:p>
          <a:p>
            <a:pPr algn="just">
              <a:lnSpc>
                <a:spcPct val="200000"/>
              </a:lnSpc>
              <a:buFont typeface="Arial" panose="020B0604020202020204" pitchFamily="34" charset="0"/>
              <a:buChar char="•"/>
            </a:pPr>
            <a:r>
              <a:rPr lang="en-US" sz="1900" dirty="0">
                <a:solidFill>
                  <a:schemeClr val="accent1">
                    <a:lumMod val="75000"/>
                  </a:schemeClr>
                </a:solidFill>
                <a:latin typeface="Arial" panose="020B0604020202020204" pitchFamily="34" charset="0"/>
                <a:cs typeface="Arial" panose="020B0604020202020204" pitchFamily="34" charset="0"/>
              </a:rPr>
              <a:t>Yield to Maturity (YTM): </a:t>
            </a:r>
            <a:r>
              <a:rPr lang="en-US" sz="1900" dirty="0">
                <a:latin typeface="Arial" panose="020B0604020202020204" pitchFamily="34" charset="0"/>
                <a:cs typeface="Arial" panose="020B0604020202020204" pitchFamily="34" charset="0"/>
              </a:rPr>
              <a:t>The total return expected if held until maturity, including all coupon payments and any capital gain/loss.</a:t>
            </a:r>
          </a:p>
          <a:p>
            <a:pPr marL="0" indent="0" algn="just">
              <a:lnSpc>
                <a:spcPct val="150000"/>
              </a:lnSpc>
              <a:buNone/>
            </a:pPr>
            <a:endParaRPr lang="en-IN" sz="2000" dirty="0"/>
          </a:p>
        </p:txBody>
      </p:sp>
      <p:sp>
        <p:nvSpPr>
          <p:cNvPr id="2" name="Slide Number Placeholder 1">
            <a:extLst>
              <a:ext uri="{FF2B5EF4-FFF2-40B4-BE49-F238E27FC236}">
                <a16:creationId xmlns:a16="http://schemas.microsoft.com/office/drawing/2014/main" id="{1AA4AD33-9388-A96E-EBB6-FCB66742550F}"/>
              </a:ext>
            </a:extLst>
          </p:cNvPr>
          <p:cNvSpPr>
            <a:spLocks noGrp="1"/>
          </p:cNvSpPr>
          <p:nvPr>
            <p:ph type="sldNum" sz="quarter" idx="12"/>
          </p:nvPr>
        </p:nvSpPr>
        <p:spPr/>
        <p:txBody>
          <a:bodyPr/>
          <a:lstStyle/>
          <a:p>
            <a:fld id="{A1DCFAE8-8E9E-42B1-9A81-DFF72612FDA6}" type="slidenum">
              <a:rPr lang="en-IN" smtClean="0"/>
              <a:t>25</a:t>
            </a:fld>
            <a:endParaRPr lang="en-IN" dirty="0"/>
          </a:p>
        </p:txBody>
      </p:sp>
      <p:sp>
        <p:nvSpPr>
          <p:cNvPr id="7" name="Title 3">
            <a:extLst>
              <a:ext uri="{FF2B5EF4-FFF2-40B4-BE49-F238E27FC236}">
                <a16:creationId xmlns:a16="http://schemas.microsoft.com/office/drawing/2014/main" id="{78B82AA8-60E2-4A87-B647-7036668B0C2F}"/>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Bond Pricing and Yield</a:t>
            </a:r>
            <a:endParaRPr lang="en-IN" sz="2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3D90DF9-7777-4E95-8DDA-8E15B1CB60A5}"/>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265206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07B1390-2BC1-49F0-8003-213D0CC57965}"/>
              </a:ext>
            </a:extLst>
          </p:cNvPr>
          <p:cNvSpPr>
            <a:spLocks noGrp="1"/>
          </p:cNvSpPr>
          <p:nvPr>
            <p:ph idx="1"/>
          </p:nvPr>
        </p:nvSpPr>
        <p:spPr>
          <a:xfrm>
            <a:off x="679938" y="933207"/>
            <a:ext cx="10673862" cy="3844982"/>
          </a:xfrm>
        </p:spPr>
        <p:txBody>
          <a:bodyPr>
            <a:normAutofit/>
          </a:bodyPr>
          <a:lstStyle/>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Regular Income</a:t>
            </a:r>
            <a:r>
              <a:rPr lang="en-US" sz="1900" b="1" dirty="0">
                <a:latin typeface="Arial" panose="020B0604020202020204" pitchFamily="34" charset="0"/>
                <a:cs typeface="Arial" panose="020B0604020202020204" pitchFamily="34" charset="0"/>
              </a:rPr>
              <a:t>:</a:t>
            </a:r>
            <a:r>
              <a:rPr lang="en-US" sz="1900" dirty="0">
                <a:latin typeface="Arial" panose="020B0604020202020204" pitchFamily="34" charset="0"/>
                <a:cs typeface="Arial" panose="020B0604020202020204" pitchFamily="34" charset="0"/>
              </a:rPr>
              <a:t> Predictable interest payments.</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Safety: </a:t>
            </a:r>
            <a:r>
              <a:rPr lang="en-US" sz="1900" dirty="0">
                <a:latin typeface="Arial" panose="020B0604020202020204" pitchFamily="34" charset="0"/>
                <a:cs typeface="Arial" panose="020B0604020202020204" pitchFamily="34" charset="0"/>
              </a:rPr>
              <a:t>Especially government and high-grade bonds.</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Diversification: </a:t>
            </a:r>
            <a:r>
              <a:rPr lang="en-US" sz="1900" dirty="0">
                <a:latin typeface="Arial" panose="020B0604020202020204" pitchFamily="34" charset="0"/>
                <a:cs typeface="Arial" panose="020B0604020202020204" pitchFamily="34" charset="0"/>
              </a:rPr>
              <a:t>Bonds balance riskier assets in portfolios.</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Capital Preservation:</a:t>
            </a:r>
            <a:r>
              <a:rPr lang="en-US" sz="1900" dirty="0">
                <a:latin typeface="Arial" panose="020B0604020202020204" pitchFamily="34" charset="0"/>
                <a:cs typeface="Arial" panose="020B0604020202020204" pitchFamily="34" charset="0"/>
              </a:rPr>
              <a:t> Face value repaid at maturity (if no default).</a:t>
            </a:r>
          </a:p>
          <a:p>
            <a:pPr algn="just"/>
            <a:endParaRPr lang="en-IN" sz="2000" dirty="0"/>
          </a:p>
        </p:txBody>
      </p:sp>
      <p:sp>
        <p:nvSpPr>
          <p:cNvPr id="2" name="Slide Number Placeholder 1">
            <a:extLst>
              <a:ext uri="{FF2B5EF4-FFF2-40B4-BE49-F238E27FC236}">
                <a16:creationId xmlns:a16="http://schemas.microsoft.com/office/drawing/2014/main" id="{1AA4AD33-9388-A96E-EBB6-FCB66742550F}"/>
              </a:ext>
            </a:extLst>
          </p:cNvPr>
          <p:cNvSpPr>
            <a:spLocks noGrp="1"/>
          </p:cNvSpPr>
          <p:nvPr>
            <p:ph type="sldNum" sz="quarter" idx="12"/>
          </p:nvPr>
        </p:nvSpPr>
        <p:spPr/>
        <p:txBody>
          <a:bodyPr/>
          <a:lstStyle/>
          <a:p>
            <a:fld id="{A1DCFAE8-8E9E-42B1-9A81-DFF72612FDA6}" type="slidenum">
              <a:rPr lang="en-IN" smtClean="0"/>
              <a:t>26</a:t>
            </a:fld>
            <a:endParaRPr lang="en-IN" dirty="0"/>
          </a:p>
        </p:txBody>
      </p:sp>
      <p:sp>
        <p:nvSpPr>
          <p:cNvPr id="10" name="Title 3">
            <a:extLst>
              <a:ext uri="{FF2B5EF4-FFF2-40B4-BE49-F238E27FC236}">
                <a16:creationId xmlns:a16="http://schemas.microsoft.com/office/drawing/2014/main" id="{70030B98-BF8F-453E-8B1C-E2137CD5466D}"/>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Advantages of Bonds</a:t>
            </a:r>
            <a:endParaRPr lang="en-IN" sz="2400" dirty="0">
              <a:solidFill>
                <a:schemeClr val="tx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DFEBFFA0-9B21-412C-893C-F3B371646230}"/>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497056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497106"/>
            <a:ext cx="10515600" cy="4679857"/>
          </a:xfrm>
        </p:spPr>
        <p:txBody>
          <a:bodyPr/>
          <a:lstStyle/>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Interest Rate Risk: </a:t>
            </a:r>
            <a:r>
              <a:rPr lang="en-US" sz="1900" dirty="0">
                <a:latin typeface="Arial" panose="020B0604020202020204" pitchFamily="34" charset="0"/>
                <a:cs typeface="Arial" panose="020B0604020202020204" pitchFamily="34" charset="0"/>
              </a:rPr>
              <a:t>Bond prices fall when interest rates rise.</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Credit Risk: </a:t>
            </a:r>
            <a:r>
              <a:rPr lang="en-US" sz="1900" dirty="0">
                <a:latin typeface="Arial" panose="020B0604020202020204" pitchFamily="34" charset="0"/>
                <a:cs typeface="Arial" panose="020B0604020202020204" pitchFamily="34" charset="0"/>
              </a:rPr>
              <a:t>Risk of issuer defaulting on payments.</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Inflation Risk: </a:t>
            </a:r>
            <a:r>
              <a:rPr lang="en-US" sz="1900" dirty="0">
                <a:latin typeface="Arial" panose="020B0604020202020204" pitchFamily="34" charset="0"/>
                <a:cs typeface="Arial" panose="020B0604020202020204" pitchFamily="34" charset="0"/>
              </a:rPr>
              <a:t>Fixed payments lose purchasing power.</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Liquidity Risk:</a:t>
            </a:r>
            <a:r>
              <a:rPr lang="en-US" sz="1900" dirty="0">
                <a:latin typeface="Arial" panose="020B0604020202020204" pitchFamily="34" charset="0"/>
                <a:cs typeface="Arial" panose="020B0604020202020204" pitchFamily="34" charset="0"/>
              </a:rPr>
              <a:t> Some bonds are hard to sell quickly without price concessions.</a:t>
            </a:r>
          </a:p>
          <a:p>
            <a:pPr algn="just">
              <a:lnSpc>
                <a:spcPct val="200000"/>
              </a:lnSpc>
            </a:pPr>
            <a:endParaRPr lang="en-US" sz="1900" dirty="0">
              <a:latin typeface="Arial" panose="020B0604020202020204" pitchFamily="34" charset="0"/>
              <a:cs typeface="Arial" panose="020B0604020202020204" pitchFamily="34" charset="0"/>
            </a:endParaRPr>
          </a:p>
        </p:txBody>
      </p:sp>
      <p:pic>
        <p:nvPicPr>
          <p:cNvPr id="8" name="Picture 6" descr="The Main Types of Business Risk | Envato Tuts+">
            <a:extLst>
              <a:ext uri="{FF2B5EF4-FFF2-40B4-BE49-F238E27FC236}">
                <a16:creationId xmlns:a16="http://schemas.microsoft.com/office/drawing/2014/main" id="{988BC07A-4348-474E-AED9-D251203F0B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0819" y="1601964"/>
            <a:ext cx="3859865" cy="205115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D68B70E7-66A7-4E05-9F8E-6B09C7FFA3D0}"/>
              </a:ext>
            </a:extLst>
          </p:cNvPr>
          <p:cNvSpPr>
            <a:spLocks noGrp="1"/>
          </p:cNvSpPr>
          <p:nvPr>
            <p:ph type="sldNum" sz="quarter" idx="12"/>
          </p:nvPr>
        </p:nvSpPr>
        <p:spPr/>
        <p:txBody>
          <a:bodyPr/>
          <a:lstStyle/>
          <a:p>
            <a:fld id="{B7991F04-3566-4BB1-A8CB-A35BE8E11603}" type="slidenum">
              <a:rPr lang="en-IN" smtClean="0"/>
              <a:t>27</a:t>
            </a:fld>
            <a:endParaRPr lang="en-IN"/>
          </a:p>
        </p:txBody>
      </p:sp>
      <p:sp>
        <p:nvSpPr>
          <p:cNvPr id="10" name="Title 3">
            <a:extLst>
              <a:ext uri="{FF2B5EF4-FFF2-40B4-BE49-F238E27FC236}">
                <a16:creationId xmlns:a16="http://schemas.microsoft.com/office/drawing/2014/main" id="{DDD706A5-DE72-4D3E-A6E4-52EE123124E6}"/>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Risks of Bonds</a:t>
            </a:r>
            <a:endParaRPr lang="en-IN" sz="2400" dirty="0">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8E71381-454D-43A7-B014-61F57228A347}"/>
              </a:ext>
            </a:extLst>
          </p:cNvPr>
          <p:cNvPicPr>
            <a:picLocks noChangeAspect="1"/>
          </p:cNvPicPr>
          <p:nvPr/>
        </p:nvPicPr>
        <p:blipFill>
          <a:blip r:embed="rId3"/>
          <a:stretch>
            <a:fillRect/>
          </a:stretch>
        </p:blipFill>
        <p:spPr>
          <a:xfrm>
            <a:off x="11027635" y="51275"/>
            <a:ext cx="966091" cy="746583"/>
          </a:xfrm>
          <a:prstGeom prst="rect">
            <a:avLst/>
          </a:prstGeom>
        </p:spPr>
      </p:pic>
    </p:spTree>
    <p:extLst>
      <p:ext uri="{BB962C8B-B14F-4D97-AF65-F5344CB8AC3E}">
        <p14:creationId xmlns:p14="http://schemas.microsoft.com/office/powerpoint/2010/main" val="402004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497106"/>
            <a:ext cx="10515600" cy="4679857"/>
          </a:xfrm>
        </p:spPr>
        <p:txBody>
          <a:bodyPr/>
          <a:lstStyle/>
          <a:p>
            <a:pPr algn="just">
              <a:lnSpc>
                <a:spcPct val="200000"/>
              </a:lnSpc>
            </a:pPr>
            <a:r>
              <a:rPr lang="en-US" sz="1900" dirty="0">
                <a:latin typeface="Arial" panose="020B0604020202020204" pitchFamily="34" charset="0"/>
                <a:cs typeface="Arial" panose="020B0604020202020204" pitchFamily="34" charset="0"/>
              </a:rPr>
              <a:t>A debenture is a type of debt instrument that companies use to borrow money from the public or investors. It is an unsecured loan certificate, meaning it is not backed by any collateral (assets). Instead, the company’s creditworthiness and reputation back the debenture.</a:t>
            </a:r>
          </a:p>
          <a:p>
            <a:pPr algn="just">
              <a:lnSpc>
                <a:spcPct val="200000"/>
              </a:lnSpc>
            </a:pPr>
            <a:r>
              <a:rPr lang="en-US" sz="1900" dirty="0">
                <a:latin typeface="Arial" panose="020B0604020202020204" pitchFamily="34" charset="0"/>
                <a:cs typeface="Arial" panose="020B0604020202020204" pitchFamily="34" charset="0"/>
              </a:rPr>
              <a:t>In simple terms, when you buy a debenture, you are lending money to the company, which promises to pay back the principal with interest at a specified date.</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8B2F9A9-9E0C-4043-A7A3-6208AA34F96C}"/>
              </a:ext>
            </a:extLst>
          </p:cNvPr>
          <p:cNvSpPr>
            <a:spLocks noGrp="1"/>
          </p:cNvSpPr>
          <p:nvPr>
            <p:ph type="sldNum" sz="quarter" idx="12"/>
          </p:nvPr>
        </p:nvSpPr>
        <p:spPr/>
        <p:txBody>
          <a:bodyPr/>
          <a:lstStyle/>
          <a:p>
            <a:fld id="{B7991F04-3566-4BB1-A8CB-A35BE8E11603}" type="slidenum">
              <a:rPr lang="en-IN" smtClean="0"/>
              <a:t>28</a:t>
            </a:fld>
            <a:endParaRPr lang="en-IN"/>
          </a:p>
        </p:txBody>
      </p:sp>
      <p:sp>
        <p:nvSpPr>
          <p:cNvPr id="6" name="Title 3">
            <a:extLst>
              <a:ext uri="{FF2B5EF4-FFF2-40B4-BE49-F238E27FC236}">
                <a16:creationId xmlns:a16="http://schemas.microsoft.com/office/drawing/2014/main" id="{28641624-3E15-4BBA-A527-1A30FAF3F53D}"/>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What is a Debenture?</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44393834-64B3-4444-85AF-36D1DC50C58E}"/>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991777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748553" y="1056426"/>
            <a:ext cx="10123235" cy="4679857"/>
          </a:xfrm>
        </p:spPr>
        <p:txBody>
          <a:bodyPr/>
          <a:lstStyle/>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Unsecured:</a:t>
            </a:r>
            <a:r>
              <a:rPr lang="en-US" sz="1900" dirty="0">
                <a:latin typeface="Arial" panose="020B0604020202020204" pitchFamily="34" charset="0"/>
                <a:cs typeface="Arial" panose="020B0604020202020204" pitchFamily="34" charset="0"/>
              </a:rPr>
              <a:t> No specific asset is pledged as security.</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Fixed Interest: </a:t>
            </a:r>
            <a:r>
              <a:rPr lang="en-US" sz="1900" dirty="0">
                <a:latin typeface="Arial" panose="020B0604020202020204" pitchFamily="34" charset="0"/>
                <a:cs typeface="Arial" panose="020B0604020202020204" pitchFamily="34" charset="0"/>
              </a:rPr>
              <a:t>Pays fixed or floating rate interest (called coupon).</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Maturity Date: </a:t>
            </a:r>
            <a:r>
              <a:rPr lang="en-US" sz="1900" dirty="0">
                <a:latin typeface="Arial" panose="020B0604020202020204" pitchFamily="34" charset="0"/>
                <a:cs typeface="Arial" panose="020B0604020202020204" pitchFamily="34" charset="0"/>
              </a:rPr>
              <a:t>Principal is repaid on a fixed maturity date.</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Issuer:</a:t>
            </a:r>
            <a:r>
              <a:rPr lang="en-US" sz="1900" dirty="0">
                <a:latin typeface="Arial" panose="020B0604020202020204" pitchFamily="34" charset="0"/>
                <a:cs typeface="Arial" panose="020B0604020202020204" pitchFamily="34" charset="0"/>
              </a:rPr>
              <a:t> Usually issued by companies to raise long-term funds.</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Transferability: </a:t>
            </a:r>
            <a:r>
              <a:rPr lang="en-US" sz="1900" dirty="0">
                <a:latin typeface="Arial" panose="020B0604020202020204" pitchFamily="34" charset="0"/>
                <a:cs typeface="Arial" panose="020B0604020202020204" pitchFamily="34" charset="0"/>
              </a:rPr>
              <a:t>Can be traded on stock exchanges or OTC.</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Credit Risk: </a:t>
            </a:r>
            <a:r>
              <a:rPr lang="en-US" sz="1900" dirty="0">
                <a:latin typeface="Arial" panose="020B0604020202020204" pitchFamily="34" charset="0"/>
                <a:cs typeface="Arial" panose="020B0604020202020204" pitchFamily="34" charset="0"/>
              </a:rPr>
              <a:t>Depends on the issuer’s financial health.</a:t>
            </a:r>
          </a:p>
          <a:p>
            <a:pPr>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Priority:</a:t>
            </a:r>
            <a:r>
              <a:rPr lang="en-US" sz="1900" dirty="0">
                <a:latin typeface="Arial" panose="020B0604020202020204" pitchFamily="34" charset="0"/>
                <a:cs typeface="Arial" panose="020B0604020202020204" pitchFamily="34" charset="0"/>
              </a:rPr>
              <a:t> Debenture holders have priority over equity shareholders, but after secured creditors in liquidation.</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D2B10F27-ADB3-4621-ACD5-B32AED85AC3E}"/>
              </a:ext>
            </a:extLst>
          </p:cNvPr>
          <p:cNvSpPr>
            <a:spLocks noGrp="1"/>
          </p:cNvSpPr>
          <p:nvPr>
            <p:ph type="sldNum" sz="quarter" idx="12"/>
          </p:nvPr>
        </p:nvSpPr>
        <p:spPr/>
        <p:txBody>
          <a:bodyPr/>
          <a:lstStyle/>
          <a:p>
            <a:fld id="{B7991F04-3566-4BB1-A8CB-A35BE8E11603}" type="slidenum">
              <a:rPr lang="en-IN" smtClean="0"/>
              <a:t>29</a:t>
            </a:fld>
            <a:endParaRPr lang="en-IN"/>
          </a:p>
        </p:txBody>
      </p:sp>
      <p:sp>
        <p:nvSpPr>
          <p:cNvPr id="6" name="Title 3">
            <a:extLst>
              <a:ext uri="{FF2B5EF4-FFF2-40B4-BE49-F238E27FC236}">
                <a16:creationId xmlns:a16="http://schemas.microsoft.com/office/drawing/2014/main" id="{8E85ED1A-CCF0-4D57-AF47-C05A3D1CCA87}"/>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Key Features of Debentures?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9DD2DE5-877A-49BA-85C4-BCB2289F924A}"/>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691985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748553" y="1013012"/>
            <a:ext cx="10123235" cy="4679857"/>
          </a:xfrm>
        </p:spPr>
        <p:txBody>
          <a:bodyPr>
            <a:normAutofit fontScale="92500" lnSpcReduction="20000"/>
          </a:bodyPr>
          <a:lstStyle/>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1. Convertible Debentures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Can be converted into equity shares of the issuing company after a specified period or under certain conditions.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Offers investors potential upside if the company performs well.</a:t>
            </a:r>
          </a:p>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2. Non-Convertible Debentures (NCDs)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Cannot be converted into equity shares.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Typically offer higher interest rates to compensate for the lack of a conversion feature.</a:t>
            </a:r>
          </a:p>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3. Secured Debentures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Though debentures are generally unsecured, sometimes companies issue secured debentures backed by assets.</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10AD139-3401-4DE0-BEF3-81DD0584969A}"/>
              </a:ext>
            </a:extLst>
          </p:cNvPr>
          <p:cNvSpPr>
            <a:spLocks noGrp="1"/>
          </p:cNvSpPr>
          <p:nvPr>
            <p:ph type="sldNum" sz="quarter" idx="12"/>
          </p:nvPr>
        </p:nvSpPr>
        <p:spPr/>
        <p:txBody>
          <a:bodyPr/>
          <a:lstStyle/>
          <a:p>
            <a:fld id="{B7991F04-3566-4BB1-A8CB-A35BE8E11603}" type="slidenum">
              <a:rPr lang="en-IN" smtClean="0"/>
              <a:t>30</a:t>
            </a:fld>
            <a:endParaRPr lang="en-IN"/>
          </a:p>
        </p:txBody>
      </p:sp>
      <p:sp>
        <p:nvSpPr>
          <p:cNvPr id="6" name="Title 3">
            <a:extLst>
              <a:ext uri="{FF2B5EF4-FFF2-40B4-BE49-F238E27FC236}">
                <a16:creationId xmlns:a16="http://schemas.microsoft.com/office/drawing/2014/main" id="{E7ED259C-A885-4976-9840-4C9F22FCF5E1}"/>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Debentures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DCBC877-81A8-4C5A-B14F-BCB085E40104}"/>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069730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748553" y="824753"/>
            <a:ext cx="10515600" cy="4679857"/>
          </a:xfrm>
        </p:spPr>
        <p:txBody>
          <a:bodyPr/>
          <a:lstStyle/>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4. Unsecured Debentures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Most common form, without asset backing.</a:t>
            </a:r>
          </a:p>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5. Redeemable and Irredeemable Debentures</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Redeemable: Has a maturity date when principal is repaid.</a:t>
            </a:r>
          </a:p>
          <a:p>
            <a:pPr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Irredeemable (Perpetual): No fixed maturity date; pays interest indefinitely</a:t>
            </a:r>
            <a:r>
              <a:rPr lang="en-US" sz="1400" dirty="0"/>
              <a:t>.</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ACE85668-2DF1-49D7-AD65-D3B0D51F9AD6}"/>
              </a:ext>
            </a:extLst>
          </p:cNvPr>
          <p:cNvSpPr>
            <a:spLocks noGrp="1"/>
          </p:cNvSpPr>
          <p:nvPr>
            <p:ph type="sldNum" sz="quarter" idx="12"/>
          </p:nvPr>
        </p:nvSpPr>
        <p:spPr/>
        <p:txBody>
          <a:bodyPr/>
          <a:lstStyle/>
          <a:p>
            <a:fld id="{B7991F04-3566-4BB1-A8CB-A35BE8E11603}" type="slidenum">
              <a:rPr lang="en-IN" smtClean="0"/>
              <a:t>31</a:t>
            </a:fld>
            <a:endParaRPr lang="en-IN"/>
          </a:p>
        </p:txBody>
      </p:sp>
      <p:sp>
        <p:nvSpPr>
          <p:cNvPr id="6" name="Title 3">
            <a:extLst>
              <a:ext uri="{FF2B5EF4-FFF2-40B4-BE49-F238E27FC236}">
                <a16:creationId xmlns:a16="http://schemas.microsoft.com/office/drawing/2014/main" id="{BD9E2C40-8B96-412E-BEC1-DAF6F4F35E92}"/>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Debentures</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607C4AF7-C03B-4B7B-9711-77CD7C5F1462}"/>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4125575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748553" y="1013012"/>
            <a:ext cx="10515600" cy="4679857"/>
          </a:xfrm>
        </p:spPr>
        <p:txBody>
          <a:bodyPr/>
          <a:lstStyle/>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The company issues debentures to raise capital.</a:t>
            </a:r>
          </a:p>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Investors buy debentures and receive regular interest payments (coupons).</a:t>
            </a:r>
          </a:p>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At maturity, the company repays the principal amount.</a:t>
            </a:r>
          </a:p>
          <a:p>
            <a:pPr algn="just">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If the company defaults, debenture holders have a claim on assets (after secured creditors).</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A312DFB-5DA9-44C9-88B9-81066B7F5017}"/>
              </a:ext>
            </a:extLst>
          </p:cNvPr>
          <p:cNvSpPr>
            <a:spLocks noGrp="1"/>
          </p:cNvSpPr>
          <p:nvPr>
            <p:ph type="sldNum" sz="quarter" idx="12"/>
          </p:nvPr>
        </p:nvSpPr>
        <p:spPr/>
        <p:txBody>
          <a:bodyPr/>
          <a:lstStyle/>
          <a:p>
            <a:fld id="{B7991F04-3566-4BB1-A8CB-A35BE8E11603}" type="slidenum">
              <a:rPr lang="en-IN" smtClean="0"/>
              <a:t>32</a:t>
            </a:fld>
            <a:endParaRPr lang="en-IN"/>
          </a:p>
        </p:txBody>
      </p:sp>
      <p:sp>
        <p:nvSpPr>
          <p:cNvPr id="6" name="Title 3">
            <a:extLst>
              <a:ext uri="{FF2B5EF4-FFF2-40B4-BE49-F238E27FC236}">
                <a16:creationId xmlns:a16="http://schemas.microsoft.com/office/drawing/2014/main" id="{B35397F6-81DF-43F6-8019-A32EC23D05FE}"/>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How  Debenture Work?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644113F-D883-4404-AE41-0391F9053475}"/>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626677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A67EB6-05C1-4295-9A80-E39166981DE6}"/>
              </a:ext>
            </a:extLst>
          </p:cNvPr>
          <p:cNvSpPr>
            <a:spLocks noGrp="1"/>
          </p:cNvSpPr>
          <p:nvPr>
            <p:ph idx="1"/>
          </p:nvPr>
        </p:nvSpPr>
        <p:spPr>
          <a:xfrm>
            <a:off x="748553" y="1280730"/>
            <a:ext cx="10123235" cy="4823292"/>
          </a:xfrm>
        </p:spPr>
        <p:txBody>
          <a:bodyPr/>
          <a:lstStyle/>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For Companies: </a:t>
            </a:r>
            <a:r>
              <a:rPr lang="en-US" sz="1900" dirty="0">
                <a:latin typeface="Arial" panose="020B0604020202020204" pitchFamily="34" charset="0"/>
                <a:cs typeface="Arial" panose="020B0604020202020204" pitchFamily="34" charset="0"/>
              </a:rPr>
              <a:t>Easier to raise funds without diluting ownership.</a:t>
            </a:r>
          </a:p>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For Investors: </a:t>
            </a:r>
            <a:r>
              <a:rPr lang="en-US" sz="1900" dirty="0">
                <a:latin typeface="Arial" panose="020B0604020202020204" pitchFamily="34" charset="0"/>
                <a:cs typeface="Arial" panose="020B0604020202020204" pitchFamily="34" charset="0"/>
              </a:rPr>
              <a:t>Regular income through interest payments.</a:t>
            </a:r>
          </a:p>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Tradable:</a:t>
            </a:r>
            <a:r>
              <a:rPr lang="en-US" sz="1900" dirty="0">
                <a:latin typeface="Arial" panose="020B0604020202020204" pitchFamily="34" charset="0"/>
                <a:cs typeface="Arial" panose="020B0604020202020204" pitchFamily="34" charset="0"/>
              </a:rPr>
              <a:t> Many debentures can be sold in secondary markets.</a:t>
            </a:r>
          </a:p>
          <a:p>
            <a:pPr algn="just">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Priority: </a:t>
            </a:r>
            <a:r>
              <a:rPr lang="en-US" sz="1900" dirty="0">
                <a:latin typeface="Arial" panose="020B0604020202020204" pitchFamily="34" charset="0"/>
                <a:cs typeface="Arial" panose="020B0604020202020204" pitchFamily="34" charset="0"/>
              </a:rPr>
              <a:t>Debenture holders have priority over shareholders in liquidation.</a:t>
            </a:r>
          </a:p>
          <a:p>
            <a:endParaRPr lang="en-IN" dirty="0"/>
          </a:p>
        </p:txBody>
      </p:sp>
      <p:sp>
        <p:nvSpPr>
          <p:cNvPr id="2" name="Slide Number Placeholder 1">
            <a:extLst>
              <a:ext uri="{FF2B5EF4-FFF2-40B4-BE49-F238E27FC236}">
                <a16:creationId xmlns:a16="http://schemas.microsoft.com/office/drawing/2014/main" id="{17B44967-8FFF-4B44-B3E1-F034294ABA71}"/>
              </a:ext>
            </a:extLst>
          </p:cNvPr>
          <p:cNvSpPr>
            <a:spLocks noGrp="1"/>
          </p:cNvSpPr>
          <p:nvPr>
            <p:ph type="sldNum" sz="quarter" idx="12"/>
          </p:nvPr>
        </p:nvSpPr>
        <p:spPr/>
        <p:txBody>
          <a:bodyPr/>
          <a:lstStyle/>
          <a:p>
            <a:fld id="{B7991F04-3566-4BB1-A8CB-A35BE8E11603}" type="slidenum">
              <a:rPr lang="en-IN" smtClean="0"/>
              <a:t>33</a:t>
            </a:fld>
            <a:endParaRPr lang="en-IN"/>
          </a:p>
        </p:txBody>
      </p:sp>
      <p:sp>
        <p:nvSpPr>
          <p:cNvPr id="6" name="Title 3">
            <a:extLst>
              <a:ext uri="{FF2B5EF4-FFF2-40B4-BE49-F238E27FC236}">
                <a16:creationId xmlns:a16="http://schemas.microsoft.com/office/drawing/2014/main" id="{32A55AD2-9140-4FB8-B9D8-456601881322}"/>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Advantages of  Debenture</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F453A17D-9509-4E25-B6E4-603DC9D162AD}"/>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41263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23C14B-DC5F-4A1C-9BA2-61DB08CD9C65}"/>
              </a:ext>
            </a:extLst>
          </p:cNvPr>
          <p:cNvSpPr>
            <a:spLocks noGrp="1"/>
          </p:cNvSpPr>
          <p:nvPr>
            <p:ph idx="1"/>
          </p:nvPr>
        </p:nvSpPr>
        <p:spPr>
          <a:xfrm>
            <a:off x="748553" y="1377390"/>
            <a:ext cx="10515600" cy="4351338"/>
          </a:xfrm>
        </p:spPr>
        <p:txBody>
          <a:bodyPr/>
          <a:lstStyle/>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Credit Risk: </a:t>
            </a:r>
            <a:r>
              <a:rPr lang="en-US" sz="1900" dirty="0">
                <a:latin typeface="Arial" panose="020B0604020202020204" pitchFamily="34" charset="0"/>
                <a:cs typeface="Arial" panose="020B0604020202020204" pitchFamily="34" charset="0"/>
              </a:rPr>
              <a:t>Possibility of issuer default.</a:t>
            </a:r>
          </a:p>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Interest Rate Risk: </a:t>
            </a:r>
            <a:r>
              <a:rPr lang="en-US" sz="1900" dirty="0">
                <a:latin typeface="Arial" panose="020B0604020202020204" pitchFamily="34" charset="0"/>
                <a:cs typeface="Arial" panose="020B0604020202020204" pitchFamily="34" charset="0"/>
              </a:rPr>
              <a:t>Prices of debentures fall when interest rates rise.</a:t>
            </a:r>
          </a:p>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Liquidity Risk: </a:t>
            </a:r>
            <a:r>
              <a:rPr lang="en-US" sz="1900" dirty="0">
                <a:latin typeface="Arial" panose="020B0604020202020204" pitchFamily="34" charset="0"/>
                <a:cs typeface="Arial" panose="020B0604020202020204" pitchFamily="34" charset="0"/>
              </a:rPr>
              <a:t>Some debentures may be hard to sell.</a:t>
            </a:r>
          </a:p>
          <a:p>
            <a:pPr>
              <a:lnSpc>
                <a:spcPct val="20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No Ownership: </a:t>
            </a:r>
            <a:r>
              <a:rPr lang="en-US" sz="1900" dirty="0">
                <a:latin typeface="Arial" panose="020B0604020202020204" pitchFamily="34" charset="0"/>
                <a:cs typeface="Arial" panose="020B0604020202020204" pitchFamily="34" charset="0"/>
              </a:rPr>
              <a:t>Debenture holders do not get voting rights or ownership</a:t>
            </a:r>
          </a:p>
          <a:p>
            <a:endParaRPr lang="en-IN" dirty="0"/>
          </a:p>
        </p:txBody>
      </p:sp>
      <p:sp>
        <p:nvSpPr>
          <p:cNvPr id="2" name="Slide Number Placeholder 1">
            <a:extLst>
              <a:ext uri="{FF2B5EF4-FFF2-40B4-BE49-F238E27FC236}">
                <a16:creationId xmlns:a16="http://schemas.microsoft.com/office/drawing/2014/main" id="{2D5C4431-8D22-4D79-B869-EB2E4D127FDD}"/>
              </a:ext>
            </a:extLst>
          </p:cNvPr>
          <p:cNvSpPr>
            <a:spLocks noGrp="1"/>
          </p:cNvSpPr>
          <p:nvPr>
            <p:ph type="sldNum" sz="quarter" idx="12"/>
          </p:nvPr>
        </p:nvSpPr>
        <p:spPr/>
        <p:txBody>
          <a:bodyPr/>
          <a:lstStyle/>
          <a:p>
            <a:fld id="{B7991F04-3566-4BB1-A8CB-A35BE8E11603}" type="slidenum">
              <a:rPr lang="en-IN" smtClean="0"/>
              <a:t>34</a:t>
            </a:fld>
            <a:endParaRPr lang="en-IN"/>
          </a:p>
        </p:txBody>
      </p:sp>
      <p:sp>
        <p:nvSpPr>
          <p:cNvPr id="6" name="Title 3">
            <a:extLst>
              <a:ext uri="{FF2B5EF4-FFF2-40B4-BE49-F238E27FC236}">
                <a16:creationId xmlns:a16="http://schemas.microsoft.com/office/drawing/2014/main" id="{0BC643D3-97BA-4A1B-825F-B2770124C1A2}"/>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Risks of Debenture</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CB6A24BE-1DE8-4CD7-A9CB-AA78EB924129}"/>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053241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CF0707EB-84B7-4F6A-8607-3B00A0FB72B1}"/>
              </a:ext>
            </a:extLst>
          </p:cNvPr>
          <p:cNvGraphicFramePr>
            <a:graphicFrameLocks noGrp="1"/>
          </p:cNvGraphicFramePr>
          <p:nvPr>
            <p:ph idx="1"/>
            <p:extLst>
              <p:ext uri="{D42A27DB-BD31-4B8C-83A1-F6EECF244321}">
                <p14:modId xmlns:p14="http://schemas.microsoft.com/office/powerpoint/2010/main" val="1227757300"/>
              </p:ext>
            </p:extLst>
          </p:nvPr>
        </p:nvGraphicFramePr>
        <p:xfrm>
          <a:off x="842682" y="999560"/>
          <a:ext cx="10511118" cy="4746816"/>
        </p:xfrm>
        <a:graphic>
          <a:graphicData uri="http://schemas.openxmlformats.org/drawingml/2006/table">
            <a:tbl>
              <a:tblPr/>
              <a:tblGrid>
                <a:gridCol w="3500718">
                  <a:extLst>
                    <a:ext uri="{9D8B030D-6E8A-4147-A177-3AD203B41FA5}">
                      <a16:colId xmlns:a16="http://schemas.microsoft.com/office/drawing/2014/main" val="4199419521"/>
                    </a:ext>
                  </a:extLst>
                </a:gridCol>
                <a:gridCol w="3505200">
                  <a:extLst>
                    <a:ext uri="{9D8B030D-6E8A-4147-A177-3AD203B41FA5}">
                      <a16:colId xmlns:a16="http://schemas.microsoft.com/office/drawing/2014/main" val="1207103433"/>
                    </a:ext>
                  </a:extLst>
                </a:gridCol>
                <a:gridCol w="3505200">
                  <a:extLst>
                    <a:ext uri="{9D8B030D-6E8A-4147-A177-3AD203B41FA5}">
                      <a16:colId xmlns:a16="http://schemas.microsoft.com/office/drawing/2014/main" val="201729058"/>
                    </a:ext>
                  </a:extLst>
                </a:gridCol>
              </a:tblGrid>
              <a:tr h="791136">
                <a:tc>
                  <a:txBody>
                    <a:bodyPr/>
                    <a:lstStyle/>
                    <a:p>
                      <a:r>
                        <a:rPr lang="en-IN" sz="1900" b="0" dirty="0">
                          <a:solidFill>
                            <a:schemeClr val="accent1"/>
                          </a:solidFill>
                          <a:latin typeface="Arial" panose="020B0604020202020204" pitchFamily="34" charset="0"/>
                          <a:cs typeface="Arial" panose="020B0604020202020204" pitchFamily="34" charset="0"/>
                        </a:rPr>
                        <a:t>Point of Comparison</a:t>
                      </a:r>
                    </a:p>
                  </a:txBody>
                  <a:tcPr anchor="ctr">
                    <a:lnL>
                      <a:noFill/>
                    </a:lnL>
                    <a:lnR>
                      <a:noFill/>
                    </a:lnR>
                    <a:lnT>
                      <a:noFill/>
                    </a:lnT>
                    <a:lnB>
                      <a:noFill/>
                    </a:lnB>
                  </a:tcPr>
                </a:tc>
                <a:tc>
                  <a:txBody>
                    <a:bodyPr/>
                    <a:lstStyle/>
                    <a:p>
                      <a:r>
                        <a:rPr lang="en-IN" sz="1900" b="0" dirty="0">
                          <a:solidFill>
                            <a:schemeClr val="accent1"/>
                          </a:solidFill>
                          <a:latin typeface="Arial" panose="020B0604020202020204" pitchFamily="34" charset="0"/>
                          <a:cs typeface="Arial" panose="020B0604020202020204" pitchFamily="34" charset="0"/>
                        </a:rPr>
                        <a:t>Bonds</a:t>
                      </a:r>
                    </a:p>
                  </a:txBody>
                  <a:tcPr anchor="ctr">
                    <a:lnL>
                      <a:noFill/>
                    </a:lnL>
                    <a:lnR>
                      <a:noFill/>
                    </a:lnR>
                    <a:lnT>
                      <a:noFill/>
                    </a:lnT>
                    <a:lnB>
                      <a:noFill/>
                    </a:lnB>
                  </a:tcPr>
                </a:tc>
                <a:tc>
                  <a:txBody>
                    <a:bodyPr/>
                    <a:lstStyle/>
                    <a:p>
                      <a:r>
                        <a:rPr lang="en-IN" sz="1900" b="0" dirty="0">
                          <a:solidFill>
                            <a:schemeClr val="accent1"/>
                          </a:solidFill>
                          <a:latin typeface="Arial" panose="020B0604020202020204" pitchFamily="34" charset="0"/>
                          <a:cs typeface="Arial" panose="020B0604020202020204" pitchFamily="34" charset="0"/>
                        </a:rPr>
                        <a:t>Debentures</a:t>
                      </a:r>
                    </a:p>
                  </a:txBody>
                  <a:tcPr anchor="ctr">
                    <a:lnL>
                      <a:noFill/>
                    </a:lnL>
                    <a:lnR>
                      <a:noFill/>
                    </a:lnR>
                    <a:lnT>
                      <a:noFill/>
                    </a:lnT>
                    <a:lnB>
                      <a:noFill/>
                    </a:lnB>
                  </a:tcPr>
                </a:tc>
                <a:extLst>
                  <a:ext uri="{0D108BD9-81ED-4DB2-BD59-A6C34878D82A}">
                    <a16:rowId xmlns:a16="http://schemas.microsoft.com/office/drawing/2014/main" val="4167900056"/>
                  </a:ext>
                </a:extLst>
              </a:tr>
              <a:tr h="791136">
                <a:tc>
                  <a:txBody>
                    <a:bodyPr/>
                    <a:lstStyle/>
                    <a:p>
                      <a:r>
                        <a:rPr lang="en-IN" sz="1900" dirty="0">
                          <a:latin typeface="Arial" panose="020B0604020202020204" pitchFamily="34" charset="0"/>
                          <a:cs typeface="Arial" panose="020B0604020202020204" pitchFamily="34" charset="0"/>
                        </a:rPr>
                        <a:t>Definition</a:t>
                      </a:r>
                    </a:p>
                  </a:txBody>
                  <a:tcPr anchor="ctr">
                    <a:lnL>
                      <a:noFill/>
                    </a:lnL>
                    <a:lnR>
                      <a:noFill/>
                    </a:lnR>
                    <a:lnT>
                      <a:noFill/>
                    </a:lnT>
                    <a:lnB>
                      <a:noFill/>
                    </a:lnB>
                  </a:tcPr>
                </a:tc>
                <a:tc>
                  <a:txBody>
                    <a:bodyPr/>
                    <a:lstStyle/>
                    <a:p>
                      <a:r>
                        <a:rPr lang="en-IN" sz="1900" dirty="0">
                          <a:latin typeface="Arial" panose="020B0604020202020204" pitchFamily="34" charset="0"/>
                          <a:cs typeface="Arial" panose="020B0604020202020204" pitchFamily="34" charset="0"/>
                        </a:rPr>
                        <a:t>Debt secured by assets</a:t>
                      </a:r>
                    </a:p>
                  </a:txBody>
                  <a:tcPr anchor="ctr">
                    <a:lnL>
                      <a:noFill/>
                    </a:lnL>
                    <a:lnR>
                      <a:noFill/>
                    </a:lnR>
                    <a:lnT>
                      <a:noFill/>
                    </a:lnT>
                    <a:lnB>
                      <a:noFill/>
                    </a:lnB>
                  </a:tcPr>
                </a:tc>
                <a:tc>
                  <a:txBody>
                    <a:bodyPr/>
                    <a:lstStyle/>
                    <a:p>
                      <a:r>
                        <a:rPr lang="en-IN" sz="1900">
                          <a:latin typeface="Arial" panose="020B0604020202020204" pitchFamily="34" charset="0"/>
                          <a:cs typeface="Arial" panose="020B0604020202020204" pitchFamily="34" charset="0"/>
                        </a:rPr>
                        <a:t>Unsecured corporate debt</a:t>
                      </a:r>
                    </a:p>
                  </a:txBody>
                  <a:tcPr anchor="ctr">
                    <a:lnL>
                      <a:noFill/>
                    </a:lnL>
                    <a:lnR>
                      <a:noFill/>
                    </a:lnR>
                    <a:lnT>
                      <a:noFill/>
                    </a:lnT>
                    <a:lnB>
                      <a:noFill/>
                    </a:lnB>
                  </a:tcPr>
                </a:tc>
                <a:extLst>
                  <a:ext uri="{0D108BD9-81ED-4DB2-BD59-A6C34878D82A}">
                    <a16:rowId xmlns:a16="http://schemas.microsoft.com/office/drawing/2014/main" val="1736362519"/>
                  </a:ext>
                </a:extLst>
              </a:tr>
              <a:tr h="791136">
                <a:tc>
                  <a:txBody>
                    <a:bodyPr/>
                    <a:lstStyle/>
                    <a:p>
                      <a:r>
                        <a:rPr lang="en-IN" sz="1900">
                          <a:latin typeface="Arial" panose="020B0604020202020204" pitchFamily="34" charset="0"/>
                          <a:cs typeface="Arial" panose="020B0604020202020204" pitchFamily="34" charset="0"/>
                        </a:rPr>
                        <a:t>Security</a:t>
                      </a:r>
                    </a:p>
                  </a:txBody>
                  <a:tcPr anchor="ctr">
                    <a:lnL>
                      <a:noFill/>
                    </a:lnL>
                    <a:lnR>
                      <a:noFill/>
                    </a:lnR>
                    <a:lnT>
                      <a:noFill/>
                    </a:lnT>
                    <a:lnB>
                      <a:noFill/>
                    </a:lnB>
                  </a:tcPr>
                </a:tc>
                <a:tc>
                  <a:txBody>
                    <a:bodyPr/>
                    <a:lstStyle/>
                    <a:p>
                      <a:r>
                        <a:rPr lang="en-IN" sz="1900" dirty="0">
                          <a:latin typeface="Arial" panose="020B0604020202020204" pitchFamily="34" charset="0"/>
                          <a:cs typeface="Arial" panose="020B0604020202020204" pitchFamily="34" charset="0"/>
                        </a:rPr>
                        <a:t>Backed by collateral</a:t>
                      </a:r>
                    </a:p>
                  </a:txBody>
                  <a:tcPr anchor="ctr">
                    <a:lnL>
                      <a:noFill/>
                    </a:lnL>
                    <a:lnR>
                      <a:noFill/>
                    </a:lnR>
                    <a:lnT>
                      <a:noFill/>
                    </a:lnT>
                    <a:lnB>
                      <a:noFill/>
                    </a:lnB>
                  </a:tcPr>
                </a:tc>
                <a:tc>
                  <a:txBody>
                    <a:bodyPr/>
                    <a:lstStyle/>
                    <a:p>
                      <a:r>
                        <a:rPr lang="en-IN" sz="1900" dirty="0">
                          <a:latin typeface="Arial" panose="020B0604020202020204" pitchFamily="34" charset="0"/>
                          <a:cs typeface="Arial" panose="020B0604020202020204" pitchFamily="34" charset="0"/>
                        </a:rPr>
                        <a:t>Not backed by collateral</a:t>
                      </a:r>
                    </a:p>
                  </a:txBody>
                  <a:tcPr anchor="ctr">
                    <a:lnL>
                      <a:noFill/>
                    </a:lnL>
                    <a:lnR>
                      <a:noFill/>
                    </a:lnR>
                    <a:lnT>
                      <a:noFill/>
                    </a:lnT>
                    <a:lnB>
                      <a:noFill/>
                    </a:lnB>
                  </a:tcPr>
                </a:tc>
                <a:extLst>
                  <a:ext uri="{0D108BD9-81ED-4DB2-BD59-A6C34878D82A}">
                    <a16:rowId xmlns:a16="http://schemas.microsoft.com/office/drawing/2014/main" val="2408110509"/>
                  </a:ext>
                </a:extLst>
              </a:tr>
              <a:tr h="791136">
                <a:tc>
                  <a:txBody>
                    <a:bodyPr/>
                    <a:lstStyle/>
                    <a:p>
                      <a:r>
                        <a:rPr lang="en-IN" sz="1900">
                          <a:latin typeface="Arial" panose="020B0604020202020204" pitchFamily="34" charset="0"/>
                          <a:cs typeface="Arial" panose="020B0604020202020204" pitchFamily="34" charset="0"/>
                        </a:rPr>
                        <a:t>Issuer</a:t>
                      </a:r>
                    </a:p>
                  </a:txBody>
                  <a:tcPr anchor="ctr">
                    <a:lnL>
                      <a:noFill/>
                    </a:lnL>
                    <a:lnR>
                      <a:noFill/>
                    </a:lnR>
                    <a:lnT>
                      <a:noFill/>
                    </a:lnT>
                    <a:lnB>
                      <a:noFill/>
                    </a:lnB>
                  </a:tcPr>
                </a:tc>
                <a:tc>
                  <a:txBody>
                    <a:bodyPr/>
                    <a:lstStyle/>
                    <a:p>
                      <a:r>
                        <a:rPr lang="en-IN" sz="1900">
                          <a:latin typeface="Arial" panose="020B0604020202020204" pitchFamily="34" charset="0"/>
                          <a:cs typeface="Arial" panose="020B0604020202020204" pitchFamily="34" charset="0"/>
                        </a:rPr>
                        <a:t>Government or corporations</a:t>
                      </a:r>
                    </a:p>
                  </a:txBody>
                  <a:tcPr anchor="ctr">
                    <a:lnL>
                      <a:noFill/>
                    </a:lnL>
                    <a:lnR>
                      <a:noFill/>
                    </a:lnR>
                    <a:lnT>
                      <a:noFill/>
                    </a:lnT>
                    <a:lnB>
                      <a:noFill/>
                    </a:lnB>
                  </a:tcPr>
                </a:tc>
                <a:tc>
                  <a:txBody>
                    <a:bodyPr/>
                    <a:lstStyle/>
                    <a:p>
                      <a:r>
                        <a:rPr lang="en-IN" sz="1900" dirty="0">
                          <a:latin typeface="Arial" panose="020B0604020202020204" pitchFamily="34" charset="0"/>
                          <a:cs typeface="Arial" panose="020B0604020202020204" pitchFamily="34" charset="0"/>
                        </a:rPr>
                        <a:t>Only corporations</a:t>
                      </a:r>
                    </a:p>
                  </a:txBody>
                  <a:tcPr anchor="ctr">
                    <a:lnL>
                      <a:noFill/>
                    </a:lnL>
                    <a:lnR>
                      <a:noFill/>
                    </a:lnR>
                    <a:lnT>
                      <a:noFill/>
                    </a:lnT>
                    <a:lnB>
                      <a:noFill/>
                    </a:lnB>
                  </a:tcPr>
                </a:tc>
                <a:extLst>
                  <a:ext uri="{0D108BD9-81ED-4DB2-BD59-A6C34878D82A}">
                    <a16:rowId xmlns:a16="http://schemas.microsoft.com/office/drawing/2014/main" val="2879533354"/>
                  </a:ext>
                </a:extLst>
              </a:tr>
              <a:tr h="791136">
                <a:tc>
                  <a:txBody>
                    <a:bodyPr/>
                    <a:lstStyle/>
                    <a:p>
                      <a:r>
                        <a:rPr lang="en-IN" sz="1900">
                          <a:latin typeface="Arial" panose="020B0604020202020204" pitchFamily="34" charset="0"/>
                          <a:cs typeface="Arial" panose="020B0604020202020204" pitchFamily="34" charset="0"/>
                        </a:rPr>
                        <a:t>Risk Level</a:t>
                      </a:r>
                    </a:p>
                  </a:txBody>
                  <a:tcPr anchor="ctr">
                    <a:lnL>
                      <a:noFill/>
                    </a:lnL>
                    <a:lnR>
                      <a:noFill/>
                    </a:lnR>
                    <a:lnT>
                      <a:noFill/>
                    </a:lnT>
                    <a:lnB>
                      <a:noFill/>
                    </a:lnB>
                  </a:tcPr>
                </a:tc>
                <a:tc>
                  <a:txBody>
                    <a:bodyPr/>
                    <a:lstStyle/>
                    <a:p>
                      <a:r>
                        <a:rPr lang="en-IN" sz="1900">
                          <a:latin typeface="Arial" panose="020B0604020202020204" pitchFamily="34" charset="0"/>
                          <a:cs typeface="Arial" panose="020B0604020202020204" pitchFamily="34" charset="0"/>
                        </a:rPr>
                        <a:t>Lower risk</a:t>
                      </a:r>
                    </a:p>
                  </a:txBody>
                  <a:tcPr anchor="ctr">
                    <a:lnL>
                      <a:noFill/>
                    </a:lnL>
                    <a:lnR>
                      <a:noFill/>
                    </a:lnR>
                    <a:lnT>
                      <a:noFill/>
                    </a:lnT>
                    <a:lnB>
                      <a:noFill/>
                    </a:lnB>
                  </a:tcPr>
                </a:tc>
                <a:tc>
                  <a:txBody>
                    <a:bodyPr/>
                    <a:lstStyle/>
                    <a:p>
                      <a:r>
                        <a:rPr lang="en-IN" sz="1900" dirty="0">
                          <a:latin typeface="Arial" panose="020B0604020202020204" pitchFamily="34" charset="0"/>
                          <a:cs typeface="Arial" panose="020B0604020202020204" pitchFamily="34" charset="0"/>
                        </a:rPr>
                        <a:t>Higher risk</a:t>
                      </a:r>
                    </a:p>
                  </a:txBody>
                  <a:tcPr anchor="ctr">
                    <a:lnL>
                      <a:noFill/>
                    </a:lnL>
                    <a:lnR>
                      <a:noFill/>
                    </a:lnR>
                    <a:lnT>
                      <a:noFill/>
                    </a:lnT>
                    <a:lnB>
                      <a:noFill/>
                    </a:lnB>
                  </a:tcPr>
                </a:tc>
                <a:extLst>
                  <a:ext uri="{0D108BD9-81ED-4DB2-BD59-A6C34878D82A}">
                    <a16:rowId xmlns:a16="http://schemas.microsoft.com/office/drawing/2014/main" val="2516992504"/>
                  </a:ext>
                </a:extLst>
              </a:tr>
              <a:tr h="791136">
                <a:tc>
                  <a:txBody>
                    <a:bodyPr/>
                    <a:lstStyle/>
                    <a:p>
                      <a:r>
                        <a:rPr lang="en-IN" sz="1900">
                          <a:latin typeface="Arial" panose="020B0604020202020204" pitchFamily="34" charset="0"/>
                          <a:cs typeface="Arial" panose="020B0604020202020204" pitchFamily="34" charset="0"/>
                        </a:rPr>
                        <a:t>Interest Rate</a:t>
                      </a:r>
                    </a:p>
                  </a:txBody>
                  <a:tcPr anchor="ctr">
                    <a:lnL>
                      <a:noFill/>
                    </a:lnL>
                    <a:lnR>
                      <a:noFill/>
                    </a:lnR>
                    <a:lnT>
                      <a:noFill/>
                    </a:lnT>
                    <a:lnB>
                      <a:noFill/>
                    </a:lnB>
                  </a:tcPr>
                </a:tc>
                <a:tc>
                  <a:txBody>
                    <a:bodyPr/>
                    <a:lstStyle/>
                    <a:p>
                      <a:r>
                        <a:rPr lang="en-IN" sz="1900">
                          <a:latin typeface="Arial" panose="020B0604020202020204" pitchFamily="34" charset="0"/>
                          <a:cs typeface="Arial" panose="020B0604020202020204" pitchFamily="34" charset="0"/>
                        </a:rPr>
                        <a:t>Lower interest</a:t>
                      </a:r>
                    </a:p>
                  </a:txBody>
                  <a:tcPr anchor="ctr">
                    <a:lnL>
                      <a:noFill/>
                    </a:lnL>
                    <a:lnR>
                      <a:noFill/>
                    </a:lnR>
                    <a:lnT>
                      <a:noFill/>
                    </a:lnT>
                    <a:lnB>
                      <a:noFill/>
                    </a:lnB>
                  </a:tcPr>
                </a:tc>
                <a:tc>
                  <a:txBody>
                    <a:bodyPr/>
                    <a:lstStyle/>
                    <a:p>
                      <a:r>
                        <a:rPr lang="en-IN" sz="1900" dirty="0">
                          <a:latin typeface="Arial" panose="020B0604020202020204" pitchFamily="34" charset="0"/>
                          <a:cs typeface="Arial" panose="020B0604020202020204" pitchFamily="34" charset="0"/>
                        </a:rPr>
                        <a:t>Higher interest</a:t>
                      </a:r>
                    </a:p>
                  </a:txBody>
                  <a:tcPr anchor="ctr">
                    <a:lnL>
                      <a:noFill/>
                    </a:lnL>
                    <a:lnR>
                      <a:noFill/>
                    </a:lnR>
                    <a:lnT>
                      <a:noFill/>
                    </a:lnT>
                    <a:lnB>
                      <a:noFill/>
                    </a:lnB>
                  </a:tcPr>
                </a:tc>
                <a:extLst>
                  <a:ext uri="{0D108BD9-81ED-4DB2-BD59-A6C34878D82A}">
                    <a16:rowId xmlns:a16="http://schemas.microsoft.com/office/drawing/2014/main" val="792706354"/>
                  </a:ext>
                </a:extLst>
              </a:tr>
            </a:tbl>
          </a:graphicData>
        </a:graphic>
      </p:graphicFrame>
      <p:sp>
        <p:nvSpPr>
          <p:cNvPr id="5" name="Slide Number Placeholder 4">
            <a:extLst>
              <a:ext uri="{FF2B5EF4-FFF2-40B4-BE49-F238E27FC236}">
                <a16:creationId xmlns:a16="http://schemas.microsoft.com/office/drawing/2014/main" id="{99BE0A52-535D-4D26-B88E-96DEFBAD2335}"/>
              </a:ext>
            </a:extLst>
          </p:cNvPr>
          <p:cNvSpPr>
            <a:spLocks noGrp="1"/>
          </p:cNvSpPr>
          <p:nvPr>
            <p:ph type="sldNum" sz="quarter" idx="12"/>
          </p:nvPr>
        </p:nvSpPr>
        <p:spPr/>
        <p:txBody>
          <a:bodyPr/>
          <a:lstStyle/>
          <a:p>
            <a:fld id="{B7991F04-3566-4BB1-A8CB-A35BE8E11603}" type="slidenum">
              <a:rPr lang="en-IN" smtClean="0"/>
              <a:t>35</a:t>
            </a:fld>
            <a:endParaRPr lang="en-IN"/>
          </a:p>
        </p:txBody>
      </p:sp>
      <p:sp>
        <p:nvSpPr>
          <p:cNvPr id="9" name="Title 3">
            <a:extLst>
              <a:ext uri="{FF2B5EF4-FFF2-40B4-BE49-F238E27FC236}">
                <a16:creationId xmlns:a16="http://schemas.microsoft.com/office/drawing/2014/main" id="{4C5ABD90-BC27-4A2C-B0CA-5FD4CCA5F610}"/>
              </a:ext>
            </a:extLst>
          </p:cNvPr>
          <p:cNvSpPr txBox="1">
            <a:spLocks noGrp="1"/>
          </p:cNvSpPr>
          <p:nvPr>
            <p:ph type="title"/>
          </p:nvPr>
        </p:nvSpPr>
        <p:spPr>
          <a:xfrm>
            <a:off x="838200" y="365125"/>
            <a:ext cx="10206318" cy="52228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Bond vs Debenture</a:t>
            </a:r>
            <a:endParaRPr lang="en-IN" sz="2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A993D18F-2323-4C6B-91CB-D6E2BCD840EE}"/>
              </a:ext>
            </a:extLst>
          </p:cNvPr>
          <p:cNvPicPr>
            <a:picLocks noChangeAspect="1"/>
          </p:cNvPicPr>
          <p:nvPr/>
        </p:nvPicPr>
        <p:blipFill>
          <a:blip r:embed="rId2"/>
          <a:stretch>
            <a:fillRect/>
          </a:stretch>
        </p:blipFill>
        <p:spPr>
          <a:xfrm>
            <a:off x="10964882" y="252977"/>
            <a:ext cx="966091" cy="746583"/>
          </a:xfrm>
          <a:prstGeom prst="rect">
            <a:avLst/>
          </a:prstGeom>
        </p:spPr>
      </p:pic>
    </p:spTree>
    <p:extLst>
      <p:ext uri="{BB962C8B-B14F-4D97-AF65-F5344CB8AC3E}">
        <p14:creationId xmlns:p14="http://schemas.microsoft.com/office/powerpoint/2010/main" val="423213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23C14B-DC5F-4A1C-9BA2-61DB08CD9C65}"/>
              </a:ext>
            </a:extLst>
          </p:cNvPr>
          <p:cNvSpPr>
            <a:spLocks noGrp="1"/>
          </p:cNvSpPr>
          <p:nvPr>
            <p:ph idx="1"/>
          </p:nvPr>
        </p:nvSpPr>
        <p:spPr>
          <a:xfrm>
            <a:off x="748553" y="986118"/>
            <a:ext cx="10233212" cy="4617104"/>
          </a:xfrm>
        </p:spPr>
        <p:txBody>
          <a:bodyPr/>
          <a:lstStyle/>
          <a:p>
            <a:pPr algn="just">
              <a:lnSpc>
                <a:spcPct val="200000"/>
              </a:lnSpc>
            </a:pPr>
            <a:r>
              <a:rPr lang="en-US" sz="2000" dirty="0">
                <a:latin typeface="Arial" panose="020B0604020202020204" pitchFamily="34" charset="0"/>
                <a:cs typeface="Arial" panose="020B0604020202020204" pitchFamily="34" charset="0"/>
              </a:rPr>
              <a:t>Commercial Paper (CP) is a short-term, unsecured debt instrument issued by corporations to meet their immediate funding needs, like working capital, payroll, or inventory purchase.</a:t>
            </a:r>
          </a:p>
          <a:p>
            <a:pPr algn="just">
              <a:lnSpc>
                <a:spcPct val="200000"/>
              </a:lnSpc>
            </a:pPr>
            <a:r>
              <a:rPr lang="en-US" sz="2000" dirty="0">
                <a:latin typeface="Arial" panose="020B0604020202020204" pitchFamily="34" charset="0"/>
                <a:cs typeface="Arial" panose="020B0604020202020204" pitchFamily="34" charset="0"/>
              </a:rPr>
              <a:t>It is a promissory note issued at a discount and redeemed at face value on maturity. It’s a way for companies to borrow money directly from investors without going through banks.</a:t>
            </a:r>
          </a:p>
          <a:p>
            <a:endParaRPr lang="en-IN" dirty="0"/>
          </a:p>
        </p:txBody>
      </p:sp>
      <p:sp>
        <p:nvSpPr>
          <p:cNvPr id="2" name="Slide Number Placeholder 1">
            <a:extLst>
              <a:ext uri="{FF2B5EF4-FFF2-40B4-BE49-F238E27FC236}">
                <a16:creationId xmlns:a16="http://schemas.microsoft.com/office/drawing/2014/main" id="{62AB692C-DF23-4C19-92F8-BDC5D984B9C3}"/>
              </a:ext>
            </a:extLst>
          </p:cNvPr>
          <p:cNvSpPr>
            <a:spLocks noGrp="1"/>
          </p:cNvSpPr>
          <p:nvPr>
            <p:ph type="sldNum" sz="quarter" idx="12"/>
          </p:nvPr>
        </p:nvSpPr>
        <p:spPr/>
        <p:txBody>
          <a:bodyPr/>
          <a:lstStyle/>
          <a:p>
            <a:fld id="{B7991F04-3566-4BB1-A8CB-A35BE8E11603}" type="slidenum">
              <a:rPr lang="en-IN" smtClean="0"/>
              <a:t>36</a:t>
            </a:fld>
            <a:endParaRPr lang="en-IN"/>
          </a:p>
        </p:txBody>
      </p:sp>
      <p:sp>
        <p:nvSpPr>
          <p:cNvPr id="6" name="Title 3">
            <a:extLst>
              <a:ext uri="{FF2B5EF4-FFF2-40B4-BE49-F238E27FC236}">
                <a16:creationId xmlns:a16="http://schemas.microsoft.com/office/drawing/2014/main" id="{55E4E286-9465-4643-BBD4-CD1BD0082A32}"/>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What is Commercial Paper?</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693F868-D2EC-44AF-92BB-1A90C4F7A735}"/>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954910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23C14B-DC5F-4A1C-9BA2-61DB08CD9C65}"/>
              </a:ext>
            </a:extLst>
          </p:cNvPr>
          <p:cNvSpPr>
            <a:spLocks noGrp="1"/>
          </p:cNvSpPr>
          <p:nvPr>
            <p:ph idx="1"/>
          </p:nvPr>
        </p:nvSpPr>
        <p:spPr>
          <a:xfrm>
            <a:off x="838200" y="1371600"/>
            <a:ext cx="10515600" cy="4805363"/>
          </a:xfrm>
        </p:spPr>
        <p:txBody>
          <a:bodyPr>
            <a:normAutofit/>
          </a:bodyPr>
          <a:lstStyle/>
          <a:p>
            <a:pPr>
              <a:lnSpc>
                <a:spcPct val="150000"/>
              </a:lnSpc>
            </a:pPr>
            <a:r>
              <a:rPr lang="en-US" sz="1800" dirty="0">
                <a:solidFill>
                  <a:schemeClr val="accent1"/>
                </a:solidFill>
                <a:latin typeface="Arial" panose="020B0604020202020204" pitchFamily="34" charset="0"/>
                <a:cs typeface="Arial" panose="020B0604020202020204" pitchFamily="34" charset="0"/>
              </a:rPr>
              <a:t>Short-term maturity: </a:t>
            </a:r>
            <a:r>
              <a:rPr lang="en-US" sz="1800" dirty="0">
                <a:latin typeface="Arial" panose="020B0604020202020204" pitchFamily="34" charset="0"/>
                <a:cs typeface="Arial" panose="020B0604020202020204" pitchFamily="34" charset="0"/>
              </a:rPr>
              <a:t>Typically from </a:t>
            </a:r>
            <a:r>
              <a:rPr lang="en-US" sz="1800" b="1" dirty="0">
                <a:latin typeface="Arial" panose="020B0604020202020204" pitchFamily="34" charset="0"/>
                <a:cs typeface="Arial" panose="020B0604020202020204" pitchFamily="34" charset="0"/>
              </a:rPr>
              <a:t>1 day up to 270 days</a:t>
            </a:r>
            <a:r>
              <a:rPr lang="en-US" sz="1800" dirty="0">
                <a:latin typeface="Arial" panose="020B0604020202020204" pitchFamily="34" charset="0"/>
                <a:cs typeface="Arial" panose="020B0604020202020204" pitchFamily="34" charset="0"/>
              </a:rPr>
              <a:t> (usually less than 3 months).</a:t>
            </a:r>
          </a:p>
          <a:p>
            <a:pPr>
              <a:lnSpc>
                <a:spcPct val="150000"/>
              </a:lnSpc>
              <a:buFont typeface="Arial" panose="020B0604020202020204" pitchFamily="34" charset="0"/>
              <a:buChar char="•"/>
            </a:pPr>
            <a:r>
              <a:rPr lang="en-US" sz="1800" dirty="0">
                <a:solidFill>
                  <a:schemeClr val="accent1"/>
                </a:solidFill>
                <a:latin typeface="Arial" panose="020B0604020202020204" pitchFamily="34" charset="0"/>
                <a:cs typeface="Arial" panose="020B0604020202020204" pitchFamily="34" charset="0"/>
              </a:rPr>
              <a:t>Unsecured: </a:t>
            </a:r>
            <a:r>
              <a:rPr lang="en-US" sz="1800" dirty="0">
                <a:latin typeface="Arial" panose="020B0604020202020204" pitchFamily="34" charset="0"/>
                <a:cs typeface="Arial" panose="020B0604020202020204" pitchFamily="34" charset="0"/>
              </a:rPr>
              <a:t>No collateral backing; based solely on issuer’s creditworthiness.</a:t>
            </a:r>
          </a:p>
          <a:p>
            <a:pPr>
              <a:lnSpc>
                <a:spcPct val="150000"/>
              </a:lnSpc>
              <a:buFont typeface="Arial" panose="020B0604020202020204" pitchFamily="34" charset="0"/>
              <a:buChar char="•"/>
            </a:pPr>
            <a:r>
              <a:rPr lang="en-US" sz="1800" dirty="0">
                <a:solidFill>
                  <a:schemeClr val="accent1"/>
                </a:solidFill>
                <a:latin typeface="Arial" panose="020B0604020202020204" pitchFamily="34" charset="0"/>
                <a:cs typeface="Arial" panose="020B0604020202020204" pitchFamily="34" charset="0"/>
              </a:rPr>
              <a:t>Issued at Discount: </a:t>
            </a:r>
            <a:r>
              <a:rPr lang="en-US" sz="1800" dirty="0">
                <a:latin typeface="Arial" panose="020B0604020202020204" pitchFamily="34" charset="0"/>
                <a:cs typeface="Arial" panose="020B0604020202020204" pitchFamily="34" charset="0"/>
              </a:rPr>
              <a:t>Sold below face value; redeemed at face value at maturity.</a:t>
            </a:r>
          </a:p>
          <a:p>
            <a:pPr>
              <a:lnSpc>
                <a:spcPct val="150000"/>
              </a:lnSpc>
              <a:buFont typeface="Arial" panose="020B0604020202020204" pitchFamily="34" charset="0"/>
              <a:buChar char="•"/>
            </a:pPr>
            <a:r>
              <a:rPr lang="en-US" sz="1800" dirty="0">
                <a:solidFill>
                  <a:schemeClr val="accent1"/>
                </a:solidFill>
                <a:latin typeface="Arial" panose="020B0604020202020204" pitchFamily="34" charset="0"/>
                <a:cs typeface="Arial" panose="020B0604020202020204" pitchFamily="34" charset="0"/>
              </a:rPr>
              <a:t>Issued by Corporations: </a:t>
            </a:r>
            <a:r>
              <a:rPr lang="en-US" sz="1800" dirty="0">
                <a:latin typeface="Arial" panose="020B0604020202020204" pitchFamily="34" charset="0"/>
                <a:cs typeface="Arial" panose="020B0604020202020204" pitchFamily="34" charset="0"/>
              </a:rPr>
              <a:t>Usually large, financially strong companies.</a:t>
            </a:r>
          </a:p>
          <a:p>
            <a:pPr>
              <a:lnSpc>
                <a:spcPct val="150000"/>
              </a:lnSpc>
              <a:buFont typeface="Arial" panose="020B0604020202020204" pitchFamily="34" charset="0"/>
              <a:buChar char="•"/>
            </a:pPr>
            <a:r>
              <a:rPr lang="en-US" sz="1800" dirty="0">
                <a:solidFill>
                  <a:schemeClr val="accent1"/>
                </a:solidFill>
                <a:latin typeface="Arial" panose="020B0604020202020204" pitchFamily="34" charset="0"/>
                <a:cs typeface="Arial" panose="020B0604020202020204" pitchFamily="34" charset="0"/>
              </a:rPr>
              <a:t>Denominations: </a:t>
            </a:r>
            <a:r>
              <a:rPr lang="en-US" sz="1800" dirty="0">
                <a:latin typeface="Arial" panose="020B0604020202020204" pitchFamily="34" charset="0"/>
                <a:cs typeface="Arial" panose="020B0604020202020204" pitchFamily="34" charset="0"/>
              </a:rPr>
              <a:t>Generally large (e.g., 100,000 or more).</a:t>
            </a:r>
          </a:p>
          <a:p>
            <a:pPr>
              <a:lnSpc>
                <a:spcPct val="150000"/>
              </a:lnSpc>
              <a:buFont typeface="Arial" panose="020B0604020202020204" pitchFamily="34" charset="0"/>
              <a:buChar char="•"/>
            </a:pPr>
            <a:r>
              <a:rPr lang="en-US" sz="1800" dirty="0">
                <a:solidFill>
                  <a:schemeClr val="accent1"/>
                </a:solidFill>
                <a:latin typeface="Arial" panose="020B0604020202020204" pitchFamily="34" charset="0"/>
                <a:cs typeface="Arial" panose="020B0604020202020204" pitchFamily="34" charset="0"/>
              </a:rPr>
              <a:t>Tradable:</a:t>
            </a:r>
            <a:r>
              <a:rPr lang="en-US" sz="1800" dirty="0">
                <a:latin typeface="Arial" panose="020B0604020202020204" pitchFamily="34" charset="0"/>
                <a:cs typeface="Arial" panose="020B0604020202020204" pitchFamily="34" charset="0"/>
              </a:rPr>
              <a:t> Can be sold in secondary markets but mostly held till maturity.</a:t>
            </a:r>
          </a:p>
          <a:p>
            <a:pPr>
              <a:lnSpc>
                <a:spcPct val="150000"/>
              </a:lnSpc>
              <a:buFont typeface="Arial" panose="020B0604020202020204" pitchFamily="34" charset="0"/>
              <a:buChar char="•"/>
            </a:pPr>
            <a:r>
              <a:rPr lang="en-US" sz="1800" dirty="0">
                <a:solidFill>
                  <a:schemeClr val="accent1"/>
                </a:solidFill>
                <a:latin typeface="Arial" panose="020B0604020202020204" pitchFamily="34" charset="0"/>
                <a:cs typeface="Arial" panose="020B0604020202020204" pitchFamily="34" charset="0"/>
              </a:rPr>
              <a:t>No periodic interest: </a:t>
            </a:r>
            <a:r>
              <a:rPr lang="en-US" sz="1800" dirty="0">
                <a:latin typeface="Arial" panose="020B0604020202020204" pitchFamily="34" charset="0"/>
                <a:cs typeface="Arial" panose="020B0604020202020204" pitchFamily="34" charset="0"/>
              </a:rPr>
              <a:t>Return comes from the difference between the purchase price and face value.</a:t>
            </a:r>
          </a:p>
          <a:p>
            <a:pPr marL="0" indent="0">
              <a:buNone/>
            </a:pPr>
            <a:endParaRPr lang="en-IN" dirty="0"/>
          </a:p>
        </p:txBody>
      </p:sp>
      <p:sp>
        <p:nvSpPr>
          <p:cNvPr id="2" name="Slide Number Placeholder 1">
            <a:extLst>
              <a:ext uri="{FF2B5EF4-FFF2-40B4-BE49-F238E27FC236}">
                <a16:creationId xmlns:a16="http://schemas.microsoft.com/office/drawing/2014/main" id="{95B8249B-4C89-4D45-9079-90367FD016F3}"/>
              </a:ext>
            </a:extLst>
          </p:cNvPr>
          <p:cNvSpPr>
            <a:spLocks noGrp="1"/>
          </p:cNvSpPr>
          <p:nvPr>
            <p:ph type="sldNum" sz="quarter" idx="12"/>
          </p:nvPr>
        </p:nvSpPr>
        <p:spPr/>
        <p:txBody>
          <a:bodyPr/>
          <a:lstStyle/>
          <a:p>
            <a:fld id="{B7991F04-3566-4BB1-A8CB-A35BE8E11603}" type="slidenum">
              <a:rPr lang="en-IN" smtClean="0"/>
              <a:t>37</a:t>
            </a:fld>
            <a:endParaRPr lang="en-IN"/>
          </a:p>
        </p:txBody>
      </p:sp>
      <p:sp>
        <p:nvSpPr>
          <p:cNvPr id="6" name="Title 3">
            <a:extLst>
              <a:ext uri="{FF2B5EF4-FFF2-40B4-BE49-F238E27FC236}">
                <a16:creationId xmlns:a16="http://schemas.microsoft.com/office/drawing/2014/main" id="{2DF9710A-794D-4160-B697-3B028A7A7C8A}"/>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Key Features of Commercial Paper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CF08B57-4ABE-4AF3-9D41-1AC8AB0FDFEF}"/>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59815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BF97DB-01BD-43A0-9F53-62F440878211}"/>
              </a:ext>
            </a:extLst>
          </p:cNvPr>
          <p:cNvSpPr>
            <a:spLocks noGrp="1"/>
          </p:cNvSpPr>
          <p:nvPr>
            <p:ph sz="half" idx="1"/>
          </p:nvPr>
        </p:nvSpPr>
        <p:spPr>
          <a:xfrm>
            <a:off x="838200" y="1147482"/>
            <a:ext cx="5181600" cy="5029481"/>
          </a:xfrm>
        </p:spPr>
        <p:txBody>
          <a:bodyPr>
            <a:normAutofit lnSpcReduction="10000"/>
          </a:bodyPr>
          <a:lstStyle/>
          <a:p>
            <a:pPr marL="0" indent="0" algn="just">
              <a:lnSpc>
                <a:spcPct val="150000"/>
              </a:lnSpc>
              <a:buNone/>
            </a:pPr>
            <a:r>
              <a:rPr lang="en-US" sz="2100" dirty="0">
                <a:solidFill>
                  <a:schemeClr val="accent1"/>
                </a:solidFill>
                <a:latin typeface="Arial" panose="020B0604020202020204" pitchFamily="34" charset="0"/>
                <a:cs typeface="Arial" panose="020B0604020202020204" pitchFamily="34" charset="0"/>
              </a:rPr>
              <a:t>Advantages of Commercial Paper</a:t>
            </a:r>
          </a:p>
          <a:p>
            <a:pPr algn="just">
              <a:lnSpc>
                <a:spcPct val="15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Low Cost:</a:t>
            </a:r>
            <a:r>
              <a:rPr lang="en-US" sz="2100" dirty="0">
                <a:latin typeface="Arial" panose="020B0604020202020204" pitchFamily="34" charset="0"/>
                <a:cs typeface="Arial" panose="020B0604020202020204" pitchFamily="34" charset="0"/>
              </a:rPr>
              <a:t> Usually cheaper than bank loans.</a:t>
            </a:r>
          </a:p>
          <a:p>
            <a:pPr algn="just">
              <a:lnSpc>
                <a:spcPct val="15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Quick Access</a:t>
            </a:r>
            <a:r>
              <a:rPr lang="en-US" sz="2100" b="1" dirty="0">
                <a:latin typeface="Arial" panose="020B0604020202020204" pitchFamily="34" charset="0"/>
                <a:cs typeface="Arial" panose="020B0604020202020204" pitchFamily="34" charset="0"/>
              </a:rPr>
              <a:t>:</a:t>
            </a:r>
            <a:r>
              <a:rPr lang="en-US" sz="2100" dirty="0">
                <a:latin typeface="Arial" panose="020B0604020202020204" pitchFamily="34" charset="0"/>
                <a:cs typeface="Arial" panose="020B0604020202020204" pitchFamily="34" charset="0"/>
              </a:rPr>
              <a:t> Faster to issue compared to bonds or bank loans.</a:t>
            </a:r>
          </a:p>
          <a:p>
            <a:pPr algn="just">
              <a:lnSpc>
                <a:spcPct val="15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Flexibility: </a:t>
            </a:r>
            <a:r>
              <a:rPr lang="en-US" sz="2100" dirty="0">
                <a:latin typeface="Arial" panose="020B0604020202020204" pitchFamily="34" charset="0"/>
                <a:cs typeface="Arial" panose="020B0604020202020204" pitchFamily="34" charset="0"/>
              </a:rPr>
              <a:t>Short maturities allow tailored funding needs.</a:t>
            </a:r>
          </a:p>
          <a:p>
            <a:pPr algn="just">
              <a:lnSpc>
                <a:spcPct val="15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No Collateral: </a:t>
            </a:r>
            <a:r>
              <a:rPr lang="en-US" sz="2100" dirty="0">
                <a:latin typeface="Arial" panose="020B0604020202020204" pitchFamily="34" charset="0"/>
                <a:cs typeface="Arial" panose="020B0604020202020204" pitchFamily="34" charset="0"/>
              </a:rPr>
              <a:t>Easier to raise funds without asset backing</a:t>
            </a:r>
            <a:r>
              <a:rPr lang="en-US" dirty="0"/>
              <a:t>.</a:t>
            </a:r>
          </a:p>
          <a:p>
            <a:endParaRPr lang="en-IN" dirty="0"/>
          </a:p>
        </p:txBody>
      </p:sp>
      <p:sp>
        <p:nvSpPr>
          <p:cNvPr id="4" name="Content Placeholder 3">
            <a:extLst>
              <a:ext uri="{FF2B5EF4-FFF2-40B4-BE49-F238E27FC236}">
                <a16:creationId xmlns:a16="http://schemas.microsoft.com/office/drawing/2014/main" id="{D1BC2E0A-E35A-4457-9100-8CBFBE2ED344}"/>
              </a:ext>
            </a:extLst>
          </p:cNvPr>
          <p:cNvSpPr>
            <a:spLocks noGrp="1"/>
          </p:cNvSpPr>
          <p:nvPr>
            <p:ph sz="half" idx="2"/>
          </p:nvPr>
        </p:nvSpPr>
        <p:spPr>
          <a:xfrm>
            <a:off x="6172200" y="1147482"/>
            <a:ext cx="5181600" cy="5029481"/>
          </a:xfrm>
        </p:spPr>
        <p:txBody>
          <a:bodyPr>
            <a:normAutofit lnSpcReduction="10000"/>
          </a:bodyPr>
          <a:lstStyle/>
          <a:p>
            <a:pPr marL="0" indent="0" algn="just">
              <a:lnSpc>
                <a:spcPct val="160000"/>
              </a:lnSpc>
              <a:buNone/>
            </a:pPr>
            <a:r>
              <a:rPr lang="en-US" sz="2100" dirty="0">
                <a:solidFill>
                  <a:schemeClr val="accent1"/>
                </a:solidFill>
                <a:latin typeface="Arial" panose="020B0604020202020204" pitchFamily="34" charset="0"/>
                <a:cs typeface="Arial" panose="020B0604020202020204" pitchFamily="34" charset="0"/>
              </a:rPr>
              <a:t>Risks</a:t>
            </a:r>
            <a:r>
              <a:rPr lang="en-US" sz="2100" dirty="0">
                <a:solidFill>
                  <a:schemeClr val="accent1"/>
                </a:solidFill>
              </a:rPr>
              <a:t> </a:t>
            </a:r>
            <a:r>
              <a:rPr lang="en-US" sz="2100" dirty="0">
                <a:solidFill>
                  <a:schemeClr val="accent1"/>
                </a:solidFill>
                <a:latin typeface="Arial" panose="020B0604020202020204" pitchFamily="34" charset="0"/>
                <a:cs typeface="Arial" panose="020B0604020202020204" pitchFamily="34" charset="0"/>
              </a:rPr>
              <a:t>of Commercial Paper</a:t>
            </a:r>
          </a:p>
          <a:p>
            <a:pPr algn="just">
              <a:lnSpc>
                <a:spcPct val="16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Credit Risk: </a:t>
            </a:r>
            <a:r>
              <a:rPr lang="en-US" sz="2100" dirty="0">
                <a:latin typeface="Arial" panose="020B0604020202020204" pitchFamily="34" charset="0"/>
                <a:cs typeface="Arial" panose="020B0604020202020204" pitchFamily="34" charset="0"/>
              </a:rPr>
              <a:t>No collateral, so default risk depends on the issuer’s credit rating.</a:t>
            </a:r>
          </a:p>
          <a:p>
            <a:pPr algn="just">
              <a:lnSpc>
                <a:spcPct val="16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Liquidity Risk: </a:t>
            </a:r>
            <a:r>
              <a:rPr lang="en-US" sz="2100" dirty="0">
                <a:latin typeface="Arial" panose="020B0604020202020204" pitchFamily="34" charset="0"/>
                <a:cs typeface="Arial" panose="020B0604020202020204" pitchFamily="34" charset="0"/>
              </a:rPr>
              <a:t>Secondary market might be thin; hard to sell before maturity.</a:t>
            </a:r>
          </a:p>
          <a:p>
            <a:pPr algn="just">
              <a:lnSpc>
                <a:spcPct val="160000"/>
              </a:lnSpc>
              <a:buFont typeface="Arial" panose="020B0604020202020204" pitchFamily="34" charset="0"/>
              <a:buChar char="•"/>
            </a:pPr>
            <a:r>
              <a:rPr lang="en-US" sz="2100" dirty="0">
                <a:solidFill>
                  <a:schemeClr val="accent1"/>
                </a:solidFill>
                <a:latin typeface="Arial" panose="020B0604020202020204" pitchFamily="34" charset="0"/>
                <a:cs typeface="Arial" panose="020B0604020202020204" pitchFamily="34" charset="0"/>
              </a:rPr>
              <a:t>Maturity Limit: </a:t>
            </a:r>
            <a:r>
              <a:rPr lang="en-US" sz="2100" dirty="0">
                <a:latin typeface="Arial" panose="020B0604020202020204" pitchFamily="34" charset="0"/>
                <a:cs typeface="Arial" panose="020B0604020202020204" pitchFamily="34" charset="0"/>
              </a:rPr>
              <a:t>Cannot be issued for more than 270 days.</a:t>
            </a:r>
          </a:p>
          <a:p>
            <a:endParaRPr lang="en-IN" dirty="0"/>
          </a:p>
        </p:txBody>
      </p:sp>
      <p:sp>
        <p:nvSpPr>
          <p:cNvPr id="2" name="Slide Number Placeholder 1">
            <a:extLst>
              <a:ext uri="{FF2B5EF4-FFF2-40B4-BE49-F238E27FC236}">
                <a16:creationId xmlns:a16="http://schemas.microsoft.com/office/drawing/2014/main" id="{A954957E-23CF-4AB6-9FCB-2C9A6FECDF27}"/>
              </a:ext>
            </a:extLst>
          </p:cNvPr>
          <p:cNvSpPr>
            <a:spLocks noGrp="1"/>
          </p:cNvSpPr>
          <p:nvPr>
            <p:ph type="sldNum" sz="quarter" idx="12"/>
          </p:nvPr>
        </p:nvSpPr>
        <p:spPr/>
        <p:txBody>
          <a:bodyPr/>
          <a:lstStyle/>
          <a:p>
            <a:fld id="{B7991F04-3566-4BB1-A8CB-A35BE8E11603}" type="slidenum">
              <a:rPr lang="en-IN" smtClean="0"/>
              <a:t>38</a:t>
            </a:fld>
            <a:endParaRPr lang="en-IN"/>
          </a:p>
        </p:txBody>
      </p:sp>
      <p:sp>
        <p:nvSpPr>
          <p:cNvPr id="7" name="Title 3">
            <a:extLst>
              <a:ext uri="{FF2B5EF4-FFF2-40B4-BE49-F238E27FC236}">
                <a16:creationId xmlns:a16="http://schemas.microsoft.com/office/drawing/2014/main" id="{2B5802B6-82C5-4632-8110-B6B302D9D787}"/>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Commercial Paper </a:t>
            </a:r>
            <a:endParaRPr lang="en-IN" sz="2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314D82E1-B015-456D-92D5-A7CDBE70C8C7}"/>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3775489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23C14B-DC5F-4A1C-9BA2-61DB08CD9C65}"/>
              </a:ext>
            </a:extLst>
          </p:cNvPr>
          <p:cNvSpPr>
            <a:spLocks noGrp="1"/>
          </p:cNvSpPr>
          <p:nvPr>
            <p:ph idx="1"/>
          </p:nvPr>
        </p:nvSpPr>
        <p:spPr>
          <a:xfrm>
            <a:off x="748553" y="851647"/>
            <a:ext cx="10123235" cy="4805363"/>
          </a:xfrm>
        </p:spPr>
        <p:txBody>
          <a:bodyPr>
            <a:normAutofit/>
          </a:bodyPr>
          <a:lstStyle/>
          <a:p>
            <a:pPr marL="0" indent="0" algn="just">
              <a:lnSpc>
                <a:spcPct val="200000"/>
              </a:lnSpc>
              <a:buNone/>
            </a:pPr>
            <a:r>
              <a:rPr lang="en-US" sz="1900" dirty="0">
                <a:solidFill>
                  <a:schemeClr val="accent1">
                    <a:lumMod val="75000"/>
                  </a:schemeClr>
                </a:solidFill>
                <a:latin typeface="Arial" panose="020B0604020202020204" pitchFamily="34" charset="0"/>
                <a:cs typeface="Arial" panose="020B0604020202020204" pitchFamily="34" charset="0"/>
              </a:rPr>
              <a:t>What is a Certificate of Deposit (CD)?</a:t>
            </a:r>
          </a:p>
          <a:p>
            <a:pPr algn="just">
              <a:lnSpc>
                <a:spcPct val="200000"/>
              </a:lnSpc>
            </a:pPr>
            <a:r>
              <a:rPr lang="en-US" sz="1900" dirty="0">
                <a:latin typeface="Arial" panose="020B0604020202020204" pitchFamily="34" charset="0"/>
                <a:cs typeface="Arial" panose="020B0604020202020204" pitchFamily="34" charset="0"/>
              </a:rPr>
              <a:t>A Certificate of Deposit (CD) is a time deposit offered by banks and financial institutions. It’s a savings product where you deposit a fixed amount of money for a predetermined period, and in return, the bank pays you interest at a fixed or variable rate.</a:t>
            </a:r>
          </a:p>
          <a:p>
            <a:pPr algn="just">
              <a:lnSpc>
                <a:spcPct val="200000"/>
              </a:lnSpc>
            </a:pPr>
            <a:r>
              <a:rPr lang="en-US" sz="1900" dirty="0">
                <a:latin typeface="Arial" panose="020B0604020202020204" pitchFamily="34" charset="0"/>
                <a:cs typeface="Arial" panose="020B0604020202020204" pitchFamily="34" charset="0"/>
              </a:rPr>
              <a:t>Unlike regular savings accounts, CDs lock your money for the agreed term, and you usually can’t withdraw early without penalties</a:t>
            </a:r>
            <a:r>
              <a:rPr lang="en-US" dirty="0"/>
              <a:t>.</a:t>
            </a:r>
          </a:p>
          <a:p>
            <a:pPr marL="0" indent="0">
              <a:lnSpc>
                <a:spcPct val="200000"/>
              </a:lnSpc>
              <a:buNone/>
            </a:pPr>
            <a:endParaRPr lang="en-IN" dirty="0"/>
          </a:p>
        </p:txBody>
      </p:sp>
      <p:sp>
        <p:nvSpPr>
          <p:cNvPr id="2" name="Slide Number Placeholder 1">
            <a:extLst>
              <a:ext uri="{FF2B5EF4-FFF2-40B4-BE49-F238E27FC236}">
                <a16:creationId xmlns:a16="http://schemas.microsoft.com/office/drawing/2014/main" id="{9FC22729-09B8-4C59-953D-D4EBF317DD89}"/>
              </a:ext>
            </a:extLst>
          </p:cNvPr>
          <p:cNvSpPr>
            <a:spLocks noGrp="1"/>
          </p:cNvSpPr>
          <p:nvPr>
            <p:ph type="sldNum" sz="quarter" idx="12"/>
          </p:nvPr>
        </p:nvSpPr>
        <p:spPr/>
        <p:txBody>
          <a:bodyPr/>
          <a:lstStyle/>
          <a:p>
            <a:fld id="{B7991F04-3566-4BB1-A8CB-A35BE8E11603}" type="slidenum">
              <a:rPr lang="en-IN" smtClean="0"/>
              <a:t>39</a:t>
            </a:fld>
            <a:endParaRPr lang="en-IN"/>
          </a:p>
        </p:txBody>
      </p:sp>
      <p:sp>
        <p:nvSpPr>
          <p:cNvPr id="6" name="Title 3">
            <a:extLst>
              <a:ext uri="{FF2B5EF4-FFF2-40B4-BE49-F238E27FC236}">
                <a16:creationId xmlns:a16="http://schemas.microsoft.com/office/drawing/2014/main" id="{1DDDB0CA-D6F9-49EF-9B9D-723CB45EC3E4}"/>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Certificate of Deposit(CDs)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DE8BA39-7A5E-4373-942E-2911B78F07ED}"/>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1022307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normAutofit/>
          </a:bodyPr>
          <a:lstStyle/>
          <a:p>
            <a:pPr>
              <a:lnSpc>
                <a:spcPct val="15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Fixed Term: </a:t>
            </a:r>
            <a:r>
              <a:rPr lang="en-US" sz="2000" dirty="0">
                <a:latin typeface="Arial" panose="020B0604020202020204" pitchFamily="34" charset="0"/>
                <a:cs typeface="Arial" panose="020B0604020202020204" pitchFamily="34" charset="0"/>
              </a:rPr>
              <a:t>Maturity periods range from a few months to several years (commonly 3 months to 5 years).</a:t>
            </a:r>
          </a:p>
          <a:p>
            <a:pPr>
              <a:lnSpc>
                <a:spcPct val="15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Fixed Interest Rate: </a:t>
            </a:r>
            <a:r>
              <a:rPr lang="en-US" sz="2000" dirty="0">
                <a:latin typeface="Arial" panose="020B0604020202020204" pitchFamily="34" charset="0"/>
                <a:cs typeface="Arial" panose="020B0604020202020204" pitchFamily="34" charset="0"/>
              </a:rPr>
              <a:t>Pays a predetermined interest rate, often higher than regular savings accounts.</a:t>
            </a:r>
          </a:p>
          <a:p>
            <a:pPr>
              <a:lnSpc>
                <a:spcPct val="15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Principal Protection: </a:t>
            </a:r>
            <a:r>
              <a:rPr lang="en-US" sz="2000" dirty="0">
                <a:latin typeface="Arial" panose="020B0604020202020204" pitchFamily="34" charset="0"/>
                <a:cs typeface="Arial" panose="020B0604020202020204" pitchFamily="34" charset="0"/>
              </a:rPr>
              <a:t>Your initial deposit is safe and guaranteed by the bank.</a:t>
            </a:r>
          </a:p>
          <a:p>
            <a:pPr>
              <a:lnSpc>
                <a:spcPct val="15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Early Withdrawal Penalties: </a:t>
            </a:r>
            <a:r>
              <a:rPr lang="en-US" sz="2000" dirty="0">
                <a:latin typeface="Arial" panose="020B0604020202020204" pitchFamily="34" charset="0"/>
                <a:cs typeface="Arial" panose="020B0604020202020204" pitchFamily="34" charset="0"/>
              </a:rPr>
              <a:t>Withdrawing before maturity may result in interest penalties.</a:t>
            </a:r>
          </a:p>
          <a:p>
            <a:pPr>
              <a:lnSpc>
                <a:spcPct val="15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Tradability: </a:t>
            </a:r>
            <a:r>
              <a:rPr lang="en-US" sz="2000" dirty="0">
                <a:latin typeface="Arial" panose="020B0604020202020204" pitchFamily="34" charset="0"/>
                <a:cs typeface="Arial" panose="020B0604020202020204" pitchFamily="34" charset="0"/>
              </a:rPr>
              <a:t>Most CDs are non-transferable, but some brokered CDs can be sold in secondary markets.</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AA8965B3-EEEE-4CA7-A6F1-B805BF1150CC}"/>
              </a:ext>
            </a:extLst>
          </p:cNvPr>
          <p:cNvSpPr>
            <a:spLocks noGrp="1"/>
          </p:cNvSpPr>
          <p:nvPr>
            <p:ph type="sldNum" sz="quarter" idx="12"/>
          </p:nvPr>
        </p:nvSpPr>
        <p:spPr/>
        <p:txBody>
          <a:bodyPr/>
          <a:lstStyle/>
          <a:p>
            <a:fld id="{B7991F04-3566-4BB1-A8CB-A35BE8E11603}" type="slidenum">
              <a:rPr lang="en-IN" smtClean="0"/>
              <a:t>40</a:t>
            </a:fld>
            <a:endParaRPr lang="en-IN"/>
          </a:p>
        </p:txBody>
      </p:sp>
      <p:sp>
        <p:nvSpPr>
          <p:cNvPr id="6" name="Title 3">
            <a:extLst>
              <a:ext uri="{FF2B5EF4-FFF2-40B4-BE49-F238E27FC236}">
                <a16:creationId xmlns:a16="http://schemas.microsoft.com/office/drawing/2014/main" id="{66A1A781-4B35-40F4-BCE8-160197D773AB}"/>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Key Features of Certificates of Deposit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4689470-ADFA-4FE4-8FE8-76547701D644}"/>
              </a:ext>
            </a:extLst>
          </p:cNvPr>
          <p:cNvPicPr>
            <a:picLocks noChangeAspect="1"/>
          </p:cNvPicPr>
          <p:nvPr/>
        </p:nvPicPr>
        <p:blipFill>
          <a:blip r:embed="rId2"/>
          <a:stretch>
            <a:fillRect/>
          </a:stretch>
        </p:blipFill>
        <p:spPr>
          <a:xfrm>
            <a:off x="11027635" y="60240"/>
            <a:ext cx="966091" cy="746583"/>
          </a:xfrm>
          <a:prstGeom prst="rect">
            <a:avLst/>
          </a:prstGeom>
        </p:spPr>
      </p:pic>
    </p:spTree>
    <p:extLst>
      <p:ext uri="{BB962C8B-B14F-4D97-AF65-F5344CB8AC3E}">
        <p14:creationId xmlns:p14="http://schemas.microsoft.com/office/powerpoint/2010/main" val="3545164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993673"/>
            <a:ext cx="10515600" cy="5120537"/>
          </a:xfrm>
        </p:spPr>
        <p:txBody>
          <a:bodyPr>
            <a:normAutofit lnSpcReduction="10000"/>
          </a:bodyPr>
          <a:lstStyle/>
          <a:p>
            <a:pPr marL="0" indent="0">
              <a:buNone/>
            </a:pPr>
            <a:r>
              <a:rPr lang="en-US" sz="1800" dirty="0">
                <a:solidFill>
                  <a:schemeClr val="accent1"/>
                </a:solidFill>
                <a:latin typeface="Arial" panose="020B0604020202020204" pitchFamily="34" charset="0"/>
                <a:cs typeface="Arial" panose="020B0604020202020204" pitchFamily="34" charset="0"/>
              </a:rPr>
              <a:t>1. Traditional CDs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Fixed term and fixed interest.</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Interest paid at maturity or periodically.</a:t>
            </a:r>
          </a:p>
          <a:p>
            <a:pPr marL="0" indent="0">
              <a:buNone/>
            </a:pPr>
            <a:r>
              <a:rPr lang="en-US" sz="1800" dirty="0">
                <a:solidFill>
                  <a:schemeClr val="accent1"/>
                </a:solidFill>
                <a:latin typeface="Arial" panose="020B0604020202020204" pitchFamily="34" charset="0"/>
                <a:cs typeface="Arial" panose="020B0604020202020204" pitchFamily="34" charset="0"/>
              </a:rPr>
              <a:t>2. Jumbo CDs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Large denomination CDs.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Often offer higher interest rates.</a:t>
            </a:r>
          </a:p>
          <a:p>
            <a:pPr marL="0" indent="0">
              <a:buNone/>
            </a:pPr>
            <a:r>
              <a:rPr lang="en-US" sz="1800" dirty="0">
                <a:solidFill>
                  <a:schemeClr val="accent1"/>
                </a:solidFill>
                <a:latin typeface="Arial" panose="020B0604020202020204" pitchFamily="34" charset="0"/>
                <a:cs typeface="Arial" panose="020B0604020202020204" pitchFamily="34" charset="0"/>
              </a:rPr>
              <a:t>3. Callable CDs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The bank can “call” or redeem the CD before maturity.</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Usually offers higher interest rates to compensate.</a:t>
            </a:r>
          </a:p>
          <a:p>
            <a:pPr marL="0" indent="0">
              <a:buNone/>
            </a:pPr>
            <a:r>
              <a:rPr lang="en-US" sz="1800" dirty="0">
                <a:solidFill>
                  <a:schemeClr val="accent1"/>
                </a:solidFill>
                <a:latin typeface="Arial" panose="020B0604020202020204" pitchFamily="34" charset="0"/>
                <a:cs typeface="Arial" panose="020B0604020202020204" pitchFamily="34" charset="0"/>
              </a:rPr>
              <a:t>4. Brokered CDs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Sold through brokerage firms.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May be traded on secondary markets.</a:t>
            </a:r>
          </a:p>
          <a:p>
            <a:pPr marL="0" indent="0">
              <a:buNone/>
            </a:pPr>
            <a:r>
              <a:rPr lang="en-US" sz="1800" dirty="0">
                <a:solidFill>
                  <a:schemeClr val="accent1"/>
                </a:solidFill>
                <a:latin typeface="Arial" panose="020B0604020202020204" pitchFamily="34" charset="0"/>
                <a:cs typeface="Arial" panose="020B0604020202020204" pitchFamily="34" charset="0"/>
              </a:rPr>
              <a:t>5. Variable Rate CDs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Interest rate adjusts periodically based on market rates</a:t>
            </a:r>
            <a:r>
              <a:rPr lang="en-US" sz="1400" dirty="0"/>
              <a:t>.</a:t>
            </a: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B63A3752-686D-457B-BEF6-846BE232E8E0}"/>
              </a:ext>
            </a:extLst>
          </p:cNvPr>
          <p:cNvSpPr>
            <a:spLocks noGrp="1"/>
          </p:cNvSpPr>
          <p:nvPr>
            <p:ph type="sldNum" sz="quarter" idx="12"/>
          </p:nvPr>
        </p:nvSpPr>
        <p:spPr/>
        <p:txBody>
          <a:bodyPr/>
          <a:lstStyle/>
          <a:p>
            <a:fld id="{B7991F04-3566-4BB1-A8CB-A35BE8E11603}" type="slidenum">
              <a:rPr lang="en-IN" smtClean="0"/>
              <a:t>41</a:t>
            </a:fld>
            <a:endParaRPr lang="en-IN"/>
          </a:p>
        </p:txBody>
      </p:sp>
      <p:sp>
        <p:nvSpPr>
          <p:cNvPr id="6" name="Title 3">
            <a:extLst>
              <a:ext uri="{FF2B5EF4-FFF2-40B4-BE49-F238E27FC236}">
                <a16:creationId xmlns:a16="http://schemas.microsoft.com/office/drawing/2014/main" id="{60BB00FC-C109-42C1-96E3-9DFDF913F0AB}"/>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Certificate of Deposit</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45E0A7E6-A764-476C-A74D-D48258C106A0}"/>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9651219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26D9E96-AD90-4F30-B732-1658F2F93EC6}"/>
              </a:ext>
            </a:extLst>
          </p:cNvPr>
          <p:cNvSpPr>
            <a:spLocks noGrp="1"/>
          </p:cNvSpPr>
          <p:nvPr>
            <p:ph sz="half" idx="1"/>
          </p:nvPr>
        </p:nvSpPr>
        <p:spPr>
          <a:xfrm>
            <a:off x="838200" y="1425388"/>
            <a:ext cx="5181600" cy="4751575"/>
          </a:xfrm>
        </p:spPr>
        <p:txBody>
          <a:bodyPr/>
          <a:lstStyle/>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Advantages of CDs</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Safety:</a:t>
            </a:r>
            <a:r>
              <a:rPr lang="en-US" sz="1900" dirty="0">
                <a:latin typeface="Arial" panose="020B0604020202020204" pitchFamily="34" charset="0"/>
                <a:cs typeface="Arial" panose="020B0604020202020204" pitchFamily="34" charset="0"/>
              </a:rPr>
              <a:t> Low risk</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Predictable Returns:</a:t>
            </a:r>
            <a:r>
              <a:rPr lang="en-US" sz="1900" dirty="0">
                <a:latin typeface="Arial" panose="020B0604020202020204" pitchFamily="34" charset="0"/>
                <a:cs typeface="Arial" panose="020B0604020202020204" pitchFamily="34" charset="0"/>
              </a:rPr>
              <a:t> Fixed interest payments.</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Higher Rates: </a:t>
            </a:r>
            <a:r>
              <a:rPr lang="en-US" sz="1900" dirty="0">
                <a:latin typeface="Arial" panose="020B0604020202020204" pitchFamily="34" charset="0"/>
                <a:cs typeface="Arial" panose="020B0604020202020204" pitchFamily="34" charset="0"/>
              </a:rPr>
              <a:t>Typically better rates than savings accounts.</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Simplicity: </a:t>
            </a:r>
            <a:r>
              <a:rPr lang="en-US" sz="1900" dirty="0">
                <a:latin typeface="Arial" panose="020B0604020202020204" pitchFamily="34" charset="0"/>
                <a:cs typeface="Arial" panose="020B0604020202020204" pitchFamily="34" charset="0"/>
              </a:rPr>
              <a:t>Easy to understand and manage.</a:t>
            </a:r>
          </a:p>
          <a:p>
            <a:endParaRPr lang="en-IN" dirty="0"/>
          </a:p>
        </p:txBody>
      </p:sp>
      <p:sp>
        <p:nvSpPr>
          <p:cNvPr id="7" name="Content Placeholder 6">
            <a:extLst>
              <a:ext uri="{FF2B5EF4-FFF2-40B4-BE49-F238E27FC236}">
                <a16:creationId xmlns:a16="http://schemas.microsoft.com/office/drawing/2014/main" id="{F99FAD6D-6699-4AC7-9E81-EFFE017AF334}"/>
              </a:ext>
            </a:extLst>
          </p:cNvPr>
          <p:cNvSpPr>
            <a:spLocks noGrp="1"/>
          </p:cNvSpPr>
          <p:nvPr>
            <p:ph sz="half" idx="2"/>
          </p:nvPr>
        </p:nvSpPr>
        <p:spPr>
          <a:xfrm>
            <a:off x="6172200" y="1362635"/>
            <a:ext cx="5181600" cy="4814328"/>
          </a:xfrm>
        </p:spPr>
        <p:txBody>
          <a:bodyPr/>
          <a:lstStyle/>
          <a:p>
            <a:pPr marL="0" indent="0" algn="just">
              <a:lnSpc>
                <a:spcPct val="150000"/>
              </a:lnSpc>
              <a:buNone/>
            </a:pPr>
            <a:r>
              <a:rPr lang="en-US" sz="1900" dirty="0">
                <a:solidFill>
                  <a:schemeClr val="accent1"/>
                </a:solidFill>
                <a:latin typeface="Arial" panose="020B0604020202020204" pitchFamily="34" charset="0"/>
                <a:cs typeface="Arial" panose="020B0604020202020204" pitchFamily="34" charset="0"/>
              </a:rPr>
              <a:t>Disadvantages of CDs</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Liquidity: </a:t>
            </a:r>
            <a:r>
              <a:rPr lang="en-US" sz="1900" dirty="0">
                <a:latin typeface="Arial" panose="020B0604020202020204" pitchFamily="34" charset="0"/>
                <a:cs typeface="Arial" panose="020B0604020202020204" pitchFamily="34" charset="0"/>
              </a:rPr>
              <a:t>Money is locked until maturity unless you pay penalties.</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Inflation Risk: </a:t>
            </a:r>
            <a:r>
              <a:rPr lang="en-US" sz="1900" dirty="0">
                <a:latin typeface="Arial" panose="020B0604020202020204" pitchFamily="34" charset="0"/>
                <a:cs typeface="Arial" panose="020B0604020202020204" pitchFamily="34" charset="0"/>
              </a:rPr>
              <a:t>Fixed rates may not keep up with inflation.</a:t>
            </a:r>
          </a:p>
          <a:p>
            <a:pPr algn="just">
              <a:lnSpc>
                <a:spcPct val="150000"/>
              </a:lnSpc>
              <a:buFont typeface="Arial" panose="020B0604020202020204" pitchFamily="34" charset="0"/>
              <a:buChar char="•"/>
            </a:pPr>
            <a:r>
              <a:rPr lang="en-US" sz="1900" dirty="0">
                <a:solidFill>
                  <a:schemeClr val="accent1"/>
                </a:solidFill>
                <a:latin typeface="Arial" panose="020B0604020202020204" pitchFamily="34" charset="0"/>
                <a:cs typeface="Arial" panose="020B0604020202020204" pitchFamily="34" charset="0"/>
              </a:rPr>
              <a:t>Lower Returns: </a:t>
            </a:r>
            <a:r>
              <a:rPr lang="en-US" sz="1900" dirty="0">
                <a:latin typeface="Arial" panose="020B0604020202020204" pitchFamily="34" charset="0"/>
                <a:cs typeface="Arial" panose="020B0604020202020204" pitchFamily="34" charset="0"/>
              </a:rPr>
              <a:t>Generally lower than stocks or bonds over long periods.</a:t>
            </a:r>
          </a:p>
          <a:p>
            <a:endParaRPr lang="en-IN" dirty="0"/>
          </a:p>
        </p:txBody>
      </p:sp>
      <p:sp>
        <p:nvSpPr>
          <p:cNvPr id="2" name="Slide Number Placeholder 1">
            <a:extLst>
              <a:ext uri="{FF2B5EF4-FFF2-40B4-BE49-F238E27FC236}">
                <a16:creationId xmlns:a16="http://schemas.microsoft.com/office/drawing/2014/main" id="{B3871B73-7BF2-4132-9CC9-3867590246AE}"/>
              </a:ext>
            </a:extLst>
          </p:cNvPr>
          <p:cNvSpPr>
            <a:spLocks noGrp="1"/>
          </p:cNvSpPr>
          <p:nvPr>
            <p:ph type="sldNum" sz="quarter" idx="12"/>
          </p:nvPr>
        </p:nvSpPr>
        <p:spPr/>
        <p:txBody>
          <a:bodyPr/>
          <a:lstStyle/>
          <a:p>
            <a:fld id="{B7991F04-3566-4BB1-A8CB-A35BE8E11603}" type="slidenum">
              <a:rPr lang="en-IN" smtClean="0"/>
              <a:t>42</a:t>
            </a:fld>
            <a:endParaRPr lang="en-IN"/>
          </a:p>
        </p:txBody>
      </p:sp>
      <p:sp>
        <p:nvSpPr>
          <p:cNvPr id="9" name="Title 3">
            <a:extLst>
              <a:ext uri="{FF2B5EF4-FFF2-40B4-BE49-F238E27FC236}">
                <a16:creationId xmlns:a16="http://schemas.microsoft.com/office/drawing/2014/main" id="{FBCFE3A2-5D7A-4623-A7E5-78C2CB624136}"/>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Certificate of Deposits </a:t>
            </a:r>
            <a:endParaRPr lang="en-IN" sz="2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1125448-52A3-4DF1-A02B-CA2D0F45A572}"/>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5218368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normAutofit/>
          </a:bodyPr>
          <a:lstStyle/>
          <a:p>
            <a:pPr marL="0" indent="0" algn="just">
              <a:lnSpc>
                <a:spcPct val="100000"/>
              </a:lnSpc>
              <a:buNone/>
            </a:pPr>
            <a:r>
              <a:rPr lang="en-US" sz="1900" dirty="0">
                <a:solidFill>
                  <a:schemeClr val="accent1">
                    <a:lumMod val="75000"/>
                  </a:schemeClr>
                </a:solidFill>
                <a:latin typeface="Arial" panose="020B0604020202020204" pitchFamily="34" charset="0"/>
                <a:cs typeface="Arial" panose="020B0604020202020204" pitchFamily="34" charset="0"/>
              </a:rPr>
              <a:t>What is a Derivative?</a:t>
            </a:r>
          </a:p>
          <a:p>
            <a:pPr>
              <a:lnSpc>
                <a:spcPct val="100000"/>
              </a:lnSpc>
            </a:pPr>
            <a:r>
              <a:rPr lang="en-US" sz="1900" dirty="0">
                <a:latin typeface="Arial" panose="020B0604020202020204" pitchFamily="34" charset="0"/>
                <a:cs typeface="Arial" panose="020B0604020202020204" pitchFamily="34" charset="0"/>
              </a:rPr>
              <a:t>A derivative is a financial contract whose value is derived from an underlying asset, rate, or index.</a:t>
            </a:r>
          </a:p>
          <a:p>
            <a:pPr>
              <a:lnSpc>
                <a:spcPct val="100000"/>
              </a:lnSpc>
            </a:pPr>
            <a:r>
              <a:rPr lang="en-US" sz="1900" dirty="0">
                <a:latin typeface="Arial" panose="020B0604020202020204" pitchFamily="34" charset="0"/>
                <a:cs typeface="Arial" panose="020B0604020202020204" pitchFamily="34" charset="0"/>
              </a:rPr>
              <a:t>It is not an asset itself, but a contract that gains or loses value based on the performance of something else.</a:t>
            </a:r>
          </a:p>
          <a:p>
            <a:pPr marL="0" indent="0" algn="just">
              <a:lnSpc>
                <a:spcPct val="100000"/>
              </a:lnSpc>
              <a:buNone/>
            </a:pPr>
            <a:r>
              <a:rPr lang="en-US" sz="1900" dirty="0"/>
              <a:t> </a:t>
            </a:r>
            <a:r>
              <a:rPr lang="en-US" sz="1900" dirty="0">
                <a:solidFill>
                  <a:schemeClr val="accent1">
                    <a:lumMod val="75000"/>
                  </a:schemeClr>
                </a:solidFill>
                <a:latin typeface="Arial" panose="020B0604020202020204" pitchFamily="34" charset="0"/>
                <a:cs typeface="Arial" panose="020B0604020202020204" pitchFamily="34" charset="0"/>
              </a:rPr>
              <a:t>Underlying Assets Can Include:</a:t>
            </a:r>
          </a:p>
          <a:p>
            <a:pPr>
              <a:lnSpc>
                <a:spcPct val="1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Commodities (e.g., gold, oil, wheat)</a:t>
            </a:r>
          </a:p>
          <a:p>
            <a:pPr algn="just">
              <a:lnSpc>
                <a:spcPct val="1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Stocks &amp; Indices (e.g., Nifty 50, S&amp;P 500)</a:t>
            </a:r>
          </a:p>
          <a:p>
            <a:pPr algn="just">
              <a:lnSpc>
                <a:spcPct val="1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Currencies (e.g., INR/USD)</a:t>
            </a:r>
          </a:p>
          <a:p>
            <a:pPr algn="just">
              <a:lnSpc>
                <a:spcPct val="1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Interest Rates</a:t>
            </a:r>
          </a:p>
          <a:p>
            <a:pPr algn="just">
              <a:lnSpc>
                <a:spcPct val="1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Bonds</a:t>
            </a:r>
          </a:p>
          <a:p>
            <a:pPr algn="just">
              <a:lnSpc>
                <a:spcPct val="1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Cryptocurrencies (in some markets)</a:t>
            </a:r>
          </a:p>
          <a:p>
            <a:endParaRPr lang="en-US" sz="1900" dirty="0">
              <a:latin typeface="Arial" panose="020B0604020202020204" pitchFamily="34" charset="0"/>
              <a:cs typeface="Arial" panose="020B0604020202020204" pitchFamily="34" charset="0"/>
            </a:endParaRPr>
          </a:p>
          <a:p>
            <a:pPr algn="just">
              <a:lnSpc>
                <a:spcPct val="200000"/>
              </a:lnSpc>
            </a:pPr>
            <a:endParaRPr lang="en-US"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5695920-2360-40D0-BF16-584A69DF2843}"/>
              </a:ext>
            </a:extLst>
          </p:cNvPr>
          <p:cNvSpPr>
            <a:spLocks noGrp="1"/>
          </p:cNvSpPr>
          <p:nvPr>
            <p:ph type="sldNum" sz="quarter" idx="12"/>
          </p:nvPr>
        </p:nvSpPr>
        <p:spPr/>
        <p:txBody>
          <a:bodyPr/>
          <a:lstStyle/>
          <a:p>
            <a:fld id="{B7991F04-3566-4BB1-A8CB-A35BE8E11603}" type="slidenum">
              <a:rPr lang="en-IN" smtClean="0"/>
              <a:t>43</a:t>
            </a:fld>
            <a:endParaRPr lang="en-IN"/>
          </a:p>
        </p:txBody>
      </p:sp>
      <p:sp>
        <p:nvSpPr>
          <p:cNvPr id="6" name="Title 3">
            <a:extLst>
              <a:ext uri="{FF2B5EF4-FFF2-40B4-BE49-F238E27FC236}">
                <a16:creationId xmlns:a16="http://schemas.microsoft.com/office/drawing/2014/main" id="{88ED1082-F148-43F5-9555-F35BEA64F505}"/>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Derivative Instruments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F06759A-1285-436B-BE42-71E87DFFEEC8}"/>
              </a:ext>
            </a:extLst>
          </p:cNvPr>
          <p:cNvPicPr>
            <a:picLocks noChangeAspect="1"/>
          </p:cNvPicPr>
          <p:nvPr/>
        </p:nvPicPr>
        <p:blipFill>
          <a:blip r:embed="rId2"/>
          <a:stretch>
            <a:fillRect/>
          </a:stretch>
        </p:blipFill>
        <p:spPr>
          <a:xfrm>
            <a:off x="11027635" y="51275"/>
            <a:ext cx="966091" cy="746583"/>
          </a:xfrm>
          <a:prstGeom prst="rect">
            <a:avLst/>
          </a:prstGeom>
        </p:spPr>
      </p:pic>
      <p:pic>
        <p:nvPicPr>
          <p:cNvPr id="1026" name="Picture 2" descr="What are derivatives? - GCS Malta">
            <a:extLst>
              <a:ext uri="{FF2B5EF4-FFF2-40B4-BE49-F238E27FC236}">
                <a16:creationId xmlns:a16="http://schemas.microsoft.com/office/drawing/2014/main" id="{B4C4BC5B-C8D4-4CEC-83EF-345D3877074E}"/>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98024" y="2608729"/>
            <a:ext cx="4273764" cy="327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441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0961435" y="169124"/>
            <a:ext cx="966091" cy="887302"/>
          </a:xfrm>
          <a:prstGeom prst="rect">
            <a:avLst/>
          </a:prstGeom>
        </p:spPr>
      </p:pic>
      <p:sp>
        <p:nvSpPr>
          <p:cNvPr id="8" name="Content Placeholder 7">
            <a:extLst>
              <a:ext uri="{FF2B5EF4-FFF2-40B4-BE49-F238E27FC236}">
                <a16:creationId xmlns:a16="http://schemas.microsoft.com/office/drawing/2014/main" id="{10D83BF2-BE7A-46B1-AA4B-817896CFCEE9}"/>
              </a:ext>
            </a:extLst>
          </p:cNvPr>
          <p:cNvSpPr>
            <a:spLocks noGrp="1"/>
          </p:cNvSpPr>
          <p:nvPr>
            <p:ph idx="1"/>
          </p:nvPr>
        </p:nvSpPr>
        <p:spPr>
          <a:xfrm>
            <a:off x="838200" y="1056426"/>
            <a:ext cx="10515600" cy="3605221"/>
          </a:xfrm>
        </p:spPr>
        <p:txBody>
          <a:bodyPr>
            <a:noAutofit/>
          </a:bodyPr>
          <a:lstStyle/>
          <a:p>
            <a:pPr marL="0" indent="0">
              <a:lnSpc>
                <a:spcPct val="200000"/>
              </a:lnSpc>
              <a:buNone/>
            </a:pPr>
            <a:r>
              <a:rPr lang="en-US" sz="1900" dirty="0">
                <a:solidFill>
                  <a:schemeClr val="accent1">
                    <a:lumMod val="75000"/>
                  </a:schemeClr>
                </a:solidFill>
                <a:latin typeface="Arial" panose="020B0604020202020204" pitchFamily="34" charset="0"/>
                <a:cs typeface="Arial" panose="020B0604020202020204" pitchFamily="34" charset="0"/>
              </a:rPr>
              <a:t>Future</a:t>
            </a:r>
            <a:r>
              <a:rPr lang="en-US" sz="1900" dirty="0">
                <a:latin typeface="Arial" panose="020B0604020202020204" pitchFamily="34" charset="0"/>
                <a:cs typeface="Arial" panose="020B0604020202020204" pitchFamily="34" charset="0"/>
              </a:rPr>
              <a:t>: A future is a standardized financial contract obligating the buyer to purchase, and the seller to sell, an asset at a predetermined price on a specified future date.</a:t>
            </a:r>
          </a:p>
          <a:p>
            <a:pPr>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Traded on organized exchanges (e.g., NSE, MCX)</a:t>
            </a:r>
          </a:p>
          <a:p>
            <a:pPr>
              <a:lnSpc>
                <a:spcPct val="200000"/>
              </a:lnSpc>
              <a:buFont typeface="Arial" panose="020B0604020202020204" pitchFamily="34" charset="0"/>
              <a:buChar char="•"/>
            </a:pPr>
            <a:r>
              <a:rPr lang="en-US" sz="1900" dirty="0">
                <a:latin typeface="Arial" panose="020B0604020202020204" pitchFamily="34" charset="0"/>
                <a:cs typeface="Arial" panose="020B0604020202020204" pitchFamily="34" charset="0"/>
              </a:rPr>
              <a:t>Underlying assets can be stocks, commodities, currencies, indices, etc.</a:t>
            </a:r>
          </a:p>
          <a:p>
            <a:pPr marL="0" indent="0" algn="just">
              <a:lnSpc>
                <a:spcPct val="200000"/>
              </a:lnSpc>
              <a:buNone/>
            </a:pPr>
            <a:r>
              <a:rPr lang="en-US" sz="1900" dirty="0">
                <a:solidFill>
                  <a:schemeClr val="accent1">
                    <a:lumMod val="75000"/>
                  </a:schemeClr>
                </a:solidFill>
                <a:latin typeface="Arial" panose="020B0604020202020204" pitchFamily="34" charset="0"/>
                <a:cs typeface="Arial" panose="020B0604020202020204" pitchFamily="34" charset="0"/>
              </a:rPr>
              <a:t>Forward</a:t>
            </a:r>
            <a:r>
              <a:rPr lang="en-US" sz="1900" dirty="0">
                <a:latin typeface="Arial" panose="020B0604020202020204" pitchFamily="34" charset="0"/>
                <a:cs typeface="Arial" panose="020B0604020202020204" pitchFamily="34" charset="0"/>
              </a:rPr>
              <a:t>: A forward derivative is a private agreement between two parties to buy or sell an asset at a predetermined price on a specified future date. It is customized and traded over-the-counter (OTC), not on an exchange.</a:t>
            </a:r>
          </a:p>
          <a:p>
            <a:pPr marL="0" indent="0" algn="just">
              <a:lnSpc>
                <a:spcPct val="200000"/>
              </a:lnSpc>
              <a:buNone/>
            </a:pPr>
            <a:endParaRPr lang="en-US" sz="1900" dirty="0">
              <a:latin typeface="Arial" panose="020B0604020202020204" pitchFamily="34" charset="0"/>
              <a:cs typeface="Arial" panose="020B0604020202020204" pitchFamily="34" charset="0"/>
            </a:endParaRPr>
          </a:p>
          <a:p>
            <a:pPr marL="0" indent="0">
              <a:lnSpc>
                <a:spcPct val="200000"/>
              </a:lnSpc>
              <a:buNone/>
            </a:pPr>
            <a:endParaRPr lang="en-IN" sz="1900" dirty="0"/>
          </a:p>
        </p:txBody>
      </p:sp>
      <p:sp>
        <p:nvSpPr>
          <p:cNvPr id="2" name="Slide Number Placeholder 1">
            <a:extLst>
              <a:ext uri="{FF2B5EF4-FFF2-40B4-BE49-F238E27FC236}">
                <a16:creationId xmlns:a16="http://schemas.microsoft.com/office/drawing/2014/main" id="{B4042675-C454-4914-B0A4-624809B9F171}"/>
              </a:ext>
            </a:extLst>
          </p:cNvPr>
          <p:cNvSpPr>
            <a:spLocks noGrp="1"/>
          </p:cNvSpPr>
          <p:nvPr>
            <p:ph type="sldNum" sz="quarter" idx="12"/>
          </p:nvPr>
        </p:nvSpPr>
        <p:spPr/>
        <p:txBody>
          <a:bodyPr/>
          <a:lstStyle/>
          <a:p>
            <a:fld id="{B7991F04-3566-4BB1-A8CB-A35BE8E11603}" type="slidenum">
              <a:rPr lang="en-IN" smtClean="0"/>
              <a:t>44</a:t>
            </a:fld>
            <a:endParaRPr lang="en-IN"/>
          </a:p>
        </p:txBody>
      </p:sp>
      <p:sp>
        <p:nvSpPr>
          <p:cNvPr id="6" name="Title 3">
            <a:extLst>
              <a:ext uri="{FF2B5EF4-FFF2-40B4-BE49-F238E27FC236}">
                <a16:creationId xmlns:a16="http://schemas.microsoft.com/office/drawing/2014/main" id="{0D063A39-9B34-474C-B715-55DE581FA12A}"/>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Derivative Instruments </a:t>
            </a:r>
            <a:endParaRPr lang="en-IN"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7254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8F9582-68CE-431C-8B72-88E14F073978}"/>
              </a:ext>
            </a:extLst>
          </p:cNvPr>
          <p:cNvPicPr>
            <a:picLocks noChangeAspect="1"/>
          </p:cNvPicPr>
          <p:nvPr/>
        </p:nvPicPr>
        <p:blipFill>
          <a:blip r:embed="rId2"/>
          <a:stretch>
            <a:fillRect/>
          </a:stretch>
        </p:blipFill>
        <p:spPr>
          <a:xfrm>
            <a:off x="10961435" y="169124"/>
            <a:ext cx="966091" cy="887302"/>
          </a:xfrm>
          <a:prstGeom prst="rect">
            <a:avLst/>
          </a:prstGeom>
        </p:spPr>
      </p:pic>
      <p:sp>
        <p:nvSpPr>
          <p:cNvPr id="8" name="Content Placeholder 7">
            <a:extLst>
              <a:ext uri="{FF2B5EF4-FFF2-40B4-BE49-F238E27FC236}">
                <a16:creationId xmlns:a16="http://schemas.microsoft.com/office/drawing/2014/main" id="{10D83BF2-BE7A-46B1-AA4B-817896CFCEE9}"/>
              </a:ext>
            </a:extLst>
          </p:cNvPr>
          <p:cNvSpPr>
            <a:spLocks noGrp="1"/>
          </p:cNvSpPr>
          <p:nvPr>
            <p:ph idx="1"/>
          </p:nvPr>
        </p:nvSpPr>
        <p:spPr>
          <a:xfrm>
            <a:off x="748553" y="1056426"/>
            <a:ext cx="10123235" cy="3201809"/>
          </a:xfrm>
        </p:spPr>
        <p:txBody>
          <a:bodyPr>
            <a:noAutofit/>
          </a:bodyPr>
          <a:lstStyle/>
          <a:p>
            <a:pPr marL="0" indent="0">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Option: </a:t>
            </a:r>
            <a:r>
              <a:rPr lang="en-US" sz="1900" dirty="0">
                <a:latin typeface="Arial" panose="020B0604020202020204" pitchFamily="34" charset="0"/>
                <a:cs typeface="Arial" panose="020B0604020202020204" pitchFamily="34" charset="0"/>
              </a:rPr>
              <a:t>An Option is a derivative contract that gives the buyer the right (but not the obligation) to buy or sell an underlying asset at a specific price (strike price) on or before a specified date (expiry date).</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The seller (writer) of the option has the obligation if the buyer chooses to exercise the option</a:t>
            </a:r>
          </a:p>
          <a:p>
            <a:pPr marL="0" indent="0">
              <a:lnSpc>
                <a:spcPct val="150000"/>
              </a:lnSpc>
              <a:buNone/>
            </a:pPr>
            <a:r>
              <a:rPr lang="en-US" sz="1900" dirty="0">
                <a:solidFill>
                  <a:schemeClr val="accent1">
                    <a:lumMod val="75000"/>
                  </a:schemeClr>
                </a:solidFill>
                <a:latin typeface="Arial" panose="020B0604020202020204" pitchFamily="34" charset="0"/>
                <a:cs typeface="Arial" panose="020B0604020202020204" pitchFamily="34" charset="0"/>
              </a:rPr>
              <a:t>Swap: </a:t>
            </a:r>
            <a:r>
              <a:rPr lang="en-US" sz="1900" dirty="0">
                <a:latin typeface="Arial" panose="020B0604020202020204" pitchFamily="34" charset="0"/>
                <a:cs typeface="Arial" panose="020B0604020202020204" pitchFamily="34" charset="0"/>
              </a:rPr>
              <a:t>A swap is a derivative contract in which two parties agree to exchange financial cash flows at predetermined intervals, based on different financial instruments such as interest rates, currencies, or commodities.</a:t>
            </a:r>
          </a:p>
          <a:p>
            <a:pPr>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Swaps are customized contracts and are traded over-the-counter (OTC), not on formal exchanges.</a:t>
            </a:r>
          </a:p>
          <a:p>
            <a:pPr>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0" indent="0" algn="just">
              <a:lnSpc>
                <a:spcPct val="150000"/>
              </a:lnSpc>
              <a:buNone/>
            </a:pPr>
            <a:endParaRPr lang="en-US" sz="1900" dirty="0">
              <a:latin typeface="Arial" panose="020B0604020202020204" pitchFamily="34" charset="0"/>
              <a:cs typeface="Arial" panose="020B0604020202020204" pitchFamily="34" charset="0"/>
            </a:endParaRPr>
          </a:p>
          <a:p>
            <a:pPr>
              <a:lnSpc>
                <a:spcPct val="150000"/>
              </a:lnSpc>
            </a:pPr>
            <a:endParaRPr lang="en-IN" sz="1900" dirty="0"/>
          </a:p>
        </p:txBody>
      </p:sp>
      <p:sp>
        <p:nvSpPr>
          <p:cNvPr id="2" name="Slide Number Placeholder 1">
            <a:extLst>
              <a:ext uri="{FF2B5EF4-FFF2-40B4-BE49-F238E27FC236}">
                <a16:creationId xmlns:a16="http://schemas.microsoft.com/office/drawing/2014/main" id="{5053DADC-0C21-43DF-9F10-E62A1E4FDF7A}"/>
              </a:ext>
            </a:extLst>
          </p:cNvPr>
          <p:cNvSpPr>
            <a:spLocks noGrp="1"/>
          </p:cNvSpPr>
          <p:nvPr>
            <p:ph type="sldNum" sz="quarter" idx="12"/>
          </p:nvPr>
        </p:nvSpPr>
        <p:spPr/>
        <p:txBody>
          <a:bodyPr/>
          <a:lstStyle/>
          <a:p>
            <a:fld id="{B7991F04-3566-4BB1-A8CB-A35BE8E11603}" type="slidenum">
              <a:rPr lang="en-IN" smtClean="0"/>
              <a:t>45</a:t>
            </a:fld>
            <a:endParaRPr lang="en-IN"/>
          </a:p>
        </p:txBody>
      </p:sp>
      <p:sp>
        <p:nvSpPr>
          <p:cNvPr id="6" name="Title 3">
            <a:extLst>
              <a:ext uri="{FF2B5EF4-FFF2-40B4-BE49-F238E27FC236}">
                <a16:creationId xmlns:a16="http://schemas.microsoft.com/office/drawing/2014/main" id="{0EDAA669-81C0-4313-A7BC-7B8801D04BED}"/>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Types of Derivative Instruments </a:t>
            </a:r>
            <a:endParaRPr lang="en-IN"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3233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DF0F81-FB6D-4E6A-8990-17BF227E2FD2}"/>
              </a:ext>
            </a:extLst>
          </p:cNvPr>
          <p:cNvSpPr>
            <a:spLocks noGrp="1"/>
          </p:cNvSpPr>
          <p:nvPr>
            <p:ph idx="1"/>
          </p:nvPr>
        </p:nvSpPr>
        <p:spPr>
          <a:xfrm>
            <a:off x="838200" y="1056426"/>
            <a:ext cx="10515600" cy="5120537"/>
          </a:xfrm>
        </p:spPr>
        <p:txBody>
          <a:bodyPr>
            <a:normAutofit/>
          </a:bodyPr>
          <a:lstStyle/>
          <a:p>
            <a:pPr algn="just">
              <a:lnSpc>
                <a:spcPct val="200000"/>
              </a:lnSpc>
            </a:pPr>
            <a:r>
              <a:rPr lang="en-US" sz="1900" dirty="0">
                <a:solidFill>
                  <a:schemeClr val="accent1"/>
                </a:solidFill>
                <a:latin typeface="Arial" panose="020B0604020202020204" pitchFamily="34" charset="0"/>
                <a:cs typeface="Arial" panose="020B0604020202020204" pitchFamily="34" charset="0"/>
              </a:rPr>
              <a:t>Hedging</a:t>
            </a:r>
            <a:r>
              <a:rPr lang="en-US" sz="1900" dirty="0">
                <a:latin typeface="Arial" panose="020B0604020202020204" pitchFamily="34" charset="0"/>
                <a:cs typeface="Arial" panose="020B0604020202020204" pitchFamily="34" charset="0"/>
              </a:rPr>
              <a:t> – To protect against price fluctuations and reduce risk.</a:t>
            </a:r>
          </a:p>
          <a:p>
            <a:pPr algn="just">
              <a:lnSpc>
                <a:spcPct val="200000"/>
              </a:lnSpc>
            </a:pPr>
            <a:r>
              <a:rPr lang="en-US" sz="1900" dirty="0">
                <a:solidFill>
                  <a:schemeClr val="accent1"/>
                </a:solidFill>
                <a:latin typeface="Arial" panose="020B0604020202020204" pitchFamily="34" charset="0"/>
                <a:cs typeface="Arial" panose="020B0604020202020204" pitchFamily="34" charset="0"/>
              </a:rPr>
              <a:t>Speculation </a:t>
            </a:r>
            <a:r>
              <a:rPr lang="en-US" sz="1900" dirty="0">
                <a:latin typeface="Arial" panose="020B0604020202020204" pitchFamily="34" charset="0"/>
                <a:cs typeface="Arial" panose="020B0604020202020204" pitchFamily="34" charset="0"/>
              </a:rPr>
              <a:t>– To earn profit from expected future price movements.</a:t>
            </a:r>
            <a:r>
              <a:rPr lang="en-US" sz="1900" b="1" dirty="0">
                <a:latin typeface="Arial" panose="020B0604020202020204" pitchFamily="34" charset="0"/>
                <a:cs typeface="Arial" panose="020B0604020202020204" pitchFamily="34" charset="0"/>
              </a:rPr>
              <a:t> </a:t>
            </a:r>
          </a:p>
          <a:p>
            <a:pPr algn="just">
              <a:lnSpc>
                <a:spcPct val="200000"/>
              </a:lnSpc>
            </a:pPr>
            <a:r>
              <a:rPr lang="en-US" sz="1900" dirty="0">
                <a:solidFill>
                  <a:schemeClr val="accent1"/>
                </a:solidFill>
                <a:latin typeface="Arial" panose="020B0604020202020204" pitchFamily="34" charset="0"/>
                <a:cs typeface="Arial" panose="020B0604020202020204" pitchFamily="34" charset="0"/>
              </a:rPr>
              <a:t>Arbitrage </a:t>
            </a:r>
            <a:r>
              <a:rPr lang="en-US" sz="1900" dirty="0">
                <a:latin typeface="Arial" panose="020B0604020202020204" pitchFamily="34" charset="0"/>
                <a:cs typeface="Arial" panose="020B0604020202020204" pitchFamily="34" charset="0"/>
              </a:rPr>
              <a:t>– To take advantage of price differences in different markets.</a:t>
            </a:r>
          </a:p>
          <a:p>
            <a:pPr algn="just">
              <a:lnSpc>
                <a:spcPct val="200000"/>
              </a:lnSpc>
            </a:pPr>
            <a:r>
              <a:rPr lang="en-US" sz="1900" dirty="0">
                <a:solidFill>
                  <a:schemeClr val="accent1"/>
                </a:solidFill>
                <a:latin typeface="Arial" panose="020B0604020202020204" pitchFamily="34" charset="0"/>
                <a:cs typeface="Arial" panose="020B0604020202020204" pitchFamily="34" charset="0"/>
              </a:rPr>
              <a:t>Market Access</a:t>
            </a:r>
            <a:r>
              <a:rPr lang="en-US" sz="1900" dirty="0">
                <a:latin typeface="Arial" panose="020B0604020202020204" pitchFamily="34" charset="0"/>
                <a:cs typeface="Arial" panose="020B0604020202020204" pitchFamily="34" charset="0"/>
              </a:rPr>
              <a:t> – To gain exposure to assets (like oil, forex) without owning them</a:t>
            </a:r>
          </a:p>
          <a:p>
            <a:pPr algn="just">
              <a:lnSpc>
                <a:spcPct val="200000"/>
              </a:lnSpc>
            </a:pPr>
            <a:r>
              <a:rPr lang="en-US" sz="1900" dirty="0">
                <a:solidFill>
                  <a:schemeClr val="accent1"/>
                </a:solidFill>
                <a:latin typeface="Arial" panose="020B0604020202020204" pitchFamily="34" charset="0"/>
                <a:cs typeface="Arial" panose="020B0604020202020204" pitchFamily="34" charset="0"/>
              </a:rPr>
              <a:t>Liquidity </a:t>
            </a:r>
            <a:r>
              <a:rPr lang="en-US" sz="1900" dirty="0">
                <a:latin typeface="Arial" panose="020B0604020202020204" pitchFamily="34" charset="0"/>
                <a:cs typeface="Arial" panose="020B0604020202020204" pitchFamily="34" charset="0"/>
              </a:rPr>
              <a:t>– To increase market participation and make trading easier.</a:t>
            </a:r>
            <a:endParaRPr lang="en-IN" sz="19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C61DEA0-E0C7-4D67-A6F4-E080F44067C9}"/>
              </a:ext>
            </a:extLst>
          </p:cNvPr>
          <p:cNvSpPr>
            <a:spLocks noGrp="1"/>
          </p:cNvSpPr>
          <p:nvPr>
            <p:ph type="sldNum" sz="quarter" idx="12"/>
          </p:nvPr>
        </p:nvSpPr>
        <p:spPr/>
        <p:txBody>
          <a:bodyPr/>
          <a:lstStyle/>
          <a:p>
            <a:fld id="{B7991F04-3566-4BB1-A8CB-A35BE8E11603}" type="slidenum">
              <a:rPr lang="en-IN" smtClean="0"/>
              <a:t>46</a:t>
            </a:fld>
            <a:endParaRPr lang="en-IN"/>
          </a:p>
        </p:txBody>
      </p:sp>
      <p:sp>
        <p:nvSpPr>
          <p:cNvPr id="7" name="Title 3">
            <a:extLst>
              <a:ext uri="{FF2B5EF4-FFF2-40B4-BE49-F238E27FC236}">
                <a16:creationId xmlns:a16="http://schemas.microsoft.com/office/drawing/2014/main" id="{284F10D4-D349-48F4-945F-59E4C214244F}"/>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Purpose of Derivative instruments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B81E181-FC5D-4A2C-BE93-96492D1711DF}"/>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9622302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C9E36-B70B-46C9-997A-F4D7C97AA8D8}"/>
              </a:ext>
            </a:extLst>
          </p:cNvPr>
          <p:cNvSpPr>
            <a:spLocks noGrp="1"/>
          </p:cNvSpPr>
          <p:nvPr>
            <p:ph idx="1"/>
          </p:nvPr>
        </p:nvSpPr>
        <p:spPr>
          <a:xfrm>
            <a:off x="838200" y="1056426"/>
            <a:ext cx="10515600" cy="5120537"/>
          </a:xfrm>
        </p:spPr>
        <p:txBody>
          <a:bodyPr>
            <a:normAutofit/>
          </a:bodyPr>
          <a:lstStyle/>
          <a:p>
            <a:pPr marL="0" indent="0" algn="just">
              <a:lnSpc>
                <a:spcPct val="200000"/>
              </a:lnSpc>
              <a:buNone/>
            </a:pPr>
            <a:r>
              <a:rPr lang="en-IN" sz="1900" dirty="0">
                <a:solidFill>
                  <a:schemeClr val="accent1"/>
                </a:solidFill>
                <a:latin typeface="Arial" panose="020B0604020202020204" pitchFamily="34" charset="0"/>
                <a:cs typeface="Arial" panose="020B0604020202020204" pitchFamily="34" charset="0"/>
              </a:rPr>
              <a:t>1. Exchange-Traded Derivatives</a:t>
            </a:r>
          </a:p>
          <a:p>
            <a:pPr algn="just">
              <a:lnSpc>
                <a:spcPct val="200000"/>
              </a:lnSpc>
            </a:pPr>
            <a:r>
              <a:rPr lang="en-US" sz="1900" dirty="0">
                <a:latin typeface="Arial" panose="020B0604020202020204" pitchFamily="34" charset="0"/>
                <a:cs typeface="Arial" panose="020B0604020202020204" pitchFamily="34" charset="0"/>
              </a:rPr>
              <a:t>Standardized contracts (e.g., NSE, BSE in India)</a:t>
            </a:r>
          </a:p>
          <a:p>
            <a:pPr algn="just">
              <a:lnSpc>
                <a:spcPct val="200000"/>
              </a:lnSpc>
            </a:pPr>
            <a:r>
              <a:rPr lang="en-US" sz="1900" dirty="0">
                <a:latin typeface="Arial" panose="020B0604020202020204" pitchFamily="34" charset="0"/>
                <a:cs typeface="Arial" panose="020B0604020202020204" pitchFamily="34" charset="0"/>
              </a:rPr>
              <a:t>Regulated, with a clearing house (reduces counterparty risk)</a:t>
            </a:r>
          </a:p>
          <a:p>
            <a:pPr marL="0" indent="0" algn="just">
              <a:lnSpc>
                <a:spcPct val="200000"/>
              </a:lnSpc>
              <a:buNone/>
            </a:pPr>
            <a:r>
              <a:rPr lang="en-US" sz="1900" dirty="0">
                <a:solidFill>
                  <a:schemeClr val="accent1"/>
                </a:solidFill>
                <a:latin typeface="Arial" panose="020B0604020202020204" pitchFamily="34" charset="0"/>
                <a:cs typeface="Arial" panose="020B0604020202020204" pitchFamily="34" charset="0"/>
              </a:rPr>
              <a:t>2.</a:t>
            </a:r>
            <a:r>
              <a:rPr lang="en-IN" sz="1900" dirty="0">
                <a:solidFill>
                  <a:schemeClr val="accent1"/>
                </a:solidFill>
                <a:latin typeface="Arial" panose="020B0604020202020204" pitchFamily="34" charset="0"/>
                <a:cs typeface="Arial" panose="020B0604020202020204" pitchFamily="34" charset="0"/>
              </a:rPr>
              <a:t> Over-the-Counter (OTC) Derivatives</a:t>
            </a:r>
            <a:endParaRPr lang="en-US" sz="1900" dirty="0">
              <a:solidFill>
                <a:schemeClr val="accent1"/>
              </a:solidFill>
              <a:latin typeface="Arial" panose="020B0604020202020204" pitchFamily="34" charset="0"/>
              <a:cs typeface="Arial" panose="020B0604020202020204" pitchFamily="34" charset="0"/>
            </a:endParaRPr>
          </a:p>
          <a:p>
            <a:pPr algn="just">
              <a:lnSpc>
                <a:spcPct val="200000"/>
              </a:lnSpc>
            </a:pPr>
            <a:r>
              <a:rPr lang="en-IN" sz="1900" dirty="0">
                <a:latin typeface="Arial" panose="020B0604020202020204" pitchFamily="34" charset="0"/>
                <a:cs typeface="Arial" panose="020B0604020202020204" pitchFamily="34" charset="0"/>
              </a:rPr>
              <a:t>Privately negotiated contracts</a:t>
            </a:r>
            <a:endParaRPr lang="en-US" sz="1900" dirty="0">
              <a:latin typeface="Arial" panose="020B0604020202020204" pitchFamily="34" charset="0"/>
              <a:cs typeface="Arial" panose="020B0604020202020204" pitchFamily="34" charset="0"/>
            </a:endParaRPr>
          </a:p>
          <a:p>
            <a:pPr algn="just">
              <a:lnSpc>
                <a:spcPct val="200000"/>
              </a:lnSpc>
            </a:pPr>
            <a:r>
              <a:rPr lang="en-US" sz="1900" dirty="0">
                <a:latin typeface="Arial" panose="020B0604020202020204" pitchFamily="34" charset="0"/>
                <a:cs typeface="Arial" panose="020B0604020202020204" pitchFamily="34" charset="0"/>
              </a:rPr>
              <a:t>More flexible but higher counterparty risk</a:t>
            </a:r>
          </a:p>
        </p:txBody>
      </p:sp>
      <p:sp>
        <p:nvSpPr>
          <p:cNvPr id="2" name="Slide Number Placeholder 1">
            <a:extLst>
              <a:ext uri="{FF2B5EF4-FFF2-40B4-BE49-F238E27FC236}">
                <a16:creationId xmlns:a16="http://schemas.microsoft.com/office/drawing/2014/main" id="{147C919D-9CC9-4E6C-B681-212ECA176DD0}"/>
              </a:ext>
            </a:extLst>
          </p:cNvPr>
          <p:cNvSpPr>
            <a:spLocks noGrp="1"/>
          </p:cNvSpPr>
          <p:nvPr>
            <p:ph type="sldNum" sz="quarter" idx="12"/>
          </p:nvPr>
        </p:nvSpPr>
        <p:spPr/>
        <p:txBody>
          <a:bodyPr/>
          <a:lstStyle/>
          <a:p>
            <a:fld id="{B7991F04-3566-4BB1-A8CB-A35BE8E11603}" type="slidenum">
              <a:rPr lang="en-IN" smtClean="0"/>
              <a:t>47</a:t>
            </a:fld>
            <a:endParaRPr lang="en-IN"/>
          </a:p>
        </p:txBody>
      </p:sp>
      <p:sp>
        <p:nvSpPr>
          <p:cNvPr id="6" name="Title 3">
            <a:extLst>
              <a:ext uri="{FF2B5EF4-FFF2-40B4-BE49-F238E27FC236}">
                <a16:creationId xmlns:a16="http://schemas.microsoft.com/office/drawing/2014/main" id="{2EA2599B-95AB-4DC7-81CF-408AF1CD67D5}"/>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Derivatives Market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534106BA-4B74-40C4-A2D5-748E1D964CA3}"/>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3351884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0D83BF2-BE7A-46B1-AA4B-817896CFCEE9}"/>
              </a:ext>
            </a:extLst>
          </p:cNvPr>
          <p:cNvSpPr>
            <a:spLocks noGrp="1"/>
          </p:cNvSpPr>
          <p:nvPr>
            <p:ph idx="1"/>
          </p:nvPr>
        </p:nvSpPr>
        <p:spPr>
          <a:xfrm>
            <a:off x="838200" y="1056427"/>
            <a:ext cx="10515600" cy="3029052"/>
          </a:xfrm>
        </p:spPr>
        <p:txBody>
          <a:bodyPr/>
          <a:lstStyle/>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Risk management</a:t>
            </a:r>
            <a:r>
              <a:rPr lang="en-US" sz="2000" b="1" dirty="0">
                <a:solidFill>
                  <a:schemeClr val="accent1"/>
                </a:solidFill>
                <a:latin typeface="Arial" panose="020B0604020202020204" pitchFamily="34" charset="0"/>
                <a:cs typeface="Arial" panose="020B0604020202020204" pitchFamily="34" charset="0"/>
              </a:rPr>
              <a:t>:</a:t>
            </a:r>
            <a:r>
              <a:rPr lang="en-US" sz="2000" dirty="0">
                <a:solidFill>
                  <a:schemeClr val="accent1"/>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Reduce exposure to price volatility</a:t>
            </a:r>
          </a:p>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Leverage: </a:t>
            </a:r>
            <a:r>
              <a:rPr lang="en-US" sz="2000" dirty="0">
                <a:latin typeface="Arial" panose="020B0604020202020204" pitchFamily="34" charset="0"/>
                <a:cs typeface="Arial" panose="020B0604020202020204" pitchFamily="34" charset="0"/>
              </a:rPr>
              <a:t>Amplify returns with less capital</a:t>
            </a:r>
          </a:p>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Flexibility: </a:t>
            </a:r>
            <a:r>
              <a:rPr lang="en-US" sz="2000" dirty="0">
                <a:latin typeface="Arial" panose="020B0604020202020204" pitchFamily="34" charset="0"/>
                <a:cs typeface="Arial" panose="020B0604020202020204" pitchFamily="34" charset="0"/>
              </a:rPr>
              <a:t>Wide variety of contracts to suit needs</a:t>
            </a:r>
          </a:p>
          <a:p>
            <a:pPr>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Liquidity:</a:t>
            </a:r>
            <a:r>
              <a:rPr lang="en-US" sz="2000" dirty="0">
                <a:latin typeface="Arial" panose="020B0604020202020204" pitchFamily="34" charset="0"/>
                <a:cs typeface="Arial" panose="020B0604020202020204" pitchFamily="34" charset="0"/>
              </a:rPr>
              <a:t> Large and active markets, especially on exchanges</a:t>
            </a:r>
          </a:p>
          <a:p>
            <a:endParaRPr lang="en-IN" dirty="0"/>
          </a:p>
        </p:txBody>
      </p:sp>
      <p:sp>
        <p:nvSpPr>
          <p:cNvPr id="2" name="Slide Number Placeholder 1">
            <a:extLst>
              <a:ext uri="{FF2B5EF4-FFF2-40B4-BE49-F238E27FC236}">
                <a16:creationId xmlns:a16="http://schemas.microsoft.com/office/drawing/2014/main" id="{99F5C392-D885-451C-BFEA-0244F9F3EAAA}"/>
              </a:ext>
            </a:extLst>
          </p:cNvPr>
          <p:cNvSpPr>
            <a:spLocks noGrp="1"/>
          </p:cNvSpPr>
          <p:nvPr>
            <p:ph type="sldNum" sz="quarter" idx="12"/>
          </p:nvPr>
        </p:nvSpPr>
        <p:spPr/>
        <p:txBody>
          <a:bodyPr/>
          <a:lstStyle/>
          <a:p>
            <a:fld id="{B7991F04-3566-4BB1-A8CB-A35BE8E11603}" type="slidenum">
              <a:rPr lang="en-IN" smtClean="0"/>
              <a:t>48</a:t>
            </a:fld>
            <a:endParaRPr lang="en-IN"/>
          </a:p>
        </p:txBody>
      </p:sp>
      <p:sp>
        <p:nvSpPr>
          <p:cNvPr id="6" name="Title 3">
            <a:extLst>
              <a:ext uri="{FF2B5EF4-FFF2-40B4-BE49-F238E27FC236}">
                <a16:creationId xmlns:a16="http://schemas.microsoft.com/office/drawing/2014/main" id="{FC0575EF-1A67-4A98-9B0A-FBE495889617}"/>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Advantages of Derivative Instruments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DFB687C-195E-4849-8BA3-F2A68818A56B}"/>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9020941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0D83BF2-BE7A-46B1-AA4B-817896CFCEE9}"/>
              </a:ext>
            </a:extLst>
          </p:cNvPr>
          <p:cNvSpPr>
            <a:spLocks noGrp="1"/>
          </p:cNvSpPr>
          <p:nvPr>
            <p:ph idx="1"/>
          </p:nvPr>
        </p:nvSpPr>
        <p:spPr>
          <a:xfrm>
            <a:off x="838200" y="1056426"/>
            <a:ext cx="10515600" cy="4295503"/>
          </a:xfrm>
        </p:spPr>
        <p:txBody>
          <a:bodyPr/>
          <a:lstStyle/>
          <a:p>
            <a:pPr algn="just">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Market risk: </a:t>
            </a:r>
            <a:r>
              <a:rPr lang="en-US" sz="2000" dirty="0">
                <a:latin typeface="Arial" panose="020B0604020202020204" pitchFamily="34" charset="0"/>
                <a:cs typeface="Arial" panose="020B0604020202020204" pitchFamily="34" charset="0"/>
              </a:rPr>
              <a:t>Losses due to unfavorable price movements</a:t>
            </a:r>
          </a:p>
          <a:p>
            <a:pPr algn="just">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Leverage risk: </a:t>
            </a:r>
            <a:r>
              <a:rPr lang="en-US" sz="2000" dirty="0">
                <a:latin typeface="Arial" panose="020B0604020202020204" pitchFamily="34" charset="0"/>
                <a:cs typeface="Arial" panose="020B0604020202020204" pitchFamily="34" charset="0"/>
              </a:rPr>
              <a:t>Small changes cause large losses or gains</a:t>
            </a:r>
          </a:p>
          <a:p>
            <a:pPr algn="just">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Counterparty risk: </a:t>
            </a:r>
            <a:r>
              <a:rPr lang="en-US" sz="2000" dirty="0">
                <a:latin typeface="Arial" panose="020B0604020202020204" pitchFamily="34" charset="0"/>
                <a:cs typeface="Arial" panose="020B0604020202020204" pitchFamily="34" charset="0"/>
              </a:rPr>
              <a:t>Risk that the other party defaults (especially in OTC)</a:t>
            </a:r>
          </a:p>
          <a:p>
            <a:pPr algn="just">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Liquidity risk: </a:t>
            </a:r>
            <a:r>
              <a:rPr lang="en-US" sz="2000" dirty="0">
                <a:latin typeface="Arial" panose="020B0604020202020204" pitchFamily="34" charset="0"/>
                <a:cs typeface="Arial" panose="020B0604020202020204" pitchFamily="34" charset="0"/>
              </a:rPr>
              <a:t>Difficulty in closing positions at desired prices</a:t>
            </a:r>
          </a:p>
          <a:p>
            <a:pPr algn="just">
              <a:lnSpc>
                <a:spcPct val="200000"/>
              </a:lnSpc>
              <a:buFont typeface="Arial" panose="020B0604020202020204" pitchFamily="34" charset="0"/>
              <a:buChar char="•"/>
            </a:pPr>
            <a:r>
              <a:rPr lang="en-US" sz="2000" dirty="0">
                <a:solidFill>
                  <a:schemeClr val="accent1"/>
                </a:solidFill>
                <a:latin typeface="Arial" panose="020B0604020202020204" pitchFamily="34" charset="0"/>
                <a:cs typeface="Arial" panose="020B0604020202020204" pitchFamily="34" charset="0"/>
              </a:rPr>
              <a:t>Complexity risk: </a:t>
            </a:r>
            <a:r>
              <a:rPr lang="en-US" sz="2000" dirty="0">
                <a:latin typeface="Arial" panose="020B0604020202020204" pitchFamily="34" charset="0"/>
                <a:cs typeface="Arial" panose="020B0604020202020204" pitchFamily="34" charset="0"/>
              </a:rPr>
              <a:t>Derivatives can be complex and hard to understand</a:t>
            </a:r>
          </a:p>
          <a:p>
            <a:endParaRPr lang="en-IN" dirty="0"/>
          </a:p>
        </p:txBody>
      </p:sp>
      <p:sp>
        <p:nvSpPr>
          <p:cNvPr id="2" name="Slide Number Placeholder 1">
            <a:extLst>
              <a:ext uri="{FF2B5EF4-FFF2-40B4-BE49-F238E27FC236}">
                <a16:creationId xmlns:a16="http://schemas.microsoft.com/office/drawing/2014/main" id="{C96ABCD6-D332-4A73-9519-77D17AC49C2B}"/>
              </a:ext>
            </a:extLst>
          </p:cNvPr>
          <p:cNvSpPr>
            <a:spLocks noGrp="1"/>
          </p:cNvSpPr>
          <p:nvPr>
            <p:ph type="sldNum" sz="quarter" idx="12"/>
          </p:nvPr>
        </p:nvSpPr>
        <p:spPr/>
        <p:txBody>
          <a:bodyPr/>
          <a:lstStyle/>
          <a:p>
            <a:fld id="{B7991F04-3566-4BB1-A8CB-A35BE8E11603}" type="slidenum">
              <a:rPr lang="en-IN" smtClean="0"/>
              <a:t>49</a:t>
            </a:fld>
            <a:endParaRPr lang="en-IN"/>
          </a:p>
        </p:txBody>
      </p:sp>
      <p:sp>
        <p:nvSpPr>
          <p:cNvPr id="6" name="Title 3">
            <a:extLst>
              <a:ext uri="{FF2B5EF4-FFF2-40B4-BE49-F238E27FC236}">
                <a16:creationId xmlns:a16="http://schemas.microsoft.com/office/drawing/2014/main" id="{A9A2D781-E4FC-4659-83A8-EB4CED18466B}"/>
              </a:ext>
            </a:extLst>
          </p:cNvPr>
          <p:cNvSpPr txBox="1">
            <a:spLocks/>
          </p:cNvSpPr>
          <p:nvPr/>
        </p:nvSpPr>
        <p:spPr>
          <a:xfrm>
            <a:off x="748553" y="153147"/>
            <a:ext cx="10123235" cy="459628"/>
          </a:xfrm>
          <a:prstGeom prst="rect">
            <a:avLst/>
          </a:prstGeom>
          <a:solidFill>
            <a:schemeClr val="tx2">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400" dirty="0">
                <a:solidFill>
                  <a:schemeClr val="tx1"/>
                </a:solidFill>
                <a:latin typeface="Arial" panose="020B0604020202020204" pitchFamily="34" charset="0"/>
                <a:cs typeface="Arial" panose="020B0604020202020204" pitchFamily="34" charset="0"/>
              </a:rPr>
              <a:t>Risks in Derivative Trading </a:t>
            </a:r>
            <a:endParaRPr lang="en-IN" sz="24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21242A02-F387-43B0-8C19-2F4F6EF308BB}"/>
              </a:ext>
            </a:extLst>
          </p:cNvPr>
          <p:cNvPicPr>
            <a:picLocks noChangeAspect="1"/>
          </p:cNvPicPr>
          <p:nvPr/>
        </p:nvPicPr>
        <p:blipFill>
          <a:blip r:embed="rId2"/>
          <a:stretch>
            <a:fillRect/>
          </a:stretch>
        </p:blipFill>
        <p:spPr>
          <a:xfrm>
            <a:off x="11027635" y="51275"/>
            <a:ext cx="966091" cy="746583"/>
          </a:xfrm>
          <a:prstGeom prst="rect">
            <a:avLst/>
          </a:prstGeom>
        </p:spPr>
      </p:pic>
    </p:spTree>
    <p:extLst>
      <p:ext uri="{BB962C8B-B14F-4D97-AF65-F5344CB8AC3E}">
        <p14:creationId xmlns:p14="http://schemas.microsoft.com/office/powerpoint/2010/main" val="21600984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CBEF9-625A-DD03-6272-3888F35C0C6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9DA3CC-F1A7-82E8-1424-8FFAE572EA71}"/>
              </a:ext>
            </a:extLst>
          </p:cNvPr>
          <p:cNvPicPr>
            <a:picLocks noChangeAspect="1"/>
          </p:cNvPicPr>
          <p:nvPr/>
        </p:nvPicPr>
        <p:blipFill>
          <a:blip r:embed="rId2"/>
          <a:stretch>
            <a:fillRect/>
          </a:stretch>
        </p:blipFill>
        <p:spPr>
          <a:xfrm>
            <a:off x="4338320" y="2384744"/>
            <a:ext cx="3515360" cy="2932430"/>
          </a:xfrm>
          <a:prstGeom prst="rect">
            <a:avLst/>
          </a:prstGeom>
        </p:spPr>
      </p:pic>
      <p:sp>
        <p:nvSpPr>
          <p:cNvPr id="2" name="TextBox 1">
            <a:extLst>
              <a:ext uri="{FF2B5EF4-FFF2-40B4-BE49-F238E27FC236}">
                <a16:creationId xmlns:a16="http://schemas.microsoft.com/office/drawing/2014/main" id="{B1A04FA7-BC3C-1C4E-6FCD-9A6E365A9066}"/>
              </a:ext>
            </a:extLst>
          </p:cNvPr>
          <p:cNvSpPr txBox="1"/>
          <p:nvPr/>
        </p:nvSpPr>
        <p:spPr>
          <a:xfrm>
            <a:off x="5020235" y="714229"/>
            <a:ext cx="2735033" cy="1477328"/>
          </a:xfrm>
          <a:prstGeom prst="rect">
            <a:avLst/>
          </a:prstGeom>
          <a:noFill/>
        </p:spPr>
        <p:txBody>
          <a:bodyPr wrap="square" rtlCol="0">
            <a:spAutoFit/>
          </a:bodyPr>
          <a:lstStyle/>
          <a:p>
            <a:r>
              <a:rPr lang="en-IN" sz="3000" b="1" dirty="0">
                <a:latin typeface="Arial" panose="020B0604020202020204" pitchFamily="34" charset="0"/>
                <a:cs typeface="Arial" panose="020B0604020202020204" pitchFamily="34" charset="0"/>
              </a:rPr>
              <a:t>NAMASKAR</a:t>
            </a:r>
          </a:p>
          <a:p>
            <a:r>
              <a:rPr lang="en-IN" sz="3000" b="1" dirty="0">
                <a:latin typeface="Arial" panose="020B0604020202020204" pitchFamily="34" charset="0"/>
                <a:cs typeface="Arial" panose="020B0604020202020204" pitchFamily="34" charset="0"/>
              </a:rPr>
              <a:t>         &amp;</a:t>
            </a:r>
          </a:p>
          <a:p>
            <a:r>
              <a:rPr lang="en-IN" sz="3000" b="1" dirty="0">
                <a:latin typeface="Arial" panose="020B0604020202020204" pitchFamily="34" charset="0"/>
                <a:cs typeface="Arial" panose="020B0604020202020204" pitchFamily="34" charset="0"/>
              </a:rPr>
              <a:t>THANK YOU </a:t>
            </a:r>
          </a:p>
        </p:txBody>
      </p:sp>
      <p:sp>
        <p:nvSpPr>
          <p:cNvPr id="3" name="Slide Number Placeholder 2">
            <a:extLst>
              <a:ext uri="{FF2B5EF4-FFF2-40B4-BE49-F238E27FC236}">
                <a16:creationId xmlns:a16="http://schemas.microsoft.com/office/drawing/2014/main" id="{55BED020-AD30-920D-847F-3287CFC0F38D}"/>
              </a:ext>
            </a:extLst>
          </p:cNvPr>
          <p:cNvSpPr>
            <a:spLocks noGrp="1"/>
          </p:cNvSpPr>
          <p:nvPr>
            <p:ph type="sldNum" sz="quarter" idx="12"/>
          </p:nvPr>
        </p:nvSpPr>
        <p:spPr/>
        <p:txBody>
          <a:bodyPr/>
          <a:lstStyle/>
          <a:p>
            <a:fld id="{A1DCFAE8-8E9E-42B1-9A81-DFF72612FDA6}" type="slidenum">
              <a:rPr lang="en-IN" smtClean="0"/>
              <a:t>50</a:t>
            </a:fld>
            <a:endParaRPr lang="en-IN"/>
          </a:p>
        </p:txBody>
      </p:sp>
    </p:spTree>
    <p:extLst>
      <p:ext uri="{BB962C8B-B14F-4D97-AF65-F5344CB8AC3E}">
        <p14:creationId xmlns:p14="http://schemas.microsoft.com/office/powerpoint/2010/main" val="2345139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839</TotalTime>
  <Words>3426</Words>
  <Application>Microsoft Office PowerPoint</Application>
  <PresentationFormat>Widescreen</PresentationFormat>
  <Paragraphs>395</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FINANCIAL INSTRUMENTS </vt:lpstr>
      <vt:lpstr>Learning Outcomes</vt:lpstr>
      <vt:lpstr>Financial Instruments</vt:lpstr>
      <vt:lpstr>PowerPoint Presentation</vt:lpstr>
      <vt:lpstr>PowerPoint Presentation</vt:lpstr>
      <vt:lpstr>Equity  Instruments</vt:lpstr>
      <vt:lpstr>Types of Equity Instruments</vt:lpstr>
      <vt:lpstr>Types of Equity Instruments</vt:lpstr>
      <vt:lpstr>Types of Equity Instruments</vt:lpstr>
      <vt:lpstr>How are Equity Instruments Traded?</vt:lpstr>
      <vt:lpstr>Example of Equity Instruments</vt:lpstr>
      <vt:lpstr>Advantages of Equity  Instruments</vt:lpstr>
      <vt:lpstr>Risk Associated with Equity</vt:lpstr>
      <vt:lpstr>Debt  Instruments</vt:lpstr>
      <vt:lpstr>Key Features of Debt Instruments </vt:lpstr>
      <vt:lpstr>PowerPoint Presentation</vt:lpstr>
      <vt:lpstr>What are Bonds?  </vt:lpstr>
      <vt:lpstr>What are Bonds?  </vt:lpstr>
      <vt:lpstr>PowerPoint Presentation</vt:lpstr>
      <vt:lpstr>PowerPoint Presentation</vt:lpstr>
      <vt:lpstr>PowerPoint Presentation</vt:lpstr>
      <vt:lpstr>PowerPoint Presentation</vt:lpstr>
      <vt:lpstr> Types of Bonds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Bond vs Debenture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INSTRUMENTS</dc:title>
  <dc:creator>Subhasmita Parida</dc:creator>
  <cp:lastModifiedBy>Subhasmita Parida</cp:lastModifiedBy>
  <cp:revision>57</cp:revision>
  <dcterms:created xsi:type="dcterms:W3CDTF">2025-08-10T11:06:15Z</dcterms:created>
  <dcterms:modified xsi:type="dcterms:W3CDTF">2025-08-19T10:58:56Z</dcterms:modified>
</cp:coreProperties>
</file>