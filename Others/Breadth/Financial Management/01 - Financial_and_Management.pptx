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323" r:id="rId3"/>
    <p:sldId id="326" r:id="rId4"/>
    <p:sldId id="327" r:id="rId5"/>
    <p:sldId id="289" r:id="rId6"/>
    <p:sldId id="262" r:id="rId7"/>
    <p:sldId id="265" r:id="rId8"/>
    <p:sldId id="328" r:id="rId9"/>
    <p:sldId id="329" r:id="rId10"/>
    <p:sldId id="333" r:id="rId11"/>
    <p:sldId id="330" r:id="rId12"/>
    <p:sldId id="331" r:id="rId13"/>
    <p:sldId id="332" r:id="rId14"/>
    <p:sldId id="26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249" autoAdjust="0"/>
    <p:restoredTop sz="94660"/>
  </p:normalViewPr>
  <p:slideViewPr>
    <p:cSldViewPr snapToGrid="0">
      <p:cViewPr varScale="1">
        <p:scale>
          <a:sx n="86" d="100"/>
          <a:sy n="86" d="100"/>
        </p:scale>
        <p:origin x="6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74A1F31-436E-4C59-9D1F-2293138613C2}" type="doc">
      <dgm:prSet loTypeId="urn:microsoft.com/office/officeart/2005/8/layout/cycle4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95A6CB8-41B0-49C9-8AB8-79BADB8BF34C}">
      <dgm:prSet phldrT="[Text]" custT="1"/>
      <dgm:spPr/>
      <dgm:t>
        <a:bodyPr/>
        <a:lstStyle/>
        <a:p>
          <a:r>
            <a:rPr lang="en-US" sz="1800" dirty="0"/>
            <a:t>Planning</a:t>
          </a:r>
          <a:endParaRPr lang="en-IN" sz="1800" dirty="0"/>
        </a:p>
      </dgm:t>
    </dgm:pt>
    <dgm:pt modelId="{C83051E2-B82E-4122-AB37-D707C717F9E6}" type="parTrans" cxnId="{3637DF5A-A2D2-4567-B674-57164AB36E8F}">
      <dgm:prSet/>
      <dgm:spPr/>
      <dgm:t>
        <a:bodyPr/>
        <a:lstStyle/>
        <a:p>
          <a:endParaRPr lang="en-IN"/>
        </a:p>
      </dgm:t>
    </dgm:pt>
    <dgm:pt modelId="{7F22F512-02A1-4C1B-BD4D-92ED8B159081}" type="sibTrans" cxnId="{3637DF5A-A2D2-4567-B674-57164AB36E8F}">
      <dgm:prSet/>
      <dgm:spPr/>
      <dgm:t>
        <a:bodyPr/>
        <a:lstStyle/>
        <a:p>
          <a:endParaRPr lang="en-IN"/>
        </a:p>
      </dgm:t>
    </dgm:pt>
    <dgm:pt modelId="{70558E15-D767-458F-97E7-54B4996267C3}">
      <dgm:prSet phldrT="[Text]" custT="1"/>
      <dgm:spPr/>
      <dgm:t>
        <a:bodyPr/>
        <a:lstStyle/>
        <a:p>
          <a:pPr>
            <a:buNone/>
          </a:pPr>
          <a:r>
            <a:rPr lang="en-IN" sz="1600" dirty="0"/>
            <a:t>    </a:t>
          </a:r>
          <a:r>
            <a:rPr lang="en-IN" sz="1700" dirty="0">
              <a:latin typeface="Arial" panose="020B0604020202020204" pitchFamily="34" charset="0"/>
              <a:cs typeface="Arial" panose="020B0604020202020204" pitchFamily="34" charset="0"/>
            </a:rPr>
            <a:t>Forecasting financial needs and budgeting</a:t>
          </a:r>
        </a:p>
      </dgm:t>
    </dgm:pt>
    <dgm:pt modelId="{4CE7FBEE-A82F-44A8-BCDA-DB95C33FC64D}" type="parTrans" cxnId="{A56AF88F-A4F6-4EE5-A155-569F482679A3}">
      <dgm:prSet/>
      <dgm:spPr/>
      <dgm:t>
        <a:bodyPr/>
        <a:lstStyle/>
        <a:p>
          <a:endParaRPr lang="en-IN"/>
        </a:p>
      </dgm:t>
    </dgm:pt>
    <dgm:pt modelId="{4A86BCD1-00EA-4257-9A83-3FD47D36CD1D}" type="sibTrans" cxnId="{A56AF88F-A4F6-4EE5-A155-569F482679A3}">
      <dgm:prSet/>
      <dgm:spPr/>
      <dgm:t>
        <a:bodyPr/>
        <a:lstStyle/>
        <a:p>
          <a:endParaRPr lang="en-IN"/>
        </a:p>
      </dgm:t>
    </dgm:pt>
    <dgm:pt modelId="{E79C2263-D73C-437E-8689-ED9AEA31BCCF}">
      <dgm:prSet phldrT="[Text]" custT="1"/>
      <dgm:spPr/>
      <dgm:t>
        <a:bodyPr/>
        <a:lstStyle/>
        <a:p>
          <a:r>
            <a:rPr lang="en-US" sz="1700" dirty="0"/>
            <a:t>Organizin</a:t>
          </a:r>
          <a:r>
            <a:rPr lang="en-US" sz="1800" dirty="0"/>
            <a:t>g</a:t>
          </a:r>
          <a:endParaRPr lang="en-IN" sz="1800" dirty="0"/>
        </a:p>
      </dgm:t>
    </dgm:pt>
    <dgm:pt modelId="{6F69D7B4-F9A1-4295-9190-619381F4811A}" type="parTrans" cxnId="{330ABBC5-6A2F-4DD3-8349-BC7FC1370069}">
      <dgm:prSet/>
      <dgm:spPr/>
      <dgm:t>
        <a:bodyPr/>
        <a:lstStyle/>
        <a:p>
          <a:endParaRPr lang="en-IN"/>
        </a:p>
      </dgm:t>
    </dgm:pt>
    <dgm:pt modelId="{EC6AB96C-F159-4AC8-8700-168AB3D071C1}" type="sibTrans" cxnId="{330ABBC5-6A2F-4DD3-8349-BC7FC1370069}">
      <dgm:prSet/>
      <dgm:spPr/>
      <dgm:t>
        <a:bodyPr/>
        <a:lstStyle/>
        <a:p>
          <a:endParaRPr lang="en-IN"/>
        </a:p>
      </dgm:t>
    </dgm:pt>
    <dgm:pt modelId="{F9B24387-AE4A-47EA-BF98-762978D9CD1B}">
      <dgm:prSet phldrT="[Text]" custT="1"/>
      <dgm:spPr/>
      <dgm:t>
        <a:bodyPr/>
        <a:lstStyle/>
        <a:p>
          <a:pPr>
            <a:buFontTx/>
            <a:buNone/>
          </a:pPr>
          <a:r>
            <a:rPr lang="en-US" sz="1700" dirty="0">
              <a:latin typeface="Arial" panose="020B0604020202020204" pitchFamily="34" charset="0"/>
              <a:cs typeface="Arial" panose="020B0604020202020204" pitchFamily="34" charset="0"/>
            </a:rPr>
            <a:t>Structuring financial     activities</a:t>
          </a:r>
          <a:endParaRPr lang="en-IN" sz="17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00E199E-BA09-4E80-8C66-306CA670DC2C}" type="parTrans" cxnId="{60BA2D98-4291-466D-A674-92D88C46A1E9}">
      <dgm:prSet/>
      <dgm:spPr/>
      <dgm:t>
        <a:bodyPr/>
        <a:lstStyle/>
        <a:p>
          <a:endParaRPr lang="en-IN"/>
        </a:p>
      </dgm:t>
    </dgm:pt>
    <dgm:pt modelId="{F81763B2-18E7-45E7-BB2A-3F6EC917A317}" type="sibTrans" cxnId="{60BA2D98-4291-466D-A674-92D88C46A1E9}">
      <dgm:prSet/>
      <dgm:spPr/>
      <dgm:t>
        <a:bodyPr/>
        <a:lstStyle/>
        <a:p>
          <a:endParaRPr lang="en-IN"/>
        </a:p>
      </dgm:t>
    </dgm:pt>
    <dgm:pt modelId="{DF3C090E-2B8D-404C-8F2C-8D1C31B665EA}">
      <dgm:prSet phldrT="[Text]"/>
      <dgm:spPr/>
      <dgm:t>
        <a:bodyPr/>
        <a:lstStyle/>
        <a:p>
          <a:r>
            <a:rPr lang="en-US" dirty="0"/>
            <a:t>Controlling</a:t>
          </a:r>
          <a:endParaRPr lang="en-IN" dirty="0"/>
        </a:p>
      </dgm:t>
    </dgm:pt>
    <dgm:pt modelId="{868A5F93-25AF-40A6-A794-EA909B2C2435}" type="parTrans" cxnId="{C5AF219B-0898-4703-BB86-7BEF6F0EC3D6}">
      <dgm:prSet/>
      <dgm:spPr/>
      <dgm:t>
        <a:bodyPr/>
        <a:lstStyle/>
        <a:p>
          <a:endParaRPr lang="en-IN"/>
        </a:p>
      </dgm:t>
    </dgm:pt>
    <dgm:pt modelId="{469FFE9D-169A-4AE2-8953-BD868E7E0688}" type="sibTrans" cxnId="{C5AF219B-0898-4703-BB86-7BEF6F0EC3D6}">
      <dgm:prSet/>
      <dgm:spPr/>
      <dgm:t>
        <a:bodyPr/>
        <a:lstStyle/>
        <a:p>
          <a:endParaRPr lang="en-IN"/>
        </a:p>
      </dgm:t>
    </dgm:pt>
    <dgm:pt modelId="{732CC2E0-CCB0-4734-B9B0-DF4CB1B9F662}">
      <dgm:prSet phldrT="[Text]" custT="1"/>
      <dgm:spPr/>
      <dgm:t>
        <a:bodyPr/>
        <a:lstStyle/>
        <a:p>
          <a:pPr>
            <a:buFontTx/>
            <a:buNone/>
          </a:pPr>
          <a:r>
            <a:rPr lang="en-US" sz="1700" dirty="0">
              <a:latin typeface="Arial" panose="020B0604020202020204" pitchFamily="34" charset="0"/>
              <a:cs typeface="Arial" panose="020B0604020202020204" pitchFamily="34" charset="0"/>
            </a:rPr>
            <a:t>       Monitoring &amp; evaluating financial performance</a:t>
          </a:r>
          <a:endParaRPr lang="en-IN" sz="17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27B2110-99B7-4256-A170-C7197A73D5C0}" type="parTrans" cxnId="{79C0AB2B-C1AC-425D-9E45-AF52C233F5C1}">
      <dgm:prSet/>
      <dgm:spPr/>
      <dgm:t>
        <a:bodyPr/>
        <a:lstStyle/>
        <a:p>
          <a:endParaRPr lang="en-IN"/>
        </a:p>
      </dgm:t>
    </dgm:pt>
    <dgm:pt modelId="{CA785EEF-D43D-49A9-9C20-B8D5A0C9DEE2}" type="sibTrans" cxnId="{79C0AB2B-C1AC-425D-9E45-AF52C233F5C1}">
      <dgm:prSet/>
      <dgm:spPr/>
      <dgm:t>
        <a:bodyPr/>
        <a:lstStyle/>
        <a:p>
          <a:endParaRPr lang="en-IN"/>
        </a:p>
      </dgm:t>
    </dgm:pt>
    <dgm:pt modelId="{2F6A6D30-C8FE-490B-A522-FD29F4EABB4E}">
      <dgm:prSet phldrT="[Text]" custT="1"/>
      <dgm:spPr/>
      <dgm:t>
        <a:bodyPr/>
        <a:lstStyle/>
        <a:p>
          <a:r>
            <a:rPr lang="en-US" sz="1700" dirty="0"/>
            <a:t>Directing</a:t>
          </a:r>
          <a:endParaRPr lang="en-IN" sz="1700" dirty="0"/>
        </a:p>
      </dgm:t>
    </dgm:pt>
    <dgm:pt modelId="{E092252B-57E9-42C2-BEA1-CE609DA5F13C}" type="parTrans" cxnId="{524BF4AD-A869-4CDB-8DD8-85269397BCDE}">
      <dgm:prSet/>
      <dgm:spPr/>
      <dgm:t>
        <a:bodyPr/>
        <a:lstStyle/>
        <a:p>
          <a:endParaRPr lang="en-IN"/>
        </a:p>
      </dgm:t>
    </dgm:pt>
    <dgm:pt modelId="{893EF4CB-05AF-44DB-9B68-825D456E01F1}" type="sibTrans" cxnId="{524BF4AD-A869-4CDB-8DD8-85269397BCDE}">
      <dgm:prSet/>
      <dgm:spPr/>
      <dgm:t>
        <a:bodyPr/>
        <a:lstStyle/>
        <a:p>
          <a:endParaRPr lang="en-IN"/>
        </a:p>
      </dgm:t>
    </dgm:pt>
    <dgm:pt modelId="{8D3E4176-FE82-412F-86BE-BED34C093D5C}">
      <dgm:prSet phldrT="[Text]" custT="1"/>
      <dgm:spPr/>
      <dgm:t>
        <a:bodyPr/>
        <a:lstStyle/>
        <a:p>
          <a:pPr algn="ctr">
            <a:buFontTx/>
            <a:buNone/>
          </a:pPr>
          <a:r>
            <a:rPr lang="en-US" sz="1700" dirty="0"/>
            <a:t>Implementing financial plans</a:t>
          </a:r>
          <a:endParaRPr lang="en-IN" sz="1700" dirty="0"/>
        </a:p>
      </dgm:t>
    </dgm:pt>
    <dgm:pt modelId="{912EC4AE-ABD4-4433-A62C-0D55B9CCB5A1}" type="parTrans" cxnId="{D6143C7B-2BD2-4D1D-9DFE-680F82385985}">
      <dgm:prSet/>
      <dgm:spPr/>
      <dgm:t>
        <a:bodyPr/>
        <a:lstStyle/>
        <a:p>
          <a:endParaRPr lang="en-IN"/>
        </a:p>
      </dgm:t>
    </dgm:pt>
    <dgm:pt modelId="{301EC812-C99C-42CD-A7D0-6F98B3BFF3C1}" type="sibTrans" cxnId="{D6143C7B-2BD2-4D1D-9DFE-680F82385985}">
      <dgm:prSet/>
      <dgm:spPr/>
      <dgm:t>
        <a:bodyPr/>
        <a:lstStyle/>
        <a:p>
          <a:endParaRPr lang="en-IN"/>
        </a:p>
      </dgm:t>
    </dgm:pt>
    <dgm:pt modelId="{08157D32-43A9-457A-B320-0B4D93D938B6}" type="pres">
      <dgm:prSet presAssocID="{974A1F31-436E-4C59-9D1F-2293138613C2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E193B44F-34FD-47B7-85C8-C5A44B51CBF4}" type="pres">
      <dgm:prSet presAssocID="{974A1F31-436E-4C59-9D1F-2293138613C2}" presName="children" presStyleCnt="0"/>
      <dgm:spPr/>
    </dgm:pt>
    <dgm:pt modelId="{BF98D136-A3BA-47AE-A06E-E9409A7823B6}" type="pres">
      <dgm:prSet presAssocID="{974A1F31-436E-4C59-9D1F-2293138613C2}" presName="child1group" presStyleCnt="0"/>
      <dgm:spPr/>
    </dgm:pt>
    <dgm:pt modelId="{D20DEBE1-CA12-4AA0-A05A-E0D7C8685EA3}" type="pres">
      <dgm:prSet presAssocID="{974A1F31-436E-4C59-9D1F-2293138613C2}" presName="child1" presStyleLbl="bgAcc1" presStyleIdx="0" presStyleCnt="4" custScaleX="153468"/>
      <dgm:spPr/>
    </dgm:pt>
    <dgm:pt modelId="{8FE51C56-9FBD-49A4-9C00-B1ACA42752A1}" type="pres">
      <dgm:prSet presAssocID="{974A1F31-436E-4C59-9D1F-2293138613C2}" presName="child1Text" presStyleLbl="bgAcc1" presStyleIdx="0" presStyleCnt="4">
        <dgm:presLayoutVars>
          <dgm:bulletEnabled val="1"/>
        </dgm:presLayoutVars>
      </dgm:prSet>
      <dgm:spPr/>
    </dgm:pt>
    <dgm:pt modelId="{69A685E4-8191-4CD8-B4AE-495D1574794B}" type="pres">
      <dgm:prSet presAssocID="{974A1F31-436E-4C59-9D1F-2293138613C2}" presName="child2group" presStyleCnt="0"/>
      <dgm:spPr/>
    </dgm:pt>
    <dgm:pt modelId="{89163D01-1619-4601-A7C6-64D4488681C0}" type="pres">
      <dgm:prSet presAssocID="{974A1F31-436E-4C59-9D1F-2293138613C2}" presName="child2" presStyleLbl="bgAcc1" presStyleIdx="1" presStyleCnt="4" custScaleX="151838"/>
      <dgm:spPr/>
    </dgm:pt>
    <dgm:pt modelId="{6BE58B25-E479-4BCE-BAC4-1AF250188F98}" type="pres">
      <dgm:prSet presAssocID="{974A1F31-436E-4C59-9D1F-2293138613C2}" presName="child2Text" presStyleLbl="bgAcc1" presStyleIdx="1" presStyleCnt="4">
        <dgm:presLayoutVars>
          <dgm:bulletEnabled val="1"/>
        </dgm:presLayoutVars>
      </dgm:prSet>
      <dgm:spPr/>
    </dgm:pt>
    <dgm:pt modelId="{4BD8E9FE-5C95-4197-A6AE-95FAF602569D}" type="pres">
      <dgm:prSet presAssocID="{974A1F31-436E-4C59-9D1F-2293138613C2}" presName="child3group" presStyleCnt="0"/>
      <dgm:spPr/>
    </dgm:pt>
    <dgm:pt modelId="{5FBC07F9-BF24-4750-AE0E-A21D9B7E22AD}" type="pres">
      <dgm:prSet presAssocID="{974A1F31-436E-4C59-9D1F-2293138613C2}" presName="child3" presStyleLbl="bgAcc1" presStyleIdx="2" presStyleCnt="4" custScaleX="163470"/>
      <dgm:spPr/>
    </dgm:pt>
    <dgm:pt modelId="{1F7C772E-8C09-4D17-8621-037A21D389EB}" type="pres">
      <dgm:prSet presAssocID="{974A1F31-436E-4C59-9D1F-2293138613C2}" presName="child3Text" presStyleLbl="bgAcc1" presStyleIdx="2" presStyleCnt="4">
        <dgm:presLayoutVars>
          <dgm:bulletEnabled val="1"/>
        </dgm:presLayoutVars>
      </dgm:prSet>
      <dgm:spPr/>
    </dgm:pt>
    <dgm:pt modelId="{9EE5E2F2-B7A4-4E0E-A653-5DF7252FBF38}" type="pres">
      <dgm:prSet presAssocID="{974A1F31-436E-4C59-9D1F-2293138613C2}" presName="child4group" presStyleCnt="0"/>
      <dgm:spPr/>
    </dgm:pt>
    <dgm:pt modelId="{9F37D1F7-216E-40A7-848C-49E4C5F629DD}" type="pres">
      <dgm:prSet presAssocID="{974A1F31-436E-4C59-9D1F-2293138613C2}" presName="child4" presStyleLbl="bgAcc1" presStyleIdx="3" presStyleCnt="4" custScaleX="151356" custLinFactNeighborX="576" custLinFactNeighborY="-3670"/>
      <dgm:spPr/>
    </dgm:pt>
    <dgm:pt modelId="{9CA58506-BD6F-422E-9534-1BE74649CDD3}" type="pres">
      <dgm:prSet presAssocID="{974A1F31-436E-4C59-9D1F-2293138613C2}" presName="child4Text" presStyleLbl="bgAcc1" presStyleIdx="3" presStyleCnt="4">
        <dgm:presLayoutVars>
          <dgm:bulletEnabled val="1"/>
        </dgm:presLayoutVars>
      </dgm:prSet>
      <dgm:spPr/>
    </dgm:pt>
    <dgm:pt modelId="{0B4F5836-0ADD-43E7-8BAE-801C6A25DB99}" type="pres">
      <dgm:prSet presAssocID="{974A1F31-436E-4C59-9D1F-2293138613C2}" presName="childPlaceholder" presStyleCnt="0"/>
      <dgm:spPr/>
    </dgm:pt>
    <dgm:pt modelId="{7087CA1A-34FD-4BDC-8888-4B10B1429C26}" type="pres">
      <dgm:prSet presAssocID="{974A1F31-436E-4C59-9D1F-2293138613C2}" presName="circle" presStyleCnt="0"/>
      <dgm:spPr/>
    </dgm:pt>
    <dgm:pt modelId="{B829931F-B548-4936-8AF6-9ED32C6A9D36}" type="pres">
      <dgm:prSet presAssocID="{974A1F31-436E-4C59-9D1F-2293138613C2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CE32A96D-290E-4E53-834B-F1BC3030D244}" type="pres">
      <dgm:prSet presAssocID="{974A1F31-436E-4C59-9D1F-2293138613C2}" presName="quadrant2" presStyleLbl="node1" presStyleIdx="1" presStyleCnt="4" custLinFactNeighborX="-371" custLinFactNeighborY="-371">
        <dgm:presLayoutVars>
          <dgm:chMax val="1"/>
          <dgm:bulletEnabled val="1"/>
        </dgm:presLayoutVars>
      </dgm:prSet>
      <dgm:spPr/>
    </dgm:pt>
    <dgm:pt modelId="{6EF3BA02-849B-4506-88BA-7A206C0B02EC}" type="pres">
      <dgm:prSet presAssocID="{974A1F31-436E-4C59-9D1F-2293138613C2}" presName="quadrant3" presStyleLbl="node1" presStyleIdx="2" presStyleCnt="4" custLinFactNeighborX="-657" custLinFactNeighborY="2408">
        <dgm:presLayoutVars>
          <dgm:chMax val="1"/>
          <dgm:bulletEnabled val="1"/>
        </dgm:presLayoutVars>
      </dgm:prSet>
      <dgm:spPr/>
    </dgm:pt>
    <dgm:pt modelId="{89D571DF-FD22-4181-9D9B-AFA44FA41137}" type="pres">
      <dgm:prSet presAssocID="{974A1F31-436E-4C59-9D1F-2293138613C2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124CFAD6-00C0-4EE5-94B3-C57409D650D8}" type="pres">
      <dgm:prSet presAssocID="{974A1F31-436E-4C59-9D1F-2293138613C2}" presName="quadrantPlaceholder" presStyleCnt="0"/>
      <dgm:spPr/>
    </dgm:pt>
    <dgm:pt modelId="{F44B303F-086D-48DF-968B-DC6CA48B7DE6}" type="pres">
      <dgm:prSet presAssocID="{974A1F31-436E-4C59-9D1F-2293138613C2}" presName="center1" presStyleLbl="fgShp" presStyleIdx="0" presStyleCnt="2"/>
      <dgm:spPr/>
    </dgm:pt>
    <dgm:pt modelId="{E0CFC364-8597-41B4-A567-35E4A87DE555}" type="pres">
      <dgm:prSet presAssocID="{974A1F31-436E-4C59-9D1F-2293138613C2}" presName="center2" presStyleLbl="fgShp" presStyleIdx="1" presStyleCnt="2"/>
      <dgm:spPr/>
    </dgm:pt>
  </dgm:ptLst>
  <dgm:cxnLst>
    <dgm:cxn modelId="{455DBF0C-31A7-422C-8530-FE5407F02E05}" type="presOf" srcId="{732CC2E0-CCB0-4734-B9B0-DF4CB1B9F662}" destId="{5FBC07F9-BF24-4750-AE0E-A21D9B7E22AD}" srcOrd="0" destOrd="0" presId="urn:microsoft.com/office/officeart/2005/8/layout/cycle4"/>
    <dgm:cxn modelId="{AFC1A90F-CFE6-4A55-A89A-74C6E4A6212C}" type="presOf" srcId="{895A6CB8-41B0-49C9-8AB8-79BADB8BF34C}" destId="{B829931F-B548-4936-8AF6-9ED32C6A9D36}" srcOrd="0" destOrd="0" presId="urn:microsoft.com/office/officeart/2005/8/layout/cycle4"/>
    <dgm:cxn modelId="{79C0AB2B-C1AC-425D-9E45-AF52C233F5C1}" srcId="{DF3C090E-2B8D-404C-8F2C-8D1C31B665EA}" destId="{732CC2E0-CCB0-4734-B9B0-DF4CB1B9F662}" srcOrd="0" destOrd="0" parTransId="{827B2110-99B7-4256-A170-C7197A73D5C0}" sibTransId="{CA785EEF-D43D-49A9-9C20-B8D5A0C9DEE2}"/>
    <dgm:cxn modelId="{BD6E515E-1C9F-415A-89E2-3C9DEF3846CC}" type="presOf" srcId="{8D3E4176-FE82-412F-86BE-BED34C093D5C}" destId="{9CA58506-BD6F-422E-9534-1BE74649CDD3}" srcOrd="1" destOrd="0" presId="urn:microsoft.com/office/officeart/2005/8/layout/cycle4"/>
    <dgm:cxn modelId="{F2F7E458-21A9-4A22-8F8D-C50172CF381B}" type="presOf" srcId="{70558E15-D767-458F-97E7-54B4996267C3}" destId="{8FE51C56-9FBD-49A4-9C00-B1ACA42752A1}" srcOrd="1" destOrd="0" presId="urn:microsoft.com/office/officeart/2005/8/layout/cycle4"/>
    <dgm:cxn modelId="{3637DF5A-A2D2-4567-B674-57164AB36E8F}" srcId="{974A1F31-436E-4C59-9D1F-2293138613C2}" destId="{895A6CB8-41B0-49C9-8AB8-79BADB8BF34C}" srcOrd="0" destOrd="0" parTransId="{C83051E2-B82E-4122-AB37-D707C717F9E6}" sibTransId="{7F22F512-02A1-4C1B-BD4D-92ED8B159081}"/>
    <dgm:cxn modelId="{D6143C7B-2BD2-4D1D-9DFE-680F82385985}" srcId="{2F6A6D30-C8FE-490B-A522-FD29F4EABB4E}" destId="{8D3E4176-FE82-412F-86BE-BED34C093D5C}" srcOrd="0" destOrd="0" parTransId="{912EC4AE-ABD4-4433-A62C-0D55B9CCB5A1}" sibTransId="{301EC812-C99C-42CD-A7D0-6F98B3BFF3C1}"/>
    <dgm:cxn modelId="{A56AF88F-A4F6-4EE5-A155-569F482679A3}" srcId="{895A6CB8-41B0-49C9-8AB8-79BADB8BF34C}" destId="{70558E15-D767-458F-97E7-54B4996267C3}" srcOrd="0" destOrd="0" parTransId="{4CE7FBEE-A82F-44A8-BCDA-DB95C33FC64D}" sibTransId="{4A86BCD1-00EA-4257-9A83-3FD47D36CD1D}"/>
    <dgm:cxn modelId="{1EA82998-9396-4CC7-B2A6-7EB221738FF9}" type="presOf" srcId="{F9B24387-AE4A-47EA-BF98-762978D9CD1B}" destId="{89163D01-1619-4601-A7C6-64D4488681C0}" srcOrd="0" destOrd="0" presId="urn:microsoft.com/office/officeart/2005/8/layout/cycle4"/>
    <dgm:cxn modelId="{60BA2D98-4291-466D-A674-92D88C46A1E9}" srcId="{E79C2263-D73C-437E-8689-ED9AEA31BCCF}" destId="{F9B24387-AE4A-47EA-BF98-762978D9CD1B}" srcOrd="0" destOrd="0" parTransId="{900E199E-BA09-4E80-8C66-306CA670DC2C}" sibTransId="{F81763B2-18E7-45E7-BB2A-3F6EC917A317}"/>
    <dgm:cxn modelId="{C5AF219B-0898-4703-BB86-7BEF6F0EC3D6}" srcId="{974A1F31-436E-4C59-9D1F-2293138613C2}" destId="{DF3C090E-2B8D-404C-8F2C-8D1C31B665EA}" srcOrd="2" destOrd="0" parTransId="{868A5F93-25AF-40A6-A794-EA909B2C2435}" sibTransId="{469FFE9D-169A-4AE2-8953-BD868E7E0688}"/>
    <dgm:cxn modelId="{478A90AA-2F17-4498-8C0C-D68CB5F2584A}" type="presOf" srcId="{F9B24387-AE4A-47EA-BF98-762978D9CD1B}" destId="{6BE58B25-E479-4BCE-BAC4-1AF250188F98}" srcOrd="1" destOrd="0" presId="urn:microsoft.com/office/officeart/2005/8/layout/cycle4"/>
    <dgm:cxn modelId="{524BF4AD-A869-4CDB-8DD8-85269397BCDE}" srcId="{974A1F31-436E-4C59-9D1F-2293138613C2}" destId="{2F6A6D30-C8FE-490B-A522-FD29F4EABB4E}" srcOrd="3" destOrd="0" parTransId="{E092252B-57E9-42C2-BEA1-CE609DA5F13C}" sibTransId="{893EF4CB-05AF-44DB-9B68-825D456E01F1}"/>
    <dgm:cxn modelId="{C552ABB0-438C-4304-A932-32B711084A98}" type="presOf" srcId="{E79C2263-D73C-437E-8689-ED9AEA31BCCF}" destId="{CE32A96D-290E-4E53-834B-F1BC3030D244}" srcOrd="0" destOrd="0" presId="urn:microsoft.com/office/officeart/2005/8/layout/cycle4"/>
    <dgm:cxn modelId="{46309DBA-168A-47BD-BADE-818A7617DCAA}" type="presOf" srcId="{974A1F31-436E-4C59-9D1F-2293138613C2}" destId="{08157D32-43A9-457A-B320-0B4D93D938B6}" srcOrd="0" destOrd="0" presId="urn:microsoft.com/office/officeart/2005/8/layout/cycle4"/>
    <dgm:cxn modelId="{330ABBC5-6A2F-4DD3-8349-BC7FC1370069}" srcId="{974A1F31-436E-4C59-9D1F-2293138613C2}" destId="{E79C2263-D73C-437E-8689-ED9AEA31BCCF}" srcOrd="1" destOrd="0" parTransId="{6F69D7B4-F9A1-4295-9190-619381F4811A}" sibTransId="{EC6AB96C-F159-4AC8-8700-168AB3D071C1}"/>
    <dgm:cxn modelId="{89CE7CCF-1953-4F19-A396-42DAA8805B87}" type="presOf" srcId="{732CC2E0-CCB0-4734-B9B0-DF4CB1B9F662}" destId="{1F7C772E-8C09-4D17-8621-037A21D389EB}" srcOrd="1" destOrd="0" presId="urn:microsoft.com/office/officeart/2005/8/layout/cycle4"/>
    <dgm:cxn modelId="{A49FDED6-DDCA-4684-A266-1CF2BB10BA16}" type="presOf" srcId="{8D3E4176-FE82-412F-86BE-BED34C093D5C}" destId="{9F37D1F7-216E-40A7-848C-49E4C5F629DD}" srcOrd="0" destOrd="0" presId="urn:microsoft.com/office/officeart/2005/8/layout/cycle4"/>
    <dgm:cxn modelId="{92A457F0-9FF5-4B86-A5B3-419135D31981}" type="presOf" srcId="{DF3C090E-2B8D-404C-8F2C-8D1C31B665EA}" destId="{6EF3BA02-849B-4506-88BA-7A206C0B02EC}" srcOrd="0" destOrd="0" presId="urn:microsoft.com/office/officeart/2005/8/layout/cycle4"/>
    <dgm:cxn modelId="{60A824F5-4636-43C9-BBA3-52EE85DC93FE}" type="presOf" srcId="{70558E15-D767-458F-97E7-54B4996267C3}" destId="{D20DEBE1-CA12-4AA0-A05A-E0D7C8685EA3}" srcOrd="0" destOrd="0" presId="urn:microsoft.com/office/officeart/2005/8/layout/cycle4"/>
    <dgm:cxn modelId="{142454FB-2D3F-4885-BF82-105E674AA6B9}" type="presOf" srcId="{2F6A6D30-C8FE-490B-A522-FD29F4EABB4E}" destId="{89D571DF-FD22-4181-9D9B-AFA44FA41137}" srcOrd="0" destOrd="0" presId="urn:microsoft.com/office/officeart/2005/8/layout/cycle4"/>
    <dgm:cxn modelId="{BB73D480-C5A5-4CF6-9F25-922085ABB695}" type="presParOf" srcId="{08157D32-43A9-457A-B320-0B4D93D938B6}" destId="{E193B44F-34FD-47B7-85C8-C5A44B51CBF4}" srcOrd="0" destOrd="0" presId="urn:microsoft.com/office/officeart/2005/8/layout/cycle4"/>
    <dgm:cxn modelId="{6D63BDDF-4F95-46AD-A3E4-739667D7550F}" type="presParOf" srcId="{E193B44F-34FD-47B7-85C8-C5A44B51CBF4}" destId="{BF98D136-A3BA-47AE-A06E-E9409A7823B6}" srcOrd="0" destOrd="0" presId="urn:microsoft.com/office/officeart/2005/8/layout/cycle4"/>
    <dgm:cxn modelId="{9472865D-B577-4003-8191-975F12A50391}" type="presParOf" srcId="{BF98D136-A3BA-47AE-A06E-E9409A7823B6}" destId="{D20DEBE1-CA12-4AA0-A05A-E0D7C8685EA3}" srcOrd="0" destOrd="0" presId="urn:microsoft.com/office/officeart/2005/8/layout/cycle4"/>
    <dgm:cxn modelId="{BF4F7105-6B5D-4F8A-B902-2DB4D941DA63}" type="presParOf" srcId="{BF98D136-A3BA-47AE-A06E-E9409A7823B6}" destId="{8FE51C56-9FBD-49A4-9C00-B1ACA42752A1}" srcOrd="1" destOrd="0" presId="urn:microsoft.com/office/officeart/2005/8/layout/cycle4"/>
    <dgm:cxn modelId="{AEF65ADE-74F4-4FED-A52E-201B3B23F8C9}" type="presParOf" srcId="{E193B44F-34FD-47B7-85C8-C5A44B51CBF4}" destId="{69A685E4-8191-4CD8-B4AE-495D1574794B}" srcOrd="1" destOrd="0" presId="urn:microsoft.com/office/officeart/2005/8/layout/cycle4"/>
    <dgm:cxn modelId="{46287E66-DA11-4203-B46A-41450589BF26}" type="presParOf" srcId="{69A685E4-8191-4CD8-B4AE-495D1574794B}" destId="{89163D01-1619-4601-A7C6-64D4488681C0}" srcOrd="0" destOrd="0" presId="urn:microsoft.com/office/officeart/2005/8/layout/cycle4"/>
    <dgm:cxn modelId="{F6D76A7D-7528-4435-9BA7-574A70A2231D}" type="presParOf" srcId="{69A685E4-8191-4CD8-B4AE-495D1574794B}" destId="{6BE58B25-E479-4BCE-BAC4-1AF250188F98}" srcOrd="1" destOrd="0" presId="urn:microsoft.com/office/officeart/2005/8/layout/cycle4"/>
    <dgm:cxn modelId="{3BB35BB2-19A4-4303-8737-54E789D2D7DE}" type="presParOf" srcId="{E193B44F-34FD-47B7-85C8-C5A44B51CBF4}" destId="{4BD8E9FE-5C95-4197-A6AE-95FAF602569D}" srcOrd="2" destOrd="0" presId="urn:microsoft.com/office/officeart/2005/8/layout/cycle4"/>
    <dgm:cxn modelId="{33FC1455-CFAB-4D05-AFA3-31DF222CCE34}" type="presParOf" srcId="{4BD8E9FE-5C95-4197-A6AE-95FAF602569D}" destId="{5FBC07F9-BF24-4750-AE0E-A21D9B7E22AD}" srcOrd="0" destOrd="0" presId="urn:microsoft.com/office/officeart/2005/8/layout/cycle4"/>
    <dgm:cxn modelId="{3F544DF6-5475-47A5-96B0-BDA37D7CCBB4}" type="presParOf" srcId="{4BD8E9FE-5C95-4197-A6AE-95FAF602569D}" destId="{1F7C772E-8C09-4D17-8621-037A21D389EB}" srcOrd="1" destOrd="0" presId="urn:microsoft.com/office/officeart/2005/8/layout/cycle4"/>
    <dgm:cxn modelId="{0F10B3E4-EF0E-4968-94DE-1E90490B542A}" type="presParOf" srcId="{E193B44F-34FD-47B7-85C8-C5A44B51CBF4}" destId="{9EE5E2F2-B7A4-4E0E-A653-5DF7252FBF38}" srcOrd="3" destOrd="0" presId="urn:microsoft.com/office/officeart/2005/8/layout/cycle4"/>
    <dgm:cxn modelId="{6CD2EC63-2E85-45DD-86CF-ADA9BD343C93}" type="presParOf" srcId="{9EE5E2F2-B7A4-4E0E-A653-5DF7252FBF38}" destId="{9F37D1F7-216E-40A7-848C-49E4C5F629DD}" srcOrd="0" destOrd="0" presId="urn:microsoft.com/office/officeart/2005/8/layout/cycle4"/>
    <dgm:cxn modelId="{9F4B666A-5426-4E79-8E25-09B45AA949C6}" type="presParOf" srcId="{9EE5E2F2-B7A4-4E0E-A653-5DF7252FBF38}" destId="{9CA58506-BD6F-422E-9534-1BE74649CDD3}" srcOrd="1" destOrd="0" presId="urn:microsoft.com/office/officeart/2005/8/layout/cycle4"/>
    <dgm:cxn modelId="{9F16C55A-1DDD-416D-A7B3-DD97748F4056}" type="presParOf" srcId="{E193B44F-34FD-47B7-85C8-C5A44B51CBF4}" destId="{0B4F5836-0ADD-43E7-8BAE-801C6A25DB99}" srcOrd="4" destOrd="0" presId="urn:microsoft.com/office/officeart/2005/8/layout/cycle4"/>
    <dgm:cxn modelId="{381D68C9-EF7D-4532-A49A-9E69B8E1BE5F}" type="presParOf" srcId="{08157D32-43A9-457A-B320-0B4D93D938B6}" destId="{7087CA1A-34FD-4BDC-8888-4B10B1429C26}" srcOrd="1" destOrd="0" presId="urn:microsoft.com/office/officeart/2005/8/layout/cycle4"/>
    <dgm:cxn modelId="{1D93500C-8FAF-4EA4-B3F0-A2C51189B389}" type="presParOf" srcId="{7087CA1A-34FD-4BDC-8888-4B10B1429C26}" destId="{B829931F-B548-4936-8AF6-9ED32C6A9D36}" srcOrd="0" destOrd="0" presId="urn:microsoft.com/office/officeart/2005/8/layout/cycle4"/>
    <dgm:cxn modelId="{57F410F8-FDC1-415D-8934-514CE10B2689}" type="presParOf" srcId="{7087CA1A-34FD-4BDC-8888-4B10B1429C26}" destId="{CE32A96D-290E-4E53-834B-F1BC3030D244}" srcOrd="1" destOrd="0" presId="urn:microsoft.com/office/officeart/2005/8/layout/cycle4"/>
    <dgm:cxn modelId="{D9E4CC4F-8AEB-4ED3-A430-C3AE58576964}" type="presParOf" srcId="{7087CA1A-34FD-4BDC-8888-4B10B1429C26}" destId="{6EF3BA02-849B-4506-88BA-7A206C0B02EC}" srcOrd="2" destOrd="0" presId="urn:microsoft.com/office/officeart/2005/8/layout/cycle4"/>
    <dgm:cxn modelId="{593D7B95-B8AA-40E3-9498-03FA70A6473A}" type="presParOf" srcId="{7087CA1A-34FD-4BDC-8888-4B10B1429C26}" destId="{89D571DF-FD22-4181-9D9B-AFA44FA41137}" srcOrd="3" destOrd="0" presId="urn:microsoft.com/office/officeart/2005/8/layout/cycle4"/>
    <dgm:cxn modelId="{0D8C7F94-C283-4358-84AF-305B28492A49}" type="presParOf" srcId="{7087CA1A-34FD-4BDC-8888-4B10B1429C26}" destId="{124CFAD6-00C0-4EE5-94B3-C57409D650D8}" srcOrd="4" destOrd="0" presId="urn:microsoft.com/office/officeart/2005/8/layout/cycle4"/>
    <dgm:cxn modelId="{BBA3BF45-030B-4972-9532-0AD38C66EF71}" type="presParOf" srcId="{08157D32-43A9-457A-B320-0B4D93D938B6}" destId="{F44B303F-086D-48DF-968B-DC6CA48B7DE6}" srcOrd="2" destOrd="0" presId="urn:microsoft.com/office/officeart/2005/8/layout/cycle4"/>
    <dgm:cxn modelId="{67516395-B62F-4DE0-84BC-08011721142B}" type="presParOf" srcId="{08157D32-43A9-457A-B320-0B4D93D938B6}" destId="{E0CFC364-8597-41B4-A567-35E4A87DE555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5A782EF-21F4-468E-8876-1A8F027E9538}" type="doc">
      <dgm:prSet loTypeId="urn:microsoft.com/office/officeart/2008/layout/RadialCluster" loCatId="cycle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IN"/>
        </a:p>
      </dgm:t>
    </dgm:pt>
    <dgm:pt modelId="{5DAE6839-0780-4AD2-A54E-4B0F894D2609}">
      <dgm:prSet phldrT="[Text]" custT="1"/>
      <dgm:spPr/>
      <dgm:t>
        <a:bodyPr/>
        <a:lstStyle/>
        <a:p>
          <a:r>
            <a:rPr lang="en-US" sz="2000" b="0" dirty="0">
              <a:latin typeface="Arial" panose="020B0604020202020204" pitchFamily="34" charset="0"/>
              <a:cs typeface="Arial" panose="020B0604020202020204" pitchFamily="34" charset="0"/>
            </a:rPr>
            <a:t>Key Responsibilities of a Financial Manager  </a:t>
          </a:r>
          <a:endParaRPr lang="en-IN" sz="2000" b="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6BB4F9C-9CFD-4D05-A88D-1FC9A43D063E}" type="parTrans" cxnId="{327AEC48-E13E-48F2-8EB5-FB7864AA76A9}">
      <dgm:prSet/>
      <dgm:spPr/>
      <dgm:t>
        <a:bodyPr/>
        <a:lstStyle/>
        <a:p>
          <a:endParaRPr lang="en-IN"/>
        </a:p>
      </dgm:t>
    </dgm:pt>
    <dgm:pt modelId="{DF16AFD1-564E-4C10-91DF-571620BB6D61}" type="sibTrans" cxnId="{327AEC48-E13E-48F2-8EB5-FB7864AA76A9}">
      <dgm:prSet/>
      <dgm:spPr/>
      <dgm:t>
        <a:bodyPr/>
        <a:lstStyle/>
        <a:p>
          <a:endParaRPr lang="en-IN"/>
        </a:p>
      </dgm:t>
    </dgm:pt>
    <dgm:pt modelId="{D0A5DB50-044C-49F3-84D3-8936D5CFC793}">
      <dgm:prSet phldrT="[Text]" custT="1"/>
      <dgm:spPr/>
      <dgm:t>
        <a:bodyPr/>
        <a:lstStyle/>
        <a:p>
          <a:pPr>
            <a:buNone/>
          </a:pPr>
          <a:r>
            <a:rPr lang="en-IN" sz="1600" b="0" dirty="0">
              <a:latin typeface="Arial" panose="020B0604020202020204" pitchFamily="34" charset="0"/>
              <a:cs typeface="Arial" panose="020B0604020202020204" pitchFamily="34" charset="0"/>
            </a:rPr>
            <a:t>Financial Planning and Forecasting</a:t>
          </a:r>
        </a:p>
      </dgm:t>
    </dgm:pt>
    <dgm:pt modelId="{C7FF0034-3805-4CFF-BB4B-52E278B19EB7}" type="parTrans" cxnId="{91DF67A3-FFD2-4E6B-94DE-F6EEBBE55A52}">
      <dgm:prSet/>
      <dgm:spPr/>
      <dgm:t>
        <a:bodyPr/>
        <a:lstStyle/>
        <a:p>
          <a:endParaRPr lang="en-IN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10F51DF-24B7-4D5D-A05C-99656CD44303}" type="sibTrans" cxnId="{91DF67A3-FFD2-4E6B-94DE-F6EEBBE55A52}">
      <dgm:prSet/>
      <dgm:spPr/>
      <dgm:t>
        <a:bodyPr/>
        <a:lstStyle/>
        <a:p>
          <a:endParaRPr lang="en-IN"/>
        </a:p>
      </dgm:t>
    </dgm:pt>
    <dgm:pt modelId="{1F3413FD-6E6F-48CE-B152-697E4D248C7E}">
      <dgm:prSet phldrT="[Text]" custT="1"/>
      <dgm:spPr/>
      <dgm:t>
        <a:bodyPr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6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Capital Budgeting and Structuring Decisions</a:t>
          </a:r>
          <a:endParaRPr lang="en-IN" sz="1600" b="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93C1CC1F-8749-49A1-9133-4306AB65BD3B}" type="parTrans" cxnId="{DCB12853-F0CB-4D2C-BED2-AFD0ED4C0277}">
      <dgm:prSet/>
      <dgm:spPr/>
      <dgm:t>
        <a:bodyPr/>
        <a:lstStyle/>
        <a:p>
          <a:endParaRPr lang="en-IN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F6DD557-5808-4E52-A106-8F757D58A0B8}" type="sibTrans" cxnId="{DCB12853-F0CB-4D2C-BED2-AFD0ED4C0277}">
      <dgm:prSet/>
      <dgm:spPr/>
      <dgm:t>
        <a:bodyPr/>
        <a:lstStyle/>
        <a:p>
          <a:endParaRPr lang="en-IN"/>
        </a:p>
      </dgm:t>
    </dgm:pt>
    <dgm:pt modelId="{CB410125-D905-480A-BBA8-746577951858}">
      <dgm:prSet phldrT="[Text]" custT="1"/>
      <dgm:spPr/>
      <dgm:t>
        <a:bodyPr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6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Working Capital Management</a:t>
          </a:r>
          <a:endParaRPr lang="en-IN" sz="1600" b="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749A4C9B-248A-4563-9848-C657B89AF6D4}" type="parTrans" cxnId="{4EFACBF5-5B5C-414E-A817-742308EDE625}">
      <dgm:prSet/>
      <dgm:spPr/>
      <dgm:t>
        <a:bodyPr/>
        <a:lstStyle/>
        <a:p>
          <a:endParaRPr lang="en-IN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E3F4ADF-631D-4CBE-84DE-026AE324798C}" type="sibTrans" cxnId="{4EFACBF5-5B5C-414E-A817-742308EDE625}">
      <dgm:prSet/>
      <dgm:spPr/>
      <dgm:t>
        <a:bodyPr/>
        <a:lstStyle/>
        <a:p>
          <a:endParaRPr lang="en-IN"/>
        </a:p>
      </dgm:t>
    </dgm:pt>
    <dgm:pt modelId="{80CBAD99-90BD-45B7-82C6-0DC2F2AF9F18}">
      <dgm:prSet phldrT="[Text]" custT="1"/>
      <dgm:spPr/>
      <dgm:t>
        <a:bodyPr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6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Risk Management</a:t>
          </a:r>
          <a:endParaRPr lang="en-IN" sz="1600" b="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B0484B7D-16F1-4E19-AB64-397F4E9E1EF6}" type="parTrans" cxnId="{106BE309-FE24-4AF0-8CEC-582D83E9C019}">
      <dgm:prSet/>
      <dgm:spPr/>
      <dgm:t>
        <a:bodyPr/>
        <a:lstStyle/>
        <a:p>
          <a:endParaRPr lang="en-IN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765E55F-E219-4A90-B913-EE751396F664}" type="sibTrans" cxnId="{106BE309-FE24-4AF0-8CEC-582D83E9C019}">
      <dgm:prSet/>
      <dgm:spPr/>
      <dgm:t>
        <a:bodyPr/>
        <a:lstStyle/>
        <a:p>
          <a:endParaRPr lang="en-IN"/>
        </a:p>
      </dgm:t>
    </dgm:pt>
    <dgm:pt modelId="{96A73CCF-A0E3-4D75-A522-7CE26670F910}">
      <dgm:prSet phldrT="[Text]" custT="1"/>
      <dgm:spPr/>
      <dgm:t>
        <a:bodyPr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6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Dividend Policy</a:t>
          </a:r>
          <a:endParaRPr lang="en-IN" sz="1600" b="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09078B26-2FD8-413F-A566-5352D766B1BC}" type="parTrans" cxnId="{B0B94358-56CE-4B34-9428-B33D30066408}">
      <dgm:prSet/>
      <dgm:spPr/>
      <dgm:t>
        <a:bodyPr/>
        <a:lstStyle/>
        <a:p>
          <a:endParaRPr lang="en-IN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5062B3E-4A91-4C76-8B3C-BB7092870E0B}" type="sibTrans" cxnId="{B0B94358-56CE-4B34-9428-B33D30066408}">
      <dgm:prSet/>
      <dgm:spPr/>
      <dgm:t>
        <a:bodyPr/>
        <a:lstStyle/>
        <a:p>
          <a:endParaRPr lang="en-IN"/>
        </a:p>
      </dgm:t>
    </dgm:pt>
    <dgm:pt modelId="{057BB962-3551-4CAA-BA5A-AC64F1DAA940}">
      <dgm:prSet phldrT="[Text]" custT="1"/>
      <dgm:spPr/>
      <dgm:t>
        <a:bodyPr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6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Liaison with Financial Markets</a:t>
          </a:r>
          <a:endParaRPr lang="en-IN" sz="1600" b="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5A28B99B-CC15-4953-B4D4-797510809E85}" type="parTrans" cxnId="{68A70320-397A-46D3-85EB-667243C970B8}">
      <dgm:prSet/>
      <dgm:spPr/>
      <dgm:t>
        <a:bodyPr/>
        <a:lstStyle/>
        <a:p>
          <a:endParaRPr lang="en-IN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7148CF9-6691-44BF-979C-27B82E1043EA}" type="sibTrans" cxnId="{68A70320-397A-46D3-85EB-667243C970B8}">
      <dgm:prSet/>
      <dgm:spPr/>
      <dgm:t>
        <a:bodyPr/>
        <a:lstStyle/>
        <a:p>
          <a:endParaRPr lang="en-IN"/>
        </a:p>
      </dgm:t>
    </dgm:pt>
    <dgm:pt modelId="{7B2213B6-BD4E-4B5C-AD5B-0A466DDF7218}">
      <dgm:prSet phldrT="[Text]" custT="1"/>
      <dgm:spPr/>
      <dgm:t>
        <a:bodyPr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600" b="0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Performance Analysis</a:t>
          </a:r>
          <a:endParaRPr lang="en-IN" sz="1600" b="0" i="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55A4CF04-603E-46EA-8306-E8ECE179B549}" type="parTrans" cxnId="{917200F6-7426-4C60-ACAB-A691ABB641A4}">
      <dgm:prSet/>
      <dgm:spPr/>
      <dgm:t>
        <a:bodyPr/>
        <a:lstStyle/>
        <a:p>
          <a:endParaRPr lang="en-IN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5290879-EEF1-4F84-8773-1A77EB82259E}" type="sibTrans" cxnId="{917200F6-7426-4C60-ACAB-A691ABB641A4}">
      <dgm:prSet/>
      <dgm:spPr/>
      <dgm:t>
        <a:bodyPr/>
        <a:lstStyle/>
        <a:p>
          <a:endParaRPr lang="en-IN"/>
        </a:p>
      </dgm:t>
    </dgm:pt>
    <dgm:pt modelId="{68CAC029-9894-4D20-BABB-B5AC09C3AB30}">
      <dgm:prSet phldrT="[Text]" custT="1"/>
      <dgm:spPr/>
      <dgm:t>
        <a:bodyPr/>
        <a:lstStyle/>
        <a:p>
          <a:endParaRPr lang="en-IN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0F9EB53-69A4-431C-A39D-2B2654025BAD}" type="parTrans" cxnId="{8D3DB7B3-3F76-4198-BCB4-0C8B957A63E5}">
      <dgm:prSet/>
      <dgm:spPr/>
      <dgm:t>
        <a:bodyPr/>
        <a:lstStyle/>
        <a:p>
          <a:endParaRPr lang="en-IN"/>
        </a:p>
      </dgm:t>
    </dgm:pt>
    <dgm:pt modelId="{52785804-3D00-4ED7-A602-ED845880CE77}" type="sibTrans" cxnId="{8D3DB7B3-3F76-4198-BCB4-0C8B957A63E5}">
      <dgm:prSet/>
      <dgm:spPr/>
      <dgm:t>
        <a:bodyPr/>
        <a:lstStyle/>
        <a:p>
          <a:endParaRPr lang="en-IN"/>
        </a:p>
      </dgm:t>
    </dgm:pt>
    <dgm:pt modelId="{F0ECB9DB-3AFB-486F-B05C-914E14A4C06E}">
      <dgm:prSet phldrT="[Text]" custScaleX="148763"/>
      <dgm:spPr/>
      <dgm:t>
        <a:bodyPr/>
        <a:lstStyle/>
        <a:p>
          <a:endParaRPr lang="en-IN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53DC85D-CD7F-4A8C-94C6-9AF498932C3A}" type="parTrans" cxnId="{B876CDED-7FBA-46C2-A7DF-385C9879EC13}">
      <dgm:prSet/>
      <dgm:spPr/>
      <dgm:t>
        <a:bodyPr/>
        <a:lstStyle/>
        <a:p>
          <a:endParaRPr lang="en-IN"/>
        </a:p>
      </dgm:t>
    </dgm:pt>
    <dgm:pt modelId="{88DE4B51-6873-4598-8931-DFFF03955DAD}" type="sibTrans" cxnId="{B876CDED-7FBA-46C2-A7DF-385C9879EC13}">
      <dgm:prSet/>
      <dgm:spPr/>
      <dgm:t>
        <a:bodyPr/>
        <a:lstStyle/>
        <a:p>
          <a:endParaRPr lang="en-IN"/>
        </a:p>
      </dgm:t>
    </dgm:pt>
    <dgm:pt modelId="{19B456B4-02CC-477C-9999-4CF97D0B9B6D}">
      <dgm:prSet phldrT="[Text]" custScaleX="148763"/>
      <dgm:spPr/>
      <dgm:t>
        <a:bodyPr/>
        <a:lstStyle/>
        <a:p>
          <a:endParaRPr lang="en-IN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BA680E7-E2BC-44F0-BE6A-EB84C2381161}" type="parTrans" cxnId="{13A883F2-13CB-490B-B9CD-1284FA28C045}">
      <dgm:prSet/>
      <dgm:spPr/>
      <dgm:t>
        <a:bodyPr/>
        <a:lstStyle/>
        <a:p>
          <a:endParaRPr lang="en-IN"/>
        </a:p>
      </dgm:t>
    </dgm:pt>
    <dgm:pt modelId="{AD38CC73-30B8-4CDD-A275-3DE6969450B7}" type="sibTrans" cxnId="{13A883F2-13CB-490B-B9CD-1284FA28C045}">
      <dgm:prSet/>
      <dgm:spPr/>
      <dgm:t>
        <a:bodyPr/>
        <a:lstStyle/>
        <a:p>
          <a:endParaRPr lang="en-IN"/>
        </a:p>
      </dgm:t>
    </dgm:pt>
    <dgm:pt modelId="{B1D8BA53-E582-443D-AE5F-E5343D9DF7EB}">
      <dgm:prSet phldrT="[Text]" custScaleX="148763"/>
      <dgm:spPr/>
      <dgm:t>
        <a:bodyPr/>
        <a:lstStyle/>
        <a:p>
          <a:endParaRPr lang="en-IN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E28F4ED-CABA-47AF-B230-9AB90561B2E4}" type="parTrans" cxnId="{0FDEED90-4084-4782-A991-258461830A75}">
      <dgm:prSet/>
      <dgm:spPr/>
      <dgm:t>
        <a:bodyPr/>
        <a:lstStyle/>
        <a:p>
          <a:endParaRPr lang="en-IN"/>
        </a:p>
      </dgm:t>
    </dgm:pt>
    <dgm:pt modelId="{430E7D94-DE1A-4813-BFCC-869B036F32D7}" type="sibTrans" cxnId="{0FDEED90-4084-4782-A991-258461830A75}">
      <dgm:prSet/>
      <dgm:spPr/>
      <dgm:t>
        <a:bodyPr/>
        <a:lstStyle/>
        <a:p>
          <a:endParaRPr lang="en-IN"/>
        </a:p>
      </dgm:t>
    </dgm:pt>
    <dgm:pt modelId="{D7E82DDF-B946-4DD2-AFEB-73382375BC5D}" type="pres">
      <dgm:prSet presAssocID="{95A782EF-21F4-468E-8876-1A8F027E9538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3A76CCC2-45BB-4805-A620-5F035BD2F84E}" type="pres">
      <dgm:prSet presAssocID="{5DAE6839-0780-4AD2-A54E-4B0F894D2609}" presName="singleCycle" presStyleCnt="0"/>
      <dgm:spPr/>
    </dgm:pt>
    <dgm:pt modelId="{A861F3D1-67A9-4436-B1CA-AE1B3135BD4B}" type="pres">
      <dgm:prSet presAssocID="{5DAE6839-0780-4AD2-A54E-4B0F894D2609}" presName="singleCenter" presStyleLbl="node1" presStyleIdx="0" presStyleCnt="8" custScaleX="148763">
        <dgm:presLayoutVars>
          <dgm:chMax val="7"/>
          <dgm:chPref val="7"/>
        </dgm:presLayoutVars>
      </dgm:prSet>
      <dgm:spPr/>
    </dgm:pt>
    <dgm:pt modelId="{AD77177C-EB18-4BCB-A9DF-F273E31867EA}" type="pres">
      <dgm:prSet presAssocID="{C7FF0034-3805-4CFF-BB4B-52E278B19EB7}" presName="Name56" presStyleLbl="parChTrans1D2" presStyleIdx="0" presStyleCnt="7"/>
      <dgm:spPr/>
    </dgm:pt>
    <dgm:pt modelId="{6DC49EF1-5E4B-4839-A4C1-D2EE7B26F291}" type="pres">
      <dgm:prSet presAssocID="{D0A5DB50-044C-49F3-84D3-8936D5CFC793}" presName="text0" presStyleLbl="node1" presStyleIdx="1" presStyleCnt="8" custScaleX="213183">
        <dgm:presLayoutVars>
          <dgm:bulletEnabled val="1"/>
        </dgm:presLayoutVars>
      </dgm:prSet>
      <dgm:spPr/>
    </dgm:pt>
    <dgm:pt modelId="{87AABAA9-B8A1-4DB8-A7A5-D6F18DC3FAB1}" type="pres">
      <dgm:prSet presAssocID="{93C1CC1F-8749-49A1-9133-4306AB65BD3B}" presName="Name56" presStyleLbl="parChTrans1D2" presStyleIdx="1" presStyleCnt="7"/>
      <dgm:spPr/>
    </dgm:pt>
    <dgm:pt modelId="{63D85D42-77EE-40A7-AC3C-26A5A7B944C6}" type="pres">
      <dgm:prSet presAssocID="{1F3413FD-6E6F-48CE-B152-697E4D248C7E}" presName="text0" presStyleLbl="node1" presStyleIdx="2" presStyleCnt="8" custScaleX="213183" custRadScaleRad="156783" custRadScaleInc="46471">
        <dgm:presLayoutVars>
          <dgm:bulletEnabled val="1"/>
        </dgm:presLayoutVars>
      </dgm:prSet>
      <dgm:spPr/>
    </dgm:pt>
    <dgm:pt modelId="{DB9C506E-F6EF-4BC9-9ECE-3E9167E27D18}" type="pres">
      <dgm:prSet presAssocID="{749A4C9B-248A-4563-9848-C657B89AF6D4}" presName="Name56" presStyleLbl="parChTrans1D2" presStyleIdx="2" presStyleCnt="7"/>
      <dgm:spPr/>
    </dgm:pt>
    <dgm:pt modelId="{BEE5EDD0-B017-4A30-856E-76181A12F805}" type="pres">
      <dgm:prSet presAssocID="{CB410125-D905-480A-BBA8-746577951858}" presName="text0" presStyleLbl="node1" presStyleIdx="3" presStyleCnt="8" custScaleX="213183" custRadScaleRad="137863" custRadScaleInc="-18692">
        <dgm:presLayoutVars>
          <dgm:bulletEnabled val="1"/>
        </dgm:presLayoutVars>
      </dgm:prSet>
      <dgm:spPr/>
    </dgm:pt>
    <dgm:pt modelId="{CC4118E9-E986-4566-B746-501940CFDE52}" type="pres">
      <dgm:prSet presAssocID="{B0484B7D-16F1-4E19-AB64-397F4E9E1EF6}" presName="Name56" presStyleLbl="parChTrans1D2" presStyleIdx="3" presStyleCnt="7"/>
      <dgm:spPr/>
    </dgm:pt>
    <dgm:pt modelId="{CEB373B1-9A19-475D-A99C-2BB4D64C3AEB}" type="pres">
      <dgm:prSet presAssocID="{80CBAD99-90BD-45B7-82C6-0DC2F2AF9F18}" presName="text0" presStyleLbl="node1" presStyleIdx="4" presStyleCnt="8" custScaleX="245875" custRadScaleRad="120128" custRadScaleInc="-61035">
        <dgm:presLayoutVars>
          <dgm:bulletEnabled val="1"/>
        </dgm:presLayoutVars>
      </dgm:prSet>
      <dgm:spPr/>
    </dgm:pt>
    <dgm:pt modelId="{D0693E3A-F00B-4A7B-81F3-01BF0ADD2FEC}" type="pres">
      <dgm:prSet presAssocID="{09078B26-2FD8-413F-A566-5352D766B1BC}" presName="Name56" presStyleLbl="parChTrans1D2" presStyleIdx="4" presStyleCnt="7"/>
      <dgm:spPr/>
    </dgm:pt>
    <dgm:pt modelId="{36C1776E-13B4-42DF-87FF-6930D8FFC408}" type="pres">
      <dgm:prSet presAssocID="{96A73CCF-A0E3-4D75-A522-7CE26670F910}" presName="text0" presStyleLbl="node1" presStyleIdx="5" presStyleCnt="8" custScaleX="213183" custRadScaleRad="123287" custRadScaleInc="64898">
        <dgm:presLayoutVars>
          <dgm:bulletEnabled val="1"/>
        </dgm:presLayoutVars>
      </dgm:prSet>
      <dgm:spPr/>
    </dgm:pt>
    <dgm:pt modelId="{AC99AD1D-19C7-4E4B-BF0E-C3383059EC14}" type="pres">
      <dgm:prSet presAssocID="{5A28B99B-CC15-4953-B4D4-797510809E85}" presName="Name56" presStyleLbl="parChTrans1D2" presStyleIdx="5" presStyleCnt="7"/>
      <dgm:spPr/>
    </dgm:pt>
    <dgm:pt modelId="{5ED5AA1D-5EDF-43C1-8DB1-43D80FB1A48D}" type="pres">
      <dgm:prSet presAssocID="{057BB962-3551-4CAA-BA5A-AC64F1DAA940}" presName="text0" presStyleLbl="node1" presStyleIdx="6" presStyleCnt="8" custScaleX="213183" custRadScaleRad="150252" custRadScaleInc="17431">
        <dgm:presLayoutVars>
          <dgm:bulletEnabled val="1"/>
        </dgm:presLayoutVars>
      </dgm:prSet>
      <dgm:spPr/>
    </dgm:pt>
    <dgm:pt modelId="{FEC8D364-BA20-4340-9E2D-666E4C16E3DE}" type="pres">
      <dgm:prSet presAssocID="{55A4CF04-603E-46EA-8306-E8ECE179B549}" presName="Name56" presStyleLbl="parChTrans1D2" presStyleIdx="6" presStyleCnt="7"/>
      <dgm:spPr/>
    </dgm:pt>
    <dgm:pt modelId="{2567D0F3-D7F2-4A3B-8647-93BB94BE5A97}" type="pres">
      <dgm:prSet presAssocID="{7B2213B6-BD4E-4B5C-AD5B-0A466DDF7218}" presName="text0" presStyleLbl="node1" presStyleIdx="7" presStyleCnt="8" custScaleX="213183" custRadScaleRad="166154" custRadScaleInc="-41970">
        <dgm:presLayoutVars>
          <dgm:bulletEnabled val="1"/>
        </dgm:presLayoutVars>
      </dgm:prSet>
      <dgm:spPr/>
    </dgm:pt>
  </dgm:ptLst>
  <dgm:cxnLst>
    <dgm:cxn modelId="{106BE309-FE24-4AF0-8CEC-582D83E9C019}" srcId="{5DAE6839-0780-4AD2-A54E-4B0F894D2609}" destId="{80CBAD99-90BD-45B7-82C6-0DC2F2AF9F18}" srcOrd="3" destOrd="0" parTransId="{B0484B7D-16F1-4E19-AB64-397F4E9E1EF6}" sibTransId="{B765E55F-E219-4A90-B913-EE751396F664}"/>
    <dgm:cxn modelId="{FC8CB518-5364-4742-9250-EF4071413A5F}" type="presOf" srcId="{749A4C9B-248A-4563-9848-C657B89AF6D4}" destId="{DB9C506E-F6EF-4BC9-9ECE-3E9167E27D18}" srcOrd="0" destOrd="0" presId="urn:microsoft.com/office/officeart/2008/layout/RadialCluster"/>
    <dgm:cxn modelId="{158FC519-0BF0-46A5-BF12-0FE6D7F14A3B}" type="presOf" srcId="{5A28B99B-CC15-4953-B4D4-797510809E85}" destId="{AC99AD1D-19C7-4E4B-BF0E-C3383059EC14}" srcOrd="0" destOrd="0" presId="urn:microsoft.com/office/officeart/2008/layout/RadialCluster"/>
    <dgm:cxn modelId="{68A70320-397A-46D3-85EB-667243C970B8}" srcId="{5DAE6839-0780-4AD2-A54E-4B0F894D2609}" destId="{057BB962-3551-4CAA-BA5A-AC64F1DAA940}" srcOrd="5" destOrd="0" parTransId="{5A28B99B-CC15-4953-B4D4-797510809E85}" sibTransId="{57148CF9-6691-44BF-979C-27B82E1043EA}"/>
    <dgm:cxn modelId="{1C8B9122-91E0-48D1-B838-67700304465A}" type="presOf" srcId="{057BB962-3551-4CAA-BA5A-AC64F1DAA940}" destId="{5ED5AA1D-5EDF-43C1-8DB1-43D80FB1A48D}" srcOrd="0" destOrd="0" presId="urn:microsoft.com/office/officeart/2008/layout/RadialCluster"/>
    <dgm:cxn modelId="{96E6C029-C77D-4960-9298-78245845C874}" type="presOf" srcId="{D0A5DB50-044C-49F3-84D3-8936D5CFC793}" destId="{6DC49EF1-5E4B-4839-A4C1-D2EE7B26F291}" srcOrd="0" destOrd="0" presId="urn:microsoft.com/office/officeart/2008/layout/RadialCluster"/>
    <dgm:cxn modelId="{11391F40-2707-4833-8417-FFB65DF133AD}" type="presOf" srcId="{CB410125-D905-480A-BBA8-746577951858}" destId="{BEE5EDD0-B017-4A30-856E-76181A12F805}" srcOrd="0" destOrd="0" presId="urn:microsoft.com/office/officeart/2008/layout/RadialCluster"/>
    <dgm:cxn modelId="{327AEC48-E13E-48F2-8EB5-FB7864AA76A9}" srcId="{95A782EF-21F4-468E-8876-1A8F027E9538}" destId="{5DAE6839-0780-4AD2-A54E-4B0F894D2609}" srcOrd="0" destOrd="0" parTransId="{76BB4F9C-9CFD-4D05-A88D-1FC9A43D063E}" sibTransId="{DF16AFD1-564E-4C10-91DF-571620BB6D61}"/>
    <dgm:cxn modelId="{B4AC3470-8363-4C21-8DB9-F273A27FC182}" type="presOf" srcId="{5DAE6839-0780-4AD2-A54E-4B0F894D2609}" destId="{A861F3D1-67A9-4436-B1CA-AE1B3135BD4B}" srcOrd="0" destOrd="0" presId="urn:microsoft.com/office/officeart/2008/layout/RadialCluster"/>
    <dgm:cxn modelId="{DCB12853-F0CB-4D2C-BED2-AFD0ED4C0277}" srcId="{5DAE6839-0780-4AD2-A54E-4B0F894D2609}" destId="{1F3413FD-6E6F-48CE-B152-697E4D248C7E}" srcOrd="1" destOrd="0" parTransId="{93C1CC1F-8749-49A1-9133-4306AB65BD3B}" sibTransId="{DF6DD557-5808-4E52-A106-8F757D58A0B8}"/>
    <dgm:cxn modelId="{ED6C3753-A188-4BA3-B09E-62717CADB448}" type="presOf" srcId="{96A73CCF-A0E3-4D75-A522-7CE26670F910}" destId="{36C1776E-13B4-42DF-87FF-6930D8FFC408}" srcOrd="0" destOrd="0" presId="urn:microsoft.com/office/officeart/2008/layout/RadialCluster"/>
    <dgm:cxn modelId="{B0B94358-56CE-4B34-9428-B33D30066408}" srcId="{5DAE6839-0780-4AD2-A54E-4B0F894D2609}" destId="{96A73CCF-A0E3-4D75-A522-7CE26670F910}" srcOrd="4" destOrd="0" parTransId="{09078B26-2FD8-413F-A566-5352D766B1BC}" sibTransId="{75062B3E-4A91-4C76-8B3C-BB7092870E0B}"/>
    <dgm:cxn modelId="{6EABE57F-FBE2-4655-A963-D7EBF6D9402A}" type="presOf" srcId="{7B2213B6-BD4E-4B5C-AD5B-0A466DDF7218}" destId="{2567D0F3-D7F2-4A3B-8647-93BB94BE5A97}" srcOrd="0" destOrd="0" presId="urn:microsoft.com/office/officeart/2008/layout/RadialCluster"/>
    <dgm:cxn modelId="{0FDEED90-4084-4782-A991-258461830A75}" srcId="{95A782EF-21F4-468E-8876-1A8F027E9538}" destId="{B1D8BA53-E582-443D-AE5F-E5343D9DF7EB}" srcOrd="3" destOrd="0" parTransId="{6E28F4ED-CABA-47AF-B230-9AB90561B2E4}" sibTransId="{430E7D94-DE1A-4813-BFCC-869B036F32D7}"/>
    <dgm:cxn modelId="{960B7D95-A033-4A03-884F-3324A365FCB6}" type="presOf" srcId="{1F3413FD-6E6F-48CE-B152-697E4D248C7E}" destId="{63D85D42-77EE-40A7-AC3C-26A5A7B944C6}" srcOrd="0" destOrd="0" presId="urn:microsoft.com/office/officeart/2008/layout/RadialCluster"/>
    <dgm:cxn modelId="{8D572CA0-11F8-4E60-9E62-45861054B180}" type="presOf" srcId="{80CBAD99-90BD-45B7-82C6-0DC2F2AF9F18}" destId="{CEB373B1-9A19-475D-A99C-2BB4D64C3AEB}" srcOrd="0" destOrd="0" presId="urn:microsoft.com/office/officeart/2008/layout/RadialCluster"/>
    <dgm:cxn modelId="{91DF67A3-FFD2-4E6B-94DE-F6EEBBE55A52}" srcId="{5DAE6839-0780-4AD2-A54E-4B0F894D2609}" destId="{D0A5DB50-044C-49F3-84D3-8936D5CFC793}" srcOrd="0" destOrd="0" parTransId="{C7FF0034-3805-4CFF-BB4B-52E278B19EB7}" sibTransId="{710F51DF-24B7-4D5D-A05C-99656CD44303}"/>
    <dgm:cxn modelId="{B53605AC-DC36-468F-BCF2-81526FFE2D09}" type="presOf" srcId="{B0484B7D-16F1-4E19-AB64-397F4E9E1EF6}" destId="{CC4118E9-E986-4566-B746-501940CFDE52}" srcOrd="0" destOrd="0" presId="urn:microsoft.com/office/officeart/2008/layout/RadialCluster"/>
    <dgm:cxn modelId="{8A2740B2-D194-4CE9-A0B6-1F1258745212}" type="presOf" srcId="{95A782EF-21F4-468E-8876-1A8F027E9538}" destId="{D7E82DDF-B946-4DD2-AFEB-73382375BC5D}" srcOrd="0" destOrd="0" presId="urn:microsoft.com/office/officeart/2008/layout/RadialCluster"/>
    <dgm:cxn modelId="{8D3DB7B3-3F76-4198-BCB4-0C8B957A63E5}" srcId="{5DAE6839-0780-4AD2-A54E-4B0F894D2609}" destId="{68CAC029-9894-4D20-BABB-B5AC09C3AB30}" srcOrd="7" destOrd="0" parTransId="{20F9EB53-69A4-431C-A39D-2B2654025BAD}" sibTransId="{52785804-3D00-4ED7-A602-ED845880CE77}"/>
    <dgm:cxn modelId="{EC5377B5-09B4-4EE3-8CF2-CB8937174EE8}" type="presOf" srcId="{C7FF0034-3805-4CFF-BB4B-52E278B19EB7}" destId="{AD77177C-EB18-4BCB-A9DF-F273E31867EA}" srcOrd="0" destOrd="0" presId="urn:microsoft.com/office/officeart/2008/layout/RadialCluster"/>
    <dgm:cxn modelId="{1355CDBF-AF04-464D-93A9-7A242AD479D5}" type="presOf" srcId="{93C1CC1F-8749-49A1-9133-4306AB65BD3B}" destId="{87AABAA9-B8A1-4DB8-A7A5-D6F18DC3FAB1}" srcOrd="0" destOrd="0" presId="urn:microsoft.com/office/officeart/2008/layout/RadialCluster"/>
    <dgm:cxn modelId="{B876CDED-7FBA-46C2-A7DF-385C9879EC13}" srcId="{95A782EF-21F4-468E-8876-1A8F027E9538}" destId="{F0ECB9DB-3AFB-486F-B05C-914E14A4C06E}" srcOrd="1" destOrd="0" parTransId="{253DC85D-CD7F-4A8C-94C6-9AF498932C3A}" sibTransId="{88DE4B51-6873-4598-8931-DFFF03955DAD}"/>
    <dgm:cxn modelId="{A34082EE-D5C1-43A2-BC98-BAC01711DEC9}" type="presOf" srcId="{55A4CF04-603E-46EA-8306-E8ECE179B549}" destId="{FEC8D364-BA20-4340-9E2D-666E4C16E3DE}" srcOrd="0" destOrd="0" presId="urn:microsoft.com/office/officeart/2008/layout/RadialCluster"/>
    <dgm:cxn modelId="{13A883F2-13CB-490B-B9CD-1284FA28C045}" srcId="{95A782EF-21F4-468E-8876-1A8F027E9538}" destId="{19B456B4-02CC-477C-9999-4CF97D0B9B6D}" srcOrd="2" destOrd="0" parTransId="{4BA680E7-E2BC-44F0-BE6A-EB84C2381161}" sibTransId="{AD38CC73-30B8-4CDD-A275-3DE6969450B7}"/>
    <dgm:cxn modelId="{B9809AF3-7E1A-4EC5-BF37-98223BC88AF3}" type="presOf" srcId="{09078B26-2FD8-413F-A566-5352D766B1BC}" destId="{D0693E3A-F00B-4A7B-81F3-01BF0ADD2FEC}" srcOrd="0" destOrd="0" presId="urn:microsoft.com/office/officeart/2008/layout/RadialCluster"/>
    <dgm:cxn modelId="{4EFACBF5-5B5C-414E-A817-742308EDE625}" srcId="{5DAE6839-0780-4AD2-A54E-4B0F894D2609}" destId="{CB410125-D905-480A-BBA8-746577951858}" srcOrd="2" destOrd="0" parTransId="{749A4C9B-248A-4563-9848-C657B89AF6D4}" sibTransId="{5E3F4ADF-631D-4CBE-84DE-026AE324798C}"/>
    <dgm:cxn modelId="{917200F6-7426-4C60-ACAB-A691ABB641A4}" srcId="{5DAE6839-0780-4AD2-A54E-4B0F894D2609}" destId="{7B2213B6-BD4E-4B5C-AD5B-0A466DDF7218}" srcOrd="6" destOrd="0" parTransId="{55A4CF04-603E-46EA-8306-E8ECE179B549}" sibTransId="{25290879-EEF1-4F84-8773-1A77EB82259E}"/>
    <dgm:cxn modelId="{D875F367-D2F5-4D8D-B24B-B951C38FD61E}" type="presParOf" srcId="{D7E82DDF-B946-4DD2-AFEB-73382375BC5D}" destId="{3A76CCC2-45BB-4805-A620-5F035BD2F84E}" srcOrd="0" destOrd="0" presId="urn:microsoft.com/office/officeart/2008/layout/RadialCluster"/>
    <dgm:cxn modelId="{532535E5-BDA0-47C4-B10D-03A80871D191}" type="presParOf" srcId="{3A76CCC2-45BB-4805-A620-5F035BD2F84E}" destId="{A861F3D1-67A9-4436-B1CA-AE1B3135BD4B}" srcOrd="0" destOrd="0" presId="urn:microsoft.com/office/officeart/2008/layout/RadialCluster"/>
    <dgm:cxn modelId="{4C59D2BD-558D-4586-9DFF-3BC93513519A}" type="presParOf" srcId="{3A76CCC2-45BB-4805-A620-5F035BD2F84E}" destId="{AD77177C-EB18-4BCB-A9DF-F273E31867EA}" srcOrd="1" destOrd="0" presId="urn:microsoft.com/office/officeart/2008/layout/RadialCluster"/>
    <dgm:cxn modelId="{EBE7836C-01AF-4A27-89E5-4671C0E3AFCD}" type="presParOf" srcId="{3A76CCC2-45BB-4805-A620-5F035BD2F84E}" destId="{6DC49EF1-5E4B-4839-A4C1-D2EE7B26F291}" srcOrd="2" destOrd="0" presId="urn:microsoft.com/office/officeart/2008/layout/RadialCluster"/>
    <dgm:cxn modelId="{D2D6EDC9-A1B5-4F95-A706-58595C36C4C2}" type="presParOf" srcId="{3A76CCC2-45BB-4805-A620-5F035BD2F84E}" destId="{87AABAA9-B8A1-4DB8-A7A5-D6F18DC3FAB1}" srcOrd="3" destOrd="0" presId="urn:microsoft.com/office/officeart/2008/layout/RadialCluster"/>
    <dgm:cxn modelId="{71C440A3-110C-40CC-8FA6-04D2F57E7303}" type="presParOf" srcId="{3A76CCC2-45BB-4805-A620-5F035BD2F84E}" destId="{63D85D42-77EE-40A7-AC3C-26A5A7B944C6}" srcOrd="4" destOrd="0" presId="urn:microsoft.com/office/officeart/2008/layout/RadialCluster"/>
    <dgm:cxn modelId="{5CDB9DC9-569B-48AC-9937-90FF1615F921}" type="presParOf" srcId="{3A76CCC2-45BB-4805-A620-5F035BD2F84E}" destId="{DB9C506E-F6EF-4BC9-9ECE-3E9167E27D18}" srcOrd="5" destOrd="0" presId="urn:microsoft.com/office/officeart/2008/layout/RadialCluster"/>
    <dgm:cxn modelId="{37FD43F9-2F38-4EA2-96EC-0888EAFE605A}" type="presParOf" srcId="{3A76CCC2-45BB-4805-A620-5F035BD2F84E}" destId="{BEE5EDD0-B017-4A30-856E-76181A12F805}" srcOrd="6" destOrd="0" presId="urn:microsoft.com/office/officeart/2008/layout/RadialCluster"/>
    <dgm:cxn modelId="{4ABDAD61-4E83-4225-8D5E-930DDDF1110C}" type="presParOf" srcId="{3A76CCC2-45BB-4805-A620-5F035BD2F84E}" destId="{CC4118E9-E986-4566-B746-501940CFDE52}" srcOrd="7" destOrd="0" presId="urn:microsoft.com/office/officeart/2008/layout/RadialCluster"/>
    <dgm:cxn modelId="{898F45B5-78D3-4BFE-A478-4CAEC1D6B386}" type="presParOf" srcId="{3A76CCC2-45BB-4805-A620-5F035BD2F84E}" destId="{CEB373B1-9A19-475D-A99C-2BB4D64C3AEB}" srcOrd="8" destOrd="0" presId="urn:microsoft.com/office/officeart/2008/layout/RadialCluster"/>
    <dgm:cxn modelId="{70370215-832D-48F8-A311-1871D5DA1E77}" type="presParOf" srcId="{3A76CCC2-45BB-4805-A620-5F035BD2F84E}" destId="{D0693E3A-F00B-4A7B-81F3-01BF0ADD2FEC}" srcOrd="9" destOrd="0" presId="urn:microsoft.com/office/officeart/2008/layout/RadialCluster"/>
    <dgm:cxn modelId="{A6F94097-1B0B-4FA8-868F-7E0F73285A69}" type="presParOf" srcId="{3A76CCC2-45BB-4805-A620-5F035BD2F84E}" destId="{36C1776E-13B4-42DF-87FF-6930D8FFC408}" srcOrd="10" destOrd="0" presId="urn:microsoft.com/office/officeart/2008/layout/RadialCluster"/>
    <dgm:cxn modelId="{51D33736-9EAB-4241-8C8F-DE4EA9059FDB}" type="presParOf" srcId="{3A76CCC2-45BB-4805-A620-5F035BD2F84E}" destId="{AC99AD1D-19C7-4E4B-BF0E-C3383059EC14}" srcOrd="11" destOrd="0" presId="urn:microsoft.com/office/officeart/2008/layout/RadialCluster"/>
    <dgm:cxn modelId="{BCF77712-6020-4EE9-9144-D315663EBBF0}" type="presParOf" srcId="{3A76CCC2-45BB-4805-A620-5F035BD2F84E}" destId="{5ED5AA1D-5EDF-43C1-8DB1-43D80FB1A48D}" srcOrd="12" destOrd="0" presId="urn:microsoft.com/office/officeart/2008/layout/RadialCluster"/>
    <dgm:cxn modelId="{7FCD8CB6-6274-4623-8932-A6E0709A44F3}" type="presParOf" srcId="{3A76CCC2-45BB-4805-A620-5F035BD2F84E}" destId="{FEC8D364-BA20-4340-9E2D-666E4C16E3DE}" srcOrd="13" destOrd="0" presId="urn:microsoft.com/office/officeart/2008/layout/RadialCluster"/>
    <dgm:cxn modelId="{563A55A7-2462-426E-9087-8C1BF8802D68}" type="presParOf" srcId="{3A76CCC2-45BB-4805-A620-5F035BD2F84E}" destId="{2567D0F3-D7F2-4A3B-8647-93BB94BE5A97}" srcOrd="14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BC07F9-BF24-4750-AE0E-A21D9B7E22AD}">
      <dsp:nvSpPr>
        <dsp:cNvPr id="0" name=""/>
        <dsp:cNvSpPr/>
      </dsp:nvSpPr>
      <dsp:spPr>
        <a:xfrm>
          <a:off x="4309887" y="2665475"/>
          <a:ext cx="3165416" cy="12543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1700" kern="1200" dirty="0">
              <a:latin typeface="Arial" panose="020B0604020202020204" pitchFamily="34" charset="0"/>
              <a:cs typeface="Arial" panose="020B0604020202020204" pitchFamily="34" charset="0"/>
            </a:rPr>
            <a:t>       Monitoring &amp; evaluating financial performance</a:t>
          </a:r>
          <a:endParaRPr lang="en-IN" sz="17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287066" y="3006614"/>
        <a:ext cx="2160683" cy="885648"/>
      </dsp:txXfrm>
    </dsp:sp>
    <dsp:sp modelId="{9F37D1F7-216E-40A7-848C-49E4C5F629DD}">
      <dsp:nvSpPr>
        <dsp:cNvPr id="0" name=""/>
        <dsp:cNvSpPr/>
      </dsp:nvSpPr>
      <dsp:spPr>
        <a:xfrm>
          <a:off x="1278956" y="2619441"/>
          <a:ext cx="2930841" cy="12543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171450" lvl="1" indent="-171450" algn="ctr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1700" kern="1200" dirty="0"/>
            <a:t>Implementing financial plans</a:t>
          </a:r>
          <a:endParaRPr lang="en-IN" sz="1700" kern="1200" dirty="0"/>
        </a:p>
      </dsp:txBody>
      <dsp:txXfrm>
        <a:off x="1306510" y="2960580"/>
        <a:ext cx="1996481" cy="885648"/>
      </dsp:txXfrm>
    </dsp:sp>
    <dsp:sp modelId="{89163D01-1619-4601-A7C6-64D4488681C0}">
      <dsp:nvSpPr>
        <dsp:cNvPr id="0" name=""/>
        <dsp:cNvSpPr/>
      </dsp:nvSpPr>
      <dsp:spPr>
        <a:xfrm>
          <a:off x="4422508" y="0"/>
          <a:ext cx="2940175" cy="12543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1700" kern="1200" dirty="0">
              <a:latin typeface="Arial" panose="020B0604020202020204" pitchFamily="34" charset="0"/>
              <a:cs typeface="Arial" panose="020B0604020202020204" pitchFamily="34" charset="0"/>
            </a:rPr>
            <a:t>Structuring financial     activities</a:t>
          </a:r>
          <a:endParaRPr lang="en-IN" sz="17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332114" y="27554"/>
        <a:ext cx="2003014" cy="885648"/>
      </dsp:txXfrm>
    </dsp:sp>
    <dsp:sp modelId="{D20DEBE1-CA12-4AA0-A05A-E0D7C8685EA3}">
      <dsp:nvSpPr>
        <dsp:cNvPr id="0" name=""/>
        <dsp:cNvSpPr/>
      </dsp:nvSpPr>
      <dsp:spPr>
        <a:xfrm>
          <a:off x="1247354" y="0"/>
          <a:ext cx="2971738" cy="12543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600" kern="1200" dirty="0"/>
            <a:t>    </a:t>
          </a:r>
          <a:r>
            <a:rPr lang="en-IN" sz="1700" kern="1200" dirty="0">
              <a:latin typeface="Arial" panose="020B0604020202020204" pitchFamily="34" charset="0"/>
              <a:cs typeface="Arial" panose="020B0604020202020204" pitchFamily="34" charset="0"/>
            </a:rPr>
            <a:t>Forecasting financial needs and budgeting</a:t>
          </a:r>
        </a:p>
      </dsp:txBody>
      <dsp:txXfrm>
        <a:off x="1274908" y="27554"/>
        <a:ext cx="2025108" cy="885648"/>
      </dsp:txXfrm>
    </dsp:sp>
    <dsp:sp modelId="{B829931F-B548-4936-8AF6-9ED32C6A9D36}">
      <dsp:nvSpPr>
        <dsp:cNvPr id="0" name=""/>
        <dsp:cNvSpPr/>
      </dsp:nvSpPr>
      <dsp:spPr>
        <a:xfrm>
          <a:off x="2624850" y="223429"/>
          <a:ext cx="1697280" cy="1697280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Planning</a:t>
          </a:r>
          <a:endParaRPr lang="en-IN" sz="1800" kern="1200" dirty="0"/>
        </a:p>
      </dsp:txBody>
      <dsp:txXfrm>
        <a:off x="3121972" y="720551"/>
        <a:ext cx="1200158" cy="1200158"/>
      </dsp:txXfrm>
    </dsp:sp>
    <dsp:sp modelId="{CE32A96D-290E-4E53-834B-F1BC3030D244}">
      <dsp:nvSpPr>
        <dsp:cNvPr id="0" name=""/>
        <dsp:cNvSpPr/>
      </dsp:nvSpPr>
      <dsp:spPr>
        <a:xfrm rot="5400000">
          <a:off x="4394230" y="217132"/>
          <a:ext cx="1697280" cy="1697280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Organizin</a:t>
          </a:r>
          <a:r>
            <a:rPr lang="en-US" sz="1800" kern="1200" dirty="0"/>
            <a:t>g</a:t>
          </a:r>
          <a:endParaRPr lang="en-IN" sz="1800" kern="1200" dirty="0"/>
        </a:p>
      </dsp:txBody>
      <dsp:txXfrm rot="-5400000">
        <a:off x="4394230" y="714254"/>
        <a:ext cx="1200158" cy="1200158"/>
      </dsp:txXfrm>
    </dsp:sp>
    <dsp:sp modelId="{6EF3BA02-849B-4506-88BA-7A206C0B02EC}">
      <dsp:nvSpPr>
        <dsp:cNvPr id="0" name=""/>
        <dsp:cNvSpPr/>
      </dsp:nvSpPr>
      <dsp:spPr>
        <a:xfrm rot="10800000">
          <a:off x="4389376" y="2039977"/>
          <a:ext cx="1697280" cy="1697280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Controlling</a:t>
          </a:r>
          <a:endParaRPr lang="en-IN" sz="1600" kern="1200" dirty="0"/>
        </a:p>
      </dsp:txBody>
      <dsp:txXfrm rot="10800000">
        <a:off x="4389376" y="2039977"/>
        <a:ext cx="1200158" cy="1200158"/>
      </dsp:txXfrm>
    </dsp:sp>
    <dsp:sp modelId="{89D571DF-FD22-4181-9D9B-AFA44FA41137}">
      <dsp:nvSpPr>
        <dsp:cNvPr id="0" name=""/>
        <dsp:cNvSpPr/>
      </dsp:nvSpPr>
      <dsp:spPr>
        <a:xfrm rot="16200000">
          <a:off x="2624850" y="1999106"/>
          <a:ext cx="1697280" cy="1697280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Directing</a:t>
          </a:r>
          <a:endParaRPr lang="en-IN" sz="1700" kern="1200" dirty="0"/>
        </a:p>
      </dsp:txBody>
      <dsp:txXfrm rot="5400000">
        <a:off x="3121972" y="1999106"/>
        <a:ext cx="1200158" cy="1200158"/>
      </dsp:txXfrm>
    </dsp:sp>
    <dsp:sp modelId="{F44B303F-086D-48DF-968B-DC6CA48B7DE6}">
      <dsp:nvSpPr>
        <dsp:cNvPr id="0" name=""/>
        <dsp:cNvSpPr/>
      </dsp:nvSpPr>
      <dsp:spPr>
        <a:xfrm>
          <a:off x="4068322" y="1607124"/>
          <a:ext cx="586012" cy="509576"/>
        </a:xfrm>
        <a:prstGeom prst="circular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CFC364-8597-41B4-A567-35E4A87DE555}">
      <dsp:nvSpPr>
        <dsp:cNvPr id="0" name=""/>
        <dsp:cNvSpPr/>
      </dsp:nvSpPr>
      <dsp:spPr>
        <a:xfrm rot="10800000">
          <a:off x="4068322" y="1803115"/>
          <a:ext cx="586012" cy="509576"/>
        </a:xfrm>
        <a:prstGeom prst="circular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61F3D1-67A9-4436-B1CA-AE1B3135BD4B}">
      <dsp:nvSpPr>
        <dsp:cNvPr id="0" name=""/>
        <dsp:cNvSpPr/>
      </dsp:nvSpPr>
      <dsp:spPr>
        <a:xfrm>
          <a:off x="4256818" y="2040362"/>
          <a:ext cx="2459163" cy="165307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>
              <a:latin typeface="Arial" panose="020B0604020202020204" pitchFamily="34" charset="0"/>
              <a:cs typeface="Arial" panose="020B0604020202020204" pitchFamily="34" charset="0"/>
            </a:rPr>
            <a:t>Key Responsibilities of a Financial Manager  </a:t>
          </a:r>
          <a:endParaRPr lang="en-IN" sz="2000" b="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337514" y="2121058"/>
        <a:ext cx="2297771" cy="1491683"/>
      </dsp:txXfrm>
    </dsp:sp>
    <dsp:sp modelId="{AD77177C-EB18-4BCB-A9DF-F273E31867EA}">
      <dsp:nvSpPr>
        <dsp:cNvPr id="0" name=""/>
        <dsp:cNvSpPr/>
      </dsp:nvSpPr>
      <dsp:spPr>
        <a:xfrm rot="16200000">
          <a:off x="5047872" y="1601834"/>
          <a:ext cx="877055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77055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C49EF1-5E4B-4839-A4C1-D2EE7B26F291}">
      <dsp:nvSpPr>
        <dsp:cNvPr id="0" name=""/>
        <dsp:cNvSpPr/>
      </dsp:nvSpPr>
      <dsp:spPr>
        <a:xfrm>
          <a:off x="4305835" y="55747"/>
          <a:ext cx="2361130" cy="11075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kern="1200" dirty="0">
              <a:latin typeface="Arial" panose="020B0604020202020204" pitchFamily="34" charset="0"/>
              <a:cs typeface="Arial" panose="020B0604020202020204" pitchFamily="34" charset="0"/>
            </a:rPr>
            <a:t>Financial Planning and Forecasting</a:t>
          </a:r>
        </a:p>
      </dsp:txBody>
      <dsp:txXfrm>
        <a:off x="4359902" y="109814"/>
        <a:ext cx="2252996" cy="999426"/>
      </dsp:txXfrm>
    </dsp:sp>
    <dsp:sp modelId="{87AABAA9-B8A1-4DB8-A7A5-D6F18DC3FAB1}">
      <dsp:nvSpPr>
        <dsp:cNvPr id="0" name=""/>
        <dsp:cNvSpPr/>
      </dsp:nvSpPr>
      <dsp:spPr>
        <a:xfrm rot="20002695">
          <a:off x="6666794" y="2042684"/>
          <a:ext cx="927936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927936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D85D42-77EE-40A7-AC3C-26A5A7B944C6}">
      <dsp:nvSpPr>
        <dsp:cNvPr id="0" name=""/>
        <dsp:cNvSpPr/>
      </dsp:nvSpPr>
      <dsp:spPr>
        <a:xfrm>
          <a:off x="7469803" y="727220"/>
          <a:ext cx="2361130" cy="11075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6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Capital Budgeting and Structuring Decisions</a:t>
          </a:r>
          <a:endParaRPr lang="en-IN" sz="1600" b="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7523870" y="781287"/>
        <a:ext cx="2252996" cy="999426"/>
      </dsp:txXfrm>
    </dsp:sp>
    <dsp:sp modelId="{DB9C506E-F6EF-4BC9-9ECE-3E9167E27D18}">
      <dsp:nvSpPr>
        <dsp:cNvPr id="0" name=""/>
        <dsp:cNvSpPr/>
      </dsp:nvSpPr>
      <dsp:spPr>
        <a:xfrm rot="483038">
          <a:off x="6712641" y="3088287"/>
          <a:ext cx="677945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77945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E5EDD0-B017-4A30-856E-76181A12F805}">
      <dsp:nvSpPr>
        <dsp:cNvPr id="0" name=""/>
        <dsp:cNvSpPr/>
      </dsp:nvSpPr>
      <dsp:spPr>
        <a:xfrm>
          <a:off x="7387246" y="2748961"/>
          <a:ext cx="2361130" cy="11075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6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Working Capital Management</a:t>
          </a:r>
          <a:endParaRPr lang="en-IN" sz="1600" b="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7441313" y="2803028"/>
        <a:ext cx="2252996" cy="999426"/>
      </dsp:txXfrm>
    </dsp:sp>
    <dsp:sp modelId="{CC4118E9-E986-4566-B746-501940CFDE52}">
      <dsp:nvSpPr>
        <dsp:cNvPr id="0" name=""/>
        <dsp:cNvSpPr/>
      </dsp:nvSpPr>
      <dsp:spPr>
        <a:xfrm rot="2915460">
          <a:off x="6067818" y="4020189"/>
          <a:ext cx="871331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71331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B373B1-9A19-475D-A99C-2BB4D64C3AEB}">
      <dsp:nvSpPr>
        <dsp:cNvPr id="0" name=""/>
        <dsp:cNvSpPr/>
      </dsp:nvSpPr>
      <dsp:spPr>
        <a:xfrm>
          <a:off x="5918416" y="4346942"/>
          <a:ext cx="2723213" cy="11075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6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Risk Management</a:t>
          </a:r>
          <a:endParaRPr lang="en-IN" sz="1600" b="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5972483" y="4401009"/>
        <a:ext cx="2615079" cy="999426"/>
      </dsp:txXfrm>
    </dsp:sp>
    <dsp:sp modelId="{D0693E3A-F00B-4A7B-81F3-01BF0ADD2FEC}">
      <dsp:nvSpPr>
        <dsp:cNvPr id="0" name=""/>
        <dsp:cNvSpPr/>
      </dsp:nvSpPr>
      <dsp:spPr>
        <a:xfrm rot="7944141">
          <a:off x="3966618" y="4030818"/>
          <a:ext cx="913781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913781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C1776E-13B4-42DF-87FF-6930D8FFC408}">
      <dsp:nvSpPr>
        <dsp:cNvPr id="0" name=""/>
        <dsp:cNvSpPr/>
      </dsp:nvSpPr>
      <dsp:spPr>
        <a:xfrm>
          <a:off x="2429135" y="4368199"/>
          <a:ext cx="2361130" cy="11075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6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Dividend Policy</a:t>
          </a:r>
          <a:endParaRPr lang="en-IN" sz="1600" b="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2483202" y="4422266"/>
        <a:ext cx="2252996" cy="999426"/>
      </dsp:txXfrm>
    </dsp:sp>
    <dsp:sp modelId="{AC99AD1D-19C7-4E4B-BF0E-C3383059EC14}">
      <dsp:nvSpPr>
        <dsp:cNvPr id="0" name=""/>
        <dsp:cNvSpPr/>
      </dsp:nvSpPr>
      <dsp:spPr>
        <a:xfrm rot="10297507">
          <a:off x="3306291" y="3117511"/>
          <a:ext cx="955622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955622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ED5AA1D-5EDF-43C1-8DB1-43D80FB1A48D}">
      <dsp:nvSpPr>
        <dsp:cNvPr id="0" name=""/>
        <dsp:cNvSpPr/>
      </dsp:nvSpPr>
      <dsp:spPr>
        <a:xfrm>
          <a:off x="950256" y="2807125"/>
          <a:ext cx="2361130" cy="11075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6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Liaison with Financial Markets</a:t>
          </a:r>
          <a:endParaRPr lang="en-IN" sz="1600" b="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1004323" y="2861192"/>
        <a:ext cx="2252996" cy="999426"/>
      </dsp:txXfrm>
    </dsp:sp>
    <dsp:sp modelId="{FEC8D364-BA20-4340-9E2D-666E4C16E3DE}">
      <dsp:nvSpPr>
        <dsp:cNvPr id="0" name=""/>
        <dsp:cNvSpPr/>
      </dsp:nvSpPr>
      <dsp:spPr>
        <a:xfrm rot="12466749">
          <a:off x="3151637" y="1945895"/>
          <a:ext cx="1172761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172761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67D0F3-D7F2-4A3B-8647-93BB94BE5A97}">
      <dsp:nvSpPr>
        <dsp:cNvPr id="0" name=""/>
        <dsp:cNvSpPr/>
      </dsp:nvSpPr>
      <dsp:spPr>
        <a:xfrm>
          <a:off x="987387" y="565044"/>
          <a:ext cx="2361130" cy="11075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600" b="0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Performance Analysis</a:t>
          </a:r>
          <a:endParaRPr lang="en-IN" sz="1600" b="0" i="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1041454" y="619111"/>
        <a:ext cx="2252996" cy="9994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A0C0EA-C8BD-49C9-9C46-A8CD2E88D28C}" type="datetimeFigureOut">
              <a:rPr lang="en-IN" smtClean="0"/>
              <a:t>29-07-2025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9B5F06-7D63-4BA8-9B97-4EE8D78C33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0842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396C1-6818-4BD3-A908-57FC4B8C84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D4E563-ED2E-4F59-AA93-E82DC2CA0D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43534-64B5-4C6A-85E3-BFDDAB544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BD179-2711-447E-8655-3BD8FADFAD57}" type="datetime1">
              <a:rPr lang="en-IN" smtClean="0"/>
              <a:t>29-07-2025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022C6-B7F5-4046-A0B6-3DA6932C0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1E89A-06B6-4808-8144-5B982DD79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4625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30EFC-3291-4B01-89F7-F03FF6033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8893A-EEF0-4995-B572-B6BE1B8D86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5A7C9E-B401-40E1-97BA-9F3B89563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84B8A-57FB-44A0-911B-F981738DBDE9}" type="datetime1">
              <a:rPr lang="en-IN" smtClean="0"/>
              <a:t>29-07-2025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09CE0D-74B7-4F76-80BB-DE2F0589D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0D3F04-4C16-4534-BB84-9E8044F2B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6884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DD182-70D3-4044-A671-40B11B89E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34FB95-63DE-4886-A2F2-CA4510A4BA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A4367-20EB-4455-A4A5-2B721E415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820BB-A323-4004-BD16-27E98A7B29DE}" type="datetime1">
              <a:rPr lang="en-IN" smtClean="0"/>
              <a:t>29-07-2025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C0090-4415-478D-994F-CD3719ED9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8FE0E5-DE67-47C4-BF8A-41FB570D6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7935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4D97C-C9E3-4CA2-8BF8-D93E53742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59B1C-D4EC-4E74-98CB-A3140FFC61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BDAE4E-CC38-4B9F-8F1E-7FD3C3336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2CCF11-57BA-470B-944B-68B796FA2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86462-AE92-4E27-862E-EEEA0684B5C6}" type="datetime1">
              <a:rPr lang="en-IN" smtClean="0"/>
              <a:t>29-07-2025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B8A846-4131-40F0-AC1C-4E1E281AA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F51070-2593-4BC0-AF89-606E3C115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53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2BCD6-4CC5-49EF-BB72-B48F13EA5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35846A-0135-4533-9586-C3BD3E11C5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5446E-24E6-48E1-BB2D-CF642948E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9C18FB-A000-4626-A86C-EF68FCA145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BC8AC1-093F-4710-BBE4-7D369AAB5A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6C3EF7-15C8-4670-A3D5-B446F7ACF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E5F5E-F594-4015-B868-B24C0423A22D}" type="datetime1">
              <a:rPr lang="en-IN" smtClean="0"/>
              <a:t>29-07-2025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EB8CBC-E5AA-4CF8-AB26-5FAE676BB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9BBD29-266E-463C-8CA6-ADB275AC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1643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58E4A-1090-4BDA-99F2-65A3E045A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D60A4F-4F84-4114-9328-D1FA1401C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4E324-97F8-4325-8E50-85E9C0271C69}" type="datetime1">
              <a:rPr lang="en-IN" smtClean="0"/>
              <a:t>29-07-2025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1BF9A0-5BAE-4E03-BA55-8B65D4A92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49654D-E82B-4CB8-946E-9A45CA446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4970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2F6447-B0E4-43CB-8D8D-543327A6E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BE5F8-A426-45A9-9DD0-CF8F2C5C8832}" type="datetime1">
              <a:rPr lang="en-IN" smtClean="0"/>
              <a:t>29-07-2025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6A3766-1F91-4AFC-BE1D-4BAE294A1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B866BC-646A-4EFE-8266-69C48EE9A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0474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EC69D-472F-4B78-B366-87ED4701C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2E277-CEF6-4690-A03D-BAA4425D62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A3E8A2-CB3E-473E-B588-6D4D0F8812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1A8293-5A5C-454A-85F6-2357CA35C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C99D8-0E3C-4195-A8F5-BE44F0231050}" type="datetime1">
              <a:rPr lang="en-IN" smtClean="0"/>
              <a:t>29-07-2025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3560C5-6FDD-4F2D-BDE1-EB6F6E456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0843E1-6C4A-443C-9D3B-8923DEE45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7032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586D1-2015-46E2-96CD-12A7A111D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5D34AD-3DE0-493F-AF3A-DDA31F0843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888F5C-187B-4904-94C5-175E75F5DF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5D4A7D-7835-4961-B737-F65928DC6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B92DF-833F-43C7-B672-55515B6146A1}" type="datetime1">
              <a:rPr lang="en-IN" smtClean="0"/>
              <a:t>29-07-2025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BC846A-449C-4C4C-9B24-72C83BC63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357A82-D687-4925-A27B-FD174A2E9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9502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EC4F2-0590-44ED-AAB4-13B826CD2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ABA761-F45C-439D-BE2B-56CD69065F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E8F9AA-3546-4376-BB7A-D36C2893F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F185B-9314-4578-998B-20D35898F8DC}" type="datetime1">
              <a:rPr lang="en-IN" smtClean="0"/>
              <a:t>29-07-2025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5960B-4906-4AFF-B95F-765B6FD77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D0703B-E885-494A-8CDB-5586EFFD5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3091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6B487D-9EDE-42BC-B421-EE1A84FFD0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0FF042-453E-41FB-BFA9-659F3A524A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F193A-7385-4230-B6EA-1256368AF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162D5-02EF-4E55-93CB-D7801A6CF433}" type="datetime1">
              <a:rPr lang="en-IN" smtClean="0"/>
              <a:t>29-07-2025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FC21CC-D690-480E-9142-B3A7CC442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5AA346-A26A-4FAC-B838-E1F1FA919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6241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99E5B0-B951-415A-B1A3-9EDB8D714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BAC724-585E-45C9-83E5-47983DFCE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DB906A-C201-4787-8DB5-F62A600DFD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2F9034-45B1-4727-9CB4-8F64459BCB61}" type="datetime1">
              <a:rPr lang="en-IN" smtClean="0"/>
              <a:t>29-07-2025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6820C-C0C2-451C-989C-DCDDE52D96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068A8-2D3A-4829-B1E4-B6AE2C225A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DCFAE8-8E9E-42B1-9A81-DFF72612FD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4759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0F455-BC79-E0BD-A932-4AAC82BBBC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8847" y="-606818"/>
            <a:ext cx="9920431" cy="2048756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INTRODUCTION TO FINANCIAL MANAGEMENT</a:t>
            </a:r>
            <a:endParaRPr lang="en-IN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48BDD4-5999-D88C-CDA9-369D927A8A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5069" y="3722877"/>
            <a:ext cx="9144000" cy="2864545"/>
          </a:xfrm>
        </p:spPr>
        <p:txBody>
          <a:bodyPr>
            <a:normAutofit/>
          </a:bodyPr>
          <a:lstStyle/>
          <a:p>
            <a:r>
              <a:rPr lang="en-IN" dirty="0"/>
              <a:t> Financial Management(HS4L003)</a:t>
            </a:r>
          </a:p>
          <a:p>
            <a:r>
              <a:rPr lang="en-IN" dirty="0"/>
              <a:t>Dr. Naresh Chandra Sahu</a:t>
            </a:r>
          </a:p>
          <a:p>
            <a:r>
              <a:rPr lang="en-IN" dirty="0"/>
              <a:t>Associate Professor (Economics)</a:t>
            </a:r>
          </a:p>
          <a:p>
            <a:pPr>
              <a:defRPr/>
            </a:pPr>
            <a:endParaRPr lang="en-US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School of Humanities, Social Sciences &amp; Management</a:t>
            </a:r>
          </a:p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Indian Institute of Technology, Bhubaneswar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611643E-496F-6C24-52CF-26048AD81153}"/>
              </a:ext>
            </a:extLst>
          </p:cNvPr>
          <p:cNvSpPr txBox="1">
            <a:spLocks/>
          </p:cNvSpPr>
          <p:nvPr/>
        </p:nvSpPr>
        <p:spPr>
          <a:xfrm>
            <a:off x="1524000" y="5116313"/>
            <a:ext cx="9144000" cy="9327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E30A92-D783-6F7E-FFC5-F3C3B0CA9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1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192813-3586-95C9-052B-177472216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0503" y="1685301"/>
            <a:ext cx="2139370" cy="203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15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E90695-BFDC-4BCF-A76E-3F657AE50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2</a:t>
            </a:fld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658DDD-9DC7-44AA-A0C3-565DDD04076E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12" name="AutoShape 2" descr="India's Sustainable Development Index and Goals Overview">
            <a:extLst>
              <a:ext uri="{FF2B5EF4-FFF2-40B4-BE49-F238E27FC236}">
                <a16:creationId xmlns:a16="http://schemas.microsoft.com/office/drawing/2014/main" id="{6AEF81DE-28B9-4896-B87E-9297C6F66C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4E545C-8306-1511-A833-84477B584B1D}"/>
              </a:ext>
            </a:extLst>
          </p:cNvPr>
          <p:cNvSpPr txBox="1"/>
          <p:nvPr/>
        </p:nvSpPr>
        <p:spPr>
          <a:xfrm>
            <a:off x="759213" y="997271"/>
            <a:ext cx="9759042" cy="5135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sz="16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What is this course about?</a:t>
            </a:r>
            <a:endParaRPr lang="en-IN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914400" algn="l"/>
              </a:tabLst>
            </a:pPr>
            <a:r>
              <a:rPr lang="en-IN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Understanding how businesses make financial decisions to create value.</a:t>
            </a:r>
            <a:endParaRPr lang="en-IN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914400" algn="l"/>
              </a:tabLst>
            </a:pPr>
            <a:r>
              <a:rPr lang="en-IN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Learning about managing money effectively within an organization.</a:t>
            </a:r>
            <a:endParaRPr lang="en-IN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914400" algn="l"/>
              </a:tabLst>
            </a:pPr>
            <a:r>
              <a:rPr lang="en-IN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Exploring key concepts, tools, and techniques used by financial managers.</a:t>
            </a:r>
            <a:endParaRPr lang="en-IN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Why is Financial Management important?</a:t>
            </a:r>
            <a:endParaRPr lang="en-IN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914400" algn="l"/>
              </a:tabLst>
            </a:pPr>
            <a:r>
              <a:rPr lang="en-IN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Crucial for business success and sustainability.</a:t>
            </a:r>
            <a:endParaRPr lang="en-IN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914400" algn="l"/>
              </a:tabLst>
            </a:pPr>
            <a:r>
              <a:rPr lang="en-IN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Impacts profitability, growth, and survival.</a:t>
            </a:r>
            <a:endParaRPr lang="en-IN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914400" algn="l"/>
              </a:tabLst>
            </a:pPr>
            <a:r>
              <a:rPr lang="en-IN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Relevant for all business functions (marketing, operations, HR, etc.).</a:t>
            </a:r>
            <a:endParaRPr lang="en-IN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914400" algn="l"/>
              </a:tabLst>
            </a:pPr>
            <a:r>
              <a:rPr lang="en-IN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Essential for personal finance understanding, too!</a:t>
            </a:r>
            <a:endParaRPr lang="en-IN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Course Structure &amp; Expectations:</a:t>
            </a:r>
            <a:endParaRPr lang="en-IN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914400" algn="l"/>
              </a:tabLst>
            </a:pPr>
            <a:r>
              <a:rPr lang="en-IN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Briefly mention topics to be covered, assessment methods, etc.</a:t>
            </a:r>
            <a:endParaRPr lang="en-IN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82A855-DAC4-F8C0-ED13-7349DDB75A58}"/>
              </a:ext>
            </a:extLst>
          </p:cNvPr>
          <p:cNvSpPr txBox="1"/>
          <p:nvPr/>
        </p:nvSpPr>
        <p:spPr>
          <a:xfrm>
            <a:off x="959935" y="167787"/>
            <a:ext cx="9759042" cy="956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                 </a:t>
            </a:r>
            <a:r>
              <a:rPr lang="en-IN" sz="24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Welcome to Financial Management Class!</a:t>
            </a:r>
            <a:endParaRPr lang="en-IN" sz="24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en-IN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8479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458BA31-50AE-02FD-82E4-8F5DB4F91D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935" y="770966"/>
            <a:ext cx="10590865" cy="589349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Financial Management is concerned with the efficient acquisition and utilization of funds and the efficient management of financial resources (working capital, fixed assets, etc.) to achieve organizational objectives.</a:t>
            </a:r>
          </a:p>
          <a:p>
            <a:pPr marL="0" indent="0">
              <a:buNone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A6458A-1EFD-AF34-2E3F-96517EFF0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3</a:t>
            </a:fld>
            <a:endParaRPr lang="en-IN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C86A2566-08F8-BE77-B5CF-E4921052BD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6262780"/>
              </p:ext>
            </p:extLst>
          </p:nvPr>
        </p:nvGraphicFramePr>
        <p:xfrm>
          <a:off x="1380565" y="2619095"/>
          <a:ext cx="8722658" cy="39198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itle 7">
            <a:extLst>
              <a:ext uri="{FF2B5EF4-FFF2-40B4-BE49-F238E27FC236}">
                <a16:creationId xmlns:a16="http://schemas.microsoft.com/office/drawing/2014/main" id="{BFA2FA15-4E2B-9374-01EC-608558879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935" y="255145"/>
            <a:ext cx="10515600" cy="5158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hat is Financial Management?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418A605-BA28-2FD5-3A17-6C1878E655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78535" y="214121"/>
            <a:ext cx="842459" cy="556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844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246D9-C01E-252E-8A2E-A0A80FD913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101" y="947734"/>
            <a:ext cx="10459501" cy="5910266"/>
          </a:xfrm>
        </p:spPr>
        <p:txBody>
          <a:bodyPr>
            <a:normAutofit fontScale="325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IN" sz="4900" b="1" dirty="0">
                <a:latin typeface="Arial" panose="020B0604020202020204" pitchFamily="34" charset="0"/>
                <a:cs typeface="Arial" panose="020B0604020202020204" pitchFamily="34" charset="0"/>
              </a:rPr>
              <a:t>1- Investment Decisions (Capital Budgeting):</a:t>
            </a:r>
            <a:endParaRPr lang="en-IN" sz="4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IN" sz="4900" dirty="0">
                <a:latin typeface="Arial" panose="020B0604020202020204" pitchFamily="34" charset="0"/>
                <a:cs typeface="Arial" panose="020B0604020202020204" pitchFamily="34" charset="0"/>
              </a:rPr>
              <a:t>Deciding where to allocate capital for long-term growth.</a:t>
            </a:r>
          </a:p>
          <a:p>
            <a:pPr lvl="1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IN" sz="4900" dirty="0">
                <a:latin typeface="Arial" panose="020B0604020202020204" pitchFamily="34" charset="0"/>
                <a:cs typeface="Arial" panose="020B0604020202020204" pitchFamily="34" charset="0"/>
              </a:rPr>
              <a:t>Examples: Buying new machinery, expanding a factory, investing in a new product line, and acquiring another company.</a:t>
            </a:r>
          </a:p>
          <a:p>
            <a:pPr lvl="1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IN" sz="4900" dirty="0">
                <a:latin typeface="Arial" panose="020B0604020202020204" pitchFamily="34" charset="0"/>
                <a:cs typeface="Arial" panose="020B0604020202020204" pitchFamily="34" charset="0"/>
              </a:rPr>
              <a:t>Focus: Maximizing returns for a given level of risk.</a:t>
            </a:r>
          </a:p>
          <a:p>
            <a:pPr marL="0" lvl="0" indent="0">
              <a:lnSpc>
                <a:spcPct val="170000"/>
              </a:lnSpc>
              <a:buNone/>
            </a:pPr>
            <a:r>
              <a:rPr lang="en-IN" sz="4900" b="1" dirty="0">
                <a:latin typeface="Arial" panose="020B0604020202020204" pitchFamily="34" charset="0"/>
                <a:cs typeface="Arial" panose="020B0604020202020204" pitchFamily="34" charset="0"/>
              </a:rPr>
              <a:t>2- Financing Decisions (Capital Structure):</a:t>
            </a:r>
            <a:endParaRPr lang="en-IN" sz="4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IN" sz="4900" dirty="0">
                <a:latin typeface="Arial" panose="020B0604020202020204" pitchFamily="34" charset="0"/>
                <a:cs typeface="Arial" panose="020B0604020202020204" pitchFamily="34" charset="0"/>
              </a:rPr>
              <a:t>Deciding how to raise funds (sources of finance).</a:t>
            </a:r>
          </a:p>
          <a:p>
            <a:pPr lvl="1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IN" sz="4900" dirty="0">
                <a:latin typeface="Arial" panose="020B0604020202020204" pitchFamily="34" charset="0"/>
                <a:cs typeface="Arial" panose="020B0604020202020204" pitchFamily="34" charset="0"/>
              </a:rPr>
              <a:t>Examples: Issuing shares (equity), borrowing from banks,  and retaining earnings.</a:t>
            </a:r>
          </a:p>
          <a:p>
            <a:pPr lvl="1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IN" sz="4900" dirty="0">
                <a:latin typeface="Arial" panose="020B0604020202020204" pitchFamily="34" charset="0"/>
                <a:cs typeface="Arial" panose="020B0604020202020204" pitchFamily="34" charset="0"/>
              </a:rPr>
              <a:t>Focus: Finding the optimal mix of debt and equity to minimize the cost of capital and maximize firm value.</a:t>
            </a:r>
          </a:p>
          <a:p>
            <a:pPr marL="0" lvl="0" indent="0">
              <a:lnSpc>
                <a:spcPct val="170000"/>
              </a:lnSpc>
              <a:buNone/>
            </a:pPr>
            <a:r>
              <a:rPr lang="en-IN" sz="4900" b="1" dirty="0">
                <a:latin typeface="Arial" panose="020B0604020202020204" pitchFamily="34" charset="0"/>
                <a:cs typeface="Arial" panose="020B0604020202020204" pitchFamily="34" charset="0"/>
              </a:rPr>
              <a:t>3-Dividend Decisions (Payout Policy):</a:t>
            </a:r>
            <a:endParaRPr lang="en-IN" sz="4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IN" sz="4900" dirty="0">
                <a:latin typeface="Arial" panose="020B0604020202020204" pitchFamily="34" charset="0"/>
                <a:cs typeface="Arial" panose="020B0604020202020204" pitchFamily="34" charset="0"/>
              </a:rPr>
              <a:t>Deciding how to distribute profits to shareholders.</a:t>
            </a:r>
          </a:p>
          <a:p>
            <a:pPr lvl="1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IN" sz="4900" dirty="0">
                <a:latin typeface="Arial" panose="020B0604020202020204" pitchFamily="34" charset="0"/>
                <a:cs typeface="Arial" panose="020B0604020202020204" pitchFamily="34" charset="0"/>
              </a:rPr>
              <a:t>Examples: Paying dividends, retaining earnings for reinvestment.</a:t>
            </a:r>
          </a:p>
          <a:p>
            <a:pPr lvl="1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IN" sz="4900" dirty="0">
                <a:latin typeface="Arial" panose="020B0604020202020204" pitchFamily="34" charset="0"/>
                <a:cs typeface="Arial" panose="020B0604020202020204" pitchFamily="34" charset="0"/>
              </a:rPr>
              <a:t>Focus: Balancing current shareholder returns with future growth opportunities.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0D8645-98CB-0B71-D6E5-DE8EB1E7E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4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FAE5F53-E183-3931-0DF8-18906952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002" y="240593"/>
            <a:ext cx="10515600" cy="52211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Scope of Financial Management</a:t>
            </a:r>
            <a:endParaRPr lang="en-IN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9B848DD-D0C4-5CC0-A1E9-0ABCF41DE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1602" y="223227"/>
            <a:ext cx="842459" cy="556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577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BDF521-1B21-434E-AEF6-4D2AC975AC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3840" y="1128689"/>
            <a:ext cx="5181600" cy="4600622"/>
          </a:xfrm>
        </p:spPr>
        <p:txBody>
          <a:bodyPr>
            <a:noAutofit/>
          </a:bodyPr>
          <a:lstStyle/>
          <a:p>
            <a:pPr marL="0" lvl="0" indent="0">
              <a:lnSpc>
                <a:spcPct val="150000"/>
              </a:lnSpc>
              <a:buNone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Traditional Approach (Pre1950s)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>
              <a:lnSpc>
                <a:spcPct val="150000"/>
              </a:lnSpc>
            </a:pP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Primarily focused on procurement of funds (how to raise money).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Emphasis on legal and administrative aspects, particularly during mergers, acquisitions, and reorganizations.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Limited attention to the efficient utilization of funds or daily financial operations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16A4C2-7558-F304-6BA5-CA6C6D3BA3B5}"/>
              </a:ext>
            </a:extLst>
          </p:cNvPr>
          <p:cNvSpPr/>
          <p:nvPr/>
        </p:nvSpPr>
        <p:spPr>
          <a:xfrm>
            <a:off x="623840" y="298653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Evolution of Financial Management</a:t>
            </a:r>
            <a:endParaRPr lang="en-IN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DDF771-59E1-5928-DE30-F3B65EE50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800" y="298652"/>
            <a:ext cx="842459" cy="55684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A4AD33-9388-A96E-EBB6-FCB667425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88497" y="6397468"/>
            <a:ext cx="2743200" cy="365125"/>
          </a:xfrm>
        </p:spPr>
        <p:txBody>
          <a:bodyPr/>
          <a:lstStyle/>
          <a:p>
            <a:fld id="{A1DCFAE8-8E9E-42B1-9A81-DFF72612FDA6}" type="slidenum">
              <a:rPr lang="en-IN" smtClean="0"/>
              <a:t>5</a:t>
            </a:fld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64BD99-3F47-1312-E850-E9FDEB9840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19800" y="1231029"/>
            <a:ext cx="5103000" cy="477147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Modern Approach (Post-1950s)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Shifted focus from mere procurement to efficient utilization and allocation of funds.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Emphasizes decision-making related to investment, financing, and dividend policies.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Integrates concepts from economics and quantitative methods.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Aims at wealth maximization for shareholders.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Recognizes the continuous nature of financial decisions.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0974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321641-172C-4E50-938B-0868EF813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828" y="767978"/>
            <a:ext cx="10848234" cy="4449492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70000"/>
              </a:lnSpc>
            </a:pPr>
            <a:r>
              <a:rPr lang="en-IN" sz="6400" b="1" dirty="0">
                <a:latin typeface="Arial" panose="020B0604020202020204" pitchFamily="34" charset="0"/>
                <a:cs typeface="Arial" panose="020B0604020202020204" pitchFamily="34" charset="0"/>
              </a:rPr>
              <a:t>Profit Maximization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IN" sz="6400" dirty="0">
                <a:latin typeface="Arial" panose="020B0604020202020204" pitchFamily="34" charset="0"/>
                <a:cs typeface="Arial" panose="020B0604020202020204" pitchFamily="34" charset="0"/>
              </a:rPr>
              <a:t>Problems/Limitations:</a:t>
            </a:r>
          </a:p>
          <a:p>
            <a:pPr lvl="2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IN" sz="6400" dirty="0">
                <a:latin typeface="Arial" panose="020B0604020202020204" pitchFamily="34" charset="0"/>
                <a:cs typeface="Arial" panose="020B0604020202020204" pitchFamily="34" charset="0"/>
              </a:rPr>
              <a:t>Ambiguity: Which profit? (Total profit, EPS, short-term vs. long-term?)</a:t>
            </a:r>
          </a:p>
          <a:p>
            <a:pPr lvl="2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IN" sz="6400" dirty="0">
                <a:latin typeface="Arial" panose="020B0604020202020204" pitchFamily="34" charset="0"/>
                <a:cs typeface="Arial" panose="020B0604020202020204" pitchFamily="34" charset="0"/>
              </a:rPr>
              <a:t>Ignores Time Value of Money: A rupee today is worth more than a rupee tomorrow.</a:t>
            </a:r>
          </a:p>
          <a:p>
            <a:pPr lvl="2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IN" sz="6400" dirty="0">
                <a:latin typeface="Arial" panose="020B0604020202020204" pitchFamily="34" charset="0"/>
                <a:cs typeface="Arial" panose="020B0604020202020204" pitchFamily="34" charset="0"/>
              </a:rPr>
              <a:t>Ignores Risk: Higher profits might come with unacceptable levels of risk.</a:t>
            </a:r>
          </a:p>
          <a:p>
            <a:pPr lvl="2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IN" sz="6400" dirty="0">
                <a:latin typeface="Arial" panose="020B0604020202020204" pitchFamily="34" charset="0"/>
                <a:cs typeface="Arial" panose="020B0604020202020204" pitchFamily="34" charset="0"/>
              </a:rPr>
              <a:t>Does not consider shareholder returns.</a:t>
            </a:r>
          </a:p>
          <a:p>
            <a:pPr lvl="0">
              <a:lnSpc>
                <a:spcPct val="170000"/>
              </a:lnSpc>
            </a:pPr>
            <a:r>
              <a:rPr lang="en-IN" sz="6400" b="1" dirty="0">
                <a:latin typeface="Arial" panose="020B0604020202020204" pitchFamily="34" charset="0"/>
                <a:cs typeface="Arial" panose="020B0604020202020204" pitchFamily="34" charset="0"/>
              </a:rPr>
              <a:t>Wealth Maximization (Shareholder Wealth Maximization)</a:t>
            </a:r>
          </a:p>
          <a:p>
            <a:pPr marL="457200" lvl="1" indent="0">
              <a:lnSpc>
                <a:spcPct val="170000"/>
              </a:lnSpc>
              <a:buNone/>
            </a:pPr>
            <a:r>
              <a:rPr lang="en-IN" sz="6400" dirty="0">
                <a:latin typeface="Arial" panose="020B0604020202020204" pitchFamily="34" charset="0"/>
                <a:cs typeface="Arial" panose="020B0604020202020204" pitchFamily="34" charset="0"/>
              </a:rPr>
              <a:t>Advantages:</a:t>
            </a:r>
          </a:p>
          <a:p>
            <a:pPr lvl="2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IN" sz="6400" dirty="0">
                <a:latin typeface="Arial" panose="020B0604020202020204" pitchFamily="34" charset="0"/>
                <a:cs typeface="Arial" panose="020B0604020202020204" pitchFamily="34" charset="0"/>
              </a:rPr>
              <a:t>Considers Time Value of Money: Future cash flows are discounted to present value.</a:t>
            </a:r>
          </a:p>
          <a:p>
            <a:pPr lvl="2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IN" sz="6400" dirty="0">
                <a:latin typeface="Arial" panose="020B0604020202020204" pitchFamily="34" charset="0"/>
                <a:cs typeface="Arial" panose="020B0604020202020204" pitchFamily="34" charset="0"/>
              </a:rPr>
              <a:t>Considers Risk: Higher risk projects require higher expected returns.</a:t>
            </a:r>
          </a:p>
          <a:p>
            <a:pPr lvl="2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IN" sz="6400" dirty="0">
                <a:latin typeface="Arial" panose="020B0604020202020204" pitchFamily="34" charset="0"/>
                <a:cs typeface="Arial" panose="020B0604020202020204" pitchFamily="34" charset="0"/>
              </a:rPr>
              <a:t>Focuses on Cash Flows: Emphasizes actual cash generation, not just accounting profit.</a:t>
            </a:r>
          </a:p>
          <a:p>
            <a:pPr lvl="2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IN" sz="6400" dirty="0">
                <a:latin typeface="Arial" panose="020B0604020202020204" pitchFamily="34" charset="0"/>
                <a:cs typeface="Arial" panose="020B0604020202020204" pitchFamily="34" charset="0"/>
              </a:rPr>
              <a:t>Long-term Perspective: Encourages sustainable growth and value creation.</a:t>
            </a:r>
          </a:p>
          <a:p>
            <a:pPr lvl="2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IN" sz="6400" dirty="0">
                <a:latin typeface="Arial" panose="020B0604020202020204" pitchFamily="34" charset="0"/>
                <a:cs typeface="Arial" panose="020B0604020202020204" pitchFamily="34" charset="0"/>
              </a:rPr>
              <a:t>Benefit to Shareholders: Directly aligns with the financial goals of the owners.</a:t>
            </a:r>
          </a:p>
          <a:p>
            <a:pPr lvl="2">
              <a:lnSpc>
                <a:spcPct val="170000"/>
              </a:lnSpc>
              <a:buFont typeface="Wingdings" panose="05000000000000000000" pitchFamily="2" charset="2"/>
              <a:buChar char="§"/>
            </a:pPr>
            <a:endParaRPr lang="en-IN" sz="6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lphaLcPeriod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738518-7125-0E2F-B052-AF5C03057F09}"/>
              </a:ext>
            </a:extLst>
          </p:cNvPr>
          <p:cNvSpPr/>
          <p:nvPr/>
        </p:nvSpPr>
        <p:spPr>
          <a:xfrm>
            <a:off x="679938" y="211133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Goals</a:t>
            </a:r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Financial Management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337F014-FC88-EC42-2113-A8822615F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9397A1-D778-0B04-9AA5-A294493C9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1839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1D758-3CBB-4C2B-B144-D2D49CAD8D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6596"/>
            <a:ext cx="10515600" cy="5320417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endParaRPr lang="en-IN" sz="2200" dirty="0"/>
          </a:p>
          <a:p>
            <a:pPr marL="0" indent="0" algn="just">
              <a:lnSpc>
                <a:spcPct val="150000"/>
              </a:lnSpc>
              <a:buNone/>
            </a:pPr>
            <a:endParaRPr lang="en-IN" sz="2200" dirty="0"/>
          </a:p>
          <a:p>
            <a:pPr marL="0" indent="0" algn="just">
              <a:lnSpc>
                <a:spcPct val="150000"/>
              </a:lnSpc>
              <a:buNone/>
            </a:pPr>
            <a:endParaRPr lang="en-IN" sz="2200" dirty="0"/>
          </a:p>
          <a:p>
            <a:pPr marL="0" indent="0" algn="just">
              <a:lnSpc>
                <a:spcPct val="150000"/>
              </a:lnSpc>
              <a:buNone/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CB5871-304A-11CD-EA9F-41FD0765EFCE}"/>
              </a:ext>
            </a:extLst>
          </p:cNvPr>
          <p:cNvSpPr/>
          <p:nvPr/>
        </p:nvSpPr>
        <p:spPr>
          <a:xfrm>
            <a:off x="679938" y="211133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Role of a Financial Manager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903C6B-8E8E-3714-C988-4CED3B3A1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23A1B0-7162-81EE-3F45-5ECD8FD7D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7</a:t>
            </a:fld>
            <a:endParaRPr lang="en-IN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2A054608-A4E0-90EC-5653-455BE2723A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88920"/>
              </p:ext>
            </p:extLst>
          </p:nvPr>
        </p:nvGraphicFramePr>
        <p:xfrm>
          <a:off x="602165" y="968188"/>
          <a:ext cx="10972801" cy="5510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10749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66F77-65A5-FC75-74C9-422635C97E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536" y="802887"/>
            <a:ext cx="10515600" cy="4881096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Accounting: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Provides the financial data (financial statements) that financial managers analyse and use for decision-making. It focuses on future cash flows and decision-making, while accounting is historical and accrual-based.</a:t>
            </a:r>
          </a:p>
          <a:p>
            <a:pPr lvl="0">
              <a:lnSpc>
                <a:spcPct val="170000"/>
              </a:lnSpc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Economics: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Provides theoretical frameworks (e.g., supply and demand, inflation, interest rates, macro/microeconomic principles) that influence financial decisions.</a:t>
            </a:r>
          </a:p>
          <a:p>
            <a:pPr lvl="0">
              <a:lnSpc>
                <a:spcPct val="170000"/>
              </a:lnSpc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Statistics &amp; Quantitative Methods: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Used for forecasting, risk analysis, portfolio management, and evaluating investment proposals.</a:t>
            </a:r>
          </a:p>
          <a:p>
            <a:pPr lvl="0">
              <a:lnSpc>
                <a:spcPct val="170000"/>
              </a:lnSpc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Marketing: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Financial decisions impact marketing strategies (e.g., budget for advertising, product pricing). Marketing decisions affect sales and cash flows.</a:t>
            </a:r>
          </a:p>
          <a:p>
            <a:pPr lvl="0">
              <a:lnSpc>
                <a:spcPct val="170000"/>
              </a:lnSpc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Operations Management: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Financial decisions influence production capacity, inventory levels, and operational efficiency.</a:t>
            </a:r>
          </a:p>
          <a:p>
            <a:pPr lvl="0">
              <a:lnSpc>
                <a:spcPct val="170000"/>
              </a:lnSpc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Human Resources: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Compensation, benefits, and training programs have significant financial implications.</a:t>
            </a:r>
          </a:p>
          <a:p>
            <a:pPr>
              <a:lnSpc>
                <a:spcPct val="150000"/>
              </a:lnSpc>
            </a:pP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19449D-E1E6-3620-EEAD-36A08B577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8</a:t>
            </a:fld>
            <a:endParaRPr lang="en-IN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93451F4-38E6-E7BA-795C-038DE3401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155"/>
            <a:ext cx="10515600" cy="4873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2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IN" sz="2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elationship with Other Disciplines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5B6AD17-E2ED-C45F-DFFC-C068CE573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9541" y="102388"/>
            <a:ext cx="842459" cy="556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5076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12FDF-746F-3D10-96BE-DBF1C334B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922" y="771350"/>
            <a:ext cx="10515600" cy="4948413"/>
          </a:xfrm>
        </p:spPr>
        <p:txBody>
          <a:bodyPr>
            <a:no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The legal form of a business impacts its financial management in several ways:</a:t>
            </a:r>
          </a:p>
          <a:p>
            <a:pPr lvl="0">
              <a:lnSpc>
                <a:spcPct val="170000"/>
              </a:lnSpc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Sole Proprietorship:</a:t>
            </a:r>
          </a:p>
          <a:p>
            <a:pPr lvl="1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Pros: Easy to set up, the owner keeps all profits.</a:t>
            </a:r>
          </a:p>
          <a:p>
            <a:pPr lvl="1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Cons: Unlimited liability, limited access to capital, and difficulty in transferring ownership.</a:t>
            </a:r>
          </a:p>
          <a:p>
            <a:pPr lvl="1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Financial Implications: Funding is often limited to personal savings and small bank loans.</a:t>
            </a:r>
          </a:p>
          <a:p>
            <a:pPr lvl="0">
              <a:lnSpc>
                <a:spcPct val="170000"/>
              </a:lnSpc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Partnership:</a:t>
            </a:r>
          </a:p>
          <a:p>
            <a:pPr lvl="1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Pros: Relatively easy to set up, shared responsibilities, more capital than a sole proprietorship.</a:t>
            </a:r>
          </a:p>
          <a:p>
            <a:pPr lvl="1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Cons: Unlimited liability for partners (except LLP), potential for disputes, limited life.</a:t>
            </a:r>
          </a:p>
          <a:p>
            <a:pPr lvl="1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Financial Implications: Capital raised from partners' contributions and bank loans.</a:t>
            </a:r>
          </a:p>
          <a:p>
            <a:pPr marL="0" indent="0">
              <a:buNone/>
            </a:pPr>
            <a:endParaRPr lang="en-IN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B73511-956C-39A5-4306-2D89A6BC0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9</a:t>
            </a:fld>
            <a:endParaRPr lang="en-IN"/>
          </a:p>
        </p:txBody>
      </p:sp>
      <p:sp>
        <p:nvSpPr>
          <p:cNvPr id="5" name="Title 7">
            <a:extLst>
              <a:ext uri="{FF2B5EF4-FFF2-40B4-BE49-F238E27FC236}">
                <a16:creationId xmlns:a16="http://schemas.microsoft.com/office/drawing/2014/main" id="{6DC871C3-7CD5-37B7-BB8A-C94887CDE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922" y="136525"/>
            <a:ext cx="10515600" cy="45449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pPr algn="ctr"/>
            <a:br>
              <a:rPr lang="en-IN" sz="3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3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Forms of Business Organization</a:t>
            </a:r>
            <a:br>
              <a:rPr lang="en-IN" dirty="0"/>
            </a:br>
            <a:endParaRPr lang="en-IN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726CC46-693E-A030-787B-CE9A3AAD2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9541" y="136525"/>
            <a:ext cx="842459" cy="556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343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1AC65B-E9A7-B603-53B3-F947E6A4F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10</a:t>
            </a:fld>
            <a:endParaRPr lang="en-IN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283B711-568C-6F33-BEA2-0A67D5F576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922" y="771350"/>
            <a:ext cx="10515600" cy="4948413"/>
          </a:xfrm>
        </p:spPr>
        <p:txBody>
          <a:bodyPr>
            <a:noAutofit/>
          </a:bodyPr>
          <a:lstStyle/>
          <a:p>
            <a:pPr marL="0" indent="0">
              <a:lnSpc>
                <a:spcPct val="170000"/>
              </a:lnSpc>
              <a:buNone/>
            </a:pP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70000"/>
              </a:lnSpc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Company (Corporation):</a:t>
            </a:r>
          </a:p>
          <a:p>
            <a:pPr lvl="1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Pros: Limited liability for shareholders, easier access to large capital (shares, debentures), perpetual existence, easy transfer of ownership.</a:t>
            </a:r>
          </a:p>
          <a:p>
            <a:pPr lvl="1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Cons: Complex to set up, more regulations, potential agency problems.</a:t>
            </a:r>
          </a:p>
          <a:p>
            <a:pPr lvl="1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Financial Implications: Can raise capital from a wide range of sources (equity markets, debt markets), requiring sophisticated financial management.</a:t>
            </a:r>
          </a:p>
          <a:p>
            <a:endParaRPr lang="en-IN" sz="1600" dirty="0"/>
          </a:p>
        </p:txBody>
      </p:sp>
      <p:sp>
        <p:nvSpPr>
          <p:cNvPr id="7" name="Title 7">
            <a:extLst>
              <a:ext uri="{FF2B5EF4-FFF2-40B4-BE49-F238E27FC236}">
                <a16:creationId xmlns:a16="http://schemas.microsoft.com/office/drawing/2014/main" id="{8D444383-4FDB-537F-3F5A-4AAF55946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922" y="136525"/>
            <a:ext cx="10515600" cy="45449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pPr algn="ctr"/>
            <a:br>
              <a:rPr lang="en-IN" sz="3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3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Forms of Business Organization</a:t>
            </a:r>
            <a:br>
              <a:rPr lang="en-IN" dirty="0"/>
            </a:br>
            <a:endParaRPr lang="en-IN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7E13E8D-134A-56CD-6F53-5F798A6F6F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9541" y="136525"/>
            <a:ext cx="842459" cy="556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6640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72E1B-2679-17E8-66EC-156BE04FA7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0646"/>
            <a:ext cx="10515600" cy="463119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Conflict of Interest</a:t>
            </a:r>
          </a:p>
          <a:p>
            <a:pPr lvl="0">
              <a:lnSpc>
                <a:spcPct val="150000"/>
              </a:lnSpc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Concept: In a company, ownership (shareholders) is separated from management. Shareholders hire managers to run the company.</a:t>
            </a:r>
          </a:p>
          <a:p>
            <a:pPr lvl="0">
              <a:lnSpc>
                <a:spcPct val="150000"/>
              </a:lnSpc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Potential Conflict: Managers might act in their own self-interest (e.g., maximizing their perks, avoiding risky but profitable projects) rather than in the best interest of the shareholders (wealth maximization).</a:t>
            </a:r>
          </a:p>
          <a:p>
            <a:pPr lvl="0">
              <a:lnSpc>
                <a:spcPct val="150000"/>
              </a:lnSpc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Mitigation: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Incentive Schemes: Tying manager compensation to share price performance (e.g., stock options).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Board of Directors: Independent directors to oversee management.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Market Forces: Threat of hostile takeovers or poor stock performance.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Monitoring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Audits, shareholder activism.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A7E42F-9DB8-C435-1CC3-FA505FA55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11</a:t>
            </a:fld>
            <a:endParaRPr lang="en-IN"/>
          </a:p>
        </p:txBody>
      </p:sp>
      <p:sp>
        <p:nvSpPr>
          <p:cNvPr id="5" name="Title 7">
            <a:extLst>
              <a:ext uri="{FF2B5EF4-FFF2-40B4-BE49-F238E27FC236}">
                <a16:creationId xmlns:a16="http://schemas.microsoft.com/office/drawing/2014/main" id="{3D74F05C-DA87-C030-27EC-3A9D11C57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701" y="257741"/>
            <a:ext cx="10283283" cy="51322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pPr algn="ctr"/>
            <a:br>
              <a:rPr lang="en-IN" sz="3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3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Agency Problem</a:t>
            </a:r>
            <a:br>
              <a:rPr lang="en-IN" dirty="0"/>
            </a:br>
            <a:endParaRPr lang="en-IN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BF49AB4-081B-2EEC-C3CC-CE5BB2F86F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8535" y="214121"/>
            <a:ext cx="842459" cy="556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041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E79B3-9FF2-9103-C302-68CCB23926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1947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Recap of Lecture 1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50000"/>
              </a:lnSpc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Financial management is about acquiring, utilizing, and managing funds effectively.</a:t>
            </a:r>
          </a:p>
          <a:p>
            <a:pPr lvl="0">
              <a:lnSpc>
                <a:spcPct val="150000"/>
              </a:lnSpc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The three core decisions are Investment, Financing, and Dividend.</a:t>
            </a:r>
          </a:p>
          <a:p>
            <a:pPr lvl="0">
              <a:lnSpc>
                <a:spcPct val="150000"/>
              </a:lnSpc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The primary goal is Wealth Maximization (maximizing shareholder value), which considers risk and the time value of money.</a:t>
            </a:r>
          </a:p>
          <a:p>
            <a:pPr lvl="0">
              <a:lnSpc>
                <a:spcPct val="150000"/>
              </a:lnSpc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The financial manager is crucial for strategic financial decision-making.</a:t>
            </a:r>
          </a:p>
          <a:p>
            <a:pPr lvl="0">
              <a:lnSpc>
                <a:spcPct val="150000"/>
              </a:lnSpc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Financial management is an interdisciplinary field, relying on accounting, economics, and other areas.</a:t>
            </a:r>
          </a:p>
          <a:p>
            <a:pPr lvl="0">
              <a:lnSpc>
                <a:spcPct val="150000"/>
              </a:lnSpc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The form of business organization significantly impacts financial decisions.</a:t>
            </a:r>
          </a:p>
          <a:p>
            <a:pPr lvl="0">
              <a:lnSpc>
                <a:spcPct val="150000"/>
              </a:lnSpc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Be aware of the agency problem and mechanisms to align interests</a:t>
            </a:r>
            <a:r>
              <a:rPr lang="en-IN" sz="2300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128E2A-9172-772E-8062-349206303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12</a:t>
            </a:fld>
            <a:endParaRPr lang="en-IN"/>
          </a:p>
        </p:txBody>
      </p:sp>
      <p:sp>
        <p:nvSpPr>
          <p:cNvPr id="5" name="Title 7">
            <a:extLst>
              <a:ext uri="{FF2B5EF4-FFF2-40B4-BE49-F238E27FC236}">
                <a16:creationId xmlns:a16="http://schemas.microsoft.com/office/drawing/2014/main" id="{59F30FE3-19C9-92D7-C340-569F88CB2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1084"/>
            <a:ext cx="10515600" cy="51295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pPr algn="ctr"/>
            <a:br>
              <a:rPr lang="en-IN" sz="3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3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 and Takeaways</a:t>
            </a:r>
            <a:br>
              <a:rPr lang="en-IN" dirty="0"/>
            </a:br>
            <a:endParaRPr lang="en-IN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11185BF-337C-A5D0-E27D-107223A98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8535" y="214121"/>
            <a:ext cx="842459" cy="556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882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3E86445-3985-BA75-A07F-FB3CFB92A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45228"/>
            <a:ext cx="10515600" cy="658585"/>
          </a:xfrm>
        </p:spPr>
        <p:txBody>
          <a:bodyPr>
            <a:normAutofit fontScale="90000"/>
          </a:bodyPr>
          <a:lstStyle/>
          <a:p>
            <a:r>
              <a:rPr lang="en-US" dirty="0"/>
              <a:t>                        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Questions and Discussion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AA0F58-F72D-FB85-8574-5E38AB578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33816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171F171-B9A4-D4BB-F8B7-A1ECF7485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9908" y="2313026"/>
            <a:ext cx="3515360" cy="29324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2D75FE1-DFEB-70E0-678A-82C21A926E72}"/>
              </a:ext>
            </a:extLst>
          </p:cNvPr>
          <p:cNvSpPr txBox="1"/>
          <p:nvPr/>
        </p:nvSpPr>
        <p:spPr>
          <a:xfrm>
            <a:off x="4810487" y="714229"/>
            <a:ext cx="257102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000" b="1" dirty="0">
                <a:latin typeface="Arial" panose="020B0604020202020204" pitchFamily="34" charset="0"/>
                <a:cs typeface="Arial" panose="020B0604020202020204" pitchFamily="34" charset="0"/>
              </a:rPr>
              <a:t>NAMASKAR</a:t>
            </a:r>
          </a:p>
          <a:p>
            <a:r>
              <a:rPr lang="en-IN" sz="3000" b="1" dirty="0">
                <a:latin typeface="Arial" panose="020B0604020202020204" pitchFamily="34" charset="0"/>
                <a:cs typeface="Arial" panose="020B0604020202020204" pitchFamily="34" charset="0"/>
              </a:rPr>
              <a:t>         &amp;</a:t>
            </a:r>
          </a:p>
          <a:p>
            <a:r>
              <a:rPr lang="en-IN" sz="3000" b="1" dirty="0">
                <a:latin typeface="Arial" panose="020B0604020202020204" pitchFamily="34" charset="0"/>
                <a:cs typeface="Arial" panose="020B0604020202020204" pitchFamily="34" charset="0"/>
              </a:rPr>
              <a:t>THANK YOU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E639AA-7884-B0FA-C3BF-5B71DD31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65183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1532</TotalTime>
  <Words>1199</Words>
  <Application>Microsoft Office PowerPoint</Application>
  <PresentationFormat>Widescreen</PresentationFormat>
  <Paragraphs>147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Symbol</vt:lpstr>
      <vt:lpstr>Wingdings</vt:lpstr>
      <vt:lpstr>Office Theme</vt:lpstr>
      <vt:lpstr>INTRODUCTION TO FINANCIAL MANAGEMENT</vt:lpstr>
      <vt:lpstr>PowerPoint Presentation</vt:lpstr>
      <vt:lpstr>What is Financial Management?</vt:lpstr>
      <vt:lpstr>        Scope of Financial Management</vt:lpstr>
      <vt:lpstr>PowerPoint Presentation</vt:lpstr>
      <vt:lpstr>PowerPoint Presentation</vt:lpstr>
      <vt:lpstr>PowerPoint Presentation</vt:lpstr>
      <vt:lpstr>Relationship with Other Disciplines</vt:lpstr>
      <vt:lpstr> Forms of Business Organization </vt:lpstr>
      <vt:lpstr> Forms of Business Organization </vt:lpstr>
      <vt:lpstr> Agency Problem </vt:lpstr>
      <vt:lpstr> Conclusion and Takeaways </vt:lpstr>
      <vt:lpstr>                        Questions and Discussion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Subhasmita Parida</dc:creator>
  <cp:lastModifiedBy>alivaparida2024@gmail.com</cp:lastModifiedBy>
  <cp:revision>151</cp:revision>
  <dcterms:created xsi:type="dcterms:W3CDTF">2025-02-09T14:42:55Z</dcterms:created>
  <dcterms:modified xsi:type="dcterms:W3CDTF">2025-07-29T06:32:46Z</dcterms:modified>
</cp:coreProperties>
</file>