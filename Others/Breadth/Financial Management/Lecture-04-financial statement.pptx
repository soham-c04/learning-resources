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76" r:id="rId3"/>
    <p:sldId id="258" r:id="rId4"/>
    <p:sldId id="277" r:id="rId5"/>
    <p:sldId id="259" r:id="rId6"/>
    <p:sldId id="260" r:id="rId7"/>
    <p:sldId id="262" r:id="rId8"/>
    <p:sldId id="263" r:id="rId9"/>
    <p:sldId id="264" r:id="rId10"/>
    <p:sldId id="275" r:id="rId11"/>
    <p:sldId id="265" r:id="rId12"/>
    <p:sldId id="266" r:id="rId13"/>
    <p:sldId id="267" r:id="rId14"/>
    <p:sldId id="268" r:id="rId15"/>
    <p:sldId id="279" r:id="rId16"/>
    <p:sldId id="274" r:id="rId17"/>
    <p:sldId id="269" r:id="rId18"/>
    <p:sldId id="280" r:id="rId19"/>
    <p:sldId id="270" r:id="rId20"/>
    <p:sldId id="272" r:id="rId21"/>
    <p:sldId id="271" r:id="rId22"/>
    <p:sldId id="281" r:id="rId23"/>
    <p:sldId id="282" r:id="rId24"/>
    <p:sldId id="273"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36" autoAdjust="0"/>
    <p:restoredTop sz="94660"/>
  </p:normalViewPr>
  <p:slideViewPr>
    <p:cSldViewPr snapToGrid="0">
      <p:cViewPr varScale="1">
        <p:scale>
          <a:sx n="80" d="100"/>
          <a:sy n="80" d="100"/>
        </p:scale>
        <p:origin x="57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0C0EA-C8BD-49C9-9C46-A8CD2E88D28C}" type="datetimeFigureOut">
              <a:rPr lang="en-IN" smtClean="0"/>
              <a:t>21-08-2025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9B5F06-7D63-4BA8-9B97-4EE8D78C33DB}" type="slidenum">
              <a:rPr lang="en-IN" smtClean="0"/>
              <a:t>‹#›</a:t>
            </a:fld>
            <a:endParaRPr lang="en-IN"/>
          </a:p>
        </p:txBody>
      </p:sp>
    </p:spTree>
    <p:extLst>
      <p:ext uri="{BB962C8B-B14F-4D97-AF65-F5344CB8AC3E}">
        <p14:creationId xmlns:p14="http://schemas.microsoft.com/office/powerpoint/2010/main" val="3300842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96C1-6818-4BD3-A908-57FC4B8C84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D4E563-ED2E-4F59-AA93-E82DC2CA0D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F443534-64B5-4C6A-85E3-BFDDAB544133}"/>
              </a:ext>
            </a:extLst>
          </p:cNvPr>
          <p:cNvSpPr>
            <a:spLocks noGrp="1"/>
          </p:cNvSpPr>
          <p:nvPr>
            <p:ph type="dt" sz="half" idx="10"/>
          </p:nvPr>
        </p:nvSpPr>
        <p:spPr/>
        <p:txBody>
          <a:bodyPr/>
          <a:lstStyle/>
          <a:p>
            <a:fld id="{FFEBD179-2711-447E-8655-3BD8FADFAD57}" type="datetime1">
              <a:rPr lang="en-IN" smtClean="0"/>
              <a:t>21-08-2025</a:t>
            </a:fld>
            <a:endParaRPr lang="en-IN"/>
          </a:p>
        </p:txBody>
      </p:sp>
      <p:sp>
        <p:nvSpPr>
          <p:cNvPr id="5" name="Footer Placeholder 4">
            <a:extLst>
              <a:ext uri="{FF2B5EF4-FFF2-40B4-BE49-F238E27FC236}">
                <a16:creationId xmlns:a16="http://schemas.microsoft.com/office/drawing/2014/main" id="{E20022C6-B7F5-4046-A0B6-3DA6932C0E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41E89A-06B6-4808-8144-5B982DD79C66}"/>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100462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30EFC-3291-4B01-89F7-F03FF6033B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98893A-EEF0-4995-B572-B6BE1B8D86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5A7C9E-B401-40E1-97BA-9F3B895639E5}"/>
              </a:ext>
            </a:extLst>
          </p:cNvPr>
          <p:cNvSpPr>
            <a:spLocks noGrp="1"/>
          </p:cNvSpPr>
          <p:nvPr>
            <p:ph type="dt" sz="half" idx="10"/>
          </p:nvPr>
        </p:nvSpPr>
        <p:spPr/>
        <p:txBody>
          <a:bodyPr/>
          <a:lstStyle/>
          <a:p>
            <a:fld id="{5FB84B8A-57FB-44A0-911B-F981738DBDE9}" type="datetime1">
              <a:rPr lang="en-IN" smtClean="0"/>
              <a:t>21-08-2025</a:t>
            </a:fld>
            <a:endParaRPr lang="en-IN"/>
          </a:p>
        </p:txBody>
      </p:sp>
      <p:sp>
        <p:nvSpPr>
          <p:cNvPr id="5" name="Footer Placeholder 4">
            <a:extLst>
              <a:ext uri="{FF2B5EF4-FFF2-40B4-BE49-F238E27FC236}">
                <a16:creationId xmlns:a16="http://schemas.microsoft.com/office/drawing/2014/main" id="{3C09CE0D-74B7-4F76-80BB-DE2F0589D6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0D3F04-4C16-4534-BB84-9E8044F2B852}"/>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28168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DD182-70D3-4044-A671-40B11B89E1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34FB95-63DE-4886-A2F2-CA4510A4BA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A4367-20EB-4455-A4A5-2B721E415AD3}"/>
              </a:ext>
            </a:extLst>
          </p:cNvPr>
          <p:cNvSpPr>
            <a:spLocks noGrp="1"/>
          </p:cNvSpPr>
          <p:nvPr>
            <p:ph type="dt" sz="half" idx="10"/>
          </p:nvPr>
        </p:nvSpPr>
        <p:spPr/>
        <p:txBody>
          <a:bodyPr/>
          <a:lstStyle/>
          <a:p>
            <a:fld id="{4F4820BB-A323-4004-BD16-27E98A7B29DE}" type="datetime1">
              <a:rPr lang="en-IN" smtClean="0"/>
              <a:t>21-08-2025</a:t>
            </a:fld>
            <a:endParaRPr lang="en-IN"/>
          </a:p>
        </p:txBody>
      </p:sp>
      <p:sp>
        <p:nvSpPr>
          <p:cNvPr id="5" name="Footer Placeholder 4">
            <a:extLst>
              <a:ext uri="{FF2B5EF4-FFF2-40B4-BE49-F238E27FC236}">
                <a16:creationId xmlns:a16="http://schemas.microsoft.com/office/drawing/2014/main" id="{766C0090-4415-478D-994F-CD3719ED94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8FE0E5-DE67-47C4-BF8A-41FB570D63E0}"/>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4037935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D97C-C9E3-4CA2-8BF8-D93E537428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159B1C-D4EC-4E74-98CB-A3140FFC61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0BDAE4E-CC38-4B9F-8F1E-7FD3C3336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2CCF11-57BA-470B-944B-68B796FA2E27}"/>
              </a:ext>
            </a:extLst>
          </p:cNvPr>
          <p:cNvSpPr>
            <a:spLocks noGrp="1"/>
          </p:cNvSpPr>
          <p:nvPr>
            <p:ph type="dt" sz="half" idx="10"/>
          </p:nvPr>
        </p:nvSpPr>
        <p:spPr/>
        <p:txBody>
          <a:bodyPr/>
          <a:lstStyle/>
          <a:p>
            <a:fld id="{B3586462-AE92-4E27-862E-EEEA0684B5C6}" type="datetime1">
              <a:rPr lang="en-IN" smtClean="0"/>
              <a:t>21-08-2025</a:t>
            </a:fld>
            <a:endParaRPr lang="en-IN"/>
          </a:p>
        </p:txBody>
      </p:sp>
      <p:sp>
        <p:nvSpPr>
          <p:cNvPr id="6" name="Footer Placeholder 5">
            <a:extLst>
              <a:ext uri="{FF2B5EF4-FFF2-40B4-BE49-F238E27FC236}">
                <a16:creationId xmlns:a16="http://schemas.microsoft.com/office/drawing/2014/main" id="{F4B8A846-4131-40F0-AC1C-4E1E281AAB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F51070-2593-4BC0-AF89-606E3C115AB2}"/>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164753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2BCD6-4CC5-49EF-BB72-B48F13EA574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35846A-0135-4533-9586-C3BD3E11C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D5446E-24E6-48E1-BB2D-CF642948E6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9C18FB-A000-4626-A86C-EF68FCA14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BC8AC1-093F-4710-BBE4-7D369AAB5A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6C3EF7-15C8-4670-A3D5-B446F7ACFDC3}"/>
              </a:ext>
            </a:extLst>
          </p:cNvPr>
          <p:cNvSpPr>
            <a:spLocks noGrp="1"/>
          </p:cNvSpPr>
          <p:nvPr>
            <p:ph type="dt" sz="half" idx="10"/>
          </p:nvPr>
        </p:nvSpPr>
        <p:spPr/>
        <p:txBody>
          <a:bodyPr/>
          <a:lstStyle/>
          <a:p>
            <a:fld id="{93AE5F5E-F594-4015-B868-B24C0423A22D}" type="datetime1">
              <a:rPr lang="en-IN" smtClean="0"/>
              <a:t>21-08-2025</a:t>
            </a:fld>
            <a:endParaRPr lang="en-IN"/>
          </a:p>
        </p:txBody>
      </p:sp>
      <p:sp>
        <p:nvSpPr>
          <p:cNvPr id="8" name="Footer Placeholder 7">
            <a:extLst>
              <a:ext uri="{FF2B5EF4-FFF2-40B4-BE49-F238E27FC236}">
                <a16:creationId xmlns:a16="http://schemas.microsoft.com/office/drawing/2014/main" id="{97EB8CBC-E5AA-4CF8-AB26-5FAE676BB7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9BBD29-266E-463C-8CA6-ADB275AC6D6A}"/>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3481643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58E4A-1090-4BDA-99F2-65A3E045A0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D60A4F-4F84-4114-9328-D1FA1401CC8D}"/>
              </a:ext>
            </a:extLst>
          </p:cNvPr>
          <p:cNvSpPr>
            <a:spLocks noGrp="1"/>
          </p:cNvSpPr>
          <p:nvPr>
            <p:ph type="dt" sz="half" idx="10"/>
          </p:nvPr>
        </p:nvSpPr>
        <p:spPr/>
        <p:txBody>
          <a:bodyPr/>
          <a:lstStyle/>
          <a:p>
            <a:fld id="{1294E324-97F8-4325-8E50-85E9C0271C69}" type="datetime1">
              <a:rPr lang="en-IN" smtClean="0"/>
              <a:t>21-08-2025</a:t>
            </a:fld>
            <a:endParaRPr lang="en-IN"/>
          </a:p>
        </p:txBody>
      </p:sp>
      <p:sp>
        <p:nvSpPr>
          <p:cNvPr id="4" name="Footer Placeholder 3">
            <a:extLst>
              <a:ext uri="{FF2B5EF4-FFF2-40B4-BE49-F238E27FC236}">
                <a16:creationId xmlns:a16="http://schemas.microsoft.com/office/drawing/2014/main" id="{8D1BF9A0-5BAE-4E03-BA55-8B65D4A920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D49654D-E82B-4CB8-946E-9A45CA446A79}"/>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4184970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2F6447-B0E4-43CB-8D8D-543327A6E108}"/>
              </a:ext>
            </a:extLst>
          </p:cNvPr>
          <p:cNvSpPr>
            <a:spLocks noGrp="1"/>
          </p:cNvSpPr>
          <p:nvPr>
            <p:ph type="dt" sz="half" idx="10"/>
          </p:nvPr>
        </p:nvSpPr>
        <p:spPr/>
        <p:txBody>
          <a:bodyPr/>
          <a:lstStyle/>
          <a:p>
            <a:fld id="{15FBE5F8-A426-45A9-9DD0-CF8F2C5C8832}" type="datetime1">
              <a:rPr lang="en-IN" smtClean="0"/>
              <a:t>21-08-2025</a:t>
            </a:fld>
            <a:endParaRPr lang="en-IN"/>
          </a:p>
        </p:txBody>
      </p:sp>
      <p:sp>
        <p:nvSpPr>
          <p:cNvPr id="3" name="Footer Placeholder 2">
            <a:extLst>
              <a:ext uri="{FF2B5EF4-FFF2-40B4-BE49-F238E27FC236}">
                <a16:creationId xmlns:a16="http://schemas.microsoft.com/office/drawing/2014/main" id="{386A3766-1F91-4AFC-BE1D-4BAE294A1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B866BC-646A-4EFE-8266-69C48EE9A1F7}"/>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3010474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C69D-472F-4B78-B366-87ED4701C8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32E277-CEF6-4690-A03D-BAA4425D62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A3E8A2-CB3E-473E-B588-6D4D0F881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1A8293-5A5C-454A-85F6-2357CA35C359}"/>
              </a:ext>
            </a:extLst>
          </p:cNvPr>
          <p:cNvSpPr>
            <a:spLocks noGrp="1"/>
          </p:cNvSpPr>
          <p:nvPr>
            <p:ph type="dt" sz="half" idx="10"/>
          </p:nvPr>
        </p:nvSpPr>
        <p:spPr/>
        <p:txBody>
          <a:bodyPr/>
          <a:lstStyle/>
          <a:p>
            <a:fld id="{734C99D8-0E3C-4195-A8F5-BE44F0231050}" type="datetime1">
              <a:rPr lang="en-IN" smtClean="0"/>
              <a:t>21-08-2025</a:t>
            </a:fld>
            <a:endParaRPr lang="en-IN"/>
          </a:p>
        </p:txBody>
      </p:sp>
      <p:sp>
        <p:nvSpPr>
          <p:cNvPr id="6" name="Footer Placeholder 5">
            <a:extLst>
              <a:ext uri="{FF2B5EF4-FFF2-40B4-BE49-F238E27FC236}">
                <a16:creationId xmlns:a16="http://schemas.microsoft.com/office/drawing/2014/main" id="{5B3560C5-6FDD-4F2D-BDE1-EB6F6E4564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0843E1-6C4A-443C-9D3B-8923DEE45682}"/>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3897032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86D1-2015-46E2-96CD-12A7A111D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5D34AD-3DE0-493F-AF3A-DDA31F0843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888F5C-187B-4904-94C5-175E75F5D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5D4A7D-7835-4961-B737-F65928DC638A}"/>
              </a:ext>
            </a:extLst>
          </p:cNvPr>
          <p:cNvSpPr>
            <a:spLocks noGrp="1"/>
          </p:cNvSpPr>
          <p:nvPr>
            <p:ph type="dt" sz="half" idx="10"/>
          </p:nvPr>
        </p:nvSpPr>
        <p:spPr/>
        <p:txBody>
          <a:bodyPr/>
          <a:lstStyle/>
          <a:p>
            <a:fld id="{CF3B92DF-833F-43C7-B672-55515B6146A1}" type="datetime1">
              <a:rPr lang="en-IN" smtClean="0"/>
              <a:t>21-08-2025</a:t>
            </a:fld>
            <a:endParaRPr lang="en-IN"/>
          </a:p>
        </p:txBody>
      </p:sp>
      <p:sp>
        <p:nvSpPr>
          <p:cNvPr id="6" name="Footer Placeholder 5">
            <a:extLst>
              <a:ext uri="{FF2B5EF4-FFF2-40B4-BE49-F238E27FC236}">
                <a16:creationId xmlns:a16="http://schemas.microsoft.com/office/drawing/2014/main" id="{90BC846A-449C-4C4C-9B24-72C83BC637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357A82-D687-4925-A27B-FD174A2E9D18}"/>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68950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EC4F2-0590-44ED-AAB4-13B826CD20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ABA761-F45C-439D-BE2B-56CD69065F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E8F9AA-3546-4376-BB7A-D36C2893F1E6}"/>
              </a:ext>
            </a:extLst>
          </p:cNvPr>
          <p:cNvSpPr>
            <a:spLocks noGrp="1"/>
          </p:cNvSpPr>
          <p:nvPr>
            <p:ph type="dt" sz="half" idx="10"/>
          </p:nvPr>
        </p:nvSpPr>
        <p:spPr/>
        <p:txBody>
          <a:bodyPr/>
          <a:lstStyle/>
          <a:p>
            <a:fld id="{D92F185B-9314-4578-998B-20D35898F8DC}" type="datetime1">
              <a:rPr lang="en-IN" smtClean="0"/>
              <a:t>21-08-2025</a:t>
            </a:fld>
            <a:endParaRPr lang="en-IN"/>
          </a:p>
        </p:txBody>
      </p:sp>
      <p:sp>
        <p:nvSpPr>
          <p:cNvPr id="5" name="Footer Placeholder 4">
            <a:extLst>
              <a:ext uri="{FF2B5EF4-FFF2-40B4-BE49-F238E27FC236}">
                <a16:creationId xmlns:a16="http://schemas.microsoft.com/office/drawing/2014/main" id="{AE35960B-4906-4AFF-B95F-765B6FD778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D0703B-E885-494A-8CDB-5586EFFD5A42}"/>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563091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6B487D-9EDE-42BC-B421-EE1A84FFD0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0FF042-453E-41FB-BFA9-659F3A524A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0F193A-7385-4230-B6EA-1256368AF85A}"/>
              </a:ext>
            </a:extLst>
          </p:cNvPr>
          <p:cNvSpPr>
            <a:spLocks noGrp="1"/>
          </p:cNvSpPr>
          <p:nvPr>
            <p:ph type="dt" sz="half" idx="10"/>
          </p:nvPr>
        </p:nvSpPr>
        <p:spPr/>
        <p:txBody>
          <a:bodyPr/>
          <a:lstStyle/>
          <a:p>
            <a:fld id="{B77162D5-02EF-4E55-93CB-D7801A6CF433}" type="datetime1">
              <a:rPr lang="en-IN" smtClean="0"/>
              <a:t>21-08-2025</a:t>
            </a:fld>
            <a:endParaRPr lang="en-IN"/>
          </a:p>
        </p:txBody>
      </p:sp>
      <p:sp>
        <p:nvSpPr>
          <p:cNvPr id="5" name="Footer Placeholder 4">
            <a:extLst>
              <a:ext uri="{FF2B5EF4-FFF2-40B4-BE49-F238E27FC236}">
                <a16:creationId xmlns:a16="http://schemas.microsoft.com/office/drawing/2014/main" id="{31FC21CC-D690-480E-9142-B3A7CC442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5AA346-A26A-4FAC-B838-E1F1FA9190ED}"/>
              </a:ext>
            </a:extLst>
          </p:cNvPr>
          <p:cNvSpPr>
            <a:spLocks noGrp="1"/>
          </p:cNvSpPr>
          <p:nvPr>
            <p:ph type="sldNum" sz="quarter" idx="12"/>
          </p:nvPr>
        </p:nvSpPr>
        <p:spPr/>
        <p:txBody>
          <a:bodyPr/>
          <a:lstStyle/>
          <a:p>
            <a:fld id="{A1DCFAE8-8E9E-42B1-9A81-DFF72612FDA6}" type="slidenum">
              <a:rPr lang="en-IN" smtClean="0"/>
              <a:t>‹#›</a:t>
            </a:fld>
            <a:endParaRPr lang="en-IN"/>
          </a:p>
        </p:txBody>
      </p:sp>
    </p:spTree>
    <p:extLst>
      <p:ext uri="{BB962C8B-B14F-4D97-AF65-F5344CB8AC3E}">
        <p14:creationId xmlns:p14="http://schemas.microsoft.com/office/powerpoint/2010/main" val="392624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99E5B0-B951-415A-B1A3-9EDB8D7148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BAC724-585E-45C9-83E5-47983DFCE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DB906A-C201-4787-8DB5-F62A600DFD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2F9034-45B1-4727-9CB4-8F64459BCB61}" type="datetime1">
              <a:rPr lang="en-IN" smtClean="0"/>
              <a:t>21-08-2025</a:t>
            </a:fld>
            <a:endParaRPr lang="en-IN"/>
          </a:p>
        </p:txBody>
      </p:sp>
      <p:sp>
        <p:nvSpPr>
          <p:cNvPr id="5" name="Footer Placeholder 4">
            <a:extLst>
              <a:ext uri="{FF2B5EF4-FFF2-40B4-BE49-F238E27FC236}">
                <a16:creationId xmlns:a16="http://schemas.microsoft.com/office/drawing/2014/main" id="{8036820C-C0C2-451C-989C-DCDDE52D96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E5068A8-2D3A-4829-B1E4-B6AE2C225A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DCFAE8-8E9E-42B1-9A81-DFF72612FDA6}" type="slidenum">
              <a:rPr lang="en-IN" smtClean="0"/>
              <a:t>‹#›</a:t>
            </a:fld>
            <a:endParaRPr lang="en-IN"/>
          </a:p>
        </p:txBody>
      </p:sp>
    </p:spTree>
    <p:extLst>
      <p:ext uri="{BB962C8B-B14F-4D97-AF65-F5344CB8AC3E}">
        <p14:creationId xmlns:p14="http://schemas.microsoft.com/office/powerpoint/2010/main" val="914759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F455-BC79-E0BD-A932-4AAC82BBBCCD}"/>
              </a:ext>
            </a:extLst>
          </p:cNvPr>
          <p:cNvSpPr>
            <a:spLocks noGrp="1"/>
          </p:cNvSpPr>
          <p:nvPr>
            <p:ph type="ctrTitle"/>
          </p:nvPr>
        </p:nvSpPr>
        <p:spPr>
          <a:xfrm>
            <a:off x="2039815" y="-606818"/>
            <a:ext cx="7784123" cy="2154264"/>
          </a:xfrm>
        </p:spPr>
        <p:txBody>
          <a:bodyPr>
            <a:normAutofit/>
          </a:bodyPr>
          <a:lstStyle/>
          <a:p>
            <a:pPr>
              <a:lnSpc>
                <a:spcPct val="150000"/>
              </a:lnSpc>
            </a:pPr>
            <a:r>
              <a:rPr lang="en-US" sz="3000" b="1" dirty="0">
                <a:latin typeface="Arial" panose="020B0604020202020204" pitchFamily="34" charset="0"/>
                <a:cs typeface="Arial" panose="020B0604020202020204" pitchFamily="34" charset="0"/>
              </a:rPr>
              <a:t>Understanding Financial Statements: A Comprehensive Overview</a:t>
            </a:r>
            <a:endParaRPr lang="en-IN" sz="30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348BDD4-5999-D88C-CDA9-369D927A8A04}"/>
              </a:ext>
            </a:extLst>
          </p:cNvPr>
          <p:cNvSpPr>
            <a:spLocks noGrp="1"/>
          </p:cNvSpPr>
          <p:nvPr>
            <p:ph type="subTitle" idx="1"/>
          </p:nvPr>
        </p:nvSpPr>
        <p:spPr>
          <a:xfrm>
            <a:off x="1155069" y="3722877"/>
            <a:ext cx="9144000" cy="2864545"/>
          </a:xfrm>
        </p:spPr>
        <p:txBody>
          <a:bodyPr>
            <a:normAutofit/>
          </a:bodyPr>
          <a:lstStyle/>
          <a:p>
            <a:r>
              <a:rPr lang="en-IN" dirty="0"/>
              <a:t> Financial Management(HS4L003)</a:t>
            </a:r>
          </a:p>
          <a:p>
            <a:r>
              <a:rPr lang="en-IN" dirty="0"/>
              <a:t>Dr. Naresh Chandra Sahu</a:t>
            </a:r>
          </a:p>
          <a:p>
            <a:r>
              <a:rPr lang="en-IN" dirty="0"/>
              <a:t>Associate Professor (Economics)</a:t>
            </a:r>
          </a:p>
          <a:p>
            <a:pPr>
              <a:defRPr/>
            </a:pPr>
            <a:endParaRPr lang="en-US" b="1" dirty="0">
              <a:solidFill>
                <a:prstClr val="black"/>
              </a:solidFill>
              <a:latin typeface="Arial" panose="020B0604020202020204" pitchFamily="34" charset="0"/>
              <a:cs typeface="Arial" panose="020B0604020202020204" pitchFamily="34" charset="0"/>
            </a:endParaRPr>
          </a:p>
          <a:p>
            <a:pPr>
              <a:defRPr/>
            </a:pPr>
            <a:r>
              <a:rPr lang="en-US" b="1" dirty="0">
                <a:solidFill>
                  <a:prstClr val="black"/>
                </a:solidFill>
                <a:latin typeface="Arial" panose="020B0604020202020204" pitchFamily="34" charset="0"/>
                <a:cs typeface="Arial" panose="020B0604020202020204" pitchFamily="34" charset="0"/>
              </a:rPr>
              <a:t>School of Humanities, Social Sciences &amp; Management</a:t>
            </a:r>
          </a:p>
          <a:p>
            <a:pPr>
              <a:defRPr/>
            </a:pPr>
            <a:r>
              <a:rPr lang="en-US" dirty="0">
                <a:solidFill>
                  <a:prstClr val="black"/>
                </a:solidFill>
                <a:latin typeface="Arial" panose="020B0604020202020204" pitchFamily="34" charset="0"/>
                <a:cs typeface="Arial" panose="020B0604020202020204" pitchFamily="34" charset="0"/>
              </a:rPr>
              <a:t>Indian Institute of Technology, Bhubaneswar</a:t>
            </a:r>
          </a:p>
          <a:p>
            <a:endParaRPr lang="en-IN" dirty="0"/>
          </a:p>
          <a:p>
            <a:endParaRPr lang="en-IN" dirty="0"/>
          </a:p>
          <a:p>
            <a:endParaRPr lang="en-IN" dirty="0"/>
          </a:p>
        </p:txBody>
      </p:sp>
      <p:sp>
        <p:nvSpPr>
          <p:cNvPr id="4" name="Subtitle 2">
            <a:extLst>
              <a:ext uri="{FF2B5EF4-FFF2-40B4-BE49-F238E27FC236}">
                <a16:creationId xmlns:a16="http://schemas.microsoft.com/office/drawing/2014/main" id="{E611643E-496F-6C24-52CF-26048AD81153}"/>
              </a:ext>
            </a:extLst>
          </p:cNvPr>
          <p:cNvSpPr txBox="1">
            <a:spLocks/>
          </p:cNvSpPr>
          <p:nvPr/>
        </p:nvSpPr>
        <p:spPr>
          <a:xfrm>
            <a:off x="1524000" y="5116313"/>
            <a:ext cx="9144000" cy="932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dirty="0"/>
          </a:p>
        </p:txBody>
      </p:sp>
      <p:sp>
        <p:nvSpPr>
          <p:cNvPr id="6" name="Slide Number Placeholder 5">
            <a:extLst>
              <a:ext uri="{FF2B5EF4-FFF2-40B4-BE49-F238E27FC236}">
                <a16:creationId xmlns:a16="http://schemas.microsoft.com/office/drawing/2014/main" id="{FEE30A92-D783-6F7E-FFC5-F3C3B0CA929A}"/>
              </a:ext>
            </a:extLst>
          </p:cNvPr>
          <p:cNvSpPr>
            <a:spLocks noGrp="1"/>
          </p:cNvSpPr>
          <p:nvPr>
            <p:ph type="sldNum" sz="quarter" idx="12"/>
          </p:nvPr>
        </p:nvSpPr>
        <p:spPr/>
        <p:txBody>
          <a:bodyPr/>
          <a:lstStyle/>
          <a:p>
            <a:fld id="{A1DCFAE8-8E9E-42B1-9A81-DFF72612FDA6}" type="slidenum">
              <a:rPr lang="en-IN" smtClean="0"/>
              <a:t>1</a:t>
            </a:fld>
            <a:endParaRPr lang="en-IN"/>
          </a:p>
        </p:txBody>
      </p:sp>
      <p:pic>
        <p:nvPicPr>
          <p:cNvPr id="8" name="Picture 7">
            <a:extLst>
              <a:ext uri="{FF2B5EF4-FFF2-40B4-BE49-F238E27FC236}">
                <a16:creationId xmlns:a16="http://schemas.microsoft.com/office/drawing/2014/main" id="{49192813-3586-95C9-052B-177472216E6A}"/>
              </a:ext>
            </a:extLst>
          </p:cNvPr>
          <p:cNvPicPr>
            <a:picLocks noChangeAspect="1"/>
          </p:cNvPicPr>
          <p:nvPr/>
        </p:nvPicPr>
        <p:blipFill>
          <a:blip r:embed="rId2"/>
          <a:stretch>
            <a:fillRect/>
          </a:stretch>
        </p:blipFill>
        <p:spPr>
          <a:xfrm>
            <a:off x="4657384" y="1616374"/>
            <a:ext cx="2139370" cy="2037575"/>
          </a:xfrm>
          <a:prstGeom prst="rect">
            <a:avLst/>
          </a:prstGeom>
        </p:spPr>
      </p:pic>
    </p:spTree>
    <p:extLst>
      <p:ext uri="{BB962C8B-B14F-4D97-AF65-F5344CB8AC3E}">
        <p14:creationId xmlns:p14="http://schemas.microsoft.com/office/powerpoint/2010/main" val="41011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F2486D-5262-FD54-7193-F97D77F19D5A}"/>
              </a:ext>
            </a:extLst>
          </p:cNvPr>
          <p:cNvSpPr>
            <a:spLocks noGrp="1"/>
          </p:cNvSpPr>
          <p:nvPr>
            <p:ph type="sldNum" sz="quarter" idx="12"/>
          </p:nvPr>
        </p:nvSpPr>
        <p:spPr/>
        <p:txBody>
          <a:bodyPr/>
          <a:lstStyle/>
          <a:p>
            <a:fld id="{A1DCFAE8-8E9E-42B1-9A81-DFF72612FDA6}" type="slidenum">
              <a:rPr lang="en-IN" smtClean="0"/>
              <a:t>2</a:t>
            </a:fld>
            <a:endParaRPr lang="en-IN"/>
          </a:p>
        </p:txBody>
      </p:sp>
      <p:sp>
        <p:nvSpPr>
          <p:cNvPr id="5" name="Rectangle 1">
            <a:extLst>
              <a:ext uri="{FF2B5EF4-FFF2-40B4-BE49-F238E27FC236}">
                <a16:creationId xmlns:a16="http://schemas.microsoft.com/office/drawing/2014/main" id="{710741A7-4C03-B894-0FAA-C30203A9CE21}"/>
              </a:ext>
            </a:extLst>
          </p:cNvPr>
          <p:cNvSpPr>
            <a:spLocks noGrp="1" noChangeArrowheads="1"/>
          </p:cNvSpPr>
          <p:nvPr>
            <p:ph idx="1"/>
          </p:nvPr>
        </p:nvSpPr>
        <p:spPr bwMode="auto">
          <a:xfrm>
            <a:off x="679938" y="1240341"/>
            <a:ext cx="8536311" cy="369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Understand the purpose and users of financial statements.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Identify components and functions of the Income Statement.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Analyze the Balance Sheet structure and elements.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Understand cash flows from operating, investing, and financing activities.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Interpret sample financial statements and apply basic formulas.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Assess a company's financial health using key statements.</a:t>
            </a:r>
          </a:p>
        </p:txBody>
      </p:sp>
      <p:sp>
        <p:nvSpPr>
          <p:cNvPr id="6" name="Rectangle 5">
            <a:extLst>
              <a:ext uri="{FF2B5EF4-FFF2-40B4-BE49-F238E27FC236}">
                <a16:creationId xmlns:a16="http://schemas.microsoft.com/office/drawing/2014/main" id="{191E2EBE-CFFF-BF78-BE26-FEF4EB3A8A46}"/>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Learning Outcomes  </a:t>
            </a:r>
          </a:p>
        </p:txBody>
      </p:sp>
      <p:pic>
        <p:nvPicPr>
          <p:cNvPr id="7" name="Picture 6">
            <a:extLst>
              <a:ext uri="{FF2B5EF4-FFF2-40B4-BE49-F238E27FC236}">
                <a16:creationId xmlns:a16="http://schemas.microsoft.com/office/drawing/2014/main" id="{D2BB723D-350B-4D10-C54B-7E954E193592}"/>
              </a:ext>
            </a:extLst>
          </p:cNvPr>
          <p:cNvPicPr>
            <a:picLocks noChangeAspect="1"/>
          </p:cNvPicPr>
          <p:nvPr/>
        </p:nvPicPr>
        <p:blipFill>
          <a:blip r:embed="rId2"/>
          <a:stretch>
            <a:fillRect/>
          </a:stretch>
        </p:blipFill>
        <p:spPr>
          <a:xfrm>
            <a:off x="11122800" y="45904"/>
            <a:ext cx="966091" cy="887302"/>
          </a:xfrm>
          <a:prstGeom prst="rect">
            <a:avLst/>
          </a:prstGeom>
        </p:spPr>
      </p:pic>
    </p:spTree>
    <p:extLst>
      <p:ext uri="{BB962C8B-B14F-4D97-AF65-F5344CB8AC3E}">
        <p14:creationId xmlns:p14="http://schemas.microsoft.com/office/powerpoint/2010/main" val="1166611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2B7922-FF4E-4901-9FEB-6C310D1C32D6}"/>
              </a:ext>
            </a:extLst>
          </p:cNvPr>
          <p:cNvSpPr>
            <a:spLocks noGrp="1"/>
          </p:cNvSpPr>
          <p:nvPr>
            <p:ph type="subTitle" idx="1"/>
          </p:nvPr>
        </p:nvSpPr>
        <p:spPr>
          <a:xfrm>
            <a:off x="679937" y="933206"/>
            <a:ext cx="10328031" cy="5423144"/>
          </a:xfrm>
        </p:spPr>
        <p:txBody>
          <a:bodyPr>
            <a:normAutofit/>
          </a:bodyPr>
          <a:lstStyle/>
          <a:p>
            <a:pPr algn="l">
              <a:lnSpc>
                <a:spcPct val="150000"/>
              </a:lnSpc>
            </a:pPr>
            <a:r>
              <a:rPr lang="en-US" sz="2000" dirty="0">
                <a:latin typeface="Arial" panose="020B0604020202020204" pitchFamily="34" charset="0"/>
                <a:cs typeface="Arial" panose="020B0604020202020204" pitchFamily="34" charset="0"/>
              </a:rPr>
              <a:t>Financial statements are formal records that show the financial performance, position, and cash flow of a business. </a:t>
            </a:r>
          </a:p>
          <a:p>
            <a:pPr algn="l">
              <a:lnSpc>
                <a:spcPct val="150000"/>
              </a:lnSpc>
            </a:pPr>
            <a:r>
              <a:rPr lang="en-US" sz="2000" dirty="0">
                <a:latin typeface="Arial" panose="020B0604020202020204" pitchFamily="34" charset="0"/>
                <a:cs typeface="Arial" panose="020B0604020202020204" pitchFamily="34" charset="0"/>
              </a:rPr>
              <a:t>They are used by</a:t>
            </a:r>
          </a:p>
          <a:p>
            <a:pPr marL="342900" indent="-342900" algn="l">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Investors (to decide whether to invest)</a:t>
            </a:r>
          </a:p>
          <a:p>
            <a:pPr marL="342900" indent="-342900" algn="l">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Creditors (to decide whether to lend)</a:t>
            </a:r>
          </a:p>
          <a:p>
            <a:pPr marL="342900" indent="-342900" algn="l">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Management (for internal decisions)</a:t>
            </a:r>
          </a:p>
          <a:p>
            <a:pPr marL="342900" indent="-342900" algn="l">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Government and regulators (for compliance)</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407BA649-F677-6CCD-20FD-994910E322B7}"/>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Financial Statement </a:t>
            </a:r>
          </a:p>
        </p:txBody>
      </p:sp>
      <p:pic>
        <p:nvPicPr>
          <p:cNvPr id="7" name="Picture 6">
            <a:extLst>
              <a:ext uri="{FF2B5EF4-FFF2-40B4-BE49-F238E27FC236}">
                <a16:creationId xmlns:a16="http://schemas.microsoft.com/office/drawing/2014/main" id="{2E0452DF-1D39-AA1B-1E0E-EB58B9C5D9F3}"/>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E75A395A-6066-9C8A-302A-E77BBDA29145}"/>
              </a:ext>
            </a:extLst>
          </p:cNvPr>
          <p:cNvSpPr>
            <a:spLocks noGrp="1"/>
          </p:cNvSpPr>
          <p:nvPr>
            <p:ph type="sldNum" sz="quarter" idx="12"/>
          </p:nvPr>
        </p:nvSpPr>
        <p:spPr/>
        <p:txBody>
          <a:bodyPr/>
          <a:lstStyle/>
          <a:p>
            <a:fld id="{A1DCFAE8-8E9E-42B1-9A81-DFF72612FDA6}" type="slidenum">
              <a:rPr lang="en-IN" smtClean="0"/>
              <a:t>3</a:t>
            </a:fld>
            <a:endParaRPr lang="en-IN"/>
          </a:p>
        </p:txBody>
      </p:sp>
      <p:pic>
        <p:nvPicPr>
          <p:cNvPr id="1028" name="Picture 4" descr="The Ultimate Guide to the Three Financial Statements">
            <a:extLst>
              <a:ext uri="{FF2B5EF4-FFF2-40B4-BE49-F238E27FC236}">
                <a16:creationId xmlns:a16="http://schemas.microsoft.com/office/drawing/2014/main" id="{0E5E5548-C24E-1D52-EBBD-09478EE2D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308" y="1655029"/>
            <a:ext cx="4501660" cy="4159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091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E74347-3F1C-480B-FDBB-15D60B9421D5}"/>
              </a:ext>
            </a:extLst>
          </p:cNvPr>
          <p:cNvSpPr>
            <a:spLocks noGrp="1"/>
          </p:cNvSpPr>
          <p:nvPr>
            <p:ph type="sldNum" sz="quarter" idx="12"/>
          </p:nvPr>
        </p:nvSpPr>
        <p:spPr/>
        <p:txBody>
          <a:bodyPr/>
          <a:lstStyle/>
          <a:p>
            <a:fld id="{A1DCFAE8-8E9E-42B1-9A81-DFF72612FDA6}" type="slidenum">
              <a:rPr lang="en-IN" smtClean="0"/>
              <a:t>4</a:t>
            </a:fld>
            <a:endParaRPr lang="en-IN"/>
          </a:p>
        </p:txBody>
      </p:sp>
      <p:pic>
        <p:nvPicPr>
          <p:cNvPr id="1026" name="Picture 2">
            <a:extLst>
              <a:ext uri="{FF2B5EF4-FFF2-40B4-BE49-F238E27FC236}">
                <a16:creationId xmlns:a16="http://schemas.microsoft.com/office/drawing/2014/main" id="{172D5BCA-CE1C-32CE-30C5-5FE284052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4728" y="431800"/>
            <a:ext cx="8217876" cy="5842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96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E99E0-B4AD-04A6-3C75-B1B717FBF95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656CA5-A8E5-C1DE-888A-CA91CF3A5DA4}"/>
              </a:ext>
            </a:extLst>
          </p:cNvPr>
          <p:cNvSpPr>
            <a:spLocks noGrp="1"/>
          </p:cNvSpPr>
          <p:nvPr>
            <p:ph type="subTitle" idx="1"/>
          </p:nvPr>
        </p:nvSpPr>
        <p:spPr>
          <a:xfrm>
            <a:off x="679938" y="940289"/>
            <a:ext cx="10328031" cy="5423144"/>
          </a:xfrm>
        </p:spPr>
        <p:txBody>
          <a:bodyPr>
            <a:normAutofit/>
          </a:bodyPr>
          <a:lstStyle/>
          <a:p>
            <a:pPr algn="just">
              <a:lnSpc>
                <a:spcPct val="150000"/>
              </a:lnSpc>
            </a:pPr>
            <a:r>
              <a:rPr lang="en-US" sz="2000" dirty="0">
                <a:latin typeface="Arial" panose="020B0604020202020204" pitchFamily="34" charset="0"/>
                <a:cs typeface="Arial" panose="020B0604020202020204" pitchFamily="34" charset="0"/>
              </a:rPr>
              <a:t>An Income Statement is a financial report that shows a company’s revenues, expenses, and profit or loss over a specific period (e.g., a quarter or a year).</a:t>
            </a:r>
          </a:p>
          <a:p>
            <a:pPr algn="l">
              <a:lnSpc>
                <a:spcPct val="150000"/>
              </a:lnSpc>
            </a:pPr>
            <a:r>
              <a:rPr lang="en-US" sz="2000" b="1" dirty="0">
                <a:latin typeface="Arial" panose="020B0604020202020204" pitchFamily="34" charset="0"/>
                <a:cs typeface="Arial" panose="020B0604020202020204" pitchFamily="34" charset="0"/>
              </a:rPr>
              <a:t>Purpose of the Income Statement</a:t>
            </a:r>
          </a:p>
          <a:p>
            <a:pPr marL="342900" indent="-342900" algn="l">
              <a:lnSpc>
                <a:spcPct val="150000"/>
              </a:lnSpc>
              <a:buFont typeface="Wingdings" panose="05000000000000000000" pitchFamily="2" charset="2"/>
              <a:buChar char="§"/>
            </a:pPr>
            <a:r>
              <a:rPr lang="en-US" sz="2000" dirty="0">
                <a:latin typeface="Arial" panose="020B0604020202020204" pitchFamily="34" charset="0"/>
                <a:cs typeface="Arial" panose="020B0604020202020204" pitchFamily="34" charset="0"/>
              </a:rPr>
              <a:t>Measures how much profit or loss a company made</a:t>
            </a:r>
          </a:p>
          <a:p>
            <a:pPr marL="342900" indent="-342900" algn="l">
              <a:lnSpc>
                <a:spcPct val="150000"/>
              </a:lnSpc>
              <a:buFont typeface="Wingdings" panose="05000000000000000000" pitchFamily="2" charset="2"/>
              <a:buChar char="§"/>
            </a:pPr>
            <a:r>
              <a:rPr lang="en-US" sz="2000" dirty="0">
                <a:latin typeface="Arial" panose="020B0604020202020204" pitchFamily="34" charset="0"/>
                <a:cs typeface="Arial" panose="020B0604020202020204" pitchFamily="34" charset="0"/>
              </a:rPr>
              <a:t>Helps investors, creditors, and managers make decisions</a:t>
            </a:r>
          </a:p>
          <a:p>
            <a:pPr marL="342900" indent="-342900" algn="l">
              <a:lnSpc>
                <a:spcPct val="150000"/>
              </a:lnSpc>
              <a:buFont typeface="Wingdings" panose="05000000000000000000" pitchFamily="2" charset="2"/>
              <a:buChar char="§"/>
            </a:pPr>
            <a:r>
              <a:rPr lang="en-US" sz="2000" dirty="0">
                <a:latin typeface="Arial" panose="020B0604020202020204" pitchFamily="34" charset="0"/>
                <a:cs typeface="Arial" panose="020B0604020202020204" pitchFamily="34" charset="0"/>
              </a:rPr>
              <a:t>Shows company performance over time</a:t>
            </a:r>
          </a:p>
          <a:p>
            <a:pPr marL="342900" indent="-342900" algn="l">
              <a:lnSpc>
                <a:spcPct val="150000"/>
              </a:lnSpc>
              <a:buFont typeface="Wingdings" panose="05000000000000000000" pitchFamily="2" charset="2"/>
              <a:buChar char="§"/>
            </a:pPr>
            <a:r>
              <a:rPr lang="en-US" sz="2000" dirty="0">
                <a:latin typeface="Arial" panose="020B0604020202020204" pitchFamily="34" charset="0"/>
                <a:cs typeface="Arial" panose="020B0604020202020204" pitchFamily="34" charset="0"/>
              </a:rPr>
              <a:t>Ensures transparency and compliance</a:t>
            </a: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1563E4F-8D96-6729-28ED-2D853E01955B}"/>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Income Statement </a:t>
            </a:r>
          </a:p>
        </p:txBody>
      </p:sp>
      <p:pic>
        <p:nvPicPr>
          <p:cNvPr id="7" name="Picture 6">
            <a:extLst>
              <a:ext uri="{FF2B5EF4-FFF2-40B4-BE49-F238E27FC236}">
                <a16:creationId xmlns:a16="http://schemas.microsoft.com/office/drawing/2014/main" id="{E71F16E8-6FC5-1A6F-D297-46C7B003A444}"/>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FF8E1E66-B032-4D31-14D3-A85D148C65F2}"/>
              </a:ext>
            </a:extLst>
          </p:cNvPr>
          <p:cNvSpPr>
            <a:spLocks noGrp="1"/>
          </p:cNvSpPr>
          <p:nvPr>
            <p:ph type="sldNum" sz="quarter" idx="12"/>
          </p:nvPr>
        </p:nvSpPr>
        <p:spPr/>
        <p:txBody>
          <a:bodyPr/>
          <a:lstStyle/>
          <a:p>
            <a:fld id="{A1DCFAE8-8E9E-42B1-9A81-DFF72612FDA6}" type="slidenum">
              <a:rPr lang="en-IN" smtClean="0"/>
              <a:t>5</a:t>
            </a:fld>
            <a:endParaRPr lang="en-IN"/>
          </a:p>
        </p:txBody>
      </p:sp>
      <p:pic>
        <p:nvPicPr>
          <p:cNvPr id="1030" name="Picture 6">
            <a:extLst>
              <a:ext uri="{FF2B5EF4-FFF2-40B4-BE49-F238E27FC236}">
                <a16:creationId xmlns:a16="http://schemas.microsoft.com/office/drawing/2014/main" id="{E9AC8895-04D8-B55A-9FDB-4671411BF7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236" y="1910861"/>
            <a:ext cx="3930242" cy="3549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8CA2-B245-CF07-EBB8-CBDCDC6E61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5FB551F-7828-B34A-2962-E0D5A5AE8E0D}"/>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B8843B7-7293-9099-440E-BC99E438A78E}"/>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Income Statement </a:t>
            </a:r>
          </a:p>
        </p:txBody>
      </p:sp>
      <p:pic>
        <p:nvPicPr>
          <p:cNvPr id="7" name="Picture 6">
            <a:extLst>
              <a:ext uri="{FF2B5EF4-FFF2-40B4-BE49-F238E27FC236}">
                <a16:creationId xmlns:a16="http://schemas.microsoft.com/office/drawing/2014/main" id="{741ED594-CDB7-CA9A-32F4-04B551D2A42E}"/>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82911FEC-D01B-80E4-A146-54E9D0655A4C}"/>
              </a:ext>
            </a:extLst>
          </p:cNvPr>
          <p:cNvSpPr>
            <a:spLocks noGrp="1"/>
          </p:cNvSpPr>
          <p:nvPr>
            <p:ph type="sldNum" sz="quarter" idx="12"/>
          </p:nvPr>
        </p:nvSpPr>
        <p:spPr/>
        <p:txBody>
          <a:bodyPr/>
          <a:lstStyle/>
          <a:p>
            <a:fld id="{A1DCFAE8-8E9E-42B1-9A81-DFF72612FDA6}" type="slidenum">
              <a:rPr lang="en-IN" smtClean="0"/>
              <a:t>6</a:t>
            </a:fld>
            <a:endParaRPr lang="en-IN"/>
          </a:p>
        </p:txBody>
      </p:sp>
      <p:sp>
        <p:nvSpPr>
          <p:cNvPr id="6" name="TextBox 5">
            <a:extLst>
              <a:ext uri="{FF2B5EF4-FFF2-40B4-BE49-F238E27FC236}">
                <a16:creationId xmlns:a16="http://schemas.microsoft.com/office/drawing/2014/main" id="{DAC483CB-C428-B807-8DB3-5BC900165C6E}"/>
              </a:ext>
            </a:extLst>
          </p:cNvPr>
          <p:cNvSpPr txBox="1"/>
          <p:nvPr/>
        </p:nvSpPr>
        <p:spPr>
          <a:xfrm>
            <a:off x="679936" y="857123"/>
            <a:ext cx="10328032" cy="5575309"/>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Components of an Income Statement</a:t>
            </a:r>
            <a:endParaRPr lang="en-IN" sz="2000" b="1" dirty="0">
              <a:latin typeface="Arial" panose="020B0604020202020204" pitchFamily="34" charset="0"/>
              <a:cs typeface="Arial" panose="020B0604020202020204" pitchFamily="34" charset="0"/>
            </a:endParaRPr>
          </a:p>
          <a:p>
            <a:pPr>
              <a:lnSpc>
                <a:spcPct val="150000"/>
              </a:lnSpc>
            </a:pPr>
            <a:r>
              <a:rPr lang="en-IN" sz="2000" b="1" dirty="0">
                <a:solidFill>
                  <a:schemeClr val="accent1"/>
                </a:solidFill>
                <a:latin typeface="Arial" panose="020B0604020202020204" pitchFamily="34" charset="0"/>
                <a:cs typeface="Arial" panose="020B0604020202020204" pitchFamily="34" charset="0"/>
              </a:rPr>
              <a:t> A. Sales/Revenue</a:t>
            </a:r>
            <a:endParaRPr lang="en-US" sz="2000" b="1" dirty="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Gross Revenue / Sales – Total sales before any deductions</a:t>
            </a:r>
          </a:p>
          <a:p>
            <a:pPr>
              <a:lnSpc>
                <a:spcPct val="150000"/>
              </a:lnSpc>
            </a:pPr>
            <a:r>
              <a:rPr lang="en-US" sz="2000" dirty="0">
                <a:latin typeface="Arial" panose="020B0604020202020204" pitchFamily="34" charset="0"/>
                <a:cs typeface="Arial" panose="020B0604020202020204" pitchFamily="34" charset="0"/>
              </a:rPr>
              <a:t>Less: Returns and Allowances – Goods returned or discounts given</a:t>
            </a:r>
          </a:p>
          <a:p>
            <a:pPr>
              <a:lnSpc>
                <a:spcPct val="150000"/>
              </a:lnSpc>
            </a:pPr>
            <a:r>
              <a:rPr lang="en-US" sz="2000" dirty="0">
                <a:latin typeface="Arial" panose="020B0604020202020204" pitchFamily="34" charset="0"/>
                <a:cs typeface="Arial" panose="020B0604020202020204" pitchFamily="34" charset="0"/>
              </a:rPr>
              <a:t>Net Revenue – Revenue after deductions</a:t>
            </a:r>
          </a:p>
          <a:p>
            <a:pPr>
              <a:lnSpc>
                <a:spcPct val="150000"/>
              </a:lnSpc>
            </a:pPr>
            <a:r>
              <a:rPr lang="en-US" sz="2000" b="1" dirty="0">
                <a:solidFill>
                  <a:schemeClr val="accent1"/>
                </a:solidFill>
                <a:latin typeface="Arial" panose="020B0604020202020204" pitchFamily="34" charset="0"/>
                <a:cs typeface="Arial" panose="020B0604020202020204" pitchFamily="34" charset="0"/>
              </a:rPr>
              <a:t>B. Cost of Goods Sold (COGS)</a:t>
            </a: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Direct cost of producing goods sold in a period. Includes raw materials, labor, and manufacturing costs.</a:t>
            </a:r>
          </a:p>
          <a:p>
            <a:pPr marL="342900"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 COGS = Opening Stock + Purchases - Closing Stock</a:t>
            </a:r>
          </a:p>
          <a:p>
            <a:pPr>
              <a:lnSpc>
                <a:spcPct val="150000"/>
              </a:lnSpc>
            </a:pPr>
            <a:r>
              <a:rPr lang="en-US" sz="2000" b="1" dirty="0">
                <a:solidFill>
                  <a:schemeClr val="accent1"/>
                </a:solidFill>
                <a:latin typeface="Arial" panose="020B0604020202020204" pitchFamily="34" charset="0"/>
                <a:cs typeface="Arial" panose="020B0604020202020204" pitchFamily="34" charset="0"/>
              </a:rPr>
              <a:t>C. Gross Profit </a:t>
            </a:r>
          </a:p>
          <a:p>
            <a:pPr>
              <a:lnSpc>
                <a:spcPct val="150000"/>
              </a:lnSpc>
            </a:pPr>
            <a:r>
              <a:rPr lang="en-IN" sz="2000" dirty="0">
                <a:latin typeface="Arial" panose="020B0604020202020204" pitchFamily="34" charset="0"/>
                <a:cs typeface="Arial" panose="020B0604020202020204" pitchFamily="34" charset="0"/>
              </a:rPr>
              <a:t>Gross Profit = Net Revenue – COGS</a:t>
            </a:r>
            <a:endParaRPr lang="en-US" sz="2000" dirty="0">
              <a:latin typeface="Arial" panose="020B0604020202020204" pitchFamily="34" charset="0"/>
              <a:cs typeface="Arial" panose="020B0604020202020204" pitchFamily="34" charset="0"/>
            </a:endParaRPr>
          </a:p>
          <a:p>
            <a:pPr>
              <a:lnSpc>
                <a:spcPct val="150000"/>
              </a:lnSpc>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646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5FF18-8F91-E678-3F48-4C98A1BDB9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683EC89-30C5-F329-D67F-F6A393D21C44}"/>
              </a:ext>
            </a:extLst>
          </p:cNvPr>
          <p:cNvSpPr>
            <a:spLocks noGrp="1"/>
          </p:cNvSpPr>
          <p:nvPr>
            <p:ph type="subTitle" idx="1"/>
          </p:nvPr>
        </p:nvSpPr>
        <p:spPr>
          <a:xfrm>
            <a:off x="679937" y="1440060"/>
            <a:ext cx="10328031" cy="4916290"/>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AB8AA8C-76C3-0DB6-1CED-F19452C9B6EE}"/>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Income Statement </a:t>
            </a:r>
          </a:p>
        </p:txBody>
      </p:sp>
      <p:pic>
        <p:nvPicPr>
          <p:cNvPr id="7" name="Picture 6">
            <a:extLst>
              <a:ext uri="{FF2B5EF4-FFF2-40B4-BE49-F238E27FC236}">
                <a16:creationId xmlns:a16="http://schemas.microsoft.com/office/drawing/2014/main" id="{5D7ED1E1-0AB9-319B-1519-C0721E871A48}"/>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4ABF22B4-1321-D0D4-78F3-424DBBAAF19D}"/>
              </a:ext>
            </a:extLst>
          </p:cNvPr>
          <p:cNvSpPr>
            <a:spLocks noGrp="1"/>
          </p:cNvSpPr>
          <p:nvPr>
            <p:ph type="sldNum" sz="quarter" idx="12"/>
          </p:nvPr>
        </p:nvSpPr>
        <p:spPr/>
        <p:txBody>
          <a:bodyPr/>
          <a:lstStyle/>
          <a:p>
            <a:fld id="{A1DCFAE8-8E9E-42B1-9A81-DFF72612FDA6}" type="slidenum">
              <a:rPr lang="en-IN" smtClean="0"/>
              <a:t>7</a:t>
            </a:fld>
            <a:endParaRPr lang="en-IN"/>
          </a:p>
        </p:txBody>
      </p:sp>
      <p:sp>
        <p:nvSpPr>
          <p:cNvPr id="6" name="TextBox 5">
            <a:extLst>
              <a:ext uri="{FF2B5EF4-FFF2-40B4-BE49-F238E27FC236}">
                <a16:creationId xmlns:a16="http://schemas.microsoft.com/office/drawing/2014/main" id="{931E1111-D5E0-2389-372A-F90626D72EE5}"/>
              </a:ext>
            </a:extLst>
          </p:cNvPr>
          <p:cNvSpPr txBox="1"/>
          <p:nvPr/>
        </p:nvSpPr>
        <p:spPr>
          <a:xfrm>
            <a:off x="679936" y="755557"/>
            <a:ext cx="10328032" cy="5534849"/>
          </a:xfrm>
          <a:prstGeom prst="rect">
            <a:avLst/>
          </a:prstGeom>
          <a:noFill/>
        </p:spPr>
        <p:txBody>
          <a:bodyPr wrap="square">
            <a:spAutoFit/>
          </a:bodyPr>
          <a:lstStyle/>
          <a:p>
            <a:pPr>
              <a:lnSpc>
                <a:spcPct val="150000"/>
              </a:lnSpc>
            </a:pPr>
            <a:r>
              <a:rPr lang="en-US" sz="2000" b="1" dirty="0">
                <a:solidFill>
                  <a:schemeClr val="accent1"/>
                </a:solidFill>
                <a:latin typeface="Arial" panose="020B0604020202020204" pitchFamily="34" charset="0"/>
                <a:cs typeface="Arial" panose="020B0604020202020204" pitchFamily="34" charset="0"/>
              </a:rPr>
              <a:t>D. Operating Expenses</a:t>
            </a:r>
          </a:p>
          <a:p>
            <a:pPr>
              <a:lnSpc>
                <a:spcPct val="150000"/>
              </a:lnSpc>
            </a:pPr>
            <a:r>
              <a:rPr lang="en-US" sz="2000" dirty="0">
                <a:latin typeface="Arial" panose="020B0604020202020204" pitchFamily="34" charset="0"/>
                <a:cs typeface="Arial" panose="020B0604020202020204" pitchFamily="34" charset="0"/>
              </a:rPr>
              <a:t>Costs related to daily business operations that are not directly linked to production.</a:t>
            </a:r>
          </a:p>
          <a:p>
            <a:pPr>
              <a:lnSpc>
                <a:spcPct val="150000"/>
              </a:lnSpc>
            </a:pPr>
            <a:r>
              <a:rPr lang="en-US" sz="2000" dirty="0">
                <a:latin typeface="Arial" panose="020B0604020202020204" pitchFamily="34" charset="0"/>
                <a:cs typeface="Arial" panose="020B0604020202020204" pitchFamily="34" charset="0"/>
              </a:rPr>
              <a:t>Examples include:</a:t>
            </a:r>
          </a:p>
          <a:p>
            <a:pPr marL="800100" lvl="1"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Salaries and wages</a:t>
            </a:r>
          </a:p>
          <a:p>
            <a:pPr marL="800100" lvl="1"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Rent</a:t>
            </a:r>
          </a:p>
          <a:p>
            <a:pPr marL="800100" lvl="1"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Office supplies</a:t>
            </a:r>
          </a:p>
          <a:p>
            <a:pPr marL="800100" lvl="1"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Advertising</a:t>
            </a:r>
          </a:p>
          <a:p>
            <a:pPr marL="800100" lvl="1" indent="-34290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Utilities</a:t>
            </a:r>
          </a:p>
          <a:p>
            <a:pPr>
              <a:lnSpc>
                <a:spcPct val="150000"/>
              </a:lnSpc>
            </a:pPr>
            <a:r>
              <a:rPr lang="en-US" sz="2000" b="1" dirty="0">
                <a:solidFill>
                  <a:schemeClr val="accent1"/>
                </a:solidFill>
                <a:latin typeface="Arial" panose="020B0604020202020204" pitchFamily="34" charset="0"/>
                <a:cs typeface="Arial" panose="020B0604020202020204" pitchFamily="34" charset="0"/>
              </a:rPr>
              <a:t>E. Operating Income (EBIT - Earnings Before Interest and Tax)</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Profit from regular operations before interest and taxes.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Operating Income = Gross Profit - Operating Expenses</a:t>
            </a:r>
          </a:p>
          <a:p>
            <a:pPr>
              <a:lnSpc>
                <a:spcPct val="150000"/>
              </a:lnSpc>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3864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FEB7-6CDA-356E-14B0-532D131DA88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F6D1D71-5F24-FC74-54B2-9FCC724882EB}"/>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582644D7-41AA-0919-3FAD-6EFB10F3C8D8}"/>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Income Statement </a:t>
            </a:r>
          </a:p>
        </p:txBody>
      </p:sp>
      <p:pic>
        <p:nvPicPr>
          <p:cNvPr id="7" name="Picture 6">
            <a:extLst>
              <a:ext uri="{FF2B5EF4-FFF2-40B4-BE49-F238E27FC236}">
                <a16:creationId xmlns:a16="http://schemas.microsoft.com/office/drawing/2014/main" id="{4D388FB5-AC29-E265-1D82-C734C090E8D1}"/>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84B9A70A-266F-BD90-5E67-B232C91FB2E1}"/>
              </a:ext>
            </a:extLst>
          </p:cNvPr>
          <p:cNvSpPr>
            <a:spLocks noGrp="1"/>
          </p:cNvSpPr>
          <p:nvPr>
            <p:ph type="sldNum" sz="quarter" idx="12"/>
          </p:nvPr>
        </p:nvSpPr>
        <p:spPr/>
        <p:txBody>
          <a:bodyPr/>
          <a:lstStyle/>
          <a:p>
            <a:fld id="{A1DCFAE8-8E9E-42B1-9A81-DFF72612FDA6}" type="slidenum">
              <a:rPr lang="en-IN" smtClean="0"/>
              <a:t>8</a:t>
            </a:fld>
            <a:endParaRPr lang="en-IN"/>
          </a:p>
        </p:txBody>
      </p:sp>
      <p:sp>
        <p:nvSpPr>
          <p:cNvPr id="10" name="TextBox 9">
            <a:extLst>
              <a:ext uri="{FF2B5EF4-FFF2-40B4-BE49-F238E27FC236}">
                <a16:creationId xmlns:a16="http://schemas.microsoft.com/office/drawing/2014/main" id="{02DFA2E2-744D-1786-5B82-D9527DD6B406}"/>
              </a:ext>
            </a:extLst>
          </p:cNvPr>
          <p:cNvSpPr txBox="1"/>
          <p:nvPr/>
        </p:nvSpPr>
        <p:spPr>
          <a:xfrm>
            <a:off x="767859" y="724962"/>
            <a:ext cx="10152186" cy="5996513"/>
          </a:xfrm>
          <a:prstGeom prst="rect">
            <a:avLst/>
          </a:prstGeom>
          <a:noFill/>
        </p:spPr>
        <p:txBody>
          <a:bodyPr wrap="square">
            <a:spAutoFit/>
          </a:bodyPr>
          <a:lstStyle/>
          <a:p>
            <a:pPr>
              <a:lnSpc>
                <a:spcPct val="150000"/>
              </a:lnSpc>
              <a:buNone/>
            </a:pPr>
            <a:r>
              <a:rPr lang="en-US" sz="2000" b="1" dirty="0">
                <a:solidFill>
                  <a:schemeClr val="accent1"/>
                </a:solidFill>
                <a:latin typeface="Arial" panose="020B0604020202020204" pitchFamily="34" charset="0"/>
                <a:cs typeface="Arial" panose="020B0604020202020204" pitchFamily="34" charset="0"/>
              </a:rPr>
              <a:t>F. Other Income(Non-Operating Expenses )</a:t>
            </a:r>
          </a:p>
          <a:p>
            <a:pPr>
              <a:lnSpc>
                <a:spcPct val="150000"/>
              </a:lnSpc>
            </a:pPr>
            <a:r>
              <a:rPr lang="en-US" sz="2000" dirty="0">
                <a:latin typeface="Arial" panose="020B0604020202020204" pitchFamily="34" charset="0"/>
                <a:cs typeface="Arial" panose="020B0604020202020204" pitchFamily="34" charset="0"/>
              </a:rPr>
              <a:t>Income or losses from non-operating activities, like interest earned, investment income, or asset sales.</a:t>
            </a:r>
          </a:p>
          <a:p>
            <a:pPr>
              <a:lnSpc>
                <a:spcPct val="150000"/>
              </a:lnSpc>
            </a:pPr>
            <a:r>
              <a:rPr lang="en-IN" sz="2000" b="1" dirty="0">
                <a:solidFill>
                  <a:schemeClr val="accent1"/>
                </a:solidFill>
                <a:latin typeface="Arial" panose="020B0604020202020204" pitchFamily="34" charset="0"/>
                <a:cs typeface="Arial" panose="020B0604020202020204" pitchFamily="34" charset="0"/>
              </a:rPr>
              <a:t>G. Profit Before Tax (PBT)</a:t>
            </a:r>
          </a:p>
          <a:p>
            <a:pPr lvl="1">
              <a:lnSpc>
                <a:spcPct val="150000"/>
              </a:lnSpc>
            </a:pPr>
            <a:r>
              <a:rPr lang="en-US" sz="2000" dirty="0">
                <a:latin typeface="Arial" panose="020B0604020202020204" pitchFamily="34" charset="0"/>
                <a:cs typeface="Arial" panose="020B0604020202020204" pitchFamily="34" charset="0"/>
              </a:rPr>
              <a:t>Profit after all expenses, except taxes.</a:t>
            </a:r>
          </a:p>
          <a:p>
            <a:pPr lvl="1">
              <a:lnSpc>
                <a:spcPct val="150000"/>
              </a:lnSpc>
            </a:pPr>
            <a:r>
              <a:rPr lang="en-US" sz="2000" dirty="0">
                <a:latin typeface="Arial" panose="020B0604020202020204" pitchFamily="34" charset="0"/>
                <a:cs typeface="Arial" panose="020B0604020202020204" pitchFamily="34" charset="0"/>
              </a:rPr>
              <a:t>PBT =Operating Profit + Other Income – Other Expenses</a:t>
            </a:r>
          </a:p>
          <a:p>
            <a:pPr>
              <a:lnSpc>
                <a:spcPct val="150000"/>
              </a:lnSpc>
            </a:pPr>
            <a:r>
              <a:rPr lang="en-US" sz="2000" b="1" dirty="0">
                <a:solidFill>
                  <a:schemeClr val="accent1"/>
                </a:solidFill>
                <a:latin typeface="Arial" panose="020B0604020202020204" pitchFamily="34" charset="0"/>
                <a:cs typeface="Arial" panose="020B0604020202020204" pitchFamily="34" charset="0"/>
              </a:rPr>
              <a:t>H. Tax Expense</a:t>
            </a:r>
          </a:p>
          <a:p>
            <a:pPr>
              <a:lnSpc>
                <a:spcPct val="150000"/>
              </a:lnSpc>
            </a:pPr>
            <a:r>
              <a:rPr lang="en-US" sz="2000" dirty="0">
                <a:latin typeface="Arial" panose="020B0604020202020204" pitchFamily="34" charset="0"/>
                <a:cs typeface="Arial" panose="020B0604020202020204" pitchFamily="34" charset="0"/>
              </a:rPr>
              <a:t>Tax payable to the government.</a:t>
            </a:r>
            <a:endParaRPr lang="en-IN" sz="2000" dirty="0">
              <a:latin typeface="Arial" panose="020B0604020202020204" pitchFamily="34" charset="0"/>
              <a:cs typeface="Arial" panose="020B0604020202020204" pitchFamily="34" charset="0"/>
            </a:endParaRPr>
          </a:p>
          <a:p>
            <a:pPr>
              <a:lnSpc>
                <a:spcPct val="150000"/>
              </a:lnSpc>
              <a:buNone/>
            </a:pPr>
            <a:r>
              <a:rPr lang="en-IN" sz="2000" b="1" dirty="0">
                <a:solidFill>
                  <a:schemeClr val="accent1"/>
                </a:solidFill>
                <a:latin typeface="Arial" panose="020B0604020202020204" pitchFamily="34" charset="0"/>
                <a:cs typeface="Arial" panose="020B0604020202020204" pitchFamily="34" charset="0"/>
              </a:rPr>
              <a:t>I. Net Profit</a:t>
            </a:r>
          </a:p>
          <a:p>
            <a:pPr>
              <a:lnSpc>
                <a:spcPct val="150000"/>
              </a:lnSpc>
              <a:buNone/>
            </a:pPr>
            <a:r>
              <a:rPr lang="en-US" sz="2000" dirty="0">
                <a:latin typeface="Arial" panose="020B0604020202020204" pitchFamily="34" charset="0"/>
                <a:cs typeface="Arial" panose="020B0604020202020204" pitchFamily="34" charset="0"/>
              </a:rPr>
              <a:t>The final profit is the amount remaining after paying taxes. This is the bottom line of the income statement.</a:t>
            </a:r>
          </a:p>
          <a:p>
            <a:pPr>
              <a:lnSpc>
                <a:spcPct val="150000"/>
              </a:lnSpc>
              <a:buNone/>
            </a:pPr>
            <a:r>
              <a:rPr lang="en-US" sz="2000" dirty="0">
                <a:latin typeface="Arial" panose="020B0604020202020204" pitchFamily="34" charset="0"/>
                <a:cs typeface="Arial" panose="020B0604020202020204" pitchFamily="34" charset="0"/>
              </a:rPr>
              <a:t>Net Profit = Profit Before Tax – Corporate Tax</a:t>
            </a:r>
          </a:p>
          <a:p>
            <a:pPr>
              <a:lnSpc>
                <a:spcPct val="150000"/>
              </a:lnSpc>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843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613B5-646E-B820-09A3-DE152A74DE3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F692734-392D-4010-6E5C-B16E14DD543A}"/>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F95352D-CA29-F9E0-96FC-4413DCAFA291}"/>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Income Statement </a:t>
            </a:r>
          </a:p>
        </p:txBody>
      </p:sp>
      <p:pic>
        <p:nvPicPr>
          <p:cNvPr id="7" name="Picture 6">
            <a:extLst>
              <a:ext uri="{FF2B5EF4-FFF2-40B4-BE49-F238E27FC236}">
                <a16:creationId xmlns:a16="http://schemas.microsoft.com/office/drawing/2014/main" id="{6D98008E-B62F-B24A-4F04-64758C90312A}"/>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CD464891-1B8C-0E76-3943-637837AB17B1}"/>
              </a:ext>
            </a:extLst>
          </p:cNvPr>
          <p:cNvSpPr>
            <a:spLocks noGrp="1"/>
          </p:cNvSpPr>
          <p:nvPr>
            <p:ph type="sldNum" sz="quarter" idx="12"/>
          </p:nvPr>
        </p:nvSpPr>
        <p:spPr/>
        <p:txBody>
          <a:bodyPr/>
          <a:lstStyle/>
          <a:p>
            <a:fld id="{A1DCFAE8-8E9E-42B1-9A81-DFF72612FDA6}" type="slidenum">
              <a:rPr lang="en-IN" smtClean="0"/>
              <a:t>9</a:t>
            </a:fld>
            <a:endParaRPr lang="en-IN"/>
          </a:p>
        </p:txBody>
      </p:sp>
      <p:sp>
        <p:nvSpPr>
          <p:cNvPr id="10" name="TextBox 9">
            <a:extLst>
              <a:ext uri="{FF2B5EF4-FFF2-40B4-BE49-F238E27FC236}">
                <a16:creationId xmlns:a16="http://schemas.microsoft.com/office/drawing/2014/main" id="{D6181BC4-EECE-A991-7BC4-EDF0BBDEB930}"/>
              </a:ext>
            </a:extLst>
          </p:cNvPr>
          <p:cNvSpPr txBox="1"/>
          <p:nvPr/>
        </p:nvSpPr>
        <p:spPr>
          <a:xfrm>
            <a:off x="679936" y="905120"/>
            <a:ext cx="5416063" cy="456535"/>
          </a:xfrm>
          <a:prstGeom prst="rect">
            <a:avLst/>
          </a:prstGeom>
          <a:noFill/>
        </p:spPr>
        <p:txBody>
          <a:bodyPr wrap="square">
            <a:spAutoFit/>
          </a:bodyPr>
          <a:lstStyle/>
          <a:p>
            <a:pPr>
              <a:lnSpc>
                <a:spcPct val="150000"/>
              </a:lnSpc>
              <a:buNone/>
            </a:pP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A8ACCC3-33BD-7D98-FEB4-790033719C30}"/>
              </a:ext>
            </a:extLst>
          </p:cNvPr>
          <p:cNvSpPr txBox="1"/>
          <p:nvPr/>
        </p:nvSpPr>
        <p:spPr>
          <a:xfrm>
            <a:off x="3615899" y="753763"/>
            <a:ext cx="5189862" cy="5869364"/>
          </a:xfrm>
          <a:prstGeom prst="rect">
            <a:avLst/>
          </a:prstGeom>
          <a:noFill/>
          <a:ln>
            <a:solidFill>
              <a:schemeClr val="tx1"/>
            </a:solidFill>
          </a:ln>
        </p:spPr>
        <p:txBody>
          <a:bodyPr wrap="square">
            <a:spAutoFit/>
          </a:bodyPr>
          <a:lstStyle/>
          <a:p>
            <a:pPr marR="0" lvl="0" algn="just" defTabSz="914400" rtl="0" eaLnBrk="1" fontAlgn="auto" latinLnBrk="0" hangingPunct="1">
              <a:lnSpc>
                <a:spcPct val="150000"/>
              </a:lnSpc>
              <a:spcBef>
                <a:spcPts val="0"/>
              </a:spcBef>
              <a:spcAft>
                <a:spcPts val="0"/>
              </a:spcAft>
              <a:buClrTx/>
              <a:buSzTx/>
              <a:tabLst/>
              <a:defRPr/>
            </a:pP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INFOSYS LIMITED </a:t>
            </a:r>
          </a:p>
          <a:p>
            <a:pPr marR="0" lvl="0" algn="just" defTabSz="914400" rtl="0" eaLnBrk="1" fontAlgn="auto" latinLnBrk="0" hangingPunct="1">
              <a:lnSpc>
                <a:spcPct val="150000"/>
              </a:lnSpc>
              <a:spcBef>
                <a:spcPts val="0"/>
              </a:spcBef>
              <a:spcAft>
                <a:spcPts val="0"/>
              </a:spcAft>
              <a:buClrTx/>
              <a:buSzTx/>
              <a:tabLst/>
              <a:defRPr/>
            </a:pPr>
            <a:r>
              <a:rPr lang="en-US" sz="1500" b="1" dirty="0">
                <a:solidFill>
                  <a:prstClr val="black"/>
                </a:solidFill>
                <a:latin typeface="Arial" panose="020B0604020202020204" pitchFamily="34" charset="0"/>
                <a:cs typeface="Arial" panose="020B0604020202020204" pitchFamily="34" charset="0"/>
              </a:rPr>
              <a:t>                                 Income Statement</a:t>
            </a:r>
            <a:endParaRPr kumimoji="0" lang="en-US"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R="0" lvl="0" algn="just"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31 March, 20</a:t>
            </a:r>
            <a:r>
              <a:rPr lang="en-US" sz="1400" dirty="0">
                <a:solidFill>
                  <a:prstClr val="black"/>
                </a:solidFill>
                <a:latin typeface="Arial" panose="020B0604020202020204" pitchFamily="34" charset="0"/>
                <a:cs typeface="Arial" panose="020B0604020202020204" pitchFamily="34" charset="0"/>
              </a:rPr>
              <a:t>YY</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lang="en-US" sz="1400" dirty="0">
                <a:solidFill>
                  <a:prstClr val="black"/>
                </a:solidFill>
                <a:latin typeface="Arial" panose="020B0604020202020204" pitchFamily="34" charset="0"/>
                <a:cs typeface="Arial" panose="020B0604020202020204" pitchFamily="34" charset="0"/>
              </a:rPr>
              <a:t>( in crore) </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R="0" lvl="0" algn="just" defTabSz="914400" rtl="0" eaLnBrk="1" fontAlgn="auto" latinLnBrk="0" hangingPunct="1">
              <a:lnSpc>
                <a:spcPct val="150000"/>
              </a:lnSpc>
              <a:spcBef>
                <a:spcPts val="0"/>
              </a:spcBef>
              <a:spcAft>
                <a:spcPts val="0"/>
              </a:spcAft>
              <a:buClrTx/>
              <a:buSzTx/>
              <a:tabLst/>
              <a:defRPr/>
            </a:pPr>
            <a:endParaRPr lang="en-US" sz="1400" dirty="0">
              <a:solidFill>
                <a:prstClr val="black"/>
              </a:solidFill>
              <a:latin typeface="Arial" panose="020B060402020202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Net Sales                                                              4,358,100                                                </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Costs of Sales                                                      2,738,714                         </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              GROSS PROFIT</a:t>
            </a:r>
            <a:r>
              <a:rPr lang="en-US" sz="1400" dirty="0">
                <a:solidFill>
                  <a:prstClr val="black"/>
                </a:solidFill>
                <a:latin typeface="Arial" panose="020B0604020202020204" pitchFamily="34" charset="0"/>
                <a:cs typeface="Arial" panose="020B0604020202020204" pitchFamily="34" charset="0"/>
              </a:rPr>
              <a:t>                                    </a:t>
            </a:r>
            <a:r>
              <a:rPr lang="en-US" sz="1400" b="1" dirty="0">
                <a:solidFill>
                  <a:prstClr val="black"/>
                </a:solidFill>
                <a:latin typeface="Arial" panose="020B0604020202020204" pitchFamily="34" charset="0"/>
                <a:cs typeface="Arial" panose="020B0604020202020204" pitchFamily="34" charset="0"/>
              </a:rPr>
              <a:t>1,619,386</a:t>
            </a:r>
            <a:r>
              <a:rPr lang="en-US" sz="1400" dirty="0">
                <a:solidFill>
                  <a:prstClr val="black"/>
                </a:solidFill>
                <a:latin typeface="Arial" panose="020B0604020202020204" pitchFamily="34" charset="0"/>
                <a:cs typeface="Arial" panose="020B0604020202020204" pitchFamily="34" charset="0"/>
              </a:rPr>
              <a:t>                                                                                                   </a:t>
            </a:r>
          </a:p>
          <a:p>
            <a:pPr marR="0" lvl="0"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Selling and Operating Expenses                          560,430   </a:t>
            </a:r>
          </a:p>
          <a:p>
            <a:pPr marR="0" lvl="0"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General and Administrative Expenses                 293,729                                              </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             TOTAL OPERATING EXPENSES          854,159</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              </a:t>
            </a:r>
            <a:r>
              <a:rPr lang="en-US" sz="1400" b="1" dirty="0">
                <a:solidFill>
                  <a:prstClr val="black"/>
                </a:solidFill>
                <a:latin typeface="Arial" panose="020B0604020202020204" pitchFamily="34" charset="0"/>
                <a:cs typeface="Arial" panose="020B0604020202020204" pitchFamily="34" charset="0"/>
              </a:rPr>
              <a:t>OPERATING INCOME                           765,227</a:t>
            </a:r>
            <a:endParaRPr lang="en-US" sz="1400" dirty="0">
              <a:solidFill>
                <a:prstClr val="black"/>
              </a:solidFill>
              <a:latin typeface="Arial" panose="020B0604020202020204" pitchFamily="34" charset="0"/>
              <a:cs typeface="Arial" panose="020B0604020202020204" pitchFamily="34" charset="0"/>
            </a:endParaRP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Other Income                                                        960</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Gain(Loss) on the Financial Instruments              5,513</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(Loss) Gain on the Foreign Currency                   12,649</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Interest Expenses                                                 18,177</a:t>
            </a:r>
          </a:p>
          <a:p>
            <a:pPr marR="0" lvl="0"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             </a:t>
            </a:r>
            <a:r>
              <a:rPr lang="en-US" sz="1400" b="1" dirty="0">
                <a:solidFill>
                  <a:prstClr val="black"/>
                </a:solidFill>
                <a:latin typeface="Arial" panose="020B0604020202020204" pitchFamily="34" charset="0"/>
                <a:cs typeface="Arial" panose="020B0604020202020204" pitchFamily="34" charset="0"/>
              </a:rPr>
              <a:t>INCOME BEFORE TAX                          </a:t>
            </a:r>
            <a:r>
              <a:rPr lang="en-US" sz="1400" dirty="0">
                <a:solidFill>
                  <a:prstClr val="black"/>
                </a:solidFill>
                <a:latin typeface="Arial" panose="020B0604020202020204" pitchFamily="34" charset="0"/>
                <a:cs typeface="Arial" panose="020B0604020202020204" pitchFamily="34" charset="0"/>
              </a:rPr>
              <a:t>740,874</a:t>
            </a:r>
            <a:r>
              <a:rPr lang="en-US" sz="1400" b="1" dirty="0">
                <a:solidFill>
                  <a:prstClr val="black"/>
                </a:solidFill>
                <a:latin typeface="Arial" panose="020B0604020202020204" pitchFamily="34" charset="0"/>
                <a:cs typeface="Arial" panose="020B0604020202020204" pitchFamily="34" charset="0"/>
              </a:rPr>
              <a:t> </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Corporate Tax Expense                                             257,642</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              NET INCOME                                         483,232</a:t>
            </a:r>
          </a:p>
        </p:txBody>
      </p:sp>
    </p:spTree>
    <p:extLst>
      <p:ext uri="{BB962C8B-B14F-4D97-AF65-F5344CB8AC3E}">
        <p14:creationId xmlns:p14="http://schemas.microsoft.com/office/powerpoint/2010/main" val="1941178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A11C4D-00E3-E127-07EC-EBF737591686}"/>
              </a:ext>
            </a:extLst>
          </p:cNvPr>
          <p:cNvSpPr>
            <a:spLocks noGrp="1"/>
          </p:cNvSpPr>
          <p:nvPr>
            <p:ph type="sldNum" sz="quarter" idx="12"/>
          </p:nvPr>
        </p:nvSpPr>
        <p:spPr/>
        <p:txBody>
          <a:bodyPr/>
          <a:lstStyle/>
          <a:p>
            <a:fld id="{A1DCFAE8-8E9E-42B1-9A81-DFF72612FDA6}" type="slidenum">
              <a:rPr lang="en-IN" smtClean="0"/>
              <a:t>10</a:t>
            </a:fld>
            <a:endParaRPr lang="en-IN"/>
          </a:p>
        </p:txBody>
      </p:sp>
      <p:pic>
        <p:nvPicPr>
          <p:cNvPr id="6146" name="Picture 2" descr="Generated image">
            <a:extLst>
              <a:ext uri="{FF2B5EF4-FFF2-40B4-BE49-F238E27FC236}">
                <a16:creationId xmlns:a16="http://schemas.microsoft.com/office/drawing/2014/main" id="{7317F1BC-2FDD-D2AD-C1AA-B74147FB9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9692" y="541703"/>
            <a:ext cx="5392616" cy="5814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1253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519AD-6EFB-E5E8-0DE5-1AAB163FBCC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0FE8A7F-4DDD-7C03-E5E1-646A74AC8662}"/>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45411C9E-0C9D-8EA7-12F3-1A2F13A1C0D5}"/>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Balance Sheet </a:t>
            </a:r>
          </a:p>
        </p:txBody>
      </p:sp>
      <p:pic>
        <p:nvPicPr>
          <p:cNvPr id="7" name="Picture 6">
            <a:extLst>
              <a:ext uri="{FF2B5EF4-FFF2-40B4-BE49-F238E27FC236}">
                <a16:creationId xmlns:a16="http://schemas.microsoft.com/office/drawing/2014/main" id="{3341027D-677C-759D-081F-4BA1022A5D89}"/>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28754B83-D421-29BF-D3E2-A4500D4FE7EB}"/>
              </a:ext>
            </a:extLst>
          </p:cNvPr>
          <p:cNvSpPr>
            <a:spLocks noGrp="1"/>
          </p:cNvSpPr>
          <p:nvPr>
            <p:ph type="sldNum" sz="quarter" idx="12"/>
          </p:nvPr>
        </p:nvSpPr>
        <p:spPr/>
        <p:txBody>
          <a:bodyPr/>
          <a:lstStyle/>
          <a:p>
            <a:fld id="{A1DCFAE8-8E9E-42B1-9A81-DFF72612FDA6}" type="slidenum">
              <a:rPr lang="en-IN" smtClean="0"/>
              <a:t>11</a:t>
            </a:fld>
            <a:endParaRPr lang="en-IN"/>
          </a:p>
        </p:txBody>
      </p:sp>
      <p:sp>
        <p:nvSpPr>
          <p:cNvPr id="6" name="TextBox 5">
            <a:extLst>
              <a:ext uri="{FF2B5EF4-FFF2-40B4-BE49-F238E27FC236}">
                <a16:creationId xmlns:a16="http://schemas.microsoft.com/office/drawing/2014/main" id="{95F06CBF-A35D-4205-FAA0-8BD5256C4E1D}"/>
              </a:ext>
            </a:extLst>
          </p:cNvPr>
          <p:cNvSpPr txBox="1"/>
          <p:nvPr/>
        </p:nvSpPr>
        <p:spPr>
          <a:xfrm>
            <a:off x="911998" y="849876"/>
            <a:ext cx="10210801" cy="5447645"/>
          </a:xfrm>
          <a:prstGeom prst="rect">
            <a:avLst/>
          </a:prstGeom>
          <a:noFill/>
        </p:spPr>
        <p:txBody>
          <a:bodyPr wrap="square">
            <a:spAutoFit/>
          </a:bodyPr>
          <a:lstStyle/>
          <a:p>
            <a:pPr algn="just">
              <a:lnSpc>
                <a:spcPct val="150000"/>
              </a:lnSpc>
            </a:pPr>
            <a:r>
              <a:rPr lang="en-US" sz="2000" dirty="0">
                <a:latin typeface="Arial" panose="020B0604020202020204" pitchFamily="34" charset="0"/>
                <a:cs typeface="Arial" panose="020B0604020202020204" pitchFamily="34" charset="0"/>
              </a:rPr>
              <a:t>A balance sheet is a financial statement that shows a company's financial position at a specific point in time. It presents the assets, liabilities, and owner’s equity of a business.</a:t>
            </a:r>
          </a:p>
          <a:p>
            <a:pPr algn="just">
              <a:lnSpc>
                <a:spcPct val="150000"/>
              </a:lnSpc>
            </a:pPr>
            <a:r>
              <a:rPr lang="en-US" sz="2000" b="1" dirty="0">
                <a:latin typeface="Arial" panose="020B0604020202020204" pitchFamily="34" charset="0"/>
                <a:cs typeface="Arial" panose="020B0604020202020204" pitchFamily="34" charset="0"/>
              </a:rPr>
              <a:t>Purpose of the Balance Sheet</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Shows the company's financial health</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Helps assess liquidity, solvency, and capital structure</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Useful for investors, creditors, and management decisions</a:t>
            </a:r>
          </a:p>
          <a:p>
            <a:pPr marL="285750" indent="-28575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Verifies that Assets = Liabilities + Equity</a:t>
            </a:r>
          </a:p>
          <a:p>
            <a:pPr algn="just">
              <a:lnSpc>
                <a:spcPct val="150000"/>
              </a:lnSpc>
            </a:pPr>
            <a:r>
              <a:rPr lang="en-US" sz="2000" b="1" dirty="0">
                <a:latin typeface="Arial" panose="020B0604020202020204" pitchFamily="34" charset="0"/>
                <a:cs typeface="Arial" panose="020B0604020202020204" pitchFamily="34" charset="0"/>
              </a:rPr>
              <a:t>The balance sheet is structured into three main parts:</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Assets </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Liabilities</a:t>
            </a:r>
          </a:p>
          <a:p>
            <a:pPr marL="342900" indent="-342900" algn="just">
              <a:lnSpc>
                <a:spcPct val="150000"/>
              </a:lnSpc>
              <a:buFont typeface="Arial" panose="020B0604020202020204" pitchFamily="34" charset="0"/>
              <a:buChar char="•"/>
            </a:pPr>
            <a:r>
              <a:rPr lang="en-IN" sz="2000" dirty="0">
                <a:latin typeface="Arial" panose="020B0604020202020204" pitchFamily="34" charset="0"/>
                <a:cs typeface="Arial" panose="020B0604020202020204" pitchFamily="34" charset="0"/>
              </a:rPr>
              <a:t>Owner’s Equity / Shareholder’s Equity</a:t>
            </a:r>
            <a:endParaRPr lang="en-US" sz="2000" dirty="0">
              <a:latin typeface="Arial" panose="020B0604020202020204" pitchFamily="34" charset="0"/>
              <a:cs typeface="Arial" panose="020B0604020202020204" pitchFamily="34" charset="0"/>
            </a:endParaRPr>
          </a:p>
          <a:p>
            <a:endParaRPr lang="en-IN" dirty="0"/>
          </a:p>
        </p:txBody>
      </p:sp>
      <p:pic>
        <p:nvPicPr>
          <p:cNvPr id="2052" name="Picture 4" descr="Generated image">
            <a:extLst>
              <a:ext uri="{FF2B5EF4-FFF2-40B4-BE49-F238E27FC236}">
                <a16:creationId xmlns:a16="http://schemas.microsoft.com/office/drawing/2014/main" id="{28486869-2497-F7B0-8554-112859130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2724" y="1737178"/>
            <a:ext cx="3499339" cy="3797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94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8B25-AAA2-2C09-E5EE-AFD90E02D26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269E40E-4713-D0F1-26BD-CAE7E86A8969}"/>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62D9F53-4BB5-1B56-2A3F-3F74931C8A7B}"/>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Balance Sheet </a:t>
            </a:r>
          </a:p>
        </p:txBody>
      </p:sp>
      <p:pic>
        <p:nvPicPr>
          <p:cNvPr id="7" name="Picture 6">
            <a:extLst>
              <a:ext uri="{FF2B5EF4-FFF2-40B4-BE49-F238E27FC236}">
                <a16:creationId xmlns:a16="http://schemas.microsoft.com/office/drawing/2014/main" id="{55A18CC9-7BC5-2CB2-2D5D-375AC4796D9E}"/>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093B63B2-9215-0C5A-D7F8-3C67AFD1EC7E}"/>
              </a:ext>
            </a:extLst>
          </p:cNvPr>
          <p:cNvSpPr>
            <a:spLocks noGrp="1"/>
          </p:cNvSpPr>
          <p:nvPr>
            <p:ph type="sldNum" sz="quarter" idx="12"/>
          </p:nvPr>
        </p:nvSpPr>
        <p:spPr/>
        <p:txBody>
          <a:bodyPr/>
          <a:lstStyle/>
          <a:p>
            <a:fld id="{A1DCFAE8-8E9E-42B1-9A81-DFF72612FDA6}" type="slidenum">
              <a:rPr lang="en-IN" smtClean="0"/>
              <a:t>12</a:t>
            </a:fld>
            <a:endParaRPr lang="en-IN"/>
          </a:p>
        </p:txBody>
      </p:sp>
      <p:sp>
        <p:nvSpPr>
          <p:cNvPr id="10" name="TextBox 9">
            <a:extLst>
              <a:ext uri="{FF2B5EF4-FFF2-40B4-BE49-F238E27FC236}">
                <a16:creationId xmlns:a16="http://schemas.microsoft.com/office/drawing/2014/main" id="{9FECAC19-FEA6-A53C-C04B-5E91292015F6}"/>
              </a:ext>
            </a:extLst>
          </p:cNvPr>
          <p:cNvSpPr txBox="1"/>
          <p:nvPr/>
        </p:nvSpPr>
        <p:spPr>
          <a:xfrm>
            <a:off x="679938" y="857123"/>
            <a:ext cx="10328030" cy="5575309"/>
          </a:xfrm>
          <a:prstGeom prst="rect">
            <a:avLst/>
          </a:prstGeom>
          <a:noFill/>
        </p:spPr>
        <p:txBody>
          <a:bodyPr wrap="square">
            <a:spAutoFit/>
          </a:bodyPr>
          <a:lstStyle/>
          <a:p>
            <a:pPr>
              <a:lnSpc>
                <a:spcPct val="150000"/>
              </a:lnSpc>
            </a:pPr>
            <a:r>
              <a:rPr lang="en-US" sz="2000" b="1" dirty="0">
                <a:latin typeface="Arial" panose="020B0604020202020204" pitchFamily="34" charset="0"/>
                <a:cs typeface="Arial" panose="020B0604020202020204" pitchFamily="34" charset="0"/>
              </a:rPr>
              <a:t>Components of a Balance Sheet </a:t>
            </a:r>
          </a:p>
          <a:p>
            <a:pPr>
              <a:lnSpc>
                <a:spcPct val="150000"/>
              </a:lnSpc>
            </a:pPr>
            <a:r>
              <a:rPr lang="en-US" sz="2000" b="1" dirty="0">
                <a:latin typeface="Arial" panose="020B0604020202020204" pitchFamily="34" charset="0"/>
                <a:cs typeface="Arial" panose="020B0604020202020204" pitchFamily="34" charset="0"/>
              </a:rPr>
              <a:t>Assets (What the Company Owns)</a:t>
            </a:r>
          </a:p>
          <a:p>
            <a:pPr>
              <a:lnSpc>
                <a:spcPct val="150000"/>
              </a:lnSpc>
            </a:pPr>
            <a:r>
              <a:rPr lang="en-US" sz="2000" dirty="0">
                <a:latin typeface="Arial" panose="020B0604020202020204" pitchFamily="34" charset="0"/>
                <a:cs typeface="Arial" panose="020B0604020202020204" pitchFamily="34" charset="0"/>
              </a:rPr>
              <a:t> </a:t>
            </a:r>
            <a:r>
              <a:rPr lang="en-US" sz="2000" b="1" dirty="0">
                <a:solidFill>
                  <a:schemeClr val="accent1"/>
                </a:solidFill>
                <a:latin typeface="Arial" panose="020B0604020202020204" pitchFamily="34" charset="0"/>
                <a:cs typeface="Arial" panose="020B0604020202020204" pitchFamily="34" charset="0"/>
              </a:rPr>
              <a:t>Current Assets (within 1 year)</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These are liquid or convertible to cash in the short term:</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Cash &amp; Cash Equivalents – money in bank or on hand</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Accounts Receivable – money owed by customers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Inventory – goods ready for sale</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Prepaid Expenses – rent, insurance paid in advance</a:t>
            </a:r>
          </a:p>
          <a:p>
            <a:pPr>
              <a:lnSpc>
                <a:spcPct val="150000"/>
              </a:lnSpc>
            </a:pPr>
            <a:r>
              <a:rPr lang="en-US" sz="2000" b="1" dirty="0">
                <a:solidFill>
                  <a:schemeClr val="accent1"/>
                </a:solidFill>
                <a:latin typeface="Arial" panose="020B0604020202020204" pitchFamily="34" charset="0"/>
                <a:cs typeface="Arial" panose="020B0604020202020204" pitchFamily="34" charset="0"/>
              </a:rPr>
              <a:t>Non-Current Assets (long-term)</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Property, Plant &amp; Equipment (PPE) – land, buildings, machines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Intangible Assets – goodwill, patents, trademarks</a:t>
            </a:r>
          </a:p>
          <a:p>
            <a:pPr marL="285750" indent="-285750">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Long-term Investments – equity or debt investments not for sale within a year</a:t>
            </a:r>
          </a:p>
        </p:txBody>
      </p:sp>
    </p:spTree>
    <p:extLst>
      <p:ext uri="{BB962C8B-B14F-4D97-AF65-F5344CB8AC3E}">
        <p14:creationId xmlns:p14="http://schemas.microsoft.com/office/powerpoint/2010/main" val="236952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548AA-FEC7-D90A-5FAD-A8FE5C4C07D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9A91AE9-6AF5-404B-479F-CDB2A9FD9F13}"/>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41005E8-4AB5-0096-A6A0-D1DC54F2CCD4}"/>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Balance Sheet </a:t>
            </a:r>
          </a:p>
        </p:txBody>
      </p:sp>
      <p:pic>
        <p:nvPicPr>
          <p:cNvPr id="7" name="Picture 6">
            <a:extLst>
              <a:ext uri="{FF2B5EF4-FFF2-40B4-BE49-F238E27FC236}">
                <a16:creationId xmlns:a16="http://schemas.microsoft.com/office/drawing/2014/main" id="{A24C3755-FC73-813C-0AEC-FD48ED2EC128}"/>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08E388BB-17D3-49FD-335A-52CEFAA1988F}"/>
              </a:ext>
            </a:extLst>
          </p:cNvPr>
          <p:cNvSpPr>
            <a:spLocks noGrp="1"/>
          </p:cNvSpPr>
          <p:nvPr>
            <p:ph type="sldNum" sz="quarter" idx="12"/>
          </p:nvPr>
        </p:nvSpPr>
        <p:spPr/>
        <p:txBody>
          <a:bodyPr/>
          <a:lstStyle/>
          <a:p>
            <a:fld id="{A1DCFAE8-8E9E-42B1-9A81-DFF72612FDA6}" type="slidenum">
              <a:rPr lang="en-IN" smtClean="0"/>
              <a:t>13</a:t>
            </a:fld>
            <a:endParaRPr lang="en-IN"/>
          </a:p>
        </p:txBody>
      </p:sp>
      <p:sp>
        <p:nvSpPr>
          <p:cNvPr id="6" name="TextBox 5">
            <a:extLst>
              <a:ext uri="{FF2B5EF4-FFF2-40B4-BE49-F238E27FC236}">
                <a16:creationId xmlns:a16="http://schemas.microsoft.com/office/drawing/2014/main" id="{3C03B09D-59E3-D4A0-BBDA-E95002158C5C}"/>
              </a:ext>
            </a:extLst>
          </p:cNvPr>
          <p:cNvSpPr txBox="1"/>
          <p:nvPr/>
        </p:nvSpPr>
        <p:spPr>
          <a:xfrm>
            <a:off x="679937" y="1020877"/>
            <a:ext cx="10328031" cy="5575309"/>
          </a:xfrm>
          <a:prstGeom prst="rect">
            <a:avLst/>
          </a:prstGeom>
          <a:noFill/>
        </p:spPr>
        <p:txBody>
          <a:bodyPr wrap="square">
            <a:spAutoFit/>
          </a:bodyPr>
          <a:lstStyle/>
          <a:p>
            <a:pPr>
              <a:lnSpc>
                <a:spcPct val="150000"/>
              </a:lnSpc>
              <a:buNone/>
            </a:pPr>
            <a:r>
              <a:rPr lang="en-US" sz="2000" b="1" dirty="0">
                <a:latin typeface="Arial" panose="020B0604020202020204" pitchFamily="34" charset="0"/>
                <a:cs typeface="Arial" panose="020B0604020202020204" pitchFamily="34" charset="0"/>
              </a:rPr>
              <a:t>Liabilities (What the Company Owes)</a:t>
            </a:r>
          </a:p>
          <a:p>
            <a:pPr>
              <a:lnSpc>
                <a:spcPct val="150000"/>
              </a:lnSpc>
              <a:buNone/>
            </a:pPr>
            <a:r>
              <a:rPr lang="en-US" sz="2000" b="1" dirty="0">
                <a:solidFill>
                  <a:schemeClr val="accent1"/>
                </a:solidFill>
                <a:latin typeface="Arial" panose="020B0604020202020204" pitchFamily="34" charset="0"/>
                <a:cs typeface="Arial" panose="020B0604020202020204" pitchFamily="34" charset="0"/>
              </a:rPr>
              <a:t>Current Liabilities</a:t>
            </a:r>
          </a:p>
          <a:p>
            <a:pPr>
              <a:lnSpc>
                <a:spcPct val="150000"/>
              </a:lnSpc>
              <a:buNone/>
            </a:pPr>
            <a:r>
              <a:rPr lang="en-US" sz="2000" dirty="0">
                <a:latin typeface="Arial" panose="020B0604020202020204" pitchFamily="34" charset="0"/>
                <a:cs typeface="Arial" panose="020B0604020202020204" pitchFamily="34" charset="0"/>
              </a:rPr>
              <a:t>To be paid within a year:</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Accounts Payable – bills to suppliers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Short-term Debt – bank overdrafts, short-term loans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Accrued Expenses – salaries, utilities due</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Taxes Payable – unpaid taxes</a:t>
            </a:r>
          </a:p>
          <a:p>
            <a:pPr>
              <a:lnSpc>
                <a:spcPct val="150000"/>
              </a:lnSpc>
              <a:buNone/>
            </a:pPr>
            <a:r>
              <a:rPr lang="en-US" sz="2000" b="1" dirty="0">
                <a:solidFill>
                  <a:schemeClr val="accent1"/>
                </a:solidFill>
                <a:latin typeface="Arial" panose="020B0604020202020204" pitchFamily="34" charset="0"/>
                <a:cs typeface="Arial" panose="020B0604020202020204" pitchFamily="34" charset="0"/>
              </a:rPr>
              <a:t>Non-Current Liabilities</a:t>
            </a:r>
          </a:p>
          <a:p>
            <a:pPr>
              <a:lnSpc>
                <a:spcPct val="150000"/>
              </a:lnSpc>
              <a:buNone/>
            </a:pPr>
            <a:r>
              <a:rPr lang="en-US" sz="2000" dirty="0">
                <a:latin typeface="Arial" panose="020B0604020202020204" pitchFamily="34" charset="0"/>
                <a:cs typeface="Arial" panose="020B0604020202020204" pitchFamily="34" charset="0"/>
              </a:rPr>
              <a:t>Obligations due after 1 year:</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Long-term Loans – from banks or bonds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Deferred Tax Liabilities – taxes owed in the future</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Lease Obligations – for long-term rented assets</a:t>
            </a:r>
          </a:p>
        </p:txBody>
      </p:sp>
    </p:spTree>
    <p:extLst>
      <p:ext uri="{BB962C8B-B14F-4D97-AF65-F5344CB8AC3E}">
        <p14:creationId xmlns:p14="http://schemas.microsoft.com/office/powerpoint/2010/main" val="3610407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83AF4-940B-73F0-F1E9-700D78FA2A9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0EC78C5-65E1-F986-B5E8-8E86676224A4}"/>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DADA127-2020-97FE-4DCD-7BE911A2849F}"/>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Balance Sheet </a:t>
            </a:r>
          </a:p>
        </p:txBody>
      </p:sp>
      <p:pic>
        <p:nvPicPr>
          <p:cNvPr id="7" name="Picture 6">
            <a:extLst>
              <a:ext uri="{FF2B5EF4-FFF2-40B4-BE49-F238E27FC236}">
                <a16:creationId xmlns:a16="http://schemas.microsoft.com/office/drawing/2014/main" id="{6B337D51-4B6C-6E91-4956-4344C8F57357}"/>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43ECCF6E-7A2A-4C38-CA89-B6061BB13D4E}"/>
              </a:ext>
            </a:extLst>
          </p:cNvPr>
          <p:cNvSpPr>
            <a:spLocks noGrp="1"/>
          </p:cNvSpPr>
          <p:nvPr>
            <p:ph type="sldNum" sz="quarter" idx="12"/>
          </p:nvPr>
        </p:nvSpPr>
        <p:spPr/>
        <p:txBody>
          <a:bodyPr/>
          <a:lstStyle/>
          <a:p>
            <a:fld id="{A1DCFAE8-8E9E-42B1-9A81-DFF72612FDA6}" type="slidenum">
              <a:rPr lang="en-IN" smtClean="0"/>
              <a:t>14</a:t>
            </a:fld>
            <a:endParaRPr lang="en-IN"/>
          </a:p>
        </p:txBody>
      </p:sp>
      <p:sp>
        <p:nvSpPr>
          <p:cNvPr id="11" name="TextBox 10">
            <a:extLst>
              <a:ext uri="{FF2B5EF4-FFF2-40B4-BE49-F238E27FC236}">
                <a16:creationId xmlns:a16="http://schemas.microsoft.com/office/drawing/2014/main" id="{7CF40728-E22F-D489-F2EA-9C3D8660487B}"/>
              </a:ext>
            </a:extLst>
          </p:cNvPr>
          <p:cNvSpPr txBox="1"/>
          <p:nvPr/>
        </p:nvSpPr>
        <p:spPr>
          <a:xfrm>
            <a:off x="679937" y="933206"/>
            <a:ext cx="5334001" cy="4190250"/>
          </a:xfrm>
          <a:prstGeom prst="rect">
            <a:avLst/>
          </a:prstGeom>
          <a:noFill/>
        </p:spPr>
        <p:txBody>
          <a:bodyPr wrap="square">
            <a:spAutoFit/>
          </a:bodyPr>
          <a:lstStyle/>
          <a:p>
            <a:pPr>
              <a:lnSpc>
                <a:spcPct val="150000"/>
              </a:lnSpc>
              <a:buNone/>
            </a:pPr>
            <a:r>
              <a:rPr lang="en-US" sz="2000" b="1" dirty="0">
                <a:latin typeface="Arial" panose="020B0604020202020204" pitchFamily="34" charset="0"/>
                <a:cs typeface="Arial" panose="020B0604020202020204" pitchFamily="34" charset="0"/>
              </a:rPr>
              <a:t>Shareholders’ Equity (Net Worth)</a:t>
            </a:r>
          </a:p>
          <a:p>
            <a:pPr>
              <a:lnSpc>
                <a:spcPct val="150000"/>
              </a:lnSpc>
              <a:buNone/>
            </a:pPr>
            <a:r>
              <a:rPr lang="en-US" sz="2000" dirty="0">
                <a:latin typeface="Arial" panose="020B0604020202020204" pitchFamily="34" charset="0"/>
                <a:cs typeface="Arial" panose="020B0604020202020204" pitchFamily="34" charset="0"/>
              </a:rPr>
              <a:t>Also called owner’s equity or net assets: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Common Stock / Share Capital – funds raised from issuing shares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Retained Earnings – cumulative profits kept in the business</a:t>
            </a:r>
          </a:p>
          <a:p>
            <a:pPr>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Reserves &amp; Surplus – extra funds set aside (like for R&amp;D, depreciation, etc.)</a:t>
            </a:r>
          </a:p>
          <a:p>
            <a:pPr>
              <a:lnSpc>
                <a:spcPct val="150000"/>
              </a:lnSpc>
              <a:buNone/>
            </a:pPr>
            <a:r>
              <a:rPr lang="en-US" sz="2000" dirty="0">
                <a:latin typeface="Arial" panose="020B0604020202020204" pitchFamily="34" charset="0"/>
                <a:cs typeface="Arial" panose="020B0604020202020204" pitchFamily="34" charset="0"/>
              </a:rPr>
              <a:t>Equity = Assets - Liabilities</a:t>
            </a:r>
          </a:p>
        </p:txBody>
      </p:sp>
      <p:sp>
        <p:nvSpPr>
          <p:cNvPr id="5" name="TextBox 4">
            <a:extLst>
              <a:ext uri="{FF2B5EF4-FFF2-40B4-BE49-F238E27FC236}">
                <a16:creationId xmlns:a16="http://schemas.microsoft.com/office/drawing/2014/main" id="{06FD5E8C-05D8-2E83-D9BA-705E693FD9B6}"/>
              </a:ext>
            </a:extLst>
          </p:cNvPr>
          <p:cNvSpPr txBox="1"/>
          <p:nvPr/>
        </p:nvSpPr>
        <p:spPr>
          <a:xfrm>
            <a:off x="5843952" y="693370"/>
            <a:ext cx="5164016" cy="5915530"/>
          </a:xfrm>
          <a:prstGeom prst="rect">
            <a:avLst/>
          </a:prstGeom>
          <a:noFill/>
          <a:ln>
            <a:solidFill>
              <a:schemeClr val="tx1"/>
            </a:solidFill>
          </a:ln>
        </p:spPr>
        <p:txBody>
          <a:bodyPr wrap="square">
            <a:spAutoFit/>
          </a:bodyPr>
          <a:lstStyle/>
          <a:p>
            <a:pPr lvl="0" algn="just">
              <a:lnSpc>
                <a:spcPct val="150000"/>
              </a:lnSpc>
              <a:defRPr/>
            </a:pPr>
            <a:r>
              <a:rPr lang="en-US" sz="1500" b="1" dirty="0">
                <a:solidFill>
                  <a:prstClr val="black"/>
                </a:solidFill>
                <a:latin typeface="Arial" panose="020B0604020202020204" pitchFamily="34" charset="0"/>
                <a:cs typeface="Arial" panose="020B0604020202020204" pitchFamily="34" charset="0"/>
              </a:rPr>
              <a:t>                                  INFOSYS LIMITED </a:t>
            </a:r>
          </a:p>
          <a:p>
            <a:pPr lvl="0" algn="just">
              <a:lnSpc>
                <a:spcPct val="150000"/>
              </a:lnSpc>
              <a:defRPr/>
            </a:pPr>
            <a:r>
              <a:rPr lang="en-US" sz="1500" b="1" dirty="0">
                <a:solidFill>
                  <a:prstClr val="black"/>
                </a:solidFill>
                <a:latin typeface="Arial" panose="020B0604020202020204" pitchFamily="34" charset="0"/>
                <a:cs typeface="Arial" panose="020B0604020202020204" pitchFamily="34" charset="0"/>
              </a:rPr>
              <a:t>                                  Balance Sheet  </a:t>
            </a:r>
            <a:r>
              <a:rPr lang="en-US" sz="1100" dirty="0">
                <a:solidFill>
                  <a:prstClr val="black"/>
                </a:solidFill>
                <a:latin typeface="Arial" panose="020B0604020202020204" pitchFamily="34" charset="0"/>
                <a:cs typeface="Arial" panose="020B0604020202020204" pitchFamily="34" charset="0"/>
              </a:rPr>
              <a:t>31 March, 20YY ( in crore) </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ASSETS</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Current Assets                                                      9,609                                                </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Long-Term Investments &amp;Funds                           1,460</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Property, Plant &amp; Equipment                                 9,716</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Intangible Assets                                                   1,222</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Other Assets                                                         68</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                 </a:t>
            </a:r>
            <a:r>
              <a:rPr lang="en-US" sz="1400" b="1" dirty="0">
                <a:solidFill>
                  <a:prstClr val="black"/>
                </a:solidFill>
                <a:latin typeface="Arial" panose="020B0604020202020204" pitchFamily="34" charset="0"/>
                <a:cs typeface="Arial" panose="020B0604020202020204" pitchFamily="34" charset="0"/>
              </a:rPr>
              <a:t>Total Assets                                                 22,075</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LIABILITIES </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Current Liabilities                                                    3,464</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Long Term Liabilities                                               5,474</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               Total Liabilities                                                8,938</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OWNERS  EQUITY</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Contributed Capital                                                  3,464</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Retained Earnings                                                   5,474</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              Total Owners Equity                                        13,137</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Total Liabilities and Equities                                         22,075</a:t>
            </a:r>
          </a:p>
        </p:txBody>
      </p:sp>
    </p:spTree>
    <p:extLst>
      <p:ext uri="{BB962C8B-B14F-4D97-AF65-F5344CB8AC3E}">
        <p14:creationId xmlns:p14="http://schemas.microsoft.com/office/powerpoint/2010/main" val="1659589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C24C1-A1AA-A990-C418-E3B594496A1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FD529CF-AAEB-822C-8B6C-DD6853342EC9}"/>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3E7E4A19-9366-2CE1-96C5-3DC3A51446E4}"/>
              </a:ext>
            </a:extLst>
          </p:cNvPr>
          <p:cNvSpPr>
            <a:spLocks noGrp="1"/>
          </p:cNvSpPr>
          <p:nvPr>
            <p:ph type="sldNum" sz="quarter" idx="12"/>
          </p:nvPr>
        </p:nvSpPr>
        <p:spPr/>
        <p:txBody>
          <a:bodyPr/>
          <a:lstStyle/>
          <a:p>
            <a:fld id="{A1DCFAE8-8E9E-42B1-9A81-DFF72612FDA6}" type="slidenum">
              <a:rPr lang="en-IN" smtClean="0"/>
              <a:t>15</a:t>
            </a:fld>
            <a:endParaRPr lang="en-IN"/>
          </a:p>
        </p:txBody>
      </p:sp>
      <p:pic>
        <p:nvPicPr>
          <p:cNvPr id="1028" name="Picture 4" descr="Generated image">
            <a:extLst>
              <a:ext uri="{FF2B5EF4-FFF2-40B4-BE49-F238E27FC236}">
                <a16:creationId xmlns:a16="http://schemas.microsoft.com/office/drawing/2014/main" id="{797F3126-A2E4-B8A0-A85A-6C692AE80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980" y="501650"/>
            <a:ext cx="9113520" cy="585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893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9DEFE-5998-3E0D-1FB2-E57C1CF3EF5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DBF888-67A0-E4DC-8C4E-33359447CD77}"/>
              </a:ext>
            </a:extLst>
          </p:cNvPr>
          <p:cNvSpPr>
            <a:spLocks noGrp="1"/>
          </p:cNvSpPr>
          <p:nvPr>
            <p:ph type="sldNum" sz="quarter" idx="12"/>
          </p:nvPr>
        </p:nvSpPr>
        <p:spPr/>
        <p:txBody>
          <a:bodyPr/>
          <a:lstStyle/>
          <a:p>
            <a:fld id="{A1DCFAE8-8E9E-42B1-9A81-DFF72612FDA6}" type="slidenum">
              <a:rPr lang="en-IN" smtClean="0"/>
              <a:t>16</a:t>
            </a:fld>
            <a:endParaRPr lang="en-IN"/>
          </a:p>
        </p:txBody>
      </p:sp>
      <p:pic>
        <p:nvPicPr>
          <p:cNvPr id="4100" name="Picture 4" descr="Generated image">
            <a:extLst>
              <a:ext uri="{FF2B5EF4-FFF2-40B4-BE49-F238E27FC236}">
                <a16:creationId xmlns:a16="http://schemas.microsoft.com/office/drawing/2014/main" id="{F2DA16FC-3B79-BF1F-B86F-4ECD4CF60C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043354"/>
            <a:ext cx="4572000"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794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D7940-656F-5956-EEB3-248887B1408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2BDC406-D691-5B59-5532-250D8F7BDAE5}"/>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C613AE3-0AD4-0ED3-7CF8-D05992137669}"/>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Cash Flow Statement </a:t>
            </a:r>
          </a:p>
        </p:txBody>
      </p:sp>
      <p:pic>
        <p:nvPicPr>
          <p:cNvPr id="7" name="Picture 6">
            <a:extLst>
              <a:ext uri="{FF2B5EF4-FFF2-40B4-BE49-F238E27FC236}">
                <a16:creationId xmlns:a16="http://schemas.microsoft.com/office/drawing/2014/main" id="{8867CBA1-DE93-067A-7EBA-9354E01E212A}"/>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4A0093B1-EF61-62D6-D2FF-33B0BA99272B}"/>
              </a:ext>
            </a:extLst>
          </p:cNvPr>
          <p:cNvSpPr>
            <a:spLocks noGrp="1"/>
          </p:cNvSpPr>
          <p:nvPr>
            <p:ph type="sldNum" sz="quarter" idx="12"/>
          </p:nvPr>
        </p:nvSpPr>
        <p:spPr/>
        <p:txBody>
          <a:bodyPr/>
          <a:lstStyle/>
          <a:p>
            <a:fld id="{A1DCFAE8-8E9E-42B1-9A81-DFF72612FDA6}" type="slidenum">
              <a:rPr lang="en-IN" smtClean="0"/>
              <a:t>17</a:t>
            </a:fld>
            <a:endParaRPr lang="en-IN"/>
          </a:p>
        </p:txBody>
      </p:sp>
      <p:sp>
        <p:nvSpPr>
          <p:cNvPr id="6" name="TextBox 5">
            <a:extLst>
              <a:ext uri="{FF2B5EF4-FFF2-40B4-BE49-F238E27FC236}">
                <a16:creationId xmlns:a16="http://schemas.microsoft.com/office/drawing/2014/main" id="{B20BC0B0-8871-4BEB-196C-D2B8CAF9CBA8}"/>
              </a:ext>
            </a:extLst>
          </p:cNvPr>
          <p:cNvSpPr txBox="1"/>
          <p:nvPr/>
        </p:nvSpPr>
        <p:spPr>
          <a:xfrm>
            <a:off x="565104" y="933206"/>
            <a:ext cx="10442863" cy="5293757"/>
          </a:xfrm>
          <a:prstGeom prst="rect">
            <a:avLst/>
          </a:prstGeom>
          <a:noFill/>
        </p:spPr>
        <p:txBody>
          <a:bodyPr wrap="square">
            <a:spAutoFit/>
          </a:bodyPr>
          <a:lstStyle/>
          <a:p>
            <a:pPr>
              <a:lnSpc>
                <a:spcPct val="200000"/>
              </a:lnSpc>
            </a:pPr>
            <a:r>
              <a:rPr lang="en-US" sz="2000" dirty="0">
                <a:latin typeface="Arial" panose="020B0604020202020204" pitchFamily="34" charset="0"/>
                <a:cs typeface="Arial" panose="020B0604020202020204" pitchFamily="34" charset="0"/>
              </a:rPr>
              <a:t>The Cash Flow Statement (CFS) shows the actual inflow and outflow of cash in a company during a specific period.</a:t>
            </a: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Purpose of the Cash Flow Statement </a:t>
            </a:r>
          </a:p>
          <a:p>
            <a:pPr marL="285750" indent="-28575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Tracks cash inflows and outflows</a:t>
            </a:r>
          </a:p>
          <a:p>
            <a:pPr marL="285750" indent="-28575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Shows the company’s liquidity position</a:t>
            </a:r>
          </a:p>
          <a:p>
            <a:pPr marL="285750" indent="-28575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Highlights operating performance</a:t>
            </a:r>
          </a:p>
          <a:p>
            <a:pPr marL="285750" indent="-28575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Aids in financial decision-making</a:t>
            </a:r>
          </a:p>
          <a:p>
            <a:pPr marL="285750" indent="-28575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Reveals true cash health beyond profits</a:t>
            </a:r>
          </a:p>
          <a:p>
            <a:endParaRPr lang="en-IN" dirty="0"/>
          </a:p>
        </p:txBody>
      </p:sp>
      <p:pic>
        <p:nvPicPr>
          <p:cNvPr id="3074" name="Picture 2" descr="Generated image">
            <a:extLst>
              <a:ext uri="{FF2B5EF4-FFF2-40B4-BE49-F238E27FC236}">
                <a16:creationId xmlns:a16="http://schemas.microsoft.com/office/drawing/2014/main" id="{495EAE44-9A89-72E0-128C-51997DE82E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997442"/>
            <a:ext cx="4572000" cy="3534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7949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E2E1CA-9E95-4C19-645B-8F260F9245D3}"/>
              </a:ext>
            </a:extLst>
          </p:cNvPr>
          <p:cNvSpPr>
            <a:spLocks noGrp="1"/>
          </p:cNvSpPr>
          <p:nvPr>
            <p:ph type="sldNum" sz="quarter" idx="12"/>
          </p:nvPr>
        </p:nvSpPr>
        <p:spPr/>
        <p:txBody>
          <a:bodyPr/>
          <a:lstStyle/>
          <a:p>
            <a:fld id="{A1DCFAE8-8E9E-42B1-9A81-DFF72612FDA6}" type="slidenum">
              <a:rPr lang="en-IN" smtClean="0"/>
              <a:t>18</a:t>
            </a:fld>
            <a:endParaRPr lang="en-IN"/>
          </a:p>
        </p:txBody>
      </p:sp>
      <p:pic>
        <p:nvPicPr>
          <p:cNvPr id="2052" name="Picture 4" descr="Generated image">
            <a:extLst>
              <a:ext uri="{FF2B5EF4-FFF2-40B4-BE49-F238E27FC236}">
                <a16:creationId xmlns:a16="http://schemas.microsoft.com/office/drawing/2014/main" id="{0D8163EF-A05B-3592-DBF6-C78EEC497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1771" y="35169"/>
            <a:ext cx="57911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53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049B-E4EA-25B3-117F-9E655E00525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EF90FB7-F5A6-1C96-5FB8-8A71D968AD74}"/>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323F5F2C-171A-91F3-47F2-D9869DE35B6C}"/>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Cash Flow Statement </a:t>
            </a:r>
          </a:p>
        </p:txBody>
      </p:sp>
      <p:pic>
        <p:nvPicPr>
          <p:cNvPr id="7" name="Picture 6">
            <a:extLst>
              <a:ext uri="{FF2B5EF4-FFF2-40B4-BE49-F238E27FC236}">
                <a16:creationId xmlns:a16="http://schemas.microsoft.com/office/drawing/2014/main" id="{96C7B371-D7A9-5F11-7290-B1DEEC60C4C4}"/>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631E08FA-4D06-32DC-9115-382DB2A32FA9}"/>
              </a:ext>
            </a:extLst>
          </p:cNvPr>
          <p:cNvSpPr>
            <a:spLocks noGrp="1"/>
          </p:cNvSpPr>
          <p:nvPr>
            <p:ph type="sldNum" sz="quarter" idx="12"/>
          </p:nvPr>
        </p:nvSpPr>
        <p:spPr/>
        <p:txBody>
          <a:bodyPr/>
          <a:lstStyle/>
          <a:p>
            <a:fld id="{A1DCFAE8-8E9E-42B1-9A81-DFF72612FDA6}" type="slidenum">
              <a:rPr lang="en-IN" smtClean="0"/>
              <a:t>19</a:t>
            </a:fld>
            <a:endParaRPr lang="en-IN"/>
          </a:p>
        </p:txBody>
      </p:sp>
      <p:sp>
        <p:nvSpPr>
          <p:cNvPr id="6" name="TextBox 5">
            <a:extLst>
              <a:ext uri="{FF2B5EF4-FFF2-40B4-BE49-F238E27FC236}">
                <a16:creationId xmlns:a16="http://schemas.microsoft.com/office/drawing/2014/main" id="{85ABAD0D-FB4A-9D01-5B8C-C180C420EEE2}"/>
              </a:ext>
            </a:extLst>
          </p:cNvPr>
          <p:cNvSpPr txBox="1"/>
          <p:nvPr/>
        </p:nvSpPr>
        <p:spPr>
          <a:xfrm>
            <a:off x="679936" y="501650"/>
            <a:ext cx="10328031" cy="6152390"/>
          </a:xfrm>
          <a:prstGeom prst="rect">
            <a:avLst/>
          </a:prstGeom>
          <a:noFill/>
        </p:spPr>
        <p:txBody>
          <a:bodyPr wrap="square">
            <a:spAutoFit/>
          </a:bodyPr>
          <a:lstStyle/>
          <a:p>
            <a:pPr>
              <a:lnSpc>
                <a:spcPct val="200000"/>
              </a:lnSpc>
            </a:pPr>
            <a:r>
              <a:rPr lang="en-US" sz="2000" b="1" dirty="0">
                <a:latin typeface="Arial" panose="020B0604020202020204" pitchFamily="34" charset="0"/>
                <a:cs typeface="Arial" panose="020B0604020202020204" pitchFamily="34" charset="0"/>
              </a:rPr>
              <a:t>Cash Flow from Operating Activities (CFO)</a:t>
            </a:r>
          </a:p>
          <a:p>
            <a:pPr>
              <a:lnSpc>
                <a:spcPct val="200000"/>
              </a:lnSpc>
            </a:pPr>
            <a:r>
              <a:rPr lang="en-US" sz="2000" dirty="0">
                <a:latin typeface="Arial" panose="020B0604020202020204" pitchFamily="34" charset="0"/>
                <a:cs typeface="Arial" panose="020B0604020202020204" pitchFamily="34" charset="0"/>
              </a:rPr>
              <a:t>Core business operations include day-to-day revenue and expense transactions.</a:t>
            </a: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r>
              <a:rPr lang="en-US" sz="2000" dirty="0">
                <a:latin typeface="Arial" panose="020B0604020202020204" pitchFamily="34" charset="0"/>
                <a:cs typeface="Arial" panose="020B0604020202020204" pitchFamily="34" charset="0"/>
              </a:rPr>
              <a:t>Formula :</a:t>
            </a:r>
          </a:p>
          <a:p>
            <a:pPr>
              <a:lnSpc>
                <a:spcPct val="200000"/>
              </a:lnSpc>
            </a:pPr>
            <a:r>
              <a:rPr lang="en-US" sz="2000" dirty="0">
                <a:latin typeface="Arial" panose="020B0604020202020204" pitchFamily="34" charset="0"/>
                <a:cs typeface="Arial" panose="020B0604020202020204" pitchFamily="34" charset="0"/>
              </a:rPr>
              <a:t>CFO=Net Income + Non-Cash Expenses + Changes in Working Capital</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1A6894C-3506-7507-B3E1-61F412512198}"/>
              </a:ext>
            </a:extLst>
          </p:cNvPr>
          <p:cNvSpPr txBox="1"/>
          <p:nvPr/>
        </p:nvSpPr>
        <p:spPr>
          <a:xfrm>
            <a:off x="679932" y="2706471"/>
            <a:ext cx="4900251" cy="2459071"/>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Cash sales/collection from customers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Interest received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Dividends received (under some accounting standards</a:t>
            </a:r>
          </a:p>
        </p:txBody>
      </p:sp>
      <p:sp>
        <p:nvSpPr>
          <p:cNvPr id="8" name="TextBox 7">
            <a:extLst>
              <a:ext uri="{FF2B5EF4-FFF2-40B4-BE49-F238E27FC236}">
                <a16:creationId xmlns:a16="http://schemas.microsoft.com/office/drawing/2014/main" id="{10AFECC9-ACC0-F1AB-C8E3-BBAE09F6A51F}"/>
              </a:ext>
            </a:extLst>
          </p:cNvPr>
          <p:cNvSpPr txBox="1"/>
          <p:nvPr/>
        </p:nvSpPr>
        <p:spPr>
          <a:xfrm>
            <a:off x="7037803" y="2889034"/>
            <a:ext cx="4474265" cy="2459071"/>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Cash paid to suppliers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Salaries, rent, utilities</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Interest paid</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Taxes paid</a:t>
            </a:r>
          </a:p>
        </p:txBody>
      </p:sp>
      <p:sp>
        <p:nvSpPr>
          <p:cNvPr id="10" name="Rectangle 9">
            <a:extLst>
              <a:ext uri="{FF2B5EF4-FFF2-40B4-BE49-F238E27FC236}">
                <a16:creationId xmlns:a16="http://schemas.microsoft.com/office/drawing/2014/main" id="{164ABBF0-D454-EB5E-C80B-9F485F5C2A16}"/>
              </a:ext>
            </a:extLst>
          </p:cNvPr>
          <p:cNvSpPr/>
          <p:nvPr/>
        </p:nvSpPr>
        <p:spPr>
          <a:xfrm>
            <a:off x="679934" y="2149626"/>
            <a:ext cx="4018619"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Arial" panose="020B0604020202020204" pitchFamily="34" charset="0"/>
                <a:cs typeface="Arial" panose="020B0604020202020204" pitchFamily="34" charset="0"/>
              </a:rPr>
              <a:t>Inflow</a:t>
            </a:r>
            <a:r>
              <a:rPr lang="en-IN" sz="2800" b="1" dirty="0">
                <a:solidFill>
                  <a:schemeClr val="tx1"/>
                </a:solidFill>
                <a:latin typeface="Arial" panose="020B0604020202020204" pitchFamily="34" charset="0"/>
                <a:cs typeface="Arial" panose="020B0604020202020204" pitchFamily="34" charset="0"/>
              </a:rPr>
              <a:t>  </a:t>
            </a:r>
          </a:p>
        </p:txBody>
      </p:sp>
      <p:sp>
        <p:nvSpPr>
          <p:cNvPr id="11" name="Rectangle 10">
            <a:extLst>
              <a:ext uri="{FF2B5EF4-FFF2-40B4-BE49-F238E27FC236}">
                <a16:creationId xmlns:a16="http://schemas.microsoft.com/office/drawing/2014/main" id="{2AE33B1D-397F-91F9-03C7-DF9957F4B117}"/>
              </a:ext>
            </a:extLst>
          </p:cNvPr>
          <p:cNvSpPr/>
          <p:nvPr/>
        </p:nvSpPr>
        <p:spPr>
          <a:xfrm>
            <a:off x="6969850" y="2139761"/>
            <a:ext cx="4018619"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Arial" panose="020B0604020202020204" pitchFamily="34" charset="0"/>
                <a:cs typeface="Arial" panose="020B0604020202020204" pitchFamily="34" charset="0"/>
              </a:rPr>
              <a:t>Outflow</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73199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A99B1-B6B2-663B-0580-115376FEF17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5888FC9-65F5-9E32-7E97-2F558ECD51DB}"/>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6591C83-33FE-CA71-FED9-356D8E7402E1}"/>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Cash Flow Statement </a:t>
            </a:r>
          </a:p>
        </p:txBody>
      </p:sp>
      <p:pic>
        <p:nvPicPr>
          <p:cNvPr id="7" name="Picture 6">
            <a:extLst>
              <a:ext uri="{FF2B5EF4-FFF2-40B4-BE49-F238E27FC236}">
                <a16:creationId xmlns:a16="http://schemas.microsoft.com/office/drawing/2014/main" id="{B79B78AE-A194-11B5-2A96-BBE9F75B4F42}"/>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12ECAF74-8E7F-9BCF-C107-25544FDF564D}"/>
              </a:ext>
            </a:extLst>
          </p:cNvPr>
          <p:cNvSpPr>
            <a:spLocks noGrp="1"/>
          </p:cNvSpPr>
          <p:nvPr>
            <p:ph type="sldNum" sz="quarter" idx="12"/>
          </p:nvPr>
        </p:nvSpPr>
        <p:spPr/>
        <p:txBody>
          <a:bodyPr/>
          <a:lstStyle/>
          <a:p>
            <a:fld id="{A1DCFAE8-8E9E-42B1-9A81-DFF72612FDA6}" type="slidenum">
              <a:rPr lang="en-IN" smtClean="0"/>
              <a:t>20</a:t>
            </a:fld>
            <a:endParaRPr lang="en-IN"/>
          </a:p>
        </p:txBody>
      </p:sp>
      <p:sp>
        <p:nvSpPr>
          <p:cNvPr id="6" name="TextBox 5">
            <a:extLst>
              <a:ext uri="{FF2B5EF4-FFF2-40B4-BE49-F238E27FC236}">
                <a16:creationId xmlns:a16="http://schemas.microsoft.com/office/drawing/2014/main" id="{0D82EC6F-1704-2D77-4756-6151B329976F}"/>
              </a:ext>
            </a:extLst>
          </p:cNvPr>
          <p:cNvSpPr txBox="1"/>
          <p:nvPr/>
        </p:nvSpPr>
        <p:spPr>
          <a:xfrm>
            <a:off x="738021" y="693370"/>
            <a:ext cx="10442863" cy="6152390"/>
          </a:xfrm>
          <a:prstGeom prst="rect">
            <a:avLst/>
          </a:prstGeom>
          <a:noFill/>
        </p:spPr>
        <p:txBody>
          <a:bodyPr wrap="square">
            <a:spAutoFit/>
          </a:bodyPr>
          <a:lstStyle/>
          <a:p>
            <a:pPr>
              <a:lnSpc>
                <a:spcPct val="200000"/>
              </a:lnSpc>
            </a:pPr>
            <a:r>
              <a:rPr lang="en-US" sz="2000" b="1" dirty="0">
                <a:latin typeface="Arial" panose="020B0604020202020204" pitchFamily="34" charset="0"/>
                <a:cs typeface="Arial" panose="020B0604020202020204" pitchFamily="34" charset="0"/>
              </a:rPr>
              <a:t>Cash Flow from Investing Activities (CFI)</a:t>
            </a:r>
          </a:p>
          <a:p>
            <a:pPr>
              <a:lnSpc>
                <a:spcPct val="200000"/>
              </a:lnSpc>
            </a:pPr>
            <a:r>
              <a:rPr lang="en-US" sz="2000" dirty="0">
                <a:latin typeface="Arial" panose="020B0604020202020204" pitchFamily="34" charset="0"/>
                <a:cs typeface="Arial" panose="020B0604020202020204" pitchFamily="34" charset="0"/>
              </a:rPr>
              <a:t>Buying/selling assets or investments not related to day-to-day operations.</a:t>
            </a: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endParaRPr lang="en-US" sz="2000" dirty="0">
              <a:latin typeface="Arial" panose="020B0604020202020204" pitchFamily="34" charset="0"/>
              <a:cs typeface="Arial" panose="020B0604020202020204" pitchFamily="34" charset="0"/>
            </a:endParaRPr>
          </a:p>
          <a:p>
            <a:pPr>
              <a:lnSpc>
                <a:spcPct val="200000"/>
              </a:lnSpc>
            </a:pPr>
            <a:r>
              <a:rPr lang="en-US" sz="2000" dirty="0">
                <a:latin typeface="Arial" panose="020B0604020202020204" pitchFamily="34" charset="0"/>
                <a:cs typeface="Arial" panose="020B0604020202020204" pitchFamily="34" charset="0"/>
              </a:rPr>
              <a:t>Formula:</a:t>
            </a:r>
          </a:p>
          <a:p>
            <a:pPr>
              <a:lnSpc>
                <a:spcPct val="200000"/>
              </a:lnSpc>
            </a:pPr>
            <a:r>
              <a:rPr lang="en-US" sz="2000" dirty="0">
                <a:latin typeface="Arial" panose="020B0604020202020204" pitchFamily="34" charset="0"/>
                <a:cs typeface="Arial" panose="020B0604020202020204" pitchFamily="34" charset="0"/>
              </a:rPr>
              <a:t>CFI=Cash Inflows from Sale of Assets−Cash Outflows for Purchases</a:t>
            </a:r>
            <a:endParaRPr lang="en-IN" sz="20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B56FB8A-20F3-A54F-4625-9D70AE2374AB}"/>
              </a:ext>
            </a:extLst>
          </p:cNvPr>
          <p:cNvSpPr/>
          <p:nvPr/>
        </p:nvSpPr>
        <p:spPr>
          <a:xfrm>
            <a:off x="916796" y="2240198"/>
            <a:ext cx="4018619"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Arial" panose="020B0604020202020204" pitchFamily="34" charset="0"/>
                <a:cs typeface="Arial" panose="020B0604020202020204" pitchFamily="34" charset="0"/>
              </a:rPr>
              <a:t>Inflow</a:t>
            </a:r>
            <a:r>
              <a:rPr lang="en-IN" sz="2800" b="1" dirty="0">
                <a:solidFill>
                  <a:schemeClr val="tx1"/>
                </a:solidFill>
                <a:latin typeface="Arial" panose="020B0604020202020204" pitchFamily="34" charset="0"/>
                <a:cs typeface="Arial" panose="020B0604020202020204" pitchFamily="34" charset="0"/>
              </a:rPr>
              <a:t>  </a:t>
            </a:r>
          </a:p>
        </p:txBody>
      </p:sp>
      <p:sp>
        <p:nvSpPr>
          <p:cNvPr id="8" name="Rectangle 7">
            <a:extLst>
              <a:ext uri="{FF2B5EF4-FFF2-40B4-BE49-F238E27FC236}">
                <a16:creationId xmlns:a16="http://schemas.microsoft.com/office/drawing/2014/main" id="{44ED4341-F1F8-A992-156E-701EB552BA2B}"/>
              </a:ext>
            </a:extLst>
          </p:cNvPr>
          <p:cNvSpPr/>
          <p:nvPr/>
        </p:nvSpPr>
        <p:spPr>
          <a:xfrm>
            <a:off x="6809554" y="2212204"/>
            <a:ext cx="4018619"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Arial" panose="020B0604020202020204" pitchFamily="34" charset="0"/>
                <a:cs typeface="Arial" panose="020B0604020202020204" pitchFamily="34" charset="0"/>
              </a:rPr>
              <a:t>Outflow </a:t>
            </a:r>
            <a:r>
              <a:rPr lang="en-IN" sz="2800" b="1" dirty="0">
                <a:solidFill>
                  <a:schemeClr val="tx1"/>
                </a:solidFill>
                <a:latin typeface="Arial" panose="020B0604020202020204" pitchFamily="34" charset="0"/>
                <a:cs typeface="Arial" panose="020B0604020202020204" pitchFamily="34" charset="0"/>
              </a:rPr>
              <a:t>  </a:t>
            </a:r>
          </a:p>
        </p:txBody>
      </p:sp>
      <p:sp>
        <p:nvSpPr>
          <p:cNvPr id="9" name="TextBox 8">
            <a:extLst>
              <a:ext uri="{FF2B5EF4-FFF2-40B4-BE49-F238E27FC236}">
                <a16:creationId xmlns:a16="http://schemas.microsoft.com/office/drawing/2014/main" id="{2FBA6362-8CE8-82F1-E805-35631FA6CB77}"/>
              </a:ext>
            </a:extLst>
          </p:cNvPr>
          <p:cNvSpPr txBox="1"/>
          <p:nvPr/>
        </p:nvSpPr>
        <p:spPr>
          <a:xfrm>
            <a:off x="1008183" y="3008031"/>
            <a:ext cx="4829910" cy="2459071"/>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Sale of property, equipment, land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Sale of long-term investments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Sales of subsidiaries/assets </a:t>
            </a:r>
          </a:p>
          <a:p>
            <a:pPr>
              <a:lnSpc>
                <a:spcPct val="200000"/>
              </a:lnSpc>
            </a:pPr>
            <a:endParaRPr lang="en-US" sz="2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6E8942F3-38A8-D639-B6AD-819E1274FD4D}"/>
              </a:ext>
            </a:extLst>
          </p:cNvPr>
          <p:cNvSpPr txBox="1"/>
          <p:nvPr/>
        </p:nvSpPr>
        <p:spPr>
          <a:xfrm>
            <a:off x="6591786" y="2850170"/>
            <a:ext cx="4416182" cy="3074624"/>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Purchases of property, plant, equipment (capex)</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Investment in stocks, bonds, or subsidiaries</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Loans/advances given</a:t>
            </a:r>
          </a:p>
        </p:txBody>
      </p:sp>
    </p:spTree>
    <p:extLst>
      <p:ext uri="{BB962C8B-B14F-4D97-AF65-F5344CB8AC3E}">
        <p14:creationId xmlns:p14="http://schemas.microsoft.com/office/powerpoint/2010/main" val="2204611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86E2F-8C68-A525-69FB-DDA7CCD797B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51E8A6-326C-C80B-B377-9CDF4F2EAEED}"/>
              </a:ext>
            </a:extLst>
          </p:cNvPr>
          <p:cNvSpPr>
            <a:spLocks noGrp="1"/>
          </p:cNvSpPr>
          <p:nvPr>
            <p:ph type="subTitle" idx="1"/>
          </p:nvPr>
        </p:nvSpPr>
        <p:spPr>
          <a:xfrm>
            <a:off x="679937" y="933206"/>
            <a:ext cx="10328031" cy="1227965"/>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B571BF5-6432-DC53-B66D-F4C8D8D74F99}"/>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Cash Flow Statement </a:t>
            </a:r>
          </a:p>
        </p:txBody>
      </p:sp>
      <p:pic>
        <p:nvPicPr>
          <p:cNvPr id="7" name="Picture 6">
            <a:extLst>
              <a:ext uri="{FF2B5EF4-FFF2-40B4-BE49-F238E27FC236}">
                <a16:creationId xmlns:a16="http://schemas.microsoft.com/office/drawing/2014/main" id="{3F0199F0-FDC5-5CEF-6260-7367849BCBF4}"/>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B1DA4C3E-9299-04AE-86CD-C2EE82123BA6}"/>
              </a:ext>
            </a:extLst>
          </p:cNvPr>
          <p:cNvSpPr>
            <a:spLocks noGrp="1"/>
          </p:cNvSpPr>
          <p:nvPr>
            <p:ph type="sldNum" sz="quarter" idx="12"/>
          </p:nvPr>
        </p:nvSpPr>
        <p:spPr/>
        <p:txBody>
          <a:bodyPr/>
          <a:lstStyle/>
          <a:p>
            <a:fld id="{A1DCFAE8-8E9E-42B1-9A81-DFF72612FDA6}" type="slidenum">
              <a:rPr lang="en-IN" smtClean="0"/>
              <a:t>21</a:t>
            </a:fld>
            <a:endParaRPr lang="en-IN"/>
          </a:p>
        </p:txBody>
      </p:sp>
      <p:sp>
        <p:nvSpPr>
          <p:cNvPr id="6" name="TextBox 5">
            <a:extLst>
              <a:ext uri="{FF2B5EF4-FFF2-40B4-BE49-F238E27FC236}">
                <a16:creationId xmlns:a16="http://schemas.microsoft.com/office/drawing/2014/main" id="{2DA6B5BE-15D8-E571-ED7D-06925416335D}"/>
              </a:ext>
            </a:extLst>
          </p:cNvPr>
          <p:cNvSpPr txBox="1"/>
          <p:nvPr/>
        </p:nvSpPr>
        <p:spPr>
          <a:xfrm>
            <a:off x="565104" y="933206"/>
            <a:ext cx="10442863" cy="369332"/>
          </a:xfrm>
          <a:prstGeom prst="rect">
            <a:avLst/>
          </a:prstGeom>
          <a:noFill/>
        </p:spPr>
        <p:txBody>
          <a:bodyPr wrap="square">
            <a:spAutoFit/>
          </a:bodyPr>
          <a:lstStyle/>
          <a:p>
            <a:endParaRPr lang="en-IN" dirty="0"/>
          </a:p>
        </p:txBody>
      </p:sp>
      <p:sp>
        <p:nvSpPr>
          <p:cNvPr id="8" name="TextBox 7">
            <a:extLst>
              <a:ext uri="{FF2B5EF4-FFF2-40B4-BE49-F238E27FC236}">
                <a16:creationId xmlns:a16="http://schemas.microsoft.com/office/drawing/2014/main" id="{AFDE6900-9667-4B61-7E8E-F262CCC0A7B9}"/>
              </a:ext>
            </a:extLst>
          </p:cNvPr>
          <p:cNvSpPr txBox="1"/>
          <p:nvPr/>
        </p:nvSpPr>
        <p:spPr>
          <a:xfrm>
            <a:off x="660439" y="933206"/>
            <a:ext cx="10367025" cy="1227965"/>
          </a:xfrm>
          <a:prstGeom prst="rect">
            <a:avLst/>
          </a:prstGeom>
          <a:noFill/>
        </p:spPr>
        <p:txBody>
          <a:bodyPr wrap="square">
            <a:spAutoFit/>
          </a:bodyPr>
          <a:lstStyle/>
          <a:p>
            <a:pPr>
              <a:lnSpc>
                <a:spcPct val="200000"/>
              </a:lnSpc>
              <a:buNone/>
            </a:pPr>
            <a:r>
              <a:rPr lang="en-US" sz="2000" b="1" dirty="0">
                <a:latin typeface="Arial" panose="020B0604020202020204" pitchFamily="34" charset="0"/>
                <a:cs typeface="Arial" panose="020B0604020202020204" pitchFamily="34" charset="0"/>
              </a:rPr>
              <a:t>Cash Flow from Financing Activities (CFF)</a:t>
            </a:r>
          </a:p>
          <a:p>
            <a:pPr>
              <a:lnSpc>
                <a:spcPct val="200000"/>
              </a:lnSpc>
              <a:buNone/>
            </a:pPr>
            <a:r>
              <a:rPr lang="en-US" sz="2000" dirty="0">
                <a:latin typeface="Arial" panose="020B0604020202020204" pitchFamily="34" charset="0"/>
                <a:cs typeface="Arial" panose="020B0604020202020204" pitchFamily="34" charset="0"/>
              </a:rPr>
              <a:t>Raising or repaying capital and loans.</a:t>
            </a:r>
          </a:p>
        </p:txBody>
      </p:sp>
      <p:sp>
        <p:nvSpPr>
          <p:cNvPr id="10" name="TextBox 9">
            <a:extLst>
              <a:ext uri="{FF2B5EF4-FFF2-40B4-BE49-F238E27FC236}">
                <a16:creationId xmlns:a16="http://schemas.microsoft.com/office/drawing/2014/main" id="{B14B9D58-AB85-5D94-5DE0-D5218F6DDD00}"/>
              </a:ext>
            </a:extLst>
          </p:cNvPr>
          <p:cNvSpPr txBox="1"/>
          <p:nvPr/>
        </p:nvSpPr>
        <p:spPr>
          <a:xfrm>
            <a:off x="828389" y="3178748"/>
            <a:ext cx="4829910" cy="1227965"/>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Issuing shares (equity financing)</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Barrowing (bank loans, bonds</a:t>
            </a:r>
          </a:p>
        </p:txBody>
      </p:sp>
      <p:sp>
        <p:nvSpPr>
          <p:cNvPr id="11" name="TextBox 10">
            <a:extLst>
              <a:ext uri="{FF2B5EF4-FFF2-40B4-BE49-F238E27FC236}">
                <a16:creationId xmlns:a16="http://schemas.microsoft.com/office/drawing/2014/main" id="{234505CA-7B82-06D9-C64C-833CB5EB74A1}"/>
              </a:ext>
            </a:extLst>
          </p:cNvPr>
          <p:cNvSpPr txBox="1"/>
          <p:nvPr/>
        </p:nvSpPr>
        <p:spPr>
          <a:xfrm>
            <a:off x="6648535" y="2865588"/>
            <a:ext cx="4474265" cy="184351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Repayment of loans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Dividend payments </a:t>
            </a:r>
          </a:p>
          <a:p>
            <a:pPr marL="342900" indent="-3429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Shares buybacks.</a:t>
            </a:r>
          </a:p>
        </p:txBody>
      </p:sp>
      <p:sp>
        <p:nvSpPr>
          <p:cNvPr id="14" name="TextBox 13">
            <a:extLst>
              <a:ext uri="{FF2B5EF4-FFF2-40B4-BE49-F238E27FC236}">
                <a16:creationId xmlns:a16="http://schemas.microsoft.com/office/drawing/2014/main" id="{E55F9ABE-D05E-CBEF-BF3C-F7013F81EEE7}"/>
              </a:ext>
            </a:extLst>
          </p:cNvPr>
          <p:cNvSpPr txBox="1"/>
          <p:nvPr/>
        </p:nvSpPr>
        <p:spPr>
          <a:xfrm>
            <a:off x="914400" y="5015312"/>
            <a:ext cx="10113064" cy="958660"/>
          </a:xfrm>
          <a:prstGeom prst="rect">
            <a:avLst/>
          </a:prstGeom>
          <a:noFill/>
        </p:spPr>
        <p:txBody>
          <a:bodyPr wrap="square">
            <a:spAutoFit/>
          </a:bodyPr>
          <a:lstStyle/>
          <a:p>
            <a:pPr>
              <a:lnSpc>
                <a:spcPct val="150000"/>
              </a:lnSpc>
            </a:pPr>
            <a:r>
              <a:rPr lang="en-US" sz="2000" dirty="0">
                <a:latin typeface="Arial" panose="020B0604020202020204" pitchFamily="34" charset="0"/>
                <a:cs typeface="Arial" panose="020B0604020202020204" pitchFamily="34" charset="0"/>
              </a:rPr>
              <a:t>CFF=(Proceeds from Issuing Shares + Proceeds from Borrowings)− (Loan Repayments + Dividend Payments + Share Buyback)</a:t>
            </a:r>
            <a:endParaRPr lang="en-IN" sz="20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4872DDD-A0D5-351A-779E-AA289C0AE27A}"/>
              </a:ext>
            </a:extLst>
          </p:cNvPr>
          <p:cNvSpPr/>
          <p:nvPr/>
        </p:nvSpPr>
        <p:spPr>
          <a:xfrm>
            <a:off x="1010581" y="2451186"/>
            <a:ext cx="4018619"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Arial" panose="020B0604020202020204" pitchFamily="34" charset="0"/>
                <a:cs typeface="Arial" panose="020B0604020202020204" pitchFamily="34" charset="0"/>
              </a:rPr>
              <a:t>Inflow</a:t>
            </a:r>
            <a:r>
              <a:rPr lang="en-IN" sz="2800" b="1" dirty="0">
                <a:solidFill>
                  <a:schemeClr val="tx1"/>
                </a:solidFill>
                <a:latin typeface="Arial" panose="020B0604020202020204" pitchFamily="34" charset="0"/>
                <a:cs typeface="Arial" panose="020B0604020202020204" pitchFamily="34" charset="0"/>
              </a:rPr>
              <a:t>  </a:t>
            </a:r>
          </a:p>
        </p:txBody>
      </p:sp>
      <p:sp>
        <p:nvSpPr>
          <p:cNvPr id="16" name="Rectangle 15">
            <a:extLst>
              <a:ext uri="{FF2B5EF4-FFF2-40B4-BE49-F238E27FC236}">
                <a16:creationId xmlns:a16="http://schemas.microsoft.com/office/drawing/2014/main" id="{61EAFF16-8C7A-442B-5171-20E91A85C43F}"/>
              </a:ext>
            </a:extLst>
          </p:cNvPr>
          <p:cNvSpPr/>
          <p:nvPr/>
        </p:nvSpPr>
        <p:spPr>
          <a:xfrm>
            <a:off x="6353908" y="2451186"/>
            <a:ext cx="4018619"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Arial" panose="020B0604020202020204" pitchFamily="34" charset="0"/>
                <a:cs typeface="Arial" panose="020B0604020202020204" pitchFamily="34" charset="0"/>
              </a:rPr>
              <a:t>Outflow </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64665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83D9B-D4F7-3910-D0E1-010AADE43AA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E9C97E-A654-4555-401E-04898EC6EA9A}"/>
              </a:ext>
            </a:extLst>
          </p:cNvPr>
          <p:cNvSpPr>
            <a:spLocks noGrp="1"/>
          </p:cNvSpPr>
          <p:nvPr>
            <p:ph type="subTitle" idx="1"/>
          </p:nvPr>
        </p:nvSpPr>
        <p:spPr>
          <a:xfrm>
            <a:off x="679937" y="933206"/>
            <a:ext cx="10328031" cy="5423144"/>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A347346-4550-2103-A57A-961905367484}"/>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Cash Flow Statement </a:t>
            </a:r>
          </a:p>
        </p:txBody>
      </p:sp>
      <p:pic>
        <p:nvPicPr>
          <p:cNvPr id="7" name="Picture 6">
            <a:extLst>
              <a:ext uri="{FF2B5EF4-FFF2-40B4-BE49-F238E27FC236}">
                <a16:creationId xmlns:a16="http://schemas.microsoft.com/office/drawing/2014/main" id="{99E5A2A3-A294-8AC9-1D13-BBF2ED7B6A86}"/>
              </a:ext>
            </a:extLst>
          </p:cNvPr>
          <p:cNvPicPr>
            <a:picLocks noChangeAspect="1"/>
          </p:cNvPicPr>
          <p:nvPr/>
        </p:nvPicPr>
        <p:blipFill>
          <a:blip r:embed="rId2"/>
          <a:stretch>
            <a:fillRect/>
          </a:stretch>
        </p:blipFill>
        <p:spPr>
          <a:xfrm>
            <a:off x="11122800" y="45904"/>
            <a:ext cx="966091" cy="887302"/>
          </a:xfrm>
          <a:prstGeom prst="rect">
            <a:avLst/>
          </a:prstGeom>
        </p:spPr>
      </p:pic>
      <p:sp>
        <p:nvSpPr>
          <p:cNvPr id="2" name="Slide Number Placeholder 1">
            <a:extLst>
              <a:ext uri="{FF2B5EF4-FFF2-40B4-BE49-F238E27FC236}">
                <a16:creationId xmlns:a16="http://schemas.microsoft.com/office/drawing/2014/main" id="{D0E81BDE-7B58-9B76-8488-A725370114C1}"/>
              </a:ext>
            </a:extLst>
          </p:cNvPr>
          <p:cNvSpPr>
            <a:spLocks noGrp="1"/>
          </p:cNvSpPr>
          <p:nvPr>
            <p:ph type="sldNum" sz="quarter" idx="12"/>
          </p:nvPr>
        </p:nvSpPr>
        <p:spPr/>
        <p:txBody>
          <a:bodyPr/>
          <a:lstStyle/>
          <a:p>
            <a:fld id="{A1DCFAE8-8E9E-42B1-9A81-DFF72612FDA6}" type="slidenum">
              <a:rPr lang="en-IN" smtClean="0"/>
              <a:t>22</a:t>
            </a:fld>
            <a:endParaRPr lang="en-IN"/>
          </a:p>
        </p:txBody>
      </p:sp>
      <p:sp>
        <p:nvSpPr>
          <p:cNvPr id="6" name="TextBox 5">
            <a:extLst>
              <a:ext uri="{FF2B5EF4-FFF2-40B4-BE49-F238E27FC236}">
                <a16:creationId xmlns:a16="http://schemas.microsoft.com/office/drawing/2014/main" id="{28B3613F-CCF3-170A-5913-12DF40A9E927}"/>
              </a:ext>
            </a:extLst>
          </p:cNvPr>
          <p:cNvSpPr txBox="1"/>
          <p:nvPr/>
        </p:nvSpPr>
        <p:spPr>
          <a:xfrm>
            <a:off x="565104" y="933206"/>
            <a:ext cx="10442863" cy="369332"/>
          </a:xfrm>
          <a:prstGeom prst="rect">
            <a:avLst/>
          </a:prstGeom>
          <a:noFill/>
        </p:spPr>
        <p:txBody>
          <a:bodyPr wrap="square">
            <a:spAutoFit/>
          </a:bodyPr>
          <a:lstStyle/>
          <a:p>
            <a:endParaRPr lang="en-IN" dirty="0"/>
          </a:p>
        </p:txBody>
      </p:sp>
      <p:sp>
        <p:nvSpPr>
          <p:cNvPr id="13" name="TextBox 12">
            <a:extLst>
              <a:ext uri="{FF2B5EF4-FFF2-40B4-BE49-F238E27FC236}">
                <a16:creationId xmlns:a16="http://schemas.microsoft.com/office/drawing/2014/main" id="{267F2DD9-A595-E55B-B186-2A1AAE8C4802}"/>
              </a:ext>
            </a:extLst>
          </p:cNvPr>
          <p:cNvSpPr txBox="1"/>
          <p:nvPr/>
        </p:nvSpPr>
        <p:spPr>
          <a:xfrm>
            <a:off x="3501069" y="810152"/>
            <a:ext cx="5189862" cy="5546198"/>
          </a:xfrm>
          <a:prstGeom prst="rect">
            <a:avLst/>
          </a:prstGeom>
          <a:noFill/>
          <a:ln>
            <a:solidFill>
              <a:schemeClr val="tx1"/>
            </a:solidFill>
          </a:ln>
        </p:spPr>
        <p:txBody>
          <a:bodyPr wrap="square">
            <a:spAutoFit/>
          </a:bodyPr>
          <a:lstStyle/>
          <a:p>
            <a:pPr lvl="0" algn="just">
              <a:lnSpc>
                <a:spcPct val="150000"/>
              </a:lnSpc>
              <a:defRPr/>
            </a:pPr>
            <a:r>
              <a:rPr lang="en-US" sz="1400" dirty="0">
                <a:solidFill>
                  <a:prstClr val="black"/>
                </a:solidFill>
                <a:latin typeface="Arial" panose="020B0604020202020204" pitchFamily="34" charset="0"/>
                <a:cs typeface="Arial" panose="020B0604020202020204" pitchFamily="34" charset="0"/>
              </a:rPr>
              <a:t>                                     </a:t>
            </a:r>
            <a:r>
              <a:rPr lang="en-US" sz="1500" b="1" dirty="0">
                <a:solidFill>
                  <a:prstClr val="black"/>
                </a:solidFill>
                <a:latin typeface="Arial" panose="020B0604020202020204" pitchFamily="34" charset="0"/>
                <a:cs typeface="Arial" panose="020B0604020202020204" pitchFamily="34" charset="0"/>
              </a:rPr>
              <a:t>INFOSYS LIMITED </a:t>
            </a:r>
          </a:p>
          <a:p>
            <a:pPr marR="0" lvl="0" algn="just" defTabSz="914400" rtl="0" eaLnBrk="1" fontAlgn="auto" latinLnBrk="0" hangingPunct="1">
              <a:lnSpc>
                <a:spcPct val="150000"/>
              </a:lnSpc>
              <a:spcBef>
                <a:spcPts val="0"/>
              </a:spcBef>
              <a:spcAft>
                <a:spcPts val="0"/>
              </a:spcAft>
              <a:buClrTx/>
              <a:buSzTx/>
              <a:tabLst/>
              <a:defRPr/>
            </a:pPr>
            <a:r>
              <a:rPr lang="en-US" sz="1500" dirty="0">
                <a:solidFill>
                  <a:prstClr val="black"/>
                </a:solidFill>
                <a:latin typeface="Arial" panose="020B0604020202020204" pitchFamily="34" charset="0"/>
                <a:cs typeface="Arial" panose="020B0604020202020204" pitchFamily="34" charset="0"/>
              </a:rPr>
              <a:t>                                  </a:t>
            </a:r>
            <a:r>
              <a:rPr lang="en-US" sz="1500" b="1" dirty="0">
                <a:solidFill>
                  <a:prstClr val="black"/>
                </a:solidFill>
                <a:latin typeface="Arial" panose="020B0604020202020204" pitchFamily="34" charset="0"/>
                <a:cs typeface="Arial" panose="020B0604020202020204" pitchFamily="34" charset="0"/>
              </a:rPr>
              <a:t>Cash Flow Statement  </a:t>
            </a:r>
          </a:p>
          <a:p>
            <a:pPr marR="0" lvl="0" algn="just"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lang="en-US" sz="1400" dirty="0">
                <a:solidFill>
                  <a:prstClr val="black"/>
                </a:solidFill>
                <a:latin typeface="Arial" panose="020B0604020202020204" pitchFamily="34" charset="0"/>
                <a:cs typeface="Arial" panose="020B0604020202020204" pitchFamily="34" charset="0"/>
              </a:rPr>
              <a:t>                                                          31 March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20YY(in crore)</a:t>
            </a:r>
          </a:p>
          <a:p>
            <a:pPr marR="0" lvl="0" algn="just"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CASH FLOW FROM OPERATIONS</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Net Earnings                                                         2,000,000   </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Additions to Cash                                              </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Depreciations                                                        10,000</a:t>
            </a:r>
          </a:p>
          <a:p>
            <a:pPr marR="0" lvl="0" algn="just"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Depreciations in Accounts Receivable                   15,000</a:t>
            </a:r>
          </a:p>
          <a:p>
            <a:pPr marR="0" lvl="0"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Increase in Accounts Payable                                 2,000                                                                                              </a:t>
            </a:r>
          </a:p>
          <a:p>
            <a:pPr marR="0" lvl="0" defTabSz="914400" rtl="0" eaLnBrk="1" fontAlgn="auto" latinLnBrk="0" hangingPunct="1">
              <a:lnSpc>
                <a:spcPct val="150000"/>
              </a:lnSpc>
              <a:spcBef>
                <a:spcPts val="0"/>
              </a:spcBef>
              <a:spcAft>
                <a:spcPts val="0"/>
              </a:spcAft>
              <a:buClrTx/>
              <a:buSzTx/>
              <a:tabLst/>
              <a:defRPr/>
            </a:pPr>
            <a:r>
              <a:rPr lang="en-US" sz="1400" b="1" dirty="0">
                <a:solidFill>
                  <a:prstClr val="black"/>
                </a:solidFill>
                <a:latin typeface="Arial" panose="020B0604020202020204" pitchFamily="34" charset="0"/>
                <a:cs typeface="Arial" panose="020B0604020202020204" pitchFamily="34" charset="0"/>
              </a:rPr>
              <a:t>Subtractions From Cash                                                 </a:t>
            </a:r>
          </a:p>
          <a:p>
            <a:pPr marR="0" lvl="0"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Increase in Inventory                                              30,000</a:t>
            </a:r>
          </a:p>
          <a:p>
            <a:pPr marR="0" lvl="0" defTabSz="914400" rtl="0" eaLnBrk="1" fontAlgn="auto" latinLnBrk="0" hangingPunct="1">
              <a:lnSpc>
                <a:spcPct val="150000"/>
              </a:lnSpc>
              <a:spcBef>
                <a:spcPts val="0"/>
              </a:spcBef>
              <a:spcAft>
                <a:spcPts val="0"/>
              </a:spcAft>
              <a:buClrTx/>
              <a:buSzTx/>
              <a:tabLst/>
              <a:defRPr/>
            </a:pPr>
            <a:r>
              <a:rPr lang="en-US" sz="1400" dirty="0">
                <a:solidFill>
                  <a:prstClr val="black"/>
                </a:solidFill>
                <a:latin typeface="Arial" panose="020B0604020202020204" pitchFamily="34" charset="0"/>
                <a:cs typeface="Arial" panose="020B0604020202020204" pitchFamily="34" charset="0"/>
              </a:rPr>
              <a:t>Net Cash From Operations                                    2,012,000</a:t>
            </a:r>
          </a:p>
          <a:p>
            <a:pPr algn="just">
              <a:lnSpc>
                <a:spcPct val="150000"/>
              </a:lnSpc>
              <a:defRPr/>
            </a:pPr>
            <a:r>
              <a:rPr lang="en-US" sz="1400" b="1" dirty="0">
                <a:solidFill>
                  <a:prstClr val="black"/>
                </a:solidFill>
                <a:latin typeface="Arial" panose="020B0604020202020204" pitchFamily="34" charset="0"/>
                <a:cs typeface="Arial" panose="020B0604020202020204" pitchFamily="34" charset="0"/>
              </a:rPr>
              <a:t>CASH FLOW FROM INVESTING </a:t>
            </a:r>
          </a:p>
          <a:p>
            <a:pPr algn="just">
              <a:lnSpc>
                <a:spcPct val="150000"/>
              </a:lnSpc>
              <a:defRPr/>
            </a:pPr>
            <a:r>
              <a:rPr lang="en-US" sz="1400" dirty="0">
                <a:solidFill>
                  <a:prstClr val="black"/>
                </a:solidFill>
                <a:latin typeface="Arial" panose="020B0604020202020204" pitchFamily="34" charset="0"/>
                <a:cs typeface="Arial" panose="020B0604020202020204" pitchFamily="34" charset="0"/>
              </a:rPr>
              <a:t>Equipment                                                              500,000</a:t>
            </a:r>
          </a:p>
          <a:p>
            <a:pPr algn="just">
              <a:lnSpc>
                <a:spcPct val="150000"/>
              </a:lnSpc>
              <a:defRPr/>
            </a:pPr>
            <a:r>
              <a:rPr lang="en-US" sz="1400" b="1" dirty="0">
                <a:solidFill>
                  <a:prstClr val="black"/>
                </a:solidFill>
                <a:latin typeface="Arial" panose="020B0604020202020204" pitchFamily="34" charset="0"/>
                <a:cs typeface="Arial" panose="020B0604020202020204" pitchFamily="34" charset="0"/>
              </a:rPr>
              <a:t>CASH FLOW FROM FINANCING </a:t>
            </a:r>
          </a:p>
          <a:p>
            <a:pPr algn="just">
              <a:lnSpc>
                <a:spcPct val="150000"/>
              </a:lnSpc>
              <a:defRPr/>
            </a:pPr>
            <a:r>
              <a:rPr lang="en-US" sz="1400" dirty="0">
                <a:solidFill>
                  <a:prstClr val="black"/>
                </a:solidFill>
                <a:latin typeface="Arial" panose="020B0604020202020204" pitchFamily="34" charset="0"/>
                <a:cs typeface="Arial" panose="020B0604020202020204" pitchFamily="34" charset="0"/>
              </a:rPr>
              <a:t>Notes Payable                                                          10,000</a:t>
            </a:r>
          </a:p>
          <a:p>
            <a:pPr algn="just">
              <a:lnSpc>
                <a:spcPct val="150000"/>
              </a:lnSpc>
              <a:defRPr/>
            </a:pPr>
            <a:r>
              <a:rPr lang="en-US" sz="1400" b="1" dirty="0">
                <a:solidFill>
                  <a:prstClr val="black"/>
                </a:solidFill>
                <a:latin typeface="Arial" panose="020B0604020202020204" pitchFamily="34" charset="0"/>
                <a:cs typeface="Arial" panose="020B0604020202020204" pitchFamily="34" charset="0"/>
              </a:rPr>
              <a:t>Cash Flow For FY Ended 21 Dec 20YY                 1,522,000</a:t>
            </a:r>
          </a:p>
        </p:txBody>
      </p:sp>
    </p:spTree>
    <p:extLst>
      <p:ext uri="{BB962C8B-B14F-4D97-AF65-F5344CB8AC3E}">
        <p14:creationId xmlns:p14="http://schemas.microsoft.com/office/powerpoint/2010/main" val="920180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B16FDD-7473-CB97-2174-2ACAFF9978A4}"/>
              </a:ext>
            </a:extLst>
          </p:cNvPr>
          <p:cNvSpPr>
            <a:spLocks noGrp="1"/>
          </p:cNvSpPr>
          <p:nvPr>
            <p:ph type="sldNum" sz="quarter" idx="12"/>
          </p:nvPr>
        </p:nvSpPr>
        <p:spPr/>
        <p:txBody>
          <a:bodyPr/>
          <a:lstStyle/>
          <a:p>
            <a:fld id="{A1DCFAE8-8E9E-42B1-9A81-DFF72612FDA6}" type="slidenum">
              <a:rPr lang="en-IN" smtClean="0"/>
              <a:t>23</a:t>
            </a:fld>
            <a:endParaRPr lang="en-IN"/>
          </a:p>
        </p:txBody>
      </p:sp>
      <p:pic>
        <p:nvPicPr>
          <p:cNvPr id="3074" name="Picture 2" descr="Generated image">
            <a:extLst>
              <a:ext uri="{FF2B5EF4-FFF2-40B4-BE49-F238E27FC236}">
                <a16:creationId xmlns:a16="http://schemas.microsoft.com/office/drawing/2014/main" id="{3BA7516A-E304-049F-3B13-CCDA1EDAF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0"/>
            <a:ext cx="10287000" cy="6471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41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99EB3A-1BE2-C8C8-060B-6E3B01901061}"/>
              </a:ext>
            </a:extLst>
          </p:cNvPr>
          <p:cNvSpPr>
            <a:spLocks noGrp="1"/>
          </p:cNvSpPr>
          <p:nvPr>
            <p:ph type="sldNum" sz="quarter" idx="12"/>
          </p:nvPr>
        </p:nvSpPr>
        <p:spPr/>
        <p:txBody>
          <a:bodyPr/>
          <a:lstStyle/>
          <a:p>
            <a:fld id="{A1DCFAE8-8E9E-42B1-9A81-DFF72612FDA6}" type="slidenum">
              <a:rPr lang="en-IN" smtClean="0"/>
              <a:t>24</a:t>
            </a:fld>
            <a:endParaRPr lang="en-IN"/>
          </a:p>
        </p:txBody>
      </p:sp>
      <p:pic>
        <p:nvPicPr>
          <p:cNvPr id="5122" name="Picture 2" descr="Generated image">
            <a:extLst>
              <a:ext uri="{FF2B5EF4-FFF2-40B4-BE49-F238E27FC236}">
                <a16:creationId xmlns:a16="http://schemas.microsoft.com/office/drawing/2014/main" id="{F31596E7-382C-CD73-AA7E-AD8EC918F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0677" y="609600"/>
            <a:ext cx="4572000" cy="5169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435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C1591D-3942-4236-A7B7-73B6E06DDE82}"/>
              </a:ext>
            </a:extLst>
          </p:cNvPr>
          <p:cNvSpPr>
            <a:spLocks noGrp="1"/>
          </p:cNvSpPr>
          <p:nvPr>
            <p:ph idx="1"/>
          </p:nvPr>
        </p:nvSpPr>
        <p:spPr>
          <a:xfrm>
            <a:off x="756139" y="800099"/>
            <a:ext cx="5703277" cy="4718539"/>
          </a:xfrm>
        </p:spPr>
        <p:txBody>
          <a:bodyPr>
            <a:normAutofit/>
          </a:bodyPr>
          <a:lstStyle/>
          <a:p>
            <a:pPr marL="0" indent="0" algn="just">
              <a:lnSpc>
                <a:spcPct val="150000"/>
              </a:lnSpc>
              <a:buNone/>
            </a:pPr>
            <a:r>
              <a:rPr lang="en-US" sz="2200" b="1" i="1" dirty="0">
                <a:latin typeface="Arial" panose="020B0604020202020204" pitchFamily="34" charset="0"/>
                <a:cs typeface="Arial" panose="020B0604020202020204" pitchFamily="34" charset="0"/>
              </a:rPr>
              <a:t>Imagine three friends Income Statement, Balance Sheet, and Cash Flow go on a road trip. One keeps bragging about how rich they are, one quietly writes down who owns the car and who owes the bank, and one checks the fuel tank to see if the trip can continue. Who is who and why?</a:t>
            </a:r>
            <a:endParaRPr lang="en-IN" sz="2200" b="1" i="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0D66D2B-CDB0-7903-4A78-78A5FCAEB41B}"/>
              </a:ext>
            </a:extLst>
          </p:cNvPr>
          <p:cNvSpPr>
            <a:spLocks noGrp="1"/>
          </p:cNvSpPr>
          <p:nvPr>
            <p:ph type="sldNum" sz="quarter" idx="12"/>
          </p:nvPr>
        </p:nvSpPr>
        <p:spPr/>
        <p:txBody>
          <a:bodyPr/>
          <a:lstStyle/>
          <a:p>
            <a:fld id="{A1DCFAE8-8E9E-42B1-9A81-DFF72612FDA6}" type="slidenum">
              <a:rPr lang="en-IN" smtClean="0"/>
              <a:t>25</a:t>
            </a:fld>
            <a:endParaRPr lang="en-IN"/>
          </a:p>
        </p:txBody>
      </p:sp>
      <p:pic>
        <p:nvPicPr>
          <p:cNvPr id="1026" name="Picture 2" descr="202 Three Friends White Background High Res Illustrations ...">
            <a:extLst>
              <a:ext uri="{FF2B5EF4-FFF2-40B4-BE49-F238E27FC236}">
                <a16:creationId xmlns:a16="http://schemas.microsoft.com/office/drawing/2014/main" id="{CD12AFE5-D3DC-4300-E771-2D48FCF20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847" y="427891"/>
            <a:ext cx="4484077" cy="4718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59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3271</TotalTime>
  <Words>1372</Words>
  <Application>Microsoft Office PowerPoint</Application>
  <PresentationFormat>Widescreen</PresentationFormat>
  <Paragraphs>245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Wingdings</vt:lpstr>
      <vt:lpstr>Office Theme</vt:lpstr>
      <vt:lpstr>Understanding Financial Statements: A Comprehensive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Subhasmita Parida</dc:creator>
  <cp:lastModifiedBy>Subhasmita Parida</cp:lastModifiedBy>
  <cp:revision>169</cp:revision>
  <dcterms:created xsi:type="dcterms:W3CDTF">2025-02-09T14:42:55Z</dcterms:created>
  <dcterms:modified xsi:type="dcterms:W3CDTF">2025-08-21T11:51:20Z</dcterms:modified>
</cp:coreProperties>
</file>