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334" r:id="rId2"/>
    <p:sldId id="347" r:id="rId3"/>
    <p:sldId id="279" r:id="rId4"/>
    <p:sldId id="281" r:id="rId5"/>
    <p:sldId id="345" r:id="rId6"/>
    <p:sldId id="346" r:id="rId7"/>
    <p:sldId id="341" r:id="rId8"/>
    <p:sldId id="302" r:id="rId9"/>
    <p:sldId id="340" r:id="rId10"/>
    <p:sldId id="34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>
      <p:cViewPr varScale="1">
        <p:scale>
          <a:sx n="82" d="100"/>
          <a:sy n="82" d="100"/>
        </p:scale>
        <p:origin x="87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pyramid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Financial Leverage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DF3C090E-2B8D-404C-8F2C-8D1C31B665E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Combined Leverage</a:t>
          </a: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/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Operating Leverage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/>
        </a:p>
      </dgm:t>
    </dgm:pt>
    <dgm:pt modelId="{FACFC42F-1E5C-4F8C-8394-A010032E3F3B}" type="pres">
      <dgm:prSet presAssocID="{974A1F31-436E-4C59-9D1F-2293138613C2}" presName="compositeShape" presStyleCnt="0">
        <dgm:presLayoutVars>
          <dgm:dir/>
          <dgm:resizeHandles/>
        </dgm:presLayoutVars>
      </dgm:prSet>
      <dgm:spPr/>
    </dgm:pt>
    <dgm:pt modelId="{CF85ADFE-B294-4DDF-BDC0-60B1E577A09F}" type="pres">
      <dgm:prSet presAssocID="{974A1F31-436E-4C59-9D1F-2293138613C2}" presName="pyramid" presStyleLbl="node1" presStyleIdx="0" presStyleCnt="1"/>
      <dgm:spPr/>
    </dgm:pt>
    <dgm:pt modelId="{F7D27780-A72A-4B4E-B5C2-CDC8BF10FBEB}" type="pres">
      <dgm:prSet presAssocID="{974A1F31-436E-4C59-9D1F-2293138613C2}" presName="theList" presStyleCnt="0"/>
      <dgm:spPr/>
    </dgm:pt>
    <dgm:pt modelId="{262181B5-DF8F-4ECA-A40C-6CE3EB6CF716}" type="pres">
      <dgm:prSet presAssocID="{2A1319B4-B7D2-48CB-BDCC-3182B42EFEDA}" presName="aNode" presStyleLbl="fgAcc1" presStyleIdx="0" presStyleCnt="3">
        <dgm:presLayoutVars>
          <dgm:bulletEnabled val="1"/>
        </dgm:presLayoutVars>
      </dgm:prSet>
      <dgm:spPr/>
    </dgm:pt>
    <dgm:pt modelId="{921CF614-B2CF-4A78-80A1-EDB026986066}" type="pres">
      <dgm:prSet presAssocID="{2A1319B4-B7D2-48CB-BDCC-3182B42EFEDA}" presName="aSpace" presStyleCnt="0"/>
      <dgm:spPr/>
    </dgm:pt>
    <dgm:pt modelId="{92A1E4C1-429C-4ED9-B868-0F440C419FBD}" type="pres">
      <dgm:prSet presAssocID="{E79C2263-D73C-437E-8689-ED9AEA31BCCF}" presName="aNode" presStyleLbl="fgAcc1" presStyleIdx="1" presStyleCnt="3">
        <dgm:presLayoutVars>
          <dgm:bulletEnabled val="1"/>
        </dgm:presLayoutVars>
      </dgm:prSet>
      <dgm:spPr/>
    </dgm:pt>
    <dgm:pt modelId="{4DF68083-9D3B-41A4-ADF6-29CD9688565D}" type="pres">
      <dgm:prSet presAssocID="{E79C2263-D73C-437E-8689-ED9AEA31BCCF}" presName="aSpace" presStyleCnt="0"/>
      <dgm:spPr/>
    </dgm:pt>
    <dgm:pt modelId="{1D6D32A1-58AF-472C-8E39-3C2567473513}" type="pres">
      <dgm:prSet presAssocID="{DF3C090E-2B8D-404C-8F2C-8D1C31B665EA}" presName="aNode" presStyleLbl="fgAcc1" presStyleIdx="2" presStyleCnt="3">
        <dgm:presLayoutVars>
          <dgm:bulletEnabled val="1"/>
        </dgm:presLayoutVars>
      </dgm:prSet>
      <dgm:spPr/>
    </dgm:pt>
    <dgm:pt modelId="{FDDB6DDD-148E-491F-94BF-74A4E6B9AAA4}" type="pres">
      <dgm:prSet presAssocID="{DF3C090E-2B8D-404C-8F2C-8D1C31B665EA}" presName="aSpace" presStyleCnt="0"/>
      <dgm:spPr/>
    </dgm:pt>
  </dgm:ptLst>
  <dgm:cxnLst>
    <dgm:cxn modelId="{D5234E2D-1D3C-4023-A3C5-29290E5D5556}" type="presOf" srcId="{DF3C090E-2B8D-404C-8F2C-8D1C31B665EA}" destId="{1D6D32A1-58AF-472C-8E39-3C2567473513}" srcOrd="0" destOrd="0" presId="urn:microsoft.com/office/officeart/2005/8/layout/pyramid2"/>
    <dgm:cxn modelId="{BF8AE271-D8DB-41E6-9CC5-F0C0BBF58131}" type="presOf" srcId="{974A1F31-436E-4C59-9D1F-2293138613C2}" destId="{FACFC42F-1E5C-4F8C-8394-A010032E3F3B}" srcOrd="0" destOrd="0" presId="urn:microsoft.com/office/officeart/2005/8/layout/pyramid2"/>
    <dgm:cxn modelId="{C5AF219B-0898-4703-BB86-7BEF6F0EC3D6}" srcId="{974A1F31-436E-4C59-9D1F-2293138613C2}" destId="{DF3C090E-2B8D-404C-8F2C-8D1C31B665EA}" srcOrd="2" destOrd="0" parTransId="{868A5F93-25AF-40A6-A794-EA909B2C2435}" sibTransId="{469FFE9D-169A-4AE2-8953-BD868E7E0688}"/>
    <dgm:cxn modelId="{EF8059AA-2FC6-478C-ABF1-1D091597863B}" type="presOf" srcId="{E79C2263-D73C-437E-8689-ED9AEA31BCCF}" destId="{92A1E4C1-429C-4ED9-B868-0F440C419FBD}" srcOrd="0" destOrd="0" presId="urn:microsoft.com/office/officeart/2005/8/layout/pyramid2"/>
    <dgm:cxn modelId="{330ABBC5-6A2F-4DD3-8349-BC7FC1370069}" srcId="{974A1F31-436E-4C59-9D1F-2293138613C2}" destId="{E79C2263-D73C-437E-8689-ED9AEA31BCCF}" srcOrd="1" destOrd="0" parTransId="{6F69D7B4-F9A1-4295-9190-619381F4811A}" sibTransId="{EC6AB96C-F159-4AC8-8700-168AB3D071C1}"/>
    <dgm:cxn modelId="{1BA1DFCF-3A32-4E17-8376-DB7124816AD3}" type="presOf" srcId="{2A1319B4-B7D2-48CB-BDCC-3182B42EFEDA}" destId="{262181B5-DF8F-4ECA-A40C-6CE3EB6CF716}" srcOrd="0" destOrd="0" presId="urn:microsoft.com/office/officeart/2005/8/layout/pyramid2"/>
    <dgm:cxn modelId="{C4140ED0-D197-4461-8045-876DDB7077B1}" srcId="{974A1F31-436E-4C59-9D1F-2293138613C2}" destId="{2A1319B4-B7D2-48CB-BDCC-3182B42EFEDA}" srcOrd="0" destOrd="0" parTransId="{437E0F37-252F-46DE-A768-A0F7293CB2CC}" sibTransId="{04D05047-B543-4F04-B137-E16CBE5DEA00}"/>
    <dgm:cxn modelId="{CB7B86EB-32B9-4587-9A4A-01B42EE4E5CE}" type="presParOf" srcId="{FACFC42F-1E5C-4F8C-8394-A010032E3F3B}" destId="{CF85ADFE-B294-4DDF-BDC0-60B1E577A09F}" srcOrd="0" destOrd="0" presId="urn:microsoft.com/office/officeart/2005/8/layout/pyramid2"/>
    <dgm:cxn modelId="{3175F308-B636-4CD0-9C87-17887415BFE5}" type="presParOf" srcId="{FACFC42F-1E5C-4F8C-8394-A010032E3F3B}" destId="{F7D27780-A72A-4B4E-B5C2-CDC8BF10FBEB}" srcOrd="1" destOrd="0" presId="urn:microsoft.com/office/officeart/2005/8/layout/pyramid2"/>
    <dgm:cxn modelId="{C894CBD3-0165-470F-BF68-477964D32EAF}" type="presParOf" srcId="{F7D27780-A72A-4B4E-B5C2-CDC8BF10FBEB}" destId="{262181B5-DF8F-4ECA-A40C-6CE3EB6CF716}" srcOrd="0" destOrd="0" presId="urn:microsoft.com/office/officeart/2005/8/layout/pyramid2"/>
    <dgm:cxn modelId="{52BF54AE-0430-4224-BF82-B93ABB8DE56B}" type="presParOf" srcId="{F7D27780-A72A-4B4E-B5C2-CDC8BF10FBEB}" destId="{921CF614-B2CF-4A78-80A1-EDB026986066}" srcOrd="1" destOrd="0" presId="urn:microsoft.com/office/officeart/2005/8/layout/pyramid2"/>
    <dgm:cxn modelId="{D2B0C79F-0F35-4FD8-9C41-7E378DA45B2D}" type="presParOf" srcId="{F7D27780-A72A-4B4E-B5C2-CDC8BF10FBEB}" destId="{92A1E4C1-429C-4ED9-B868-0F440C419FBD}" srcOrd="2" destOrd="0" presId="urn:microsoft.com/office/officeart/2005/8/layout/pyramid2"/>
    <dgm:cxn modelId="{6850FA59-7B8B-48CC-B87C-A4F458773912}" type="presParOf" srcId="{F7D27780-A72A-4B4E-B5C2-CDC8BF10FBEB}" destId="{4DF68083-9D3B-41A4-ADF6-29CD9688565D}" srcOrd="3" destOrd="0" presId="urn:microsoft.com/office/officeart/2005/8/layout/pyramid2"/>
    <dgm:cxn modelId="{4277C635-BD1D-4E36-B59D-3D6772DF113C}" type="presParOf" srcId="{F7D27780-A72A-4B4E-B5C2-CDC8BF10FBEB}" destId="{1D6D32A1-58AF-472C-8E39-3C2567473513}" srcOrd="4" destOrd="0" presId="urn:microsoft.com/office/officeart/2005/8/layout/pyramid2"/>
    <dgm:cxn modelId="{C3A9E496-7439-4F00-8CA4-085F9BB3EFF7}" type="presParOf" srcId="{F7D27780-A72A-4B4E-B5C2-CDC8BF10FBEB}" destId="{FDDB6DDD-148E-491F-94BF-74A4E6B9AAA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5ADFE-B294-4DDF-BDC0-60B1E577A09F}">
      <dsp:nvSpPr>
        <dsp:cNvPr id="0" name=""/>
        <dsp:cNvSpPr/>
      </dsp:nvSpPr>
      <dsp:spPr>
        <a:xfrm>
          <a:off x="2628314" y="0"/>
          <a:ext cx="4267200" cy="4267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2181B5-DF8F-4ECA-A40C-6CE3EB6CF716}">
      <dsp:nvSpPr>
        <dsp:cNvPr id="0" name=""/>
        <dsp:cNvSpPr/>
      </dsp:nvSpPr>
      <dsp:spPr>
        <a:xfrm>
          <a:off x="4761913" y="429011"/>
          <a:ext cx="2773680" cy="1010126"/>
        </a:xfrm>
        <a:prstGeom prst="roundRect">
          <a:avLst/>
        </a:prstGeom>
        <a:solidFill>
          <a:schemeClr val="bg2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Operating Leverage</a:t>
          </a:r>
        </a:p>
      </dsp:txBody>
      <dsp:txXfrm>
        <a:off x="4811223" y="478321"/>
        <a:ext cx="2675060" cy="911506"/>
      </dsp:txXfrm>
    </dsp:sp>
    <dsp:sp modelId="{92A1E4C1-429C-4ED9-B868-0F440C419FBD}">
      <dsp:nvSpPr>
        <dsp:cNvPr id="0" name=""/>
        <dsp:cNvSpPr/>
      </dsp:nvSpPr>
      <dsp:spPr>
        <a:xfrm>
          <a:off x="4761913" y="1565403"/>
          <a:ext cx="2773680" cy="1010126"/>
        </a:xfrm>
        <a:prstGeom prst="roundRect">
          <a:avLst/>
        </a:prstGeom>
        <a:solidFill>
          <a:schemeClr val="bg2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Financial Leverage</a:t>
          </a:r>
        </a:p>
      </dsp:txBody>
      <dsp:txXfrm>
        <a:off x="4811223" y="1614713"/>
        <a:ext cx="2675060" cy="911506"/>
      </dsp:txXfrm>
    </dsp:sp>
    <dsp:sp modelId="{1D6D32A1-58AF-472C-8E39-3C2567473513}">
      <dsp:nvSpPr>
        <dsp:cNvPr id="0" name=""/>
        <dsp:cNvSpPr/>
      </dsp:nvSpPr>
      <dsp:spPr>
        <a:xfrm>
          <a:off x="4761913" y="2701796"/>
          <a:ext cx="2773680" cy="1010126"/>
        </a:xfrm>
        <a:prstGeom prst="roundRect">
          <a:avLst/>
        </a:prstGeom>
        <a:solidFill>
          <a:schemeClr val="bg2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Combined Leverage</a:t>
          </a:r>
        </a:p>
      </dsp:txBody>
      <dsp:txXfrm>
        <a:off x="4811223" y="2751106"/>
        <a:ext cx="2675060" cy="911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812A7-2DB0-4800-A4C0-62338CE3C59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13D4D-DEE3-4C26-A5DA-F8A062A138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F70B2-9C28-16BB-51D5-87CE6F0F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85BC8-DE70-32A3-8BD4-445739CAA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7BFEE-3360-D8D9-FAFA-386576817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9AC8F-7298-42E3-50F7-B3B699552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1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8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7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10CD-A0F0-09CD-BBE6-8D15328E2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783B2-531C-CDE2-6952-C252D1047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58DC-6E5F-1542-A43C-2B91A576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B80B2-8C73-4DB0-9AC8-6BE77DB225A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97FC-3831-7D25-7F8A-0258B905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69787-7EDE-FD60-E3C1-94829A62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8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E9F9-5BD0-96B0-7CCE-769A2A29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6D7C-9240-99BA-B2D9-A58DA37DC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F8AFF-7195-2DDD-C6E4-2E832E92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A245-0A24-42B7-AC98-5C0910331C67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5CAC-9A6E-E3BD-071F-B9BBC493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75F1-1524-C633-F996-83A54C22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5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7463-C703-7C83-F481-1F171FB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36398-278B-0F26-46A0-95420D8CC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8462-9FFE-F8F6-EA9F-591033F3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0460-FCB1-4A66-B1C5-F99C9900571F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C924-A29B-9DF0-F868-B0313557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76B4-7422-96F0-DFC8-D253C4D8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2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4E2-87CF-C6A9-6D22-21D65F99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3030-C431-D324-6B64-ABE6FB98F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2BC34-48F4-64AE-5FA5-AEE5DFB80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09FFF-5147-EDBC-06F4-00D91C30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E424-6349-4C35-83BA-02357475D75C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DB33B-DA34-5D13-C42E-4BD5B3D7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1B73-74C6-C1C4-FC05-8234EDFB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6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6A89-BF0D-7430-91CA-747F7C2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BAAD-BD01-55C3-A235-3DE3049E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3780C-C28E-071E-1B4A-3CA931C6C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11E7E-6EC7-CFC8-B292-40455F435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37407-9096-86EA-F62B-5AF86FA93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419E2-5D13-EEEB-F5B3-847DCDD3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A23C-AC1E-4836-A247-C36FFD9E7D7C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38642-616F-E4CD-69E4-7AAA6C4B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6FDD8-800E-D321-AD32-14759278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7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6973-3FF6-660F-4B74-9F301B0C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AE959-4ED9-3441-FC1B-CB015658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596C-2F88-4B75-BD73-77E0F3EF6697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624C2-DA63-3CF5-8593-64106150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58DC-B137-653D-B384-3AAE3EF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0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FCC27-F82D-D1CE-8D8A-1A61E801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DEAD2-1CE0-473C-95A8-B1691D116D9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D78C5-01D5-DB3E-064C-4B9306C6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69BA7-0F1C-2E72-BA03-1AB9DD1B4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5C3B-1B07-3630-9F64-40C15BA0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C3DB-BEE1-32ED-635C-1F5F4553A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65A6-B998-1C39-DA15-179140828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054EE-623B-CF4E-27BF-E4F28D74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4703-5572-40DE-8F00-2218DE09E7E9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C2D1A-A6DE-CC3E-FCCD-AAC339C4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EB9BD-46D3-134D-C3BA-622E110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1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C86D-63EE-0EE0-3A4C-D8EAF50D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5B702-F0EE-B99A-7A25-CBCE0F077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F97A-26E7-46B6-6C00-84A6493E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B1FB1-65B9-B799-FCF5-D8F3FAD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9B29-F3DC-49F7-869F-BBC659A30D27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B8E7F-9C69-61A4-D1B8-2306C329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20F87-3D4A-282E-D1D0-9F4C108B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8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2F3A-2D15-A9C1-2C21-1EC89EF9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5E360-0AA0-37C7-EF1C-61453E85A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38BC-DBCF-5F7F-CC6C-96AB8DCD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3DE1-FFAE-4A89-B43E-730C7815724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BC9B-1978-64FE-3CA7-BC9A6C78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8A51-331A-0747-ED55-E8DE41F8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45994-8980-647E-96D8-EBCAE473D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471C7-7D50-10A6-01E7-A63913B2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380BA-CC99-792A-A7C9-044813B8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1C152-DDED-4C10-83F0-7BEBCD6D9DB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7CA8-573C-65A3-AE67-9F945F0F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A430-28A1-E712-6DEA-39F66D94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9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81D37-64A1-8A98-531B-F5EF21E8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D2F2-B811-EA45-86FE-D4332858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82D5-169D-B173-CEFC-E1C1AEA8A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5F7A-78B4-4CD1-BD12-0496D47A31A0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8FE4-4BA6-B9F0-D929-A503F58C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83DF-99E1-9B8D-6A08-5367ABB8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9815" y="-606817"/>
            <a:ext cx="7784123" cy="16848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Leverage Analysis 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085" y="3338184"/>
            <a:ext cx="9144000" cy="2864545"/>
          </a:xfrm>
        </p:spPr>
        <p:txBody>
          <a:bodyPr>
            <a:normAutofit/>
          </a:bodyPr>
          <a:lstStyle/>
          <a:p>
            <a:r>
              <a:rPr lang="en-IN" dirty="0"/>
              <a:t> 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277163"/>
            <a:ext cx="2139370" cy="20375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27F5-9875-DA9B-4973-E3F89ADD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64A6-6895-DA36-DC1F-B0658C27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4884FB-F561-70B7-F7E8-CD58BD803830}"/>
              </a:ext>
            </a:extLst>
          </p:cNvPr>
          <p:cNvSpPr/>
          <p:nvPr/>
        </p:nvSpPr>
        <p:spPr>
          <a:xfrm>
            <a:off x="794769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 of Leverage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3F0401-E456-F4D9-A3B7-C6D9768C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CD2B4-C44F-CD2E-F30F-9F7620EE7593}"/>
              </a:ext>
            </a:extLst>
          </p:cNvPr>
          <p:cNvSpPr txBox="1"/>
          <p:nvPr/>
        </p:nvSpPr>
        <p:spPr>
          <a:xfrm>
            <a:off x="3297729" y="2590800"/>
            <a:ext cx="6092456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68F0B-75A3-E879-7419-7F3E1C36E9A0}"/>
              </a:ext>
            </a:extLst>
          </p:cNvPr>
          <p:cNvSpPr txBox="1"/>
          <p:nvPr/>
        </p:nvSpPr>
        <p:spPr>
          <a:xfrm>
            <a:off x="685800" y="933205"/>
            <a:ext cx="10328031" cy="245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Leverage means using fixed costs (either operating or financial) to magnify the potential returns (or losses) of a business.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Leverage helps a firm amplify profits when sales rise but it can also magnify losses when sales fall.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595C2-6A49-1861-4E25-4CA1A8E9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9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BC9671-C1FF-9966-1588-EEFCD983E1D0}"/>
              </a:ext>
            </a:extLst>
          </p:cNvPr>
          <p:cNvSpPr/>
          <p:nvPr/>
        </p:nvSpPr>
        <p:spPr>
          <a:xfrm>
            <a:off x="762000" y="15240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Leverage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09700-7755-74D4-7681-C7D00A5A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01095-894C-6F9E-0253-1ADB0C4B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D754A32-BBBD-0897-4579-7D313FD4C8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252583"/>
              </p:ext>
            </p:extLst>
          </p:nvPr>
        </p:nvGraphicFramePr>
        <p:xfrm>
          <a:off x="304800" y="1419477"/>
          <a:ext cx="10163908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255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9938" y="761999"/>
                <a:ext cx="10328031" cy="4995779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  <a:buSzPct val="85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Operating leverage measures how a change in sales affects EBIT (Earnings Before Interest and Taxes) due to the presence of fixed operating costs (rent, depreciation, salaries).</a:t>
                </a:r>
              </a:p>
              <a:p>
                <a:pPr algn="just">
                  <a:lnSpc>
                    <a:spcPct val="150000"/>
                  </a:lnSpc>
                  <a:buSzPct val="85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 tells us how efficiently a company uses its fixed costs to generate profits.</a:t>
                </a:r>
              </a:p>
              <a:p>
                <a:pPr marL="0" indent="0" algn="ctr">
                  <a:lnSpc>
                    <a:spcPct val="150000"/>
                  </a:lnSpc>
                  <a:buSzPct val="85000"/>
                  <a:buNone/>
                </a:pPr>
                <a:r>
                  <a:rPr lang="en-IN" sz="20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Degree Operating leverage</a:t>
                </a:r>
                <a:r>
                  <a:rPr lang="en-IN" sz="2000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𝑎𝑛𝑔𝑒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𝐸𝐵𝐼𝑇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𝑎𝑛𝑔𝑒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𝑆𝑎𝑙𝑒𝑠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Or                                          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𝐷𝑂𝐿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𝐶𝑜𝑛𝑡𝑟𝑖𝑏𝑢𝑡𝑖𝑜𝑛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𝑀𝑎𝑟𝑔𝑖𝑛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𝐸𝐵𝐼𝑇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Contribution = Sales – Variable Costs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EBIT = Contribution – Fixed Costs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19125" indent="-619125" algn="just">
                  <a:lnSpc>
                    <a:spcPct val="200000"/>
                  </a:lnSpc>
                  <a:buSzPct val="85000"/>
                  <a:buNone/>
                </a:pPr>
                <a:endPara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9938" y="761999"/>
                <a:ext cx="10328031" cy="4995779"/>
              </a:xfrm>
              <a:blipFill>
                <a:blip r:embed="rId3"/>
                <a:stretch>
                  <a:fillRect l="-649" r="-590" b="-9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3816498-8536-B8A1-9D9E-F3DC2DAA8DCD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Operating Leverage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CBD7D-2930-198A-D205-D84A0606F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DEBF-6ECF-AD44-42FA-25769A38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3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FA70-C30A-D25E-5D3F-108157D4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C69BE-8969-9DF7-F2F0-CE5E06256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9938" y="761999"/>
                <a:ext cx="10328031" cy="4995779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200000"/>
                  </a:lnSpc>
                  <a:buSzPct val="85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Financial leverage measures how a change in EBIT affects Earnings Per Share (EPS) or net income due to the presence of fixed financial costs (interest).</a:t>
                </a:r>
              </a:p>
              <a:p>
                <a:pPr algn="just">
                  <a:lnSpc>
                    <a:spcPct val="200000"/>
                  </a:lnSpc>
                  <a:buSzPct val="85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 reflects the financial risk of using debt.</a:t>
                </a:r>
              </a:p>
              <a:p>
                <a:pPr marL="0" indent="0" algn="ctr">
                  <a:lnSpc>
                    <a:spcPct val="150000"/>
                  </a:lnSpc>
                  <a:buSzPct val="85000"/>
                  <a:buNone/>
                </a:pPr>
                <a:r>
                  <a:rPr lang="en-IN" sz="20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Degree Financial  leverage</a:t>
                </a:r>
                <a:r>
                  <a:rPr lang="en-IN" sz="2000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𝑎𝑛𝑔𝑒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𝐸𝑃𝑆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𝑎𝑛𝑔𝑒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𝐸𝐵𝐼𝑇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Or                                         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I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𝐸𝐵𝐼𝑇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𝐸𝐵𝐼𝑇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𝐼𝑛𝑡𝑒𝑟𝑒𝑠𝑡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19125" indent="-619125" algn="just">
                  <a:lnSpc>
                    <a:spcPct val="200000"/>
                  </a:lnSpc>
                  <a:buSzPct val="85000"/>
                  <a:buNone/>
                </a:pPr>
                <a:endPara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C69BE-8969-9DF7-F2F0-CE5E06256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9938" y="761999"/>
                <a:ext cx="10328031" cy="4995779"/>
              </a:xfrm>
              <a:blipFill>
                <a:blip r:embed="rId3"/>
                <a:stretch>
                  <a:fillRect l="-649" r="-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A38C9AB-33C4-866C-3366-00D3636C378C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Leverage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0C0DA-DEB1-5BD2-ACB9-4AFD2F89C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C2C3B-BD9F-F103-68BB-E8D78645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3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F444-5F01-52C3-3252-D075420C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A45CA-4166-5CFF-2AB6-6E94D09B4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730" y="1219200"/>
                <a:ext cx="10328031" cy="2819400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200000"/>
                  </a:lnSpc>
                  <a:buSzPct val="85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Combined leverage measures how a change in sales affects EPS by combining both operating and financial leverage.</a:t>
                </a:r>
              </a:p>
              <a:p>
                <a:pPr algn="just">
                  <a:lnSpc>
                    <a:spcPct val="200000"/>
                  </a:lnSpc>
                  <a:buSzPct val="85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 shows the firm’s overall risk exposure (business + financial)</a:t>
                </a:r>
              </a:p>
              <a:p>
                <a:pPr marL="0" indent="0">
                  <a:buNone/>
                </a:pPr>
                <a:r>
                  <a:rPr lang="en-IN" sz="2000" dirty="0"/>
                  <a:t>                                           </a:t>
                </a:r>
              </a:p>
              <a:p>
                <a:pPr marL="0" indent="0">
                  <a:buNone/>
                </a:pPr>
                <a:r>
                  <a:rPr lang="en-IN" sz="2000" dirty="0"/>
                  <a:t>                                   </a:t>
                </a: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Degree of Combined Leverage </a:t>
                </a:r>
                <a:r>
                  <a:rPr lang="en-IN" sz="2000" dirty="0"/>
                  <a:t>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𝐷𝐶𝐿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𝐷𝑂𝐿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𝐷𝐹𝐿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</a:p>
              <a:p>
                <a:pPr marL="0" indent="0">
                  <a:buNone/>
                </a:pPr>
                <a:r>
                  <a:rPr lang="en-IN" sz="2000" dirty="0"/>
                  <a:t> </a:t>
                </a: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r>
                  <a:rPr lang="en-IN" sz="2000" dirty="0"/>
                  <a:t>      </a:t>
                </a:r>
                <a:r>
                  <a:rPr lang="en-IN" dirty="0"/>
                  <a:t>                   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19125" indent="-619125" algn="just">
                  <a:lnSpc>
                    <a:spcPct val="150000"/>
                  </a:lnSpc>
                  <a:buSzPct val="85000"/>
                  <a:buNone/>
                </a:pPr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ar-AE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200000"/>
                  </a:lnSpc>
                  <a:buSzPct val="85000"/>
                </a:pPr>
                <a:endPara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A45CA-4166-5CFF-2AB6-6E94D09B4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730" y="1219200"/>
                <a:ext cx="10328031" cy="2819400"/>
              </a:xfrm>
              <a:blipFill>
                <a:blip r:embed="rId3"/>
                <a:stretch>
                  <a:fillRect l="-295" r="-590" b="-49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9CFC3166-43BC-F040-7EC9-866203C61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07" y="820208"/>
            <a:ext cx="10487891" cy="49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81BCF-B5B7-4AF5-C439-4770FDB7BA8C}"/>
              </a:ext>
            </a:extLst>
          </p:cNvPr>
          <p:cNvSpPr/>
          <p:nvPr/>
        </p:nvSpPr>
        <p:spPr>
          <a:xfrm>
            <a:off x="582422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Combined Leverage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70C28-640F-5980-C030-FD3F4ED7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274B83-9476-662F-770D-E5FBCFE6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1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7C42-FA46-899A-4B1F-7B686942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E5202E-5813-DED9-A806-71411E46EABD}"/>
              </a:ext>
            </a:extLst>
          </p:cNvPr>
          <p:cNvSpPr/>
          <p:nvPr/>
        </p:nvSpPr>
        <p:spPr>
          <a:xfrm>
            <a:off x="794769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Leverage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F56B1E-3521-F3DF-C1E5-A67946C0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B683A-C660-3E4E-34F8-EEAE68F93F78}"/>
              </a:ext>
            </a:extLst>
          </p:cNvPr>
          <p:cNvSpPr txBox="1"/>
          <p:nvPr/>
        </p:nvSpPr>
        <p:spPr>
          <a:xfrm>
            <a:off x="3297729" y="2590800"/>
            <a:ext cx="6092456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D0345-41DF-0CDE-43AE-732654EA90C5}"/>
              </a:ext>
            </a:extLst>
          </p:cNvPr>
          <p:cNvSpPr txBox="1"/>
          <p:nvPr/>
        </p:nvSpPr>
        <p:spPr>
          <a:xfrm>
            <a:off x="794769" y="1279278"/>
            <a:ext cx="10328031" cy="307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Profit Planning: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management forecast how sales changes affect profits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Risk Assessment: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Indicates business risk (operating) and financial risk (financial leverage)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Capital Structure Decisions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determine the optimal mix of debt and equity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Investor 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Shows potential volatility in returns and helps assess risk appetite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0B6A-76BC-EBCE-77D3-2A211C40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77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9EBD1-FB42-DF9A-B1A3-329CB7FB8C9F}"/>
              </a:ext>
            </a:extLst>
          </p:cNvPr>
          <p:cNvSpPr txBox="1"/>
          <p:nvPr/>
        </p:nvSpPr>
        <p:spPr>
          <a:xfrm>
            <a:off x="762000" y="1219200"/>
            <a:ext cx="6092456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4D078-D5EB-03FD-82C3-605E9F4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D950C1-0656-2AB1-8FB6-CBCDBE4EE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76150"/>
              </p:ext>
            </p:extLst>
          </p:nvPr>
        </p:nvGraphicFramePr>
        <p:xfrm>
          <a:off x="2590800" y="990600"/>
          <a:ext cx="5867400" cy="3352800"/>
        </p:xfrm>
        <a:graphic>
          <a:graphicData uri="http://schemas.openxmlformats.org/drawingml/2006/table">
            <a:tbl>
              <a:tblPr/>
              <a:tblGrid>
                <a:gridCol w="2830970">
                  <a:extLst>
                    <a:ext uri="{9D8B030D-6E8A-4147-A177-3AD203B41FA5}">
                      <a16:colId xmlns:a16="http://schemas.microsoft.com/office/drawing/2014/main" val="4178070882"/>
                    </a:ext>
                  </a:extLst>
                </a:gridCol>
                <a:gridCol w="3036430">
                  <a:extLst>
                    <a:ext uri="{9D8B030D-6E8A-4147-A177-3AD203B41FA5}">
                      <a16:colId xmlns:a16="http://schemas.microsoft.com/office/drawing/2014/main" val="2089001138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Particulars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Amount (₹)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3460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679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07316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228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71910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325928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1F20BA-657A-A2E8-1A9D-D81352FB43FC}"/>
              </a:ext>
            </a:extLst>
          </p:cNvPr>
          <p:cNvCxnSpPr>
            <a:cxnSpLocks/>
          </p:cNvCxnSpPr>
          <p:nvPr/>
        </p:nvCxnSpPr>
        <p:spPr>
          <a:xfrm>
            <a:off x="2514600" y="1524000"/>
            <a:ext cx="449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0E7981-0D3A-2EFF-70B9-0CA3410D7478}"/>
              </a:ext>
            </a:extLst>
          </p:cNvPr>
          <p:cNvCxnSpPr>
            <a:cxnSpLocks/>
          </p:cNvCxnSpPr>
          <p:nvPr/>
        </p:nvCxnSpPr>
        <p:spPr>
          <a:xfrm>
            <a:off x="2514600" y="990600"/>
            <a:ext cx="449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A41DB7-D07B-DF66-B0D5-F92ECB137B91}"/>
              </a:ext>
            </a:extLst>
          </p:cNvPr>
          <p:cNvSpPr txBox="1"/>
          <p:nvPr/>
        </p:nvSpPr>
        <p:spPr>
          <a:xfrm>
            <a:off x="1143000" y="4794439"/>
            <a:ext cx="9753600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Calculate the Degree of Operating Leverage (DOL), Degree of Financial Leverage (DFL), and Degree of Combined Leverage (DCL).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2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E9D8-D5E9-265F-26FD-81BE3E53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3C8669-145F-C45D-C1BC-7FBBAF336D83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Associated with Leverage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E801E-B75B-4756-F282-F6209A119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46A379-6A53-ACD2-4F27-89E771317BDC}"/>
              </a:ext>
            </a:extLst>
          </p:cNvPr>
          <p:cNvSpPr txBox="1"/>
          <p:nvPr/>
        </p:nvSpPr>
        <p:spPr>
          <a:xfrm>
            <a:off x="679939" y="857124"/>
            <a:ext cx="10328030" cy="6036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Risk: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Business risk means the chance of not earning enough profit from your normal business operations.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happens because of things like: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Changes in demand or sales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 in production 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Competition or economic slowdown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Financial risk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Financial risk means the chance of not being able to pay interest or debt when a company uses borrowed money.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arises when a firm uses debt (loan) because interest must be paid even if profit is low.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BC62A-D3FF-EA3C-0C92-5D32F32B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9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4A02-F311-9F7C-3133-31AD8381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4157F-4F04-5CA9-BAE6-F31EDB71362B}"/>
              </a:ext>
            </a:extLst>
          </p:cNvPr>
          <p:cNvSpPr txBox="1"/>
          <p:nvPr/>
        </p:nvSpPr>
        <p:spPr>
          <a:xfrm>
            <a:off x="1943100" y="2667000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5B88A-821C-A2A7-9A0B-3BF0DE7B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6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2099</TotalTime>
  <Words>469</Words>
  <Application>Microsoft Office PowerPoint</Application>
  <PresentationFormat>Widescreen</PresentationFormat>
  <Paragraphs>80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Leverage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 .C .Sahu</dc:creator>
  <cp:lastModifiedBy>alivaparida2024@gmail.com</cp:lastModifiedBy>
  <cp:revision>151</cp:revision>
  <dcterms:created xsi:type="dcterms:W3CDTF">2006-08-16T00:00:00Z</dcterms:created>
  <dcterms:modified xsi:type="dcterms:W3CDTF">2025-10-15T04:01:39Z</dcterms:modified>
</cp:coreProperties>
</file>