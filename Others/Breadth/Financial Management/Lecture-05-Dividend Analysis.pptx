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334" r:id="rId2"/>
    <p:sldId id="268" r:id="rId3"/>
    <p:sldId id="339" r:id="rId4"/>
    <p:sldId id="274" r:id="rId5"/>
    <p:sldId id="279" r:id="rId6"/>
    <p:sldId id="342" r:id="rId7"/>
    <p:sldId id="278" r:id="rId8"/>
    <p:sldId id="281" r:id="rId9"/>
    <p:sldId id="315" r:id="rId10"/>
    <p:sldId id="275" r:id="rId11"/>
    <p:sldId id="341" r:id="rId12"/>
    <p:sldId id="302" r:id="rId13"/>
    <p:sldId id="340" r:id="rId14"/>
    <p:sldId id="343" r:id="rId15"/>
    <p:sldId id="34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>
      <p:cViewPr varScale="1">
        <p:scale>
          <a:sx n="82" d="100"/>
          <a:sy n="82" d="100"/>
        </p:scale>
        <p:origin x="870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5A6CB8-41B0-49C9-8AB8-79BADB8BF34C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Cash Dividend</a:t>
          </a:r>
        </a:p>
      </dgm:t>
    </dgm:pt>
    <dgm:pt modelId="{C83051E2-B82E-4122-AB37-D707C717F9E6}" type="parTrans" cxnId="{3637DF5A-A2D2-4567-B674-57164AB36E8F}">
      <dgm:prSet/>
      <dgm:spPr/>
      <dgm:t>
        <a:bodyPr/>
        <a:lstStyle/>
        <a:p>
          <a:endParaRPr lang="en-IN"/>
        </a:p>
      </dgm:t>
    </dgm:pt>
    <dgm:pt modelId="{7F22F512-02A1-4C1B-BD4D-92ED8B159081}" type="sibTrans" cxnId="{3637DF5A-A2D2-4567-B674-57164AB36E8F}">
      <dgm:prSet/>
      <dgm:spPr/>
      <dgm:t>
        <a:bodyPr/>
        <a:lstStyle/>
        <a:p>
          <a:endParaRPr lang="en-IN"/>
        </a:p>
      </dgm:t>
    </dgm:pt>
    <dgm:pt modelId="{E79C2263-D73C-437E-8689-ED9AEA31BCCF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Stock Dividend</a:t>
          </a:r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endParaRPr lang="en-IN"/>
        </a:p>
      </dgm:t>
    </dgm:pt>
    <dgm:pt modelId="{EC6AB96C-F159-4AC8-8700-168AB3D071C1}" type="sibTrans" cxnId="{330ABBC5-6A2F-4DD3-8349-BC7FC1370069}">
      <dgm:prSet/>
      <dgm:spPr/>
      <dgm:t>
        <a:bodyPr/>
        <a:lstStyle/>
        <a:p>
          <a:endParaRPr lang="en-IN"/>
        </a:p>
      </dgm:t>
    </dgm:pt>
    <dgm:pt modelId="{DF3C090E-2B8D-404C-8F2C-8D1C31B665E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Property Dividend</a:t>
          </a:r>
        </a:p>
      </dgm:t>
    </dgm:pt>
    <dgm:pt modelId="{868A5F93-25AF-40A6-A794-EA909B2C2435}" type="parTrans" cxnId="{C5AF219B-0898-4703-BB86-7BEF6F0EC3D6}">
      <dgm:prSet/>
      <dgm:spPr/>
      <dgm:t>
        <a:bodyPr/>
        <a:lstStyle/>
        <a:p>
          <a:endParaRPr lang="en-IN"/>
        </a:p>
      </dgm:t>
    </dgm:pt>
    <dgm:pt modelId="{469FFE9D-169A-4AE2-8953-BD868E7E0688}" type="sibTrans" cxnId="{C5AF219B-0898-4703-BB86-7BEF6F0EC3D6}">
      <dgm:prSet/>
      <dgm:spPr/>
      <dgm:t>
        <a:bodyPr/>
        <a:lstStyle/>
        <a:p>
          <a:endParaRPr lang="en-IN"/>
        </a:p>
      </dgm:t>
    </dgm:pt>
    <dgm:pt modelId="{2F6A6D30-C8FE-490B-A522-FD29F4EABB4E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Promissory Dividend</a:t>
          </a:r>
        </a:p>
      </dgm:t>
    </dgm:pt>
    <dgm:pt modelId="{E092252B-57E9-42C2-BEA1-CE609DA5F13C}" type="parTrans" cxnId="{524BF4AD-A869-4CDB-8DD8-85269397BCDE}">
      <dgm:prSet/>
      <dgm:spPr/>
      <dgm:t>
        <a:bodyPr/>
        <a:lstStyle/>
        <a:p>
          <a:endParaRPr lang="en-IN"/>
        </a:p>
      </dgm:t>
    </dgm:pt>
    <dgm:pt modelId="{893EF4CB-05AF-44DB-9B68-825D456E01F1}" type="sibTrans" cxnId="{524BF4AD-A869-4CDB-8DD8-85269397BCDE}">
      <dgm:prSet/>
      <dgm:spPr/>
      <dgm:t>
        <a:bodyPr/>
        <a:lstStyle/>
        <a:p>
          <a:endParaRPr lang="en-IN"/>
        </a:p>
      </dgm:t>
    </dgm:pt>
    <dgm:pt modelId="{2A1319B4-B7D2-48CB-BDCC-3182B42EFED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Liquidating Dividend </a:t>
          </a:r>
        </a:p>
      </dgm:t>
    </dgm:pt>
    <dgm:pt modelId="{437E0F37-252F-46DE-A768-A0F7293CB2CC}" type="parTrans" cxnId="{C4140ED0-D197-4461-8045-876DDB7077B1}">
      <dgm:prSet/>
      <dgm:spPr/>
      <dgm:t>
        <a:bodyPr/>
        <a:lstStyle/>
        <a:p>
          <a:endParaRPr lang="en-IN"/>
        </a:p>
      </dgm:t>
    </dgm:pt>
    <dgm:pt modelId="{04D05047-B543-4F04-B137-E16CBE5DEA00}" type="sibTrans" cxnId="{C4140ED0-D197-4461-8045-876DDB7077B1}">
      <dgm:prSet/>
      <dgm:spPr/>
      <dgm:t>
        <a:bodyPr/>
        <a:lstStyle/>
        <a:p>
          <a:endParaRPr lang="en-IN"/>
        </a:p>
      </dgm:t>
    </dgm:pt>
    <dgm:pt modelId="{77E4DCA2-1437-4F2B-A083-0BFF5CD7AB93}">
      <dgm:prSet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Paid in the form of additional shares</a:t>
          </a:r>
          <a:endParaRPr lang="en-IN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8579BB-078C-4DAD-BF0B-1B1AFF2D3630}" type="parTrans" cxnId="{350DB5DA-CADB-4470-99E4-3E2773515BC0}">
      <dgm:prSet/>
      <dgm:spPr/>
      <dgm:t>
        <a:bodyPr/>
        <a:lstStyle/>
        <a:p>
          <a:endParaRPr lang="en-IN"/>
        </a:p>
      </dgm:t>
    </dgm:pt>
    <dgm:pt modelId="{0B77137E-2350-4557-933C-A62C85568D9B}" type="sibTrans" cxnId="{350DB5DA-CADB-4470-99E4-3E2773515BC0}">
      <dgm:prSet/>
      <dgm:spPr/>
      <dgm:t>
        <a:bodyPr/>
        <a:lstStyle/>
        <a:p>
          <a:endParaRPr lang="en-IN"/>
        </a:p>
      </dgm:t>
    </dgm:pt>
    <dgm:pt modelId="{F5C82453-D4D2-4465-BFE5-553C307D0BC8}">
      <dgm:prSet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Paid when company partially closes operations</a:t>
          </a:r>
          <a:endParaRPr lang="en-IN" sz="2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19F424-DB72-4EC8-8740-D266A4385FBE}" type="parTrans" cxnId="{04131363-49AC-403A-85C9-4D55B3C615FF}">
      <dgm:prSet/>
      <dgm:spPr/>
      <dgm:t>
        <a:bodyPr/>
        <a:lstStyle/>
        <a:p>
          <a:endParaRPr lang="en-IN"/>
        </a:p>
      </dgm:t>
    </dgm:pt>
    <dgm:pt modelId="{D79AAC45-2390-4609-9585-89621C53447D}" type="sibTrans" cxnId="{04131363-49AC-403A-85C9-4D55B3C615FF}">
      <dgm:prSet/>
      <dgm:spPr/>
      <dgm:t>
        <a:bodyPr/>
        <a:lstStyle/>
        <a:p>
          <a:endParaRPr lang="en-IN"/>
        </a:p>
      </dgm:t>
    </dgm:pt>
    <dgm:pt modelId="{F33CC601-7BB6-4D95-AFB6-8F190C00202B}">
      <dgm:prSet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Paid in assets other than cash</a:t>
          </a:r>
          <a:endParaRPr lang="en-IN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14146C-CDB7-4EA4-AC59-8689A331E35D}" type="parTrans" cxnId="{E4A8084C-0056-49E8-A1A7-52005DC00B56}">
      <dgm:prSet/>
      <dgm:spPr/>
      <dgm:t>
        <a:bodyPr/>
        <a:lstStyle/>
        <a:p>
          <a:endParaRPr lang="en-IN"/>
        </a:p>
      </dgm:t>
    </dgm:pt>
    <dgm:pt modelId="{86732862-FCA2-4B95-9553-26EC607DECE6}" type="sibTrans" cxnId="{E4A8084C-0056-49E8-A1A7-52005DC00B56}">
      <dgm:prSet/>
      <dgm:spPr/>
      <dgm:t>
        <a:bodyPr/>
        <a:lstStyle/>
        <a:p>
          <a:endParaRPr lang="en-IN"/>
        </a:p>
      </dgm:t>
    </dgm:pt>
    <dgm:pt modelId="{3A2CC85C-6F8A-486E-9016-7ED04C78AF87}">
      <dgm:prSet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Commitment to pay later</a:t>
          </a:r>
          <a:endParaRPr lang="en-IN" sz="2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322A16-2BE0-4DD4-BAB2-FF29D219F403}" type="parTrans" cxnId="{633233FD-F8C3-42BD-8016-52B5D188C031}">
      <dgm:prSet/>
      <dgm:spPr/>
      <dgm:t>
        <a:bodyPr/>
        <a:lstStyle/>
        <a:p>
          <a:endParaRPr lang="en-IN"/>
        </a:p>
      </dgm:t>
    </dgm:pt>
    <dgm:pt modelId="{93D0FDE9-4237-4968-8ABE-6128AB654171}" type="sibTrans" cxnId="{633233FD-F8C3-42BD-8016-52B5D188C031}">
      <dgm:prSet/>
      <dgm:spPr/>
      <dgm:t>
        <a:bodyPr/>
        <a:lstStyle/>
        <a:p>
          <a:endParaRPr lang="en-IN"/>
        </a:p>
      </dgm:t>
    </dgm:pt>
    <dgm:pt modelId="{25238AFA-BE49-4568-A8A0-172B18711BC9}">
      <dgm:prSet custT="1"/>
      <dgm:spPr>
        <a:solidFill>
          <a:schemeClr val="bg2">
            <a:alpha val="90000"/>
          </a:schemeClr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Most common, paid directly in cash</a:t>
          </a:r>
          <a:endParaRPr lang="en-IN" sz="20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1EE8AB-D6CF-41C1-99FE-9293260AEE36}" type="parTrans" cxnId="{11077B99-3A40-4A99-B4F6-1F939D5F4363}">
      <dgm:prSet/>
      <dgm:spPr/>
      <dgm:t>
        <a:bodyPr/>
        <a:lstStyle/>
        <a:p>
          <a:endParaRPr lang="en-IN"/>
        </a:p>
      </dgm:t>
    </dgm:pt>
    <dgm:pt modelId="{6B43A161-1B54-45CC-934C-4D66CDC190EE}" type="sibTrans" cxnId="{11077B99-3A40-4A99-B4F6-1F939D5F4363}">
      <dgm:prSet/>
      <dgm:spPr/>
      <dgm:t>
        <a:bodyPr/>
        <a:lstStyle/>
        <a:p>
          <a:endParaRPr lang="en-IN"/>
        </a:p>
      </dgm:t>
    </dgm:pt>
    <dgm:pt modelId="{022095DB-33AB-4AD1-A896-FB72D8928A4E}" type="pres">
      <dgm:prSet presAssocID="{974A1F31-436E-4C59-9D1F-2293138613C2}" presName="Name0" presStyleCnt="0">
        <dgm:presLayoutVars>
          <dgm:dir/>
          <dgm:animLvl val="lvl"/>
          <dgm:resizeHandles val="exact"/>
        </dgm:presLayoutVars>
      </dgm:prSet>
      <dgm:spPr/>
    </dgm:pt>
    <dgm:pt modelId="{39D8F8A6-09E5-4C1E-AC8E-B94F9E8E2A7C}" type="pres">
      <dgm:prSet presAssocID="{895A6CB8-41B0-49C9-8AB8-79BADB8BF34C}" presName="linNode" presStyleCnt="0"/>
      <dgm:spPr/>
    </dgm:pt>
    <dgm:pt modelId="{D64BEDC4-BEE3-49FF-A4E5-A2BE643C3D66}" type="pres">
      <dgm:prSet presAssocID="{895A6CB8-41B0-49C9-8AB8-79BADB8BF34C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12536F5-F365-4B21-A25D-C88A2E7E8895}" type="pres">
      <dgm:prSet presAssocID="{895A6CB8-41B0-49C9-8AB8-79BADB8BF34C}" presName="descendantText" presStyleLbl="alignAccFollowNode1" presStyleIdx="0" presStyleCnt="5">
        <dgm:presLayoutVars>
          <dgm:bulletEnabled val="1"/>
        </dgm:presLayoutVars>
      </dgm:prSet>
      <dgm:spPr/>
    </dgm:pt>
    <dgm:pt modelId="{848CD000-567E-4AD2-93E9-12F330AE1482}" type="pres">
      <dgm:prSet presAssocID="{7F22F512-02A1-4C1B-BD4D-92ED8B159081}" presName="sp" presStyleCnt="0"/>
      <dgm:spPr/>
    </dgm:pt>
    <dgm:pt modelId="{36B02555-E5D8-4893-8C44-0B9677A403E3}" type="pres">
      <dgm:prSet presAssocID="{2A1319B4-B7D2-48CB-BDCC-3182B42EFEDA}" presName="linNode" presStyleCnt="0"/>
      <dgm:spPr/>
    </dgm:pt>
    <dgm:pt modelId="{DAC0D577-2BCA-4DEB-A2CF-C3E09E359E61}" type="pres">
      <dgm:prSet presAssocID="{2A1319B4-B7D2-48CB-BDCC-3182B42EFEDA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5594B019-490C-4ACD-84C4-664D9234DDA2}" type="pres">
      <dgm:prSet presAssocID="{2A1319B4-B7D2-48CB-BDCC-3182B42EFEDA}" presName="descendantText" presStyleLbl="alignAccFollowNode1" presStyleIdx="1" presStyleCnt="5">
        <dgm:presLayoutVars>
          <dgm:bulletEnabled val="1"/>
        </dgm:presLayoutVars>
      </dgm:prSet>
      <dgm:spPr/>
    </dgm:pt>
    <dgm:pt modelId="{58EEAD71-9D3D-44B7-9C9D-80DEE3E6D335}" type="pres">
      <dgm:prSet presAssocID="{04D05047-B543-4F04-B137-E16CBE5DEA00}" presName="sp" presStyleCnt="0"/>
      <dgm:spPr/>
    </dgm:pt>
    <dgm:pt modelId="{6333CAB5-C008-4190-8ED2-D6D018E6A35B}" type="pres">
      <dgm:prSet presAssocID="{E79C2263-D73C-437E-8689-ED9AEA31BCCF}" presName="linNode" presStyleCnt="0"/>
      <dgm:spPr/>
    </dgm:pt>
    <dgm:pt modelId="{0F7ED4BC-3B6C-48FD-99E2-163D321DB6A6}" type="pres">
      <dgm:prSet presAssocID="{E79C2263-D73C-437E-8689-ED9AEA31BCC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F5A91CF3-A5D7-4FE7-9800-90F6117B22F2}" type="pres">
      <dgm:prSet presAssocID="{E79C2263-D73C-437E-8689-ED9AEA31BCCF}" presName="descendantText" presStyleLbl="alignAccFollowNode1" presStyleIdx="2" presStyleCnt="5">
        <dgm:presLayoutVars>
          <dgm:bulletEnabled val="1"/>
        </dgm:presLayoutVars>
      </dgm:prSet>
      <dgm:spPr/>
    </dgm:pt>
    <dgm:pt modelId="{A45183B6-B8AB-4243-A365-6231DDD2B73D}" type="pres">
      <dgm:prSet presAssocID="{EC6AB96C-F159-4AC8-8700-168AB3D071C1}" presName="sp" presStyleCnt="0"/>
      <dgm:spPr/>
    </dgm:pt>
    <dgm:pt modelId="{C3CB76A9-6786-4383-BEB0-8801EA40A7F2}" type="pres">
      <dgm:prSet presAssocID="{DF3C090E-2B8D-404C-8F2C-8D1C31B665EA}" presName="linNode" presStyleCnt="0"/>
      <dgm:spPr/>
    </dgm:pt>
    <dgm:pt modelId="{87012067-EF2A-4DCD-8AE4-510DF11D0F92}" type="pres">
      <dgm:prSet presAssocID="{DF3C090E-2B8D-404C-8F2C-8D1C31B665EA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365228D-140C-4144-92DE-7EA93C581917}" type="pres">
      <dgm:prSet presAssocID="{DF3C090E-2B8D-404C-8F2C-8D1C31B665EA}" presName="descendantText" presStyleLbl="alignAccFollowNode1" presStyleIdx="3" presStyleCnt="5">
        <dgm:presLayoutVars>
          <dgm:bulletEnabled val="1"/>
        </dgm:presLayoutVars>
      </dgm:prSet>
      <dgm:spPr/>
    </dgm:pt>
    <dgm:pt modelId="{475AA682-EFC0-4BDB-B215-7D8BC2458E08}" type="pres">
      <dgm:prSet presAssocID="{469FFE9D-169A-4AE2-8953-BD868E7E0688}" presName="sp" presStyleCnt="0"/>
      <dgm:spPr/>
    </dgm:pt>
    <dgm:pt modelId="{488DDE41-0445-4A8A-8DE4-DD3FEA4128D0}" type="pres">
      <dgm:prSet presAssocID="{2F6A6D30-C8FE-490B-A522-FD29F4EABB4E}" presName="linNode" presStyleCnt="0"/>
      <dgm:spPr/>
    </dgm:pt>
    <dgm:pt modelId="{20D2609A-ECF4-4A3C-A040-331CD11ADBDA}" type="pres">
      <dgm:prSet presAssocID="{2F6A6D30-C8FE-490B-A522-FD29F4EABB4E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4D5D1352-1515-486B-B941-1B5A65D9BB7D}" type="pres">
      <dgm:prSet presAssocID="{2F6A6D30-C8FE-490B-A522-FD29F4EABB4E}" presName="descendantText" presStyleLbl="alignAccFollowNode1" presStyleIdx="4" presStyleCnt="5" custLinFactNeighborX="0" custLinFactNeighborY="-4039">
        <dgm:presLayoutVars>
          <dgm:bulletEnabled val="1"/>
        </dgm:presLayoutVars>
      </dgm:prSet>
      <dgm:spPr/>
    </dgm:pt>
  </dgm:ptLst>
  <dgm:cxnLst>
    <dgm:cxn modelId="{EEA6B812-55A4-4426-8CB7-E1A37F9F6A6F}" type="presOf" srcId="{2F6A6D30-C8FE-490B-A522-FD29F4EABB4E}" destId="{20D2609A-ECF4-4A3C-A040-331CD11ADBDA}" srcOrd="0" destOrd="0" presId="urn:microsoft.com/office/officeart/2005/8/layout/vList5"/>
    <dgm:cxn modelId="{9E8EAD30-17AB-4B53-B7FF-9269639F0C76}" type="presOf" srcId="{77E4DCA2-1437-4F2B-A083-0BFF5CD7AB93}" destId="{F5A91CF3-A5D7-4FE7-9800-90F6117B22F2}" srcOrd="0" destOrd="0" presId="urn:microsoft.com/office/officeart/2005/8/layout/vList5"/>
    <dgm:cxn modelId="{FC262535-66A6-45B2-A697-8F6FC3B0C603}" type="presOf" srcId="{3A2CC85C-6F8A-486E-9016-7ED04C78AF87}" destId="{4D5D1352-1515-486B-B941-1B5A65D9BB7D}" srcOrd="0" destOrd="0" presId="urn:microsoft.com/office/officeart/2005/8/layout/vList5"/>
    <dgm:cxn modelId="{AEA97940-AF0C-47B7-98B4-5651B321AC7B}" type="presOf" srcId="{974A1F31-436E-4C59-9D1F-2293138613C2}" destId="{022095DB-33AB-4AD1-A896-FB72D8928A4E}" srcOrd="0" destOrd="0" presId="urn:microsoft.com/office/officeart/2005/8/layout/vList5"/>
    <dgm:cxn modelId="{04131363-49AC-403A-85C9-4D55B3C615FF}" srcId="{2A1319B4-B7D2-48CB-BDCC-3182B42EFEDA}" destId="{F5C82453-D4D2-4465-BFE5-553C307D0BC8}" srcOrd="0" destOrd="0" parTransId="{3A19F424-DB72-4EC8-8740-D266A4385FBE}" sibTransId="{D79AAC45-2390-4609-9585-89621C53447D}"/>
    <dgm:cxn modelId="{5347E063-38A6-40D4-8B1F-F4C59DF53A63}" type="presOf" srcId="{25238AFA-BE49-4568-A8A0-172B18711BC9}" destId="{712536F5-F365-4B21-A25D-C88A2E7E8895}" srcOrd="0" destOrd="0" presId="urn:microsoft.com/office/officeart/2005/8/layout/vList5"/>
    <dgm:cxn modelId="{E4A8084C-0056-49E8-A1A7-52005DC00B56}" srcId="{DF3C090E-2B8D-404C-8F2C-8D1C31B665EA}" destId="{F33CC601-7BB6-4D95-AFB6-8F190C00202B}" srcOrd="0" destOrd="0" parTransId="{8714146C-CDB7-4EA4-AC59-8689A331E35D}" sibTransId="{86732862-FCA2-4B95-9553-26EC607DECE6}"/>
    <dgm:cxn modelId="{D95CCE71-97FC-43E5-A744-D4C21922DCBA}" type="presOf" srcId="{F33CC601-7BB6-4D95-AFB6-8F190C00202B}" destId="{E365228D-140C-4144-92DE-7EA93C581917}" srcOrd="0" destOrd="0" presId="urn:microsoft.com/office/officeart/2005/8/layout/vList5"/>
    <dgm:cxn modelId="{42A98A76-5ABA-41BE-82AA-7A616A257EB5}" type="presOf" srcId="{E79C2263-D73C-437E-8689-ED9AEA31BCCF}" destId="{0F7ED4BC-3B6C-48FD-99E2-163D321DB6A6}" srcOrd="0" destOrd="0" presId="urn:microsoft.com/office/officeart/2005/8/layout/vList5"/>
    <dgm:cxn modelId="{820C3B59-31DF-4D3B-B1A3-4C925A48E18B}" type="presOf" srcId="{F5C82453-D4D2-4465-BFE5-553C307D0BC8}" destId="{5594B019-490C-4ACD-84C4-664D9234DDA2}" srcOrd="0" destOrd="0" presId="urn:microsoft.com/office/officeart/2005/8/layout/vList5"/>
    <dgm:cxn modelId="{3637DF5A-A2D2-4567-B674-57164AB36E8F}" srcId="{974A1F31-436E-4C59-9D1F-2293138613C2}" destId="{895A6CB8-41B0-49C9-8AB8-79BADB8BF34C}" srcOrd="0" destOrd="0" parTransId="{C83051E2-B82E-4122-AB37-D707C717F9E6}" sibTransId="{7F22F512-02A1-4C1B-BD4D-92ED8B159081}"/>
    <dgm:cxn modelId="{14354693-AD58-40D5-A96D-172A830A3A8D}" type="presOf" srcId="{895A6CB8-41B0-49C9-8AB8-79BADB8BF34C}" destId="{D64BEDC4-BEE3-49FF-A4E5-A2BE643C3D66}" srcOrd="0" destOrd="0" presId="urn:microsoft.com/office/officeart/2005/8/layout/vList5"/>
    <dgm:cxn modelId="{11077B99-3A40-4A99-B4F6-1F939D5F4363}" srcId="{895A6CB8-41B0-49C9-8AB8-79BADB8BF34C}" destId="{25238AFA-BE49-4568-A8A0-172B18711BC9}" srcOrd="0" destOrd="0" parTransId="{141EE8AB-D6CF-41C1-99FE-9293260AEE36}" sibTransId="{6B43A161-1B54-45CC-934C-4D66CDC190EE}"/>
    <dgm:cxn modelId="{C5AF219B-0898-4703-BB86-7BEF6F0EC3D6}" srcId="{974A1F31-436E-4C59-9D1F-2293138613C2}" destId="{DF3C090E-2B8D-404C-8F2C-8D1C31B665EA}" srcOrd="3" destOrd="0" parTransId="{868A5F93-25AF-40A6-A794-EA909B2C2435}" sibTransId="{469FFE9D-169A-4AE2-8953-BD868E7E0688}"/>
    <dgm:cxn modelId="{524BF4AD-A869-4CDB-8DD8-85269397BCDE}" srcId="{974A1F31-436E-4C59-9D1F-2293138613C2}" destId="{2F6A6D30-C8FE-490B-A522-FD29F4EABB4E}" srcOrd="4" destOrd="0" parTransId="{E092252B-57E9-42C2-BEA1-CE609DA5F13C}" sibTransId="{893EF4CB-05AF-44DB-9B68-825D456E01F1}"/>
    <dgm:cxn modelId="{330ABBC5-6A2F-4DD3-8349-BC7FC1370069}" srcId="{974A1F31-436E-4C59-9D1F-2293138613C2}" destId="{E79C2263-D73C-437E-8689-ED9AEA31BCCF}" srcOrd="2" destOrd="0" parTransId="{6F69D7B4-F9A1-4295-9190-619381F4811A}" sibTransId="{EC6AB96C-F159-4AC8-8700-168AB3D071C1}"/>
    <dgm:cxn modelId="{C4140ED0-D197-4461-8045-876DDB7077B1}" srcId="{974A1F31-436E-4C59-9D1F-2293138613C2}" destId="{2A1319B4-B7D2-48CB-BDCC-3182B42EFEDA}" srcOrd="1" destOrd="0" parTransId="{437E0F37-252F-46DE-A768-A0F7293CB2CC}" sibTransId="{04D05047-B543-4F04-B137-E16CBE5DEA00}"/>
    <dgm:cxn modelId="{350DB5DA-CADB-4470-99E4-3E2773515BC0}" srcId="{E79C2263-D73C-437E-8689-ED9AEA31BCCF}" destId="{77E4DCA2-1437-4F2B-A083-0BFF5CD7AB93}" srcOrd="0" destOrd="0" parTransId="{958579BB-078C-4DAD-BF0B-1B1AFF2D3630}" sibTransId="{0B77137E-2350-4557-933C-A62C85568D9B}"/>
    <dgm:cxn modelId="{759F79DC-A734-4469-A027-78767DAE6EF2}" type="presOf" srcId="{DF3C090E-2B8D-404C-8F2C-8D1C31B665EA}" destId="{87012067-EF2A-4DCD-8AE4-510DF11D0F92}" srcOrd="0" destOrd="0" presId="urn:microsoft.com/office/officeart/2005/8/layout/vList5"/>
    <dgm:cxn modelId="{9C7002ED-6794-45DD-8668-46000E013AAD}" type="presOf" srcId="{2A1319B4-B7D2-48CB-BDCC-3182B42EFEDA}" destId="{DAC0D577-2BCA-4DEB-A2CF-C3E09E359E61}" srcOrd="0" destOrd="0" presId="urn:microsoft.com/office/officeart/2005/8/layout/vList5"/>
    <dgm:cxn modelId="{633233FD-F8C3-42BD-8016-52B5D188C031}" srcId="{2F6A6D30-C8FE-490B-A522-FD29F4EABB4E}" destId="{3A2CC85C-6F8A-486E-9016-7ED04C78AF87}" srcOrd="0" destOrd="0" parTransId="{48322A16-2BE0-4DD4-BAB2-FF29D219F403}" sibTransId="{93D0FDE9-4237-4968-8ABE-6128AB654171}"/>
    <dgm:cxn modelId="{1C794027-F432-4452-AE29-35C49D6CED2E}" type="presParOf" srcId="{022095DB-33AB-4AD1-A896-FB72D8928A4E}" destId="{39D8F8A6-09E5-4C1E-AC8E-B94F9E8E2A7C}" srcOrd="0" destOrd="0" presId="urn:microsoft.com/office/officeart/2005/8/layout/vList5"/>
    <dgm:cxn modelId="{3FD0017D-6507-433D-BAD1-3F42CCF3B5AC}" type="presParOf" srcId="{39D8F8A6-09E5-4C1E-AC8E-B94F9E8E2A7C}" destId="{D64BEDC4-BEE3-49FF-A4E5-A2BE643C3D66}" srcOrd="0" destOrd="0" presId="urn:microsoft.com/office/officeart/2005/8/layout/vList5"/>
    <dgm:cxn modelId="{C1A323E4-F5D2-4DFB-8B2B-E996A44AB6CE}" type="presParOf" srcId="{39D8F8A6-09E5-4C1E-AC8E-B94F9E8E2A7C}" destId="{712536F5-F365-4B21-A25D-C88A2E7E8895}" srcOrd="1" destOrd="0" presId="urn:microsoft.com/office/officeart/2005/8/layout/vList5"/>
    <dgm:cxn modelId="{07852C97-694A-44A0-B4AA-F4D01BFB6552}" type="presParOf" srcId="{022095DB-33AB-4AD1-A896-FB72D8928A4E}" destId="{848CD000-567E-4AD2-93E9-12F330AE1482}" srcOrd="1" destOrd="0" presId="urn:microsoft.com/office/officeart/2005/8/layout/vList5"/>
    <dgm:cxn modelId="{EFA112C2-78AD-4C53-BC06-052E820B02A3}" type="presParOf" srcId="{022095DB-33AB-4AD1-A896-FB72D8928A4E}" destId="{36B02555-E5D8-4893-8C44-0B9677A403E3}" srcOrd="2" destOrd="0" presId="urn:microsoft.com/office/officeart/2005/8/layout/vList5"/>
    <dgm:cxn modelId="{BBA552D3-04B6-438E-8ABF-40142A2EF286}" type="presParOf" srcId="{36B02555-E5D8-4893-8C44-0B9677A403E3}" destId="{DAC0D577-2BCA-4DEB-A2CF-C3E09E359E61}" srcOrd="0" destOrd="0" presId="urn:microsoft.com/office/officeart/2005/8/layout/vList5"/>
    <dgm:cxn modelId="{31105676-1CBB-4662-85CB-DEC7D3AE9D1F}" type="presParOf" srcId="{36B02555-E5D8-4893-8C44-0B9677A403E3}" destId="{5594B019-490C-4ACD-84C4-664D9234DDA2}" srcOrd="1" destOrd="0" presId="urn:microsoft.com/office/officeart/2005/8/layout/vList5"/>
    <dgm:cxn modelId="{0B2B1968-D42A-4F8B-BA8E-2C854D1FD131}" type="presParOf" srcId="{022095DB-33AB-4AD1-A896-FB72D8928A4E}" destId="{58EEAD71-9D3D-44B7-9C9D-80DEE3E6D335}" srcOrd="3" destOrd="0" presId="urn:microsoft.com/office/officeart/2005/8/layout/vList5"/>
    <dgm:cxn modelId="{770F1099-7BBD-494B-A2AA-65D249BF54F1}" type="presParOf" srcId="{022095DB-33AB-4AD1-A896-FB72D8928A4E}" destId="{6333CAB5-C008-4190-8ED2-D6D018E6A35B}" srcOrd="4" destOrd="0" presId="urn:microsoft.com/office/officeart/2005/8/layout/vList5"/>
    <dgm:cxn modelId="{6FECD5D5-FFC1-40B9-8E64-CF5269F39F47}" type="presParOf" srcId="{6333CAB5-C008-4190-8ED2-D6D018E6A35B}" destId="{0F7ED4BC-3B6C-48FD-99E2-163D321DB6A6}" srcOrd="0" destOrd="0" presId="urn:microsoft.com/office/officeart/2005/8/layout/vList5"/>
    <dgm:cxn modelId="{E59CAB68-3AF7-4BBA-A254-8816DF208887}" type="presParOf" srcId="{6333CAB5-C008-4190-8ED2-D6D018E6A35B}" destId="{F5A91CF3-A5D7-4FE7-9800-90F6117B22F2}" srcOrd="1" destOrd="0" presId="urn:microsoft.com/office/officeart/2005/8/layout/vList5"/>
    <dgm:cxn modelId="{E3998DF0-CFC4-4145-8832-F30037D89259}" type="presParOf" srcId="{022095DB-33AB-4AD1-A896-FB72D8928A4E}" destId="{A45183B6-B8AB-4243-A365-6231DDD2B73D}" srcOrd="5" destOrd="0" presId="urn:microsoft.com/office/officeart/2005/8/layout/vList5"/>
    <dgm:cxn modelId="{71507468-DF41-4B9A-987F-A6C9010DCF0D}" type="presParOf" srcId="{022095DB-33AB-4AD1-A896-FB72D8928A4E}" destId="{C3CB76A9-6786-4383-BEB0-8801EA40A7F2}" srcOrd="6" destOrd="0" presId="urn:microsoft.com/office/officeart/2005/8/layout/vList5"/>
    <dgm:cxn modelId="{A7999947-7D32-4772-98CD-D0AF29F6D61C}" type="presParOf" srcId="{C3CB76A9-6786-4383-BEB0-8801EA40A7F2}" destId="{87012067-EF2A-4DCD-8AE4-510DF11D0F92}" srcOrd="0" destOrd="0" presId="urn:microsoft.com/office/officeart/2005/8/layout/vList5"/>
    <dgm:cxn modelId="{9F5BF470-B477-4AC6-B11E-3EE68902A4A6}" type="presParOf" srcId="{C3CB76A9-6786-4383-BEB0-8801EA40A7F2}" destId="{E365228D-140C-4144-92DE-7EA93C581917}" srcOrd="1" destOrd="0" presId="urn:microsoft.com/office/officeart/2005/8/layout/vList5"/>
    <dgm:cxn modelId="{A7232E92-C35B-47FB-A872-94D4328DC69C}" type="presParOf" srcId="{022095DB-33AB-4AD1-A896-FB72D8928A4E}" destId="{475AA682-EFC0-4BDB-B215-7D8BC2458E08}" srcOrd="7" destOrd="0" presId="urn:microsoft.com/office/officeart/2005/8/layout/vList5"/>
    <dgm:cxn modelId="{790A58C1-2D99-4063-A23A-EC4BBC01C94A}" type="presParOf" srcId="{022095DB-33AB-4AD1-A896-FB72D8928A4E}" destId="{488DDE41-0445-4A8A-8DE4-DD3FEA4128D0}" srcOrd="8" destOrd="0" presId="urn:microsoft.com/office/officeart/2005/8/layout/vList5"/>
    <dgm:cxn modelId="{0E0AA368-5C0F-4F13-97B7-7038308FFA57}" type="presParOf" srcId="{488DDE41-0445-4A8A-8DE4-DD3FEA4128D0}" destId="{20D2609A-ECF4-4A3C-A040-331CD11ADBDA}" srcOrd="0" destOrd="0" presId="urn:microsoft.com/office/officeart/2005/8/layout/vList5"/>
    <dgm:cxn modelId="{3AB98B44-C2CC-4F2A-A3A0-0E1D044A6D18}" type="presParOf" srcId="{488DDE41-0445-4A8A-8DE4-DD3FEA4128D0}" destId="{4D5D1352-1515-486B-B941-1B5A65D9BB7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4A1F31-436E-4C59-9D1F-2293138613C2}" type="doc">
      <dgm:prSet loTypeId="urn:microsoft.com/office/officeart/2005/8/layout/hList6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5A6CB8-41B0-49C9-8AB8-79BADB8BF34C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Stable Dividend Policy</a:t>
          </a:r>
        </a:p>
        <a:p>
          <a:pPr>
            <a:lnSpc>
              <a:spcPct val="150000"/>
            </a:lnSpc>
          </a:pP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Regular dividends irrespective of profit fluctuations</a:t>
          </a:r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3051E2-B82E-4122-AB37-D707C717F9E6}" type="parTrans" cxnId="{3637DF5A-A2D2-4567-B674-57164AB36E8F}">
      <dgm:prSet/>
      <dgm:spPr/>
      <dgm:t>
        <a:bodyPr/>
        <a:lstStyle/>
        <a:p>
          <a:endParaRPr lang="en-IN"/>
        </a:p>
      </dgm:t>
    </dgm:pt>
    <dgm:pt modelId="{7F22F512-02A1-4C1B-BD4D-92ED8B159081}" type="sibTrans" cxnId="{3637DF5A-A2D2-4567-B674-57164AB36E8F}">
      <dgm:prSet/>
      <dgm:spPr/>
      <dgm:t>
        <a:bodyPr/>
        <a:lstStyle/>
        <a:p>
          <a:endParaRPr lang="en-IN"/>
        </a:p>
      </dgm:t>
    </dgm:pt>
    <dgm:pt modelId="{E79C2263-D73C-437E-8689-ED9AEA31BCCF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Residual Dividend Policy</a:t>
          </a:r>
        </a:p>
        <a:p>
          <a:pPr>
            <a:lnSpc>
              <a:spcPct val="150000"/>
            </a:lnSpc>
          </a:pP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Dividend paid after funding investment needs</a:t>
          </a:r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69D7B4-F9A1-4295-9190-619381F4811A}" type="parTrans" cxnId="{330ABBC5-6A2F-4DD3-8349-BC7FC1370069}">
      <dgm:prSet/>
      <dgm:spPr/>
      <dgm:t>
        <a:bodyPr/>
        <a:lstStyle/>
        <a:p>
          <a:endParaRPr lang="en-IN"/>
        </a:p>
      </dgm:t>
    </dgm:pt>
    <dgm:pt modelId="{EC6AB96C-F159-4AC8-8700-168AB3D071C1}" type="sibTrans" cxnId="{330ABBC5-6A2F-4DD3-8349-BC7FC1370069}">
      <dgm:prSet/>
      <dgm:spPr/>
      <dgm:t>
        <a:bodyPr/>
        <a:lstStyle/>
        <a:p>
          <a:endParaRPr lang="en-IN"/>
        </a:p>
      </dgm:t>
    </dgm:pt>
    <dgm:pt modelId="{DF3C090E-2B8D-404C-8F2C-8D1C31B665E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Hybrid Policy</a:t>
          </a:r>
        </a:p>
        <a:p>
          <a:pPr>
            <a:lnSpc>
              <a:spcPct val="150000"/>
            </a:lnSpc>
          </a:pP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Combination of stability and residual approach</a:t>
          </a:r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8A5F93-25AF-40A6-A794-EA909B2C2435}" type="parTrans" cxnId="{C5AF219B-0898-4703-BB86-7BEF6F0EC3D6}">
      <dgm:prSet/>
      <dgm:spPr/>
      <dgm:t>
        <a:bodyPr/>
        <a:lstStyle/>
        <a:p>
          <a:endParaRPr lang="en-IN"/>
        </a:p>
      </dgm:t>
    </dgm:pt>
    <dgm:pt modelId="{469FFE9D-169A-4AE2-8953-BD868E7E0688}" type="sibTrans" cxnId="{C5AF219B-0898-4703-BB86-7BEF6F0EC3D6}">
      <dgm:prSet/>
      <dgm:spPr/>
      <dgm:t>
        <a:bodyPr/>
        <a:lstStyle/>
        <a:p>
          <a:endParaRPr lang="en-IN"/>
        </a:p>
      </dgm:t>
    </dgm:pt>
    <dgm:pt modelId="{2A1319B4-B7D2-48CB-BDCC-3182B42EFEDA}">
      <dgm:prSet phldrT="[Text]" custT="1"/>
      <dgm:spPr>
        <a:solidFill>
          <a:schemeClr val="bg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Constant Payout Ratio Policy</a:t>
          </a:r>
          <a:r>
            <a:rPr lang="en-IN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>
            <a:lnSpc>
              <a:spcPct val="150000"/>
            </a:lnSpc>
          </a:pPr>
          <a:r>
            <a: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Fixed percentage of earnings distributed</a:t>
          </a:r>
          <a:endParaRPr lang="en-IN" sz="20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7E0F37-252F-46DE-A768-A0F7293CB2CC}" type="parTrans" cxnId="{C4140ED0-D197-4461-8045-876DDB7077B1}">
      <dgm:prSet/>
      <dgm:spPr/>
      <dgm:t>
        <a:bodyPr/>
        <a:lstStyle/>
        <a:p>
          <a:endParaRPr lang="en-IN"/>
        </a:p>
      </dgm:t>
    </dgm:pt>
    <dgm:pt modelId="{04D05047-B543-4F04-B137-E16CBE5DEA00}" type="sibTrans" cxnId="{C4140ED0-D197-4461-8045-876DDB7077B1}">
      <dgm:prSet/>
      <dgm:spPr/>
      <dgm:t>
        <a:bodyPr/>
        <a:lstStyle/>
        <a:p>
          <a:endParaRPr lang="en-IN"/>
        </a:p>
      </dgm:t>
    </dgm:pt>
    <dgm:pt modelId="{F79B86AC-95A4-4266-B6FD-BF0D08449831}" type="pres">
      <dgm:prSet presAssocID="{974A1F31-436E-4C59-9D1F-2293138613C2}" presName="Name0" presStyleCnt="0">
        <dgm:presLayoutVars>
          <dgm:dir/>
          <dgm:resizeHandles val="exact"/>
        </dgm:presLayoutVars>
      </dgm:prSet>
      <dgm:spPr/>
    </dgm:pt>
    <dgm:pt modelId="{C6AFFCE0-466E-486B-91E2-C6C3DB46E59E}" type="pres">
      <dgm:prSet presAssocID="{895A6CB8-41B0-49C9-8AB8-79BADB8BF34C}" presName="node" presStyleLbl="node1" presStyleIdx="0" presStyleCnt="4">
        <dgm:presLayoutVars>
          <dgm:bulletEnabled val="1"/>
        </dgm:presLayoutVars>
      </dgm:prSet>
      <dgm:spPr/>
    </dgm:pt>
    <dgm:pt modelId="{9A5EFB42-0BF6-44AF-B22B-143677230CF4}" type="pres">
      <dgm:prSet presAssocID="{7F22F512-02A1-4C1B-BD4D-92ED8B159081}" presName="sibTrans" presStyleCnt="0"/>
      <dgm:spPr/>
    </dgm:pt>
    <dgm:pt modelId="{44A847EF-AB54-4688-A746-8535B26218E0}" type="pres">
      <dgm:prSet presAssocID="{2A1319B4-B7D2-48CB-BDCC-3182B42EFEDA}" presName="node" presStyleLbl="node1" presStyleIdx="1" presStyleCnt="4">
        <dgm:presLayoutVars>
          <dgm:bulletEnabled val="1"/>
        </dgm:presLayoutVars>
      </dgm:prSet>
      <dgm:spPr/>
    </dgm:pt>
    <dgm:pt modelId="{EC98F683-D7DF-41E6-B610-752A4478240D}" type="pres">
      <dgm:prSet presAssocID="{04D05047-B543-4F04-B137-E16CBE5DEA00}" presName="sibTrans" presStyleCnt="0"/>
      <dgm:spPr/>
    </dgm:pt>
    <dgm:pt modelId="{D5E19273-BBC3-447D-8B23-EF907979E22A}" type="pres">
      <dgm:prSet presAssocID="{E79C2263-D73C-437E-8689-ED9AEA31BCCF}" presName="node" presStyleLbl="node1" presStyleIdx="2" presStyleCnt="4">
        <dgm:presLayoutVars>
          <dgm:bulletEnabled val="1"/>
        </dgm:presLayoutVars>
      </dgm:prSet>
      <dgm:spPr/>
    </dgm:pt>
    <dgm:pt modelId="{6D99F3D6-8852-41C3-9B24-A6DE3434AFAB}" type="pres">
      <dgm:prSet presAssocID="{EC6AB96C-F159-4AC8-8700-168AB3D071C1}" presName="sibTrans" presStyleCnt="0"/>
      <dgm:spPr/>
    </dgm:pt>
    <dgm:pt modelId="{0158AB43-F387-4B79-9DF2-6EBD7107FDA1}" type="pres">
      <dgm:prSet presAssocID="{DF3C090E-2B8D-404C-8F2C-8D1C31B665EA}" presName="node" presStyleLbl="node1" presStyleIdx="3" presStyleCnt="4">
        <dgm:presLayoutVars>
          <dgm:bulletEnabled val="1"/>
        </dgm:presLayoutVars>
      </dgm:prSet>
      <dgm:spPr/>
    </dgm:pt>
  </dgm:ptLst>
  <dgm:cxnLst>
    <dgm:cxn modelId="{7F48253D-2148-41DA-BCCD-F5A9F2CF0DB3}" type="presOf" srcId="{E79C2263-D73C-437E-8689-ED9AEA31BCCF}" destId="{D5E19273-BBC3-447D-8B23-EF907979E22A}" srcOrd="0" destOrd="0" presId="urn:microsoft.com/office/officeart/2005/8/layout/hList6"/>
    <dgm:cxn modelId="{E7394A6D-433D-45AC-A279-02AE08AF52D9}" type="presOf" srcId="{DF3C090E-2B8D-404C-8F2C-8D1C31B665EA}" destId="{0158AB43-F387-4B79-9DF2-6EBD7107FDA1}" srcOrd="0" destOrd="0" presId="urn:microsoft.com/office/officeart/2005/8/layout/hList6"/>
    <dgm:cxn modelId="{760E2F73-D0DE-4015-9064-A4A9BD959491}" type="presOf" srcId="{2A1319B4-B7D2-48CB-BDCC-3182B42EFEDA}" destId="{44A847EF-AB54-4688-A746-8535B26218E0}" srcOrd="0" destOrd="0" presId="urn:microsoft.com/office/officeart/2005/8/layout/hList6"/>
    <dgm:cxn modelId="{2575DD76-8961-4C5F-ACE9-FA9A638A6155}" type="presOf" srcId="{895A6CB8-41B0-49C9-8AB8-79BADB8BF34C}" destId="{C6AFFCE0-466E-486B-91E2-C6C3DB46E59E}" srcOrd="0" destOrd="0" presId="urn:microsoft.com/office/officeart/2005/8/layout/hList6"/>
    <dgm:cxn modelId="{3637DF5A-A2D2-4567-B674-57164AB36E8F}" srcId="{974A1F31-436E-4C59-9D1F-2293138613C2}" destId="{895A6CB8-41B0-49C9-8AB8-79BADB8BF34C}" srcOrd="0" destOrd="0" parTransId="{C83051E2-B82E-4122-AB37-D707C717F9E6}" sibTransId="{7F22F512-02A1-4C1B-BD4D-92ED8B159081}"/>
    <dgm:cxn modelId="{C5AF219B-0898-4703-BB86-7BEF6F0EC3D6}" srcId="{974A1F31-436E-4C59-9D1F-2293138613C2}" destId="{DF3C090E-2B8D-404C-8F2C-8D1C31B665EA}" srcOrd="3" destOrd="0" parTransId="{868A5F93-25AF-40A6-A794-EA909B2C2435}" sibTransId="{469FFE9D-169A-4AE2-8953-BD868E7E0688}"/>
    <dgm:cxn modelId="{7E776DC3-243A-4150-B743-83FFC4601F82}" type="presOf" srcId="{974A1F31-436E-4C59-9D1F-2293138613C2}" destId="{F79B86AC-95A4-4266-B6FD-BF0D08449831}" srcOrd="0" destOrd="0" presId="urn:microsoft.com/office/officeart/2005/8/layout/hList6"/>
    <dgm:cxn modelId="{330ABBC5-6A2F-4DD3-8349-BC7FC1370069}" srcId="{974A1F31-436E-4C59-9D1F-2293138613C2}" destId="{E79C2263-D73C-437E-8689-ED9AEA31BCCF}" srcOrd="2" destOrd="0" parTransId="{6F69D7B4-F9A1-4295-9190-619381F4811A}" sibTransId="{EC6AB96C-F159-4AC8-8700-168AB3D071C1}"/>
    <dgm:cxn modelId="{C4140ED0-D197-4461-8045-876DDB7077B1}" srcId="{974A1F31-436E-4C59-9D1F-2293138613C2}" destId="{2A1319B4-B7D2-48CB-BDCC-3182B42EFEDA}" srcOrd="1" destOrd="0" parTransId="{437E0F37-252F-46DE-A768-A0F7293CB2CC}" sibTransId="{04D05047-B543-4F04-B137-E16CBE5DEA00}"/>
    <dgm:cxn modelId="{68B9ED7D-CC60-4546-B6FD-26006CE23B98}" type="presParOf" srcId="{F79B86AC-95A4-4266-B6FD-BF0D08449831}" destId="{C6AFFCE0-466E-486B-91E2-C6C3DB46E59E}" srcOrd="0" destOrd="0" presId="urn:microsoft.com/office/officeart/2005/8/layout/hList6"/>
    <dgm:cxn modelId="{BF66A196-34E5-4E8D-B0B6-F86B83EC80EC}" type="presParOf" srcId="{F79B86AC-95A4-4266-B6FD-BF0D08449831}" destId="{9A5EFB42-0BF6-44AF-B22B-143677230CF4}" srcOrd="1" destOrd="0" presId="urn:microsoft.com/office/officeart/2005/8/layout/hList6"/>
    <dgm:cxn modelId="{70817855-94D2-48BE-92E3-9D5FED53EEC7}" type="presParOf" srcId="{F79B86AC-95A4-4266-B6FD-BF0D08449831}" destId="{44A847EF-AB54-4688-A746-8535B26218E0}" srcOrd="2" destOrd="0" presId="urn:microsoft.com/office/officeart/2005/8/layout/hList6"/>
    <dgm:cxn modelId="{25B537D0-E3B7-4807-BD28-0F304D92D4E5}" type="presParOf" srcId="{F79B86AC-95A4-4266-B6FD-BF0D08449831}" destId="{EC98F683-D7DF-41E6-B610-752A4478240D}" srcOrd="3" destOrd="0" presId="urn:microsoft.com/office/officeart/2005/8/layout/hList6"/>
    <dgm:cxn modelId="{AF46FBDF-15DB-443B-93CC-5895156175D5}" type="presParOf" srcId="{F79B86AC-95A4-4266-B6FD-BF0D08449831}" destId="{D5E19273-BBC3-447D-8B23-EF907979E22A}" srcOrd="4" destOrd="0" presId="urn:microsoft.com/office/officeart/2005/8/layout/hList6"/>
    <dgm:cxn modelId="{7B2151BE-9EC6-43C8-A04E-681B87C97F6C}" type="presParOf" srcId="{F79B86AC-95A4-4266-B6FD-BF0D08449831}" destId="{6D99F3D6-8852-41C3-9B24-A6DE3434AFAB}" srcOrd="5" destOrd="0" presId="urn:microsoft.com/office/officeart/2005/8/layout/hList6"/>
    <dgm:cxn modelId="{800F815E-DE36-47CC-BDE3-62A57E69A9C3}" type="presParOf" srcId="{F79B86AC-95A4-4266-B6FD-BF0D08449831}" destId="{0158AB43-F387-4B79-9DF2-6EBD7107FDA1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536F5-F365-4B21-A25D-C88A2E7E8895}">
      <dsp:nvSpPr>
        <dsp:cNvPr id="0" name=""/>
        <dsp:cNvSpPr/>
      </dsp:nvSpPr>
      <dsp:spPr>
        <a:xfrm rot="5400000">
          <a:off x="6657524" y="-2845959"/>
          <a:ext cx="731072" cy="6609939"/>
        </a:xfrm>
        <a:prstGeom prst="round2SameRect">
          <a:avLst/>
        </a:prstGeom>
        <a:solidFill>
          <a:schemeClr val="bg2">
            <a:alpha val="9000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Most common, paid directly in cash</a:t>
          </a:r>
          <a:endParaRPr lang="en-IN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18091" y="129162"/>
        <a:ext cx="6574251" cy="659696"/>
      </dsp:txXfrm>
    </dsp:sp>
    <dsp:sp modelId="{D64BEDC4-BEE3-49FF-A4E5-A2BE643C3D66}">
      <dsp:nvSpPr>
        <dsp:cNvPr id="0" name=""/>
        <dsp:cNvSpPr/>
      </dsp:nvSpPr>
      <dsp:spPr>
        <a:xfrm>
          <a:off x="0" y="2090"/>
          <a:ext cx="3718091" cy="91384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Cash Dividend</a:t>
          </a:r>
        </a:p>
      </dsp:txBody>
      <dsp:txXfrm>
        <a:off x="44610" y="46700"/>
        <a:ext cx="3628871" cy="824620"/>
      </dsp:txXfrm>
    </dsp:sp>
    <dsp:sp modelId="{5594B019-490C-4ACD-84C4-664D9234DDA2}">
      <dsp:nvSpPr>
        <dsp:cNvPr id="0" name=""/>
        <dsp:cNvSpPr/>
      </dsp:nvSpPr>
      <dsp:spPr>
        <a:xfrm rot="5400000">
          <a:off x="6657524" y="-1886427"/>
          <a:ext cx="731072" cy="6609939"/>
        </a:xfrm>
        <a:prstGeom prst="round2SameRect">
          <a:avLst/>
        </a:prstGeom>
        <a:solidFill>
          <a:schemeClr val="bg2">
            <a:alpha val="9000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Paid when company partially closes operations</a:t>
          </a:r>
          <a:endParaRPr lang="en-IN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18091" y="1088694"/>
        <a:ext cx="6574251" cy="659696"/>
      </dsp:txXfrm>
    </dsp:sp>
    <dsp:sp modelId="{DAC0D577-2BCA-4DEB-A2CF-C3E09E359E61}">
      <dsp:nvSpPr>
        <dsp:cNvPr id="0" name=""/>
        <dsp:cNvSpPr/>
      </dsp:nvSpPr>
      <dsp:spPr>
        <a:xfrm>
          <a:off x="0" y="961622"/>
          <a:ext cx="3718091" cy="91384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Liquidating Dividend </a:t>
          </a:r>
        </a:p>
      </dsp:txBody>
      <dsp:txXfrm>
        <a:off x="44610" y="1006232"/>
        <a:ext cx="3628871" cy="824620"/>
      </dsp:txXfrm>
    </dsp:sp>
    <dsp:sp modelId="{F5A91CF3-A5D7-4FE7-9800-90F6117B22F2}">
      <dsp:nvSpPr>
        <dsp:cNvPr id="0" name=""/>
        <dsp:cNvSpPr/>
      </dsp:nvSpPr>
      <dsp:spPr>
        <a:xfrm rot="5400000">
          <a:off x="6657524" y="-926894"/>
          <a:ext cx="731072" cy="6609939"/>
        </a:xfrm>
        <a:prstGeom prst="round2SameRect">
          <a:avLst/>
        </a:prstGeom>
        <a:solidFill>
          <a:schemeClr val="bg2">
            <a:alpha val="9000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Paid in the form of additional shares</a:t>
          </a:r>
          <a:endParaRPr lang="en-IN" sz="20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18091" y="2048227"/>
        <a:ext cx="6574251" cy="659696"/>
      </dsp:txXfrm>
    </dsp:sp>
    <dsp:sp modelId="{0F7ED4BC-3B6C-48FD-99E2-163D321DB6A6}">
      <dsp:nvSpPr>
        <dsp:cNvPr id="0" name=""/>
        <dsp:cNvSpPr/>
      </dsp:nvSpPr>
      <dsp:spPr>
        <a:xfrm>
          <a:off x="0" y="1921154"/>
          <a:ext cx="3718091" cy="91384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Stock Dividend</a:t>
          </a:r>
        </a:p>
      </dsp:txBody>
      <dsp:txXfrm>
        <a:off x="44610" y="1965764"/>
        <a:ext cx="3628871" cy="824620"/>
      </dsp:txXfrm>
    </dsp:sp>
    <dsp:sp modelId="{E365228D-140C-4144-92DE-7EA93C581917}">
      <dsp:nvSpPr>
        <dsp:cNvPr id="0" name=""/>
        <dsp:cNvSpPr/>
      </dsp:nvSpPr>
      <dsp:spPr>
        <a:xfrm rot="5400000">
          <a:off x="6657524" y="32637"/>
          <a:ext cx="731072" cy="6609939"/>
        </a:xfrm>
        <a:prstGeom prst="round2SameRect">
          <a:avLst/>
        </a:prstGeom>
        <a:solidFill>
          <a:schemeClr val="bg2">
            <a:alpha val="9000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Paid in assets other than cash</a:t>
          </a:r>
          <a:endParaRPr lang="en-IN" sz="2000" kern="12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18091" y="3007758"/>
        <a:ext cx="6574251" cy="659696"/>
      </dsp:txXfrm>
    </dsp:sp>
    <dsp:sp modelId="{87012067-EF2A-4DCD-8AE4-510DF11D0F92}">
      <dsp:nvSpPr>
        <dsp:cNvPr id="0" name=""/>
        <dsp:cNvSpPr/>
      </dsp:nvSpPr>
      <dsp:spPr>
        <a:xfrm>
          <a:off x="0" y="2880687"/>
          <a:ext cx="3718091" cy="91384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Property Dividend</a:t>
          </a:r>
        </a:p>
      </dsp:txBody>
      <dsp:txXfrm>
        <a:off x="44610" y="2925297"/>
        <a:ext cx="3628871" cy="824620"/>
      </dsp:txXfrm>
    </dsp:sp>
    <dsp:sp modelId="{4D5D1352-1515-486B-B941-1B5A65D9BB7D}">
      <dsp:nvSpPr>
        <dsp:cNvPr id="0" name=""/>
        <dsp:cNvSpPr/>
      </dsp:nvSpPr>
      <dsp:spPr>
        <a:xfrm rot="5400000">
          <a:off x="6657524" y="962641"/>
          <a:ext cx="731072" cy="6609939"/>
        </a:xfrm>
        <a:prstGeom prst="round2SameRect">
          <a:avLst/>
        </a:prstGeom>
        <a:solidFill>
          <a:schemeClr val="bg2">
            <a:alpha val="9000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Commitment to pay later</a:t>
          </a:r>
          <a:endParaRPr lang="en-IN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18091" y="3937762"/>
        <a:ext cx="6574251" cy="659696"/>
      </dsp:txXfrm>
    </dsp:sp>
    <dsp:sp modelId="{20D2609A-ECF4-4A3C-A040-331CD11ADBDA}">
      <dsp:nvSpPr>
        <dsp:cNvPr id="0" name=""/>
        <dsp:cNvSpPr/>
      </dsp:nvSpPr>
      <dsp:spPr>
        <a:xfrm>
          <a:off x="0" y="3840219"/>
          <a:ext cx="3718091" cy="913840"/>
        </a:xfrm>
        <a:prstGeom prst="roundRect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Promissory Dividend</a:t>
          </a:r>
        </a:p>
      </dsp:txBody>
      <dsp:txXfrm>
        <a:off x="44610" y="3884829"/>
        <a:ext cx="3628871" cy="8246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FFCE0-466E-486B-91E2-C6C3DB46E59E}">
      <dsp:nvSpPr>
        <dsp:cNvPr id="0" name=""/>
        <dsp:cNvSpPr/>
      </dsp:nvSpPr>
      <dsp:spPr>
        <a:xfrm rot="16200000">
          <a:off x="-928900" y="931350"/>
          <a:ext cx="4267200" cy="2404498"/>
        </a:xfrm>
        <a:prstGeom prst="flowChartManualOperation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Stable Dividend Policy</a:t>
          </a:r>
        </a:p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Regular dividends irrespective of profit fluctuations</a:t>
          </a: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5400000">
        <a:off x="2451" y="853439"/>
        <a:ext cx="2404498" cy="2560320"/>
      </dsp:txXfrm>
    </dsp:sp>
    <dsp:sp modelId="{44A847EF-AB54-4688-A746-8535B26218E0}">
      <dsp:nvSpPr>
        <dsp:cNvPr id="0" name=""/>
        <dsp:cNvSpPr/>
      </dsp:nvSpPr>
      <dsp:spPr>
        <a:xfrm rot="16200000">
          <a:off x="1655935" y="931350"/>
          <a:ext cx="4267200" cy="2404498"/>
        </a:xfrm>
        <a:prstGeom prst="flowChartManualOperation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Constant Payout Ratio Policy</a:t>
          </a:r>
          <a:r>
            <a:rPr lang="en-IN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Fixed percentage of earnings distributed</a:t>
          </a: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5400000">
        <a:off x="2587286" y="853439"/>
        <a:ext cx="2404498" cy="2560320"/>
      </dsp:txXfrm>
    </dsp:sp>
    <dsp:sp modelId="{D5E19273-BBC3-447D-8B23-EF907979E22A}">
      <dsp:nvSpPr>
        <dsp:cNvPr id="0" name=""/>
        <dsp:cNvSpPr/>
      </dsp:nvSpPr>
      <dsp:spPr>
        <a:xfrm rot="16200000">
          <a:off x="4240772" y="931350"/>
          <a:ext cx="4267200" cy="2404498"/>
        </a:xfrm>
        <a:prstGeom prst="flowChartManualOperation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Residual Dividend Policy</a:t>
          </a:r>
        </a:p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Dividend paid after funding investment needs</a:t>
          </a: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5400000">
        <a:off x="5172123" y="853439"/>
        <a:ext cx="2404498" cy="2560320"/>
      </dsp:txXfrm>
    </dsp:sp>
    <dsp:sp modelId="{0158AB43-F387-4B79-9DF2-6EBD7107FDA1}">
      <dsp:nvSpPr>
        <dsp:cNvPr id="0" name=""/>
        <dsp:cNvSpPr/>
      </dsp:nvSpPr>
      <dsp:spPr>
        <a:xfrm rot="16200000">
          <a:off x="6825608" y="931350"/>
          <a:ext cx="4267200" cy="2404498"/>
        </a:xfrm>
        <a:prstGeom prst="flowChartManualOperation">
          <a:avLst/>
        </a:prstGeom>
        <a:solidFill>
          <a:schemeClr val="bg2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Hybrid Policy</a:t>
          </a:r>
        </a:p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Combination of stability and residual approach</a:t>
          </a:r>
          <a:endParaRPr lang="en-IN" sz="20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5400000">
        <a:off x="7756959" y="853439"/>
        <a:ext cx="2404498" cy="2560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812A7-2DB0-4800-A4C0-62338CE3C59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13D4D-DEE3-4C26-A5DA-F8A062A1384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13D4D-DEE3-4C26-A5DA-F8A062A138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91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10CD-A0F0-09CD-BBE6-8D15328E2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783B2-531C-CDE2-6952-C252D1047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D58DC-6E5F-1542-A43C-2B91A576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B80B2-8C73-4DB0-9AC8-6BE77DB225A4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C97FC-3831-7D25-7F8A-0258B905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69787-7EDE-FD60-E3C1-94829A62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8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E9F9-5BD0-96B0-7CCE-769A2A29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6D7C-9240-99BA-B2D9-A58DA37DC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F8AFF-7195-2DDD-C6E4-2E832E92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A245-0A24-42B7-AC98-5C0910331C67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35CAC-9A6E-E3BD-071F-B9BBC493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75F1-1524-C633-F996-83A54C22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5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7463-C703-7C83-F481-1F171FBA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36398-278B-0F26-46A0-95420D8CC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8462-9FFE-F8F6-EA9F-591033F3E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B0460-FCB1-4A66-B1C5-F99C9900571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7C924-A29B-9DF0-F868-B0313557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76B4-7422-96F0-DFC8-D253C4D8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2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64E2-87CF-C6A9-6D22-21D65F99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23030-C431-D324-6B64-ABE6FB98F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2BC34-48F4-64AE-5FA5-AEE5DFB80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09FFF-5147-EDBC-06F4-00D91C30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E424-6349-4C35-83BA-02357475D75C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DB33B-DA34-5D13-C42E-4BD5B3D7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1B73-74C6-C1C4-FC05-8234EDFB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6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6A89-BF0D-7430-91CA-747F7C21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FBAAD-BD01-55C3-A235-3DE3049EC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3780C-C28E-071E-1B4A-3CA931C6C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11E7E-6EC7-CFC8-B292-40455F435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37407-9096-86EA-F62B-5AF86FA93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419E2-5D13-EEEB-F5B3-847DCDD3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A23C-AC1E-4836-A247-C36FFD9E7D7C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38642-616F-E4CD-69E4-7AAA6C4B7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6FDD8-800E-D321-AD32-14759278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7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6973-3FF6-660F-4B74-9F301B0C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AE959-4ED9-3441-FC1B-CB015658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596C-2F88-4B75-BD73-77E0F3EF6697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624C2-DA63-3CF5-8593-64106150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758DC-B137-653D-B384-3AAE3EFD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0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FCC27-F82D-D1CE-8D8A-1A61E801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DEAD2-1CE0-473C-95A8-B1691D116D90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D78C5-01D5-DB3E-064C-4B9306C6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69BA7-0F1C-2E72-BA03-1AB9DD1B4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7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5C3B-1B07-3630-9F64-40C15BA0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BC3DB-BEE1-32ED-635C-1F5F4553A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065A6-B998-1C39-DA15-179140828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054EE-623B-CF4E-27BF-E4F28D74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14703-5572-40DE-8F00-2218DE09E7E9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C2D1A-A6DE-CC3E-FCCD-AAC339C4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EB9BD-46D3-134D-C3BA-622E110E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1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C86D-63EE-0EE0-3A4C-D8EAF50D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5B702-F0EE-B99A-7A25-CBCE0F077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2F97A-26E7-46B6-6C00-84A6493E6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B1FB1-65B9-B799-FCF5-D8F3FADD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9B29-F3DC-49F7-869F-BBC659A30D27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B8E7F-9C69-61A4-D1B8-2306C3294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20F87-3D4A-282E-D1D0-9F4C108B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85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2F3A-2D15-A9C1-2C21-1EC89EF9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5E360-0AA0-37C7-EF1C-61453E85A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B38BC-DBCF-5F7F-CC6C-96AB8DCD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3DE1-FFAE-4A89-B43E-730C7815724B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8BC9B-1978-64FE-3CA7-BC9A6C78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28A51-331A-0747-ED55-E8DE41F8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4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45994-8980-647E-96D8-EBCAE473D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471C7-7D50-10A6-01E7-A63913B2C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380BA-CC99-792A-A7C9-044813B84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1C152-DDED-4C10-83F0-7BEBCD6D9DBC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D7CA8-573C-65A3-AE67-9F945F0F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4A430-28A1-E712-6DEA-39F66D94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9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81D37-64A1-8A98-531B-F5EF21E8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5D2F2-B811-EA45-86FE-D4332858F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382D5-169D-B173-CEFC-E1C1AEA8A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5F7A-78B4-4CD1-BD12-0496D47A31A0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F8FE4-4BA6-B9F0-D929-A503F58C1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B83DF-99E1-9B8D-6A08-5367ABB83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8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F455-BC79-E0BD-A932-4AAC82BB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9815" y="-606817"/>
            <a:ext cx="7784123" cy="16848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Dividend Analysis </a:t>
            </a:r>
            <a:endParaRPr lang="en-IN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8BDD4-5999-D88C-CDA9-369D927A8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085" y="3338184"/>
            <a:ext cx="9144000" cy="2864545"/>
          </a:xfrm>
        </p:spPr>
        <p:txBody>
          <a:bodyPr>
            <a:normAutofit/>
          </a:bodyPr>
          <a:lstStyle/>
          <a:p>
            <a:r>
              <a:rPr lang="en-IN" dirty="0"/>
              <a:t> Financial Management(HS4L003)</a:t>
            </a:r>
          </a:p>
          <a:p>
            <a:r>
              <a:rPr lang="en-IN" dirty="0"/>
              <a:t>Dr. Naresh Chandra Sahu</a:t>
            </a:r>
          </a:p>
          <a:p>
            <a:r>
              <a:rPr lang="en-IN" dirty="0"/>
              <a:t>Associate Professor (Economics)</a:t>
            </a:r>
          </a:p>
          <a:p>
            <a:pPr>
              <a:defRPr/>
            </a:pPr>
            <a:endParaRPr 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Humanities, Social Sciences &amp; Management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Institute of Technology, Bhubaneswar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11643E-496F-6C24-52CF-26048AD81153}"/>
              </a:ext>
            </a:extLst>
          </p:cNvPr>
          <p:cNvSpPr txBox="1">
            <a:spLocks/>
          </p:cNvSpPr>
          <p:nvPr/>
        </p:nvSpPr>
        <p:spPr>
          <a:xfrm>
            <a:off x="1524000" y="5116313"/>
            <a:ext cx="9144000" cy="9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92813-3586-95C9-052B-177472216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277163"/>
            <a:ext cx="2139370" cy="20375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127F5-9875-DA9B-4973-E3F89ADD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6DDAA2-16F8-C6A3-784A-287B97C75DC4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4DA31-E815-11D7-048D-635554B68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A24E59-54B3-358A-6632-BE2CB0249812}"/>
              </a:ext>
            </a:extLst>
          </p:cNvPr>
          <p:cNvSpPr txBox="1"/>
          <p:nvPr/>
        </p:nvSpPr>
        <p:spPr>
          <a:xfrm>
            <a:off x="685800" y="1295400"/>
            <a:ext cx="8217877" cy="3074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 what dividends and dividend analysis mean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Understand different types of dividends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Analyse key dividend ratios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Interpret dividend policies and their impact on firm performance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Evaluate investor perspectives on dividends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68341-66DE-161D-04BB-FA13C7F4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9C80-647B-2B59-4F92-E3DACD8A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FF32C3-8FA8-1E8A-1874-A94D2C742981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Dividend Analysis?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074F07-70EF-8578-2DA1-AE322FAF9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37C247-A3B4-C316-756B-4EC9B6F63895}"/>
              </a:ext>
            </a:extLst>
          </p:cNvPr>
          <p:cNvSpPr txBox="1"/>
          <p:nvPr/>
        </p:nvSpPr>
        <p:spPr>
          <a:xfrm>
            <a:off x="679938" y="939068"/>
            <a:ext cx="10328030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Dividend analysis involves evaluating how a company distributes its profits to shareholders in the form of dividends.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helps determine whether a company’s dividend payout is sustainable and if it reflects financial strength or managerial confidence.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steady or growing dividend often signals that the company expects stable future earnings.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investors assess income potential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management decide how much profit to retain or distribute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Affects market perception and stock valuation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A9EF-BE45-1A2A-7CAB-BF88C38F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3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FD5A2A-B1FC-1581-4076-D0EF053C4B6B}"/>
              </a:ext>
            </a:extLst>
          </p:cNvPr>
          <p:cNvSpPr/>
          <p:nvPr/>
        </p:nvSpPr>
        <p:spPr>
          <a:xfrm>
            <a:off x="679938" y="15240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Dividend Analysis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846821D-1659-1BF4-E3DB-46DB9A10D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4DE737-4BE4-AB80-66EB-BE90DD98B6B3}"/>
              </a:ext>
            </a:extLst>
          </p:cNvPr>
          <p:cNvSpPr txBox="1"/>
          <p:nvPr/>
        </p:nvSpPr>
        <p:spPr>
          <a:xfrm>
            <a:off x="679937" y="1371600"/>
            <a:ext cx="10328031" cy="307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Indicates profitability and stability of the firm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Reflects management’s confidence in business growth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Helps investors compare firms and forecast returns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Affects shareholder wealth and market reputation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Guides policy decisions on reinvestment vs.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A09F3-BDAA-926A-17AB-E01384EB2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BC9671-C1FF-9966-1588-EEFCD983E1D0}"/>
              </a:ext>
            </a:extLst>
          </p:cNvPr>
          <p:cNvSpPr/>
          <p:nvPr/>
        </p:nvSpPr>
        <p:spPr>
          <a:xfrm>
            <a:off x="762000" y="15240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Dividends 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09700-7755-74D4-7681-C7D00A5A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01095-894C-6F9E-0253-1ADB0C4BE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C0AC090-92C9-8DAF-08EB-98E55BDA57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2594734"/>
              </p:ext>
            </p:extLst>
          </p:nvPr>
        </p:nvGraphicFramePr>
        <p:xfrm>
          <a:off x="761999" y="1050925"/>
          <a:ext cx="10328031" cy="4756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2554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D4133-785D-7C3E-E7F0-921EC79A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38D62C-69DD-0087-D2D8-A14CB8A1DBE1}"/>
              </a:ext>
            </a:extLst>
          </p:cNvPr>
          <p:cNvSpPr/>
          <p:nvPr/>
        </p:nvSpPr>
        <p:spPr>
          <a:xfrm>
            <a:off x="873369" y="15779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Dividend Policies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48B3C-8E64-0E73-D9B6-7264E43A5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D789F0-6D89-4CAC-6CAB-AFA1364B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F59BEF-49D9-3E1A-1673-7D64F7203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9034"/>
              </p:ext>
            </p:extLst>
          </p:nvPr>
        </p:nvGraphicFramePr>
        <p:xfrm>
          <a:off x="1037493" y="1295400"/>
          <a:ext cx="10163908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675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E698E7-D970-1878-C215-54707BF65861}"/>
              </a:ext>
            </a:extLst>
          </p:cNvPr>
          <p:cNvSpPr txBox="1"/>
          <p:nvPr/>
        </p:nvSpPr>
        <p:spPr>
          <a:xfrm>
            <a:off x="2437514" y="2590800"/>
            <a:ext cx="73169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Which policy is better, stable or residual dividend policy?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78C4C-5889-188C-A4D9-6B334259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938" y="652379"/>
            <a:ext cx="9530862" cy="5105400"/>
          </a:xfrm>
        </p:spPr>
        <p:txBody>
          <a:bodyPr>
            <a:noAutofit/>
          </a:bodyPr>
          <a:lstStyle/>
          <a:p>
            <a:pPr marL="619125" indent="-619125" algn="just" eaLnBrk="1" hangingPunct="1">
              <a:lnSpc>
                <a:spcPct val="150000"/>
              </a:lnSpc>
              <a:buSzPct val="85000"/>
              <a:buFont typeface="Wingdings" panose="05000000000000000000" pitchFamily="2" charset="2"/>
              <a:buAutoNum type="romanLcPeriod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9125" indent="-619125" algn="just">
              <a:lnSpc>
                <a:spcPct val="200000"/>
              </a:lnSpc>
              <a:buSzPct val="85000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Dividend Per Share (DPS)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Total Dividend / Number of Shares</a:t>
            </a:r>
          </a:p>
          <a:p>
            <a:pPr marL="619125" indent="-619125" algn="just">
              <a:lnSpc>
                <a:spcPct val="200000"/>
              </a:lnSpc>
              <a:buSzPct val="85000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Dividend Yield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DPS / Market Price per Share × 100</a:t>
            </a:r>
          </a:p>
          <a:p>
            <a:pPr marL="619125" indent="-619125" algn="just">
              <a:lnSpc>
                <a:spcPct val="200000"/>
              </a:lnSpc>
              <a:buSzPct val="85000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Dividend Payout Ratio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Dividend / Net Income × 100</a:t>
            </a:r>
          </a:p>
          <a:p>
            <a:pPr marL="619125" indent="-619125" algn="just">
              <a:lnSpc>
                <a:spcPct val="200000"/>
              </a:lnSpc>
              <a:buSzPct val="85000"/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Retention Ratio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= (1 – Dividend Payout Ratio)</a:t>
            </a:r>
          </a:p>
          <a:p>
            <a:pPr marL="619125" indent="-619125" algn="just">
              <a:lnSpc>
                <a:spcPct val="200000"/>
              </a:lnSpc>
              <a:buSzPct val="8500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 yield → attractive for income investors</a:t>
            </a:r>
          </a:p>
          <a:p>
            <a:pPr marL="619125" indent="-619125" algn="just">
              <a:lnSpc>
                <a:spcPct val="200000"/>
              </a:lnSpc>
              <a:buSzPct val="8500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Low payout → firm reinvesting for growth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16498-8536-B8A1-9D9E-F3DC2DAA8DCD}"/>
              </a:ext>
            </a:extLst>
          </p:cNvPr>
          <p:cNvSpPr/>
          <p:nvPr/>
        </p:nvSpPr>
        <p:spPr>
          <a:xfrm>
            <a:off x="679938" y="15779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Dividend Ratios 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CBD7D-2930-198A-D205-D84A0606F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DEBF-6ECF-AD44-42FA-25769A38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3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730" y="1219200"/>
            <a:ext cx="10328031" cy="2819400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  <a:buSzPct val="85000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Profitability: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Higher profit = higher potential dividend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Liquidity Position: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Availability of cash to pay dividends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Growth Opportunities: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More opportunities → more reinvestment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Taxation Policy: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Dividend distribution tax, capital gains tax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Legal Restrictions: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Certain laws restrict excessive payout</a:t>
            </a:r>
          </a:p>
          <a:p>
            <a:pPr algn="just">
              <a:lnSpc>
                <a:spcPct val="200000"/>
              </a:lnSpc>
              <a:buSzPct val="85000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Market Trends: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Industry norms and competitor actions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9BFF6828-3D55-1B2B-0034-0D369BB41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07" y="820208"/>
            <a:ext cx="10487891" cy="49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9F35DC-216D-D108-A264-6D99E9A0E0A0}"/>
              </a:ext>
            </a:extLst>
          </p:cNvPr>
          <p:cNvSpPr/>
          <p:nvPr/>
        </p:nvSpPr>
        <p:spPr>
          <a:xfrm>
            <a:off x="582422" y="211132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 Affecting Dividend Decisions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0F88E7-CFE1-8138-C32E-E5690CE98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E22666-1702-6692-8A5A-84951659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8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E169DF-CBCC-DC60-4D52-9F0F9DCA61B3}"/>
              </a:ext>
            </a:extLst>
          </p:cNvPr>
          <p:cNvSpPr txBox="1"/>
          <p:nvPr/>
        </p:nvSpPr>
        <p:spPr>
          <a:xfrm>
            <a:off x="2096700" y="2743200"/>
            <a:ext cx="7998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What does a consistent dividend indicate about a firm’s future?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3F0A4-2B1D-8CB5-E47F-0EF0BDB17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7C42-FA46-899A-4B1F-7B686942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E5202E-5813-DED9-A806-71411E46EABD}"/>
              </a:ext>
            </a:extLst>
          </p:cNvPr>
          <p:cNvSpPr/>
          <p:nvPr/>
        </p:nvSpPr>
        <p:spPr>
          <a:xfrm>
            <a:off x="794769" y="211132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Dividend Analysis from an Investor’s Perspective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F56B1E-3521-F3DF-C1E5-A67946C00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3B683A-C660-3E4E-34F8-EEAE68F93F78}"/>
              </a:ext>
            </a:extLst>
          </p:cNvPr>
          <p:cNvSpPr txBox="1"/>
          <p:nvPr/>
        </p:nvSpPr>
        <p:spPr>
          <a:xfrm>
            <a:off x="3297729" y="2590800"/>
            <a:ext cx="6092456" cy="245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Stability of dividend.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Growth trend over time.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Consistency with earnings.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return (dividend + capital gain)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D0345-41DF-0CDE-43AE-732654EA90C5}"/>
              </a:ext>
            </a:extLst>
          </p:cNvPr>
          <p:cNvSpPr txBox="1"/>
          <p:nvPr/>
        </p:nvSpPr>
        <p:spPr>
          <a:xfrm>
            <a:off x="3276600" y="169089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What do the investors look for?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0B6A-76BC-EBCE-77D3-2A211C40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7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62E726-6FF5-CC66-3F62-58D46BC7C9C4}"/>
              </a:ext>
            </a:extLst>
          </p:cNvPr>
          <p:cNvSpPr/>
          <p:nvPr/>
        </p:nvSpPr>
        <p:spPr>
          <a:xfrm>
            <a:off x="679938" y="15779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 of Dividend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14190A-FA61-61FC-FAC9-BFC99784E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59EBD1-FB42-DF9A-B1A3-329CB7FB8C9F}"/>
              </a:ext>
            </a:extLst>
          </p:cNvPr>
          <p:cNvSpPr txBox="1"/>
          <p:nvPr/>
        </p:nvSpPr>
        <p:spPr>
          <a:xfrm>
            <a:off x="762000" y="1219200"/>
            <a:ext cx="6092456" cy="3076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Doesn’t capture capital gains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Affected by market volatility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Accounting policies may distort earnings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 dividends today may hurt future investments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Hard to compare across different industries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4D078-D5EB-03FD-82C3-605E9F4F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24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5E9D8-D5E9-265F-26FD-81BE3E53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3C8669-145F-C45D-C1BC-7FBBAF336D83}"/>
              </a:ext>
            </a:extLst>
          </p:cNvPr>
          <p:cNvSpPr/>
          <p:nvPr/>
        </p:nvSpPr>
        <p:spPr>
          <a:xfrm>
            <a:off x="679938" y="157790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3E801E-B75B-4756-F282-F6209A119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46A379-6A53-ACD2-4F27-89E771317BDC}"/>
              </a:ext>
            </a:extLst>
          </p:cNvPr>
          <p:cNvSpPr txBox="1"/>
          <p:nvPr/>
        </p:nvSpPr>
        <p:spPr>
          <a:xfrm>
            <a:off x="679939" y="1447800"/>
            <a:ext cx="10328030" cy="2461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Dividend analysis is crucial for both investors and managers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Reflects a firm’s financial health, stability, and growth potential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Balanced dividend policy improves investor trust and firm reputation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Smart investors use dividend trends to make informed decisions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5BC62A-D3FF-EA3C-0C92-5D32F32B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95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CF142-9422-B997-DF07-90280FF0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E3730D-0A8A-B40C-F98C-303BF63621ED}"/>
              </a:ext>
            </a:extLst>
          </p:cNvPr>
          <p:cNvSpPr txBox="1"/>
          <p:nvPr/>
        </p:nvSpPr>
        <p:spPr>
          <a:xfrm>
            <a:off x="2057400" y="2667000"/>
            <a:ext cx="8305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Should a growing company pay high dividends? Why or why not?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299B2B-B74C-8EBE-C76B-4C703DAD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45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04A02-F311-9F7C-3133-31AD8381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54157F-4F04-5CA9-BAE6-F31EDB71362B}"/>
              </a:ext>
            </a:extLst>
          </p:cNvPr>
          <p:cNvSpPr txBox="1"/>
          <p:nvPr/>
        </p:nvSpPr>
        <p:spPr>
          <a:xfrm>
            <a:off x="1943100" y="2667000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D5B88A-821C-A2A7-9A0B-3BF0DE7B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6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1978</TotalTime>
  <Words>535</Words>
  <Application>Microsoft Office PowerPoint</Application>
  <PresentationFormat>Widescreen</PresentationFormat>
  <Paragraphs>100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Dividend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 .C .Sahu</dc:creator>
  <cp:lastModifiedBy>alivaparida2024@gmail.com</cp:lastModifiedBy>
  <cp:revision>146</cp:revision>
  <dcterms:created xsi:type="dcterms:W3CDTF">2006-08-16T00:00:00Z</dcterms:created>
  <dcterms:modified xsi:type="dcterms:W3CDTF">2025-10-14T03:01:57Z</dcterms:modified>
</cp:coreProperties>
</file>