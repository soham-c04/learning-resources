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95" r:id="rId2"/>
    <p:sldId id="342" r:id="rId3"/>
    <p:sldId id="392" r:id="rId4"/>
    <p:sldId id="393" r:id="rId5"/>
    <p:sldId id="394" r:id="rId6"/>
    <p:sldId id="396" r:id="rId7"/>
    <p:sldId id="433" r:id="rId8"/>
    <p:sldId id="397" r:id="rId9"/>
    <p:sldId id="453" r:id="rId10"/>
    <p:sldId id="454" r:id="rId11"/>
    <p:sldId id="455" r:id="rId12"/>
    <p:sldId id="456" r:id="rId13"/>
    <p:sldId id="457" r:id="rId14"/>
    <p:sldId id="458" r:id="rId15"/>
    <p:sldId id="459" r:id="rId16"/>
    <p:sldId id="460" r:id="rId17"/>
    <p:sldId id="461" r:id="rId18"/>
    <p:sldId id="462" r:id="rId19"/>
    <p:sldId id="463" r:id="rId20"/>
    <p:sldId id="464" r:id="rId21"/>
    <p:sldId id="465" r:id="rId22"/>
    <p:sldId id="466" r:id="rId23"/>
    <p:sldId id="467" r:id="rId24"/>
    <p:sldId id="468" r:id="rId25"/>
    <p:sldId id="469" r:id="rId26"/>
    <p:sldId id="470" r:id="rId27"/>
    <p:sldId id="471" r:id="rId28"/>
    <p:sldId id="398" r:id="rId29"/>
    <p:sldId id="399" r:id="rId30"/>
    <p:sldId id="400" r:id="rId31"/>
    <p:sldId id="401" r:id="rId32"/>
    <p:sldId id="434" r:id="rId33"/>
    <p:sldId id="435" r:id="rId34"/>
    <p:sldId id="436" r:id="rId35"/>
    <p:sldId id="402" r:id="rId36"/>
    <p:sldId id="404" r:id="rId37"/>
    <p:sldId id="405" r:id="rId38"/>
    <p:sldId id="406" r:id="rId39"/>
    <p:sldId id="451" r:id="rId40"/>
    <p:sldId id="452" r:id="rId41"/>
    <p:sldId id="407" r:id="rId42"/>
    <p:sldId id="408" r:id="rId43"/>
    <p:sldId id="409" r:id="rId44"/>
    <p:sldId id="410" r:id="rId45"/>
    <p:sldId id="412" r:id="rId46"/>
    <p:sldId id="413" r:id="rId47"/>
    <p:sldId id="414" r:id="rId48"/>
    <p:sldId id="415" r:id="rId49"/>
    <p:sldId id="416" r:id="rId50"/>
    <p:sldId id="449" r:id="rId51"/>
    <p:sldId id="450" r:id="rId52"/>
    <p:sldId id="437" r:id="rId53"/>
    <p:sldId id="439" r:id="rId54"/>
    <p:sldId id="446" r:id="rId55"/>
    <p:sldId id="445" r:id="rId5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204" autoAdjust="0"/>
    <p:restoredTop sz="94660"/>
  </p:normalViewPr>
  <p:slideViewPr>
    <p:cSldViewPr snapToGrid="0">
      <p:cViewPr varScale="1">
        <p:scale>
          <a:sx n="85" d="100"/>
          <a:sy n="85" d="100"/>
        </p:scale>
        <p:origin x="581"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E539459-A965-4069-9127-4B79357059C9}" type="doc">
      <dgm:prSet loTypeId="urn:microsoft.com/office/officeart/2005/8/layout/vProcess5" loCatId="process" qsTypeId="urn:microsoft.com/office/officeart/2005/8/quickstyle/simple1" qsCatId="simple" csTypeId="urn:microsoft.com/office/officeart/2005/8/colors/accent0_1" csCatId="mainScheme" phldr="1"/>
      <dgm:spPr/>
      <dgm:t>
        <a:bodyPr/>
        <a:lstStyle/>
        <a:p>
          <a:endParaRPr lang="en-IN"/>
        </a:p>
      </dgm:t>
    </dgm:pt>
    <dgm:pt modelId="{5999446F-5799-4CA4-9CA2-3CD21A4A6E27}">
      <dgm:prSet phldrT="[Text]" custT="1"/>
      <dgm:spPr>
        <a:solidFill>
          <a:schemeClr val="accent6">
            <a:lumMod val="60000"/>
            <a:lumOff val="40000"/>
          </a:schemeClr>
        </a:solidFill>
      </dgm:spPr>
      <dgm:t>
        <a:bodyPr/>
        <a:lstStyle/>
        <a:p>
          <a:pPr>
            <a:buFont typeface="+mj-lt"/>
            <a:buAutoNum type="arabicPeriod"/>
          </a:pPr>
          <a:r>
            <a:rPr lang="en-US" sz="2000" dirty="0">
              <a:latin typeface="Arial" panose="020B0604020202020204" pitchFamily="34" charset="0"/>
              <a:cs typeface="Arial" panose="020B0604020202020204" pitchFamily="34" charset="0"/>
            </a:rPr>
            <a:t>Project Identification</a:t>
          </a:r>
          <a:endParaRPr lang="en-IN" sz="2000" dirty="0">
            <a:latin typeface="Arial" panose="020B0604020202020204" pitchFamily="34" charset="0"/>
            <a:cs typeface="Arial" panose="020B0604020202020204" pitchFamily="34" charset="0"/>
          </a:endParaRPr>
        </a:p>
      </dgm:t>
    </dgm:pt>
    <dgm:pt modelId="{3DD7ED10-BDF1-42CD-B8E2-0C52946CF627}" type="parTrans" cxnId="{45CB1514-70EA-4289-8126-E2C66ADCEBDA}">
      <dgm:prSet/>
      <dgm:spPr/>
      <dgm:t>
        <a:bodyPr/>
        <a:lstStyle/>
        <a:p>
          <a:endParaRPr lang="en-IN"/>
        </a:p>
      </dgm:t>
    </dgm:pt>
    <dgm:pt modelId="{DE061FC8-A266-4D14-8B6F-68971364251E}" type="sibTrans" cxnId="{45CB1514-70EA-4289-8126-E2C66ADCEBDA}">
      <dgm:prSet/>
      <dgm:spPr>
        <a:solidFill>
          <a:schemeClr val="accent6">
            <a:lumMod val="75000"/>
            <a:alpha val="90000"/>
          </a:schemeClr>
        </a:solidFill>
      </dgm:spPr>
      <dgm:t>
        <a:bodyPr/>
        <a:lstStyle/>
        <a:p>
          <a:endParaRPr lang="en-IN" dirty="0"/>
        </a:p>
      </dgm:t>
    </dgm:pt>
    <dgm:pt modelId="{CD0586B3-D058-4C9F-BD2C-7802008B812B}">
      <dgm:prSet phldrT="[Text]" custT="1"/>
      <dgm:spPr>
        <a:solidFill>
          <a:schemeClr val="accent6">
            <a:lumMod val="60000"/>
            <a:lumOff val="40000"/>
          </a:schemeClr>
        </a:solidFill>
      </dgm:spPr>
      <dgm:t>
        <a:bodyPr/>
        <a:lstStyle/>
        <a:p>
          <a:pPr>
            <a:buFont typeface="+mj-lt"/>
            <a:buAutoNum type="arabicPeriod"/>
          </a:pPr>
          <a:r>
            <a:rPr lang="en-US" sz="2000" dirty="0">
              <a:latin typeface="Arial" panose="020B0604020202020204" pitchFamily="34" charset="0"/>
              <a:cs typeface="Arial" panose="020B0604020202020204" pitchFamily="34" charset="0"/>
            </a:rPr>
            <a:t>Performance Review</a:t>
          </a:r>
          <a:endParaRPr lang="en-IN" sz="2000" dirty="0">
            <a:latin typeface="Arial" panose="020B0604020202020204" pitchFamily="34" charset="0"/>
            <a:cs typeface="Arial" panose="020B0604020202020204" pitchFamily="34" charset="0"/>
          </a:endParaRPr>
        </a:p>
      </dgm:t>
    </dgm:pt>
    <dgm:pt modelId="{59B8DC14-E6FA-4E66-B599-50FDE579D2A3}" type="parTrans" cxnId="{529C3919-D976-4403-A42C-5260BD42A86F}">
      <dgm:prSet/>
      <dgm:spPr/>
      <dgm:t>
        <a:bodyPr/>
        <a:lstStyle/>
        <a:p>
          <a:endParaRPr lang="en-IN"/>
        </a:p>
      </dgm:t>
    </dgm:pt>
    <dgm:pt modelId="{8AE4E6FD-B629-47FD-8B14-14BA0701FF7C}" type="sibTrans" cxnId="{529C3919-D976-4403-A42C-5260BD42A86F}">
      <dgm:prSet/>
      <dgm:spPr/>
      <dgm:t>
        <a:bodyPr/>
        <a:lstStyle/>
        <a:p>
          <a:endParaRPr lang="en-IN"/>
        </a:p>
      </dgm:t>
    </dgm:pt>
    <dgm:pt modelId="{0CA05F0F-7F64-48E9-AF58-CECB54232044}">
      <dgm:prSet phldrT="[Text]"/>
      <dgm:spPr/>
      <dgm:t>
        <a:bodyPr/>
        <a:lstStyle/>
        <a:p>
          <a:endParaRPr lang="en-IN" dirty="0"/>
        </a:p>
      </dgm:t>
    </dgm:pt>
    <dgm:pt modelId="{E8D0D211-6514-41BB-898C-FEF43F20B42E}" type="parTrans" cxnId="{332DA001-ADB2-4CB0-A5E7-E67FD3926A23}">
      <dgm:prSet/>
      <dgm:spPr/>
      <dgm:t>
        <a:bodyPr/>
        <a:lstStyle/>
        <a:p>
          <a:endParaRPr lang="en-IN"/>
        </a:p>
      </dgm:t>
    </dgm:pt>
    <dgm:pt modelId="{9424490C-9A09-4F12-ACA3-11E68BAEA741}" type="sibTrans" cxnId="{332DA001-ADB2-4CB0-A5E7-E67FD3926A23}">
      <dgm:prSet/>
      <dgm:spPr/>
      <dgm:t>
        <a:bodyPr/>
        <a:lstStyle/>
        <a:p>
          <a:endParaRPr lang="en-IN"/>
        </a:p>
      </dgm:t>
    </dgm:pt>
    <dgm:pt modelId="{0B4F2AA0-6CA1-4A49-A688-A646F649B932}">
      <dgm:prSet phldrT="[Text]"/>
      <dgm:spPr/>
      <dgm:t>
        <a:bodyPr/>
        <a:lstStyle/>
        <a:p>
          <a:endParaRPr lang="en-IN" dirty="0"/>
        </a:p>
      </dgm:t>
    </dgm:pt>
    <dgm:pt modelId="{631C9082-5C75-47D1-B842-67627D6A1A9B}" type="parTrans" cxnId="{5A756BAE-C159-48D8-B5F8-446D30AA50D5}">
      <dgm:prSet/>
      <dgm:spPr/>
      <dgm:t>
        <a:bodyPr/>
        <a:lstStyle/>
        <a:p>
          <a:endParaRPr lang="en-IN"/>
        </a:p>
      </dgm:t>
    </dgm:pt>
    <dgm:pt modelId="{927CF8F1-2148-4A84-B965-94341C90D38E}" type="sibTrans" cxnId="{5A756BAE-C159-48D8-B5F8-446D30AA50D5}">
      <dgm:prSet/>
      <dgm:spPr/>
      <dgm:t>
        <a:bodyPr/>
        <a:lstStyle/>
        <a:p>
          <a:endParaRPr lang="en-IN"/>
        </a:p>
      </dgm:t>
    </dgm:pt>
    <dgm:pt modelId="{C5FB1B20-6E83-4F59-A363-6F71DE9947DB}">
      <dgm:prSet phldrT="[Text]"/>
      <dgm:spPr/>
      <dgm:t>
        <a:bodyPr/>
        <a:lstStyle/>
        <a:p>
          <a:endParaRPr lang="en-IN" dirty="0"/>
        </a:p>
      </dgm:t>
    </dgm:pt>
    <dgm:pt modelId="{12D95B4C-DE8C-42A6-AB02-FE4B711DA5E0}" type="parTrans" cxnId="{D3F7B2A3-E2C1-4C1C-8DB8-4B403965EF6C}">
      <dgm:prSet/>
      <dgm:spPr/>
      <dgm:t>
        <a:bodyPr/>
        <a:lstStyle/>
        <a:p>
          <a:endParaRPr lang="en-IN"/>
        </a:p>
      </dgm:t>
    </dgm:pt>
    <dgm:pt modelId="{403CB27D-AAAE-4858-9C38-BE161284BE96}" type="sibTrans" cxnId="{D3F7B2A3-E2C1-4C1C-8DB8-4B403965EF6C}">
      <dgm:prSet/>
      <dgm:spPr/>
      <dgm:t>
        <a:bodyPr/>
        <a:lstStyle/>
        <a:p>
          <a:endParaRPr lang="en-IN"/>
        </a:p>
      </dgm:t>
    </dgm:pt>
    <dgm:pt modelId="{67065C9F-1CDC-4B59-94C9-196A76F76B7A}">
      <dgm:prSet custT="1"/>
      <dgm:spPr>
        <a:solidFill>
          <a:schemeClr val="accent6">
            <a:lumMod val="40000"/>
            <a:lumOff val="60000"/>
          </a:schemeClr>
        </a:solidFill>
      </dgm:spPr>
      <dgm:t>
        <a:bodyPr/>
        <a:lstStyle/>
        <a:p>
          <a:pPr>
            <a:buFont typeface="+mj-lt"/>
            <a:buAutoNum type="arabicPeriod"/>
          </a:pPr>
          <a:r>
            <a:rPr lang="en-US" sz="2000" dirty="0">
              <a:latin typeface="Arial" panose="020B0604020202020204" pitchFamily="34" charset="0"/>
              <a:cs typeface="Arial" panose="020B0604020202020204" pitchFamily="34" charset="0"/>
            </a:rPr>
            <a:t>Project Implementation</a:t>
          </a:r>
          <a:endParaRPr lang="en-IN" sz="2000" dirty="0">
            <a:latin typeface="Arial" panose="020B0604020202020204" pitchFamily="34" charset="0"/>
            <a:cs typeface="Arial" panose="020B0604020202020204" pitchFamily="34" charset="0"/>
          </a:endParaRPr>
        </a:p>
      </dgm:t>
    </dgm:pt>
    <dgm:pt modelId="{4055A071-7AA4-407C-AE29-5170D09FFDFE}" type="parTrans" cxnId="{F6B41425-8958-45F8-812B-935F38762DA2}">
      <dgm:prSet/>
      <dgm:spPr/>
      <dgm:t>
        <a:bodyPr/>
        <a:lstStyle/>
        <a:p>
          <a:endParaRPr lang="en-IN"/>
        </a:p>
      </dgm:t>
    </dgm:pt>
    <dgm:pt modelId="{DCF261C6-78AF-42B5-B926-262C0E0FBE19}" type="sibTrans" cxnId="{F6B41425-8958-45F8-812B-935F38762DA2}">
      <dgm:prSet/>
      <dgm:spPr>
        <a:solidFill>
          <a:schemeClr val="accent6">
            <a:lumMod val="75000"/>
            <a:alpha val="90000"/>
          </a:schemeClr>
        </a:solidFill>
      </dgm:spPr>
      <dgm:t>
        <a:bodyPr/>
        <a:lstStyle/>
        <a:p>
          <a:endParaRPr lang="en-IN"/>
        </a:p>
      </dgm:t>
    </dgm:pt>
    <dgm:pt modelId="{B457F7BF-16A1-4546-950B-761201BEFC9B}">
      <dgm:prSet custT="1"/>
      <dgm:spPr>
        <a:solidFill>
          <a:schemeClr val="accent6">
            <a:lumMod val="60000"/>
            <a:lumOff val="40000"/>
          </a:schemeClr>
        </a:solidFill>
      </dgm:spPr>
      <dgm:t>
        <a:bodyPr/>
        <a:lstStyle/>
        <a:p>
          <a:pPr>
            <a:buFont typeface="+mj-lt"/>
            <a:buAutoNum type="arabicPeriod"/>
          </a:pPr>
          <a:r>
            <a:rPr lang="en-US" sz="2000" dirty="0">
              <a:latin typeface="Arial" panose="020B0604020202020204" pitchFamily="34" charset="0"/>
              <a:cs typeface="Arial" panose="020B0604020202020204" pitchFamily="34" charset="0"/>
            </a:rPr>
            <a:t>Project Selection</a:t>
          </a:r>
          <a:endParaRPr lang="en-IN" sz="2000" dirty="0">
            <a:latin typeface="Arial" panose="020B0604020202020204" pitchFamily="34" charset="0"/>
            <a:cs typeface="Arial" panose="020B0604020202020204" pitchFamily="34" charset="0"/>
          </a:endParaRPr>
        </a:p>
      </dgm:t>
    </dgm:pt>
    <dgm:pt modelId="{E318D67E-8A2B-4B18-ACF4-2875C689EFF1}" type="parTrans" cxnId="{52DD2212-C63F-4F27-923F-09CFC24BE940}">
      <dgm:prSet/>
      <dgm:spPr/>
      <dgm:t>
        <a:bodyPr/>
        <a:lstStyle/>
        <a:p>
          <a:endParaRPr lang="en-IN"/>
        </a:p>
      </dgm:t>
    </dgm:pt>
    <dgm:pt modelId="{0AF9C7D9-FA0C-4824-BBE8-6FCCC0D32B71}" type="sibTrans" cxnId="{52DD2212-C63F-4F27-923F-09CFC24BE940}">
      <dgm:prSet/>
      <dgm:spPr>
        <a:solidFill>
          <a:schemeClr val="accent6">
            <a:lumMod val="75000"/>
            <a:alpha val="90000"/>
          </a:schemeClr>
        </a:solidFill>
      </dgm:spPr>
      <dgm:t>
        <a:bodyPr/>
        <a:lstStyle/>
        <a:p>
          <a:endParaRPr lang="en-IN"/>
        </a:p>
      </dgm:t>
    </dgm:pt>
    <dgm:pt modelId="{15A21BF9-F356-4E5D-A545-D823F49A4E1F}">
      <dgm:prSet custT="1"/>
      <dgm:spPr>
        <a:solidFill>
          <a:schemeClr val="accent6">
            <a:lumMod val="40000"/>
            <a:lumOff val="60000"/>
          </a:schemeClr>
        </a:solidFill>
      </dgm:spPr>
      <dgm:t>
        <a:bodyPr/>
        <a:lstStyle/>
        <a:p>
          <a:pPr>
            <a:buFont typeface="+mj-lt"/>
            <a:buAutoNum type="arabicPeriod"/>
          </a:pPr>
          <a:r>
            <a:rPr lang="en-US" sz="2000" dirty="0">
              <a:latin typeface="Arial" panose="020B0604020202020204" pitchFamily="34" charset="0"/>
              <a:cs typeface="Arial" panose="020B0604020202020204" pitchFamily="34" charset="0"/>
            </a:rPr>
            <a:t>Project Evaluation</a:t>
          </a:r>
          <a:endParaRPr lang="en-IN" sz="2000" dirty="0">
            <a:latin typeface="Arial" panose="020B0604020202020204" pitchFamily="34" charset="0"/>
            <a:cs typeface="Arial" panose="020B0604020202020204" pitchFamily="34" charset="0"/>
          </a:endParaRPr>
        </a:p>
      </dgm:t>
    </dgm:pt>
    <dgm:pt modelId="{E1680397-C93E-4EB4-879C-9B00042BDAA7}" type="parTrans" cxnId="{956AD2AB-13B1-4F2B-B90A-67C21E491B36}">
      <dgm:prSet/>
      <dgm:spPr/>
      <dgm:t>
        <a:bodyPr/>
        <a:lstStyle/>
        <a:p>
          <a:endParaRPr lang="en-IN"/>
        </a:p>
      </dgm:t>
    </dgm:pt>
    <dgm:pt modelId="{387806C9-6C37-4076-8EB1-7550784B5F4D}" type="sibTrans" cxnId="{956AD2AB-13B1-4F2B-B90A-67C21E491B36}">
      <dgm:prSet/>
      <dgm:spPr>
        <a:solidFill>
          <a:schemeClr val="accent6">
            <a:lumMod val="75000"/>
            <a:alpha val="90000"/>
          </a:schemeClr>
        </a:solidFill>
      </dgm:spPr>
      <dgm:t>
        <a:bodyPr/>
        <a:lstStyle/>
        <a:p>
          <a:endParaRPr lang="en-IN"/>
        </a:p>
      </dgm:t>
    </dgm:pt>
    <dgm:pt modelId="{F43E64FC-F44D-49FA-9E09-AEA3BAF5BD49}" type="pres">
      <dgm:prSet presAssocID="{4E539459-A965-4069-9127-4B79357059C9}" presName="outerComposite" presStyleCnt="0">
        <dgm:presLayoutVars>
          <dgm:chMax val="5"/>
          <dgm:dir/>
          <dgm:resizeHandles val="exact"/>
        </dgm:presLayoutVars>
      </dgm:prSet>
      <dgm:spPr/>
    </dgm:pt>
    <dgm:pt modelId="{9118AE10-564D-44B4-B326-D87967F9A072}" type="pres">
      <dgm:prSet presAssocID="{4E539459-A965-4069-9127-4B79357059C9}" presName="dummyMaxCanvas" presStyleCnt="0">
        <dgm:presLayoutVars/>
      </dgm:prSet>
      <dgm:spPr/>
    </dgm:pt>
    <dgm:pt modelId="{5A4CAFA9-8E42-4034-865A-D85C839952A7}" type="pres">
      <dgm:prSet presAssocID="{4E539459-A965-4069-9127-4B79357059C9}" presName="FiveNodes_1" presStyleLbl="node1" presStyleIdx="0" presStyleCnt="5" custLinFactNeighborX="2312" custLinFactNeighborY="1819">
        <dgm:presLayoutVars>
          <dgm:bulletEnabled val="1"/>
        </dgm:presLayoutVars>
      </dgm:prSet>
      <dgm:spPr/>
    </dgm:pt>
    <dgm:pt modelId="{366DB72F-34C9-4D73-B2C6-524201EB46F1}" type="pres">
      <dgm:prSet presAssocID="{4E539459-A965-4069-9127-4B79357059C9}" presName="FiveNodes_2" presStyleLbl="node1" presStyleIdx="1" presStyleCnt="5" custLinFactNeighborY="-2420">
        <dgm:presLayoutVars>
          <dgm:bulletEnabled val="1"/>
        </dgm:presLayoutVars>
      </dgm:prSet>
      <dgm:spPr/>
    </dgm:pt>
    <dgm:pt modelId="{C3CC05BC-F67F-476C-BC52-7BAB41BCB17A}" type="pres">
      <dgm:prSet presAssocID="{4E539459-A965-4069-9127-4B79357059C9}" presName="FiveNodes_3" presStyleLbl="node1" presStyleIdx="2" presStyleCnt="5">
        <dgm:presLayoutVars>
          <dgm:bulletEnabled val="1"/>
        </dgm:presLayoutVars>
      </dgm:prSet>
      <dgm:spPr/>
    </dgm:pt>
    <dgm:pt modelId="{AA3CC289-DC96-4177-8F1B-E8536474F08A}" type="pres">
      <dgm:prSet presAssocID="{4E539459-A965-4069-9127-4B79357059C9}" presName="FiveNodes_4" presStyleLbl="node1" presStyleIdx="3" presStyleCnt="5">
        <dgm:presLayoutVars>
          <dgm:bulletEnabled val="1"/>
        </dgm:presLayoutVars>
      </dgm:prSet>
      <dgm:spPr/>
    </dgm:pt>
    <dgm:pt modelId="{876B80E7-9208-46CC-8B1D-68215A2C6AFD}" type="pres">
      <dgm:prSet presAssocID="{4E539459-A965-4069-9127-4B79357059C9}" presName="FiveNodes_5" presStyleLbl="node1" presStyleIdx="4" presStyleCnt="5" custLinFactNeighborX="0" custLinFactNeighborY="2728">
        <dgm:presLayoutVars>
          <dgm:bulletEnabled val="1"/>
        </dgm:presLayoutVars>
      </dgm:prSet>
      <dgm:spPr/>
    </dgm:pt>
    <dgm:pt modelId="{CB1CA482-F1C7-4226-B7F7-221B1AF3B36C}" type="pres">
      <dgm:prSet presAssocID="{4E539459-A965-4069-9127-4B79357059C9}" presName="FiveConn_1-2" presStyleLbl="fgAccFollowNode1" presStyleIdx="0" presStyleCnt="4">
        <dgm:presLayoutVars>
          <dgm:bulletEnabled val="1"/>
        </dgm:presLayoutVars>
      </dgm:prSet>
      <dgm:spPr/>
    </dgm:pt>
    <dgm:pt modelId="{F291E01B-FC3E-43A2-9135-B13BF1FBFE1A}" type="pres">
      <dgm:prSet presAssocID="{4E539459-A965-4069-9127-4B79357059C9}" presName="FiveConn_2-3" presStyleLbl="fgAccFollowNode1" presStyleIdx="1" presStyleCnt="4">
        <dgm:presLayoutVars>
          <dgm:bulletEnabled val="1"/>
        </dgm:presLayoutVars>
      </dgm:prSet>
      <dgm:spPr/>
    </dgm:pt>
    <dgm:pt modelId="{0D2C21AC-3099-4345-85A0-0C28BC56D81E}" type="pres">
      <dgm:prSet presAssocID="{4E539459-A965-4069-9127-4B79357059C9}" presName="FiveConn_3-4" presStyleLbl="fgAccFollowNode1" presStyleIdx="2" presStyleCnt="4">
        <dgm:presLayoutVars>
          <dgm:bulletEnabled val="1"/>
        </dgm:presLayoutVars>
      </dgm:prSet>
      <dgm:spPr/>
    </dgm:pt>
    <dgm:pt modelId="{BBD92F15-92C9-4B73-9577-CD159D60E12B}" type="pres">
      <dgm:prSet presAssocID="{4E539459-A965-4069-9127-4B79357059C9}" presName="FiveConn_4-5" presStyleLbl="fgAccFollowNode1" presStyleIdx="3" presStyleCnt="4">
        <dgm:presLayoutVars>
          <dgm:bulletEnabled val="1"/>
        </dgm:presLayoutVars>
      </dgm:prSet>
      <dgm:spPr/>
    </dgm:pt>
    <dgm:pt modelId="{F44A4FD7-B101-46D5-A5F7-1E339C2B95C4}" type="pres">
      <dgm:prSet presAssocID="{4E539459-A965-4069-9127-4B79357059C9}" presName="FiveNodes_1_text" presStyleLbl="node1" presStyleIdx="4" presStyleCnt="5">
        <dgm:presLayoutVars>
          <dgm:bulletEnabled val="1"/>
        </dgm:presLayoutVars>
      </dgm:prSet>
      <dgm:spPr/>
    </dgm:pt>
    <dgm:pt modelId="{830D07D3-31D9-4FCE-BD5F-389A24612712}" type="pres">
      <dgm:prSet presAssocID="{4E539459-A965-4069-9127-4B79357059C9}" presName="FiveNodes_2_text" presStyleLbl="node1" presStyleIdx="4" presStyleCnt="5">
        <dgm:presLayoutVars>
          <dgm:bulletEnabled val="1"/>
        </dgm:presLayoutVars>
      </dgm:prSet>
      <dgm:spPr/>
    </dgm:pt>
    <dgm:pt modelId="{3875D3F1-28D2-44BE-B921-9373688C57FD}" type="pres">
      <dgm:prSet presAssocID="{4E539459-A965-4069-9127-4B79357059C9}" presName="FiveNodes_3_text" presStyleLbl="node1" presStyleIdx="4" presStyleCnt="5">
        <dgm:presLayoutVars>
          <dgm:bulletEnabled val="1"/>
        </dgm:presLayoutVars>
      </dgm:prSet>
      <dgm:spPr/>
    </dgm:pt>
    <dgm:pt modelId="{97C196DB-724F-4746-A0D2-9EFB6F17B586}" type="pres">
      <dgm:prSet presAssocID="{4E539459-A965-4069-9127-4B79357059C9}" presName="FiveNodes_4_text" presStyleLbl="node1" presStyleIdx="4" presStyleCnt="5">
        <dgm:presLayoutVars>
          <dgm:bulletEnabled val="1"/>
        </dgm:presLayoutVars>
      </dgm:prSet>
      <dgm:spPr/>
    </dgm:pt>
    <dgm:pt modelId="{56F9C168-693C-4F01-A0AD-76479D581BDE}" type="pres">
      <dgm:prSet presAssocID="{4E539459-A965-4069-9127-4B79357059C9}" presName="FiveNodes_5_text" presStyleLbl="node1" presStyleIdx="4" presStyleCnt="5">
        <dgm:presLayoutVars>
          <dgm:bulletEnabled val="1"/>
        </dgm:presLayoutVars>
      </dgm:prSet>
      <dgm:spPr/>
    </dgm:pt>
  </dgm:ptLst>
  <dgm:cxnLst>
    <dgm:cxn modelId="{332DA001-ADB2-4CB0-A5E7-E67FD3926A23}" srcId="{4E539459-A965-4069-9127-4B79357059C9}" destId="{0CA05F0F-7F64-48E9-AF58-CECB54232044}" srcOrd="5" destOrd="0" parTransId="{E8D0D211-6514-41BB-898C-FEF43F20B42E}" sibTransId="{9424490C-9A09-4F12-ACA3-11E68BAEA741}"/>
    <dgm:cxn modelId="{AD9DDF05-8B08-4D51-A1C0-2E54D47A16AD}" type="presOf" srcId="{15A21BF9-F356-4E5D-A545-D823F49A4E1F}" destId="{366DB72F-34C9-4D73-B2C6-524201EB46F1}" srcOrd="0" destOrd="0" presId="urn:microsoft.com/office/officeart/2005/8/layout/vProcess5"/>
    <dgm:cxn modelId="{1F8E540A-FD7A-4F7B-AF04-C9EF2798E186}" type="presOf" srcId="{15A21BF9-F356-4E5D-A545-D823F49A4E1F}" destId="{830D07D3-31D9-4FCE-BD5F-389A24612712}" srcOrd="1" destOrd="0" presId="urn:microsoft.com/office/officeart/2005/8/layout/vProcess5"/>
    <dgm:cxn modelId="{3428BA0B-72E4-4B48-9EB4-55E8B7FE5E3C}" type="presOf" srcId="{B457F7BF-16A1-4546-950B-761201BEFC9B}" destId="{C3CC05BC-F67F-476C-BC52-7BAB41BCB17A}" srcOrd="0" destOrd="0" presId="urn:microsoft.com/office/officeart/2005/8/layout/vProcess5"/>
    <dgm:cxn modelId="{9BCFB70D-C1C7-4DAB-9470-8E056C93EDBF}" type="presOf" srcId="{DCF261C6-78AF-42B5-B926-262C0E0FBE19}" destId="{BBD92F15-92C9-4B73-9577-CD159D60E12B}" srcOrd="0" destOrd="0" presId="urn:microsoft.com/office/officeart/2005/8/layout/vProcess5"/>
    <dgm:cxn modelId="{9F90C610-F1CF-488D-9BD9-C46CAABE2317}" type="presOf" srcId="{CD0586B3-D058-4C9F-BD2C-7802008B812B}" destId="{876B80E7-9208-46CC-8B1D-68215A2C6AFD}" srcOrd="0" destOrd="0" presId="urn:microsoft.com/office/officeart/2005/8/layout/vProcess5"/>
    <dgm:cxn modelId="{52DD2212-C63F-4F27-923F-09CFC24BE940}" srcId="{4E539459-A965-4069-9127-4B79357059C9}" destId="{B457F7BF-16A1-4546-950B-761201BEFC9B}" srcOrd="2" destOrd="0" parTransId="{E318D67E-8A2B-4B18-ACF4-2875C689EFF1}" sibTransId="{0AF9C7D9-FA0C-4824-BBE8-6FCCC0D32B71}"/>
    <dgm:cxn modelId="{45CB1514-70EA-4289-8126-E2C66ADCEBDA}" srcId="{4E539459-A965-4069-9127-4B79357059C9}" destId="{5999446F-5799-4CA4-9CA2-3CD21A4A6E27}" srcOrd="0" destOrd="0" parTransId="{3DD7ED10-BDF1-42CD-B8E2-0C52946CF627}" sibTransId="{DE061FC8-A266-4D14-8B6F-68971364251E}"/>
    <dgm:cxn modelId="{529C3919-D976-4403-A42C-5260BD42A86F}" srcId="{4E539459-A965-4069-9127-4B79357059C9}" destId="{CD0586B3-D058-4C9F-BD2C-7802008B812B}" srcOrd="4" destOrd="0" parTransId="{59B8DC14-E6FA-4E66-B599-50FDE579D2A3}" sibTransId="{8AE4E6FD-B629-47FD-8B14-14BA0701FF7C}"/>
    <dgm:cxn modelId="{F6B41425-8958-45F8-812B-935F38762DA2}" srcId="{4E539459-A965-4069-9127-4B79357059C9}" destId="{67065C9F-1CDC-4B59-94C9-196A76F76B7A}" srcOrd="3" destOrd="0" parTransId="{4055A071-7AA4-407C-AE29-5170D09FFDFE}" sibTransId="{DCF261C6-78AF-42B5-B926-262C0E0FBE19}"/>
    <dgm:cxn modelId="{68AC4B35-C531-4332-B2A2-5C0364D2E15E}" type="presOf" srcId="{DE061FC8-A266-4D14-8B6F-68971364251E}" destId="{CB1CA482-F1C7-4226-B7F7-221B1AF3B36C}" srcOrd="0" destOrd="0" presId="urn:microsoft.com/office/officeart/2005/8/layout/vProcess5"/>
    <dgm:cxn modelId="{07C7853E-F7BF-48CC-A928-E499380E736A}" type="presOf" srcId="{67065C9F-1CDC-4B59-94C9-196A76F76B7A}" destId="{97C196DB-724F-4746-A0D2-9EFB6F17B586}" srcOrd="1" destOrd="0" presId="urn:microsoft.com/office/officeart/2005/8/layout/vProcess5"/>
    <dgm:cxn modelId="{9B689561-6FB2-4EFE-99AB-EE571F7F55C5}" type="presOf" srcId="{5999446F-5799-4CA4-9CA2-3CD21A4A6E27}" destId="{5A4CAFA9-8E42-4034-865A-D85C839952A7}" srcOrd="0" destOrd="0" presId="urn:microsoft.com/office/officeart/2005/8/layout/vProcess5"/>
    <dgm:cxn modelId="{E4981080-0469-4A28-9102-28DACD40ADB4}" type="presOf" srcId="{5999446F-5799-4CA4-9CA2-3CD21A4A6E27}" destId="{F44A4FD7-B101-46D5-A5F7-1E339C2B95C4}" srcOrd="1" destOrd="0" presId="urn:microsoft.com/office/officeart/2005/8/layout/vProcess5"/>
    <dgm:cxn modelId="{9AA39E9D-7656-4584-9FD9-7AF58AC2AAD7}" type="presOf" srcId="{B457F7BF-16A1-4546-950B-761201BEFC9B}" destId="{3875D3F1-28D2-44BE-B921-9373688C57FD}" srcOrd="1" destOrd="0" presId="urn:microsoft.com/office/officeart/2005/8/layout/vProcess5"/>
    <dgm:cxn modelId="{D3F7B2A3-E2C1-4C1C-8DB8-4B403965EF6C}" srcId="{4E539459-A965-4069-9127-4B79357059C9}" destId="{C5FB1B20-6E83-4F59-A363-6F71DE9947DB}" srcOrd="7" destOrd="0" parTransId="{12D95B4C-DE8C-42A6-AB02-FE4B711DA5E0}" sibTransId="{403CB27D-AAAE-4858-9C38-BE161284BE96}"/>
    <dgm:cxn modelId="{077C1DAB-DBB1-4744-B84D-F44B1B73635E}" type="presOf" srcId="{387806C9-6C37-4076-8EB1-7550784B5F4D}" destId="{F291E01B-FC3E-43A2-9135-B13BF1FBFE1A}" srcOrd="0" destOrd="0" presId="urn:microsoft.com/office/officeart/2005/8/layout/vProcess5"/>
    <dgm:cxn modelId="{956AD2AB-13B1-4F2B-B90A-67C21E491B36}" srcId="{4E539459-A965-4069-9127-4B79357059C9}" destId="{15A21BF9-F356-4E5D-A545-D823F49A4E1F}" srcOrd="1" destOrd="0" parTransId="{E1680397-C93E-4EB4-879C-9B00042BDAA7}" sibTransId="{387806C9-6C37-4076-8EB1-7550784B5F4D}"/>
    <dgm:cxn modelId="{5A756BAE-C159-48D8-B5F8-446D30AA50D5}" srcId="{4E539459-A965-4069-9127-4B79357059C9}" destId="{0B4F2AA0-6CA1-4A49-A688-A646F649B932}" srcOrd="6" destOrd="0" parTransId="{631C9082-5C75-47D1-B842-67627D6A1A9B}" sibTransId="{927CF8F1-2148-4A84-B965-94341C90D38E}"/>
    <dgm:cxn modelId="{257E8CBF-C607-429A-85FC-C4F051F78A46}" type="presOf" srcId="{4E539459-A965-4069-9127-4B79357059C9}" destId="{F43E64FC-F44D-49FA-9E09-AEA3BAF5BD49}" srcOrd="0" destOrd="0" presId="urn:microsoft.com/office/officeart/2005/8/layout/vProcess5"/>
    <dgm:cxn modelId="{D5CF16C7-58AD-4839-B197-AAC6402EDAF0}" type="presOf" srcId="{CD0586B3-D058-4C9F-BD2C-7802008B812B}" destId="{56F9C168-693C-4F01-A0AD-76479D581BDE}" srcOrd="1" destOrd="0" presId="urn:microsoft.com/office/officeart/2005/8/layout/vProcess5"/>
    <dgm:cxn modelId="{1D06F7F3-BEC7-455A-BA55-F2879B863759}" type="presOf" srcId="{67065C9F-1CDC-4B59-94C9-196A76F76B7A}" destId="{AA3CC289-DC96-4177-8F1B-E8536474F08A}" srcOrd="0" destOrd="0" presId="urn:microsoft.com/office/officeart/2005/8/layout/vProcess5"/>
    <dgm:cxn modelId="{015F91FE-42D2-4C18-BD70-ED3034C6742A}" type="presOf" srcId="{0AF9C7D9-FA0C-4824-BBE8-6FCCC0D32B71}" destId="{0D2C21AC-3099-4345-85A0-0C28BC56D81E}" srcOrd="0" destOrd="0" presId="urn:microsoft.com/office/officeart/2005/8/layout/vProcess5"/>
    <dgm:cxn modelId="{3B3334FC-493A-402C-801C-5FE7CC4ED331}" type="presParOf" srcId="{F43E64FC-F44D-49FA-9E09-AEA3BAF5BD49}" destId="{9118AE10-564D-44B4-B326-D87967F9A072}" srcOrd="0" destOrd="0" presId="urn:microsoft.com/office/officeart/2005/8/layout/vProcess5"/>
    <dgm:cxn modelId="{60CD6DBE-193C-42B3-97A4-CF79E98F79A9}" type="presParOf" srcId="{F43E64FC-F44D-49FA-9E09-AEA3BAF5BD49}" destId="{5A4CAFA9-8E42-4034-865A-D85C839952A7}" srcOrd="1" destOrd="0" presId="urn:microsoft.com/office/officeart/2005/8/layout/vProcess5"/>
    <dgm:cxn modelId="{B1A39A45-A181-4176-9644-B5E6A38A0825}" type="presParOf" srcId="{F43E64FC-F44D-49FA-9E09-AEA3BAF5BD49}" destId="{366DB72F-34C9-4D73-B2C6-524201EB46F1}" srcOrd="2" destOrd="0" presId="urn:microsoft.com/office/officeart/2005/8/layout/vProcess5"/>
    <dgm:cxn modelId="{E1D10774-0D0C-4337-AA9D-739532D24DBA}" type="presParOf" srcId="{F43E64FC-F44D-49FA-9E09-AEA3BAF5BD49}" destId="{C3CC05BC-F67F-476C-BC52-7BAB41BCB17A}" srcOrd="3" destOrd="0" presId="urn:microsoft.com/office/officeart/2005/8/layout/vProcess5"/>
    <dgm:cxn modelId="{409AFB93-AA5B-41C8-92B3-5E26A9A24011}" type="presParOf" srcId="{F43E64FC-F44D-49FA-9E09-AEA3BAF5BD49}" destId="{AA3CC289-DC96-4177-8F1B-E8536474F08A}" srcOrd="4" destOrd="0" presId="urn:microsoft.com/office/officeart/2005/8/layout/vProcess5"/>
    <dgm:cxn modelId="{3EC88A7D-E503-46A0-B36C-DEF3341F9F1F}" type="presParOf" srcId="{F43E64FC-F44D-49FA-9E09-AEA3BAF5BD49}" destId="{876B80E7-9208-46CC-8B1D-68215A2C6AFD}" srcOrd="5" destOrd="0" presId="urn:microsoft.com/office/officeart/2005/8/layout/vProcess5"/>
    <dgm:cxn modelId="{69590AB7-E8C2-4A62-A53B-08DAC2A0F452}" type="presParOf" srcId="{F43E64FC-F44D-49FA-9E09-AEA3BAF5BD49}" destId="{CB1CA482-F1C7-4226-B7F7-221B1AF3B36C}" srcOrd="6" destOrd="0" presId="urn:microsoft.com/office/officeart/2005/8/layout/vProcess5"/>
    <dgm:cxn modelId="{ACC46938-058A-4396-91E2-E4ED3CC269E8}" type="presParOf" srcId="{F43E64FC-F44D-49FA-9E09-AEA3BAF5BD49}" destId="{F291E01B-FC3E-43A2-9135-B13BF1FBFE1A}" srcOrd="7" destOrd="0" presId="urn:microsoft.com/office/officeart/2005/8/layout/vProcess5"/>
    <dgm:cxn modelId="{A6B50779-D53F-45C8-819A-374940F6F171}" type="presParOf" srcId="{F43E64FC-F44D-49FA-9E09-AEA3BAF5BD49}" destId="{0D2C21AC-3099-4345-85A0-0C28BC56D81E}" srcOrd="8" destOrd="0" presId="urn:microsoft.com/office/officeart/2005/8/layout/vProcess5"/>
    <dgm:cxn modelId="{FA60D287-345C-4C61-BB64-C26D4F1DEA83}" type="presParOf" srcId="{F43E64FC-F44D-49FA-9E09-AEA3BAF5BD49}" destId="{BBD92F15-92C9-4B73-9577-CD159D60E12B}" srcOrd="9" destOrd="0" presId="urn:microsoft.com/office/officeart/2005/8/layout/vProcess5"/>
    <dgm:cxn modelId="{685FD74A-287B-464D-9FAF-34F67EBDBFDA}" type="presParOf" srcId="{F43E64FC-F44D-49FA-9E09-AEA3BAF5BD49}" destId="{F44A4FD7-B101-46D5-A5F7-1E339C2B95C4}" srcOrd="10" destOrd="0" presId="urn:microsoft.com/office/officeart/2005/8/layout/vProcess5"/>
    <dgm:cxn modelId="{EBB50C08-B54F-4FE7-9699-A3B97A877282}" type="presParOf" srcId="{F43E64FC-F44D-49FA-9E09-AEA3BAF5BD49}" destId="{830D07D3-31D9-4FCE-BD5F-389A24612712}" srcOrd="11" destOrd="0" presId="urn:microsoft.com/office/officeart/2005/8/layout/vProcess5"/>
    <dgm:cxn modelId="{91F8CA34-96CE-42D6-B757-2A7D4391C38A}" type="presParOf" srcId="{F43E64FC-F44D-49FA-9E09-AEA3BAF5BD49}" destId="{3875D3F1-28D2-44BE-B921-9373688C57FD}" srcOrd="12" destOrd="0" presId="urn:microsoft.com/office/officeart/2005/8/layout/vProcess5"/>
    <dgm:cxn modelId="{8AA745EC-8D53-44C3-87E0-DF5E1E41DF02}" type="presParOf" srcId="{F43E64FC-F44D-49FA-9E09-AEA3BAF5BD49}" destId="{97C196DB-724F-4746-A0D2-9EFB6F17B586}" srcOrd="13" destOrd="0" presId="urn:microsoft.com/office/officeart/2005/8/layout/vProcess5"/>
    <dgm:cxn modelId="{496C01D9-0632-446E-ABF0-2366B6906120}" type="presParOf" srcId="{F43E64FC-F44D-49FA-9E09-AEA3BAF5BD49}" destId="{56F9C168-693C-4F01-A0AD-76479D581BDE}" srcOrd="14"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A4CAFA9-8E42-4034-865A-D85C839952A7}">
      <dsp:nvSpPr>
        <dsp:cNvPr id="0" name=""/>
        <dsp:cNvSpPr/>
      </dsp:nvSpPr>
      <dsp:spPr>
        <a:xfrm>
          <a:off x="149060" y="18683"/>
          <a:ext cx="6447236" cy="1027106"/>
        </a:xfrm>
        <a:prstGeom prst="roundRect">
          <a:avLst>
            <a:gd name="adj" fmla="val 10000"/>
          </a:avLst>
        </a:prstGeom>
        <a:solidFill>
          <a:schemeClr val="accent6">
            <a:lumMod val="60000"/>
            <a:lumOff val="4000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Font typeface="+mj-lt"/>
            <a:buNone/>
          </a:pPr>
          <a:r>
            <a:rPr lang="en-US" sz="2000" kern="1200" dirty="0">
              <a:latin typeface="Arial" panose="020B0604020202020204" pitchFamily="34" charset="0"/>
              <a:cs typeface="Arial" panose="020B0604020202020204" pitchFamily="34" charset="0"/>
            </a:rPr>
            <a:t>Project Identification</a:t>
          </a:r>
          <a:endParaRPr lang="en-IN" sz="2000" kern="1200" dirty="0">
            <a:latin typeface="Arial" panose="020B0604020202020204" pitchFamily="34" charset="0"/>
            <a:cs typeface="Arial" panose="020B0604020202020204" pitchFamily="34" charset="0"/>
          </a:endParaRPr>
        </a:p>
      </dsp:txBody>
      <dsp:txXfrm>
        <a:off x="179143" y="48766"/>
        <a:ext cx="5218736" cy="966940"/>
      </dsp:txXfrm>
    </dsp:sp>
    <dsp:sp modelId="{366DB72F-34C9-4D73-B2C6-524201EB46F1}">
      <dsp:nvSpPr>
        <dsp:cNvPr id="0" name=""/>
        <dsp:cNvSpPr/>
      </dsp:nvSpPr>
      <dsp:spPr>
        <a:xfrm>
          <a:off x="481449" y="1144903"/>
          <a:ext cx="6447236" cy="1027106"/>
        </a:xfrm>
        <a:prstGeom prst="roundRect">
          <a:avLst>
            <a:gd name="adj" fmla="val 10000"/>
          </a:avLst>
        </a:prstGeom>
        <a:solidFill>
          <a:schemeClr val="accent6">
            <a:lumMod val="40000"/>
            <a:lumOff val="6000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Font typeface="+mj-lt"/>
            <a:buNone/>
          </a:pPr>
          <a:r>
            <a:rPr lang="en-US" sz="2000" kern="1200" dirty="0">
              <a:latin typeface="Arial" panose="020B0604020202020204" pitchFamily="34" charset="0"/>
              <a:cs typeface="Arial" panose="020B0604020202020204" pitchFamily="34" charset="0"/>
            </a:rPr>
            <a:t>Project Evaluation</a:t>
          </a:r>
          <a:endParaRPr lang="en-IN" sz="2000" kern="1200" dirty="0">
            <a:latin typeface="Arial" panose="020B0604020202020204" pitchFamily="34" charset="0"/>
            <a:cs typeface="Arial" panose="020B0604020202020204" pitchFamily="34" charset="0"/>
          </a:endParaRPr>
        </a:p>
      </dsp:txBody>
      <dsp:txXfrm>
        <a:off x="511532" y="1174986"/>
        <a:ext cx="5238001" cy="966940"/>
      </dsp:txXfrm>
    </dsp:sp>
    <dsp:sp modelId="{C3CC05BC-F67F-476C-BC52-7BAB41BCB17A}">
      <dsp:nvSpPr>
        <dsp:cNvPr id="0" name=""/>
        <dsp:cNvSpPr/>
      </dsp:nvSpPr>
      <dsp:spPr>
        <a:xfrm>
          <a:off x="962898" y="2339519"/>
          <a:ext cx="6447236" cy="1027106"/>
        </a:xfrm>
        <a:prstGeom prst="roundRect">
          <a:avLst>
            <a:gd name="adj" fmla="val 10000"/>
          </a:avLst>
        </a:prstGeom>
        <a:solidFill>
          <a:schemeClr val="accent6">
            <a:lumMod val="60000"/>
            <a:lumOff val="4000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Font typeface="+mj-lt"/>
            <a:buNone/>
          </a:pPr>
          <a:r>
            <a:rPr lang="en-US" sz="2000" kern="1200" dirty="0">
              <a:latin typeface="Arial" panose="020B0604020202020204" pitchFamily="34" charset="0"/>
              <a:cs typeface="Arial" panose="020B0604020202020204" pitchFamily="34" charset="0"/>
            </a:rPr>
            <a:t>Project Selection</a:t>
          </a:r>
          <a:endParaRPr lang="en-IN" sz="2000" kern="1200" dirty="0">
            <a:latin typeface="Arial" panose="020B0604020202020204" pitchFamily="34" charset="0"/>
            <a:cs typeface="Arial" panose="020B0604020202020204" pitchFamily="34" charset="0"/>
          </a:endParaRPr>
        </a:p>
      </dsp:txBody>
      <dsp:txXfrm>
        <a:off x="992981" y="2369602"/>
        <a:ext cx="5238001" cy="966940"/>
      </dsp:txXfrm>
    </dsp:sp>
    <dsp:sp modelId="{AA3CC289-DC96-4177-8F1B-E8536474F08A}">
      <dsp:nvSpPr>
        <dsp:cNvPr id="0" name=""/>
        <dsp:cNvSpPr/>
      </dsp:nvSpPr>
      <dsp:spPr>
        <a:xfrm>
          <a:off x="1444348" y="3509279"/>
          <a:ext cx="6447236" cy="1027106"/>
        </a:xfrm>
        <a:prstGeom prst="roundRect">
          <a:avLst>
            <a:gd name="adj" fmla="val 10000"/>
          </a:avLst>
        </a:prstGeom>
        <a:solidFill>
          <a:schemeClr val="accent6">
            <a:lumMod val="40000"/>
            <a:lumOff val="6000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Font typeface="+mj-lt"/>
            <a:buNone/>
          </a:pPr>
          <a:r>
            <a:rPr lang="en-US" sz="2000" kern="1200" dirty="0">
              <a:latin typeface="Arial" panose="020B0604020202020204" pitchFamily="34" charset="0"/>
              <a:cs typeface="Arial" panose="020B0604020202020204" pitchFamily="34" charset="0"/>
            </a:rPr>
            <a:t>Project Implementation</a:t>
          </a:r>
          <a:endParaRPr lang="en-IN" sz="2000" kern="1200" dirty="0">
            <a:latin typeface="Arial" panose="020B0604020202020204" pitchFamily="34" charset="0"/>
            <a:cs typeface="Arial" panose="020B0604020202020204" pitchFamily="34" charset="0"/>
          </a:endParaRPr>
        </a:p>
      </dsp:txBody>
      <dsp:txXfrm>
        <a:off x="1474431" y="3539362"/>
        <a:ext cx="5238001" cy="966940"/>
      </dsp:txXfrm>
    </dsp:sp>
    <dsp:sp modelId="{876B80E7-9208-46CC-8B1D-68215A2C6AFD}">
      <dsp:nvSpPr>
        <dsp:cNvPr id="0" name=""/>
        <dsp:cNvSpPr/>
      </dsp:nvSpPr>
      <dsp:spPr>
        <a:xfrm>
          <a:off x="1925797" y="4679038"/>
          <a:ext cx="6447236" cy="1027106"/>
        </a:xfrm>
        <a:prstGeom prst="roundRect">
          <a:avLst>
            <a:gd name="adj" fmla="val 10000"/>
          </a:avLst>
        </a:prstGeom>
        <a:solidFill>
          <a:schemeClr val="accent6">
            <a:lumMod val="60000"/>
            <a:lumOff val="4000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Font typeface="+mj-lt"/>
            <a:buNone/>
          </a:pPr>
          <a:r>
            <a:rPr lang="en-US" sz="2000" kern="1200" dirty="0">
              <a:latin typeface="Arial" panose="020B0604020202020204" pitchFamily="34" charset="0"/>
              <a:cs typeface="Arial" panose="020B0604020202020204" pitchFamily="34" charset="0"/>
            </a:rPr>
            <a:t>Performance Review</a:t>
          </a:r>
          <a:endParaRPr lang="en-IN" sz="2000" kern="1200" dirty="0">
            <a:latin typeface="Arial" panose="020B0604020202020204" pitchFamily="34" charset="0"/>
            <a:cs typeface="Arial" panose="020B0604020202020204" pitchFamily="34" charset="0"/>
          </a:endParaRPr>
        </a:p>
      </dsp:txBody>
      <dsp:txXfrm>
        <a:off x="1955880" y="4709121"/>
        <a:ext cx="5238001" cy="966940"/>
      </dsp:txXfrm>
    </dsp:sp>
    <dsp:sp modelId="{CB1CA482-F1C7-4226-B7F7-221B1AF3B36C}">
      <dsp:nvSpPr>
        <dsp:cNvPr id="0" name=""/>
        <dsp:cNvSpPr/>
      </dsp:nvSpPr>
      <dsp:spPr>
        <a:xfrm>
          <a:off x="5779617" y="750358"/>
          <a:ext cx="667618" cy="667618"/>
        </a:xfrm>
        <a:prstGeom prst="downArrow">
          <a:avLst>
            <a:gd name="adj1" fmla="val 55000"/>
            <a:gd name="adj2" fmla="val 45000"/>
          </a:avLst>
        </a:prstGeom>
        <a:solidFill>
          <a:schemeClr val="accent6">
            <a:lumMod val="75000"/>
            <a:alpha val="90000"/>
          </a:schemeClr>
        </a:solidFill>
        <a:ln w="12700" cap="flat" cmpd="sng" algn="ctr">
          <a:solidFill>
            <a:schemeClr val="dk1">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marL="0" lvl="0" indent="0" algn="ctr" defTabSz="1333500">
            <a:lnSpc>
              <a:spcPct val="90000"/>
            </a:lnSpc>
            <a:spcBef>
              <a:spcPct val="0"/>
            </a:spcBef>
            <a:spcAft>
              <a:spcPct val="35000"/>
            </a:spcAft>
            <a:buNone/>
          </a:pPr>
          <a:endParaRPr lang="en-IN" sz="3000" kern="1200" dirty="0"/>
        </a:p>
      </dsp:txBody>
      <dsp:txXfrm>
        <a:off x="5929831" y="750358"/>
        <a:ext cx="367190" cy="502383"/>
      </dsp:txXfrm>
    </dsp:sp>
    <dsp:sp modelId="{F291E01B-FC3E-43A2-9135-B13BF1FBFE1A}">
      <dsp:nvSpPr>
        <dsp:cNvPr id="0" name=""/>
        <dsp:cNvSpPr/>
      </dsp:nvSpPr>
      <dsp:spPr>
        <a:xfrm>
          <a:off x="6261066" y="1920117"/>
          <a:ext cx="667618" cy="667618"/>
        </a:xfrm>
        <a:prstGeom prst="downArrow">
          <a:avLst>
            <a:gd name="adj1" fmla="val 55000"/>
            <a:gd name="adj2" fmla="val 45000"/>
          </a:avLst>
        </a:prstGeom>
        <a:solidFill>
          <a:schemeClr val="accent6">
            <a:lumMod val="75000"/>
            <a:alpha val="90000"/>
          </a:schemeClr>
        </a:solidFill>
        <a:ln w="12700" cap="flat" cmpd="sng" algn="ctr">
          <a:solidFill>
            <a:schemeClr val="dk1">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marL="0" lvl="0" indent="0" algn="ctr" defTabSz="1333500">
            <a:lnSpc>
              <a:spcPct val="90000"/>
            </a:lnSpc>
            <a:spcBef>
              <a:spcPct val="0"/>
            </a:spcBef>
            <a:spcAft>
              <a:spcPct val="35000"/>
            </a:spcAft>
            <a:buNone/>
          </a:pPr>
          <a:endParaRPr lang="en-IN" sz="3000" kern="1200"/>
        </a:p>
      </dsp:txBody>
      <dsp:txXfrm>
        <a:off x="6411280" y="1920117"/>
        <a:ext cx="367190" cy="502383"/>
      </dsp:txXfrm>
    </dsp:sp>
    <dsp:sp modelId="{0D2C21AC-3099-4345-85A0-0C28BC56D81E}">
      <dsp:nvSpPr>
        <dsp:cNvPr id="0" name=""/>
        <dsp:cNvSpPr/>
      </dsp:nvSpPr>
      <dsp:spPr>
        <a:xfrm>
          <a:off x="6742516" y="3072759"/>
          <a:ext cx="667618" cy="667618"/>
        </a:xfrm>
        <a:prstGeom prst="downArrow">
          <a:avLst>
            <a:gd name="adj1" fmla="val 55000"/>
            <a:gd name="adj2" fmla="val 45000"/>
          </a:avLst>
        </a:prstGeom>
        <a:solidFill>
          <a:schemeClr val="accent6">
            <a:lumMod val="75000"/>
            <a:alpha val="90000"/>
          </a:schemeClr>
        </a:solidFill>
        <a:ln w="12700" cap="flat" cmpd="sng" algn="ctr">
          <a:solidFill>
            <a:schemeClr val="dk1">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marL="0" lvl="0" indent="0" algn="ctr" defTabSz="1333500">
            <a:lnSpc>
              <a:spcPct val="90000"/>
            </a:lnSpc>
            <a:spcBef>
              <a:spcPct val="0"/>
            </a:spcBef>
            <a:spcAft>
              <a:spcPct val="35000"/>
            </a:spcAft>
            <a:buNone/>
          </a:pPr>
          <a:endParaRPr lang="en-IN" sz="3000" kern="1200"/>
        </a:p>
      </dsp:txBody>
      <dsp:txXfrm>
        <a:off x="6892730" y="3072759"/>
        <a:ext cx="367190" cy="502383"/>
      </dsp:txXfrm>
    </dsp:sp>
    <dsp:sp modelId="{BBD92F15-92C9-4B73-9577-CD159D60E12B}">
      <dsp:nvSpPr>
        <dsp:cNvPr id="0" name=""/>
        <dsp:cNvSpPr/>
      </dsp:nvSpPr>
      <dsp:spPr>
        <a:xfrm>
          <a:off x="7223965" y="4253931"/>
          <a:ext cx="667618" cy="667618"/>
        </a:xfrm>
        <a:prstGeom prst="downArrow">
          <a:avLst>
            <a:gd name="adj1" fmla="val 55000"/>
            <a:gd name="adj2" fmla="val 45000"/>
          </a:avLst>
        </a:prstGeom>
        <a:solidFill>
          <a:schemeClr val="accent6">
            <a:lumMod val="75000"/>
            <a:alpha val="90000"/>
          </a:schemeClr>
        </a:solidFill>
        <a:ln w="12700" cap="flat" cmpd="sng" algn="ctr">
          <a:solidFill>
            <a:schemeClr val="dk1">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marL="0" lvl="0" indent="0" algn="ctr" defTabSz="1333500">
            <a:lnSpc>
              <a:spcPct val="90000"/>
            </a:lnSpc>
            <a:spcBef>
              <a:spcPct val="0"/>
            </a:spcBef>
            <a:spcAft>
              <a:spcPct val="35000"/>
            </a:spcAft>
            <a:buNone/>
          </a:pPr>
          <a:endParaRPr lang="en-IN" sz="3000" kern="1200"/>
        </a:p>
      </dsp:txBody>
      <dsp:txXfrm>
        <a:off x="7374179" y="4253931"/>
        <a:ext cx="367190" cy="502383"/>
      </dsp:txXfrm>
    </dsp:sp>
  </dsp:spTree>
</dsp:drawing>
</file>

<file path=ppt/diagrams/layout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F30FE-3C2E-40CB-8CEB-6A8850ED52B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96D072C5-8D43-45BE-ADC7-AE92662B20B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218D38E-A806-4F1F-BB30-B7A52F1636EC}"/>
              </a:ext>
            </a:extLst>
          </p:cNvPr>
          <p:cNvSpPr>
            <a:spLocks noGrp="1"/>
          </p:cNvSpPr>
          <p:nvPr>
            <p:ph type="dt" sz="half" idx="10"/>
          </p:nvPr>
        </p:nvSpPr>
        <p:spPr/>
        <p:txBody>
          <a:bodyPr/>
          <a:lstStyle/>
          <a:p>
            <a:fld id="{E29114E8-A07C-494C-8375-B27161A31F9B}" type="datetimeFigureOut">
              <a:rPr lang="en-IN" smtClean="0"/>
              <a:t>15-03-2026</a:t>
            </a:fld>
            <a:endParaRPr lang="en-IN"/>
          </a:p>
        </p:txBody>
      </p:sp>
      <p:sp>
        <p:nvSpPr>
          <p:cNvPr id="5" name="Footer Placeholder 4">
            <a:extLst>
              <a:ext uri="{FF2B5EF4-FFF2-40B4-BE49-F238E27FC236}">
                <a16:creationId xmlns:a16="http://schemas.microsoft.com/office/drawing/2014/main" id="{3E2737D9-0F23-49F9-AE8C-2C4B0C2A021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5E828B2-E5EB-421C-AD9C-0B9BECCD27B4}"/>
              </a:ext>
            </a:extLst>
          </p:cNvPr>
          <p:cNvSpPr>
            <a:spLocks noGrp="1"/>
          </p:cNvSpPr>
          <p:nvPr>
            <p:ph type="sldNum" sz="quarter" idx="12"/>
          </p:nvPr>
        </p:nvSpPr>
        <p:spPr/>
        <p:txBody>
          <a:bodyPr/>
          <a:lstStyle/>
          <a:p>
            <a:fld id="{6DA14161-E2A8-47BB-94E2-BD9CDFC8A426}" type="slidenum">
              <a:rPr lang="en-IN" smtClean="0"/>
              <a:t>‹#›</a:t>
            </a:fld>
            <a:endParaRPr lang="en-IN"/>
          </a:p>
        </p:txBody>
      </p:sp>
    </p:spTree>
    <p:extLst>
      <p:ext uri="{BB962C8B-B14F-4D97-AF65-F5344CB8AC3E}">
        <p14:creationId xmlns:p14="http://schemas.microsoft.com/office/powerpoint/2010/main" val="26703279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339E4A-3855-48FD-8B00-DDAA7D1CB5D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231E4C9-0736-4999-8FD9-CB9079F80C4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DF60609-8253-4E9B-8613-222F6D19717F}"/>
              </a:ext>
            </a:extLst>
          </p:cNvPr>
          <p:cNvSpPr>
            <a:spLocks noGrp="1"/>
          </p:cNvSpPr>
          <p:nvPr>
            <p:ph type="dt" sz="half" idx="10"/>
          </p:nvPr>
        </p:nvSpPr>
        <p:spPr/>
        <p:txBody>
          <a:bodyPr/>
          <a:lstStyle/>
          <a:p>
            <a:fld id="{E29114E8-A07C-494C-8375-B27161A31F9B}" type="datetimeFigureOut">
              <a:rPr lang="en-IN" smtClean="0"/>
              <a:t>15-03-2026</a:t>
            </a:fld>
            <a:endParaRPr lang="en-IN"/>
          </a:p>
        </p:txBody>
      </p:sp>
      <p:sp>
        <p:nvSpPr>
          <p:cNvPr id="5" name="Footer Placeholder 4">
            <a:extLst>
              <a:ext uri="{FF2B5EF4-FFF2-40B4-BE49-F238E27FC236}">
                <a16:creationId xmlns:a16="http://schemas.microsoft.com/office/drawing/2014/main" id="{90819B74-623E-467C-835D-2631BA6CC2A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1CE8DE3-5E6C-4786-8B89-3D2F7B79F9F2}"/>
              </a:ext>
            </a:extLst>
          </p:cNvPr>
          <p:cNvSpPr>
            <a:spLocks noGrp="1"/>
          </p:cNvSpPr>
          <p:nvPr>
            <p:ph type="sldNum" sz="quarter" idx="12"/>
          </p:nvPr>
        </p:nvSpPr>
        <p:spPr/>
        <p:txBody>
          <a:bodyPr/>
          <a:lstStyle/>
          <a:p>
            <a:fld id="{6DA14161-E2A8-47BB-94E2-BD9CDFC8A426}" type="slidenum">
              <a:rPr lang="en-IN" smtClean="0"/>
              <a:t>‹#›</a:t>
            </a:fld>
            <a:endParaRPr lang="en-IN"/>
          </a:p>
        </p:txBody>
      </p:sp>
    </p:spTree>
    <p:extLst>
      <p:ext uri="{BB962C8B-B14F-4D97-AF65-F5344CB8AC3E}">
        <p14:creationId xmlns:p14="http://schemas.microsoft.com/office/powerpoint/2010/main" val="30280627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110D2-C53B-4E55-A500-4D8FC753894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AD441D9-6F06-4F0F-A441-284C2502D56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B4E8E52-777B-4290-A9D7-9505BA7AD3B8}"/>
              </a:ext>
            </a:extLst>
          </p:cNvPr>
          <p:cNvSpPr>
            <a:spLocks noGrp="1"/>
          </p:cNvSpPr>
          <p:nvPr>
            <p:ph type="dt" sz="half" idx="10"/>
          </p:nvPr>
        </p:nvSpPr>
        <p:spPr/>
        <p:txBody>
          <a:bodyPr/>
          <a:lstStyle/>
          <a:p>
            <a:fld id="{E29114E8-A07C-494C-8375-B27161A31F9B}" type="datetimeFigureOut">
              <a:rPr lang="en-IN" smtClean="0"/>
              <a:t>15-03-2026</a:t>
            </a:fld>
            <a:endParaRPr lang="en-IN"/>
          </a:p>
        </p:txBody>
      </p:sp>
      <p:sp>
        <p:nvSpPr>
          <p:cNvPr id="5" name="Footer Placeholder 4">
            <a:extLst>
              <a:ext uri="{FF2B5EF4-FFF2-40B4-BE49-F238E27FC236}">
                <a16:creationId xmlns:a16="http://schemas.microsoft.com/office/drawing/2014/main" id="{1992F258-BF5D-4945-9AB4-242ECA45CD3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5FCA18B-70F4-4D87-B5F6-33D2CC44B7D2}"/>
              </a:ext>
            </a:extLst>
          </p:cNvPr>
          <p:cNvSpPr>
            <a:spLocks noGrp="1"/>
          </p:cNvSpPr>
          <p:nvPr>
            <p:ph type="sldNum" sz="quarter" idx="12"/>
          </p:nvPr>
        </p:nvSpPr>
        <p:spPr/>
        <p:txBody>
          <a:bodyPr/>
          <a:lstStyle/>
          <a:p>
            <a:fld id="{6DA14161-E2A8-47BB-94E2-BD9CDFC8A426}" type="slidenum">
              <a:rPr lang="en-IN" smtClean="0"/>
              <a:t>‹#›</a:t>
            </a:fld>
            <a:endParaRPr lang="en-IN"/>
          </a:p>
        </p:txBody>
      </p:sp>
    </p:spTree>
    <p:extLst>
      <p:ext uri="{BB962C8B-B14F-4D97-AF65-F5344CB8AC3E}">
        <p14:creationId xmlns:p14="http://schemas.microsoft.com/office/powerpoint/2010/main" val="13801379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8371FF-9FE3-4D8B-91CF-E5AD7C11B7F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4A00A9D-34C1-4798-A154-C945FDF72D1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E42E73E-7EB5-4329-8809-467BE488837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67E6CAC-FFAF-42E8-8753-459EC2008D3B}"/>
              </a:ext>
            </a:extLst>
          </p:cNvPr>
          <p:cNvSpPr>
            <a:spLocks noGrp="1"/>
          </p:cNvSpPr>
          <p:nvPr>
            <p:ph type="dt" sz="half" idx="10"/>
          </p:nvPr>
        </p:nvSpPr>
        <p:spPr/>
        <p:txBody>
          <a:bodyPr/>
          <a:lstStyle/>
          <a:p>
            <a:fld id="{E29114E8-A07C-494C-8375-B27161A31F9B}" type="datetimeFigureOut">
              <a:rPr lang="en-IN" smtClean="0"/>
              <a:t>15-03-2026</a:t>
            </a:fld>
            <a:endParaRPr lang="en-IN"/>
          </a:p>
        </p:txBody>
      </p:sp>
      <p:sp>
        <p:nvSpPr>
          <p:cNvPr id="6" name="Footer Placeholder 5">
            <a:extLst>
              <a:ext uri="{FF2B5EF4-FFF2-40B4-BE49-F238E27FC236}">
                <a16:creationId xmlns:a16="http://schemas.microsoft.com/office/drawing/2014/main" id="{E12D8BE4-29AB-47F2-AC3F-0B71DFFD239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B3A8600-F4D2-4982-8B55-49238815EDF0}"/>
              </a:ext>
            </a:extLst>
          </p:cNvPr>
          <p:cNvSpPr>
            <a:spLocks noGrp="1"/>
          </p:cNvSpPr>
          <p:nvPr>
            <p:ph type="sldNum" sz="quarter" idx="12"/>
          </p:nvPr>
        </p:nvSpPr>
        <p:spPr/>
        <p:txBody>
          <a:bodyPr/>
          <a:lstStyle/>
          <a:p>
            <a:fld id="{6DA14161-E2A8-47BB-94E2-BD9CDFC8A426}" type="slidenum">
              <a:rPr lang="en-IN" smtClean="0"/>
              <a:t>‹#›</a:t>
            </a:fld>
            <a:endParaRPr lang="en-IN"/>
          </a:p>
        </p:txBody>
      </p:sp>
    </p:spTree>
    <p:extLst>
      <p:ext uri="{BB962C8B-B14F-4D97-AF65-F5344CB8AC3E}">
        <p14:creationId xmlns:p14="http://schemas.microsoft.com/office/powerpoint/2010/main" val="41648717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13532-FB86-4C5F-95BF-E43CCCE0399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951F067-A1D7-4737-93E8-23725A94CE4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45542CD-22C5-4F30-AE4D-947BB80D787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1788DF3-1241-4612-AE00-F3B415EC834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10D61D2-D247-499A-AB27-E0A6CF9BE61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1380084A-05FA-4634-BB58-6C5361172594}"/>
              </a:ext>
            </a:extLst>
          </p:cNvPr>
          <p:cNvSpPr>
            <a:spLocks noGrp="1"/>
          </p:cNvSpPr>
          <p:nvPr>
            <p:ph type="dt" sz="half" idx="10"/>
          </p:nvPr>
        </p:nvSpPr>
        <p:spPr/>
        <p:txBody>
          <a:bodyPr/>
          <a:lstStyle/>
          <a:p>
            <a:fld id="{E29114E8-A07C-494C-8375-B27161A31F9B}" type="datetimeFigureOut">
              <a:rPr lang="en-IN" smtClean="0"/>
              <a:t>15-03-2026</a:t>
            </a:fld>
            <a:endParaRPr lang="en-IN"/>
          </a:p>
        </p:txBody>
      </p:sp>
      <p:sp>
        <p:nvSpPr>
          <p:cNvPr id="8" name="Footer Placeholder 7">
            <a:extLst>
              <a:ext uri="{FF2B5EF4-FFF2-40B4-BE49-F238E27FC236}">
                <a16:creationId xmlns:a16="http://schemas.microsoft.com/office/drawing/2014/main" id="{6A22EE23-8555-497D-BAD6-594C82D4300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A1F9E02-6808-4D48-AE0D-08A37358FF15}"/>
              </a:ext>
            </a:extLst>
          </p:cNvPr>
          <p:cNvSpPr>
            <a:spLocks noGrp="1"/>
          </p:cNvSpPr>
          <p:nvPr>
            <p:ph type="sldNum" sz="quarter" idx="12"/>
          </p:nvPr>
        </p:nvSpPr>
        <p:spPr/>
        <p:txBody>
          <a:bodyPr/>
          <a:lstStyle/>
          <a:p>
            <a:fld id="{6DA14161-E2A8-47BB-94E2-BD9CDFC8A426}" type="slidenum">
              <a:rPr lang="en-IN" smtClean="0"/>
              <a:t>‹#›</a:t>
            </a:fld>
            <a:endParaRPr lang="en-IN"/>
          </a:p>
        </p:txBody>
      </p:sp>
    </p:spTree>
    <p:extLst>
      <p:ext uri="{BB962C8B-B14F-4D97-AF65-F5344CB8AC3E}">
        <p14:creationId xmlns:p14="http://schemas.microsoft.com/office/powerpoint/2010/main" val="16010971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9817BC-4EFA-4AED-949A-AAA36C542B4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D6657A3-FEE1-4118-8990-2A9071041DF2}"/>
              </a:ext>
            </a:extLst>
          </p:cNvPr>
          <p:cNvSpPr>
            <a:spLocks noGrp="1"/>
          </p:cNvSpPr>
          <p:nvPr>
            <p:ph type="dt" sz="half" idx="10"/>
          </p:nvPr>
        </p:nvSpPr>
        <p:spPr/>
        <p:txBody>
          <a:bodyPr/>
          <a:lstStyle/>
          <a:p>
            <a:fld id="{E29114E8-A07C-494C-8375-B27161A31F9B}" type="datetimeFigureOut">
              <a:rPr lang="en-IN" smtClean="0"/>
              <a:t>15-03-2026</a:t>
            </a:fld>
            <a:endParaRPr lang="en-IN"/>
          </a:p>
        </p:txBody>
      </p:sp>
      <p:sp>
        <p:nvSpPr>
          <p:cNvPr id="4" name="Footer Placeholder 3">
            <a:extLst>
              <a:ext uri="{FF2B5EF4-FFF2-40B4-BE49-F238E27FC236}">
                <a16:creationId xmlns:a16="http://schemas.microsoft.com/office/drawing/2014/main" id="{38F7A35D-266F-4298-918F-C901F6DB91B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B16A3B8-72E7-44A0-A225-F3E916F9A029}"/>
              </a:ext>
            </a:extLst>
          </p:cNvPr>
          <p:cNvSpPr>
            <a:spLocks noGrp="1"/>
          </p:cNvSpPr>
          <p:nvPr>
            <p:ph type="sldNum" sz="quarter" idx="12"/>
          </p:nvPr>
        </p:nvSpPr>
        <p:spPr/>
        <p:txBody>
          <a:bodyPr/>
          <a:lstStyle/>
          <a:p>
            <a:fld id="{6DA14161-E2A8-47BB-94E2-BD9CDFC8A426}" type="slidenum">
              <a:rPr lang="en-IN" smtClean="0"/>
              <a:t>‹#›</a:t>
            </a:fld>
            <a:endParaRPr lang="en-IN"/>
          </a:p>
        </p:txBody>
      </p:sp>
    </p:spTree>
    <p:extLst>
      <p:ext uri="{BB962C8B-B14F-4D97-AF65-F5344CB8AC3E}">
        <p14:creationId xmlns:p14="http://schemas.microsoft.com/office/powerpoint/2010/main" val="10572279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5D227A8-A823-4D22-BBB0-B5DD954F8F2D}"/>
              </a:ext>
            </a:extLst>
          </p:cNvPr>
          <p:cNvSpPr>
            <a:spLocks noGrp="1"/>
          </p:cNvSpPr>
          <p:nvPr>
            <p:ph type="dt" sz="half" idx="10"/>
          </p:nvPr>
        </p:nvSpPr>
        <p:spPr/>
        <p:txBody>
          <a:bodyPr/>
          <a:lstStyle/>
          <a:p>
            <a:fld id="{E29114E8-A07C-494C-8375-B27161A31F9B}" type="datetimeFigureOut">
              <a:rPr lang="en-IN" smtClean="0"/>
              <a:t>15-03-2026</a:t>
            </a:fld>
            <a:endParaRPr lang="en-IN"/>
          </a:p>
        </p:txBody>
      </p:sp>
      <p:sp>
        <p:nvSpPr>
          <p:cNvPr id="3" name="Footer Placeholder 2">
            <a:extLst>
              <a:ext uri="{FF2B5EF4-FFF2-40B4-BE49-F238E27FC236}">
                <a16:creationId xmlns:a16="http://schemas.microsoft.com/office/drawing/2014/main" id="{ECC1BFBF-74E7-4FE7-BD9D-DCC185DC080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2A74763-07B5-4A73-9A6D-4AC59742529B}"/>
              </a:ext>
            </a:extLst>
          </p:cNvPr>
          <p:cNvSpPr>
            <a:spLocks noGrp="1"/>
          </p:cNvSpPr>
          <p:nvPr>
            <p:ph type="sldNum" sz="quarter" idx="12"/>
          </p:nvPr>
        </p:nvSpPr>
        <p:spPr/>
        <p:txBody>
          <a:bodyPr/>
          <a:lstStyle/>
          <a:p>
            <a:fld id="{6DA14161-E2A8-47BB-94E2-BD9CDFC8A426}" type="slidenum">
              <a:rPr lang="en-IN" smtClean="0"/>
              <a:t>‹#›</a:t>
            </a:fld>
            <a:endParaRPr lang="en-IN"/>
          </a:p>
        </p:txBody>
      </p:sp>
    </p:spTree>
    <p:extLst>
      <p:ext uri="{BB962C8B-B14F-4D97-AF65-F5344CB8AC3E}">
        <p14:creationId xmlns:p14="http://schemas.microsoft.com/office/powerpoint/2010/main" val="28148172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B6901C-F3EF-4C8B-8447-90CDCE3FB56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DC81C06-3ED6-415A-803A-19D691BC164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08EADE8-15BA-40CD-8F38-FA7CB170CB2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457EA70-A1C4-4FBE-97A1-76E077F60AE1}"/>
              </a:ext>
            </a:extLst>
          </p:cNvPr>
          <p:cNvSpPr>
            <a:spLocks noGrp="1"/>
          </p:cNvSpPr>
          <p:nvPr>
            <p:ph type="dt" sz="half" idx="10"/>
          </p:nvPr>
        </p:nvSpPr>
        <p:spPr/>
        <p:txBody>
          <a:bodyPr/>
          <a:lstStyle/>
          <a:p>
            <a:fld id="{E29114E8-A07C-494C-8375-B27161A31F9B}" type="datetimeFigureOut">
              <a:rPr lang="en-IN" smtClean="0"/>
              <a:t>15-03-2026</a:t>
            </a:fld>
            <a:endParaRPr lang="en-IN"/>
          </a:p>
        </p:txBody>
      </p:sp>
      <p:sp>
        <p:nvSpPr>
          <p:cNvPr id="6" name="Footer Placeholder 5">
            <a:extLst>
              <a:ext uri="{FF2B5EF4-FFF2-40B4-BE49-F238E27FC236}">
                <a16:creationId xmlns:a16="http://schemas.microsoft.com/office/drawing/2014/main" id="{E4420B00-4EBD-4F1C-9B5B-00D4F92287F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8F9A01C-74E5-42AD-8509-3FFDC0C8BF1A}"/>
              </a:ext>
            </a:extLst>
          </p:cNvPr>
          <p:cNvSpPr>
            <a:spLocks noGrp="1"/>
          </p:cNvSpPr>
          <p:nvPr>
            <p:ph type="sldNum" sz="quarter" idx="12"/>
          </p:nvPr>
        </p:nvSpPr>
        <p:spPr/>
        <p:txBody>
          <a:bodyPr/>
          <a:lstStyle/>
          <a:p>
            <a:fld id="{6DA14161-E2A8-47BB-94E2-BD9CDFC8A426}" type="slidenum">
              <a:rPr lang="en-IN" smtClean="0"/>
              <a:t>‹#›</a:t>
            </a:fld>
            <a:endParaRPr lang="en-IN"/>
          </a:p>
        </p:txBody>
      </p:sp>
    </p:spTree>
    <p:extLst>
      <p:ext uri="{BB962C8B-B14F-4D97-AF65-F5344CB8AC3E}">
        <p14:creationId xmlns:p14="http://schemas.microsoft.com/office/powerpoint/2010/main" val="13087872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7BB3F8-9920-4B39-A5A2-9373417838A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C034D0C-7D44-476D-9623-613CB8F86F7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E9AC35C-20EC-4113-90B9-A982722EC35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A3379A-DCAB-4ABE-8F69-12FB53B36F9D}"/>
              </a:ext>
            </a:extLst>
          </p:cNvPr>
          <p:cNvSpPr>
            <a:spLocks noGrp="1"/>
          </p:cNvSpPr>
          <p:nvPr>
            <p:ph type="dt" sz="half" idx="10"/>
          </p:nvPr>
        </p:nvSpPr>
        <p:spPr/>
        <p:txBody>
          <a:bodyPr/>
          <a:lstStyle/>
          <a:p>
            <a:fld id="{E29114E8-A07C-494C-8375-B27161A31F9B}" type="datetimeFigureOut">
              <a:rPr lang="en-IN" smtClean="0"/>
              <a:t>15-03-2026</a:t>
            </a:fld>
            <a:endParaRPr lang="en-IN"/>
          </a:p>
        </p:txBody>
      </p:sp>
      <p:sp>
        <p:nvSpPr>
          <p:cNvPr id="6" name="Footer Placeholder 5">
            <a:extLst>
              <a:ext uri="{FF2B5EF4-FFF2-40B4-BE49-F238E27FC236}">
                <a16:creationId xmlns:a16="http://schemas.microsoft.com/office/drawing/2014/main" id="{8B20D4A7-0625-49E1-B2CB-97CE255C80F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C1BE107-1F6D-49A6-B9B6-B32C5ED0CBC1}"/>
              </a:ext>
            </a:extLst>
          </p:cNvPr>
          <p:cNvSpPr>
            <a:spLocks noGrp="1"/>
          </p:cNvSpPr>
          <p:nvPr>
            <p:ph type="sldNum" sz="quarter" idx="12"/>
          </p:nvPr>
        </p:nvSpPr>
        <p:spPr/>
        <p:txBody>
          <a:bodyPr/>
          <a:lstStyle/>
          <a:p>
            <a:fld id="{6DA14161-E2A8-47BB-94E2-BD9CDFC8A426}" type="slidenum">
              <a:rPr lang="en-IN" smtClean="0"/>
              <a:t>‹#›</a:t>
            </a:fld>
            <a:endParaRPr lang="en-IN"/>
          </a:p>
        </p:txBody>
      </p:sp>
    </p:spTree>
    <p:extLst>
      <p:ext uri="{BB962C8B-B14F-4D97-AF65-F5344CB8AC3E}">
        <p14:creationId xmlns:p14="http://schemas.microsoft.com/office/powerpoint/2010/main" val="38692039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7DE8AF-D515-40D8-A438-C998766DDF7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10A0FFB-A879-4CC5-AFC7-E6BD8C0EC09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3D4D6D2-A039-4C90-8D9A-09E58BC0DA47}"/>
              </a:ext>
            </a:extLst>
          </p:cNvPr>
          <p:cNvSpPr>
            <a:spLocks noGrp="1"/>
          </p:cNvSpPr>
          <p:nvPr>
            <p:ph type="dt" sz="half" idx="10"/>
          </p:nvPr>
        </p:nvSpPr>
        <p:spPr/>
        <p:txBody>
          <a:bodyPr/>
          <a:lstStyle/>
          <a:p>
            <a:fld id="{E29114E8-A07C-494C-8375-B27161A31F9B}" type="datetimeFigureOut">
              <a:rPr lang="en-IN" smtClean="0"/>
              <a:t>15-03-2026</a:t>
            </a:fld>
            <a:endParaRPr lang="en-IN"/>
          </a:p>
        </p:txBody>
      </p:sp>
      <p:sp>
        <p:nvSpPr>
          <p:cNvPr id="5" name="Footer Placeholder 4">
            <a:extLst>
              <a:ext uri="{FF2B5EF4-FFF2-40B4-BE49-F238E27FC236}">
                <a16:creationId xmlns:a16="http://schemas.microsoft.com/office/drawing/2014/main" id="{27FA53B6-E989-4897-AB03-19D61E2B68C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523CB25-22E1-4981-85D2-57DAB806F6A3}"/>
              </a:ext>
            </a:extLst>
          </p:cNvPr>
          <p:cNvSpPr>
            <a:spLocks noGrp="1"/>
          </p:cNvSpPr>
          <p:nvPr>
            <p:ph type="sldNum" sz="quarter" idx="12"/>
          </p:nvPr>
        </p:nvSpPr>
        <p:spPr/>
        <p:txBody>
          <a:bodyPr/>
          <a:lstStyle/>
          <a:p>
            <a:fld id="{6DA14161-E2A8-47BB-94E2-BD9CDFC8A426}" type="slidenum">
              <a:rPr lang="en-IN" smtClean="0"/>
              <a:t>‹#›</a:t>
            </a:fld>
            <a:endParaRPr lang="en-IN"/>
          </a:p>
        </p:txBody>
      </p:sp>
    </p:spTree>
    <p:extLst>
      <p:ext uri="{BB962C8B-B14F-4D97-AF65-F5344CB8AC3E}">
        <p14:creationId xmlns:p14="http://schemas.microsoft.com/office/powerpoint/2010/main" val="13645034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202C891-B1EE-443A-925B-2FC372955EF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E72D229-96BD-483A-A12C-D9190110BD5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F894A9A-FC4C-47C5-9BA2-CAEE186CFFEC}"/>
              </a:ext>
            </a:extLst>
          </p:cNvPr>
          <p:cNvSpPr>
            <a:spLocks noGrp="1"/>
          </p:cNvSpPr>
          <p:nvPr>
            <p:ph type="dt" sz="half" idx="10"/>
          </p:nvPr>
        </p:nvSpPr>
        <p:spPr/>
        <p:txBody>
          <a:bodyPr/>
          <a:lstStyle/>
          <a:p>
            <a:fld id="{E29114E8-A07C-494C-8375-B27161A31F9B}" type="datetimeFigureOut">
              <a:rPr lang="en-IN" smtClean="0"/>
              <a:t>15-03-2026</a:t>
            </a:fld>
            <a:endParaRPr lang="en-IN"/>
          </a:p>
        </p:txBody>
      </p:sp>
      <p:sp>
        <p:nvSpPr>
          <p:cNvPr id="5" name="Footer Placeholder 4">
            <a:extLst>
              <a:ext uri="{FF2B5EF4-FFF2-40B4-BE49-F238E27FC236}">
                <a16:creationId xmlns:a16="http://schemas.microsoft.com/office/drawing/2014/main" id="{2348596C-3C96-42AD-A38F-D6EB6182DB6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7D52A0E-DEBA-41F0-9237-09433C9C52BB}"/>
              </a:ext>
            </a:extLst>
          </p:cNvPr>
          <p:cNvSpPr>
            <a:spLocks noGrp="1"/>
          </p:cNvSpPr>
          <p:nvPr>
            <p:ph type="sldNum" sz="quarter" idx="12"/>
          </p:nvPr>
        </p:nvSpPr>
        <p:spPr/>
        <p:txBody>
          <a:bodyPr/>
          <a:lstStyle/>
          <a:p>
            <a:fld id="{6DA14161-E2A8-47BB-94E2-BD9CDFC8A426}" type="slidenum">
              <a:rPr lang="en-IN" smtClean="0"/>
              <a:t>‹#›</a:t>
            </a:fld>
            <a:endParaRPr lang="en-IN"/>
          </a:p>
        </p:txBody>
      </p:sp>
    </p:spTree>
    <p:extLst>
      <p:ext uri="{BB962C8B-B14F-4D97-AF65-F5344CB8AC3E}">
        <p14:creationId xmlns:p14="http://schemas.microsoft.com/office/powerpoint/2010/main" val="29314325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9C87224-E790-4E7B-BD40-5A93B2DD1E9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D6EA226-75F8-45EE-9F22-F0E375FEB18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1D98FCF-27F2-4534-B650-7E7DC947F8C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29114E8-A07C-494C-8375-B27161A31F9B}" type="datetimeFigureOut">
              <a:rPr lang="en-IN" smtClean="0"/>
              <a:t>15-03-2026</a:t>
            </a:fld>
            <a:endParaRPr lang="en-IN"/>
          </a:p>
        </p:txBody>
      </p:sp>
      <p:sp>
        <p:nvSpPr>
          <p:cNvPr id="5" name="Footer Placeholder 4">
            <a:extLst>
              <a:ext uri="{FF2B5EF4-FFF2-40B4-BE49-F238E27FC236}">
                <a16:creationId xmlns:a16="http://schemas.microsoft.com/office/drawing/2014/main" id="{97D6D329-8AB7-4050-ADFE-8405F0C06C2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589B243C-9CD9-4056-81B4-14704800BE2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DA14161-E2A8-47BB-94E2-BD9CDFC8A426}" type="slidenum">
              <a:rPr lang="en-IN" smtClean="0"/>
              <a:t>‹#›</a:t>
            </a:fld>
            <a:endParaRPr lang="en-IN"/>
          </a:p>
        </p:txBody>
      </p:sp>
    </p:spTree>
    <p:extLst>
      <p:ext uri="{BB962C8B-B14F-4D97-AF65-F5344CB8AC3E}">
        <p14:creationId xmlns:p14="http://schemas.microsoft.com/office/powerpoint/2010/main" val="39767724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1.png"/><Relationship Id="rId1" Type="http://schemas.openxmlformats.org/officeDocument/2006/relationships/slideLayout" Target="../slideLayouts/slideLayout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0.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Layout" Target="../slideLayouts/slideLayout6.xml"/><Relationship Id="rId4" Type="http://schemas.openxmlformats.org/officeDocument/2006/relationships/image" Target="../media/image5.png"/></Relationships>
</file>

<file path=ppt/slides/_rels/slide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60F455-BC79-E0BD-A932-4AAC82BBBCCD}"/>
              </a:ext>
            </a:extLst>
          </p:cNvPr>
          <p:cNvSpPr>
            <a:spLocks noGrp="1"/>
          </p:cNvSpPr>
          <p:nvPr>
            <p:ph type="ctrTitle"/>
          </p:nvPr>
        </p:nvSpPr>
        <p:spPr>
          <a:xfrm>
            <a:off x="2348752" y="412376"/>
            <a:ext cx="7584141" cy="940604"/>
          </a:xfrm>
        </p:spPr>
        <p:txBody>
          <a:bodyPr>
            <a:normAutofit/>
          </a:bodyPr>
          <a:lstStyle/>
          <a:p>
            <a:r>
              <a:rPr lang="en-US" sz="2800" b="1" dirty="0">
                <a:latin typeface="Arial" panose="020B0604020202020204" pitchFamily="34" charset="0"/>
                <a:cs typeface="Arial" panose="020B0604020202020204" pitchFamily="34" charset="0"/>
              </a:rPr>
              <a:t>CAPITAL BUDGETING</a:t>
            </a:r>
            <a:endParaRPr lang="en-IN" sz="2800" b="1" dirty="0">
              <a:latin typeface="Arial" panose="020B0604020202020204" pitchFamily="34" charset="0"/>
              <a:cs typeface="Arial" panose="020B0604020202020204" pitchFamily="34" charset="0"/>
            </a:endParaRPr>
          </a:p>
        </p:txBody>
      </p:sp>
      <p:sp>
        <p:nvSpPr>
          <p:cNvPr id="3" name="Subtitle 2">
            <a:extLst>
              <a:ext uri="{FF2B5EF4-FFF2-40B4-BE49-F238E27FC236}">
                <a16:creationId xmlns:a16="http://schemas.microsoft.com/office/drawing/2014/main" id="{6348BDD4-5999-D88C-CDA9-369D927A8A04}"/>
              </a:ext>
            </a:extLst>
          </p:cNvPr>
          <p:cNvSpPr>
            <a:spLocks noGrp="1"/>
          </p:cNvSpPr>
          <p:nvPr>
            <p:ph type="subTitle" idx="1"/>
          </p:nvPr>
        </p:nvSpPr>
        <p:spPr>
          <a:xfrm>
            <a:off x="1210235" y="3598546"/>
            <a:ext cx="9599821" cy="2192216"/>
          </a:xfrm>
        </p:spPr>
        <p:txBody>
          <a:bodyPr/>
          <a:lstStyle/>
          <a:p>
            <a:r>
              <a:rPr lang="en-IN" b="1" dirty="0"/>
              <a:t>Dr. Naresh Chandra Sahu</a:t>
            </a:r>
          </a:p>
          <a:p>
            <a:r>
              <a:rPr lang="en-IN" dirty="0"/>
              <a:t>Associate Professor (Economics)</a:t>
            </a:r>
          </a:p>
        </p:txBody>
      </p:sp>
      <p:sp>
        <p:nvSpPr>
          <p:cNvPr id="4" name="Subtitle 2">
            <a:extLst>
              <a:ext uri="{FF2B5EF4-FFF2-40B4-BE49-F238E27FC236}">
                <a16:creationId xmlns:a16="http://schemas.microsoft.com/office/drawing/2014/main" id="{E611643E-496F-6C24-52CF-26048AD81153}"/>
              </a:ext>
            </a:extLst>
          </p:cNvPr>
          <p:cNvSpPr txBox="1">
            <a:spLocks/>
          </p:cNvSpPr>
          <p:nvPr/>
        </p:nvSpPr>
        <p:spPr>
          <a:xfrm>
            <a:off x="1524000" y="5116313"/>
            <a:ext cx="9144000" cy="932795"/>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defRPr/>
            </a:pPr>
            <a:r>
              <a:rPr lang="en-US" sz="2200" b="1" dirty="0">
                <a:solidFill>
                  <a:prstClr val="black"/>
                </a:solidFill>
                <a:latin typeface="Arial" panose="020B0604020202020204" pitchFamily="34" charset="0"/>
                <a:cs typeface="Arial" panose="020B0604020202020204" pitchFamily="34" charset="0"/>
              </a:rPr>
              <a:t>School of Humanities, Social Sciences &amp; Management</a:t>
            </a:r>
          </a:p>
          <a:p>
            <a:pPr>
              <a:defRPr/>
            </a:pPr>
            <a:r>
              <a:rPr lang="en-US" sz="2200" dirty="0">
                <a:solidFill>
                  <a:prstClr val="black"/>
                </a:solidFill>
                <a:latin typeface="Arial" panose="020B0604020202020204" pitchFamily="34" charset="0"/>
                <a:cs typeface="Arial" panose="020B0604020202020204" pitchFamily="34" charset="0"/>
              </a:rPr>
              <a:t>Indian Institute of Technology, Bhubaneswar</a:t>
            </a:r>
          </a:p>
          <a:p>
            <a:endParaRPr lang="en-IN" dirty="0"/>
          </a:p>
        </p:txBody>
      </p:sp>
      <p:pic>
        <p:nvPicPr>
          <p:cNvPr id="5" name="Picture 4">
            <a:extLst>
              <a:ext uri="{FF2B5EF4-FFF2-40B4-BE49-F238E27FC236}">
                <a16:creationId xmlns:a16="http://schemas.microsoft.com/office/drawing/2014/main" id="{FB343BF9-7F17-532D-D9D7-7DDB3D55C91E}"/>
              </a:ext>
            </a:extLst>
          </p:cNvPr>
          <p:cNvPicPr>
            <a:picLocks noChangeAspect="1"/>
          </p:cNvPicPr>
          <p:nvPr/>
        </p:nvPicPr>
        <p:blipFill>
          <a:blip r:embed="rId2"/>
          <a:stretch>
            <a:fillRect/>
          </a:stretch>
        </p:blipFill>
        <p:spPr>
          <a:xfrm>
            <a:off x="4881057" y="1611326"/>
            <a:ext cx="1979076" cy="1817674"/>
          </a:xfrm>
          <a:prstGeom prst="rect">
            <a:avLst/>
          </a:prstGeom>
        </p:spPr>
      </p:pic>
      <p:sp>
        <p:nvSpPr>
          <p:cNvPr id="6" name="Slide Number Placeholder 5">
            <a:extLst>
              <a:ext uri="{FF2B5EF4-FFF2-40B4-BE49-F238E27FC236}">
                <a16:creationId xmlns:a16="http://schemas.microsoft.com/office/drawing/2014/main" id="{FEE30A92-D783-6F7E-FFC5-F3C3B0CA929A}"/>
              </a:ext>
            </a:extLst>
          </p:cNvPr>
          <p:cNvSpPr>
            <a:spLocks noGrp="1"/>
          </p:cNvSpPr>
          <p:nvPr>
            <p:ph type="sldNum" sz="quarter" idx="12"/>
          </p:nvPr>
        </p:nvSpPr>
        <p:spPr/>
        <p:txBody>
          <a:bodyPr/>
          <a:lstStyle/>
          <a:p>
            <a:fld id="{A1DCFAE8-8E9E-42B1-9A81-DFF72612FDA6}" type="slidenum">
              <a:rPr lang="en-IN" smtClean="0"/>
              <a:t>1</a:t>
            </a:fld>
            <a:endParaRPr lang="en-IN"/>
          </a:p>
        </p:txBody>
      </p:sp>
    </p:spTree>
    <p:extLst>
      <p:ext uri="{BB962C8B-B14F-4D97-AF65-F5344CB8AC3E}">
        <p14:creationId xmlns:p14="http://schemas.microsoft.com/office/powerpoint/2010/main" val="25185941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750F95C-005F-42A1-AD9B-6631B5ED5937}"/>
              </a:ext>
            </a:extLst>
          </p:cNvPr>
          <p:cNvSpPr>
            <a:spLocks noGrp="1"/>
          </p:cNvSpPr>
          <p:nvPr>
            <p:ph type="title"/>
          </p:nvPr>
        </p:nvSpPr>
        <p:spPr>
          <a:xfrm>
            <a:off x="748553" y="153147"/>
            <a:ext cx="10123235" cy="459628"/>
          </a:xfrm>
          <a:prstGeom prst="rect">
            <a:avLst/>
          </a:prstGeom>
          <a:solidFill>
            <a:schemeClr val="tx2">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algn="ctr"/>
            <a:r>
              <a:rPr lang="en-US" sz="2400" dirty="0">
                <a:solidFill>
                  <a:schemeClr val="accent1"/>
                </a:solidFill>
                <a:latin typeface="Arial" panose="020B0604020202020204" pitchFamily="34" charset="0"/>
                <a:cs typeface="Arial" panose="020B0604020202020204" pitchFamily="34" charset="0"/>
              </a:rPr>
              <a:t>Learning Outcomes</a:t>
            </a:r>
            <a:endParaRPr lang="en-IN" sz="2400" dirty="0">
              <a:solidFill>
                <a:schemeClr val="accent1"/>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A72C9E36-B70B-46C9-997A-F4D7C97AA8D8}"/>
              </a:ext>
            </a:extLst>
          </p:cNvPr>
          <p:cNvSpPr>
            <a:spLocks noGrp="1"/>
          </p:cNvSpPr>
          <p:nvPr>
            <p:ph type="body" sz="half" idx="4294967295"/>
          </p:nvPr>
        </p:nvSpPr>
        <p:spPr>
          <a:xfrm>
            <a:off x="838199" y="1174376"/>
            <a:ext cx="10403541" cy="4694612"/>
          </a:xfrm>
        </p:spPr>
        <p:txBody>
          <a:bodyPr>
            <a:normAutofit fontScale="92500"/>
          </a:bodyPr>
          <a:lstStyle/>
          <a:p>
            <a:pPr algn="just">
              <a:lnSpc>
                <a:spcPct val="200000"/>
              </a:lnSpc>
            </a:pPr>
            <a:r>
              <a:rPr lang="en-US" sz="2000" dirty="0">
                <a:latin typeface="Arial" panose="020B0604020202020204" pitchFamily="34" charset="0"/>
                <a:cs typeface="Arial" panose="020B0604020202020204" pitchFamily="34" charset="0"/>
              </a:rPr>
              <a:t>Understand the purpose and importance of capital budgeting in business decision-making.</a:t>
            </a:r>
          </a:p>
          <a:p>
            <a:pPr algn="just">
              <a:lnSpc>
                <a:spcPct val="150000"/>
              </a:lnSpc>
            </a:pPr>
            <a:r>
              <a:rPr lang="en-US" sz="2000" dirty="0">
                <a:latin typeface="Arial" panose="020B0604020202020204" pitchFamily="34" charset="0"/>
                <a:cs typeface="Arial" panose="020B0604020202020204" pitchFamily="34" charset="0"/>
              </a:rPr>
              <a:t>Identify and analyze cash flows associated with long-term investment projects.</a:t>
            </a:r>
          </a:p>
          <a:p>
            <a:pPr algn="just">
              <a:lnSpc>
                <a:spcPct val="200000"/>
              </a:lnSpc>
            </a:pPr>
            <a:r>
              <a:rPr lang="en-US" sz="2000" dirty="0">
                <a:latin typeface="Arial" panose="020B0604020202020204" pitchFamily="34" charset="0"/>
                <a:cs typeface="Arial" panose="020B0604020202020204" pitchFamily="34" charset="0"/>
              </a:rPr>
              <a:t>Apply key evaluation methods like NPV, IRR, and Payback Period to assess project viability.</a:t>
            </a:r>
          </a:p>
          <a:p>
            <a:pPr algn="just">
              <a:lnSpc>
                <a:spcPct val="200000"/>
              </a:lnSpc>
            </a:pPr>
            <a:r>
              <a:rPr lang="en-US" sz="2000" dirty="0">
                <a:latin typeface="Arial" panose="020B0604020202020204" pitchFamily="34" charset="0"/>
                <a:cs typeface="Arial" panose="020B0604020202020204" pitchFamily="34" charset="0"/>
              </a:rPr>
              <a:t>Incorporate the time value of money in investment appraisals.</a:t>
            </a:r>
          </a:p>
          <a:p>
            <a:pPr algn="just">
              <a:lnSpc>
                <a:spcPct val="200000"/>
              </a:lnSpc>
            </a:pPr>
            <a:r>
              <a:rPr lang="en-US" sz="2000" dirty="0">
                <a:latin typeface="Arial" panose="020B0604020202020204" pitchFamily="34" charset="0"/>
                <a:cs typeface="Arial" panose="020B0604020202020204" pitchFamily="34" charset="0"/>
              </a:rPr>
              <a:t>Evaluate risks and uncertainties impacting capital investment decisions.</a:t>
            </a:r>
          </a:p>
          <a:p>
            <a:pPr algn="just">
              <a:lnSpc>
                <a:spcPct val="200000"/>
              </a:lnSpc>
            </a:pPr>
            <a:r>
              <a:rPr lang="en-US" sz="2000" dirty="0">
                <a:latin typeface="Arial" panose="020B0604020202020204" pitchFamily="34" charset="0"/>
                <a:cs typeface="Arial" panose="020B0604020202020204" pitchFamily="34" charset="0"/>
              </a:rPr>
              <a:t>Make informed recommendations for selecting profitable and strategic projects</a:t>
            </a:r>
            <a:r>
              <a:rPr lang="en-US" sz="1400" dirty="0"/>
              <a:t>.</a:t>
            </a:r>
            <a:endParaRPr lang="en-US" sz="1900"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1A8F9582-68CE-431C-8B72-88E14F073978}"/>
              </a:ext>
            </a:extLst>
          </p:cNvPr>
          <p:cNvPicPr>
            <a:picLocks noChangeAspect="1"/>
          </p:cNvPicPr>
          <p:nvPr/>
        </p:nvPicPr>
        <p:blipFill>
          <a:blip r:embed="rId2"/>
          <a:stretch>
            <a:fillRect/>
          </a:stretch>
        </p:blipFill>
        <p:spPr>
          <a:xfrm>
            <a:off x="11027635" y="51275"/>
            <a:ext cx="966091" cy="746583"/>
          </a:xfrm>
          <a:prstGeom prst="rect">
            <a:avLst/>
          </a:prstGeom>
        </p:spPr>
      </p:pic>
      <p:sp>
        <p:nvSpPr>
          <p:cNvPr id="2" name="Slide Number Placeholder 1">
            <a:extLst>
              <a:ext uri="{FF2B5EF4-FFF2-40B4-BE49-F238E27FC236}">
                <a16:creationId xmlns:a16="http://schemas.microsoft.com/office/drawing/2014/main" id="{3EEE3E35-0D13-469A-9E0F-622ACCC7CC9A}"/>
              </a:ext>
            </a:extLst>
          </p:cNvPr>
          <p:cNvSpPr>
            <a:spLocks noGrp="1"/>
          </p:cNvSpPr>
          <p:nvPr>
            <p:ph type="sldNum" sz="quarter" idx="12"/>
          </p:nvPr>
        </p:nvSpPr>
        <p:spPr/>
        <p:txBody>
          <a:bodyPr/>
          <a:lstStyle/>
          <a:p>
            <a:fld id="{B7991F04-3566-4BB1-A8CB-A35BE8E11603}" type="slidenum">
              <a:rPr lang="en-IN" smtClean="0"/>
              <a:t>2</a:t>
            </a:fld>
            <a:endParaRPr lang="en-IN"/>
          </a:p>
        </p:txBody>
      </p:sp>
    </p:spTree>
    <p:extLst>
      <p:ext uri="{BB962C8B-B14F-4D97-AF65-F5344CB8AC3E}">
        <p14:creationId xmlns:p14="http://schemas.microsoft.com/office/powerpoint/2010/main" val="2377984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750F95C-005F-42A1-AD9B-6631B5ED5937}"/>
              </a:ext>
            </a:extLst>
          </p:cNvPr>
          <p:cNvSpPr>
            <a:spLocks noGrp="1"/>
          </p:cNvSpPr>
          <p:nvPr>
            <p:ph type="title"/>
          </p:nvPr>
        </p:nvSpPr>
        <p:spPr>
          <a:xfrm>
            <a:off x="748553" y="153146"/>
            <a:ext cx="10123235" cy="533867"/>
          </a:xfrm>
          <a:prstGeom prst="rect">
            <a:avLst/>
          </a:prstGeom>
          <a:solidFill>
            <a:schemeClr val="tx2">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br>
              <a:rPr lang="en-US" sz="1400" b="1" dirty="0">
                <a:solidFill>
                  <a:schemeClr val="accent1"/>
                </a:solidFill>
                <a:latin typeface="Arial" panose="020B0604020202020204" pitchFamily="34" charset="0"/>
                <a:cs typeface="Arial" panose="020B0604020202020204" pitchFamily="34" charset="0"/>
              </a:rPr>
            </a:br>
            <a:br>
              <a:rPr lang="en-US" sz="1400" b="1" dirty="0">
                <a:solidFill>
                  <a:schemeClr val="accent1"/>
                </a:solidFill>
                <a:latin typeface="Arial" panose="020B0604020202020204" pitchFamily="34" charset="0"/>
                <a:cs typeface="Arial" panose="020B0604020202020204" pitchFamily="34" charset="0"/>
              </a:rPr>
            </a:br>
            <a:r>
              <a:rPr lang="en-IN" sz="2400" dirty="0">
                <a:solidFill>
                  <a:schemeClr val="accent1"/>
                </a:solidFill>
                <a:latin typeface="Arial" panose="020B0604020202020204" pitchFamily="34" charset="0"/>
                <a:cs typeface="Arial" panose="020B0604020202020204" pitchFamily="34" charset="0"/>
              </a:rPr>
              <a:t>Capital Budgeting</a:t>
            </a:r>
            <a:br>
              <a:rPr lang="en-US" sz="2400" b="1" dirty="0">
                <a:solidFill>
                  <a:schemeClr val="accent1"/>
                </a:solidFill>
                <a:latin typeface="Arial" panose="020B0604020202020204" pitchFamily="34" charset="0"/>
                <a:cs typeface="Arial" panose="020B0604020202020204" pitchFamily="34" charset="0"/>
              </a:rPr>
            </a:br>
            <a:endParaRPr lang="en-IN" sz="2400" dirty="0">
              <a:solidFill>
                <a:schemeClr val="accent1"/>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A72C9E36-B70B-46C9-997A-F4D7C97AA8D8}"/>
              </a:ext>
            </a:extLst>
          </p:cNvPr>
          <p:cNvSpPr>
            <a:spLocks noGrp="1"/>
          </p:cNvSpPr>
          <p:nvPr>
            <p:ph type="body" sz="half" idx="4294967295"/>
          </p:nvPr>
        </p:nvSpPr>
        <p:spPr>
          <a:xfrm>
            <a:off x="748553" y="1174376"/>
            <a:ext cx="10279082" cy="4694612"/>
          </a:xfrm>
        </p:spPr>
        <p:txBody>
          <a:bodyPr>
            <a:normAutofit fontScale="92500" lnSpcReduction="20000"/>
          </a:bodyPr>
          <a:lstStyle/>
          <a:p>
            <a:pPr marL="0" indent="0">
              <a:lnSpc>
                <a:spcPct val="160000"/>
              </a:lnSpc>
              <a:buNone/>
            </a:pPr>
            <a:r>
              <a:rPr lang="en-US" sz="2200" dirty="0">
                <a:latin typeface="Arial" panose="020B0604020202020204" pitchFamily="34" charset="0"/>
                <a:cs typeface="Arial" panose="020B0604020202020204" pitchFamily="34" charset="0"/>
              </a:rPr>
              <a:t>Capital budgeting is the process by which companies evaluate and decide on long-term investments and projects. These investments usually involve significant amounts of money, such as:</a:t>
            </a:r>
          </a:p>
          <a:p>
            <a:pPr>
              <a:lnSpc>
                <a:spcPct val="160000"/>
              </a:lnSpc>
            </a:pPr>
            <a:r>
              <a:rPr lang="en-US" sz="2200" dirty="0">
                <a:latin typeface="Arial" panose="020B0604020202020204" pitchFamily="34" charset="0"/>
                <a:cs typeface="Arial" panose="020B0604020202020204" pitchFamily="34" charset="0"/>
              </a:rPr>
              <a:t>Buying new machinery or equipment</a:t>
            </a:r>
          </a:p>
          <a:p>
            <a:pPr>
              <a:lnSpc>
                <a:spcPct val="160000"/>
              </a:lnSpc>
            </a:pPr>
            <a:r>
              <a:rPr lang="en-IN" sz="2200" dirty="0">
                <a:latin typeface="Arial" panose="020B0604020202020204" pitchFamily="34" charset="0"/>
                <a:cs typeface="Arial" panose="020B0604020202020204" pitchFamily="34" charset="0"/>
              </a:rPr>
              <a:t>Building a new factory</a:t>
            </a:r>
            <a:endParaRPr lang="en-US" sz="2200" dirty="0">
              <a:latin typeface="Arial" panose="020B0604020202020204" pitchFamily="34" charset="0"/>
              <a:cs typeface="Arial" panose="020B0604020202020204" pitchFamily="34" charset="0"/>
            </a:endParaRPr>
          </a:p>
          <a:p>
            <a:pPr>
              <a:lnSpc>
                <a:spcPct val="160000"/>
              </a:lnSpc>
            </a:pPr>
            <a:r>
              <a:rPr lang="en-US" sz="2200" dirty="0">
                <a:latin typeface="Arial" panose="020B0604020202020204" pitchFamily="34" charset="0"/>
                <a:cs typeface="Arial" panose="020B0604020202020204" pitchFamily="34" charset="0"/>
              </a:rPr>
              <a:t>Launching a new product line</a:t>
            </a:r>
          </a:p>
          <a:p>
            <a:pPr>
              <a:lnSpc>
                <a:spcPct val="160000"/>
              </a:lnSpc>
            </a:pPr>
            <a:r>
              <a:rPr lang="en-IN" sz="2200" dirty="0">
                <a:latin typeface="Arial" panose="020B0604020202020204" pitchFamily="34" charset="0"/>
                <a:cs typeface="Arial" panose="020B0604020202020204" pitchFamily="34" charset="0"/>
              </a:rPr>
              <a:t>Expanding operations</a:t>
            </a:r>
            <a:endParaRPr lang="en-US" sz="2200" dirty="0">
              <a:latin typeface="Arial" panose="020B0604020202020204" pitchFamily="34" charset="0"/>
              <a:cs typeface="Arial" panose="020B0604020202020204" pitchFamily="34" charset="0"/>
            </a:endParaRPr>
          </a:p>
          <a:p>
            <a:pPr marL="0" indent="0">
              <a:lnSpc>
                <a:spcPct val="160000"/>
              </a:lnSpc>
              <a:buNone/>
            </a:pPr>
            <a:r>
              <a:rPr lang="en-US" sz="2200" dirty="0">
                <a:latin typeface="Arial" panose="020B0604020202020204" pitchFamily="34" charset="0"/>
                <a:cs typeface="Arial" panose="020B0604020202020204" pitchFamily="34" charset="0"/>
              </a:rPr>
              <a:t>The goal is to determine whether a project or investment is worth pursuing based on its potential to generate profits over time.</a:t>
            </a:r>
          </a:p>
          <a:p>
            <a:pPr marL="0" indent="0">
              <a:lnSpc>
                <a:spcPct val="200000"/>
              </a:lnSpc>
              <a:buNone/>
            </a:pPr>
            <a:endParaRPr lang="en-US" sz="2000"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1A8F9582-68CE-431C-8B72-88E14F073978}"/>
              </a:ext>
            </a:extLst>
          </p:cNvPr>
          <p:cNvPicPr>
            <a:picLocks noChangeAspect="1"/>
          </p:cNvPicPr>
          <p:nvPr/>
        </p:nvPicPr>
        <p:blipFill>
          <a:blip r:embed="rId2"/>
          <a:stretch>
            <a:fillRect/>
          </a:stretch>
        </p:blipFill>
        <p:spPr>
          <a:xfrm>
            <a:off x="11027635" y="51275"/>
            <a:ext cx="966091" cy="746583"/>
          </a:xfrm>
          <a:prstGeom prst="rect">
            <a:avLst/>
          </a:prstGeom>
        </p:spPr>
      </p:pic>
      <p:sp>
        <p:nvSpPr>
          <p:cNvPr id="2" name="Slide Number Placeholder 1">
            <a:extLst>
              <a:ext uri="{FF2B5EF4-FFF2-40B4-BE49-F238E27FC236}">
                <a16:creationId xmlns:a16="http://schemas.microsoft.com/office/drawing/2014/main" id="{3EEE3E35-0D13-469A-9E0F-622ACCC7CC9A}"/>
              </a:ext>
            </a:extLst>
          </p:cNvPr>
          <p:cNvSpPr>
            <a:spLocks noGrp="1"/>
          </p:cNvSpPr>
          <p:nvPr>
            <p:ph type="sldNum" sz="quarter" idx="12"/>
          </p:nvPr>
        </p:nvSpPr>
        <p:spPr/>
        <p:txBody>
          <a:bodyPr/>
          <a:lstStyle/>
          <a:p>
            <a:fld id="{B7991F04-3566-4BB1-A8CB-A35BE8E11603}" type="slidenum">
              <a:rPr lang="en-IN" smtClean="0"/>
              <a:t>3</a:t>
            </a:fld>
            <a:endParaRPr lang="en-IN"/>
          </a:p>
        </p:txBody>
      </p:sp>
    </p:spTree>
    <p:extLst>
      <p:ext uri="{BB962C8B-B14F-4D97-AF65-F5344CB8AC3E}">
        <p14:creationId xmlns:p14="http://schemas.microsoft.com/office/powerpoint/2010/main" val="17466264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750F95C-005F-42A1-AD9B-6631B5ED5937}"/>
              </a:ext>
            </a:extLst>
          </p:cNvPr>
          <p:cNvSpPr>
            <a:spLocks noGrp="1"/>
          </p:cNvSpPr>
          <p:nvPr>
            <p:ph type="title"/>
          </p:nvPr>
        </p:nvSpPr>
        <p:spPr>
          <a:xfrm>
            <a:off x="748553" y="153146"/>
            <a:ext cx="10123235" cy="533867"/>
          </a:xfrm>
          <a:prstGeom prst="rect">
            <a:avLst/>
          </a:prstGeom>
          <a:solidFill>
            <a:schemeClr val="tx2">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br>
              <a:rPr lang="en-US" sz="1400" b="1" dirty="0">
                <a:solidFill>
                  <a:schemeClr val="accent1"/>
                </a:solidFill>
                <a:latin typeface="Arial" panose="020B0604020202020204" pitchFamily="34" charset="0"/>
                <a:cs typeface="Arial" panose="020B0604020202020204" pitchFamily="34" charset="0"/>
              </a:rPr>
            </a:br>
            <a:br>
              <a:rPr lang="en-US" sz="1400" b="1" dirty="0">
                <a:solidFill>
                  <a:schemeClr val="accent1"/>
                </a:solidFill>
                <a:latin typeface="Arial" panose="020B0604020202020204" pitchFamily="34" charset="0"/>
                <a:cs typeface="Arial" panose="020B0604020202020204" pitchFamily="34" charset="0"/>
              </a:rPr>
            </a:br>
            <a:r>
              <a:rPr lang="en-IN" sz="2400" dirty="0">
                <a:solidFill>
                  <a:schemeClr val="accent1"/>
                </a:solidFill>
                <a:latin typeface="Arial" panose="020B0604020202020204" pitchFamily="34" charset="0"/>
                <a:cs typeface="Arial" panose="020B0604020202020204" pitchFamily="34" charset="0"/>
              </a:rPr>
              <a:t>Capital Budgeting</a:t>
            </a:r>
            <a:br>
              <a:rPr lang="en-US" sz="2400" b="1" dirty="0">
                <a:solidFill>
                  <a:schemeClr val="accent1"/>
                </a:solidFill>
                <a:latin typeface="Arial" panose="020B0604020202020204" pitchFamily="34" charset="0"/>
                <a:cs typeface="Arial" panose="020B0604020202020204" pitchFamily="34" charset="0"/>
              </a:rPr>
            </a:br>
            <a:endParaRPr lang="en-IN" sz="2400" dirty="0">
              <a:solidFill>
                <a:schemeClr val="accent1"/>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A72C9E36-B70B-46C9-997A-F4D7C97AA8D8}"/>
              </a:ext>
            </a:extLst>
          </p:cNvPr>
          <p:cNvSpPr>
            <a:spLocks noGrp="1"/>
          </p:cNvSpPr>
          <p:nvPr>
            <p:ph type="body" sz="half" idx="4294967295"/>
          </p:nvPr>
        </p:nvSpPr>
        <p:spPr>
          <a:xfrm>
            <a:off x="838199" y="1174376"/>
            <a:ext cx="10403541" cy="4694612"/>
          </a:xfrm>
        </p:spPr>
        <p:txBody>
          <a:bodyPr>
            <a:normAutofit/>
          </a:bodyPr>
          <a:lstStyle/>
          <a:p>
            <a:pPr marL="0" indent="0">
              <a:lnSpc>
                <a:spcPct val="200000"/>
              </a:lnSpc>
              <a:buNone/>
            </a:pPr>
            <a:r>
              <a:rPr lang="en-US" sz="2000" dirty="0">
                <a:solidFill>
                  <a:schemeClr val="accent1"/>
                </a:solidFill>
                <a:latin typeface="Arial" panose="020B0604020202020204" pitchFamily="34" charset="0"/>
                <a:cs typeface="Arial" panose="020B0604020202020204" pitchFamily="34" charset="0"/>
              </a:rPr>
              <a:t>Common examples of capital budgeting decisions</a:t>
            </a:r>
            <a:r>
              <a:rPr lang="en-US" sz="2000" b="1" dirty="0">
                <a:solidFill>
                  <a:schemeClr val="accent1"/>
                </a:solidFill>
                <a:latin typeface="Arial" panose="020B0604020202020204" pitchFamily="34" charset="0"/>
                <a:cs typeface="Arial" panose="020B0604020202020204" pitchFamily="34" charset="0"/>
              </a:rPr>
              <a:t>:</a:t>
            </a:r>
          </a:p>
          <a:p>
            <a:pPr>
              <a:lnSpc>
                <a:spcPct val="200000"/>
              </a:lnSpc>
              <a:buFont typeface="Arial" panose="020B0604020202020204" pitchFamily="34" charset="0"/>
              <a:buChar char="•"/>
            </a:pPr>
            <a:r>
              <a:rPr lang="en-US" sz="2000" dirty="0">
                <a:latin typeface="Arial" panose="020B0604020202020204" pitchFamily="34" charset="0"/>
                <a:cs typeface="Arial" panose="020B0604020202020204" pitchFamily="34" charset="0"/>
              </a:rPr>
              <a:t>Building a new factory</a:t>
            </a:r>
          </a:p>
          <a:p>
            <a:pPr>
              <a:lnSpc>
                <a:spcPct val="200000"/>
              </a:lnSpc>
              <a:buFont typeface="Arial" panose="020B0604020202020204" pitchFamily="34" charset="0"/>
              <a:buChar char="•"/>
            </a:pPr>
            <a:r>
              <a:rPr lang="en-US" sz="2000" dirty="0">
                <a:latin typeface="Arial" panose="020B0604020202020204" pitchFamily="34" charset="0"/>
                <a:cs typeface="Arial" panose="020B0604020202020204" pitchFamily="34" charset="0"/>
              </a:rPr>
              <a:t>Buying new machinery</a:t>
            </a:r>
          </a:p>
          <a:p>
            <a:pPr>
              <a:lnSpc>
                <a:spcPct val="200000"/>
              </a:lnSpc>
              <a:buFont typeface="Arial" panose="020B0604020202020204" pitchFamily="34" charset="0"/>
              <a:buChar char="•"/>
            </a:pPr>
            <a:r>
              <a:rPr lang="en-US" sz="2000" dirty="0">
                <a:latin typeface="Arial" panose="020B0604020202020204" pitchFamily="34" charset="0"/>
                <a:cs typeface="Arial" panose="020B0604020202020204" pitchFamily="34" charset="0"/>
              </a:rPr>
              <a:t>Launching a new product</a:t>
            </a:r>
          </a:p>
          <a:p>
            <a:pPr>
              <a:lnSpc>
                <a:spcPct val="200000"/>
              </a:lnSpc>
              <a:buFont typeface="Arial" panose="020B0604020202020204" pitchFamily="34" charset="0"/>
              <a:buChar char="•"/>
            </a:pPr>
            <a:r>
              <a:rPr lang="en-US" sz="2000" dirty="0">
                <a:latin typeface="Arial" panose="020B0604020202020204" pitchFamily="34" charset="0"/>
                <a:cs typeface="Arial" panose="020B0604020202020204" pitchFamily="34" charset="0"/>
              </a:rPr>
              <a:t>Acquiring another company</a:t>
            </a:r>
          </a:p>
          <a:p>
            <a:pPr>
              <a:lnSpc>
                <a:spcPct val="200000"/>
              </a:lnSpc>
              <a:buFont typeface="Arial" panose="020B0604020202020204" pitchFamily="34" charset="0"/>
              <a:buChar char="•"/>
            </a:pPr>
            <a:r>
              <a:rPr lang="en-US" sz="2000" dirty="0">
                <a:latin typeface="Arial" panose="020B0604020202020204" pitchFamily="34" charset="0"/>
                <a:cs typeface="Arial" panose="020B0604020202020204" pitchFamily="34" charset="0"/>
              </a:rPr>
              <a:t>Expanding into a new market</a:t>
            </a:r>
          </a:p>
          <a:p>
            <a:pPr marL="0" indent="0">
              <a:lnSpc>
                <a:spcPct val="200000"/>
              </a:lnSpc>
              <a:buNone/>
            </a:pPr>
            <a:endParaRPr lang="en-US" sz="2000"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1A8F9582-68CE-431C-8B72-88E14F073978}"/>
              </a:ext>
            </a:extLst>
          </p:cNvPr>
          <p:cNvPicPr>
            <a:picLocks noChangeAspect="1"/>
          </p:cNvPicPr>
          <p:nvPr/>
        </p:nvPicPr>
        <p:blipFill>
          <a:blip r:embed="rId2"/>
          <a:stretch>
            <a:fillRect/>
          </a:stretch>
        </p:blipFill>
        <p:spPr>
          <a:xfrm>
            <a:off x="11027635" y="51275"/>
            <a:ext cx="966091" cy="746583"/>
          </a:xfrm>
          <a:prstGeom prst="rect">
            <a:avLst/>
          </a:prstGeom>
        </p:spPr>
      </p:pic>
      <p:sp>
        <p:nvSpPr>
          <p:cNvPr id="2" name="Slide Number Placeholder 1">
            <a:extLst>
              <a:ext uri="{FF2B5EF4-FFF2-40B4-BE49-F238E27FC236}">
                <a16:creationId xmlns:a16="http://schemas.microsoft.com/office/drawing/2014/main" id="{3EEE3E35-0D13-469A-9E0F-622ACCC7CC9A}"/>
              </a:ext>
            </a:extLst>
          </p:cNvPr>
          <p:cNvSpPr>
            <a:spLocks noGrp="1"/>
          </p:cNvSpPr>
          <p:nvPr>
            <p:ph type="sldNum" sz="quarter" idx="12"/>
          </p:nvPr>
        </p:nvSpPr>
        <p:spPr/>
        <p:txBody>
          <a:bodyPr/>
          <a:lstStyle/>
          <a:p>
            <a:fld id="{B7991F04-3566-4BB1-A8CB-A35BE8E11603}" type="slidenum">
              <a:rPr lang="en-IN" smtClean="0"/>
              <a:t>4</a:t>
            </a:fld>
            <a:endParaRPr lang="en-IN"/>
          </a:p>
        </p:txBody>
      </p:sp>
    </p:spTree>
    <p:extLst>
      <p:ext uri="{BB962C8B-B14F-4D97-AF65-F5344CB8AC3E}">
        <p14:creationId xmlns:p14="http://schemas.microsoft.com/office/powerpoint/2010/main" val="17732232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750F95C-005F-42A1-AD9B-6631B5ED5937}"/>
              </a:ext>
            </a:extLst>
          </p:cNvPr>
          <p:cNvSpPr>
            <a:spLocks noGrp="1"/>
          </p:cNvSpPr>
          <p:nvPr>
            <p:ph type="title"/>
          </p:nvPr>
        </p:nvSpPr>
        <p:spPr>
          <a:xfrm>
            <a:off x="493059" y="153146"/>
            <a:ext cx="10650070" cy="533867"/>
          </a:xfrm>
          <a:prstGeom prst="rect">
            <a:avLst/>
          </a:prstGeom>
          <a:solidFill>
            <a:schemeClr val="tx2">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br>
              <a:rPr lang="en-US" sz="1400" b="1" dirty="0">
                <a:solidFill>
                  <a:schemeClr val="accent1"/>
                </a:solidFill>
                <a:latin typeface="Arial" panose="020B0604020202020204" pitchFamily="34" charset="0"/>
                <a:cs typeface="Arial" panose="020B0604020202020204" pitchFamily="34" charset="0"/>
              </a:rPr>
            </a:br>
            <a:br>
              <a:rPr lang="en-US" sz="1400" b="1" dirty="0">
                <a:solidFill>
                  <a:schemeClr val="accent1"/>
                </a:solidFill>
                <a:latin typeface="Arial" panose="020B0604020202020204" pitchFamily="34" charset="0"/>
                <a:cs typeface="Arial" panose="020B0604020202020204" pitchFamily="34" charset="0"/>
              </a:rPr>
            </a:br>
            <a:br>
              <a:rPr lang="en-US" sz="1400" b="1" dirty="0">
                <a:solidFill>
                  <a:schemeClr val="accent1"/>
                </a:solidFill>
                <a:latin typeface="Arial" panose="020B0604020202020204" pitchFamily="34" charset="0"/>
                <a:cs typeface="Arial" panose="020B0604020202020204" pitchFamily="34" charset="0"/>
              </a:rPr>
            </a:br>
            <a:br>
              <a:rPr lang="en-US" sz="1400" b="1" dirty="0">
                <a:solidFill>
                  <a:schemeClr val="accent1"/>
                </a:solidFill>
                <a:latin typeface="Arial" panose="020B0604020202020204" pitchFamily="34" charset="0"/>
                <a:cs typeface="Arial" panose="020B0604020202020204" pitchFamily="34" charset="0"/>
              </a:rPr>
            </a:br>
            <a:r>
              <a:rPr lang="en-US" sz="2400" dirty="0">
                <a:solidFill>
                  <a:schemeClr val="accent1"/>
                </a:solidFill>
                <a:latin typeface="Arial" panose="020B0604020202020204" pitchFamily="34" charset="0"/>
                <a:cs typeface="Arial" panose="020B0604020202020204" pitchFamily="34" charset="0"/>
              </a:rPr>
              <a:t>Objectives of Capital Budgeting</a:t>
            </a:r>
            <a:br>
              <a:rPr lang="en-US" sz="2400" b="1" dirty="0"/>
            </a:br>
            <a:br>
              <a:rPr lang="en-US" sz="2400" b="1" dirty="0">
                <a:solidFill>
                  <a:schemeClr val="accent1"/>
                </a:solidFill>
                <a:latin typeface="Arial" panose="020B0604020202020204" pitchFamily="34" charset="0"/>
                <a:cs typeface="Arial" panose="020B0604020202020204" pitchFamily="34" charset="0"/>
              </a:rPr>
            </a:br>
            <a:endParaRPr lang="en-IN" sz="2400" dirty="0">
              <a:solidFill>
                <a:schemeClr val="accent1"/>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A72C9E36-B70B-46C9-997A-F4D7C97AA8D8}"/>
              </a:ext>
            </a:extLst>
          </p:cNvPr>
          <p:cNvSpPr>
            <a:spLocks noGrp="1"/>
          </p:cNvSpPr>
          <p:nvPr>
            <p:ph type="body" sz="half" idx="4294967295"/>
          </p:nvPr>
        </p:nvSpPr>
        <p:spPr>
          <a:xfrm>
            <a:off x="493059" y="1174376"/>
            <a:ext cx="10739717" cy="4694612"/>
          </a:xfrm>
        </p:spPr>
        <p:txBody>
          <a:bodyPr>
            <a:normAutofit/>
          </a:bodyPr>
          <a:lstStyle/>
          <a:p>
            <a:pPr>
              <a:lnSpc>
                <a:spcPct val="200000"/>
              </a:lnSpc>
              <a:buFont typeface="+mj-lt"/>
              <a:buAutoNum type="arabicPeriod"/>
            </a:pPr>
            <a:r>
              <a:rPr lang="en-US" sz="2000" dirty="0">
                <a:latin typeface="Arial" panose="020B0604020202020204" pitchFamily="34" charset="0"/>
                <a:cs typeface="Arial" panose="020B0604020202020204" pitchFamily="34" charset="0"/>
              </a:rPr>
              <a:t>Maximize shareholder wealth</a:t>
            </a:r>
          </a:p>
          <a:p>
            <a:pPr>
              <a:lnSpc>
                <a:spcPct val="200000"/>
              </a:lnSpc>
              <a:buFont typeface="+mj-lt"/>
              <a:buAutoNum type="arabicPeriod"/>
            </a:pPr>
            <a:r>
              <a:rPr lang="en-US" sz="2000" dirty="0">
                <a:latin typeface="Arial" panose="020B0604020202020204" pitchFamily="34" charset="0"/>
                <a:cs typeface="Arial" panose="020B0604020202020204" pitchFamily="34" charset="0"/>
              </a:rPr>
              <a:t>Evaluate and select the best investment opportunities</a:t>
            </a:r>
          </a:p>
          <a:p>
            <a:pPr>
              <a:lnSpc>
                <a:spcPct val="200000"/>
              </a:lnSpc>
              <a:buFont typeface="+mj-lt"/>
              <a:buAutoNum type="arabicPeriod"/>
            </a:pPr>
            <a:r>
              <a:rPr lang="en-US" sz="2000" dirty="0">
                <a:latin typeface="Arial" panose="020B0604020202020204" pitchFamily="34" charset="0"/>
                <a:cs typeface="Arial" panose="020B0604020202020204" pitchFamily="34" charset="0"/>
              </a:rPr>
              <a:t>Ensure efficient allocation of capital resources</a:t>
            </a:r>
          </a:p>
          <a:p>
            <a:pPr>
              <a:lnSpc>
                <a:spcPct val="200000"/>
              </a:lnSpc>
              <a:buFont typeface="+mj-lt"/>
              <a:buAutoNum type="arabicPeriod"/>
            </a:pPr>
            <a:r>
              <a:rPr lang="en-US" sz="2000" dirty="0">
                <a:latin typeface="Arial" panose="020B0604020202020204" pitchFamily="34" charset="0"/>
                <a:cs typeface="Arial" panose="020B0604020202020204" pitchFamily="34" charset="0"/>
              </a:rPr>
              <a:t>Minimize risk by assessing future uncertainties</a:t>
            </a:r>
          </a:p>
          <a:p>
            <a:pPr marL="0" indent="0">
              <a:lnSpc>
                <a:spcPct val="200000"/>
              </a:lnSpc>
              <a:buNone/>
            </a:pPr>
            <a:endParaRPr lang="en-US" sz="2000"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1A8F9582-68CE-431C-8B72-88E14F073978}"/>
              </a:ext>
            </a:extLst>
          </p:cNvPr>
          <p:cNvPicPr>
            <a:picLocks noChangeAspect="1"/>
          </p:cNvPicPr>
          <p:nvPr/>
        </p:nvPicPr>
        <p:blipFill>
          <a:blip r:embed="rId2"/>
          <a:stretch>
            <a:fillRect/>
          </a:stretch>
        </p:blipFill>
        <p:spPr>
          <a:xfrm>
            <a:off x="11027635" y="51275"/>
            <a:ext cx="966091" cy="746583"/>
          </a:xfrm>
          <a:prstGeom prst="rect">
            <a:avLst/>
          </a:prstGeom>
        </p:spPr>
      </p:pic>
      <p:sp>
        <p:nvSpPr>
          <p:cNvPr id="2" name="Slide Number Placeholder 1">
            <a:extLst>
              <a:ext uri="{FF2B5EF4-FFF2-40B4-BE49-F238E27FC236}">
                <a16:creationId xmlns:a16="http://schemas.microsoft.com/office/drawing/2014/main" id="{3EEE3E35-0D13-469A-9E0F-622ACCC7CC9A}"/>
              </a:ext>
            </a:extLst>
          </p:cNvPr>
          <p:cNvSpPr>
            <a:spLocks noGrp="1"/>
          </p:cNvSpPr>
          <p:nvPr>
            <p:ph type="sldNum" sz="quarter" idx="12"/>
          </p:nvPr>
        </p:nvSpPr>
        <p:spPr/>
        <p:txBody>
          <a:bodyPr/>
          <a:lstStyle/>
          <a:p>
            <a:fld id="{B7991F04-3566-4BB1-A8CB-A35BE8E11603}" type="slidenum">
              <a:rPr lang="en-IN" smtClean="0"/>
              <a:t>5</a:t>
            </a:fld>
            <a:endParaRPr lang="en-IN"/>
          </a:p>
        </p:txBody>
      </p:sp>
      <p:pic>
        <p:nvPicPr>
          <p:cNvPr id="7" name="Picture 6">
            <a:extLst>
              <a:ext uri="{FF2B5EF4-FFF2-40B4-BE49-F238E27FC236}">
                <a16:creationId xmlns:a16="http://schemas.microsoft.com/office/drawing/2014/main" id="{527ACBA1-BCD2-4934-BF5F-F46EE497564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65576" y="1298667"/>
            <a:ext cx="4267200" cy="3810000"/>
          </a:xfrm>
          <a:prstGeom prst="rect">
            <a:avLst/>
          </a:prstGeom>
        </p:spPr>
      </p:pic>
    </p:spTree>
    <p:extLst>
      <p:ext uri="{BB962C8B-B14F-4D97-AF65-F5344CB8AC3E}">
        <p14:creationId xmlns:p14="http://schemas.microsoft.com/office/powerpoint/2010/main" val="9083657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750F95C-005F-42A1-AD9B-6631B5ED5937}"/>
              </a:ext>
            </a:extLst>
          </p:cNvPr>
          <p:cNvSpPr>
            <a:spLocks noGrp="1"/>
          </p:cNvSpPr>
          <p:nvPr>
            <p:ph type="title"/>
          </p:nvPr>
        </p:nvSpPr>
        <p:spPr>
          <a:xfrm>
            <a:off x="748553" y="153146"/>
            <a:ext cx="10123235" cy="533867"/>
          </a:xfrm>
          <a:prstGeom prst="rect">
            <a:avLst/>
          </a:prstGeom>
          <a:solidFill>
            <a:schemeClr val="tx2">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br>
              <a:rPr lang="en-US" sz="1400" b="1" dirty="0">
                <a:solidFill>
                  <a:schemeClr val="accent1"/>
                </a:solidFill>
                <a:latin typeface="Arial" panose="020B0604020202020204" pitchFamily="34" charset="0"/>
                <a:cs typeface="Arial" panose="020B0604020202020204" pitchFamily="34" charset="0"/>
              </a:rPr>
            </a:br>
            <a:br>
              <a:rPr lang="en-US" sz="1400" b="1" dirty="0">
                <a:solidFill>
                  <a:schemeClr val="accent1"/>
                </a:solidFill>
                <a:latin typeface="Arial" panose="020B0604020202020204" pitchFamily="34" charset="0"/>
                <a:cs typeface="Arial" panose="020B0604020202020204" pitchFamily="34" charset="0"/>
              </a:rPr>
            </a:br>
            <a:br>
              <a:rPr lang="en-US" sz="1400" b="1" dirty="0">
                <a:solidFill>
                  <a:schemeClr val="accent1"/>
                </a:solidFill>
                <a:latin typeface="Arial" panose="020B0604020202020204" pitchFamily="34" charset="0"/>
                <a:cs typeface="Arial" panose="020B0604020202020204" pitchFamily="34" charset="0"/>
              </a:rPr>
            </a:br>
            <a:r>
              <a:rPr lang="en-US" sz="2400" dirty="0">
                <a:solidFill>
                  <a:schemeClr val="accent1"/>
                </a:solidFill>
                <a:latin typeface="Arial" panose="020B0604020202020204" pitchFamily="34" charset="0"/>
                <a:cs typeface="Arial" panose="020B0604020202020204" pitchFamily="34" charset="0"/>
              </a:rPr>
              <a:t>Steps in the Capital Budgeting Process</a:t>
            </a:r>
            <a:br>
              <a:rPr lang="en-US" sz="1400" b="1" dirty="0">
                <a:solidFill>
                  <a:schemeClr val="accent1"/>
                </a:solidFill>
                <a:latin typeface="Arial" panose="020B0604020202020204" pitchFamily="34" charset="0"/>
                <a:cs typeface="Arial" panose="020B0604020202020204" pitchFamily="34" charset="0"/>
              </a:rPr>
            </a:br>
            <a:br>
              <a:rPr lang="en-US" sz="1400" b="1" dirty="0">
                <a:solidFill>
                  <a:schemeClr val="accent1"/>
                </a:solidFill>
                <a:latin typeface="Arial" panose="020B0604020202020204" pitchFamily="34" charset="0"/>
                <a:cs typeface="Arial" panose="020B0604020202020204" pitchFamily="34" charset="0"/>
              </a:rPr>
            </a:br>
            <a:endParaRPr lang="en-IN" sz="2400" dirty="0">
              <a:solidFill>
                <a:schemeClr val="accent1"/>
              </a:solidFill>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1A8F9582-68CE-431C-8B72-88E14F073978}"/>
              </a:ext>
            </a:extLst>
          </p:cNvPr>
          <p:cNvPicPr>
            <a:picLocks noChangeAspect="1"/>
          </p:cNvPicPr>
          <p:nvPr/>
        </p:nvPicPr>
        <p:blipFill>
          <a:blip r:embed="rId2"/>
          <a:stretch>
            <a:fillRect/>
          </a:stretch>
        </p:blipFill>
        <p:spPr>
          <a:xfrm>
            <a:off x="11027635" y="51275"/>
            <a:ext cx="966091" cy="746583"/>
          </a:xfrm>
          <a:prstGeom prst="rect">
            <a:avLst/>
          </a:prstGeom>
        </p:spPr>
      </p:pic>
      <p:sp>
        <p:nvSpPr>
          <p:cNvPr id="2" name="Slide Number Placeholder 1">
            <a:extLst>
              <a:ext uri="{FF2B5EF4-FFF2-40B4-BE49-F238E27FC236}">
                <a16:creationId xmlns:a16="http://schemas.microsoft.com/office/drawing/2014/main" id="{3EEE3E35-0D13-469A-9E0F-622ACCC7CC9A}"/>
              </a:ext>
            </a:extLst>
          </p:cNvPr>
          <p:cNvSpPr>
            <a:spLocks noGrp="1"/>
          </p:cNvSpPr>
          <p:nvPr>
            <p:ph type="sldNum" sz="quarter" idx="12"/>
          </p:nvPr>
        </p:nvSpPr>
        <p:spPr/>
        <p:txBody>
          <a:bodyPr/>
          <a:lstStyle/>
          <a:p>
            <a:fld id="{B7991F04-3566-4BB1-A8CB-A35BE8E11603}" type="slidenum">
              <a:rPr lang="en-IN" smtClean="0"/>
              <a:t>6</a:t>
            </a:fld>
            <a:endParaRPr lang="en-IN"/>
          </a:p>
        </p:txBody>
      </p:sp>
      <p:graphicFrame>
        <p:nvGraphicFramePr>
          <p:cNvPr id="9" name="Content Placeholder 6">
            <a:extLst>
              <a:ext uri="{FF2B5EF4-FFF2-40B4-BE49-F238E27FC236}">
                <a16:creationId xmlns:a16="http://schemas.microsoft.com/office/drawing/2014/main" id="{B6537471-57CC-47D7-9C91-A54642029C98}"/>
              </a:ext>
            </a:extLst>
          </p:cNvPr>
          <p:cNvGraphicFramePr>
            <a:graphicFrameLocks/>
          </p:cNvGraphicFramePr>
          <p:nvPr>
            <p:extLst>
              <p:ext uri="{D42A27DB-BD31-4B8C-83A1-F6EECF244321}">
                <p14:modId xmlns:p14="http://schemas.microsoft.com/office/powerpoint/2010/main" val="1980812241"/>
              </p:ext>
            </p:extLst>
          </p:nvPr>
        </p:nvGraphicFramePr>
        <p:xfrm>
          <a:off x="1506072" y="797858"/>
          <a:ext cx="8373034" cy="570614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1201175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750F95C-005F-42A1-AD9B-6631B5ED5937}"/>
              </a:ext>
            </a:extLst>
          </p:cNvPr>
          <p:cNvSpPr>
            <a:spLocks noGrp="1"/>
          </p:cNvSpPr>
          <p:nvPr>
            <p:ph type="title"/>
          </p:nvPr>
        </p:nvSpPr>
        <p:spPr>
          <a:xfrm>
            <a:off x="493059" y="153146"/>
            <a:ext cx="10650070" cy="533867"/>
          </a:xfrm>
          <a:prstGeom prst="rect">
            <a:avLst/>
          </a:prstGeom>
          <a:solidFill>
            <a:schemeClr val="tx2">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r>
              <a:rPr lang="en-US" sz="2400" dirty="0">
                <a:solidFill>
                  <a:schemeClr val="accent1"/>
                </a:solidFill>
                <a:latin typeface="Arial" panose="020B0604020202020204" pitchFamily="34" charset="0"/>
                <a:cs typeface="Arial" panose="020B0604020202020204" pitchFamily="34" charset="0"/>
              </a:rPr>
              <a:t>Steps in the Capital Budgeting Process</a:t>
            </a:r>
            <a:endParaRPr lang="en-IN" sz="2400" dirty="0">
              <a:solidFill>
                <a:schemeClr val="accent1"/>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A72C9E36-B70B-46C9-997A-F4D7C97AA8D8}"/>
              </a:ext>
            </a:extLst>
          </p:cNvPr>
          <p:cNvSpPr>
            <a:spLocks noGrp="1"/>
          </p:cNvSpPr>
          <p:nvPr>
            <p:ph type="body" sz="half" idx="4294967295"/>
          </p:nvPr>
        </p:nvSpPr>
        <p:spPr>
          <a:xfrm>
            <a:off x="614083" y="899728"/>
            <a:ext cx="10739717" cy="5805125"/>
          </a:xfrm>
        </p:spPr>
        <p:txBody>
          <a:bodyPr>
            <a:normAutofit/>
          </a:bodyPr>
          <a:lstStyle/>
          <a:p>
            <a:pPr>
              <a:lnSpc>
                <a:spcPct val="110000"/>
              </a:lnSpc>
              <a:buFont typeface="+mj-lt"/>
              <a:buAutoNum type="arabicPeriod"/>
            </a:pPr>
            <a:r>
              <a:rPr lang="en-US" sz="2000" dirty="0">
                <a:solidFill>
                  <a:schemeClr val="accent1"/>
                </a:solidFill>
                <a:latin typeface="Arial" panose="020B0604020202020204" pitchFamily="34" charset="0"/>
                <a:cs typeface="Arial" panose="020B0604020202020204" pitchFamily="34" charset="0"/>
              </a:rPr>
              <a:t>Project Identification</a:t>
            </a:r>
          </a:p>
          <a:p>
            <a:pPr lvl="1">
              <a:lnSpc>
                <a:spcPct val="110000"/>
              </a:lnSpc>
            </a:pPr>
            <a:r>
              <a:rPr lang="en-US" sz="2000" dirty="0">
                <a:latin typeface="Arial" panose="020B0604020202020204" pitchFamily="34" charset="0"/>
                <a:cs typeface="Arial" panose="020B0604020202020204" pitchFamily="34" charset="0"/>
              </a:rPr>
              <a:t>Identify potential investment opportunities (e.g., building a new plant, purchasing machinery).</a:t>
            </a:r>
          </a:p>
          <a:p>
            <a:pPr>
              <a:lnSpc>
                <a:spcPct val="110000"/>
              </a:lnSpc>
              <a:buFont typeface="+mj-lt"/>
              <a:buAutoNum type="arabicPeriod"/>
            </a:pPr>
            <a:r>
              <a:rPr lang="en-US" sz="2000" dirty="0">
                <a:solidFill>
                  <a:schemeClr val="accent1"/>
                </a:solidFill>
                <a:latin typeface="Arial" panose="020B0604020202020204" pitchFamily="34" charset="0"/>
                <a:cs typeface="Arial" panose="020B0604020202020204" pitchFamily="34" charset="0"/>
              </a:rPr>
              <a:t>Project Evaluation</a:t>
            </a:r>
          </a:p>
          <a:p>
            <a:pPr lvl="1">
              <a:lnSpc>
                <a:spcPct val="110000"/>
              </a:lnSpc>
            </a:pPr>
            <a:r>
              <a:rPr lang="en-US" sz="2000" dirty="0">
                <a:latin typeface="Arial" panose="020B0604020202020204" pitchFamily="34" charset="0"/>
                <a:cs typeface="Arial" panose="020B0604020202020204" pitchFamily="34" charset="0"/>
              </a:rPr>
              <a:t>Forecast future cash flows of each project.</a:t>
            </a:r>
          </a:p>
          <a:p>
            <a:pPr lvl="1">
              <a:lnSpc>
                <a:spcPct val="110000"/>
              </a:lnSpc>
            </a:pPr>
            <a:r>
              <a:rPr lang="en-US" sz="2000" dirty="0">
                <a:latin typeface="Arial" panose="020B0604020202020204" pitchFamily="34" charset="0"/>
                <a:cs typeface="Arial" panose="020B0604020202020204" pitchFamily="34" charset="0"/>
              </a:rPr>
              <a:t>Evaluate risk and strategic alignment.</a:t>
            </a:r>
          </a:p>
          <a:p>
            <a:pPr>
              <a:lnSpc>
                <a:spcPct val="110000"/>
              </a:lnSpc>
              <a:buFont typeface="+mj-lt"/>
              <a:buAutoNum type="arabicPeriod"/>
            </a:pPr>
            <a:r>
              <a:rPr lang="en-US" sz="2000" dirty="0">
                <a:solidFill>
                  <a:schemeClr val="accent1"/>
                </a:solidFill>
                <a:latin typeface="Arial" panose="020B0604020202020204" pitchFamily="34" charset="0"/>
                <a:cs typeface="Arial" panose="020B0604020202020204" pitchFamily="34" charset="0"/>
              </a:rPr>
              <a:t>Project Selection</a:t>
            </a:r>
          </a:p>
          <a:p>
            <a:pPr lvl="1">
              <a:lnSpc>
                <a:spcPct val="110000"/>
              </a:lnSpc>
            </a:pPr>
            <a:r>
              <a:rPr lang="en-US" sz="2000" dirty="0">
                <a:latin typeface="Arial" panose="020B0604020202020204" pitchFamily="34" charset="0"/>
                <a:cs typeface="Arial" panose="020B0604020202020204" pitchFamily="34" charset="0"/>
              </a:rPr>
              <a:t>Apply quantitative techniques to compare projects.</a:t>
            </a:r>
          </a:p>
          <a:p>
            <a:pPr lvl="1">
              <a:lnSpc>
                <a:spcPct val="110000"/>
              </a:lnSpc>
            </a:pPr>
            <a:r>
              <a:rPr lang="en-US" sz="2000" dirty="0">
                <a:latin typeface="Arial" panose="020B0604020202020204" pitchFamily="34" charset="0"/>
                <a:cs typeface="Arial" panose="020B0604020202020204" pitchFamily="34" charset="0"/>
              </a:rPr>
              <a:t>Select the project(s) that add the most value.</a:t>
            </a:r>
          </a:p>
          <a:p>
            <a:pPr>
              <a:lnSpc>
                <a:spcPct val="110000"/>
              </a:lnSpc>
              <a:buFont typeface="+mj-lt"/>
              <a:buAutoNum type="arabicPeriod"/>
            </a:pPr>
            <a:r>
              <a:rPr lang="en-US" sz="2000" dirty="0">
                <a:solidFill>
                  <a:schemeClr val="accent1"/>
                </a:solidFill>
                <a:latin typeface="Arial" panose="020B0604020202020204" pitchFamily="34" charset="0"/>
                <a:cs typeface="Arial" panose="020B0604020202020204" pitchFamily="34" charset="0"/>
              </a:rPr>
              <a:t>Project Implementation</a:t>
            </a:r>
          </a:p>
          <a:p>
            <a:pPr lvl="1">
              <a:lnSpc>
                <a:spcPct val="110000"/>
              </a:lnSpc>
            </a:pPr>
            <a:r>
              <a:rPr lang="en-US" sz="2000" dirty="0">
                <a:latin typeface="Arial" panose="020B0604020202020204" pitchFamily="34" charset="0"/>
                <a:cs typeface="Arial" panose="020B0604020202020204" pitchFamily="34" charset="0"/>
              </a:rPr>
              <a:t>Allocate resources and start executing the project.</a:t>
            </a:r>
          </a:p>
          <a:p>
            <a:pPr>
              <a:lnSpc>
                <a:spcPct val="110000"/>
              </a:lnSpc>
              <a:buFont typeface="+mj-lt"/>
              <a:buAutoNum type="arabicPeriod"/>
            </a:pPr>
            <a:r>
              <a:rPr lang="en-US" sz="2000" dirty="0">
                <a:solidFill>
                  <a:schemeClr val="accent1"/>
                </a:solidFill>
                <a:latin typeface="Arial" panose="020B0604020202020204" pitchFamily="34" charset="0"/>
                <a:cs typeface="Arial" panose="020B0604020202020204" pitchFamily="34" charset="0"/>
              </a:rPr>
              <a:t>Performance Review</a:t>
            </a:r>
          </a:p>
          <a:p>
            <a:pPr lvl="1">
              <a:lnSpc>
                <a:spcPct val="110000"/>
              </a:lnSpc>
            </a:pPr>
            <a:r>
              <a:rPr lang="en-US" sz="2000" dirty="0">
                <a:latin typeface="Arial" panose="020B0604020202020204" pitchFamily="34" charset="0"/>
                <a:cs typeface="Arial" panose="020B0604020202020204" pitchFamily="34" charset="0"/>
              </a:rPr>
              <a:t>Monitor outcomes and compare with projections.</a:t>
            </a:r>
          </a:p>
          <a:p>
            <a:pPr lvl="1">
              <a:lnSpc>
                <a:spcPct val="110000"/>
              </a:lnSpc>
            </a:pPr>
            <a:r>
              <a:rPr lang="en-US" sz="2000" dirty="0">
                <a:latin typeface="Arial" panose="020B0604020202020204" pitchFamily="34" charset="0"/>
                <a:cs typeface="Arial" panose="020B0604020202020204" pitchFamily="34" charset="0"/>
              </a:rPr>
              <a:t>Learn from discrepancies.</a:t>
            </a:r>
          </a:p>
          <a:p>
            <a:pPr marL="0" indent="0">
              <a:lnSpc>
                <a:spcPct val="200000"/>
              </a:lnSpc>
              <a:buNone/>
            </a:pPr>
            <a:endParaRPr lang="en-US" sz="2000"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1A8F9582-68CE-431C-8B72-88E14F073978}"/>
              </a:ext>
            </a:extLst>
          </p:cNvPr>
          <p:cNvPicPr>
            <a:picLocks noChangeAspect="1"/>
          </p:cNvPicPr>
          <p:nvPr/>
        </p:nvPicPr>
        <p:blipFill>
          <a:blip r:embed="rId2"/>
          <a:stretch>
            <a:fillRect/>
          </a:stretch>
        </p:blipFill>
        <p:spPr>
          <a:xfrm>
            <a:off x="11027635" y="51275"/>
            <a:ext cx="966091" cy="746583"/>
          </a:xfrm>
          <a:prstGeom prst="rect">
            <a:avLst/>
          </a:prstGeom>
        </p:spPr>
      </p:pic>
      <p:sp>
        <p:nvSpPr>
          <p:cNvPr id="2" name="Slide Number Placeholder 1">
            <a:extLst>
              <a:ext uri="{FF2B5EF4-FFF2-40B4-BE49-F238E27FC236}">
                <a16:creationId xmlns:a16="http://schemas.microsoft.com/office/drawing/2014/main" id="{3EEE3E35-0D13-469A-9E0F-622ACCC7CC9A}"/>
              </a:ext>
            </a:extLst>
          </p:cNvPr>
          <p:cNvSpPr>
            <a:spLocks noGrp="1"/>
          </p:cNvSpPr>
          <p:nvPr>
            <p:ph type="sldNum" sz="quarter" idx="12"/>
          </p:nvPr>
        </p:nvSpPr>
        <p:spPr/>
        <p:txBody>
          <a:bodyPr/>
          <a:lstStyle/>
          <a:p>
            <a:fld id="{B7991F04-3566-4BB1-A8CB-A35BE8E11603}" type="slidenum">
              <a:rPr lang="en-IN" smtClean="0"/>
              <a:t>7</a:t>
            </a:fld>
            <a:endParaRPr lang="en-IN"/>
          </a:p>
        </p:txBody>
      </p:sp>
    </p:spTree>
    <p:extLst>
      <p:ext uri="{BB962C8B-B14F-4D97-AF65-F5344CB8AC3E}">
        <p14:creationId xmlns:p14="http://schemas.microsoft.com/office/powerpoint/2010/main" val="18441116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750F95C-005F-42A1-AD9B-6631B5ED5937}"/>
              </a:ext>
            </a:extLst>
          </p:cNvPr>
          <p:cNvSpPr>
            <a:spLocks noGrp="1"/>
          </p:cNvSpPr>
          <p:nvPr>
            <p:ph type="title"/>
          </p:nvPr>
        </p:nvSpPr>
        <p:spPr>
          <a:xfrm>
            <a:off x="748553" y="153146"/>
            <a:ext cx="10123235" cy="533867"/>
          </a:xfrm>
          <a:prstGeom prst="rect">
            <a:avLst/>
          </a:prstGeom>
          <a:solidFill>
            <a:schemeClr val="tx2">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br>
              <a:rPr lang="en-US" sz="1400" b="1" dirty="0">
                <a:solidFill>
                  <a:schemeClr val="accent1"/>
                </a:solidFill>
                <a:latin typeface="Arial" panose="020B0604020202020204" pitchFamily="34" charset="0"/>
                <a:cs typeface="Arial" panose="020B0604020202020204" pitchFamily="34" charset="0"/>
              </a:rPr>
            </a:br>
            <a:br>
              <a:rPr lang="en-US" sz="1400" b="1" dirty="0">
                <a:solidFill>
                  <a:schemeClr val="accent1"/>
                </a:solidFill>
                <a:latin typeface="Arial" panose="020B0604020202020204" pitchFamily="34" charset="0"/>
                <a:cs typeface="Arial" panose="020B0604020202020204" pitchFamily="34" charset="0"/>
              </a:rPr>
            </a:br>
            <a:r>
              <a:rPr lang="en-IN" sz="2400" dirty="0">
                <a:solidFill>
                  <a:schemeClr val="accent1"/>
                </a:solidFill>
                <a:latin typeface="Arial" panose="020B0604020202020204" pitchFamily="34" charset="0"/>
                <a:cs typeface="Arial" panose="020B0604020202020204" pitchFamily="34" charset="0"/>
              </a:rPr>
              <a:t>Capital Budgeting Techniques</a:t>
            </a:r>
            <a:br>
              <a:rPr lang="en-US" sz="1400" b="1" dirty="0">
                <a:solidFill>
                  <a:schemeClr val="accent1"/>
                </a:solidFill>
                <a:latin typeface="Arial" panose="020B0604020202020204" pitchFamily="34" charset="0"/>
                <a:cs typeface="Arial" panose="020B0604020202020204" pitchFamily="34" charset="0"/>
              </a:rPr>
            </a:br>
            <a:endParaRPr lang="en-IN" sz="2400" dirty="0">
              <a:solidFill>
                <a:schemeClr val="accent1"/>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A72C9E36-B70B-46C9-997A-F4D7C97AA8D8}"/>
              </a:ext>
            </a:extLst>
          </p:cNvPr>
          <p:cNvSpPr>
            <a:spLocks noGrp="1"/>
          </p:cNvSpPr>
          <p:nvPr>
            <p:ph type="body" sz="half" idx="4294967295"/>
          </p:nvPr>
        </p:nvSpPr>
        <p:spPr>
          <a:xfrm>
            <a:off x="838199" y="887506"/>
            <a:ext cx="10403541" cy="4981482"/>
          </a:xfrm>
        </p:spPr>
        <p:txBody>
          <a:bodyPr>
            <a:normAutofit/>
          </a:bodyPr>
          <a:lstStyle/>
          <a:p>
            <a:pPr marL="457200" indent="-457200">
              <a:lnSpc>
                <a:spcPct val="250000"/>
              </a:lnSpc>
              <a:buFont typeface="+mj-lt"/>
              <a:buAutoNum type="arabicPeriod"/>
            </a:pPr>
            <a:r>
              <a:rPr lang="en-US" sz="2000" dirty="0">
                <a:latin typeface="Arial" panose="020B0604020202020204" pitchFamily="34" charset="0"/>
                <a:cs typeface="Arial" panose="020B0604020202020204" pitchFamily="34" charset="0"/>
              </a:rPr>
              <a:t>Payback Period</a:t>
            </a:r>
          </a:p>
          <a:p>
            <a:pPr marL="457200" indent="-457200">
              <a:lnSpc>
                <a:spcPct val="250000"/>
              </a:lnSpc>
              <a:buFont typeface="+mj-lt"/>
              <a:buAutoNum type="arabicPeriod"/>
            </a:pPr>
            <a:r>
              <a:rPr lang="en-US" sz="2000" dirty="0">
                <a:latin typeface="Arial" panose="020B0604020202020204" pitchFamily="34" charset="0"/>
                <a:cs typeface="Arial" panose="020B0604020202020204" pitchFamily="34" charset="0"/>
              </a:rPr>
              <a:t>Discounted Payback Period</a:t>
            </a:r>
          </a:p>
          <a:p>
            <a:pPr marL="457200" indent="-457200">
              <a:lnSpc>
                <a:spcPct val="250000"/>
              </a:lnSpc>
              <a:buFont typeface="+mj-lt"/>
              <a:buAutoNum type="arabicPeriod"/>
            </a:pPr>
            <a:r>
              <a:rPr lang="en-US" sz="2000" dirty="0">
                <a:latin typeface="Arial" panose="020B0604020202020204" pitchFamily="34" charset="0"/>
                <a:cs typeface="Arial" panose="020B0604020202020204" pitchFamily="34" charset="0"/>
              </a:rPr>
              <a:t>Net Present Value (NPV)</a:t>
            </a:r>
          </a:p>
          <a:p>
            <a:pPr marL="457200" indent="-457200">
              <a:lnSpc>
                <a:spcPct val="250000"/>
              </a:lnSpc>
              <a:buFont typeface="+mj-lt"/>
              <a:buAutoNum type="arabicPeriod"/>
            </a:pPr>
            <a:r>
              <a:rPr lang="en-US" sz="2000" dirty="0">
                <a:latin typeface="Arial" panose="020B0604020202020204" pitchFamily="34" charset="0"/>
                <a:cs typeface="Arial" panose="020B0604020202020204" pitchFamily="34" charset="0"/>
              </a:rPr>
              <a:t>Internal Rate of Return (IRR)</a:t>
            </a:r>
          </a:p>
          <a:p>
            <a:pPr marL="457200" indent="-457200">
              <a:lnSpc>
                <a:spcPct val="250000"/>
              </a:lnSpc>
              <a:buFont typeface="+mj-lt"/>
              <a:buAutoNum type="arabicPeriod"/>
            </a:pPr>
            <a:endParaRPr lang="en-US" sz="2000" dirty="0">
              <a:latin typeface="Arial" panose="020B0604020202020204" pitchFamily="34" charset="0"/>
              <a:cs typeface="Arial" panose="020B0604020202020204" pitchFamily="34" charset="0"/>
            </a:endParaRPr>
          </a:p>
          <a:p>
            <a:pPr marL="457200" indent="-457200">
              <a:lnSpc>
                <a:spcPct val="250000"/>
              </a:lnSpc>
              <a:buFont typeface="+mj-lt"/>
              <a:buAutoNum type="arabicPeriod"/>
            </a:pPr>
            <a:endParaRPr lang="en-US" sz="2000" dirty="0">
              <a:latin typeface="Arial" panose="020B0604020202020204" pitchFamily="34" charset="0"/>
              <a:cs typeface="Arial" panose="020B0604020202020204" pitchFamily="34" charset="0"/>
            </a:endParaRPr>
          </a:p>
          <a:p>
            <a:pPr marL="457200" indent="-457200">
              <a:lnSpc>
                <a:spcPct val="200000"/>
              </a:lnSpc>
              <a:buFont typeface="+mj-lt"/>
              <a:buAutoNum type="arabicPeriod"/>
            </a:pPr>
            <a:endParaRPr lang="en-US" sz="2000"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1A8F9582-68CE-431C-8B72-88E14F073978}"/>
              </a:ext>
            </a:extLst>
          </p:cNvPr>
          <p:cNvPicPr>
            <a:picLocks noChangeAspect="1"/>
          </p:cNvPicPr>
          <p:nvPr/>
        </p:nvPicPr>
        <p:blipFill>
          <a:blip r:embed="rId2"/>
          <a:stretch>
            <a:fillRect/>
          </a:stretch>
        </p:blipFill>
        <p:spPr>
          <a:xfrm>
            <a:off x="11027635" y="51275"/>
            <a:ext cx="966091" cy="746583"/>
          </a:xfrm>
          <a:prstGeom prst="rect">
            <a:avLst/>
          </a:prstGeom>
        </p:spPr>
      </p:pic>
      <p:sp>
        <p:nvSpPr>
          <p:cNvPr id="2" name="Slide Number Placeholder 1">
            <a:extLst>
              <a:ext uri="{FF2B5EF4-FFF2-40B4-BE49-F238E27FC236}">
                <a16:creationId xmlns:a16="http://schemas.microsoft.com/office/drawing/2014/main" id="{3EEE3E35-0D13-469A-9E0F-622ACCC7CC9A}"/>
              </a:ext>
            </a:extLst>
          </p:cNvPr>
          <p:cNvSpPr>
            <a:spLocks noGrp="1"/>
          </p:cNvSpPr>
          <p:nvPr>
            <p:ph type="sldNum" sz="quarter" idx="12"/>
          </p:nvPr>
        </p:nvSpPr>
        <p:spPr/>
        <p:txBody>
          <a:bodyPr/>
          <a:lstStyle/>
          <a:p>
            <a:fld id="{B7991F04-3566-4BB1-A8CB-A35BE8E11603}" type="slidenum">
              <a:rPr lang="en-IN" smtClean="0"/>
              <a:t>8</a:t>
            </a:fld>
            <a:endParaRPr lang="en-IN"/>
          </a:p>
        </p:txBody>
      </p:sp>
    </p:spTree>
    <p:extLst>
      <p:ext uri="{BB962C8B-B14F-4D97-AF65-F5344CB8AC3E}">
        <p14:creationId xmlns:p14="http://schemas.microsoft.com/office/powerpoint/2010/main" val="2359860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750F95C-005F-42A1-AD9B-6631B5ED5937}"/>
              </a:ext>
            </a:extLst>
          </p:cNvPr>
          <p:cNvSpPr>
            <a:spLocks noGrp="1"/>
          </p:cNvSpPr>
          <p:nvPr>
            <p:ph type="title"/>
          </p:nvPr>
        </p:nvSpPr>
        <p:spPr>
          <a:xfrm>
            <a:off x="748553" y="153146"/>
            <a:ext cx="10123235" cy="533867"/>
          </a:xfrm>
          <a:prstGeom prst="rect">
            <a:avLst/>
          </a:prstGeom>
          <a:solidFill>
            <a:schemeClr val="tx2">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r>
              <a:rPr lang="en-IN" sz="2400" dirty="0">
                <a:solidFill>
                  <a:schemeClr val="accent1"/>
                </a:solidFill>
                <a:latin typeface="Arial" panose="020B0604020202020204" pitchFamily="34" charset="0"/>
                <a:cs typeface="Arial" panose="020B0604020202020204" pitchFamily="34" charset="0"/>
              </a:rPr>
              <a:t>Payback Period</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72C9E36-B70B-46C9-997A-F4D7C97AA8D8}"/>
                  </a:ext>
                </a:extLst>
              </p:cNvPr>
              <p:cNvSpPr>
                <a:spLocks noGrp="1"/>
              </p:cNvSpPr>
              <p:nvPr>
                <p:ph type="body" sz="half" idx="4294967295"/>
              </p:nvPr>
            </p:nvSpPr>
            <p:spPr>
              <a:xfrm>
                <a:off x="838199" y="887506"/>
                <a:ext cx="10403541" cy="4981482"/>
              </a:xfrm>
            </p:spPr>
            <p:txBody>
              <a:bodyPr>
                <a:normAutofit/>
              </a:bodyPr>
              <a:lstStyle/>
              <a:p>
                <a:pPr>
                  <a:lnSpc>
                    <a:spcPct val="200000"/>
                  </a:lnSpc>
                </a:pPr>
                <a:r>
                  <a:rPr lang="en-US" sz="2000" dirty="0">
                    <a:latin typeface="Arial" panose="020B0604020202020204" pitchFamily="34" charset="0"/>
                    <a:cs typeface="Arial" panose="020B0604020202020204" pitchFamily="34" charset="0"/>
                  </a:rPr>
                  <a:t>The Payback Period is the amount of time it takes for an investment to recover its initial cost from the cash inflows it generates.</a:t>
                </a:r>
              </a:p>
              <a:p>
                <a:pPr marL="0" indent="0">
                  <a:buNone/>
                </a:pPr>
                <a:r>
                  <a:rPr lang="en-US" sz="2000" dirty="0">
                    <a:solidFill>
                      <a:schemeClr val="accent1"/>
                    </a:solidFill>
                    <a:latin typeface="Arial" panose="020B0604020202020204" pitchFamily="34" charset="0"/>
                    <a:cs typeface="Arial" panose="020B0604020202020204" pitchFamily="34" charset="0"/>
                  </a:rPr>
                  <a:t>Payback Period Formula: </a:t>
                </a:r>
              </a:p>
              <a:p>
                <a:r>
                  <a:rPr lang="en-US" sz="2000" dirty="0">
                    <a:latin typeface="Arial" panose="020B0604020202020204" pitchFamily="34" charset="0"/>
                    <a:cs typeface="Arial" panose="020B0604020202020204" pitchFamily="34" charset="0"/>
                  </a:rPr>
                  <a:t>If cash inflows are equal each year:</a:t>
                </a:r>
                <a:endParaRPr lang="en-US" sz="2000" b="0" i="0" dirty="0">
                  <a:solidFill>
                    <a:schemeClr val="accent1"/>
                  </a:solidFill>
                  <a:latin typeface="Cambria Math" panose="02040503050406030204" pitchFamily="18" charset="0"/>
                  <a:cs typeface="Arial" panose="020B0604020202020204" pitchFamily="34" charset="0"/>
                </a:endParaRPr>
              </a:p>
              <a:p>
                <a:pPr marL="0" indent="0">
                  <a:buNone/>
                </a:pPr>
                <a14:m>
                  <m:oMathPara xmlns:m="http://schemas.openxmlformats.org/officeDocument/2006/math">
                    <m:oMathParaPr>
                      <m:jc m:val="centerGroup"/>
                    </m:oMathParaPr>
                    <m:oMath xmlns:m="http://schemas.openxmlformats.org/officeDocument/2006/math">
                      <m:r>
                        <m:rPr>
                          <m:sty m:val="p"/>
                        </m:rPr>
                        <a:rPr lang="en-US" sz="2000" b="0" i="0" smtClean="0">
                          <a:solidFill>
                            <a:schemeClr val="accent1"/>
                          </a:solidFill>
                          <a:latin typeface="Cambria Math" panose="02040503050406030204" pitchFamily="18" charset="0"/>
                          <a:cs typeface="Arial" panose="020B0604020202020204" pitchFamily="34" charset="0"/>
                        </a:rPr>
                        <m:t>Payback</m:t>
                      </m:r>
                      <m:r>
                        <a:rPr lang="en-US" sz="2000" b="0" i="0" smtClean="0">
                          <a:solidFill>
                            <a:schemeClr val="accent1"/>
                          </a:solidFill>
                          <a:latin typeface="Cambria Math" panose="02040503050406030204" pitchFamily="18" charset="0"/>
                          <a:cs typeface="Arial" panose="020B0604020202020204" pitchFamily="34" charset="0"/>
                        </a:rPr>
                        <m:t> </m:t>
                      </m:r>
                      <m:r>
                        <m:rPr>
                          <m:sty m:val="p"/>
                        </m:rPr>
                        <a:rPr lang="en-US" sz="2000" b="0" i="0" smtClean="0">
                          <a:solidFill>
                            <a:schemeClr val="accent1"/>
                          </a:solidFill>
                          <a:latin typeface="Cambria Math" panose="02040503050406030204" pitchFamily="18" charset="0"/>
                          <a:cs typeface="Arial" panose="020B0604020202020204" pitchFamily="34" charset="0"/>
                        </a:rPr>
                        <m:t>Period</m:t>
                      </m:r>
                      <m:r>
                        <a:rPr lang="en-US" sz="2000" b="0" i="1" smtClean="0">
                          <a:solidFill>
                            <a:schemeClr val="accent1"/>
                          </a:solidFill>
                          <a:latin typeface="Cambria Math" panose="02040503050406030204" pitchFamily="18" charset="0"/>
                          <a:cs typeface="Arial" panose="020B0604020202020204" pitchFamily="34" charset="0"/>
                        </a:rPr>
                        <m:t>=</m:t>
                      </m:r>
                      <m:f>
                        <m:fPr>
                          <m:ctrlPr>
                            <a:rPr lang="en-US" sz="2000" i="1" smtClean="0">
                              <a:solidFill>
                                <a:schemeClr val="accent1"/>
                              </a:solidFill>
                              <a:latin typeface="Cambria Math" panose="02040503050406030204" pitchFamily="18" charset="0"/>
                              <a:cs typeface="Arial" panose="020B0604020202020204" pitchFamily="34" charset="0"/>
                            </a:rPr>
                          </m:ctrlPr>
                        </m:fPr>
                        <m:num>
                          <m:r>
                            <a:rPr lang="en-US" sz="2000" b="0" i="1" smtClean="0">
                              <a:solidFill>
                                <a:schemeClr val="accent1"/>
                              </a:solidFill>
                              <a:latin typeface="Cambria Math" panose="02040503050406030204" pitchFamily="18" charset="0"/>
                              <a:cs typeface="Arial" panose="020B0604020202020204" pitchFamily="34" charset="0"/>
                            </a:rPr>
                            <m:t>𝐼𝑛𝑖𝑡𝑖𝑎𝑙</m:t>
                          </m:r>
                          <m:r>
                            <a:rPr lang="en-US" sz="2000" b="0" i="1" smtClean="0">
                              <a:solidFill>
                                <a:schemeClr val="accent1"/>
                              </a:solidFill>
                              <a:latin typeface="Cambria Math" panose="02040503050406030204" pitchFamily="18" charset="0"/>
                              <a:cs typeface="Arial" panose="020B0604020202020204" pitchFamily="34" charset="0"/>
                            </a:rPr>
                            <m:t> </m:t>
                          </m:r>
                          <m:r>
                            <a:rPr lang="en-US" sz="2000" b="0" i="1" smtClean="0">
                              <a:solidFill>
                                <a:schemeClr val="accent1"/>
                              </a:solidFill>
                              <a:latin typeface="Cambria Math" panose="02040503050406030204" pitchFamily="18" charset="0"/>
                              <a:cs typeface="Arial" panose="020B0604020202020204" pitchFamily="34" charset="0"/>
                            </a:rPr>
                            <m:t>𝐼𝑛𝑣𝑒𝑠𝑡𝑚𝑒𝑛𝑡</m:t>
                          </m:r>
                        </m:num>
                        <m:den>
                          <m:r>
                            <a:rPr lang="en-US" sz="2000" b="0" i="1" smtClean="0">
                              <a:solidFill>
                                <a:schemeClr val="accent1"/>
                              </a:solidFill>
                              <a:latin typeface="Cambria Math" panose="02040503050406030204" pitchFamily="18" charset="0"/>
                              <a:cs typeface="Arial" panose="020B0604020202020204" pitchFamily="34" charset="0"/>
                            </a:rPr>
                            <m:t>𝐴𝑛𝑛𝑢𝑎𝑙</m:t>
                          </m:r>
                          <m:r>
                            <a:rPr lang="en-US" sz="2000" b="0" i="1" smtClean="0">
                              <a:solidFill>
                                <a:schemeClr val="accent1"/>
                              </a:solidFill>
                              <a:latin typeface="Cambria Math" panose="02040503050406030204" pitchFamily="18" charset="0"/>
                              <a:cs typeface="Arial" panose="020B0604020202020204" pitchFamily="34" charset="0"/>
                            </a:rPr>
                            <m:t> </m:t>
                          </m:r>
                          <m:r>
                            <a:rPr lang="en-US" sz="2000" b="0" i="1" smtClean="0">
                              <a:solidFill>
                                <a:schemeClr val="accent1"/>
                              </a:solidFill>
                              <a:latin typeface="Cambria Math" panose="02040503050406030204" pitchFamily="18" charset="0"/>
                              <a:cs typeface="Arial" panose="020B0604020202020204" pitchFamily="34" charset="0"/>
                            </a:rPr>
                            <m:t>𝐶𝑎𝑠h</m:t>
                          </m:r>
                          <m:r>
                            <a:rPr lang="en-US" sz="2000" b="0" i="1" smtClean="0">
                              <a:solidFill>
                                <a:schemeClr val="accent1"/>
                              </a:solidFill>
                              <a:latin typeface="Cambria Math" panose="02040503050406030204" pitchFamily="18" charset="0"/>
                              <a:cs typeface="Arial" panose="020B0604020202020204" pitchFamily="34" charset="0"/>
                            </a:rPr>
                            <m:t> </m:t>
                          </m:r>
                          <m:r>
                            <a:rPr lang="en-US" sz="2000" b="0" i="1" smtClean="0">
                              <a:solidFill>
                                <a:schemeClr val="accent1"/>
                              </a:solidFill>
                              <a:latin typeface="Cambria Math" panose="02040503050406030204" pitchFamily="18" charset="0"/>
                              <a:cs typeface="Arial" panose="020B0604020202020204" pitchFamily="34" charset="0"/>
                            </a:rPr>
                            <m:t>𝐼𝑛𝑓𝑙𝑜𝑤</m:t>
                          </m:r>
                        </m:den>
                      </m:f>
                    </m:oMath>
                  </m:oMathPara>
                </a14:m>
                <a:endParaRPr lang="en-US" sz="2000" dirty="0">
                  <a:solidFill>
                    <a:schemeClr val="accent1"/>
                  </a:solidFill>
                  <a:latin typeface="Arial" panose="020B0604020202020204" pitchFamily="34" charset="0"/>
                  <a:cs typeface="Arial" panose="020B0604020202020204" pitchFamily="34" charset="0"/>
                </a:endParaRPr>
              </a:p>
              <a:p>
                <a:pPr marL="0" indent="0">
                  <a:buNone/>
                </a:pPr>
                <a:r>
                  <a:rPr lang="en-US" sz="2000" dirty="0">
                    <a:latin typeface="Arial" panose="020B0604020202020204" pitchFamily="34" charset="0"/>
                    <a:cs typeface="Arial" panose="020B0604020202020204" pitchFamily="34" charset="0"/>
                  </a:rPr>
                  <a:t> If cash inflows are unequal:</a:t>
                </a:r>
              </a:p>
              <a:p>
                <a:r>
                  <a:rPr lang="en-US" sz="2000" dirty="0">
                    <a:latin typeface="Arial" panose="020B0604020202020204" pitchFamily="34" charset="0"/>
                    <a:cs typeface="Arial" panose="020B0604020202020204" pitchFamily="34" charset="0"/>
                  </a:rPr>
                  <a:t>You must cumulatively add the cash inflows each year until the total equals the initial investment.</a:t>
                </a:r>
              </a:p>
              <a:p>
                <a:pPr>
                  <a:lnSpc>
                    <a:spcPct val="200000"/>
                  </a:lnSpc>
                </a:pPr>
                <a:endParaRPr lang="en-US" sz="2000" dirty="0">
                  <a:solidFill>
                    <a:schemeClr val="accent1"/>
                  </a:solidFill>
                  <a:latin typeface="Arial" panose="020B0604020202020204" pitchFamily="34" charset="0"/>
                  <a:cs typeface="Arial" panose="020B0604020202020204" pitchFamily="34" charset="0"/>
                </a:endParaRPr>
              </a:p>
            </p:txBody>
          </p:sp>
        </mc:Choice>
        <mc:Fallback xmlns="">
          <p:sp>
            <p:nvSpPr>
              <p:cNvPr id="3" name="Content Placeholder 2">
                <a:extLst>
                  <a:ext uri="{FF2B5EF4-FFF2-40B4-BE49-F238E27FC236}">
                    <a16:creationId xmlns:a16="http://schemas.microsoft.com/office/drawing/2014/main" id="{A72C9E36-B70B-46C9-997A-F4D7C97AA8D8}"/>
                  </a:ext>
                </a:extLst>
              </p:cNvPr>
              <p:cNvSpPr>
                <a:spLocks noGrp="1" noRot="1" noChangeAspect="1" noMove="1" noResize="1" noEditPoints="1" noAdjustHandles="1" noChangeArrowheads="1" noChangeShapeType="1" noTextEdit="1"/>
              </p:cNvSpPr>
              <p:nvPr>
                <p:ph type="body" sz="half" idx="4294967295"/>
              </p:nvPr>
            </p:nvSpPr>
            <p:spPr>
              <a:xfrm>
                <a:off x="838199" y="887506"/>
                <a:ext cx="10403541" cy="4981482"/>
              </a:xfrm>
              <a:blipFill>
                <a:blip r:embed="rId2"/>
                <a:stretch>
                  <a:fillRect l="-586"/>
                </a:stretch>
              </a:blipFill>
            </p:spPr>
            <p:txBody>
              <a:bodyPr/>
              <a:lstStyle/>
              <a:p>
                <a:r>
                  <a:rPr lang="en-IN">
                    <a:noFill/>
                  </a:rPr>
                  <a:t> </a:t>
                </a:r>
              </a:p>
            </p:txBody>
          </p:sp>
        </mc:Fallback>
      </mc:AlternateContent>
      <p:pic>
        <p:nvPicPr>
          <p:cNvPr id="5" name="Picture 4">
            <a:extLst>
              <a:ext uri="{FF2B5EF4-FFF2-40B4-BE49-F238E27FC236}">
                <a16:creationId xmlns:a16="http://schemas.microsoft.com/office/drawing/2014/main" id="{1A8F9582-68CE-431C-8B72-88E14F073978}"/>
              </a:ext>
            </a:extLst>
          </p:cNvPr>
          <p:cNvPicPr>
            <a:picLocks noChangeAspect="1"/>
          </p:cNvPicPr>
          <p:nvPr/>
        </p:nvPicPr>
        <p:blipFill>
          <a:blip r:embed="rId3"/>
          <a:stretch>
            <a:fillRect/>
          </a:stretch>
        </p:blipFill>
        <p:spPr>
          <a:xfrm>
            <a:off x="11027635" y="51275"/>
            <a:ext cx="966091" cy="746583"/>
          </a:xfrm>
          <a:prstGeom prst="rect">
            <a:avLst/>
          </a:prstGeom>
        </p:spPr>
      </p:pic>
      <p:sp>
        <p:nvSpPr>
          <p:cNvPr id="2" name="Slide Number Placeholder 1">
            <a:extLst>
              <a:ext uri="{FF2B5EF4-FFF2-40B4-BE49-F238E27FC236}">
                <a16:creationId xmlns:a16="http://schemas.microsoft.com/office/drawing/2014/main" id="{3EEE3E35-0D13-469A-9E0F-622ACCC7CC9A}"/>
              </a:ext>
            </a:extLst>
          </p:cNvPr>
          <p:cNvSpPr>
            <a:spLocks noGrp="1"/>
          </p:cNvSpPr>
          <p:nvPr>
            <p:ph type="sldNum" sz="quarter" idx="12"/>
          </p:nvPr>
        </p:nvSpPr>
        <p:spPr/>
        <p:txBody>
          <a:bodyPr/>
          <a:lstStyle/>
          <a:p>
            <a:fld id="{B7991F04-3566-4BB1-A8CB-A35BE8E11603}" type="slidenum">
              <a:rPr lang="en-IN" smtClean="0"/>
              <a:t>9</a:t>
            </a:fld>
            <a:endParaRPr lang="en-IN"/>
          </a:p>
        </p:txBody>
      </p:sp>
    </p:spTree>
    <p:extLst>
      <p:ext uri="{BB962C8B-B14F-4D97-AF65-F5344CB8AC3E}">
        <p14:creationId xmlns:p14="http://schemas.microsoft.com/office/powerpoint/2010/main" val="14459446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750F95C-005F-42A1-AD9B-6631B5ED5937}"/>
              </a:ext>
            </a:extLst>
          </p:cNvPr>
          <p:cNvSpPr>
            <a:spLocks noGrp="1"/>
          </p:cNvSpPr>
          <p:nvPr>
            <p:ph type="title"/>
          </p:nvPr>
        </p:nvSpPr>
        <p:spPr>
          <a:xfrm>
            <a:off x="748553" y="153146"/>
            <a:ext cx="10123235" cy="533867"/>
          </a:xfrm>
          <a:prstGeom prst="rect">
            <a:avLst/>
          </a:prstGeom>
          <a:solidFill>
            <a:schemeClr val="tx2">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br>
              <a:rPr lang="en-IN" sz="2400" dirty="0"/>
            </a:br>
            <a:r>
              <a:rPr lang="en-IN" sz="2400" dirty="0">
                <a:solidFill>
                  <a:schemeClr val="accent1"/>
                </a:solidFill>
                <a:latin typeface="Arial" panose="020B0604020202020204" pitchFamily="34" charset="0"/>
                <a:cs typeface="Arial" panose="020B0604020202020204" pitchFamily="34" charset="0"/>
              </a:rPr>
              <a:t>Payback Period Decision Rule</a:t>
            </a:r>
            <a:br>
              <a:rPr lang="en-US" sz="3600" dirty="0">
                <a:solidFill>
                  <a:schemeClr val="accent1"/>
                </a:solidFill>
                <a:latin typeface="Arial" panose="020B0604020202020204" pitchFamily="34" charset="0"/>
                <a:cs typeface="Arial" panose="020B0604020202020204" pitchFamily="34" charset="0"/>
              </a:rPr>
            </a:br>
            <a:endParaRPr lang="en-IN" sz="2400" dirty="0">
              <a:solidFill>
                <a:schemeClr val="accent1"/>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A72C9E36-B70B-46C9-997A-F4D7C97AA8D8}"/>
              </a:ext>
            </a:extLst>
          </p:cNvPr>
          <p:cNvSpPr>
            <a:spLocks noGrp="1"/>
          </p:cNvSpPr>
          <p:nvPr>
            <p:ph type="body" sz="half" idx="4294967295"/>
          </p:nvPr>
        </p:nvSpPr>
        <p:spPr>
          <a:xfrm>
            <a:off x="838199" y="887506"/>
            <a:ext cx="10403541" cy="4981482"/>
          </a:xfrm>
        </p:spPr>
        <p:txBody>
          <a:bodyPr>
            <a:normAutofit/>
          </a:bodyPr>
          <a:lstStyle/>
          <a:p>
            <a:pPr>
              <a:lnSpc>
                <a:spcPct val="200000"/>
              </a:lnSpc>
            </a:pPr>
            <a:r>
              <a:rPr lang="en-US" sz="2000" dirty="0">
                <a:latin typeface="Arial" panose="020B0604020202020204" pitchFamily="34" charset="0"/>
                <a:cs typeface="Arial" panose="020B0604020202020204" pitchFamily="34" charset="0"/>
              </a:rPr>
              <a:t>If Payback Period ≤ Target Payback Period → Accept the project</a:t>
            </a:r>
          </a:p>
          <a:p>
            <a:pPr>
              <a:lnSpc>
                <a:spcPct val="200000"/>
              </a:lnSpc>
            </a:pPr>
            <a:r>
              <a:rPr lang="en-US" sz="2000" dirty="0">
                <a:latin typeface="Arial" panose="020B0604020202020204" pitchFamily="34" charset="0"/>
                <a:cs typeface="Arial" panose="020B0604020202020204" pitchFamily="34" charset="0"/>
              </a:rPr>
              <a:t>If Payback Period &gt; Target → Reject the project</a:t>
            </a:r>
          </a:p>
          <a:p>
            <a:pPr marL="0" indent="0">
              <a:lnSpc>
                <a:spcPct val="200000"/>
              </a:lnSpc>
              <a:buNone/>
            </a:pPr>
            <a:r>
              <a:rPr lang="en-US" sz="2000" dirty="0">
                <a:solidFill>
                  <a:schemeClr val="accent1"/>
                </a:solidFill>
                <a:latin typeface="Arial" panose="020B0604020202020204" pitchFamily="34" charset="0"/>
                <a:cs typeface="Arial" panose="020B0604020202020204" pitchFamily="34" charset="0"/>
              </a:rPr>
              <a:t>Example:</a:t>
            </a:r>
            <a:r>
              <a:rPr lang="en-US" sz="2000" dirty="0">
                <a:latin typeface="Arial" panose="020B0604020202020204" pitchFamily="34" charset="0"/>
                <a:cs typeface="Arial" panose="020B0604020202020204" pitchFamily="34" charset="0"/>
              </a:rPr>
              <a:t> If a company's policy is to accept only projects with a payback period under 3 years, a project with a payback of 2.5 years would be accepted.</a:t>
            </a:r>
            <a:endParaRPr lang="en-US" sz="2000" dirty="0">
              <a:solidFill>
                <a:schemeClr val="accent1"/>
              </a:solidFill>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1A8F9582-68CE-431C-8B72-88E14F073978}"/>
              </a:ext>
            </a:extLst>
          </p:cNvPr>
          <p:cNvPicPr>
            <a:picLocks noChangeAspect="1"/>
          </p:cNvPicPr>
          <p:nvPr/>
        </p:nvPicPr>
        <p:blipFill>
          <a:blip r:embed="rId2"/>
          <a:stretch>
            <a:fillRect/>
          </a:stretch>
        </p:blipFill>
        <p:spPr>
          <a:xfrm>
            <a:off x="11027635" y="51275"/>
            <a:ext cx="966091" cy="746583"/>
          </a:xfrm>
          <a:prstGeom prst="rect">
            <a:avLst/>
          </a:prstGeom>
        </p:spPr>
      </p:pic>
      <p:sp>
        <p:nvSpPr>
          <p:cNvPr id="2" name="Slide Number Placeholder 1">
            <a:extLst>
              <a:ext uri="{FF2B5EF4-FFF2-40B4-BE49-F238E27FC236}">
                <a16:creationId xmlns:a16="http://schemas.microsoft.com/office/drawing/2014/main" id="{3EEE3E35-0D13-469A-9E0F-622ACCC7CC9A}"/>
              </a:ext>
            </a:extLst>
          </p:cNvPr>
          <p:cNvSpPr>
            <a:spLocks noGrp="1"/>
          </p:cNvSpPr>
          <p:nvPr>
            <p:ph type="sldNum" sz="quarter" idx="12"/>
          </p:nvPr>
        </p:nvSpPr>
        <p:spPr/>
        <p:txBody>
          <a:bodyPr/>
          <a:lstStyle/>
          <a:p>
            <a:fld id="{B7991F04-3566-4BB1-A8CB-A35BE8E11603}" type="slidenum">
              <a:rPr lang="en-IN" smtClean="0"/>
              <a:t>10</a:t>
            </a:fld>
            <a:endParaRPr lang="en-IN"/>
          </a:p>
        </p:txBody>
      </p:sp>
    </p:spTree>
    <p:extLst>
      <p:ext uri="{BB962C8B-B14F-4D97-AF65-F5344CB8AC3E}">
        <p14:creationId xmlns:p14="http://schemas.microsoft.com/office/powerpoint/2010/main" val="8673570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750F95C-005F-42A1-AD9B-6631B5ED5937}"/>
              </a:ext>
            </a:extLst>
          </p:cNvPr>
          <p:cNvSpPr>
            <a:spLocks noGrp="1"/>
          </p:cNvSpPr>
          <p:nvPr>
            <p:ph type="title"/>
          </p:nvPr>
        </p:nvSpPr>
        <p:spPr>
          <a:xfrm>
            <a:off x="748553" y="153146"/>
            <a:ext cx="10123235" cy="533867"/>
          </a:xfrm>
          <a:prstGeom prst="rect">
            <a:avLst/>
          </a:prstGeom>
          <a:solidFill>
            <a:schemeClr val="tx2">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r>
              <a:rPr lang="en-US" sz="2400" dirty="0">
                <a:solidFill>
                  <a:schemeClr val="accent1"/>
                </a:solidFill>
                <a:latin typeface="Arial" panose="020B0604020202020204" pitchFamily="34" charset="0"/>
                <a:cs typeface="Arial" panose="020B0604020202020204" pitchFamily="34" charset="0"/>
              </a:rPr>
              <a:t>Example 1: Equal Cash Flows</a:t>
            </a:r>
            <a:endParaRPr lang="en-IN" sz="2400" dirty="0">
              <a:solidFill>
                <a:schemeClr val="accent1"/>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72C9E36-B70B-46C9-997A-F4D7C97AA8D8}"/>
                  </a:ext>
                </a:extLst>
              </p:cNvPr>
              <p:cNvSpPr>
                <a:spLocks noGrp="1"/>
              </p:cNvSpPr>
              <p:nvPr>
                <p:ph type="body" sz="half" idx="4294967295"/>
              </p:nvPr>
            </p:nvSpPr>
            <p:spPr>
              <a:xfrm>
                <a:off x="838199" y="887506"/>
                <a:ext cx="10403541" cy="4981482"/>
              </a:xfrm>
            </p:spPr>
            <p:txBody>
              <a:bodyPr>
                <a:normAutofit/>
              </a:bodyPr>
              <a:lstStyle/>
              <a:p>
                <a:pPr>
                  <a:lnSpc>
                    <a:spcPct val="200000"/>
                  </a:lnSpc>
                </a:pPr>
                <a:r>
                  <a:rPr lang="en-IN" sz="2000" dirty="0">
                    <a:latin typeface="Arial" panose="020B0604020202020204" pitchFamily="34" charset="0"/>
                    <a:cs typeface="Arial" panose="020B0604020202020204" pitchFamily="34" charset="0"/>
                  </a:rPr>
                  <a:t>Initial Investment = 40,000</a:t>
                </a:r>
                <a:r>
                  <a:rPr lang="en-IN" sz="2000" b="0" i="0" kern="1200" dirty="0">
                    <a:solidFill>
                      <a:schemeClr val="tx1"/>
                    </a:solidFill>
                    <a:effectLst/>
                    <a:latin typeface="+mn-lt"/>
                    <a:ea typeface="+mn-ea"/>
                    <a:cs typeface="+mn-cs"/>
                  </a:rPr>
                  <a:t> ₹</a:t>
                </a:r>
                <a:endParaRPr lang="en-IN" sz="2000" dirty="0">
                  <a:latin typeface="Arial" panose="020B0604020202020204" pitchFamily="34" charset="0"/>
                  <a:cs typeface="Arial" panose="020B0604020202020204" pitchFamily="34" charset="0"/>
                </a:endParaRPr>
              </a:p>
              <a:p>
                <a:pPr>
                  <a:lnSpc>
                    <a:spcPct val="200000"/>
                  </a:lnSpc>
                </a:pPr>
                <a:r>
                  <a:rPr lang="en-IN" sz="2000" dirty="0">
                    <a:latin typeface="Arial" panose="020B0604020202020204" pitchFamily="34" charset="0"/>
                    <a:cs typeface="Arial" panose="020B0604020202020204" pitchFamily="34" charset="0"/>
                  </a:rPr>
                  <a:t>Annual Cash Inflow = 10,000</a:t>
                </a:r>
                <a:r>
                  <a:rPr lang="en-IN" sz="2000" b="0" i="0" kern="1200" dirty="0">
                    <a:solidFill>
                      <a:schemeClr val="tx1"/>
                    </a:solidFill>
                    <a:effectLst/>
                    <a:latin typeface="+mn-lt"/>
                    <a:ea typeface="+mn-ea"/>
                    <a:cs typeface="+mn-cs"/>
                  </a:rPr>
                  <a:t> ₹</a:t>
                </a:r>
                <a:endParaRPr lang="en-IN" sz="2000" dirty="0">
                  <a:latin typeface="Arial" panose="020B0604020202020204" pitchFamily="34" charset="0"/>
                  <a:cs typeface="Arial" panose="020B0604020202020204" pitchFamily="34" charset="0"/>
                </a:endParaRPr>
              </a:p>
              <a:p>
                <a:pPr>
                  <a:lnSpc>
                    <a:spcPct val="200000"/>
                  </a:lnSpc>
                </a:pPr>
                <a:r>
                  <a:rPr lang="en-IN" sz="2000" dirty="0">
                    <a:latin typeface="Arial" panose="020B0604020202020204" pitchFamily="34" charset="0"/>
                    <a:cs typeface="Arial" panose="020B0604020202020204" pitchFamily="34" charset="0"/>
                  </a:rPr>
                  <a:t>Payback Period</a:t>
                </a:r>
                <a:r>
                  <a:rPr lang="en-US" sz="2000" dirty="0">
                    <a:solidFill>
                      <a:schemeClr val="accent1"/>
                    </a:solidFill>
                    <a:latin typeface="Arial" panose="020B0604020202020204" pitchFamily="34" charset="0"/>
                    <a:cs typeface="Arial" panose="020B0604020202020204" pitchFamily="34" charset="0"/>
                  </a:rPr>
                  <a:t> </a:t>
                </a:r>
                <a14:m>
                  <m:oMath xmlns:m="http://schemas.openxmlformats.org/officeDocument/2006/math">
                    <m:r>
                      <a:rPr lang="en-US" sz="2400" b="0" i="0" smtClean="0">
                        <a:solidFill>
                          <a:schemeClr val="accent1"/>
                        </a:solidFill>
                        <a:latin typeface="Cambria Math" panose="02040503050406030204" pitchFamily="18" charset="0"/>
                        <a:cs typeface="Arial" panose="020B0604020202020204" pitchFamily="34" charset="0"/>
                      </a:rPr>
                      <m:t>= </m:t>
                    </m:r>
                    <m:f>
                      <m:fPr>
                        <m:ctrlPr>
                          <a:rPr lang="en-US" sz="2400" i="1" smtClean="0">
                            <a:solidFill>
                              <a:schemeClr val="accent1"/>
                            </a:solidFill>
                            <a:latin typeface="Cambria Math" panose="02040503050406030204" pitchFamily="18" charset="0"/>
                            <a:cs typeface="Arial" panose="020B0604020202020204" pitchFamily="34" charset="0"/>
                          </a:rPr>
                        </m:ctrlPr>
                      </m:fPr>
                      <m:num>
                        <m:r>
                          <a:rPr lang="en-US" sz="2400" b="0" i="1" smtClean="0">
                            <a:solidFill>
                              <a:schemeClr val="accent1"/>
                            </a:solidFill>
                            <a:latin typeface="Cambria Math" panose="02040503050406030204" pitchFamily="18" charset="0"/>
                            <a:cs typeface="Arial" panose="020B0604020202020204" pitchFamily="34" charset="0"/>
                          </a:rPr>
                          <m:t>40,000</m:t>
                        </m:r>
                      </m:num>
                      <m:den>
                        <m:r>
                          <a:rPr lang="en-US" sz="2400" b="0" i="1" smtClean="0">
                            <a:solidFill>
                              <a:schemeClr val="accent1"/>
                            </a:solidFill>
                            <a:latin typeface="Cambria Math" panose="02040503050406030204" pitchFamily="18" charset="0"/>
                            <a:cs typeface="Arial" panose="020B0604020202020204" pitchFamily="34" charset="0"/>
                          </a:rPr>
                          <m:t>10,000</m:t>
                        </m:r>
                      </m:den>
                    </m:f>
                    <m:r>
                      <m:rPr>
                        <m:nor/>
                      </m:rPr>
                      <a:rPr lang="en-US" sz="2400" b="0" i="0" smtClean="0">
                        <a:solidFill>
                          <a:schemeClr val="accent1"/>
                        </a:solidFill>
                        <a:latin typeface="Cambria Math" panose="02040503050406030204" pitchFamily="18" charset="0"/>
                        <a:cs typeface="Arial" panose="020B0604020202020204" pitchFamily="34" charset="0"/>
                      </a:rPr>
                      <m:t>  </m:t>
                    </m:r>
                    <m:r>
                      <m:rPr>
                        <m:nor/>
                      </m:rPr>
                      <a:rPr lang="en-IN" sz="2400">
                        <a:latin typeface="Arial" panose="020B0604020202020204" pitchFamily="34" charset="0"/>
                        <a:cs typeface="Arial" panose="020B0604020202020204" pitchFamily="34" charset="0"/>
                      </a:rPr>
                      <m:t>=4 </m:t>
                    </m:r>
                    <m:r>
                      <m:rPr>
                        <m:nor/>
                      </m:rPr>
                      <a:rPr lang="en-IN" sz="2400">
                        <a:latin typeface="Arial" panose="020B0604020202020204" pitchFamily="34" charset="0"/>
                        <a:cs typeface="Arial" panose="020B0604020202020204" pitchFamily="34" charset="0"/>
                      </a:rPr>
                      <m:t>years</m:t>
                    </m:r>
                  </m:oMath>
                </a14:m>
                <a:endParaRPr lang="en-US" sz="2400" dirty="0">
                  <a:solidFill>
                    <a:schemeClr val="accent1"/>
                  </a:solidFill>
                  <a:latin typeface="Arial" panose="020B0604020202020204" pitchFamily="34" charset="0"/>
                  <a:cs typeface="Arial" panose="020B0604020202020204" pitchFamily="34" charset="0"/>
                </a:endParaRPr>
              </a:p>
            </p:txBody>
          </p:sp>
        </mc:Choice>
        <mc:Fallback xmlns="">
          <p:sp>
            <p:nvSpPr>
              <p:cNvPr id="3" name="Content Placeholder 2">
                <a:extLst>
                  <a:ext uri="{FF2B5EF4-FFF2-40B4-BE49-F238E27FC236}">
                    <a16:creationId xmlns:a16="http://schemas.microsoft.com/office/drawing/2014/main" id="{A72C9E36-B70B-46C9-997A-F4D7C97AA8D8}"/>
                  </a:ext>
                </a:extLst>
              </p:cNvPr>
              <p:cNvSpPr>
                <a:spLocks noGrp="1" noRot="1" noChangeAspect="1" noMove="1" noResize="1" noEditPoints="1" noAdjustHandles="1" noChangeArrowheads="1" noChangeShapeType="1" noTextEdit="1"/>
              </p:cNvSpPr>
              <p:nvPr>
                <p:ph type="body" sz="half" idx="4294967295"/>
              </p:nvPr>
            </p:nvSpPr>
            <p:spPr>
              <a:xfrm>
                <a:off x="838199" y="887506"/>
                <a:ext cx="10403541" cy="4981482"/>
              </a:xfrm>
              <a:blipFill>
                <a:blip r:embed="rId2"/>
                <a:stretch>
                  <a:fillRect l="-469"/>
                </a:stretch>
              </a:blipFill>
            </p:spPr>
            <p:txBody>
              <a:bodyPr/>
              <a:lstStyle/>
              <a:p>
                <a:r>
                  <a:rPr lang="en-IN">
                    <a:noFill/>
                  </a:rPr>
                  <a:t> </a:t>
                </a:r>
              </a:p>
            </p:txBody>
          </p:sp>
        </mc:Fallback>
      </mc:AlternateContent>
      <p:pic>
        <p:nvPicPr>
          <p:cNvPr id="5" name="Picture 4">
            <a:extLst>
              <a:ext uri="{FF2B5EF4-FFF2-40B4-BE49-F238E27FC236}">
                <a16:creationId xmlns:a16="http://schemas.microsoft.com/office/drawing/2014/main" id="{1A8F9582-68CE-431C-8B72-88E14F073978}"/>
              </a:ext>
            </a:extLst>
          </p:cNvPr>
          <p:cNvPicPr>
            <a:picLocks noChangeAspect="1"/>
          </p:cNvPicPr>
          <p:nvPr/>
        </p:nvPicPr>
        <p:blipFill>
          <a:blip r:embed="rId3"/>
          <a:stretch>
            <a:fillRect/>
          </a:stretch>
        </p:blipFill>
        <p:spPr>
          <a:xfrm>
            <a:off x="11027635" y="51275"/>
            <a:ext cx="966091" cy="746583"/>
          </a:xfrm>
          <a:prstGeom prst="rect">
            <a:avLst/>
          </a:prstGeom>
        </p:spPr>
      </p:pic>
      <p:sp>
        <p:nvSpPr>
          <p:cNvPr id="2" name="Slide Number Placeholder 1">
            <a:extLst>
              <a:ext uri="{FF2B5EF4-FFF2-40B4-BE49-F238E27FC236}">
                <a16:creationId xmlns:a16="http://schemas.microsoft.com/office/drawing/2014/main" id="{3EEE3E35-0D13-469A-9E0F-622ACCC7CC9A}"/>
              </a:ext>
            </a:extLst>
          </p:cNvPr>
          <p:cNvSpPr>
            <a:spLocks noGrp="1"/>
          </p:cNvSpPr>
          <p:nvPr>
            <p:ph type="sldNum" sz="quarter" idx="12"/>
          </p:nvPr>
        </p:nvSpPr>
        <p:spPr/>
        <p:txBody>
          <a:bodyPr/>
          <a:lstStyle/>
          <a:p>
            <a:fld id="{B7991F04-3566-4BB1-A8CB-A35BE8E11603}" type="slidenum">
              <a:rPr lang="en-IN" smtClean="0"/>
              <a:t>11</a:t>
            </a:fld>
            <a:endParaRPr lang="en-IN"/>
          </a:p>
        </p:txBody>
      </p:sp>
    </p:spTree>
    <p:extLst>
      <p:ext uri="{BB962C8B-B14F-4D97-AF65-F5344CB8AC3E}">
        <p14:creationId xmlns:p14="http://schemas.microsoft.com/office/powerpoint/2010/main" val="11854358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750F95C-005F-42A1-AD9B-6631B5ED5937}"/>
              </a:ext>
            </a:extLst>
          </p:cNvPr>
          <p:cNvSpPr>
            <a:spLocks noGrp="1"/>
          </p:cNvSpPr>
          <p:nvPr>
            <p:ph type="title"/>
          </p:nvPr>
        </p:nvSpPr>
        <p:spPr>
          <a:xfrm>
            <a:off x="748553" y="153146"/>
            <a:ext cx="10123235" cy="533867"/>
          </a:xfrm>
          <a:prstGeom prst="rect">
            <a:avLst/>
          </a:prstGeom>
          <a:solidFill>
            <a:schemeClr val="tx2">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br>
              <a:rPr lang="en-IN" sz="2400" dirty="0"/>
            </a:br>
            <a:r>
              <a:rPr lang="en-IN" sz="2400" dirty="0">
                <a:solidFill>
                  <a:schemeClr val="accent1"/>
                </a:solidFill>
                <a:latin typeface="Arial" panose="020B0604020202020204" pitchFamily="34" charset="0"/>
                <a:cs typeface="Arial" panose="020B0604020202020204" pitchFamily="34" charset="0"/>
              </a:rPr>
              <a:t>Advantages of Payback Period</a:t>
            </a:r>
            <a:br>
              <a:rPr lang="en-US" sz="3600" dirty="0">
                <a:solidFill>
                  <a:schemeClr val="accent1"/>
                </a:solidFill>
                <a:latin typeface="Arial" panose="020B0604020202020204" pitchFamily="34" charset="0"/>
                <a:cs typeface="Arial" panose="020B0604020202020204" pitchFamily="34" charset="0"/>
              </a:rPr>
            </a:br>
            <a:endParaRPr lang="en-IN" sz="2400" dirty="0">
              <a:solidFill>
                <a:schemeClr val="accent1"/>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A72C9E36-B70B-46C9-997A-F4D7C97AA8D8}"/>
              </a:ext>
            </a:extLst>
          </p:cNvPr>
          <p:cNvSpPr>
            <a:spLocks noGrp="1"/>
          </p:cNvSpPr>
          <p:nvPr>
            <p:ph type="body" sz="half" idx="4294967295"/>
          </p:nvPr>
        </p:nvSpPr>
        <p:spPr>
          <a:xfrm>
            <a:off x="838199" y="887506"/>
            <a:ext cx="10403541" cy="4981482"/>
          </a:xfrm>
        </p:spPr>
        <p:txBody>
          <a:bodyPr>
            <a:normAutofit/>
          </a:bodyPr>
          <a:lstStyle/>
          <a:p>
            <a:pPr>
              <a:lnSpc>
                <a:spcPct val="200000"/>
              </a:lnSpc>
              <a:buFont typeface="+mj-lt"/>
              <a:buAutoNum type="arabicPeriod"/>
            </a:pPr>
            <a:r>
              <a:rPr lang="en-US" sz="2000" dirty="0">
                <a:latin typeface="Arial" panose="020B0604020202020204" pitchFamily="34" charset="0"/>
                <a:cs typeface="Arial" panose="020B0604020202020204" pitchFamily="34" charset="0"/>
              </a:rPr>
              <a:t>Simple to calculate and understand.</a:t>
            </a:r>
          </a:p>
          <a:p>
            <a:pPr>
              <a:lnSpc>
                <a:spcPct val="200000"/>
              </a:lnSpc>
              <a:buFont typeface="+mj-lt"/>
              <a:buAutoNum type="arabicPeriod"/>
            </a:pPr>
            <a:r>
              <a:rPr lang="en-US" sz="2000" dirty="0">
                <a:latin typeface="Arial" panose="020B0604020202020204" pitchFamily="34" charset="0"/>
                <a:cs typeface="Arial" panose="020B0604020202020204" pitchFamily="34" charset="0"/>
              </a:rPr>
              <a:t>Emphasizes liquidity — useful for firms with cash flow concerns.</a:t>
            </a:r>
          </a:p>
          <a:p>
            <a:pPr>
              <a:lnSpc>
                <a:spcPct val="200000"/>
              </a:lnSpc>
              <a:buFont typeface="+mj-lt"/>
              <a:buAutoNum type="arabicPeriod"/>
            </a:pPr>
            <a:r>
              <a:rPr lang="en-US" sz="2000" dirty="0">
                <a:latin typeface="Arial" panose="020B0604020202020204" pitchFamily="34" charset="0"/>
                <a:cs typeface="Arial" panose="020B0604020202020204" pitchFamily="34" charset="0"/>
              </a:rPr>
              <a:t>Good for quick, preliminary screening of projects.</a:t>
            </a:r>
          </a:p>
          <a:p>
            <a:pPr>
              <a:lnSpc>
                <a:spcPct val="200000"/>
              </a:lnSpc>
              <a:buFont typeface="+mj-lt"/>
              <a:buAutoNum type="arabicPeriod"/>
            </a:pPr>
            <a:r>
              <a:rPr lang="en-US" sz="2000" dirty="0">
                <a:latin typeface="Arial" panose="020B0604020202020204" pitchFamily="34" charset="0"/>
                <a:cs typeface="Arial" panose="020B0604020202020204" pitchFamily="34" charset="0"/>
              </a:rPr>
              <a:t>Reduces risk by focusing on how quickly the investment is recovered.</a:t>
            </a:r>
          </a:p>
          <a:p>
            <a:pPr marL="0" indent="0">
              <a:lnSpc>
                <a:spcPct val="200000"/>
              </a:lnSpc>
              <a:buNone/>
            </a:pPr>
            <a:endParaRPr lang="en-US" sz="2000" dirty="0">
              <a:solidFill>
                <a:schemeClr val="accent1"/>
              </a:solidFill>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1A8F9582-68CE-431C-8B72-88E14F073978}"/>
              </a:ext>
            </a:extLst>
          </p:cNvPr>
          <p:cNvPicPr>
            <a:picLocks noChangeAspect="1"/>
          </p:cNvPicPr>
          <p:nvPr/>
        </p:nvPicPr>
        <p:blipFill>
          <a:blip r:embed="rId2"/>
          <a:stretch>
            <a:fillRect/>
          </a:stretch>
        </p:blipFill>
        <p:spPr>
          <a:xfrm>
            <a:off x="11027635" y="51275"/>
            <a:ext cx="966091" cy="746583"/>
          </a:xfrm>
          <a:prstGeom prst="rect">
            <a:avLst/>
          </a:prstGeom>
        </p:spPr>
      </p:pic>
      <p:sp>
        <p:nvSpPr>
          <p:cNvPr id="2" name="Slide Number Placeholder 1">
            <a:extLst>
              <a:ext uri="{FF2B5EF4-FFF2-40B4-BE49-F238E27FC236}">
                <a16:creationId xmlns:a16="http://schemas.microsoft.com/office/drawing/2014/main" id="{3EEE3E35-0D13-469A-9E0F-622ACCC7CC9A}"/>
              </a:ext>
            </a:extLst>
          </p:cNvPr>
          <p:cNvSpPr>
            <a:spLocks noGrp="1"/>
          </p:cNvSpPr>
          <p:nvPr>
            <p:ph type="sldNum" sz="quarter" idx="12"/>
          </p:nvPr>
        </p:nvSpPr>
        <p:spPr/>
        <p:txBody>
          <a:bodyPr/>
          <a:lstStyle/>
          <a:p>
            <a:fld id="{B7991F04-3566-4BB1-A8CB-A35BE8E11603}" type="slidenum">
              <a:rPr lang="en-IN" smtClean="0"/>
              <a:t>12</a:t>
            </a:fld>
            <a:endParaRPr lang="en-IN"/>
          </a:p>
        </p:txBody>
      </p:sp>
    </p:spTree>
    <p:extLst>
      <p:ext uri="{BB962C8B-B14F-4D97-AF65-F5344CB8AC3E}">
        <p14:creationId xmlns:p14="http://schemas.microsoft.com/office/powerpoint/2010/main" val="7897620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750F95C-005F-42A1-AD9B-6631B5ED5937}"/>
              </a:ext>
            </a:extLst>
          </p:cNvPr>
          <p:cNvSpPr>
            <a:spLocks noGrp="1"/>
          </p:cNvSpPr>
          <p:nvPr>
            <p:ph type="title"/>
          </p:nvPr>
        </p:nvSpPr>
        <p:spPr>
          <a:xfrm>
            <a:off x="658906" y="263991"/>
            <a:ext cx="10123235" cy="533867"/>
          </a:xfrm>
          <a:prstGeom prst="rect">
            <a:avLst/>
          </a:prstGeom>
          <a:solidFill>
            <a:schemeClr val="tx2">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r>
              <a:rPr lang="en-IN" sz="2400" dirty="0">
                <a:solidFill>
                  <a:schemeClr val="accent1"/>
                </a:solidFill>
                <a:latin typeface="Arial" panose="020B0604020202020204" pitchFamily="34" charset="0"/>
                <a:cs typeface="Arial" panose="020B0604020202020204" pitchFamily="34" charset="0"/>
              </a:rPr>
              <a:t>Disadvantages of Payback Period</a:t>
            </a:r>
          </a:p>
        </p:txBody>
      </p:sp>
      <p:pic>
        <p:nvPicPr>
          <p:cNvPr id="5" name="Picture 4">
            <a:extLst>
              <a:ext uri="{FF2B5EF4-FFF2-40B4-BE49-F238E27FC236}">
                <a16:creationId xmlns:a16="http://schemas.microsoft.com/office/drawing/2014/main" id="{1A8F9582-68CE-431C-8B72-88E14F073978}"/>
              </a:ext>
            </a:extLst>
          </p:cNvPr>
          <p:cNvPicPr>
            <a:picLocks noChangeAspect="1"/>
          </p:cNvPicPr>
          <p:nvPr/>
        </p:nvPicPr>
        <p:blipFill>
          <a:blip r:embed="rId2"/>
          <a:stretch>
            <a:fillRect/>
          </a:stretch>
        </p:blipFill>
        <p:spPr>
          <a:xfrm>
            <a:off x="11027635" y="51275"/>
            <a:ext cx="966091" cy="746583"/>
          </a:xfrm>
          <a:prstGeom prst="rect">
            <a:avLst/>
          </a:prstGeom>
        </p:spPr>
      </p:pic>
      <p:sp>
        <p:nvSpPr>
          <p:cNvPr id="2" name="Slide Number Placeholder 1">
            <a:extLst>
              <a:ext uri="{FF2B5EF4-FFF2-40B4-BE49-F238E27FC236}">
                <a16:creationId xmlns:a16="http://schemas.microsoft.com/office/drawing/2014/main" id="{3EEE3E35-0D13-469A-9E0F-622ACCC7CC9A}"/>
              </a:ext>
            </a:extLst>
          </p:cNvPr>
          <p:cNvSpPr>
            <a:spLocks noGrp="1"/>
          </p:cNvSpPr>
          <p:nvPr>
            <p:ph type="sldNum" sz="quarter" idx="12"/>
          </p:nvPr>
        </p:nvSpPr>
        <p:spPr/>
        <p:txBody>
          <a:bodyPr/>
          <a:lstStyle/>
          <a:p>
            <a:fld id="{B7991F04-3566-4BB1-A8CB-A35BE8E11603}" type="slidenum">
              <a:rPr lang="en-IN" smtClean="0"/>
              <a:t>13</a:t>
            </a:fld>
            <a:endParaRPr lang="en-IN"/>
          </a:p>
        </p:txBody>
      </p:sp>
      <p:graphicFrame>
        <p:nvGraphicFramePr>
          <p:cNvPr id="6" name="Table 5">
            <a:extLst>
              <a:ext uri="{FF2B5EF4-FFF2-40B4-BE49-F238E27FC236}">
                <a16:creationId xmlns:a16="http://schemas.microsoft.com/office/drawing/2014/main" id="{40E0FCB0-C786-481E-B868-AD39AFD5BB2E}"/>
              </a:ext>
            </a:extLst>
          </p:cNvPr>
          <p:cNvGraphicFramePr>
            <a:graphicFrameLocks noGrp="1"/>
          </p:cNvGraphicFramePr>
          <p:nvPr/>
        </p:nvGraphicFramePr>
        <p:xfrm>
          <a:off x="842682" y="1156447"/>
          <a:ext cx="10511118" cy="4114060"/>
        </p:xfrm>
        <a:graphic>
          <a:graphicData uri="http://schemas.openxmlformats.org/drawingml/2006/table">
            <a:tbl>
              <a:tblPr/>
              <a:tblGrid>
                <a:gridCol w="5253318">
                  <a:extLst>
                    <a:ext uri="{9D8B030D-6E8A-4147-A177-3AD203B41FA5}">
                      <a16:colId xmlns:a16="http://schemas.microsoft.com/office/drawing/2014/main" val="3505226107"/>
                    </a:ext>
                  </a:extLst>
                </a:gridCol>
                <a:gridCol w="5257800">
                  <a:extLst>
                    <a:ext uri="{9D8B030D-6E8A-4147-A177-3AD203B41FA5}">
                      <a16:colId xmlns:a16="http://schemas.microsoft.com/office/drawing/2014/main" val="1826652320"/>
                    </a:ext>
                  </a:extLst>
                </a:gridCol>
              </a:tblGrid>
              <a:tr h="620549">
                <a:tc>
                  <a:txBody>
                    <a:bodyPr/>
                    <a:lstStyle/>
                    <a:p>
                      <a:r>
                        <a:rPr lang="en-IN" sz="2000" dirty="0">
                          <a:solidFill>
                            <a:schemeClr val="accent1"/>
                          </a:solidFill>
                          <a:latin typeface="Arial" panose="020B0604020202020204" pitchFamily="34" charset="0"/>
                          <a:cs typeface="Arial" panose="020B0604020202020204" pitchFamily="34" charset="0"/>
                        </a:rPr>
                        <a:t>Weakness</a:t>
                      </a:r>
                    </a:p>
                  </a:txBody>
                  <a:tcPr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IN" sz="2000" dirty="0">
                          <a:solidFill>
                            <a:schemeClr val="accent1"/>
                          </a:solidFill>
                          <a:latin typeface="Arial" panose="020B0604020202020204" pitchFamily="34" charset="0"/>
                          <a:cs typeface="Arial" panose="020B0604020202020204" pitchFamily="34" charset="0"/>
                        </a:rPr>
                        <a:t>Explanation</a:t>
                      </a:r>
                    </a:p>
                  </a:txBody>
                  <a:tcPr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35768164"/>
                  </a:ext>
                </a:extLst>
              </a:tr>
              <a:tr h="1085961">
                <a:tc>
                  <a:txBody>
                    <a:bodyPr/>
                    <a:lstStyle/>
                    <a:p>
                      <a:r>
                        <a:rPr lang="en-US" sz="2000" dirty="0">
                          <a:latin typeface="Arial" panose="020B0604020202020204" pitchFamily="34" charset="0"/>
                          <a:cs typeface="Arial" panose="020B0604020202020204" pitchFamily="34" charset="0"/>
                        </a:rPr>
                        <a:t>Ignores Time Value of Money</a:t>
                      </a:r>
                    </a:p>
                  </a:txBody>
                  <a:tcPr anchor="ctr">
                    <a:lnL>
                      <a:noFill/>
                    </a:lnL>
                    <a:lnR>
                      <a:noFill/>
                    </a:lnR>
                    <a:lnT w="12700" cap="flat" cmpd="sng" algn="ctr">
                      <a:solidFill>
                        <a:schemeClr val="tx1"/>
                      </a:solidFill>
                      <a:prstDash val="solid"/>
                      <a:round/>
                      <a:headEnd type="none" w="med" len="med"/>
                      <a:tailEnd type="none" w="med" len="med"/>
                    </a:lnT>
                    <a:lnB>
                      <a:noFill/>
                    </a:lnB>
                  </a:tcPr>
                </a:tc>
                <a:tc>
                  <a:txBody>
                    <a:bodyPr/>
                    <a:lstStyle/>
                    <a:p>
                      <a:r>
                        <a:rPr lang="en-IN" sz="2000" b="0" i="0" kern="1200" dirty="0">
                          <a:solidFill>
                            <a:schemeClr val="tx1"/>
                          </a:solidFill>
                          <a:effectLst/>
                          <a:latin typeface="+mn-lt"/>
                          <a:ea typeface="+mn-ea"/>
                          <a:cs typeface="+mn-cs"/>
                        </a:rPr>
                        <a:t>₹</a:t>
                      </a:r>
                      <a:r>
                        <a:rPr lang="en-US" sz="2000" dirty="0">
                          <a:latin typeface="Arial" panose="020B0604020202020204" pitchFamily="34" charset="0"/>
                          <a:cs typeface="Arial" panose="020B0604020202020204" pitchFamily="34" charset="0"/>
                        </a:rPr>
                        <a:t>1 today ≠ </a:t>
                      </a:r>
                      <a:r>
                        <a:rPr lang="en-IN" sz="2000" b="0" i="0" kern="1200" dirty="0">
                          <a:solidFill>
                            <a:schemeClr val="tx1"/>
                          </a:solidFill>
                          <a:effectLst/>
                          <a:latin typeface="+mn-lt"/>
                          <a:ea typeface="+mn-ea"/>
                          <a:cs typeface="+mn-cs"/>
                        </a:rPr>
                        <a:t>₹</a:t>
                      </a:r>
                      <a:r>
                        <a:rPr lang="en-US" sz="2000" dirty="0">
                          <a:latin typeface="Arial" panose="020B0604020202020204" pitchFamily="34" charset="0"/>
                          <a:cs typeface="Arial" panose="020B0604020202020204" pitchFamily="34" charset="0"/>
                        </a:rPr>
                        <a:t>1 in future — not considered in basic payback.</a:t>
                      </a:r>
                    </a:p>
                  </a:txBody>
                  <a:tcPr anchor="ctr">
                    <a:lnL>
                      <a:noFill/>
                    </a:lnL>
                    <a:lnR>
                      <a:noFill/>
                    </a:lnR>
                    <a:lnT w="12700" cap="flat" cmpd="sng" algn="ctr">
                      <a:solidFill>
                        <a:schemeClr val="tx1"/>
                      </a:solidFill>
                      <a:prstDash val="solid"/>
                      <a:round/>
                      <a:headEnd type="none" w="med" len="med"/>
                      <a:tailEnd type="none" w="med" len="med"/>
                    </a:lnT>
                    <a:lnB>
                      <a:noFill/>
                    </a:lnB>
                  </a:tcPr>
                </a:tc>
                <a:extLst>
                  <a:ext uri="{0D108BD9-81ED-4DB2-BD59-A6C34878D82A}">
                    <a16:rowId xmlns:a16="http://schemas.microsoft.com/office/drawing/2014/main" val="3136550677"/>
                  </a:ext>
                </a:extLst>
              </a:tr>
              <a:tr h="620549">
                <a:tc>
                  <a:txBody>
                    <a:bodyPr/>
                    <a:lstStyle/>
                    <a:p>
                      <a:r>
                        <a:rPr lang="en-US" sz="2000" dirty="0">
                          <a:latin typeface="Arial" panose="020B0604020202020204" pitchFamily="34" charset="0"/>
                          <a:cs typeface="Arial" panose="020B0604020202020204" pitchFamily="34" charset="0"/>
                        </a:rPr>
                        <a:t>Ignores Cash Flows After Payback</a:t>
                      </a:r>
                    </a:p>
                  </a:txBody>
                  <a:tcPr anchor="ctr">
                    <a:lnL>
                      <a:noFill/>
                    </a:lnL>
                    <a:lnR>
                      <a:noFill/>
                    </a:lnR>
                    <a:lnT>
                      <a:noFill/>
                    </a:lnT>
                    <a:lnB>
                      <a:noFill/>
                    </a:lnB>
                  </a:tcPr>
                </a:tc>
                <a:tc>
                  <a:txBody>
                    <a:bodyPr/>
                    <a:lstStyle/>
                    <a:p>
                      <a:r>
                        <a:rPr lang="en-IN" sz="2000" dirty="0">
                          <a:latin typeface="Arial" panose="020B0604020202020204" pitchFamily="34" charset="0"/>
                          <a:cs typeface="Arial" panose="020B0604020202020204" pitchFamily="34" charset="0"/>
                        </a:rPr>
                        <a:t>Doesn’t consider long-term profitability.</a:t>
                      </a:r>
                    </a:p>
                  </a:txBody>
                  <a:tcPr anchor="ctr">
                    <a:lnL>
                      <a:noFill/>
                    </a:lnL>
                    <a:lnR>
                      <a:noFill/>
                    </a:lnR>
                    <a:lnT>
                      <a:noFill/>
                    </a:lnT>
                    <a:lnB>
                      <a:noFill/>
                    </a:lnB>
                  </a:tcPr>
                </a:tc>
                <a:extLst>
                  <a:ext uri="{0D108BD9-81ED-4DB2-BD59-A6C34878D82A}">
                    <a16:rowId xmlns:a16="http://schemas.microsoft.com/office/drawing/2014/main" val="1626988205"/>
                  </a:ext>
                </a:extLst>
              </a:tr>
              <a:tr h="1085961">
                <a:tc>
                  <a:txBody>
                    <a:bodyPr/>
                    <a:lstStyle/>
                    <a:p>
                      <a:r>
                        <a:rPr lang="en-IN" sz="2000" dirty="0">
                          <a:latin typeface="Arial" panose="020B0604020202020204" pitchFamily="34" charset="0"/>
                          <a:cs typeface="Arial" panose="020B0604020202020204" pitchFamily="34" charset="0"/>
                        </a:rPr>
                        <a:t>Arbitrary Benchmark</a:t>
                      </a:r>
                    </a:p>
                  </a:txBody>
                  <a:tcPr anchor="ctr">
                    <a:lnL>
                      <a:noFill/>
                    </a:lnL>
                    <a:lnR>
                      <a:noFill/>
                    </a:lnR>
                    <a:lnT>
                      <a:noFill/>
                    </a:lnT>
                    <a:lnB>
                      <a:noFill/>
                    </a:lnB>
                  </a:tcPr>
                </a:tc>
                <a:tc>
                  <a:txBody>
                    <a:bodyPr/>
                    <a:lstStyle/>
                    <a:p>
                      <a:r>
                        <a:rPr lang="en-US" sz="2000" dirty="0">
                          <a:latin typeface="Arial" panose="020B0604020202020204" pitchFamily="34" charset="0"/>
                          <a:cs typeface="Arial" panose="020B0604020202020204" pitchFamily="34" charset="0"/>
                        </a:rPr>
                        <a:t>Target payback period may not reflect actual risk or opportunity cost.</a:t>
                      </a:r>
                    </a:p>
                  </a:txBody>
                  <a:tcPr anchor="ctr">
                    <a:lnL>
                      <a:noFill/>
                    </a:lnL>
                    <a:lnR>
                      <a:noFill/>
                    </a:lnR>
                    <a:lnT>
                      <a:noFill/>
                    </a:lnT>
                    <a:lnB>
                      <a:noFill/>
                    </a:lnB>
                  </a:tcPr>
                </a:tc>
                <a:extLst>
                  <a:ext uri="{0D108BD9-81ED-4DB2-BD59-A6C34878D82A}">
                    <a16:rowId xmlns:a16="http://schemas.microsoft.com/office/drawing/2014/main" val="2540582607"/>
                  </a:ext>
                </a:extLst>
              </a:tr>
              <a:tr h="620549">
                <a:tc>
                  <a:txBody>
                    <a:bodyPr/>
                    <a:lstStyle/>
                    <a:p>
                      <a:r>
                        <a:rPr lang="en-US" sz="2000" dirty="0">
                          <a:latin typeface="Arial" panose="020B0604020202020204" pitchFamily="34" charset="0"/>
                          <a:cs typeface="Arial" panose="020B0604020202020204" pitchFamily="34" charset="0"/>
                        </a:rPr>
                        <a:t>Not Ideal for Strategic or Long-Term Projects</a:t>
                      </a:r>
                    </a:p>
                  </a:txBody>
                  <a:tcPr anchor="ctr">
                    <a:lnL>
                      <a:noFill/>
                    </a:lnL>
                    <a:lnR>
                      <a:noFill/>
                    </a:lnR>
                    <a:lnT>
                      <a:noFill/>
                    </a:lnT>
                    <a:lnB>
                      <a:noFill/>
                    </a:lnB>
                  </a:tcPr>
                </a:tc>
                <a:tc>
                  <a:txBody>
                    <a:bodyPr/>
                    <a:lstStyle/>
                    <a:p>
                      <a:r>
                        <a:rPr lang="en-US" sz="2000" dirty="0">
                          <a:latin typeface="Arial" panose="020B0604020202020204" pitchFamily="34" charset="0"/>
                          <a:cs typeface="Arial" panose="020B0604020202020204" pitchFamily="34" charset="0"/>
                        </a:rPr>
                        <a:t>Can lead to rejecting valuable long-term investments.</a:t>
                      </a:r>
                    </a:p>
                  </a:txBody>
                  <a:tcPr anchor="ctr">
                    <a:lnL>
                      <a:noFill/>
                    </a:lnL>
                    <a:lnR>
                      <a:noFill/>
                    </a:lnR>
                    <a:lnT>
                      <a:noFill/>
                    </a:lnT>
                    <a:lnB>
                      <a:noFill/>
                    </a:lnB>
                  </a:tcPr>
                </a:tc>
                <a:extLst>
                  <a:ext uri="{0D108BD9-81ED-4DB2-BD59-A6C34878D82A}">
                    <a16:rowId xmlns:a16="http://schemas.microsoft.com/office/drawing/2014/main" val="69679385"/>
                  </a:ext>
                </a:extLst>
              </a:tr>
            </a:tbl>
          </a:graphicData>
        </a:graphic>
      </p:graphicFrame>
    </p:spTree>
    <p:extLst>
      <p:ext uri="{BB962C8B-B14F-4D97-AF65-F5344CB8AC3E}">
        <p14:creationId xmlns:p14="http://schemas.microsoft.com/office/powerpoint/2010/main" val="38508404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750F95C-005F-42A1-AD9B-6631B5ED5937}"/>
              </a:ext>
            </a:extLst>
          </p:cNvPr>
          <p:cNvSpPr>
            <a:spLocks noGrp="1"/>
          </p:cNvSpPr>
          <p:nvPr>
            <p:ph type="title"/>
          </p:nvPr>
        </p:nvSpPr>
        <p:spPr>
          <a:xfrm>
            <a:off x="748553" y="153146"/>
            <a:ext cx="10123235" cy="533867"/>
          </a:xfrm>
          <a:prstGeom prst="rect">
            <a:avLst/>
          </a:prstGeom>
          <a:solidFill>
            <a:schemeClr val="tx2">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r>
              <a:rPr lang="en-IN" sz="2400" dirty="0">
                <a:solidFill>
                  <a:schemeClr val="accent1"/>
                </a:solidFill>
                <a:latin typeface="Arial" panose="020B0604020202020204" pitchFamily="34" charset="0"/>
                <a:cs typeface="Arial" panose="020B0604020202020204" pitchFamily="34" charset="0"/>
              </a:rPr>
              <a:t>Summary</a:t>
            </a:r>
          </a:p>
        </p:txBody>
      </p:sp>
      <p:sp>
        <p:nvSpPr>
          <p:cNvPr id="3" name="Content Placeholder 2">
            <a:extLst>
              <a:ext uri="{FF2B5EF4-FFF2-40B4-BE49-F238E27FC236}">
                <a16:creationId xmlns:a16="http://schemas.microsoft.com/office/drawing/2014/main" id="{A72C9E36-B70B-46C9-997A-F4D7C97AA8D8}"/>
              </a:ext>
            </a:extLst>
          </p:cNvPr>
          <p:cNvSpPr>
            <a:spLocks noGrp="1"/>
          </p:cNvSpPr>
          <p:nvPr>
            <p:ph type="body" sz="half" idx="4294967295"/>
          </p:nvPr>
        </p:nvSpPr>
        <p:spPr>
          <a:xfrm>
            <a:off x="838199" y="887506"/>
            <a:ext cx="10403541" cy="4981482"/>
          </a:xfrm>
        </p:spPr>
        <p:txBody>
          <a:bodyPr>
            <a:normAutofit/>
          </a:bodyPr>
          <a:lstStyle/>
          <a:p>
            <a:pPr marL="342900" indent="-342900">
              <a:lnSpc>
                <a:spcPct val="200000"/>
              </a:lnSpc>
              <a:buFont typeface="+mj-lt"/>
              <a:buAutoNum type="arabicPeriod"/>
            </a:pPr>
            <a:endParaRPr lang="en-US" sz="1400" dirty="0"/>
          </a:p>
          <a:p>
            <a:pPr marL="0" indent="0">
              <a:lnSpc>
                <a:spcPct val="200000"/>
              </a:lnSpc>
              <a:buNone/>
            </a:pPr>
            <a:endParaRPr lang="en-US" sz="2000" dirty="0">
              <a:solidFill>
                <a:schemeClr val="accent1"/>
              </a:solidFill>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1A8F9582-68CE-431C-8B72-88E14F073978}"/>
              </a:ext>
            </a:extLst>
          </p:cNvPr>
          <p:cNvPicPr>
            <a:picLocks noChangeAspect="1"/>
          </p:cNvPicPr>
          <p:nvPr/>
        </p:nvPicPr>
        <p:blipFill>
          <a:blip r:embed="rId2"/>
          <a:stretch>
            <a:fillRect/>
          </a:stretch>
        </p:blipFill>
        <p:spPr>
          <a:xfrm>
            <a:off x="11027635" y="51275"/>
            <a:ext cx="966091" cy="746583"/>
          </a:xfrm>
          <a:prstGeom prst="rect">
            <a:avLst/>
          </a:prstGeom>
        </p:spPr>
      </p:pic>
      <p:sp>
        <p:nvSpPr>
          <p:cNvPr id="2" name="Slide Number Placeholder 1">
            <a:extLst>
              <a:ext uri="{FF2B5EF4-FFF2-40B4-BE49-F238E27FC236}">
                <a16:creationId xmlns:a16="http://schemas.microsoft.com/office/drawing/2014/main" id="{3EEE3E35-0D13-469A-9E0F-622ACCC7CC9A}"/>
              </a:ext>
            </a:extLst>
          </p:cNvPr>
          <p:cNvSpPr>
            <a:spLocks noGrp="1"/>
          </p:cNvSpPr>
          <p:nvPr>
            <p:ph type="sldNum" sz="quarter" idx="12"/>
          </p:nvPr>
        </p:nvSpPr>
        <p:spPr/>
        <p:txBody>
          <a:bodyPr/>
          <a:lstStyle/>
          <a:p>
            <a:fld id="{B7991F04-3566-4BB1-A8CB-A35BE8E11603}" type="slidenum">
              <a:rPr lang="en-IN" smtClean="0"/>
              <a:t>14</a:t>
            </a:fld>
            <a:endParaRPr lang="en-IN"/>
          </a:p>
        </p:txBody>
      </p:sp>
      <p:graphicFrame>
        <p:nvGraphicFramePr>
          <p:cNvPr id="6" name="Table 5">
            <a:extLst>
              <a:ext uri="{FF2B5EF4-FFF2-40B4-BE49-F238E27FC236}">
                <a16:creationId xmlns:a16="http://schemas.microsoft.com/office/drawing/2014/main" id="{4018A614-6024-4BD6-B318-5FC84169FA7E}"/>
              </a:ext>
            </a:extLst>
          </p:cNvPr>
          <p:cNvGraphicFramePr>
            <a:graphicFrameLocks noGrp="1"/>
          </p:cNvGraphicFramePr>
          <p:nvPr/>
        </p:nvGraphicFramePr>
        <p:xfrm>
          <a:off x="2008094" y="989012"/>
          <a:ext cx="7198660" cy="4434634"/>
        </p:xfrm>
        <a:graphic>
          <a:graphicData uri="http://schemas.openxmlformats.org/drawingml/2006/table">
            <a:tbl>
              <a:tblPr/>
              <a:tblGrid>
                <a:gridCol w="3599330">
                  <a:extLst>
                    <a:ext uri="{9D8B030D-6E8A-4147-A177-3AD203B41FA5}">
                      <a16:colId xmlns:a16="http://schemas.microsoft.com/office/drawing/2014/main" val="963046328"/>
                    </a:ext>
                  </a:extLst>
                </a:gridCol>
                <a:gridCol w="3599330">
                  <a:extLst>
                    <a:ext uri="{9D8B030D-6E8A-4147-A177-3AD203B41FA5}">
                      <a16:colId xmlns:a16="http://schemas.microsoft.com/office/drawing/2014/main" val="2383156181"/>
                    </a:ext>
                  </a:extLst>
                </a:gridCol>
              </a:tblGrid>
              <a:tr h="659459">
                <a:tc>
                  <a:txBody>
                    <a:bodyPr/>
                    <a:lstStyle/>
                    <a:p>
                      <a:r>
                        <a:rPr lang="en-IN" sz="2000" dirty="0">
                          <a:solidFill>
                            <a:schemeClr val="accent1"/>
                          </a:solidFill>
                          <a:latin typeface="Arial" panose="020B0604020202020204" pitchFamily="34" charset="0"/>
                          <a:cs typeface="Arial" panose="020B0604020202020204" pitchFamily="34" charset="0"/>
                        </a:rPr>
                        <a:t>Feature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IN" sz="2000" dirty="0">
                          <a:solidFill>
                            <a:schemeClr val="accent1"/>
                          </a:solidFill>
                          <a:latin typeface="Arial" panose="020B0604020202020204" pitchFamily="34" charset="0"/>
                          <a:cs typeface="Arial" panose="020B0604020202020204" pitchFamily="34" charset="0"/>
                        </a:rPr>
                        <a:t>Payback Period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61145677"/>
                  </a:ext>
                </a:extLst>
              </a:tr>
              <a:tr h="755035">
                <a:tc>
                  <a:txBody>
                    <a:bodyPr/>
                    <a:lstStyle/>
                    <a:p>
                      <a:r>
                        <a:rPr lang="en-IN" sz="2000" dirty="0">
                          <a:latin typeface="Arial" panose="020B0604020202020204" pitchFamily="34" charset="0"/>
                          <a:cs typeface="Arial" panose="020B0604020202020204" pitchFamily="34" charset="0"/>
                        </a:rPr>
                        <a:t>Focus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IN" sz="2000">
                          <a:latin typeface="Arial" panose="020B0604020202020204" pitchFamily="34" charset="0"/>
                          <a:cs typeface="Arial" panose="020B0604020202020204" pitchFamily="34" charset="0"/>
                        </a:rPr>
                        <a:t>Liquidity / Risk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06879019"/>
                  </a:ext>
                </a:extLst>
              </a:tr>
              <a:tr h="755035">
                <a:tc>
                  <a:txBody>
                    <a:bodyPr/>
                    <a:lstStyle/>
                    <a:p>
                      <a:r>
                        <a:rPr lang="en-IN" sz="2000" dirty="0">
                          <a:latin typeface="Arial" panose="020B0604020202020204" pitchFamily="34" charset="0"/>
                          <a:cs typeface="Arial" panose="020B0604020202020204" pitchFamily="34" charset="0"/>
                        </a:rPr>
                        <a:t>Easy to Use?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IN" sz="2000" dirty="0">
                          <a:latin typeface="Arial" panose="020B0604020202020204" pitchFamily="34" charset="0"/>
                          <a:cs typeface="Arial" panose="020B0604020202020204" pitchFamily="34" charset="0"/>
                        </a:rPr>
                        <a:t> Yes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56014019"/>
                  </a:ext>
                </a:extLst>
              </a:tr>
              <a:tr h="755035">
                <a:tc>
                  <a:txBody>
                    <a:bodyPr/>
                    <a:lstStyle/>
                    <a:p>
                      <a:r>
                        <a:rPr lang="en-IN" sz="2000">
                          <a:latin typeface="Arial" panose="020B0604020202020204" pitchFamily="34" charset="0"/>
                          <a:cs typeface="Arial" panose="020B0604020202020204" pitchFamily="34" charset="0"/>
                        </a:rPr>
                        <a:t>Considers TVM?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IN" sz="2000" dirty="0">
                          <a:latin typeface="Arial" panose="020B0604020202020204" pitchFamily="34" charset="0"/>
                          <a:cs typeface="Arial" panose="020B0604020202020204" pitchFamily="34" charset="0"/>
                        </a:rPr>
                        <a:t> No (Yes if discounted)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08992530"/>
                  </a:ext>
                </a:extLst>
              </a:tr>
              <a:tr h="755035">
                <a:tc>
                  <a:txBody>
                    <a:bodyPr/>
                    <a:lstStyle/>
                    <a:p>
                      <a:r>
                        <a:rPr lang="en-IN" sz="2000">
                          <a:latin typeface="Arial" panose="020B0604020202020204" pitchFamily="34" charset="0"/>
                          <a:cs typeface="Arial" panose="020B0604020202020204" pitchFamily="34" charset="0"/>
                        </a:rPr>
                        <a:t>Long-Term Focus?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IN" sz="2000" dirty="0">
                          <a:latin typeface="Arial" panose="020B0604020202020204" pitchFamily="34" charset="0"/>
                          <a:cs typeface="Arial" panose="020B0604020202020204" pitchFamily="34" charset="0"/>
                        </a:rPr>
                        <a:t> No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78177234"/>
                  </a:ext>
                </a:extLst>
              </a:tr>
              <a:tr h="755035">
                <a:tc>
                  <a:txBody>
                    <a:bodyPr/>
                    <a:lstStyle/>
                    <a:p>
                      <a:r>
                        <a:rPr lang="en-IN" sz="2000">
                          <a:latin typeface="Arial" panose="020B0604020202020204" pitchFamily="34" charset="0"/>
                          <a:cs typeface="Arial" panose="020B0604020202020204" pitchFamily="34" charset="0"/>
                        </a:rPr>
                        <a:t>Decision Rule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IN" sz="2000" dirty="0">
                          <a:latin typeface="Arial" panose="020B0604020202020204" pitchFamily="34" charset="0"/>
                          <a:cs typeface="Arial" panose="020B0604020202020204" pitchFamily="34" charset="0"/>
                        </a:rPr>
                        <a:t>Accept if payback ≤ </a:t>
                      </a:r>
                      <a:r>
                        <a:rPr lang="en-IN" sz="2000" dirty="0" err="1">
                          <a:latin typeface="Arial" panose="020B0604020202020204" pitchFamily="34" charset="0"/>
                          <a:cs typeface="Arial" panose="020B0604020202020204" pitchFamily="34" charset="0"/>
                        </a:rPr>
                        <a:t>cutoff</a:t>
                      </a:r>
                      <a:endParaRPr lang="en-IN" sz="20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38058425"/>
                  </a:ext>
                </a:extLst>
              </a:tr>
            </a:tbl>
          </a:graphicData>
        </a:graphic>
      </p:graphicFrame>
    </p:spTree>
    <p:extLst>
      <p:ext uri="{BB962C8B-B14F-4D97-AF65-F5344CB8AC3E}">
        <p14:creationId xmlns:p14="http://schemas.microsoft.com/office/powerpoint/2010/main" val="20191848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750F95C-005F-42A1-AD9B-6631B5ED5937}"/>
              </a:ext>
            </a:extLst>
          </p:cNvPr>
          <p:cNvSpPr>
            <a:spLocks noGrp="1"/>
          </p:cNvSpPr>
          <p:nvPr>
            <p:ph type="title"/>
          </p:nvPr>
        </p:nvSpPr>
        <p:spPr>
          <a:xfrm>
            <a:off x="730623" y="153146"/>
            <a:ext cx="10123235" cy="533867"/>
          </a:xfrm>
          <a:prstGeom prst="rect">
            <a:avLst/>
          </a:prstGeom>
          <a:solidFill>
            <a:schemeClr val="tx2">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br>
              <a:rPr lang="en-IN" sz="1050" dirty="0"/>
            </a:br>
            <a:br>
              <a:rPr lang="en-IN" sz="1050" dirty="0"/>
            </a:br>
            <a:r>
              <a:rPr lang="en-IN" sz="2400" dirty="0">
                <a:solidFill>
                  <a:schemeClr val="accent1"/>
                </a:solidFill>
                <a:latin typeface="Arial" panose="020B0604020202020204" pitchFamily="34" charset="0"/>
                <a:cs typeface="Arial" panose="020B0604020202020204" pitchFamily="34" charset="0"/>
              </a:rPr>
              <a:t>Discounted Payback Period</a:t>
            </a:r>
            <a:br>
              <a:rPr lang="en-IN" sz="2400" dirty="0"/>
            </a:br>
            <a:endParaRPr lang="en-IN" sz="2400" dirty="0">
              <a:solidFill>
                <a:schemeClr val="accent1"/>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A72C9E36-B70B-46C9-997A-F4D7C97AA8D8}"/>
              </a:ext>
            </a:extLst>
          </p:cNvPr>
          <p:cNvSpPr>
            <a:spLocks noGrp="1"/>
          </p:cNvSpPr>
          <p:nvPr>
            <p:ph type="body" sz="half" idx="4294967295"/>
          </p:nvPr>
        </p:nvSpPr>
        <p:spPr>
          <a:xfrm>
            <a:off x="838199" y="887506"/>
            <a:ext cx="10403541" cy="4981482"/>
          </a:xfrm>
        </p:spPr>
        <p:txBody>
          <a:bodyPr>
            <a:normAutofit/>
          </a:bodyPr>
          <a:lstStyle/>
          <a:p>
            <a:pPr algn="just">
              <a:lnSpc>
                <a:spcPct val="200000"/>
              </a:lnSpc>
            </a:pPr>
            <a:r>
              <a:rPr lang="en-US" sz="1900" dirty="0">
                <a:latin typeface="Arial" panose="020B0604020202020204" pitchFamily="34" charset="0"/>
                <a:cs typeface="Arial" panose="020B0604020202020204" pitchFamily="34" charset="0"/>
              </a:rPr>
              <a:t>The Discounted Payback Period is the amount of time it takes for the present value of an investment’s cash inflows to recover the initial investment.</a:t>
            </a:r>
          </a:p>
          <a:p>
            <a:pPr algn="just">
              <a:lnSpc>
                <a:spcPct val="200000"/>
              </a:lnSpc>
            </a:pPr>
            <a:r>
              <a:rPr lang="en-US" sz="1900" dirty="0">
                <a:latin typeface="Arial" panose="020B0604020202020204" pitchFamily="34" charset="0"/>
                <a:cs typeface="Arial" panose="020B0604020202020204" pitchFamily="34" charset="0"/>
              </a:rPr>
              <a:t>Unlike the regular payback period, it discounts each cash flow using a required rate of return or cost of capital before summing.</a:t>
            </a:r>
          </a:p>
          <a:p>
            <a:pPr marL="0" indent="0">
              <a:lnSpc>
                <a:spcPct val="160000"/>
              </a:lnSpc>
              <a:buNone/>
            </a:pPr>
            <a:r>
              <a:rPr lang="en-US" sz="1900" dirty="0">
                <a:solidFill>
                  <a:schemeClr val="accent1"/>
                </a:solidFill>
                <a:latin typeface="Arial" panose="020B0604020202020204" pitchFamily="34" charset="0"/>
                <a:cs typeface="Arial" panose="020B0604020202020204" pitchFamily="34" charset="0"/>
              </a:rPr>
              <a:t>How to Calculate Discounted Payback Period:</a:t>
            </a:r>
          </a:p>
          <a:p>
            <a:pPr marL="457200" indent="-457200">
              <a:lnSpc>
                <a:spcPct val="160000"/>
              </a:lnSpc>
              <a:buFont typeface="+mj-lt"/>
              <a:buAutoNum type="arabicPeriod"/>
            </a:pPr>
            <a:r>
              <a:rPr lang="en-US" sz="2000" dirty="0">
                <a:latin typeface="Arial" panose="020B0604020202020204" pitchFamily="34" charset="0"/>
                <a:cs typeface="Arial" panose="020B0604020202020204" pitchFamily="34" charset="0"/>
              </a:rPr>
              <a:t>Determine the discount rate (usually cost of capital).</a:t>
            </a:r>
            <a:endParaRPr lang="en-US" sz="2000" dirty="0">
              <a:solidFill>
                <a:schemeClr val="accent1"/>
              </a:solidFill>
              <a:latin typeface="Arial" panose="020B0604020202020204" pitchFamily="34" charset="0"/>
              <a:cs typeface="Arial" panose="020B0604020202020204" pitchFamily="34" charset="0"/>
            </a:endParaRPr>
          </a:p>
          <a:p>
            <a:pPr marL="457200" indent="-457200">
              <a:lnSpc>
                <a:spcPct val="160000"/>
              </a:lnSpc>
              <a:buFont typeface="+mj-lt"/>
              <a:buAutoNum type="arabicPeriod"/>
            </a:pPr>
            <a:r>
              <a:rPr lang="en-US" sz="2000" dirty="0">
                <a:latin typeface="Arial" panose="020B0604020202020204" pitchFamily="34" charset="0"/>
                <a:cs typeface="Arial" panose="020B0604020202020204" pitchFamily="34" charset="0"/>
              </a:rPr>
              <a:t>Calculate the present value (PV) of each cash inflow:</a:t>
            </a:r>
            <a:endParaRPr lang="en-US" sz="2000" dirty="0">
              <a:solidFill>
                <a:schemeClr val="accent1"/>
              </a:solidFill>
              <a:latin typeface="Arial" panose="020B0604020202020204" pitchFamily="34" charset="0"/>
              <a:cs typeface="Arial" panose="020B0604020202020204" pitchFamily="34" charset="0"/>
            </a:endParaRPr>
          </a:p>
          <a:p>
            <a:pPr marL="457200" indent="-457200" algn="just">
              <a:lnSpc>
                <a:spcPct val="200000"/>
              </a:lnSpc>
              <a:buFont typeface="+mj-lt"/>
              <a:buAutoNum type="arabicPeriod"/>
            </a:pPr>
            <a:endParaRPr lang="en-US" sz="2000" dirty="0">
              <a:latin typeface="Arial" panose="020B0604020202020204" pitchFamily="34" charset="0"/>
              <a:cs typeface="Arial" panose="020B0604020202020204" pitchFamily="34" charset="0"/>
            </a:endParaRPr>
          </a:p>
          <a:p>
            <a:pPr marL="0" indent="0">
              <a:lnSpc>
                <a:spcPct val="200000"/>
              </a:lnSpc>
              <a:buNone/>
            </a:pPr>
            <a:endParaRPr lang="en-US" sz="2000" dirty="0">
              <a:solidFill>
                <a:schemeClr val="accent1"/>
              </a:solidFill>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1A8F9582-68CE-431C-8B72-88E14F073978}"/>
              </a:ext>
            </a:extLst>
          </p:cNvPr>
          <p:cNvPicPr>
            <a:picLocks noChangeAspect="1"/>
          </p:cNvPicPr>
          <p:nvPr/>
        </p:nvPicPr>
        <p:blipFill>
          <a:blip r:embed="rId2"/>
          <a:stretch>
            <a:fillRect/>
          </a:stretch>
        </p:blipFill>
        <p:spPr>
          <a:xfrm>
            <a:off x="11027635" y="51275"/>
            <a:ext cx="966091" cy="746583"/>
          </a:xfrm>
          <a:prstGeom prst="rect">
            <a:avLst/>
          </a:prstGeom>
        </p:spPr>
      </p:pic>
      <p:sp>
        <p:nvSpPr>
          <p:cNvPr id="2" name="Slide Number Placeholder 1">
            <a:extLst>
              <a:ext uri="{FF2B5EF4-FFF2-40B4-BE49-F238E27FC236}">
                <a16:creationId xmlns:a16="http://schemas.microsoft.com/office/drawing/2014/main" id="{3EEE3E35-0D13-469A-9E0F-622ACCC7CC9A}"/>
              </a:ext>
            </a:extLst>
          </p:cNvPr>
          <p:cNvSpPr>
            <a:spLocks noGrp="1"/>
          </p:cNvSpPr>
          <p:nvPr>
            <p:ph type="sldNum" sz="quarter" idx="12"/>
          </p:nvPr>
        </p:nvSpPr>
        <p:spPr/>
        <p:txBody>
          <a:bodyPr/>
          <a:lstStyle/>
          <a:p>
            <a:fld id="{B7991F04-3566-4BB1-A8CB-A35BE8E11603}" type="slidenum">
              <a:rPr lang="en-IN" smtClean="0"/>
              <a:t>15</a:t>
            </a:fld>
            <a:endParaRPr lang="en-IN"/>
          </a:p>
        </p:txBody>
      </p:sp>
    </p:spTree>
    <p:extLst>
      <p:ext uri="{BB962C8B-B14F-4D97-AF65-F5344CB8AC3E}">
        <p14:creationId xmlns:p14="http://schemas.microsoft.com/office/powerpoint/2010/main" val="38950778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750F95C-005F-42A1-AD9B-6631B5ED5937}"/>
              </a:ext>
            </a:extLst>
          </p:cNvPr>
          <p:cNvSpPr>
            <a:spLocks noGrp="1"/>
          </p:cNvSpPr>
          <p:nvPr>
            <p:ph type="title"/>
          </p:nvPr>
        </p:nvSpPr>
        <p:spPr>
          <a:xfrm>
            <a:off x="730623" y="153146"/>
            <a:ext cx="10123235" cy="533867"/>
          </a:xfrm>
          <a:prstGeom prst="rect">
            <a:avLst/>
          </a:prstGeom>
          <a:solidFill>
            <a:schemeClr val="tx2">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br>
              <a:rPr lang="en-IN" sz="1050" dirty="0"/>
            </a:br>
            <a:br>
              <a:rPr lang="en-IN" sz="1050" dirty="0"/>
            </a:br>
            <a:r>
              <a:rPr lang="en-IN" sz="2400" dirty="0">
                <a:solidFill>
                  <a:schemeClr val="accent1"/>
                </a:solidFill>
                <a:latin typeface="Arial" panose="020B0604020202020204" pitchFamily="34" charset="0"/>
                <a:cs typeface="Arial" panose="020B0604020202020204" pitchFamily="34" charset="0"/>
              </a:rPr>
              <a:t>Discounted Payback Period</a:t>
            </a:r>
            <a:br>
              <a:rPr lang="en-IN" sz="2400" dirty="0"/>
            </a:br>
            <a:endParaRPr lang="en-IN" sz="2400" dirty="0">
              <a:solidFill>
                <a:schemeClr val="accent1"/>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72C9E36-B70B-46C9-997A-F4D7C97AA8D8}"/>
                  </a:ext>
                </a:extLst>
              </p:cNvPr>
              <p:cNvSpPr>
                <a:spLocks noGrp="1"/>
              </p:cNvSpPr>
              <p:nvPr>
                <p:ph type="body" sz="half" idx="4294967295"/>
              </p:nvPr>
            </p:nvSpPr>
            <p:spPr>
              <a:xfrm>
                <a:off x="838199" y="887506"/>
                <a:ext cx="10403541" cy="4981482"/>
              </a:xfrm>
            </p:spPr>
            <p:txBody>
              <a:bodyPr>
                <a:normAutofit fontScale="92500" lnSpcReduction="20000"/>
              </a:bodyPr>
              <a:lstStyle/>
              <a:p>
                <a:pPr marL="0" indent="0">
                  <a:lnSpc>
                    <a:spcPct val="160000"/>
                  </a:lnSpc>
                  <a:buNone/>
                </a:pPr>
                <a:r>
                  <a:rPr lang="en-US" sz="2000" dirty="0">
                    <a:solidFill>
                      <a:schemeClr val="accent1"/>
                    </a:solidFill>
                    <a:latin typeface="Arial" panose="020B0604020202020204" pitchFamily="34" charset="0"/>
                    <a:cs typeface="Arial" panose="020B0604020202020204" pitchFamily="34" charset="0"/>
                  </a:rPr>
                  <a:t>Basic Formula</a:t>
                </a:r>
                <a:r>
                  <a:rPr lang="en-US" sz="2200" dirty="0">
                    <a:latin typeface="Cambria Math" panose="02040503050406030204" pitchFamily="18" charset="0"/>
                    <a:ea typeface="Cambria Math" panose="02040503050406030204" pitchFamily="18" charset="0"/>
                    <a:cs typeface="Arial" panose="020B0604020202020204" pitchFamily="34" charset="0"/>
                  </a:rPr>
                  <a:t>:                  PV= </a:t>
                </a:r>
                <a14:m>
                  <m:oMath xmlns:m="http://schemas.openxmlformats.org/officeDocument/2006/math">
                    <m:f>
                      <m:fPr>
                        <m:ctrlPr>
                          <a:rPr lang="en-US" sz="2600" i="1" smtClean="0">
                            <a:latin typeface="Cambria Math" panose="02040503050406030204" pitchFamily="18" charset="0"/>
                            <a:ea typeface="Cambria Math" panose="02040503050406030204" pitchFamily="18" charset="0"/>
                            <a:cs typeface="Arial" panose="020B0604020202020204" pitchFamily="34" charset="0"/>
                          </a:rPr>
                        </m:ctrlPr>
                      </m:fPr>
                      <m:num>
                        <m:r>
                          <a:rPr lang="en-US" sz="2600" b="0" i="1" smtClean="0">
                            <a:latin typeface="Cambria Math" panose="02040503050406030204" pitchFamily="18" charset="0"/>
                            <a:ea typeface="Cambria Math" panose="02040503050406030204" pitchFamily="18" charset="0"/>
                            <a:cs typeface="Arial" panose="020B0604020202020204" pitchFamily="34" charset="0"/>
                          </a:rPr>
                          <m:t>𝐶𝐹</m:t>
                        </m:r>
                      </m:num>
                      <m:den>
                        <m:sSup>
                          <m:sSupPr>
                            <m:ctrlPr>
                              <a:rPr lang="pt-BR" sz="2600" i="1">
                                <a:latin typeface="Cambria Math" panose="02040503050406030204" pitchFamily="18" charset="0"/>
                                <a:ea typeface="Cambria Math" panose="02040503050406030204" pitchFamily="18" charset="0"/>
                                <a:cs typeface="Arial" panose="020B0604020202020204" pitchFamily="34" charset="0"/>
                              </a:rPr>
                            </m:ctrlPr>
                          </m:sSupPr>
                          <m:e>
                            <m:d>
                              <m:dPr>
                                <m:ctrlPr>
                                  <a:rPr lang="pt-BR" sz="2600" i="1">
                                    <a:latin typeface="Cambria Math" panose="02040503050406030204" pitchFamily="18" charset="0"/>
                                    <a:ea typeface="Cambria Math" panose="02040503050406030204" pitchFamily="18" charset="0"/>
                                    <a:cs typeface="Arial" panose="020B0604020202020204" pitchFamily="34" charset="0"/>
                                  </a:rPr>
                                </m:ctrlPr>
                              </m:dPr>
                              <m:e>
                                <m:r>
                                  <a:rPr lang="en-US" sz="2600" i="1">
                                    <a:latin typeface="Cambria Math" panose="02040503050406030204" pitchFamily="18" charset="0"/>
                                    <a:ea typeface="Cambria Math" panose="02040503050406030204" pitchFamily="18" charset="0"/>
                                    <a:cs typeface="Arial" panose="020B0604020202020204" pitchFamily="34" charset="0"/>
                                  </a:rPr>
                                  <m:t>1</m:t>
                                </m:r>
                                <m:r>
                                  <a:rPr lang="pt-BR" sz="2600" i="1">
                                    <a:latin typeface="Cambria Math" panose="02040503050406030204" pitchFamily="18" charset="0"/>
                                    <a:ea typeface="Cambria Math" panose="02040503050406030204" pitchFamily="18" charset="0"/>
                                    <a:cs typeface="Arial" panose="020B0604020202020204" pitchFamily="34" charset="0"/>
                                  </a:rPr>
                                  <m:t>+</m:t>
                                </m:r>
                                <m:r>
                                  <a:rPr lang="en-US" sz="2600" i="1">
                                    <a:latin typeface="Cambria Math" panose="02040503050406030204" pitchFamily="18" charset="0"/>
                                    <a:ea typeface="Cambria Math" panose="02040503050406030204" pitchFamily="18" charset="0"/>
                                    <a:cs typeface="Arial" panose="020B0604020202020204" pitchFamily="34" charset="0"/>
                                  </a:rPr>
                                  <m:t>𝑟</m:t>
                                </m:r>
                              </m:e>
                            </m:d>
                          </m:e>
                          <m:sup>
                            <m:r>
                              <a:rPr lang="en-US" sz="2600" b="0" i="1" smtClean="0">
                                <a:latin typeface="Cambria Math" panose="02040503050406030204" pitchFamily="18" charset="0"/>
                                <a:ea typeface="Cambria Math" panose="02040503050406030204" pitchFamily="18" charset="0"/>
                                <a:cs typeface="Arial" panose="020B0604020202020204" pitchFamily="34" charset="0"/>
                              </a:rPr>
                              <m:t>𝑡</m:t>
                            </m:r>
                          </m:sup>
                        </m:sSup>
                      </m:den>
                    </m:f>
                  </m:oMath>
                </a14:m>
                <a:endParaRPr lang="en-US" sz="2600" dirty="0">
                  <a:solidFill>
                    <a:schemeClr val="accent1"/>
                  </a:solidFill>
                  <a:latin typeface="Cambria Math" panose="02040503050406030204" pitchFamily="18" charset="0"/>
                  <a:ea typeface="Cambria Math" panose="02040503050406030204" pitchFamily="18" charset="0"/>
                  <a:cs typeface="Arial" panose="020B0604020202020204" pitchFamily="34" charset="0"/>
                </a:endParaRPr>
              </a:p>
              <a:p>
                <a:pPr marL="0" indent="0">
                  <a:lnSpc>
                    <a:spcPct val="160000"/>
                  </a:lnSpc>
                  <a:buNone/>
                </a:pPr>
                <a:endParaRPr lang="en-US" sz="2000" dirty="0">
                  <a:solidFill>
                    <a:schemeClr val="accent1"/>
                  </a:solidFill>
                  <a:latin typeface="Arial" panose="020B0604020202020204" pitchFamily="34" charset="0"/>
                  <a:cs typeface="Arial" panose="020B0604020202020204" pitchFamily="34" charset="0"/>
                </a:endParaRPr>
              </a:p>
              <a:p>
                <a:pPr marL="0" indent="0">
                  <a:lnSpc>
                    <a:spcPct val="160000"/>
                  </a:lnSpc>
                  <a:buNone/>
                </a:pPr>
                <a:r>
                  <a:rPr lang="en-US" sz="2000" dirty="0">
                    <a:latin typeface="Arial" panose="020B0604020202020204" pitchFamily="34" charset="0"/>
                    <a:cs typeface="Arial" panose="020B0604020202020204" pitchFamily="34" charset="0"/>
                  </a:rPr>
                  <a:t>Where:</a:t>
                </a:r>
                <a:r>
                  <a:rPr lang="en-US" sz="1400" dirty="0"/>
                  <a:t> </a:t>
                </a:r>
                <a:r>
                  <a:rPr lang="en-US" sz="2200" dirty="0">
                    <a:latin typeface="Arial" panose="020B0604020202020204" pitchFamily="34" charset="0"/>
                    <a:cs typeface="Arial" panose="020B0604020202020204" pitchFamily="34" charset="0"/>
                  </a:rPr>
                  <a:t>cash flow at time t</a:t>
                </a:r>
              </a:p>
              <a:p>
                <a:pPr>
                  <a:lnSpc>
                    <a:spcPct val="160000"/>
                  </a:lnSpc>
                  <a:buFont typeface="Arial" panose="020B0604020202020204" pitchFamily="34" charset="0"/>
                  <a:buChar char="•"/>
                </a:pPr>
                <a:r>
                  <a:rPr lang="en-US" sz="2000" dirty="0">
                    <a:latin typeface="Arial" panose="020B0604020202020204" pitchFamily="34" charset="0"/>
                    <a:cs typeface="Arial" panose="020B0604020202020204" pitchFamily="34" charset="0"/>
                  </a:rPr>
                  <a:t>r = discount rate</a:t>
                </a:r>
              </a:p>
              <a:p>
                <a:pPr>
                  <a:lnSpc>
                    <a:spcPct val="160000"/>
                  </a:lnSpc>
                  <a:buFont typeface="Arial" panose="020B0604020202020204" pitchFamily="34" charset="0"/>
                  <a:buChar char="•"/>
                </a:pPr>
                <a:r>
                  <a:rPr lang="en-US" sz="2000" dirty="0">
                    <a:latin typeface="Arial" panose="020B0604020202020204" pitchFamily="34" charset="0"/>
                    <a:cs typeface="Arial" panose="020B0604020202020204" pitchFamily="34" charset="0"/>
                  </a:rPr>
                  <a:t>t = time period</a:t>
                </a:r>
              </a:p>
              <a:p>
                <a:pPr>
                  <a:lnSpc>
                    <a:spcPct val="160000"/>
                  </a:lnSpc>
                  <a:buFont typeface="+mj-lt"/>
                  <a:buAutoNum type="arabicPeriod" startAt="3"/>
                </a:pPr>
                <a:r>
                  <a:rPr lang="en-US" sz="2000" dirty="0">
                    <a:latin typeface="Arial" panose="020B0604020202020204" pitchFamily="34" charset="0"/>
                    <a:cs typeface="Arial" panose="020B0604020202020204" pitchFamily="34" charset="0"/>
                  </a:rPr>
                  <a:t>Cumulatively add discounted cash inflows until the sum equals or exceeds the initial investment.</a:t>
                </a:r>
              </a:p>
              <a:p>
                <a:pPr>
                  <a:lnSpc>
                    <a:spcPct val="160000"/>
                  </a:lnSpc>
                  <a:buFont typeface="+mj-lt"/>
                  <a:buAutoNum type="arabicPeriod" startAt="3"/>
                </a:pPr>
                <a:r>
                  <a:rPr lang="en-US" sz="2000" dirty="0">
                    <a:latin typeface="Arial" panose="020B0604020202020204" pitchFamily="34" charset="0"/>
                    <a:cs typeface="Arial" panose="020B0604020202020204" pitchFamily="34" charset="0"/>
                  </a:rPr>
                  <a:t>The discounted payback period is the time it takes for this to happen, including fractions of the year.</a:t>
                </a:r>
              </a:p>
              <a:p>
                <a:pPr marL="0" indent="0">
                  <a:lnSpc>
                    <a:spcPct val="200000"/>
                  </a:lnSpc>
                  <a:buNone/>
                </a:pPr>
                <a:endParaRPr lang="en-US" sz="2000" dirty="0">
                  <a:solidFill>
                    <a:schemeClr val="accent1"/>
                  </a:solidFill>
                  <a:latin typeface="Arial" panose="020B0604020202020204" pitchFamily="34" charset="0"/>
                  <a:cs typeface="Arial" panose="020B0604020202020204" pitchFamily="34" charset="0"/>
                </a:endParaRPr>
              </a:p>
            </p:txBody>
          </p:sp>
        </mc:Choice>
        <mc:Fallback xmlns="">
          <p:sp>
            <p:nvSpPr>
              <p:cNvPr id="3" name="Content Placeholder 2">
                <a:extLst>
                  <a:ext uri="{FF2B5EF4-FFF2-40B4-BE49-F238E27FC236}">
                    <a16:creationId xmlns:a16="http://schemas.microsoft.com/office/drawing/2014/main" id="{A72C9E36-B70B-46C9-997A-F4D7C97AA8D8}"/>
                  </a:ext>
                </a:extLst>
              </p:cNvPr>
              <p:cNvSpPr>
                <a:spLocks noGrp="1" noRot="1" noChangeAspect="1" noMove="1" noResize="1" noEditPoints="1" noAdjustHandles="1" noChangeArrowheads="1" noChangeShapeType="1" noTextEdit="1"/>
              </p:cNvSpPr>
              <p:nvPr>
                <p:ph type="body" sz="half" idx="4294967295"/>
              </p:nvPr>
            </p:nvSpPr>
            <p:spPr>
              <a:xfrm>
                <a:off x="838199" y="887506"/>
                <a:ext cx="10403541" cy="4981482"/>
              </a:xfrm>
              <a:blipFill>
                <a:blip r:embed="rId2"/>
                <a:stretch>
                  <a:fillRect l="-527"/>
                </a:stretch>
              </a:blipFill>
            </p:spPr>
            <p:txBody>
              <a:bodyPr/>
              <a:lstStyle/>
              <a:p>
                <a:r>
                  <a:rPr lang="en-IN">
                    <a:noFill/>
                  </a:rPr>
                  <a:t> </a:t>
                </a:r>
              </a:p>
            </p:txBody>
          </p:sp>
        </mc:Fallback>
      </mc:AlternateContent>
      <p:pic>
        <p:nvPicPr>
          <p:cNvPr id="5" name="Picture 4">
            <a:extLst>
              <a:ext uri="{FF2B5EF4-FFF2-40B4-BE49-F238E27FC236}">
                <a16:creationId xmlns:a16="http://schemas.microsoft.com/office/drawing/2014/main" id="{1A8F9582-68CE-431C-8B72-88E14F073978}"/>
              </a:ext>
            </a:extLst>
          </p:cNvPr>
          <p:cNvPicPr>
            <a:picLocks noChangeAspect="1"/>
          </p:cNvPicPr>
          <p:nvPr/>
        </p:nvPicPr>
        <p:blipFill>
          <a:blip r:embed="rId3"/>
          <a:stretch>
            <a:fillRect/>
          </a:stretch>
        </p:blipFill>
        <p:spPr>
          <a:xfrm>
            <a:off x="11027635" y="51275"/>
            <a:ext cx="966091" cy="746583"/>
          </a:xfrm>
          <a:prstGeom prst="rect">
            <a:avLst/>
          </a:prstGeom>
        </p:spPr>
      </p:pic>
      <p:sp>
        <p:nvSpPr>
          <p:cNvPr id="2" name="Slide Number Placeholder 1">
            <a:extLst>
              <a:ext uri="{FF2B5EF4-FFF2-40B4-BE49-F238E27FC236}">
                <a16:creationId xmlns:a16="http://schemas.microsoft.com/office/drawing/2014/main" id="{3EEE3E35-0D13-469A-9E0F-622ACCC7CC9A}"/>
              </a:ext>
            </a:extLst>
          </p:cNvPr>
          <p:cNvSpPr>
            <a:spLocks noGrp="1"/>
          </p:cNvSpPr>
          <p:nvPr>
            <p:ph type="sldNum" sz="quarter" idx="12"/>
          </p:nvPr>
        </p:nvSpPr>
        <p:spPr/>
        <p:txBody>
          <a:bodyPr/>
          <a:lstStyle/>
          <a:p>
            <a:fld id="{B7991F04-3566-4BB1-A8CB-A35BE8E11603}" type="slidenum">
              <a:rPr lang="en-IN" smtClean="0"/>
              <a:t>16</a:t>
            </a:fld>
            <a:endParaRPr lang="en-IN"/>
          </a:p>
        </p:txBody>
      </p:sp>
    </p:spTree>
    <p:extLst>
      <p:ext uri="{BB962C8B-B14F-4D97-AF65-F5344CB8AC3E}">
        <p14:creationId xmlns:p14="http://schemas.microsoft.com/office/powerpoint/2010/main" val="13634721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750F95C-005F-42A1-AD9B-6631B5ED5937}"/>
              </a:ext>
            </a:extLst>
          </p:cNvPr>
          <p:cNvSpPr>
            <a:spLocks noGrp="1"/>
          </p:cNvSpPr>
          <p:nvPr>
            <p:ph type="title"/>
          </p:nvPr>
        </p:nvSpPr>
        <p:spPr>
          <a:xfrm>
            <a:off x="605117" y="165474"/>
            <a:ext cx="10123235" cy="533867"/>
          </a:xfrm>
          <a:prstGeom prst="rect">
            <a:avLst/>
          </a:prstGeom>
          <a:solidFill>
            <a:schemeClr val="tx2">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br>
              <a:rPr lang="en-IN" sz="1050" b="1" dirty="0">
                <a:latin typeface="Arial" panose="020B0604020202020204" pitchFamily="34" charset="0"/>
                <a:cs typeface="Arial" panose="020B0604020202020204" pitchFamily="34" charset="0"/>
              </a:rPr>
            </a:br>
            <a:br>
              <a:rPr lang="en-IN" sz="1050" b="1" dirty="0">
                <a:latin typeface="Arial" panose="020B0604020202020204" pitchFamily="34" charset="0"/>
                <a:cs typeface="Arial" panose="020B0604020202020204" pitchFamily="34" charset="0"/>
              </a:rPr>
            </a:br>
            <a:br>
              <a:rPr lang="en-IN" sz="1050" b="1" dirty="0">
                <a:latin typeface="Arial" panose="020B0604020202020204" pitchFamily="34" charset="0"/>
                <a:cs typeface="Arial" panose="020B0604020202020204" pitchFamily="34" charset="0"/>
              </a:rPr>
            </a:br>
            <a:r>
              <a:rPr lang="en-US" sz="2400" dirty="0">
                <a:solidFill>
                  <a:schemeClr val="accent1"/>
                </a:solidFill>
                <a:latin typeface="Arial" panose="020B0604020202020204" pitchFamily="34" charset="0"/>
                <a:cs typeface="Arial" panose="020B0604020202020204" pitchFamily="34" charset="0"/>
              </a:rPr>
              <a:t>Example</a:t>
            </a:r>
            <a:br>
              <a:rPr lang="en-US" sz="2400" dirty="0">
                <a:solidFill>
                  <a:schemeClr val="accent1"/>
                </a:solidFill>
                <a:latin typeface="Arial" panose="020B0604020202020204" pitchFamily="34" charset="0"/>
                <a:cs typeface="Arial" panose="020B0604020202020204" pitchFamily="34" charset="0"/>
              </a:rPr>
            </a:br>
            <a:br>
              <a:rPr lang="en-IN" sz="1050" dirty="0"/>
            </a:br>
            <a:endParaRPr lang="en-IN" sz="2400" dirty="0">
              <a:solidFill>
                <a:schemeClr val="accent1"/>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A72C9E36-B70B-46C9-997A-F4D7C97AA8D8}"/>
              </a:ext>
            </a:extLst>
          </p:cNvPr>
          <p:cNvSpPr>
            <a:spLocks noGrp="1"/>
          </p:cNvSpPr>
          <p:nvPr>
            <p:ph type="body" sz="half" idx="4294967295"/>
          </p:nvPr>
        </p:nvSpPr>
        <p:spPr>
          <a:xfrm>
            <a:off x="838199" y="887506"/>
            <a:ext cx="10403541" cy="4981482"/>
          </a:xfrm>
        </p:spPr>
        <p:txBody>
          <a:bodyPr>
            <a:normAutofit/>
          </a:bodyPr>
          <a:lstStyle/>
          <a:p>
            <a:pPr>
              <a:buFont typeface="Arial" panose="020B0604020202020204" pitchFamily="34" charset="0"/>
              <a:buChar char="•"/>
            </a:pPr>
            <a:r>
              <a:rPr lang="en-US" sz="2000" dirty="0">
                <a:latin typeface="Arial" panose="020B0604020202020204" pitchFamily="34" charset="0"/>
                <a:cs typeface="Arial" panose="020B0604020202020204" pitchFamily="34" charset="0"/>
              </a:rPr>
              <a:t>Initial Investment: </a:t>
            </a:r>
            <a:r>
              <a:rPr lang="en-IN" sz="2000" i="0" dirty="0">
                <a:solidFill>
                  <a:srgbClr val="474747"/>
                </a:solidFill>
                <a:effectLst/>
                <a:latin typeface="Arial" panose="020B0604020202020204" pitchFamily="34" charset="0"/>
                <a:cs typeface="Arial" panose="020B0604020202020204" pitchFamily="34" charset="0"/>
              </a:rPr>
              <a:t>₹</a:t>
            </a:r>
            <a:r>
              <a:rPr lang="en-US" sz="2000" dirty="0">
                <a:latin typeface="Arial" panose="020B0604020202020204" pitchFamily="34" charset="0"/>
                <a:cs typeface="Arial" panose="020B0604020202020204" pitchFamily="34" charset="0"/>
              </a:rPr>
              <a:t> 10,000</a:t>
            </a:r>
          </a:p>
          <a:p>
            <a:pPr>
              <a:buFont typeface="Arial" panose="020B0604020202020204" pitchFamily="34" charset="0"/>
              <a:buChar char="•"/>
            </a:pPr>
            <a:r>
              <a:rPr lang="en-US" sz="2000" dirty="0">
                <a:latin typeface="Arial" panose="020B0604020202020204" pitchFamily="34" charset="0"/>
                <a:cs typeface="Arial" panose="020B0604020202020204" pitchFamily="34" charset="0"/>
              </a:rPr>
              <a:t>Cash Inflows:</a:t>
            </a:r>
          </a:p>
          <a:p>
            <a:pPr marL="742950" lvl="1" indent="-285750">
              <a:buFont typeface="Arial" panose="020B0604020202020204" pitchFamily="34" charset="0"/>
              <a:buChar char="•"/>
            </a:pPr>
            <a:r>
              <a:rPr lang="en-US" sz="2000" dirty="0">
                <a:latin typeface="Arial" panose="020B0604020202020204" pitchFamily="34" charset="0"/>
                <a:cs typeface="Arial" panose="020B0604020202020204" pitchFamily="34" charset="0"/>
              </a:rPr>
              <a:t>Year 1:</a:t>
            </a:r>
            <a:r>
              <a:rPr lang="en-IN" sz="2000" i="0" dirty="0">
                <a:solidFill>
                  <a:srgbClr val="474747"/>
                </a:solidFill>
                <a:effectLst/>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 3,000</a:t>
            </a:r>
          </a:p>
          <a:p>
            <a:pPr marL="742950" lvl="1" indent="-285750">
              <a:buFont typeface="Arial" panose="020B0604020202020204" pitchFamily="34" charset="0"/>
              <a:buChar char="•"/>
            </a:pPr>
            <a:r>
              <a:rPr lang="en-US" sz="2000" dirty="0">
                <a:latin typeface="Arial" panose="020B0604020202020204" pitchFamily="34" charset="0"/>
                <a:cs typeface="Arial" panose="020B0604020202020204" pitchFamily="34" charset="0"/>
              </a:rPr>
              <a:t>Year 2: </a:t>
            </a:r>
            <a:r>
              <a:rPr lang="en-IN" sz="2000" i="0" dirty="0">
                <a:solidFill>
                  <a:srgbClr val="474747"/>
                </a:solidFill>
                <a:effectLst/>
                <a:latin typeface="Arial" panose="020B0604020202020204" pitchFamily="34" charset="0"/>
                <a:cs typeface="Arial" panose="020B0604020202020204" pitchFamily="34" charset="0"/>
              </a:rPr>
              <a:t>₹</a:t>
            </a:r>
            <a:r>
              <a:rPr lang="en-US" sz="2000" dirty="0">
                <a:latin typeface="Arial" panose="020B0604020202020204" pitchFamily="34" charset="0"/>
                <a:cs typeface="Arial" panose="020B0604020202020204" pitchFamily="34" charset="0"/>
              </a:rPr>
              <a:t> 4,000</a:t>
            </a:r>
          </a:p>
          <a:p>
            <a:pPr marL="742950" lvl="1" indent="-285750">
              <a:buFont typeface="Arial" panose="020B0604020202020204" pitchFamily="34" charset="0"/>
              <a:buChar char="•"/>
            </a:pPr>
            <a:r>
              <a:rPr lang="en-US" sz="2000" dirty="0">
                <a:latin typeface="Arial" panose="020B0604020202020204" pitchFamily="34" charset="0"/>
                <a:cs typeface="Arial" panose="020B0604020202020204" pitchFamily="34" charset="0"/>
              </a:rPr>
              <a:t>Year 3: </a:t>
            </a:r>
            <a:r>
              <a:rPr lang="en-IN" sz="2000" i="0" dirty="0">
                <a:solidFill>
                  <a:srgbClr val="474747"/>
                </a:solidFill>
                <a:effectLst/>
                <a:latin typeface="Arial" panose="020B0604020202020204" pitchFamily="34" charset="0"/>
                <a:cs typeface="Arial" panose="020B0604020202020204" pitchFamily="34" charset="0"/>
              </a:rPr>
              <a:t>₹</a:t>
            </a:r>
            <a:r>
              <a:rPr lang="en-US" sz="2000" dirty="0">
                <a:latin typeface="Arial" panose="020B0604020202020204" pitchFamily="34" charset="0"/>
                <a:cs typeface="Arial" panose="020B0604020202020204" pitchFamily="34" charset="0"/>
              </a:rPr>
              <a:t> 4,000</a:t>
            </a:r>
          </a:p>
          <a:p>
            <a:pPr>
              <a:buFont typeface="Arial" panose="020B0604020202020204" pitchFamily="34" charset="0"/>
              <a:buChar char="•"/>
            </a:pPr>
            <a:r>
              <a:rPr lang="en-US" sz="2000" dirty="0">
                <a:latin typeface="Arial" panose="020B0604020202020204" pitchFamily="34" charset="0"/>
                <a:cs typeface="Arial" panose="020B0604020202020204" pitchFamily="34" charset="0"/>
              </a:rPr>
              <a:t>Discount Rate: 10%</a:t>
            </a:r>
          </a:p>
          <a:p>
            <a:pPr>
              <a:buFont typeface="Arial" panose="020B0604020202020204" pitchFamily="34" charset="0"/>
              <a:buChar char="•"/>
            </a:pPr>
            <a:r>
              <a:rPr lang="en-US" sz="2000" dirty="0">
                <a:solidFill>
                  <a:schemeClr val="accent1"/>
                </a:solidFill>
                <a:latin typeface="Arial" panose="020B0604020202020204" pitchFamily="34" charset="0"/>
                <a:cs typeface="Arial" panose="020B0604020202020204" pitchFamily="34" charset="0"/>
              </a:rPr>
              <a:t>Step 1: </a:t>
            </a:r>
            <a:r>
              <a:rPr lang="en-US" sz="2000" dirty="0">
                <a:latin typeface="Arial" panose="020B0604020202020204" pitchFamily="34" charset="0"/>
                <a:cs typeface="Arial" panose="020B0604020202020204" pitchFamily="34" charset="0"/>
              </a:rPr>
              <a:t>Calculate discounted cash inflows</a:t>
            </a:r>
          </a:p>
          <a:p>
            <a:pPr>
              <a:buFont typeface="Arial" panose="020B0604020202020204" pitchFamily="34" charset="0"/>
              <a:buChar char="•"/>
            </a:pPr>
            <a:endParaRPr lang="en-US" sz="2000" dirty="0">
              <a:latin typeface="Arial" panose="020B0604020202020204" pitchFamily="34" charset="0"/>
              <a:cs typeface="Arial" panose="020B0604020202020204" pitchFamily="34" charset="0"/>
            </a:endParaRPr>
          </a:p>
          <a:p>
            <a:pPr marL="457200" indent="-457200" algn="just">
              <a:lnSpc>
                <a:spcPct val="200000"/>
              </a:lnSpc>
              <a:buFont typeface="+mj-lt"/>
              <a:buAutoNum type="arabicPeriod"/>
            </a:pPr>
            <a:endParaRPr lang="en-US" sz="2000"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1A8F9582-68CE-431C-8B72-88E14F073978}"/>
              </a:ext>
            </a:extLst>
          </p:cNvPr>
          <p:cNvPicPr>
            <a:picLocks noChangeAspect="1"/>
          </p:cNvPicPr>
          <p:nvPr/>
        </p:nvPicPr>
        <p:blipFill>
          <a:blip r:embed="rId2"/>
          <a:stretch>
            <a:fillRect/>
          </a:stretch>
        </p:blipFill>
        <p:spPr>
          <a:xfrm>
            <a:off x="11027635" y="51275"/>
            <a:ext cx="966091" cy="746583"/>
          </a:xfrm>
          <a:prstGeom prst="rect">
            <a:avLst/>
          </a:prstGeom>
        </p:spPr>
      </p:pic>
      <p:sp>
        <p:nvSpPr>
          <p:cNvPr id="2" name="Slide Number Placeholder 1">
            <a:extLst>
              <a:ext uri="{FF2B5EF4-FFF2-40B4-BE49-F238E27FC236}">
                <a16:creationId xmlns:a16="http://schemas.microsoft.com/office/drawing/2014/main" id="{3EEE3E35-0D13-469A-9E0F-622ACCC7CC9A}"/>
              </a:ext>
            </a:extLst>
          </p:cNvPr>
          <p:cNvSpPr>
            <a:spLocks noGrp="1"/>
          </p:cNvSpPr>
          <p:nvPr>
            <p:ph type="sldNum" sz="quarter" idx="12"/>
          </p:nvPr>
        </p:nvSpPr>
        <p:spPr/>
        <p:txBody>
          <a:bodyPr/>
          <a:lstStyle/>
          <a:p>
            <a:fld id="{B7991F04-3566-4BB1-A8CB-A35BE8E11603}" type="slidenum">
              <a:rPr lang="en-IN" smtClean="0"/>
              <a:t>17</a:t>
            </a:fld>
            <a:endParaRPr lang="en-IN"/>
          </a:p>
        </p:txBody>
      </p:sp>
      <p:graphicFrame>
        <p:nvGraphicFramePr>
          <p:cNvPr id="6" name="Table 5">
            <a:extLst>
              <a:ext uri="{FF2B5EF4-FFF2-40B4-BE49-F238E27FC236}">
                <a16:creationId xmlns:a16="http://schemas.microsoft.com/office/drawing/2014/main" id="{7E5BF33B-A2AF-4721-ACF5-BB81218C4B83}"/>
              </a:ext>
            </a:extLst>
          </p:cNvPr>
          <p:cNvGraphicFramePr>
            <a:graphicFrameLocks noGrp="1"/>
          </p:cNvGraphicFramePr>
          <p:nvPr/>
        </p:nvGraphicFramePr>
        <p:xfrm>
          <a:off x="838200" y="3558988"/>
          <a:ext cx="10515600" cy="2895789"/>
        </p:xfrm>
        <a:graphic>
          <a:graphicData uri="http://schemas.openxmlformats.org/drawingml/2006/table">
            <a:tbl>
              <a:tblPr/>
              <a:tblGrid>
                <a:gridCol w="2628900">
                  <a:extLst>
                    <a:ext uri="{9D8B030D-6E8A-4147-A177-3AD203B41FA5}">
                      <a16:colId xmlns:a16="http://schemas.microsoft.com/office/drawing/2014/main" val="2556901430"/>
                    </a:ext>
                  </a:extLst>
                </a:gridCol>
                <a:gridCol w="2628900">
                  <a:extLst>
                    <a:ext uri="{9D8B030D-6E8A-4147-A177-3AD203B41FA5}">
                      <a16:colId xmlns:a16="http://schemas.microsoft.com/office/drawing/2014/main" val="1068579544"/>
                    </a:ext>
                  </a:extLst>
                </a:gridCol>
                <a:gridCol w="2628900">
                  <a:extLst>
                    <a:ext uri="{9D8B030D-6E8A-4147-A177-3AD203B41FA5}">
                      <a16:colId xmlns:a16="http://schemas.microsoft.com/office/drawing/2014/main" val="1352195104"/>
                    </a:ext>
                  </a:extLst>
                </a:gridCol>
                <a:gridCol w="2628900">
                  <a:extLst>
                    <a:ext uri="{9D8B030D-6E8A-4147-A177-3AD203B41FA5}">
                      <a16:colId xmlns:a16="http://schemas.microsoft.com/office/drawing/2014/main" val="3174504282"/>
                    </a:ext>
                  </a:extLst>
                </a:gridCol>
              </a:tblGrid>
              <a:tr h="792669">
                <a:tc>
                  <a:txBody>
                    <a:bodyPr/>
                    <a:lstStyle/>
                    <a:p>
                      <a:r>
                        <a:rPr lang="en-IN" sz="2000" dirty="0">
                          <a:solidFill>
                            <a:schemeClr val="accent1"/>
                          </a:solidFill>
                          <a:latin typeface="Arial" panose="020B0604020202020204" pitchFamily="34" charset="0"/>
                          <a:cs typeface="Arial" panose="020B0604020202020204" pitchFamily="34" charset="0"/>
                        </a:rPr>
                        <a:t>Year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dirty="0">
                          <a:solidFill>
                            <a:schemeClr val="accent1"/>
                          </a:solidFill>
                          <a:latin typeface="Arial" panose="020B0604020202020204" pitchFamily="34" charset="0"/>
                          <a:cs typeface="Arial" panose="020B0604020202020204" pitchFamily="34" charset="0"/>
                        </a:rPr>
                        <a:t>Cash Flow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dirty="0">
                          <a:solidFill>
                            <a:schemeClr val="accent1"/>
                          </a:solidFill>
                          <a:latin typeface="Arial" panose="020B0604020202020204" pitchFamily="34" charset="0"/>
                          <a:cs typeface="Arial" panose="020B0604020202020204" pitchFamily="34" charset="0"/>
                        </a:rPr>
                        <a:t>Discount Factor (10%)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dirty="0">
                          <a:solidFill>
                            <a:schemeClr val="accent1"/>
                          </a:solidFill>
                          <a:latin typeface="Arial" panose="020B0604020202020204" pitchFamily="34" charset="0"/>
                          <a:cs typeface="Arial" panose="020B0604020202020204" pitchFamily="34" charset="0"/>
                        </a:rPr>
                        <a:t>Discounted Cash Flow (DCF)</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98493025"/>
                  </a:ext>
                </a:extLst>
              </a:tr>
              <a:tr h="452954">
                <a:tc>
                  <a:txBody>
                    <a:bodyPr/>
                    <a:lstStyle/>
                    <a:p>
                      <a:r>
                        <a:rPr lang="en-IN" sz="2000" dirty="0">
                          <a:latin typeface="Arial" panose="020B0604020202020204" pitchFamily="34" charset="0"/>
                          <a:cs typeface="Arial" panose="020B0604020202020204" pitchFamily="34"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dirty="0">
                          <a:latin typeface="Arial" panose="020B0604020202020204" pitchFamily="34" charset="0"/>
                          <a:cs typeface="Arial" panose="020B0604020202020204" pitchFamily="34" charset="0"/>
                        </a:rPr>
                        <a:t>3,000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dirty="0">
                          <a:latin typeface="Arial" panose="020B0604020202020204" pitchFamily="34" charset="0"/>
                          <a:cs typeface="Arial" panose="020B0604020202020204" pitchFamily="34" charset="0"/>
                        </a:rPr>
                        <a:t>1 / (1.10)^1 = 0.9091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a:latin typeface="Arial" panose="020B0604020202020204" pitchFamily="34" charset="0"/>
                          <a:cs typeface="Arial" panose="020B0604020202020204" pitchFamily="34" charset="0"/>
                        </a:rPr>
                        <a:t>3,000 × 0.9091 = 2,727.30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37371200"/>
                  </a:ext>
                </a:extLst>
              </a:tr>
              <a:tr h="452954">
                <a:tc>
                  <a:txBody>
                    <a:bodyPr/>
                    <a:lstStyle/>
                    <a:p>
                      <a:r>
                        <a:rPr lang="en-IN" sz="2000">
                          <a:latin typeface="Arial" panose="020B0604020202020204" pitchFamily="34" charset="0"/>
                          <a:cs typeface="Arial" panose="020B0604020202020204" pitchFamily="34" charset="0"/>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a:latin typeface="Arial" panose="020B0604020202020204" pitchFamily="34" charset="0"/>
                          <a:cs typeface="Arial" panose="020B0604020202020204" pitchFamily="34" charset="0"/>
                        </a:rPr>
                        <a:t>4,000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dirty="0">
                          <a:latin typeface="Arial" panose="020B0604020202020204" pitchFamily="34" charset="0"/>
                          <a:cs typeface="Arial" panose="020B0604020202020204" pitchFamily="34" charset="0"/>
                        </a:rPr>
                        <a:t>1 / (1.10)^2 = 0.8264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a:latin typeface="Arial" panose="020B0604020202020204" pitchFamily="34" charset="0"/>
                          <a:cs typeface="Arial" panose="020B0604020202020204" pitchFamily="34" charset="0"/>
                        </a:rPr>
                        <a:t>4,000 × 0.8264 = 3,305.60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84990372"/>
                  </a:ext>
                </a:extLst>
              </a:tr>
              <a:tr h="452954">
                <a:tc>
                  <a:txBody>
                    <a:bodyPr/>
                    <a:lstStyle/>
                    <a:p>
                      <a:r>
                        <a:rPr lang="en-IN" sz="2000">
                          <a:latin typeface="Arial" panose="020B0604020202020204" pitchFamily="34" charset="0"/>
                          <a:cs typeface="Arial" panose="020B0604020202020204" pitchFamily="34"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a:latin typeface="Arial" panose="020B0604020202020204" pitchFamily="34" charset="0"/>
                          <a:cs typeface="Arial" panose="020B0604020202020204" pitchFamily="34" charset="0"/>
                        </a:rPr>
                        <a:t>4,000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a:latin typeface="Arial" panose="020B0604020202020204" pitchFamily="34" charset="0"/>
                          <a:cs typeface="Arial" panose="020B0604020202020204" pitchFamily="34" charset="0"/>
                        </a:rPr>
                        <a:t>1 / (1.10)^3 = 0.7513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dirty="0">
                          <a:latin typeface="Arial" panose="020B0604020202020204" pitchFamily="34" charset="0"/>
                          <a:cs typeface="Arial" panose="020B0604020202020204" pitchFamily="34" charset="0"/>
                        </a:rPr>
                        <a:t>4,000 × 0.7513 = 3,005.20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26518996"/>
                  </a:ext>
                </a:extLst>
              </a:tr>
            </a:tbl>
          </a:graphicData>
        </a:graphic>
      </p:graphicFrame>
    </p:spTree>
    <p:extLst>
      <p:ext uri="{BB962C8B-B14F-4D97-AF65-F5344CB8AC3E}">
        <p14:creationId xmlns:p14="http://schemas.microsoft.com/office/powerpoint/2010/main" val="11213443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750F95C-005F-42A1-AD9B-6631B5ED5937}"/>
              </a:ext>
            </a:extLst>
          </p:cNvPr>
          <p:cNvSpPr>
            <a:spLocks noGrp="1"/>
          </p:cNvSpPr>
          <p:nvPr>
            <p:ph type="title"/>
          </p:nvPr>
        </p:nvSpPr>
        <p:spPr>
          <a:xfrm>
            <a:off x="708212" y="136525"/>
            <a:ext cx="10319423" cy="533867"/>
          </a:xfrm>
          <a:prstGeom prst="rect">
            <a:avLst/>
          </a:prstGeom>
          <a:solidFill>
            <a:schemeClr val="tx2">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r>
              <a:rPr lang="en-US" sz="2400" dirty="0">
                <a:solidFill>
                  <a:schemeClr val="accent1"/>
                </a:solidFill>
                <a:latin typeface="Arial" panose="020B0604020202020204" pitchFamily="34" charset="0"/>
                <a:cs typeface="Arial" panose="020B0604020202020204" pitchFamily="34" charset="0"/>
              </a:rPr>
              <a:t>Example</a:t>
            </a:r>
            <a:endParaRPr lang="en-IN" sz="2400" dirty="0">
              <a:solidFill>
                <a:schemeClr val="accent1"/>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A72C9E36-B70B-46C9-997A-F4D7C97AA8D8}"/>
              </a:ext>
            </a:extLst>
          </p:cNvPr>
          <p:cNvSpPr>
            <a:spLocks noGrp="1"/>
          </p:cNvSpPr>
          <p:nvPr>
            <p:ph type="body" sz="half" idx="4294967295"/>
          </p:nvPr>
        </p:nvSpPr>
        <p:spPr>
          <a:xfrm>
            <a:off x="838199" y="887506"/>
            <a:ext cx="10403541" cy="4981482"/>
          </a:xfrm>
        </p:spPr>
        <p:txBody>
          <a:bodyPr>
            <a:normAutofit/>
          </a:bodyPr>
          <a:lstStyle/>
          <a:p>
            <a:pPr marL="0" indent="0">
              <a:lnSpc>
                <a:spcPct val="200000"/>
              </a:lnSpc>
              <a:buNone/>
            </a:pPr>
            <a:r>
              <a:rPr lang="en-US" sz="2000" dirty="0">
                <a:solidFill>
                  <a:schemeClr val="accent1"/>
                </a:solidFill>
                <a:latin typeface="Arial" panose="020B0604020202020204" pitchFamily="34" charset="0"/>
                <a:cs typeface="Arial" panose="020B0604020202020204" pitchFamily="34" charset="0"/>
              </a:rPr>
              <a:t>Step 2:</a:t>
            </a:r>
            <a:r>
              <a:rPr lang="en-US" sz="2000" dirty="0">
                <a:latin typeface="Arial" panose="020B0604020202020204" pitchFamily="34" charset="0"/>
                <a:cs typeface="Arial" panose="020B0604020202020204" pitchFamily="34" charset="0"/>
              </a:rPr>
              <a:t> Calculate cumulative discounted cash inflows</a:t>
            </a:r>
          </a:p>
          <a:p>
            <a:pPr marL="0" indent="0">
              <a:lnSpc>
                <a:spcPct val="200000"/>
              </a:lnSpc>
              <a:buNone/>
            </a:pPr>
            <a:endParaRPr lang="en-US" sz="2000" dirty="0">
              <a:solidFill>
                <a:schemeClr val="accent1"/>
              </a:solidFill>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1A8F9582-68CE-431C-8B72-88E14F073978}"/>
              </a:ext>
            </a:extLst>
          </p:cNvPr>
          <p:cNvPicPr>
            <a:picLocks noChangeAspect="1"/>
          </p:cNvPicPr>
          <p:nvPr/>
        </p:nvPicPr>
        <p:blipFill>
          <a:blip r:embed="rId2"/>
          <a:stretch>
            <a:fillRect/>
          </a:stretch>
        </p:blipFill>
        <p:spPr>
          <a:xfrm>
            <a:off x="11027635" y="51275"/>
            <a:ext cx="966091" cy="746583"/>
          </a:xfrm>
          <a:prstGeom prst="rect">
            <a:avLst/>
          </a:prstGeom>
        </p:spPr>
      </p:pic>
      <p:sp>
        <p:nvSpPr>
          <p:cNvPr id="2" name="Slide Number Placeholder 1">
            <a:extLst>
              <a:ext uri="{FF2B5EF4-FFF2-40B4-BE49-F238E27FC236}">
                <a16:creationId xmlns:a16="http://schemas.microsoft.com/office/drawing/2014/main" id="{3EEE3E35-0D13-469A-9E0F-622ACCC7CC9A}"/>
              </a:ext>
            </a:extLst>
          </p:cNvPr>
          <p:cNvSpPr>
            <a:spLocks noGrp="1"/>
          </p:cNvSpPr>
          <p:nvPr>
            <p:ph type="sldNum" sz="quarter" idx="12"/>
          </p:nvPr>
        </p:nvSpPr>
        <p:spPr/>
        <p:txBody>
          <a:bodyPr/>
          <a:lstStyle/>
          <a:p>
            <a:fld id="{B7991F04-3566-4BB1-A8CB-A35BE8E11603}" type="slidenum">
              <a:rPr lang="en-IN" smtClean="0"/>
              <a:t>18</a:t>
            </a:fld>
            <a:endParaRPr lang="en-IN"/>
          </a:p>
        </p:txBody>
      </p:sp>
      <p:graphicFrame>
        <p:nvGraphicFramePr>
          <p:cNvPr id="6" name="Table 5">
            <a:extLst>
              <a:ext uri="{FF2B5EF4-FFF2-40B4-BE49-F238E27FC236}">
                <a16:creationId xmlns:a16="http://schemas.microsoft.com/office/drawing/2014/main" id="{B1CDD095-455D-4F65-AEFB-8213C79D5575}"/>
              </a:ext>
            </a:extLst>
          </p:cNvPr>
          <p:cNvGraphicFramePr>
            <a:graphicFrameLocks noGrp="1"/>
          </p:cNvGraphicFramePr>
          <p:nvPr/>
        </p:nvGraphicFramePr>
        <p:xfrm>
          <a:off x="1201271" y="1721224"/>
          <a:ext cx="9215715" cy="3011592"/>
        </p:xfrm>
        <a:graphic>
          <a:graphicData uri="http://schemas.openxmlformats.org/drawingml/2006/table">
            <a:tbl>
              <a:tblPr/>
              <a:tblGrid>
                <a:gridCol w="3071905">
                  <a:extLst>
                    <a:ext uri="{9D8B030D-6E8A-4147-A177-3AD203B41FA5}">
                      <a16:colId xmlns:a16="http://schemas.microsoft.com/office/drawing/2014/main" val="2536530512"/>
                    </a:ext>
                  </a:extLst>
                </a:gridCol>
                <a:gridCol w="3071905">
                  <a:extLst>
                    <a:ext uri="{9D8B030D-6E8A-4147-A177-3AD203B41FA5}">
                      <a16:colId xmlns:a16="http://schemas.microsoft.com/office/drawing/2014/main" val="611173556"/>
                    </a:ext>
                  </a:extLst>
                </a:gridCol>
                <a:gridCol w="3071905">
                  <a:extLst>
                    <a:ext uri="{9D8B030D-6E8A-4147-A177-3AD203B41FA5}">
                      <a16:colId xmlns:a16="http://schemas.microsoft.com/office/drawing/2014/main" val="12416477"/>
                    </a:ext>
                  </a:extLst>
                </a:gridCol>
              </a:tblGrid>
              <a:tr h="752898">
                <a:tc>
                  <a:txBody>
                    <a:bodyPr/>
                    <a:lstStyle/>
                    <a:p>
                      <a:r>
                        <a:rPr lang="en-IN" sz="2000" dirty="0">
                          <a:latin typeface="Arial" panose="020B0604020202020204" pitchFamily="34" charset="0"/>
                          <a:cs typeface="Arial" panose="020B0604020202020204" pitchFamily="34" charset="0"/>
                        </a:rPr>
                        <a:t>Year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a:latin typeface="Arial" panose="020B0604020202020204" pitchFamily="34" charset="0"/>
                          <a:cs typeface="Arial" panose="020B0604020202020204" pitchFamily="34" charset="0"/>
                        </a:rPr>
                        <a:t>Discounted Cash Flow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a:latin typeface="Arial" panose="020B0604020202020204" pitchFamily="34" charset="0"/>
                          <a:cs typeface="Arial" panose="020B0604020202020204" pitchFamily="34" charset="0"/>
                        </a:rPr>
                        <a:t>Cumulative DCF</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92767873"/>
                  </a:ext>
                </a:extLst>
              </a:tr>
              <a:tr h="752898">
                <a:tc>
                  <a:txBody>
                    <a:bodyPr/>
                    <a:lstStyle/>
                    <a:p>
                      <a:r>
                        <a:rPr lang="en-IN" sz="2000" dirty="0">
                          <a:latin typeface="Arial" panose="020B0604020202020204" pitchFamily="34" charset="0"/>
                          <a:cs typeface="Arial" panose="020B0604020202020204" pitchFamily="34"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dirty="0">
                          <a:latin typeface="Arial" panose="020B0604020202020204" pitchFamily="34" charset="0"/>
                          <a:cs typeface="Arial" panose="020B0604020202020204" pitchFamily="34" charset="0"/>
                        </a:rPr>
                        <a:t>2,727.30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a:latin typeface="Arial" panose="020B0604020202020204" pitchFamily="34" charset="0"/>
                          <a:cs typeface="Arial" panose="020B0604020202020204" pitchFamily="34" charset="0"/>
                        </a:rPr>
                        <a:t>2,727.30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63163031"/>
                  </a:ext>
                </a:extLst>
              </a:tr>
              <a:tr h="752898">
                <a:tc>
                  <a:txBody>
                    <a:bodyPr/>
                    <a:lstStyle/>
                    <a:p>
                      <a:r>
                        <a:rPr lang="en-IN" sz="2000">
                          <a:latin typeface="Arial" panose="020B0604020202020204" pitchFamily="34" charset="0"/>
                          <a:cs typeface="Arial" panose="020B0604020202020204" pitchFamily="34" charset="0"/>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dirty="0">
                          <a:latin typeface="Arial" panose="020B0604020202020204" pitchFamily="34" charset="0"/>
                          <a:cs typeface="Arial" panose="020B0604020202020204" pitchFamily="34" charset="0"/>
                        </a:rPr>
                        <a:t>3,305.60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a:latin typeface="Arial" panose="020B0604020202020204" pitchFamily="34" charset="0"/>
                          <a:cs typeface="Arial" panose="020B0604020202020204" pitchFamily="34" charset="0"/>
                        </a:rPr>
                        <a:t>2,727.30 + 3,305.60 = 6,032.90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19403852"/>
                  </a:ext>
                </a:extLst>
              </a:tr>
              <a:tr h="752898">
                <a:tc>
                  <a:txBody>
                    <a:bodyPr/>
                    <a:lstStyle/>
                    <a:p>
                      <a:r>
                        <a:rPr lang="en-IN" sz="2000">
                          <a:latin typeface="Arial" panose="020B0604020202020204" pitchFamily="34" charset="0"/>
                          <a:cs typeface="Arial" panose="020B0604020202020204" pitchFamily="34"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dirty="0">
                          <a:latin typeface="Arial" panose="020B0604020202020204" pitchFamily="34" charset="0"/>
                          <a:cs typeface="Arial" panose="020B0604020202020204" pitchFamily="34" charset="0"/>
                        </a:rPr>
                        <a:t>3,005.20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dirty="0">
                          <a:latin typeface="Arial" panose="020B0604020202020204" pitchFamily="34" charset="0"/>
                          <a:cs typeface="Arial" panose="020B0604020202020204" pitchFamily="34" charset="0"/>
                        </a:rPr>
                        <a:t>6,032.90 + 3,005.20 = 9,038.10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8824659"/>
                  </a:ext>
                </a:extLst>
              </a:tr>
            </a:tbl>
          </a:graphicData>
        </a:graphic>
      </p:graphicFrame>
    </p:spTree>
    <p:extLst>
      <p:ext uri="{BB962C8B-B14F-4D97-AF65-F5344CB8AC3E}">
        <p14:creationId xmlns:p14="http://schemas.microsoft.com/office/powerpoint/2010/main" val="18414820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750F95C-005F-42A1-AD9B-6631B5ED5937}"/>
              </a:ext>
            </a:extLst>
          </p:cNvPr>
          <p:cNvSpPr>
            <a:spLocks noGrp="1"/>
          </p:cNvSpPr>
          <p:nvPr>
            <p:ph type="title"/>
          </p:nvPr>
        </p:nvSpPr>
        <p:spPr>
          <a:xfrm>
            <a:off x="730623" y="153146"/>
            <a:ext cx="10123235" cy="533867"/>
          </a:xfrm>
          <a:prstGeom prst="rect">
            <a:avLst/>
          </a:prstGeom>
          <a:solidFill>
            <a:schemeClr val="tx2">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r>
              <a:rPr lang="en-US" sz="2400" dirty="0">
                <a:solidFill>
                  <a:schemeClr val="accent1"/>
                </a:solidFill>
                <a:latin typeface="Arial" panose="020B0604020202020204" pitchFamily="34" charset="0"/>
                <a:cs typeface="Arial" panose="020B0604020202020204" pitchFamily="34" charset="0"/>
              </a:rPr>
              <a:t>Example</a:t>
            </a:r>
            <a:endParaRPr lang="en-IN" sz="2400" dirty="0">
              <a:solidFill>
                <a:schemeClr val="accent1"/>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72C9E36-B70B-46C9-997A-F4D7C97AA8D8}"/>
                  </a:ext>
                </a:extLst>
              </p:cNvPr>
              <p:cNvSpPr>
                <a:spLocks noGrp="1"/>
              </p:cNvSpPr>
              <p:nvPr>
                <p:ph type="body" sz="half" idx="4294967295"/>
              </p:nvPr>
            </p:nvSpPr>
            <p:spPr>
              <a:xfrm>
                <a:off x="838199" y="887506"/>
                <a:ext cx="10403541" cy="4981482"/>
              </a:xfrm>
            </p:spPr>
            <p:txBody>
              <a:bodyPr>
                <a:normAutofit/>
              </a:bodyPr>
              <a:lstStyle/>
              <a:p>
                <a:pPr marL="0" indent="0">
                  <a:lnSpc>
                    <a:spcPct val="150000"/>
                  </a:lnSpc>
                  <a:buNone/>
                </a:pPr>
                <a:r>
                  <a:rPr lang="en-US" sz="2000" dirty="0">
                    <a:solidFill>
                      <a:schemeClr val="accent1"/>
                    </a:solidFill>
                    <a:latin typeface="Arial" panose="020B0604020202020204" pitchFamily="34" charset="0"/>
                    <a:cs typeface="Arial" panose="020B0604020202020204" pitchFamily="34" charset="0"/>
                  </a:rPr>
                  <a:t>Step 3: </a:t>
                </a:r>
                <a:r>
                  <a:rPr lang="en-US" sz="2000" dirty="0">
                    <a:latin typeface="Arial" panose="020B0604020202020204" pitchFamily="34" charset="0"/>
                    <a:cs typeface="Arial" panose="020B0604020202020204" pitchFamily="34" charset="0"/>
                  </a:rPr>
                  <a:t>Find when cumulative DCF recovers the initial investment (</a:t>
                </a:r>
                <a:r>
                  <a:rPr lang="en-IN" sz="2000" i="0" dirty="0">
                    <a:solidFill>
                      <a:srgbClr val="474747"/>
                    </a:solidFill>
                    <a:effectLst/>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10,000)</a:t>
                </a:r>
              </a:p>
              <a:p>
                <a:pPr>
                  <a:lnSpc>
                    <a:spcPct val="150000"/>
                  </a:lnSpc>
                </a:pPr>
                <a:r>
                  <a:rPr lang="en-US" sz="2000" dirty="0">
                    <a:latin typeface="Arial" panose="020B0604020202020204" pitchFamily="34" charset="0"/>
                    <a:cs typeface="Arial" panose="020B0604020202020204" pitchFamily="34" charset="0"/>
                  </a:rPr>
                  <a:t>After Year 3, cumulative discounted cash inflows = </a:t>
                </a:r>
                <a:r>
                  <a:rPr lang="en-IN" sz="2000" i="0" dirty="0">
                    <a:solidFill>
                      <a:srgbClr val="474747"/>
                    </a:solidFill>
                    <a:effectLst/>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9,038.10 (still less than</a:t>
                </a:r>
                <a:r>
                  <a:rPr lang="en-IN" sz="2000" i="0" dirty="0">
                    <a:solidFill>
                      <a:srgbClr val="474747"/>
                    </a:solidFill>
                    <a:effectLst/>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 10,000)</a:t>
                </a:r>
              </a:p>
              <a:p>
                <a:pPr>
                  <a:lnSpc>
                    <a:spcPct val="150000"/>
                  </a:lnSpc>
                </a:pPr>
                <a:r>
                  <a:rPr lang="en-US" sz="2000" dirty="0">
                    <a:latin typeface="Arial" panose="020B0604020202020204" pitchFamily="34" charset="0"/>
                    <a:cs typeface="Arial" panose="020B0604020202020204" pitchFamily="34" charset="0"/>
                  </a:rPr>
                  <a:t>So, the investment is not fully recovered by Year 3.</a:t>
                </a:r>
              </a:p>
              <a:p>
                <a:pPr marL="0" indent="0">
                  <a:lnSpc>
                    <a:spcPct val="150000"/>
                  </a:lnSpc>
                  <a:buNone/>
                </a:pPr>
                <a:r>
                  <a:rPr lang="en-US" sz="2000" dirty="0">
                    <a:solidFill>
                      <a:schemeClr val="accent1"/>
                    </a:solidFill>
                    <a:latin typeface="Arial" panose="020B0604020202020204" pitchFamily="34" charset="0"/>
                    <a:cs typeface="Arial" panose="020B0604020202020204" pitchFamily="34" charset="0"/>
                  </a:rPr>
                  <a:t>Step 4</a:t>
                </a:r>
                <a:r>
                  <a:rPr lang="en-US" sz="2000" dirty="0">
                    <a:latin typeface="Arial" panose="020B0604020202020204" pitchFamily="34" charset="0"/>
                    <a:cs typeface="Arial" panose="020B0604020202020204" pitchFamily="34" charset="0"/>
                  </a:rPr>
                  <a:t>: Since Year 4 inflow is not given, assume another </a:t>
                </a:r>
                <a:r>
                  <a:rPr lang="en-IN" sz="2000" i="0" dirty="0">
                    <a:solidFill>
                      <a:srgbClr val="474747"/>
                    </a:solidFill>
                    <a:effectLst/>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4,000 for Year 4</a:t>
                </a:r>
              </a:p>
              <a:p>
                <a:pPr>
                  <a:lnSpc>
                    <a:spcPct val="150000"/>
                  </a:lnSpc>
                </a:pPr>
                <a:r>
                  <a:rPr lang="en-US" sz="2000" dirty="0">
                    <a:latin typeface="Arial" panose="020B0604020202020204" pitchFamily="34" charset="0"/>
                    <a:cs typeface="Arial" panose="020B0604020202020204" pitchFamily="34" charset="0"/>
                  </a:rPr>
                  <a:t>Year 4 discounted cash flow:  </a:t>
                </a:r>
                <a14:m>
                  <m:oMath xmlns:m="http://schemas.openxmlformats.org/officeDocument/2006/math">
                    <m:f>
                      <m:fPr>
                        <m:ctrlPr>
                          <a:rPr lang="en-US" sz="2400" i="1" smtClean="0">
                            <a:latin typeface="Cambria Math" panose="02040503050406030204" pitchFamily="18" charset="0"/>
                            <a:ea typeface="Cambria Math" panose="02040503050406030204" pitchFamily="18" charset="0"/>
                            <a:cs typeface="Arial" panose="020B0604020202020204" pitchFamily="34" charset="0"/>
                          </a:rPr>
                        </m:ctrlPr>
                      </m:fPr>
                      <m:num>
                        <m:r>
                          <a:rPr lang="en-US" sz="2400" b="0" i="1" smtClean="0">
                            <a:latin typeface="Cambria Math" panose="02040503050406030204" pitchFamily="18" charset="0"/>
                            <a:ea typeface="Cambria Math" panose="02040503050406030204" pitchFamily="18" charset="0"/>
                            <a:cs typeface="Arial" panose="020B0604020202020204" pitchFamily="34" charset="0"/>
                          </a:rPr>
                          <m:t>4,000</m:t>
                        </m:r>
                      </m:num>
                      <m:den>
                        <m:sSup>
                          <m:sSupPr>
                            <m:ctrlPr>
                              <a:rPr lang="pt-BR" sz="2400" i="1">
                                <a:latin typeface="Cambria Math" panose="02040503050406030204" pitchFamily="18" charset="0"/>
                                <a:ea typeface="Cambria Math" panose="02040503050406030204" pitchFamily="18" charset="0"/>
                                <a:cs typeface="Arial" panose="020B0604020202020204" pitchFamily="34" charset="0"/>
                              </a:rPr>
                            </m:ctrlPr>
                          </m:sSupPr>
                          <m:e>
                            <m:d>
                              <m:dPr>
                                <m:ctrlPr>
                                  <a:rPr lang="pt-BR" sz="2400" i="1">
                                    <a:latin typeface="Cambria Math" panose="02040503050406030204" pitchFamily="18" charset="0"/>
                                    <a:ea typeface="Cambria Math" panose="02040503050406030204" pitchFamily="18" charset="0"/>
                                    <a:cs typeface="Arial" panose="020B0604020202020204" pitchFamily="34" charset="0"/>
                                  </a:rPr>
                                </m:ctrlPr>
                              </m:dPr>
                              <m:e>
                                <m:r>
                                  <a:rPr lang="en-US" sz="2400" i="1">
                                    <a:latin typeface="Cambria Math" panose="02040503050406030204" pitchFamily="18" charset="0"/>
                                    <a:ea typeface="Cambria Math" panose="02040503050406030204" pitchFamily="18" charset="0"/>
                                    <a:cs typeface="Arial" panose="020B0604020202020204" pitchFamily="34" charset="0"/>
                                  </a:rPr>
                                  <m:t>1</m:t>
                                </m:r>
                                <m:r>
                                  <a:rPr lang="en-US" sz="2400" b="0" i="1" smtClean="0">
                                    <a:latin typeface="Cambria Math" panose="02040503050406030204" pitchFamily="18" charset="0"/>
                                    <a:ea typeface="Cambria Math" panose="02040503050406030204" pitchFamily="18" charset="0"/>
                                    <a:cs typeface="Arial" panose="020B0604020202020204" pitchFamily="34" charset="0"/>
                                  </a:rPr>
                                  <m:t>.10</m:t>
                                </m:r>
                              </m:e>
                            </m:d>
                          </m:e>
                          <m:sup>
                            <m:r>
                              <a:rPr lang="en-US" sz="2400" b="0" i="1" smtClean="0">
                                <a:latin typeface="Cambria Math" panose="02040503050406030204" pitchFamily="18" charset="0"/>
                                <a:ea typeface="Cambria Math" panose="02040503050406030204" pitchFamily="18" charset="0"/>
                                <a:cs typeface="Arial" panose="020B0604020202020204" pitchFamily="34" charset="0"/>
                              </a:rPr>
                              <m:t>4</m:t>
                            </m:r>
                          </m:sup>
                        </m:sSup>
                      </m:den>
                    </m:f>
                    <m:r>
                      <a:rPr lang="en-US" sz="2400" b="0" i="1" smtClean="0">
                        <a:latin typeface="Cambria Math" panose="02040503050406030204" pitchFamily="18" charset="0"/>
                        <a:ea typeface="Cambria Math" panose="02040503050406030204" pitchFamily="18" charset="0"/>
                        <a:cs typeface="Arial" panose="020B0604020202020204" pitchFamily="34" charset="0"/>
                      </a:rPr>
                      <m:t> =</m:t>
                    </m:r>
                  </m:oMath>
                </a14:m>
                <a:r>
                  <a:rPr lang="en-US" sz="2400" dirty="0">
                    <a:latin typeface="Cambria Math" panose="02040503050406030204" pitchFamily="18" charset="0"/>
                    <a:ea typeface="Cambria Math" panose="02040503050406030204" pitchFamily="18" charset="0"/>
                    <a:cs typeface="Arial" panose="020B0604020202020204" pitchFamily="34" charset="0"/>
                  </a:rPr>
                  <a:t> </a:t>
                </a:r>
                <a14:m>
                  <m:oMath xmlns:m="http://schemas.openxmlformats.org/officeDocument/2006/math">
                    <m:f>
                      <m:fPr>
                        <m:ctrlPr>
                          <a:rPr lang="en-US" sz="2400" i="1" dirty="0" smtClean="0">
                            <a:latin typeface="Cambria Math" panose="02040503050406030204" pitchFamily="18" charset="0"/>
                            <a:ea typeface="Cambria Math" panose="02040503050406030204" pitchFamily="18" charset="0"/>
                            <a:cs typeface="Arial" panose="020B0604020202020204" pitchFamily="34" charset="0"/>
                          </a:rPr>
                        </m:ctrlPr>
                      </m:fPr>
                      <m:num>
                        <m:r>
                          <a:rPr lang="en-US" sz="2400" b="0" i="1" dirty="0" smtClean="0">
                            <a:latin typeface="Cambria Math" panose="02040503050406030204" pitchFamily="18" charset="0"/>
                            <a:ea typeface="Cambria Math" panose="02040503050406030204" pitchFamily="18" charset="0"/>
                            <a:cs typeface="Arial" panose="020B0604020202020204" pitchFamily="34" charset="0"/>
                          </a:rPr>
                          <m:t>4,000</m:t>
                        </m:r>
                      </m:num>
                      <m:den>
                        <m:r>
                          <a:rPr lang="en-US" sz="2400" b="0" i="1" dirty="0" smtClean="0">
                            <a:latin typeface="Cambria Math" panose="02040503050406030204" pitchFamily="18" charset="0"/>
                            <a:ea typeface="Cambria Math" panose="02040503050406030204" pitchFamily="18" charset="0"/>
                            <a:cs typeface="Arial" panose="020B0604020202020204" pitchFamily="34" charset="0"/>
                          </a:rPr>
                          <m:t>1.4641</m:t>
                        </m:r>
                      </m:den>
                    </m:f>
                    <m:r>
                      <a:rPr lang="en-US" sz="2400" b="0" i="1" dirty="0" smtClean="0">
                        <a:latin typeface="Cambria Math" panose="02040503050406030204" pitchFamily="18" charset="0"/>
                        <a:ea typeface="Cambria Math" panose="02040503050406030204" pitchFamily="18" charset="0"/>
                        <a:cs typeface="Arial" panose="020B0604020202020204" pitchFamily="34" charset="0"/>
                      </a:rPr>
                      <m:t>=2,731.0</m:t>
                    </m:r>
                  </m:oMath>
                </a14:m>
                <a:endParaRPr lang="en-US" sz="2400" b="0" dirty="0">
                  <a:latin typeface="Cambria Math" panose="02040503050406030204" pitchFamily="18" charset="0"/>
                  <a:ea typeface="Cambria Math" panose="02040503050406030204" pitchFamily="18" charset="0"/>
                  <a:cs typeface="Arial" panose="020B0604020202020204" pitchFamily="34" charset="0"/>
                </a:endParaRPr>
              </a:p>
              <a:p>
                <a:r>
                  <a:rPr lang="en-US" sz="2000" dirty="0">
                    <a:latin typeface="Arial" panose="020B0604020202020204" pitchFamily="34" charset="0"/>
                    <a:cs typeface="Arial" panose="020B0604020202020204" pitchFamily="34" charset="0"/>
                  </a:rPr>
                  <a:t>Add to cumulative:        </a:t>
                </a:r>
                <a:r>
                  <a:rPr lang="en-US" sz="2000" dirty="0">
                    <a:latin typeface="Cambria Math" panose="02040503050406030204" pitchFamily="18" charset="0"/>
                    <a:ea typeface="Cambria Math" panose="02040503050406030204" pitchFamily="18" charset="0"/>
                  </a:rPr>
                  <a:t>9,038.10+2,731.0=11,769.10&gt;10,000</a:t>
                </a:r>
                <a:endParaRPr lang="en-US" sz="2000" dirty="0">
                  <a:latin typeface="Cambria Math" panose="02040503050406030204" pitchFamily="18" charset="0"/>
                  <a:ea typeface="Cambria Math" panose="02040503050406030204" pitchFamily="18" charset="0"/>
                  <a:cs typeface="Arial" panose="020B0604020202020204" pitchFamily="34" charset="0"/>
                </a:endParaRPr>
              </a:p>
              <a:p>
                <a:pPr marL="0" indent="0">
                  <a:lnSpc>
                    <a:spcPct val="150000"/>
                  </a:lnSpc>
                  <a:buNone/>
                </a:pPr>
                <a:endParaRPr lang="en-US" sz="2000" dirty="0">
                  <a:latin typeface="Arial" panose="020B0604020202020204" pitchFamily="34" charset="0"/>
                  <a:cs typeface="Arial" panose="020B0604020202020204" pitchFamily="34" charset="0"/>
                </a:endParaRPr>
              </a:p>
              <a:p>
                <a:pPr marL="0" indent="0">
                  <a:lnSpc>
                    <a:spcPct val="150000"/>
                  </a:lnSpc>
                  <a:buNone/>
                </a:pPr>
                <a:endParaRPr lang="en-US" sz="2000" dirty="0">
                  <a:latin typeface="Arial" panose="020B0604020202020204" pitchFamily="34" charset="0"/>
                  <a:cs typeface="Arial" panose="020B0604020202020204" pitchFamily="34" charset="0"/>
                </a:endParaRPr>
              </a:p>
              <a:p>
                <a:pPr marL="0" indent="0">
                  <a:lnSpc>
                    <a:spcPct val="200000"/>
                  </a:lnSpc>
                  <a:buNone/>
                </a:pPr>
                <a:endParaRPr lang="en-US" sz="2000" dirty="0">
                  <a:solidFill>
                    <a:schemeClr val="accent1"/>
                  </a:solidFill>
                  <a:latin typeface="Arial" panose="020B0604020202020204" pitchFamily="34" charset="0"/>
                  <a:cs typeface="Arial" panose="020B0604020202020204" pitchFamily="34" charset="0"/>
                </a:endParaRPr>
              </a:p>
            </p:txBody>
          </p:sp>
        </mc:Choice>
        <mc:Fallback xmlns="">
          <p:sp>
            <p:nvSpPr>
              <p:cNvPr id="3" name="Content Placeholder 2">
                <a:extLst>
                  <a:ext uri="{FF2B5EF4-FFF2-40B4-BE49-F238E27FC236}">
                    <a16:creationId xmlns:a16="http://schemas.microsoft.com/office/drawing/2014/main" id="{A72C9E36-B70B-46C9-997A-F4D7C97AA8D8}"/>
                  </a:ext>
                </a:extLst>
              </p:cNvPr>
              <p:cNvSpPr>
                <a:spLocks noGrp="1" noRot="1" noChangeAspect="1" noMove="1" noResize="1" noEditPoints="1" noAdjustHandles="1" noChangeArrowheads="1" noChangeShapeType="1" noTextEdit="1"/>
              </p:cNvSpPr>
              <p:nvPr>
                <p:ph type="body" sz="half" idx="4294967295"/>
              </p:nvPr>
            </p:nvSpPr>
            <p:spPr>
              <a:xfrm>
                <a:off x="838199" y="887506"/>
                <a:ext cx="10403541" cy="4981482"/>
              </a:xfrm>
              <a:blipFill>
                <a:blip r:embed="rId2"/>
                <a:stretch>
                  <a:fillRect l="-586"/>
                </a:stretch>
              </a:blipFill>
            </p:spPr>
            <p:txBody>
              <a:bodyPr/>
              <a:lstStyle/>
              <a:p>
                <a:r>
                  <a:rPr lang="en-IN">
                    <a:noFill/>
                  </a:rPr>
                  <a:t> </a:t>
                </a:r>
              </a:p>
            </p:txBody>
          </p:sp>
        </mc:Fallback>
      </mc:AlternateContent>
      <p:pic>
        <p:nvPicPr>
          <p:cNvPr id="5" name="Picture 4">
            <a:extLst>
              <a:ext uri="{FF2B5EF4-FFF2-40B4-BE49-F238E27FC236}">
                <a16:creationId xmlns:a16="http://schemas.microsoft.com/office/drawing/2014/main" id="{1A8F9582-68CE-431C-8B72-88E14F073978}"/>
              </a:ext>
            </a:extLst>
          </p:cNvPr>
          <p:cNvPicPr>
            <a:picLocks noChangeAspect="1"/>
          </p:cNvPicPr>
          <p:nvPr/>
        </p:nvPicPr>
        <p:blipFill>
          <a:blip r:embed="rId3"/>
          <a:stretch>
            <a:fillRect/>
          </a:stretch>
        </p:blipFill>
        <p:spPr>
          <a:xfrm>
            <a:off x="11027635" y="51275"/>
            <a:ext cx="966091" cy="746583"/>
          </a:xfrm>
          <a:prstGeom prst="rect">
            <a:avLst/>
          </a:prstGeom>
        </p:spPr>
      </p:pic>
      <p:sp>
        <p:nvSpPr>
          <p:cNvPr id="2" name="Slide Number Placeholder 1">
            <a:extLst>
              <a:ext uri="{FF2B5EF4-FFF2-40B4-BE49-F238E27FC236}">
                <a16:creationId xmlns:a16="http://schemas.microsoft.com/office/drawing/2014/main" id="{3EEE3E35-0D13-469A-9E0F-622ACCC7CC9A}"/>
              </a:ext>
            </a:extLst>
          </p:cNvPr>
          <p:cNvSpPr>
            <a:spLocks noGrp="1"/>
          </p:cNvSpPr>
          <p:nvPr>
            <p:ph type="sldNum" sz="quarter" idx="12"/>
          </p:nvPr>
        </p:nvSpPr>
        <p:spPr/>
        <p:txBody>
          <a:bodyPr/>
          <a:lstStyle/>
          <a:p>
            <a:fld id="{B7991F04-3566-4BB1-A8CB-A35BE8E11603}" type="slidenum">
              <a:rPr lang="en-IN" smtClean="0"/>
              <a:t>19</a:t>
            </a:fld>
            <a:endParaRPr lang="en-IN"/>
          </a:p>
        </p:txBody>
      </p:sp>
    </p:spTree>
    <p:extLst>
      <p:ext uri="{BB962C8B-B14F-4D97-AF65-F5344CB8AC3E}">
        <p14:creationId xmlns:p14="http://schemas.microsoft.com/office/powerpoint/2010/main" val="42526321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750F95C-005F-42A1-AD9B-6631B5ED5937}"/>
              </a:ext>
            </a:extLst>
          </p:cNvPr>
          <p:cNvSpPr>
            <a:spLocks noGrp="1"/>
          </p:cNvSpPr>
          <p:nvPr>
            <p:ph type="title"/>
          </p:nvPr>
        </p:nvSpPr>
        <p:spPr>
          <a:xfrm>
            <a:off x="730623" y="153146"/>
            <a:ext cx="10123235" cy="533867"/>
          </a:xfrm>
          <a:prstGeom prst="rect">
            <a:avLst/>
          </a:prstGeom>
          <a:solidFill>
            <a:schemeClr val="tx2">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r>
              <a:rPr lang="en-US" sz="2400" dirty="0">
                <a:solidFill>
                  <a:schemeClr val="accent1"/>
                </a:solidFill>
                <a:latin typeface="Arial" panose="020B0604020202020204" pitchFamily="34" charset="0"/>
                <a:cs typeface="Arial" panose="020B0604020202020204" pitchFamily="34" charset="0"/>
              </a:rPr>
              <a:t>Example</a:t>
            </a:r>
            <a:endParaRPr lang="en-IN" sz="2400" dirty="0">
              <a:solidFill>
                <a:schemeClr val="accent1"/>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72C9E36-B70B-46C9-997A-F4D7C97AA8D8}"/>
                  </a:ext>
                </a:extLst>
              </p:cNvPr>
              <p:cNvSpPr>
                <a:spLocks noGrp="1"/>
              </p:cNvSpPr>
              <p:nvPr>
                <p:ph type="body" sz="half" idx="4294967295"/>
              </p:nvPr>
            </p:nvSpPr>
            <p:spPr>
              <a:xfrm>
                <a:off x="838199" y="887506"/>
                <a:ext cx="10403541" cy="4981482"/>
              </a:xfrm>
            </p:spPr>
            <p:txBody>
              <a:bodyPr>
                <a:normAutofit/>
              </a:bodyPr>
              <a:lstStyle/>
              <a:p>
                <a:pPr marL="0" indent="0">
                  <a:lnSpc>
                    <a:spcPct val="150000"/>
                  </a:lnSpc>
                  <a:buNone/>
                </a:pPr>
                <a:r>
                  <a:rPr lang="en-US" sz="2000" dirty="0">
                    <a:solidFill>
                      <a:schemeClr val="accent1"/>
                    </a:solidFill>
                    <a:latin typeface="Arial" panose="020B0604020202020204" pitchFamily="34" charset="0"/>
                    <a:cs typeface="Arial" panose="020B0604020202020204" pitchFamily="34" charset="0"/>
                  </a:rPr>
                  <a:t>Step 5:</a:t>
                </a:r>
                <a:r>
                  <a:rPr lang="en-US" sz="2000" dirty="0">
                    <a:latin typeface="Arial" panose="020B0604020202020204" pitchFamily="34" charset="0"/>
                    <a:cs typeface="Arial" panose="020B0604020202020204" pitchFamily="34" charset="0"/>
                  </a:rPr>
                  <a:t> Calculate the fractional year to recover the remaining amount:</a:t>
                </a:r>
              </a:p>
              <a:p>
                <a:pPr>
                  <a:lnSpc>
                    <a:spcPct val="150000"/>
                  </a:lnSpc>
                  <a:buFont typeface="Arial" panose="020B0604020202020204" pitchFamily="34" charset="0"/>
                  <a:buChar char="•"/>
                </a:pPr>
                <a:r>
                  <a:rPr lang="en-US" sz="2000" dirty="0">
                    <a:latin typeface="Arial" panose="020B0604020202020204" pitchFamily="34" charset="0"/>
                    <a:cs typeface="Arial" panose="020B0604020202020204" pitchFamily="34" charset="0"/>
                  </a:rPr>
                  <a:t>Remaining amount at end of Year 3 = </a:t>
                </a:r>
                <a:r>
                  <a:rPr lang="en-IN" sz="2000" i="0" dirty="0">
                    <a:solidFill>
                      <a:srgbClr val="474747"/>
                    </a:solidFill>
                    <a:effectLst/>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10,000 - 9,038.10 = </a:t>
                </a:r>
                <a:r>
                  <a:rPr lang="en-IN" sz="2000" i="0" dirty="0">
                    <a:solidFill>
                      <a:srgbClr val="474747"/>
                    </a:solidFill>
                    <a:effectLst/>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961.90</a:t>
                </a:r>
              </a:p>
              <a:p>
                <a:pPr>
                  <a:lnSpc>
                    <a:spcPct val="150000"/>
                  </a:lnSpc>
                  <a:buFont typeface="Arial" panose="020B0604020202020204" pitchFamily="34" charset="0"/>
                  <a:buChar char="•"/>
                </a:pPr>
                <a:r>
                  <a:rPr lang="en-US" sz="2000" dirty="0">
                    <a:latin typeface="Arial" panose="020B0604020202020204" pitchFamily="34" charset="0"/>
                    <a:cs typeface="Arial" panose="020B0604020202020204" pitchFamily="34" charset="0"/>
                  </a:rPr>
                  <a:t>Fraction of Year 4 needed </a:t>
                </a:r>
                <a:r>
                  <a:rPr lang="en-US" sz="2400" dirty="0">
                    <a:latin typeface="Cambria Math" panose="02040503050406030204" pitchFamily="18" charset="0"/>
                    <a:ea typeface="Cambria Math" panose="02040503050406030204" pitchFamily="18" charset="0"/>
                    <a:cs typeface="Arial" panose="020B0604020202020204" pitchFamily="34" charset="0"/>
                  </a:rPr>
                  <a:t>= </a:t>
                </a:r>
                <a14:m>
                  <m:oMath xmlns:m="http://schemas.openxmlformats.org/officeDocument/2006/math">
                    <m:f>
                      <m:fPr>
                        <m:ctrlPr>
                          <a:rPr lang="en-US" sz="2400" i="1" dirty="0" smtClean="0">
                            <a:latin typeface="Cambria Math" panose="02040503050406030204" pitchFamily="18" charset="0"/>
                            <a:ea typeface="Cambria Math" panose="02040503050406030204" pitchFamily="18" charset="0"/>
                            <a:cs typeface="Arial" panose="020B0604020202020204" pitchFamily="34" charset="0"/>
                          </a:rPr>
                        </m:ctrlPr>
                      </m:fPr>
                      <m:num>
                        <m:r>
                          <a:rPr lang="en-US" sz="2400" b="0" i="1" dirty="0" smtClean="0">
                            <a:latin typeface="Cambria Math" panose="02040503050406030204" pitchFamily="18" charset="0"/>
                            <a:ea typeface="Cambria Math" panose="02040503050406030204" pitchFamily="18" charset="0"/>
                            <a:cs typeface="Arial" panose="020B0604020202020204" pitchFamily="34" charset="0"/>
                          </a:rPr>
                          <m:t>961.90</m:t>
                        </m:r>
                      </m:num>
                      <m:den>
                        <m:r>
                          <a:rPr lang="en-US" sz="2400" b="0" i="1" dirty="0" smtClean="0">
                            <a:latin typeface="Cambria Math" panose="02040503050406030204" pitchFamily="18" charset="0"/>
                            <a:ea typeface="Cambria Math" panose="02040503050406030204" pitchFamily="18" charset="0"/>
                            <a:cs typeface="Arial" panose="020B0604020202020204" pitchFamily="34" charset="0"/>
                          </a:rPr>
                          <m:t>2,731.0</m:t>
                        </m:r>
                      </m:den>
                    </m:f>
                    <m:r>
                      <a:rPr lang="en-US" sz="2400" b="0" i="1" dirty="0" smtClean="0">
                        <a:latin typeface="Cambria Math" panose="02040503050406030204" pitchFamily="18" charset="0"/>
                        <a:ea typeface="Cambria Math" panose="02040503050406030204" pitchFamily="18" charset="0"/>
                        <a:cs typeface="Arial" panose="020B0604020202020204" pitchFamily="34" charset="0"/>
                      </a:rPr>
                      <m:t>=</m:t>
                    </m:r>
                  </m:oMath>
                </a14:m>
                <a:r>
                  <a:rPr lang="en-US" sz="2000" dirty="0">
                    <a:latin typeface="Arial" panose="020B0604020202020204" pitchFamily="34" charset="0"/>
                    <a:cs typeface="Arial" panose="020B0604020202020204" pitchFamily="34" charset="0"/>
                  </a:rPr>
                  <a:t>0.35 years </a:t>
                </a:r>
              </a:p>
              <a:p>
                <a:pPr marL="0" indent="0">
                  <a:lnSpc>
                    <a:spcPct val="200000"/>
                  </a:lnSpc>
                  <a:buNone/>
                </a:pPr>
                <a:endParaRPr lang="en-US" sz="2000" dirty="0">
                  <a:solidFill>
                    <a:schemeClr val="accent1"/>
                  </a:solidFill>
                  <a:latin typeface="Arial" panose="020B0604020202020204" pitchFamily="34" charset="0"/>
                  <a:cs typeface="Arial" panose="020B0604020202020204" pitchFamily="34" charset="0"/>
                </a:endParaRPr>
              </a:p>
            </p:txBody>
          </p:sp>
        </mc:Choice>
        <mc:Fallback xmlns="">
          <p:sp>
            <p:nvSpPr>
              <p:cNvPr id="3" name="Content Placeholder 2">
                <a:extLst>
                  <a:ext uri="{FF2B5EF4-FFF2-40B4-BE49-F238E27FC236}">
                    <a16:creationId xmlns:a16="http://schemas.microsoft.com/office/drawing/2014/main" id="{A72C9E36-B70B-46C9-997A-F4D7C97AA8D8}"/>
                  </a:ext>
                </a:extLst>
              </p:cNvPr>
              <p:cNvSpPr>
                <a:spLocks noGrp="1" noRot="1" noChangeAspect="1" noMove="1" noResize="1" noEditPoints="1" noAdjustHandles="1" noChangeArrowheads="1" noChangeShapeType="1" noTextEdit="1"/>
              </p:cNvSpPr>
              <p:nvPr>
                <p:ph type="body" sz="half" idx="4294967295"/>
              </p:nvPr>
            </p:nvSpPr>
            <p:spPr>
              <a:xfrm>
                <a:off x="838199" y="887506"/>
                <a:ext cx="10403541" cy="4981482"/>
              </a:xfrm>
              <a:blipFill>
                <a:blip r:embed="rId2"/>
                <a:stretch>
                  <a:fillRect l="-586"/>
                </a:stretch>
              </a:blipFill>
            </p:spPr>
            <p:txBody>
              <a:bodyPr/>
              <a:lstStyle/>
              <a:p>
                <a:r>
                  <a:rPr lang="en-IN">
                    <a:noFill/>
                  </a:rPr>
                  <a:t> </a:t>
                </a:r>
              </a:p>
            </p:txBody>
          </p:sp>
        </mc:Fallback>
      </mc:AlternateContent>
      <p:pic>
        <p:nvPicPr>
          <p:cNvPr id="5" name="Picture 4">
            <a:extLst>
              <a:ext uri="{FF2B5EF4-FFF2-40B4-BE49-F238E27FC236}">
                <a16:creationId xmlns:a16="http://schemas.microsoft.com/office/drawing/2014/main" id="{1A8F9582-68CE-431C-8B72-88E14F073978}"/>
              </a:ext>
            </a:extLst>
          </p:cNvPr>
          <p:cNvPicPr>
            <a:picLocks noChangeAspect="1"/>
          </p:cNvPicPr>
          <p:nvPr/>
        </p:nvPicPr>
        <p:blipFill>
          <a:blip r:embed="rId3"/>
          <a:stretch>
            <a:fillRect/>
          </a:stretch>
        </p:blipFill>
        <p:spPr>
          <a:xfrm>
            <a:off x="11027635" y="51275"/>
            <a:ext cx="966091" cy="746583"/>
          </a:xfrm>
          <a:prstGeom prst="rect">
            <a:avLst/>
          </a:prstGeom>
        </p:spPr>
      </p:pic>
      <p:sp>
        <p:nvSpPr>
          <p:cNvPr id="2" name="Slide Number Placeholder 1">
            <a:extLst>
              <a:ext uri="{FF2B5EF4-FFF2-40B4-BE49-F238E27FC236}">
                <a16:creationId xmlns:a16="http://schemas.microsoft.com/office/drawing/2014/main" id="{3EEE3E35-0D13-469A-9E0F-622ACCC7CC9A}"/>
              </a:ext>
            </a:extLst>
          </p:cNvPr>
          <p:cNvSpPr>
            <a:spLocks noGrp="1"/>
          </p:cNvSpPr>
          <p:nvPr>
            <p:ph type="sldNum" sz="quarter" idx="12"/>
          </p:nvPr>
        </p:nvSpPr>
        <p:spPr/>
        <p:txBody>
          <a:bodyPr/>
          <a:lstStyle/>
          <a:p>
            <a:fld id="{B7991F04-3566-4BB1-A8CB-A35BE8E11603}" type="slidenum">
              <a:rPr lang="en-IN" smtClean="0"/>
              <a:t>20</a:t>
            </a:fld>
            <a:endParaRPr lang="en-IN"/>
          </a:p>
        </p:txBody>
      </p:sp>
    </p:spTree>
    <p:extLst>
      <p:ext uri="{BB962C8B-B14F-4D97-AF65-F5344CB8AC3E}">
        <p14:creationId xmlns:p14="http://schemas.microsoft.com/office/powerpoint/2010/main" val="32550987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750F95C-005F-42A1-AD9B-6631B5ED5937}"/>
              </a:ext>
            </a:extLst>
          </p:cNvPr>
          <p:cNvSpPr>
            <a:spLocks noGrp="1"/>
          </p:cNvSpPr>
          <p:nvPr>
            <p:ph type="title"/>
          </p:nvPr>
        </p:nvSpPr>
        <p:spPr>
          <a:xfrm>
            <a:off x="730623" y="153146"/>
            <a:ext cx="10123235" cy="533867"/>
          </a:xfrm>
          <a:prstGeom prst="rect">
            <a:avLst/>
          </a:prstGeom>
          <a:solidFill>
            <a:schemeClr val="tx2">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br>
              <a:rPr lang="en-IN" sz="1050" dirty="0"/>
            </a:br>
            <a:br>
              <a:rPr lang="en-IN" sz="1050" dirty="0"/>
            </a:br>
            <a:br>
              <a:rPr lang="en-IN" sz="1050" dirty="0"/>
            </a:br>
            <a:br>
              <a:rPr lang="en-IN" sz="1050" dirty="0"/>
            </a:br>
            <a:br>
              <a:rPr lang="en-IN" sz="1050" dirty="0"/>
            </a:br>
            <a:r>
              <a:rPr lang="en-US" sz="2400" dirty="0">
                <a:solidFill>
                  <a:schemeClr val="accent1"/>
                </a:solidFill>
                <a:latin typeface="Arial" panose="020B0604020202020204" pitchFamily="34" charset="0"/>
                <a:cs typeface="Arial" panose="020B0604020202020204" pitchFamily="34" charset="0"/>
              </a:rPr>
              <a:t>Advantages of Discounted Payback Period</a:t>
            </a:r>
            <a:br>
              <a:rPr lang="en-US" sz="2400" b="1" dirty="0">
                <a:latin typeface="Arial" panose="020B0604020202020204" pitchFamily="34" charset="0"/>
                <a:cs typeface="Arial" panose="020B0604020202020204" pitchFamily="34" charset="0"/>
              </a:rPr>
            </a:br>
            <a:br>
              <a:rPr lang="en-IN" sz="2400" dirty="0">
                <a:latin typeface="Arial" panose="020B0604020202020204" pitchFamily="34" charset="0"/>
                <a:cs typeface="Arial" panose="020B0604020202020204" pitchFamily="34" charset="0"/>
              </a:rPr>
            </a:br>
            <a:endParaRPr lang="en-IN" sz="2400" dirty="0">
              <a:solidFill>
                <a:schemeClr val="accent1"/>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A72C9E36-B70B-46C9-997A-F4D7C97AA8D8}"/>
              </a:ext>
            </a:extLst>
          </p:cNvPr>
          <p:cNvSpPr>
            <a:spLocks noGrp="1"/>
          </p:cNvSpPr>
          <p:nvPr>
            <p:ph type="body" sz="half" idx="4294967295"/>
          </p:nvPr>
        </p:nvSpPr>
        <p:spPr>
          <a:xfrm>
            <a:off x="838199" y="887506"/>
            <a:ext cx="10403541" cy="4981482"/>
          </a:xfrm>
        </p:spPr>
        <p:txBody>
          <a:bodyPr>
            <a:normAutofit/>
          </a:bodyPr>
          <a:lstStyle/>
          <a:p>
            <a:pPr>
              <a:lnSpc>
                <a:spcPct val="200000"/>
              </a:lnSpc>
              <a:buFont typeface="Arial" panose="020B0604020202020204" pitchFamily="34" charset="0"/>
              <a:buChar char="•"/>
            </a:pPr>
            <a:r>
              <a:rPr lang="en-US" sz="2000" dirty="0">
                <a:latin typeface="Arial" panose="020B0604020202020204" pitchFamily="34" charset="0"/>
                <a:cs typeface="Arial" panose="020B0604020202020204" pitchFamily="34" charset="0"/>
              </a:rPr>
              <a:t>Considers the time value of money.</a:t>
            </a:r>
          </a:p>
          <a:p>
            <a:pPr>
              <a:lnSpc>
                <a:spcPct val="200000"/>
              </a:lnSpc>
              <a:buFont typeface="Arial" panose="020B0604020202020204" pitchFamily="34" charset="0"/>
              <a:buChar char="•"/>
            </a:pPr>
            <a:r>
              <a:rPr lang="en-US" sz="2000" dirty="0">
                <a:latin typeface="Arial" panose="020B0604020202020204" pitchFamily="34" charset="0"/>
                <a:cs typeface="Arial" panose="020B0604020202020204" pitchFamily="34" charset="0"/>
              </a:rPr>
              <a:t>Helps evaluate investment liquidity while adjusting for risk and cost of capital.</a:t>
            </a:r>
          </a:p>
          <a:p>
            <a:pPr>
              <a:lnSpc>
                <a:spcPct val="200000"/>
              </a:lnSpc>
              <a:buFont typeface="Arial" panose="020B0604020202020204" pitchFamily="34" charset="0"/>
              <a:buChar char="•"/>
            </a:pPr>
            <a:r>
              <a:rPr lang="en-US" sz="2000" dirty="0">
                <a:latin typeface="Arial" panose="020B0604020202020204" pitchFamily="34" charset="0"/>
                <a:cs typeface="Arial" panose="020B0604020202020204" pitchFamily="34" charset="0"/>
              </a:rPr>
              <a:t>Useful in risk management, especially where early recovery of investment is critical.</a:t>
            </a:r>
          </a:p>
          <a:p>
            <a:pPr marL="457200" indent="-457200" algn="just">
              <a:lnSpc>
                <a:spcPct val="200000"/>
              </a:lnSpc>
              <a:buFont typeface="+mj-lt"/>
              <a:buAutoNum type="arabicPeriod"/>
            </a:pPr>
            <a:endParaRPr lang="en-US" sz="2000" dirty="0">
              <a:latin typeface="Arial" panose="020B0604020202020204" pitchFamily="34" charset="0"/>
              <a:cs typeface="Arial" panose="020B0604020202020204" pitchFamily="34" charset="0"/>
            </a:endParaRPr>
          </a:p>
          <a:p>
            <a:pPr marL="0" indent="0">
              <a:lnSpc>
                <a:spcPct val="200000"/>
              </a:lnSpc>
              <a:buNone/>
            </a:pPr>
            <a:endParaRPr lang="en-US" sz="2000" dirty="0">
              <a:solidFill>
                <a:schemeClr val="accent1"/>
              </a:solidFill>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1A8F9582-68CE-431C-8B72-88E14F073978}"/>
              </a:ext>
            </a:extLst>
          </p:cNvPr>
          <p:cNvPicPr>
            <a:picLocks noChangeAspect="1"/>
          </p:cNvPicPr>
          <p:nvPr/>
        </p:nvPicPr>
        <p:blipFill>
          <a:blip r:embed="rId2"/>
          <a:stretch>
            <a:fillRect/>
          </a:stretch>
        </p:blipFill>
        <p:spPr>
          <a:xfrm>
            <a:off x="11027635" y="51275"/>
            <a:ext cx="966091" cy="746583"/>
          </a:xfrm>
          <a:prstGeom prst="rect">
            <a:avLst/>
          </a:prstGeom>
        </p:spPr>
      </p:pic>
      <p:sp>
        <p:nvSpPr>
          <p:cNvPr id="2" name="Slide Number Placeholder 1">
            <a:extLst>
              <a:ext uri="{FF2B5EF4-FFF2-40B4-BE49-F238E27FC236}">
                <a16:creationId xmlns:a16="http://schemas.microsoft.com/office/drawing/2014/main" id="{3EEE3E35-0D13-469A-9E0F-622ACCC7CC9A}"/>
              </a:ext>
            </a:extLst>
          </p:cNvPr>
          <p:cNvSpPr>
            <a:spLocks noGrp="1"/>
          </p:cNvSpPr>
          <p:nvPr>
            <p:ph type="sldNum" sz="quarter" idx="12"/>
          </p:nvPr>
        </p:nvSpPr>
        <p:spPr/>
        <p:txBody>
          <a:bodyPr/>
          <a:lstStyle/>
          <a:p>
            <a:fld id="{B7991F04-3566-4BB1-A8CB-A35BE8E11603}" type="slidenum">
              <a:rPr lang="en-IN" smtClean="0"/>
              <a:t>21</a:t>
            </a:fld>
            <a:endParaRPr lang="en-IN"/>
          </a:p>
        </p:txBody>
      </p:sp>
    </p:spTree>
    <p:extLst>
      <p:ext uri="{BB962C8B-B14F-4D97-AF65-F5344CB8AC3E}">
        <p14:creationId xmlns:p14="http://schemas.microsoft.com/office/powerpoint/2010/main" val="39517890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750F95C-005F-42A1-AD9B-6631B5ED5937}"/>
              </a:ext>
            </a:extLst>
          </p:cNvPr>
          <p:cNvSpPr>
            <a:spLocks noGrp="1"/>
          </p:cNvSpPr>
          <p:nvPr>
            <p:ph type="title"/>
          </p:nvPr>
        </p:nvSpPr>
        <p:spPr>
          <a:xfrm>
            <a:off x="730623" y="153146"/>
            <a:ext cx="10123235" cy="533867"/>
          </a:xfrm>
          <a:prstGeom prst="rect">
            <a:avLst/>
          </a:prstGeom>
          <a:solidFill>
            <a:schemeClr val="tx2">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br>
              <a:rPr lang="en-IN" sz="1050" dirty="0"/>
            </a:br>
            <a:br>
              <a:rPr lang="en-IN" sz="1050" dirty="0"/>
            </a:br>
            <a:br>
              <a:rPr lang="en-IN" sz="1050" dirty="0"/>
            </a:br>
            <a:br>
              <a:rPr lang="en-IN" sz="1050" dirty="0"/>
            </a:br>
            <a:br>
              <a:rPr lang="en-IN" sz="1050" dirty="0"/>
            </a:br>
            <a:r>
              <a:rPr lang="en-IN" sz="2400" dirty="0">
                <a:solidFill>
                  <a:schemeClr val="accent1"/>
                </a:solidFill>
                <a:latin typeface="Arial" panose="020B0604020202020204" pitchFamily="34" charset="0"/>
                <a:cs typeface="Arial" panose="020B0604020202020204" pitchFamily="34" charset="0"/>
              </a:rPr>
              <a:t>Disadvantages</a:t>
            </a:r>
            <a:br>
              <a:rPr lang="en-US" sz="2400" b="1" dirty="0">
                <a:solidFill>
                  <a:schemeClr val="accent1"/>
                </a:solidFill>
                <a:latin typeface="Arial" panose="020B0604020202020204" pitchFamily="34" charset="0"/>
                <a:cs typeface="Arial" panose="020B0604020202020204" pitchFamily="34" charset="0"/>
              </a:rPr>
            </a:br>
            <a:br>
              <a:rPr lang="en-IN" sz="2400" dirty="0">
                <a:solidFill>
                  <a:schemeClr val="accent1"/>
                </a:solidFill>
                <a:latin typeface="Arial" panose="020B0604020202020204" pitchFamily="34" charset="0"/>
                <a:cs typeface="Arial" panose="020B0604020202020204" pitchFamily="34" charset="0"/>
              </a:rPr>
            </a:br>
            <a:endParaRPr lang="en-IN" sz="2400" dirty="0">
              <a:solidFill>
                <a:schemeClr val="accent1"/>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A72C9E36-B70B-46C9-997A-F4D7C97AA8D8}"/>
              </a:ext>
            </a:extLst>
          </p:cNvPr>
          <p:cNvSpPr>
            <a:spLocks noGrp="1"/>
          </p:cNvSpPr>
          <p:nvPr>
            <p:ph type="body" sz="half" idx="4294967295"/>
          </p:nvPr>
        </p:nvSpPr>
        <p:spPr>
          <a:xfrm>
            <a:off x="838199" y="887506"/>
            <a:ext cx="10403541" cy="4981482"/>
          </a:xfrm>
        </p:spPr>
        <p:txBody>
          <a:bodyPr>
            <a:normAutofit/>
          </a:bodyPr>
          <a:lstStyle/>
          <a:p>
            <a:pPr marL="457200" indent="-457200" algn="just">
              <a:lnSpc>
                <a:spcPct val="200000"/>
              </a:lnSpc>
              <a:buFont typeface="+mj-lt"/>
              <a:buAutoNum type="arabicPeriod"/>
            </a:pPr>
            <a:r>
              <a:rPr lang="en-US" sz="2000" dirty="0">
                <a:latin typeface="Arial" panose="020B0604020202020204" pitchFamily="34" charset="0"/>
                <a:cs typeface="Arial" panose="020B0604020202020204" pitchFamily="34" charset="0"/>
              </a:rPr>
              <a:t>Ignores cash flows that occur after the payback period (just like traditional payback).</a:t>
            </a:r>
          </a:p>
          <a:p>
            <a:pPr marL="457200" indent="-457200" algn="just">
              <a:lnSpc>
                <a:spcPct val="200000"/>
              </a:lnSpc>
              <a:buFont typeface="+mj-lt"/>
              <a:buAutoNum type="arabicPeriod"/>
            </a:pPr>
            <a:r>
              <a:rPr lang="en-US" sz="2000" dirty="0">
                <a:latin typeface="Arial" panose="020B0604020202020204" pitchFamily="34" charset="0"/>
                <a:cs typeface="Arial" panose="020B0604020202020204" pitchFamily="34" charset="0"/>
              </a:rPr>
              <a:t>More complex to calculate than simple payback.</a:t>
            </a:r>
          </a:p>
          <a:p>
            <a:pPr marL="457200" indent="-457200" algn="just">
              <a:lnSpc>
                <a:spcPct val="200000"/>
              </a:lnSpc>
              <a:buFont typeface="+mj-lt"/>
              <a:buAutoNum type="arabicPeriod"/>
            </a:pPr>
            <a:r>
              <a:rPr lang="en-US" sz="2000" dirty="0">
                <a:latin typeface="Arial" panose="020B0604020202020204" pitchFamily="34" charset="0"/>
                <a:cs typeface="Arial" panose="020B0604020202020204" pitchFamily="34" charset="0"/>
              </a:rPr>
              <a:t>Can still reject projects with positive NPV if payback takes too long.</a:t>
            </a:r>
          </a:p>
          <a:p>
            <a:pPr marL="457200" indent="-457200" algn="just">
              <a:lnSpc>
                <a:spcPct val="200000"/>
              </a:lnSpc>
              <a:buFont typeface="+mj-lt"/>
              <a:buAutoNum type="arabicPeriod"/>
            </a:pPr>
            <a:r>
              <a:rPr lang="en-US" sz="2000" dirty="0">
                <a:latin typeface="Arial" panose="020B0604020202020204" pitchFamily="34" charset="0"/>
                <a:cs typeface="Arial" panose="020B0604020202020204" pitchFamily="34" charset="0"/>
              </a:rPr>
              <a:t>Not a complete measure of profitability.</a:t>
            </a:r>
          </a:p>
          <a:p>
            <a:pPr marL="457200" indent="-457200" algn="just">
              <a:lnSpc>
                <a:spcPct val="200000"/>
              </a:lnSpc>
              <a:buFont typeface="+mj-lt"/>
              <a:buAutoNum type="arabicPeriod"/>
            </a:pPr>
            <a:endParaRPr lang="en-US" sz="2000" dirty="0">
              <a:latin typeface="Arial" panose="020B0604020202020204" pitchFamily="34" charset="0"/>
              <a:cs typeface="Arial" panose="020B0604020202020204" pitchFamily="34" charset="0"/>
            </a:endParaRPr>
          </a:p>
          <a:p>
            <a:pPr marL="457200" indent="-457200" algn="just">
              <a:lnSpc>
                <a:spcPct val="200000"/>
              </a:lnSpc>
              <a:buFont typeface="+mj-lt"/>
              <a:buAutoNum type="arabicPeriod"/>
            </a:pPr>
            <a:endParaRPr lang="en-US" sz="2000" dirty="0">
              <a:latin typeface="Arial" panose="020B0604020202020204" pitchFamily="34" charset="0"/>
              <a:cs typeface="Arial" panose="020B0604020202020204" pitchFamily="34" charset="0"/>
            </a:endParaRPr>
          </a:p>
          <a:p>
            <a:pPr marL="0" indent="0">
              <a:lnSpc>
                <a:spcPct val="200000"/>
              </a:lnSpc>
              <a:buNone/>
            </a:pPr>
            <a:endParaRPr lang="en-US" sz="2000" dirty="0">
              <a:solidFill>
                <a:schemeClr val="accent1"/>
              </a:solidFill>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1A8F9582-68CE-431C-8B72-88E14F073978}"/>
              </a:ext>
            </a:extLst>
          </p:cNvPr>
          <p:cNvPicPr>
            <a:picLocks noChangeAspect="1"/>
          </p:cNvPicPr>
          <p:nvPr/>
        </p:nvPicPr>
        <p:blipFill>
          <a:blip r:embed="rId2"/>
          <a:stretch>
            <a:fillRect/>
          </a:stretch>
        </p:blipFill>
        <p:spPr>
          <a:xfrm>
            <a:off x="11027635" y="51275"/>
            <a:ext cx="966091" cy="746583"/>
          </a:xfrm>
          <a:prstGeom prst="rect">
            <a:avLst/>
          </a:prstGeom>
        </p:spPr>
      </p:pic>
      <p:sp>
        <p:nvSpPr>
          <p:cNvPr id="2" name="Slide Number Placeholder 1">
            <a:extLst>
              <a:ext uri="{FF2B5EF4-FFF2-40B4-BE49-F238E27FC236}">
                <a16:creationId xmlns:a16="http://schemas.microsoft.com/office/drawing/2014/main" id="{3EEE3E35-0D13-469A-9E0F-622ACCC7CC9A}"/>
              </a:ext>
            </a:extLst>
          </p:cNvPr>
          <p:cNvSpPr>
            <a:spLocks noGrp="1"/>
          </p:cNvSpPr>
          <p:nvPr>
            <p:ph type="sldNum" sz="quarter" idx="12"/>
          </p:nvPr>
        </p:nvSpPr>
        <p:spPr/>
        <p:txBody>
          <a:bodyPr/>
          <a:lstStyle/>
          <a:p>
            <a:fld id="{B7991F04-3566-4BB1-A8CB-A35BE8E11603}" type="slidenum">
              <a:rPr lang="en-IN" smtClean="0"/>
              <a:t>22</a:t>
            </a:fld>
            <a:endParaRPr lang="en-IN"/>
          </a:p>
        </p:txBody>
      </p:sp>
    </p:spTree>
    <p:extLst>
      <p:ext uri="{BB962C8B-B14F-4D97-AF65-F5344CB8AC3E}">
        <p14:creationId xmlns:p14="http://schemas.microsoft.com/office/powerpoint/2010/main" val="36880800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750F95C-005F-42A1-AD9B-6631B5ED5937}"/>
              </a:ext>
            </a:extLst>
          </p:cNvPr>
          <p:cNvSpPr>
            <a:spLocks noGrp="1"/>
          </p:cNvSpPr>
          <p:nvPr>
            <p:ph type="title"/>
          </p:nvPr>
        </p:nvSpPr>
        <p:spPr>
          <a:xfrm>
            <a:off x="730623" y="153146"/>
            <a:ext cx="10123235" cy="533867"/>
          </a:xfrm>
          <a:prstGeom prst="rect">
            <a:avLst/>
          </a:prstGeom>
          <a:solidFill>
            <a:schemeClr val="tx2">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br>
              <a:rPr lang="en-IN" sz="1050" dirty="0"/>
            </a:br>
            <a:br>
              <a:rPr lang="en-IN" sz="1050" dirty="0"/>
            </a:br>
            <a:br>
              <a:rPr lang="en-IN" sz="1050" dirty="0"/>
            </a:br>
            <a:br>
              <a:rPr lang="en-IN" sz="1050" dirty="0"/>
            </a:br>
            <a:br>
              <a:rPr lang="en-IN" sz="2400" dirty="0">
                <a:solidFill>
                  <a:schemeClr val="accent1"/>
                </a:solidFill>
                <a:latin typeface="Arial" panose="020B0604020202020204" pitchFamily="34" charset="0"/>
                <a:cs typeface="Arial" panose="020B0604020202020204" pitchFamily="34" charset="0"/>
              </a:rPr>
            </a:br>
            <a:r>
              <a:rPr lang="en-US" sz="2400" dirty="0">
                <a:solidFill>
                  <a:schemeClr val="accent1"/>
                </a:solidFill>
                <a:latin typeface="Arial" panose="020B0604020202020204" pitchFamily="34" charset="0"/>
                <a:cs typeface="Arial" panose="020B0604020202020204" pitchFamily="34" charset="0"/>
              </a:rPr>
              <a:t>When to Use Discounted Payback Period</a:t>
            </a:r>
            <a:br>
              <a:rPr lang="en-US" sz="1050" b="1" dirty="0"/>
            </a:br>
            <a:br>
              <a:rPr lang="en-IN" sz="1050" dirty="0"/>
            </a:br>
            <a:br>
              <a:rPr lang="en-IN" sz="2400" dirty="0">
                <a:solidFill>
                  <a:schemeClr val="accent1"/>
                </a:solidFill>
                <a:latin typeface="Arial" panose="020B0604020202020204" pitchFamily="34" charset="0"/>
                <a:cs typeface="Arial" panose="020B0604020202020204" pitchFamily="34" charset="0"/>
              </a:rPr>
            </a:br>
            <a:endParaRPr lang="en-IN" sz="2400" dirty="0">
              <a:solidFill>
                <a:schemeClr val="accent1"/>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A72C9E36-B70B-46C9-997A-F4D7C97AA8D8}"/>
              </a:ext>
            </a:extLst>
          </p:cNvPr>
          <p:cNvSpPr>
            <a:spLocks noGrp="1"/>
          </p:cNvSpPr>
          <p:nvPr>
            <p:ph type="body" sz="half" idx="4294967295"/>
          </p:nvPr>
        </p:nvSpPr>
        <p:spPr>
          <a:xfrm>
            <a:off x="838199" y="887506"/>
            <a:ext cx="10403541" cy="4981482"/>
          </a:xfrm>
        </p:spPr>
        <p:txBody>
          <a:bodyPr>
            <a:normAutofit/>
          </a:bodyPr>
          <a:lstStyle/>
          <a:p>
            <a:pPr algn="just">
              <a:lnSpc>
                <a:spcPct val="200000"/>
              </a:lnSpc>
            </a:pPr>
            <a:r>
              <a:rPr lang="en-US" sz="2000" dirty="0">
                <a:latin typeface="Arial" panose="020B0604020202020204" pitchFamily="34" charset="0"/>
                <a:cs typeface="Arial" panose="020B0604020202020204" pitchFamily="34" charset="0"/>
              </a:rPr>
              <a:t>When time value of money matters but you still want a liquidity measure.</a:t>
            </a:r>
          </a:p>
          <a:p>
            <a:pPr algn="just">
              <a:lnSpc>
                <a:spcPct val="200000"/>
              </a:lnSpc>
              <a:buFont typeface="Arial" panose="020B0604020202020204" pitchFamily="34" charset="0"/>
              <a:buChar char="•"/>
            </a:pPr>
            <a:r>
              <a:rPr lang="en-US" sz="2000" dirty="0">
                <a:latin typeface="Arial" panose="020B0604020202020204" pitchFamily="34" charset="0"/>
                <a:cs typeface="Arial" panose="020B0604020202020204" pitchFamily="34" charset="0"/>
              </a:rPr>
              <a:t>For projects where early cash recovery is important.</a:t>
            </a:r>
          </a:p>
          <a:p>
            <a:pPr algn="just">
              <a:lnSpc>
                <a:spcPct val="200000"/>
              </a:lnSpc>
              <a:buFont typeface="Arial" panose="020B0604020202020204" pitchFamily="34" charset="0"/>
              <a:buChar char="•"/>
            </a:pPr>
            <a:r>
              <a:rPr lang="en-US" sz="2000" dirty="0">
                <a:latin typeface="Arial" panose="020B0604020202020204" pitchFamily="34" charset="0"/>
                <a:cs typeface="Arial" panose="020B0604020202020204" pitchFamily="34" charset="0"/>
              </a:rPr>
              <a:t>In combination with other metrics like NPV and IRR.</a:t>
            </a:r>
          </a:p>
          <a:p>
            <a:pPr algn="just">
              <a:lnSpc>
                <a:spcPct val="200000"/>
              </a:lnSpc>
            </a:pPr>
            <a:endParaRPr lang="en-US" sz="2000" dirty="0">
              <a:latin typeface="Arial" panose="020B0604020202020204" pitchFamily="34" charset="0"/>
              <a:cs typeface="Arial" panose="020B0604020202020204" pitchFamily="34" charset="0"/>
            </a:endParaRPr>
          </a:p>
          <a:p>
            <a:pPr marL="0" indent="0">
              <a:lnSpc>
                <a:spcPct val="200000"/>
              </a:lnSpc>
              <a:buNone/>
            </a:pPr>
            <a:endParaRPr lang="en-US" sz="2000" dirty="0">
              <a:solidFill>
                <a:schemeClr val="accent1"/>
              </a:solidFill>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1A8F9582-68CE-431C-8B72-88E14F073978}"/>
              </a:ext>
            </a:extLst>
          </p:cNvPr>
          <p:cNvPicPr>
            <a:picLocks noChangeAspect="1"/>
          </p:cNvPicPr>
          <p:nvPr/>
        </p:nvPicPr>
        <p:blipFill>
          <a:blip r:embed="rId2"/>
          <a:stretch>
            <a:fillRect/>
          </a:stretch>
        </p:blipFill>
        <p:spPr>
          <a:xfrm>
            <a:off x="11027635" y="51275"/>
            <a:ext cx="966091" cy="746583"/>
          </a:xfrm>
          <a:prstGeom prst="rect">
            <a:avLst/>
          </a:prstGeom>
        </p:spPr>
      </p:pic>
      <p:sp>
        <p:nvSpPr>
          <p:cNvPr id="2" name="Slide Number Placeholder 1">
            <a:extLst>
              <a:ext uri="{FF2B5EF4-FFF2-40B4-BE49-F238E27FC236}">
                <a16:creationId xmlns:a16="http://schemas.microsoft.com/office/drawing/2014/main" id="{3EEE3E35-0D13-469A-9E0F-622ACCC7CC9A}"/>
              </a:ext>
            </a:extLst>
          </p:cNvPr>
          <p:cNvSpPr>
            <a:spLocks noGrp="1"/>
          </p:cNvSpPr>
          <p:nvPr>
            <p:ph type="sldNum" sz="quarter" idx="12"/>
          </p:nvPr>
        </p:nvSpPr>
        <p:spPr/>
        <p:txBody>
          <a:bodyPr/>
          <a:lstStyle/>
          <a:p>
            <a:fld id="{B7991F04-3566-4BB1-A8CB-A35BE8E11603}" type="slidenum">
              <a:rPr lang="en-IN" smtClean="0"/>
              <a:t>23</a:t>
            </a:fld>
            <a:endParaRPr lang="en-IN"/>
          </a:p>
        </p:txBody>
      </p:sp>
    </p:spTree>
    <p:extLst>
      <p:ext uri="{BB962C8B-B14F-4D97-AF65-F5344CB8AC3E}">
        <p14:creationId xmlns:p14="http://schemas.microsoft.com/office/powerpoint/2010/main" val="19115814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750F95C-005F-42A1-AD9B-6631B5ED5937}"/>
              </a:ext>
            </a:extLst>
          </p:cNvPr>
          <p:cNvSpPr>
            <a:spLocks noGrp="1"/>
          </p:cNvSpPr>
          <p:nvPr>
            <p:ph type="title"/>
          </p:nvPr>
        </p:nvSpPr>
        <p:spPr>
          <a:xfrm>
            <a:off x="694765" y="157632"/>
            <a:ext cx="10123235" cy="533867"/>
          </a:xfrm>
          <a:prstGeom prst="rect">
            <a:avLst/>
          </a:prstGeom>
          <a:solidFill>
            <a:schemeClr val="tx2">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r>
              <a:rPr lang="en-US" sz="2400" dirty="0">
                <a:solidFill>
                  <a:schemeClr val="accent1"/>
                </a:solidFill>
                <a:latin typeface="Arial" panose="020B0604020202020204" pitchFamily="34" charset="0"/>
                <a:cs typeface="Arial" panose="020B0604020202020204" pitchFamily="34" charset="0"/>
              </a:rPr>
              <a:t>Discounted Payback vs Payback Period</a:t>
            </a:r>
            <a:endParaRPr lang="en-IN" sz="2400" dirty="0">
              <a:solidFill>
                <a:schemeClr val="accent1"/>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A72C9E36-B70B-46C9-997A-F4D7C97AA8D8}"/>
              </a:ext>
            </a:extLst>
          </p:cNvPr>
          <p:cNvSpPr>
            <a:spLocks noGrp="1"/>
          </p:cNvSpPr>
          <p:nvPr>
            <p:ph type="body" sz="half" idx="4294967295"/>
          </p:nvPr>
        </p:nvSpPr>
        <p:spPr>
          <a:xfrm>
            <a:off x="838199" y="887506"/>
            <a:ext cx="10403541" cy="4981482"/>
          </a:xfrm>
        </p:spPr>
        <p:txBody>
          <a:bodyPr>
            <a:normAutofit/>
          </a:bodyPr>
          <a:lstStyle/>
          <a:p>
            <a:pPr algn="just">
              <a:lnSpc>
                <a:spcPct val="200000"/>
              </a:lnSpc>
            </a:pPr>
            <a:endParaRPr lang="en-US" sz="2000" dirty="0">
              <a:latin typeface="Arial" panose="020B0604020202020204" pitchFamily="34" charset="0"/>
              <a:cs typeface="Arial" panose="020B0604020202020204" pitchFamily="34" charset="0"/>
            </a:endParaRPr>
          </a:p>
          <a:p>
            <a:pPr marL="0" indent="0">
              <a:lnSpc>
                <a:spcPct val="200000"/>
              </a:lnSpc>
              <a:buNone/>
            </a:pPr>
            <a:endParaRPr lang="en-US" sz="2000" dirty="0">
              <a:solidFill>
                <a:schemeClr val="accent1"/>
              </a:solidFill>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1A8F9582-68CE-431C-8B72-88E14F073978}"/>
              </a:ext>
            </a:extLst>
          </p:cNvPr>
          <p:cNvPicPr>
            <a:picLocks noChangeAspect="1"/>
          </p:cNvPicPr>
          <p:nvPr/>
        </p:nvPicPr>
        <p:blipFill>
          <a:blip r:embed="rId2"/>
          <a:stretch>
            <a:fillRect/>
          </a:stretch>
        </p:blipFill>
        <p:spPr>
          <a:xfrm>
            <a:off x="11027635" y="51275"/>
            <a:ext cx="966091" cy="746583"/>
          </a:xfrm>
          <a:prstGeom prst="rect">
            <a:avLst/>
          </a:prstGeom>
        </p:spPr>
      </p:pic>
      <p:sp>
        <p:nvSpPr>
          <p:cNvPr id="2" name="Slide Number Placeholder 1">
            <a:extLst>
              <a:ext uri="{FF2B5EF4-FFF2-40B4-BE49-F238E27FC236}">
                <a16:creationId xmlns:a16="http://schemas.microsoft.com/office/drawing/2014/main" id="{3EEE3E35-0D13-469A-9E0F-622ACCC7CC9A}"/>
              </a:ext>
            </a:extLst>
          </p:cNvPr>
          <p:cNvSpPr>
            <a:spLocks noGrp="1"/>
          </p:cNvSpPr>
          <p:nvPr>
            <p:ph type="sldNum" sz="quarter" idx="12"/>
          </p:nvPr>
        </p:nvSpPr>
        <p:spPr/>
        <p:txBody>
          <a:bodyPr/>
          <a:lstStyle/>
          <a:p>
            <a:fld id="{B7991F04-3566-4BB1-A8CB-A35BE8E11603}" type="slidenum">
              <a:rPr lang="en-IN" smtClean="0"/>
              <a:t>24</a:t>
            </a:fld>
            <a:endParaRPr lang="en-IN"/>
          </a:p>
        </p:txBody>
      </p:sp>
      <p:graphicFrame>
        <p:nvGraphicFramePr>
          <p:cNvPr id="6" name="Table 5">
            <a:extLst>
              <a:ext uri="{FF2B5EF4-FFF2-40B4-BE49-F238E27FC236}">
                <a16:creationId xmlns:a16="http://schemas.microsoft.com/office/drawing/2014/main" id="{2FCACA9C-BB1C-4C39-995D-73D75048A5C0}"/>
              </a:ext>
            </a:extLst>
          </p:cNvPr>
          <p:cNvGraphicFramePr>
            <a:graphicFrameLocks noGrp="1"/>
          </p:cNvGraphicFramePr>
          <p:nvPr/>
        </p:nvGraphicFramePr>
        <p:xfrm>
          <a:off x="838200" y="1075764"/>
          <a:ext cx="10515600" cy="4365810"/>
        </p:xfrm>
        <a:graphic>
          <a:graphicData uri="http://schemas.openxmlformats.org/drawingml/2006/table">
            <a:tbl>
              <a:tblPr/>
              <a:tblGrid>
                <a:gridCol w="3505200">
                  <a:extLst>
                    <a:ext uri="{9D8B030D-6E8A-4147-A177-3AD203B41FA5}">
                      <a16:colId xmlns:a16="http://schemas.microsoft.com/office/drawing/2014/main" val="1153609454"/>
                    </a:ext>
                  </a:extLst>
                </a:gridCol>
                <a:gridCol w="3505200">
                  <a:extLst>
                    <a:ext uri="{9D8B030D-6E8A-4147-A177-3AD203B41FA5}">
                      <a16:colId xmlns:a16="http://schemas.microsoft.com/office/drawing/2014/main" val="1243557574"/>
                    </a:ext>
                  </a:extLst>
                </a:gridCol>
                <a:gridCol w="3505200">
                  <a:extLst>
                    <a:ext uri="{9D8B030D-6E8A-4147-A177-3AD203B41FA5}">
                      <a16:colId xmlns:a16="http://schemas.microsoft.com/office/drawing/2014/main" val="177142666"/>
                    </a:ext>
                  </a:extLst>
                </a:gridCol>
              </a:tblGrid>
              <a:tr h="727635">
                <a:tc>
                  <a:txBody>
                    <a:bodyPr/>
                    <a:lstStyle/>
                    <a:p>
                      <a:r>
                        <a:rPr lang="en-IN" sz="2000" dirty="0">
                          <a:solidFill>
                            <a:schemeClr val="accent1"/>
                          </a:solidFill>
                          <a:latin typeface="Arial" panose="020B0604020202020204" pitchFamily="34" charset="0"/>
                          <a:cs typeface="Arial" panose="020B0604020202020204" pitchFamily="34" charset="0"/>
                        </a:rPr>
                        <a:t>Feature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dirty="0">
                          <a:solidFill>
                            <a:schemeClr val="accent1"/>
                          </a:solidFill>
                          <a:latin typeface="Arial" panose="020B0604020202020204" pitchFamily="34" charset="0"/>
                          <a:cs typeface="Arial" panose="020B0604020202020204" pitchFamily="34" charset="0"/>
                        </a:rPr>
                        <a:t>Payback Period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dirty="0">
                          <a:solidFill>
                            <a:schemeClr val="accent1"/>
                          </a:solidFill>
                          <a:latin typeface="Arial" panose="020B0604020202020204" pitchFamily="34" charset="0"/>
                          <a:cs typeface="Arial" panose="020B0604020202020204" pitchFamily="34" charset="0"/>
                        </a:rPr>
                        <a:t>Discounted Payback Period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6814653"/>
                  </a:ext>
                </a:extLst>
              </a:tr>
              <a:tr h="727635">
                <a:tc>
                  <a:txBody>
                    <a:bodyPr/>
                    <a:lstStyle/>
                    <a:p>
                      <a:r>
                        <a:rPr lang="en-IN" sz="2000" dirty="0">
                          <a:latin typeface="Arial" panose="020B0604020202020204" pitchFamily="34" charset="0"/>
                          <a:cs typeface="Arial" panose="020B0604020202020204" pitchFamily="34" charset="0"/>
                        </a:rPr>
                        <a:t>Time Value of Money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dirty="0">
                          <a:latin typeface="Arial" panose="020B0604020202020204" pitchFamily="34" charset="0"/>
                          <a:cs typeface="Arial" panose="020B0604020202020204" pitchFamily="34" charset="0"/>
                        </a:rPr>
                        <a:t>No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dirty="0">
                          <a:latin typeface="Arial" panose="020B0604020202020204" pitchFamily="34" charset="0"/>
                          <a:cs typeface="Arial" panose="020B0604020202020204" pitchFamily="34" charset="0"/>
                        </a:rPr>
                        <a:t> Yes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94841594"/>
                  </a:ext>
                </a:extLst>
              </a:tr>
              <a:tr h="727635">
                <a:tc>
                  <a:txBody>
                    <a:bodyPr/>
                    <a:lstStyle/>
                    <a:p>
                      <a:r>
                        <a:rPr lang="en-IN" sz="2000">
                          <a:latin typeface="Arial" panose="020B0604020202020204" pitchFamily="34" charset="0"/>
                          <a:cs typeface="Arial" panose="020B0604020202020204" pitchFamily="34" charset="0"/>
                        </a:rPr>
                        <a:t>Complexity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dirty="0">
                          <a:latin typeface="Arial" panose="020B0604020202020204" pitchFamily="34" charset="0"/>
                          <a:cs typeface="Arial" panose="020B0604020202020204" pitchFamily="34" charset="0"/>
                        </a:rPr>
                        <a:t>Simple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dirty="0">
                          <a:latin typeface="Arial" panose="020B0604020202020204" pitchFamily="34" charset="0"/>
                          <a:cs typeface="Arial" panose="020B0604020202020204" pitchFamily="34" charset="0"/>
                        </a:rPr>
                        <a:t>More complex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35054655"/>
                  </a:ext>
                </a:extLst>
              </a:tr>
              <a:tr h="727635">
                <a:tc>
                  <a:txBody>
                    <a:bodyPr/>
                    <a:lstStyle/>
                    <a:p>
                      <a:r>
                        <a:rPr lang="en-IN" sz="2000" dirty="0">
                          <a:latin typeface="Arial" panose="020B0604020202020204" pitchFamily="34" charset="0"/>
                          <a:cs typeface="Arial" panose="020B0604020202020204" pitchFamily="34" charset="0"/>
                        </a:rPr>
                        <a:t>Decision Focus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a:latin typeface="Arial" panose="020B0604020202020204" pitchFamily="34" charset="0"/>
                          <a:cs typeface="Arial" panose="020B0604020202020204" pitchFamily="34" charset="0"/>
                        </a:rPr>
                        <a:t>Liquidity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dirty="0">
                          <a:latin typeface="Arial" panose="020B0604020202020204" pitchFamily="34" charset="0"/>
                          <a:cs typeface="Arial" panose="020B0604020202020204" pitchFamily="34" charset="0"/>
                        </a:rPr>
                        <a:t>Liquidity + TVM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99152165"/>
                  </a:ext>
                </a:extLst>
              </a:tr>
              <a:tr h="727635">
                <a:tc>
                  <a:txBody>
                    <a:bodyPr/>
                    <a:lstStyle/>
                    <a:p>
                      <a:r>
                        <a:rPr lang="en-IN" sz="2000">
                          <a:latin typeface="Arial" panose="020B0604020202020204" pitchFamily="34" charset="0"/>
                          <a:cs typeface="Arial" panose="020B0604020202020204" pitchFamily="34" charset="0"/>
                        </a:rPr>
                        <a:t>Considers Full Cash Flows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dirty="0">
                          <a:latin typeface="Arial" panose="020B0604020202020204" pitchFamily="34" charset="0"/>
                          <a:cs typeface="Arial" panose="020B0604020202020204" pitchFamily="34" charset="0"/>
                        </a:rPr>
                        <a:t> No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dirty="0">
                          <a:latin typeface="Arial" panose="020B0604020202020204" pitchFamily="34" charset="0"/>
                          <a:cs typeface="Arial" panose="020B0604020202020204" pitchFamily="34" charset="0"/>
                        </a:rPr>
                        <a:t>No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97670869"/>
                  </a:ext>
                </a:extLst>
              </a:tr>
              <a:tr h="727635">
                <a:tc>
                  <a:txBody>
                    <a:bodyPr/>
                    <a:lstStyle/>
                    <a:p>
                      <a:r>
                        <a:rPr lang="en-IN" sz="2000">
                          <a:latin typeface="Arial" panose="020B0604020202020204" pitchFamily="34" charset="0"/>
                          <a:cs typeface="Arial" panose="020B0604020202020204" pitchFamily="34" charset="0"/>
                        </a:rPr>
                        <a:t>Practical Use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a:latin typeface="Arial" panose="020B0604020202020204" pitchFamily="34" charset="0"/>
                          <a:cs typeface="Arial" panose="020B0604020202020204" pitchFamily="34" charset="0"/>
                        </a:rPr>
                        <a:t>Quick screening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dirty="0">
                          <a:latin typeface="Arial" panose="020B0604020202020204" pitchFamily="34" charset="0"/>
                          <a:cs typeface="Arial" panose="020B0604020202020204" pitchFamily="34" charset="0"/>
                        </a:rPr>
                        <a:t>More accurate screening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28662615"/>
                  </a:ext>
                </a:extLst>
              </a:tr>
            </a:tbl>
          </a:graphicData>
        </a:graphic>
      </p:graphicFrame>
    </p:spTree>
    <p:extLst>
      <p:ext uri="{BB962C8B-B14F-4D97-AF65-F5344CB8AC3E}">
        <p14:creationId xmlns:p14="http://schemas.microsoft.com/office/powerpoint/2010/main" val="33222689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750F95C-005F-42A1-AD9B-6631B5ED5937}"/>
              </a:ext>
            </a:extLst>
          </p:cNvPr>
          <p:cNvSpPr>
            <a:spLocks noGrp="1"/>
          </p:cNvSpPr>
          <p:nvPr>
            <p:ph type="title"/>
          </p:nvPr>
        </p:nvSpPr>
        <p:spPr>
          <a:xfrm>
            <a:off x="730623" y="153146"/>
            <a:ext cx="10123235" cy="533867"/>
          </a:xfrm>
          <a:prstGeom prst="rect">
            <a:avLst/>
          </a:prstGeom>
          <a:solidFill>
            <a:schemeClr val="tx2">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r>
              <a:rPr lang="en-IN" sz="2400" dirty="0">
                <a:solidFill>
                  <a:schemeClr val="accent1"/>
                </a:solidFill>
                <a:latin typeface="Arial" panose="020B0604020202020204" pitchFamily="34" charset="0"/>
                <a:cs typeface="Arial" panose="020B0604020202020204" pitchFamily="34" charset="0"/>
              </a:rPr>
              <a:t>Summary</a:t>
            </a:r>
          </a:p>
        </p:txBody>
      </p:sp>
      <p:sp>
        <p:nvSpPr>
          <p:cNvPr id="3" name="Content Placeholder 2">
            <a:extLst>
              <a:ext uri="{FF2B5EF4-FFF2-40B4-BE49-F238E27FC236}">
                <a16:creationId xmlns:a16="http://schemas.microsoft.com/office/drawing/2014/main" id="{A72C9E36-B70B-46C9-997A-F4D7C97AA8D8}"/>
              </a:ext>
            </a:extLst>
          </p:cNvPr>
          <p:cNvSpPr>
            <a:spLocks noGrp="1"/>
          </p:cNvSpPr>
          <p:nvPr>
            <p:ph type="body" sz="half" idx="4294967295"/>
          </p:nvPr>
        </p:nvSpPr>
        <p:spPr>
          <a:xfrm>
            <a:off x="838199" y="887506"/>
            <a:ext cx="10403541" cy="4981482"/>
          </a:xfrm>
        </p:spPr>
        <p:txBody>
          <a:bodyPr>
            <a:normAutofit/>
          </a:bodyPr>
          <a:lstStyle/>
          <a:p>
            <a:pPr algn="just">
              <a:lnSpc>
                <a:spcPct val="200000"/>
              </a:lnSpc>
            </a:pPr>
            <a:endParaRPr lang="en-US" sz="2000" dirty="0">
              <a:latin typeface="Arial" panose="020B0604020202020204" pitchFamily="34" charset="0"/>
              <a:cs typeface="Arial" panose="020B0604020202020204" pitchFamily="34" charset="0"/>
            </a:endParaRPr>
          </a:p>
          <a:p>
            <a:pPr marL="0" indent="0">
              <a:lnSpc>
                <a:spcPct val="200000"/>
              </a:lnSpc>
              <a:buNone/>
            </a:pPr>
            <a:endParaRPr lang="en-US" sz="2000" dirty="0">
              <a:solidFill>
                <a:schemeClr val="accent1"/>
              </a:solidFill>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1A8F9582-68CE-431C-8B72-88E14F073978}"/>
              </a:ext>
            </a:extLst>
          </p:cNvPr>
          <p:cNvPicPr>
            <a:picLocks noChangeAspect="1"/>
          </p:cNvPicPr>
          <p:nvPr/>
        </p:nvPicPr>
        <p:blipFill>
          <a:blip r:embed="rId2"/>
          <a:stretch>
            <a:fillRect/>
          </a:stretch>
        </p:blipFill>
        <p:spPr>
          <a:xfrm>
            <a:off x="11027635" y="51275"/>
            <a:ext cx="966091" cy="746583"/>
          </a:xfrm>
          <a:prstGeom prst="rect">
            <a:avLst/>
          </a:prstGeom>
        </p:spPr>
      </p:pic>
      <p:sp>
        <p:nvSpPr>
          <p:cNvPr id="2" name="Slide Number Placeholder 1">
            <a:extLst>
              <a:ext uri="{FF2B5EF4-FFF2-40B4-BE49-F238E27FC236}">
                <a16:creationId xmlns:a16="http://schemas.microsoft.com/office/drawing/2014/main" id="{3EEE3E35-0D13-469A-9E0F-622ACCC7CC9A}"/>
              </a:ext>
            </a:extLst>
          </p:cNvPr>
          <p:cNvSpPr>
            <a:spLocks noGrp="1"/>
          </p:cNvSpPr>
          <p:nvPr>
            <p:ph type="sldNum" sz="quarter" idx="12"/>
          </p:nvPr>
        </p:nvSpPr>
        <p:spPr/>
        <p:txBody>
          <a:bodyPr/>
          <a:lstStyle/>
          <a:p>
            <a:fld id="{B7991F04-3566-4BB1-A8CB-A35BE8E11603}" type="slidenum">
              <a:rPr lang="en-IN" smtClean="0"/>
              <a:t>25</a:t>
            </a:fld>
            <a:endParaRPr lang="en-IN"/>
          </a:p>
        </p:txBody>
      </p:sp>
      <p:graphicFrame>
        <p:nvGraphicFramePr>
          <p:cNvPr id="6" name="Table 5">
            <a:extLst>
              <a:ext uri="{FF2B5EF4-FFF2-40B4-BE49-F238E27FC236}">
                <a16:creationId xmlns:a16="http://schemas.microsoft.com/office/drawing/2014/main" id="{77B59A66-5151-4745-A0CF-D73BED8E1706}"/>
              </a:ext>
            </a:extLst>
          </p:cNvPr>
          <p:cNvGraphicFramePr>
            <a:graphicFrameLocks noGrp="1"/>
          </p:cNvGraphicFramePr>
          <p:nvPr/>
        </p:nvGraphicFramePr>
        <p:xfrm>
          <a:off x="1577788" y="1285220"/>
          <a:ext cx="8731624" cy="4039815"/>
        </p:xfrm>
        <a:graphic>
          <a:graphicData uri="http://schemas.openxmlformats.org/drawingml/2006/table">
            <a:tbl>
              <a:tblPr/>
              <a:tblGrid>
                <a:gridCol w="4365812">
                  <a:extLst>
                    <a:ext uri="{9D8B030D-6E8A-4147-A177-3AD203B41FA5}">
                      <a16:colId xmlns:a16="http://schemas.microsoft.com/office/drawing/2014/main" val="4184907886"/>
                    </a:ext>
                  </a:extLst>
                </a:gridCol>
                <a:gridCol w="4365812">
                  <a:extLst>
                    <a:ext uri="{9D8B030D-6E8A-4147-A177-3AD203B41FA5}">
                      <a16:colId xmlns:a16="http://schemas.microsoft.com/office/drawing/2014/main" val="2003579490"/>
                    </a:ext>
                  </a:extLst>
                </a:gridCol>
              </a:tblGrid>
              <a:tr h="807963">
                <a:tc>
                  <a:txBody>
                    <a:bodyPr/>
                    <a:lstStyle/>
                    <a:p>
                      <a:r>
                        <a:rPr lang="en-IN" sz="2000" dirty="0">
                          <a:solidFill>
                            <a:schemeClr val="accent1"/>
                          </a:solidFill>
                          <a:latin typeface="Arial" panose="020B0604020202020204" pitchFamily="34" charset="0"/>
                          <a:cs typeface="Arial" panose="020B0604020202020204" pitchFamily="34" charset="0"/>
                        </a:rPr>
                        <a:t>Step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dirty="0">
                          <a:solidFill>
                            <a:schemeClr val="accent1"/>
                          </a:solidFill>
                          <a:latin typeface="Arial" panose="020B0604020202020204" pitchFamily="34" charset="0"/>
                          <a:cs typeface="Arial" panose="020B0604020202020204" pitchFamily="34" charset="0"/>
                        </a:rPr>
                        <a:t>Description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31389166"/>
                  </a:ext>
                </a:extLst>
              </a:tr>
              <a:tr h="807963">
                <a:tc>
                  <a:txBody>
                    <a:bodyPr/>
                    <a:lstStyle/>
                    <a:p>
                      <a:r>
                        <a:rPr lang="en-IN" sz="2000" dirty="0">
                          <a:latin typeface="Arial" panose="020B0604020202020204" pitchFamily="34" charset="0"/>
                          <a:cs typeface="Arial" panose="020B0604020202020204" pitchFamily="34" charset="0"/>
                        </a:rPr>
                        <a:t>1. Discount cash flows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a:latin typeface="Arial" panose="020B0604020202020204" pitchFamily="34" charset="0"/>
                          <a:cs typeface="Arial" panose="020B0604020202020204" pitchFamily="34" charset="0"/>
                        </a:rPr>
                        <a:t>Calculate PV of each cash inflow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09524851"/>
                  </a:ext>
                </a:extLst>
              </a:tr>
              <a:tr h="807963">
                <a:tc>
                  <a:txBody>
                    <a:bodyPr/>
                    <a:lstStyle/>
                    <a:p>
                      <a:r>
                        <a:rPr lang="en-IN" sz="2000" dirty="0">
                          <a:latin typeface="Arial" panose="020B0604020202020204" pitchFamily="34" charset="0"/>
                          <a:cs typeface="Arial" panose="020B0604020202020204" pitchFamily="34" charset="0"/>
                        </a:rPr>
                        <a:t>2. Cumulative sum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latin typeface="Arial" panose="020B0604020202020204" pitchFamily="34" charset="0"/>
                          <a:cs typeface="Arial" panose="020B0604020202020204" pitchFamily="34" charset="0"/>
                        </a:rPr>
                        <a:t>Add discounted cash flows cumulatively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49820099"/>
                  </a:ext>
                </a:extLst>
              </a:tr>
              <a:tr h="807963">
                <a:tc>
                  <a:txBody>
                    <a:bodyPr/>
                    <a:lstStyle/>
                    <a:p>
                      <a:r>
                        <a:rPr lang="en-IN" sz="2000" dirty="0">
                          <a:latin typeface="Arial" panose="020B0604020202020204" pitchFamily="34" charset="0"/>
                          <a:cs typeface="Arial" panose="020B0604020202020204" pitchFamily="34" charset="0"/>
                        </a:rPr>
                        <a:t>3. Determine payback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latin typeface="Arial" panose="020B0604020202020204" pitchFamily="34" charset="0"/>
                          <a:cs typeface="Arial" panose="020B0604020202020204" pitchFamily="34" charset="0"/>
                        </a:rPr>
                        <a:t>Identify when cumulative PV equals initial cost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18463131"/>
                  </a:ext>
                </a:extLst>
              </a:tr>
              <a:tr h="807963">
                <a:tc>
                  <a:txBody>
                    <a:bodyPr/>
                    <a:lstStyle/>
                    <a:p>
                      <a:r>
                        <a:rPr lang="en-IN" sz="2000">
                          <a:latin typeface="Arial" panose="020B0604020202020204" pitchFamily="34" charset="0"/>
                          <a:cs typeface="Arial" panose="020B0604020202020204" pitchFamily="34" charset="0"/>
                        </a:rPr>
                        <a:t>4. Calculate fraction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latin typeface="Arial" panose="020B0604020202020204" pitchFamily="34" charset="0"/>
                          <a:cs typeface="Arial" panose="020B0604020202020204" pitchFamily="34" charset="0"/>
                        </a:rPr>
                        <a:t>Find fraction of the final year needed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20073387"/>
                  </a:ext>
                </a:extLst>
              </a:tr>
            </a:tbl>
          </a:graphicData>
        </a:graphic>
      </p:graphicFrame>
    </p:spTree>
    <p:extLst>
      <p:ext uri="{BB962C8B-B14F-4D97-AF65-F5344CB8AC3E}">
        <p14:creationId xmlns:p14="http://schemas.microsoft.com/office/powerpoint/2010/main" val="6623364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750F95C-005F-42A1-AD9B-6631B5ED5937}"/>
              </a:ext>
            </a:extLst>
          </p:cNvPr>
          <p:cNvSpPr>
            <a:spLocks noGrp="1"/>
          </p:cNvSpPr>
          <p:nvPr>
            <p:ph type="title"/>
          </p:nvPr>
        </p:nvSpPr>
        <p:spPr>
          <a:xfrm>
            <a:off x="730623" y="153146"/>
            <a:ext cx="10123235" cy="533867"/>
          </a:xfrm>
          <a:prstGeom prst="rect">
            <a:avLst/>
          </a:prstGeom>
          <a:solidFill>
            <a:schemeClr val="tx2">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br>
              <a:rPr lang="en-IN" sz="1050" dirty="0"/>
            </a:br>
            <a:br>
              <a:rPr lang="en-IN" sz="1050" dirty="0"/>
            </a:br>
            <a:br>
              <a:rPr lang="en-IN" sz="1050" dirty="0"/>
            </a:br>
            <a:br>
              <a:rPr lang="en-IN" sz="1050" dirty="0"/>
            </a:br>
            <a:r>
              <a:rPr lang="en-US" sz="2400" dirty="0">
                <a:solidFill>
                  <a:schemeClr val="accent1"/>
                </a:solidFill>
                <a:latin typeface="Arial" panose="020B0604020202020204" pitchFamily="34" charset="0"/>
                <a:cs typeface="Arial" panose="020B0604020202020204" pitchFamily="34" charset="0"/>
              </a:rPr>
              <a:t>Questions</a:t>
            </a:r>
            <a:br>
              <a:rPr lang="en-IN" sz="2400" dirty="0">
                <a:solidFill>
                  <a:schemeClr val="accent1"/>
                </a:solidFill>
                <a:latin typeface="Arial" panose="020B0604020202020204" pitchFamily="34" charset="0"/>
                <a:cs typeface="Arial" panose="020B0604020202020204" pitchFamily="34" charset="0"/>
              </a:rPr>
            </a:br>
            <a:br>
              <a:rPr lang="en-IN" sz="2400" dirty="0">
                <a:solidFill>
                  <a:schemeClr val="accent1"/>
                </a:solidFill>
                <a:latin typeface="Arial" panose="020B0604020202020204" pitchFamily="34" charset="0"/>
                <a:cs typeface="Arial" panose="020B0604020202020204" pitchFamily="34" charset="0"/>
              </a:rPr>
            </a:br>
            <a:endParaRPr lang="en-IN" sz="2400" dirty="0">
              <a:solidFill>
                <a:schemeClr val="accent1"/>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A72C9E36-B70B-46C9-997A-F4D7C97AA8D8}"/>
              </a:ext>
            </a:extLst>
          </p:cNvPr>
          <p:cNvSpPr>
            <a:spLocks noGrp="1"/>
          </p:cNvSpPr>
          <p:nvPr>
            <p:ph type="body" sz="half" idx="4294967295"/>
          </p:nvPr>
        </p:nvSpPr>
        <p:spPr>
          <a:xfrm>
            <a:off x="838199" y="887506"/>
            <a:ext cx="10403541" cy="4981482"/>
          </a:xfrm>
        </p:spPr>
        <p:txBody>
          <a:bodyPr>
            <a:normAutofit/>
          </a:bodyPr>
          <a:lstStyle/>
          <a:p>
            <a:pPr marL="0" indent="0">
              <a:lnSpc>
                <a:spcPct val="250000"/>
              </a:lnSpc>
              <a:buNone/>
            </a:pPr>
            <a:r>
              <a:rPr lang="en-US" sz="1400" b="1" dirty="0">
                <a:solidFill>
                  <a:schemeClr val="accent1"/>
                </a:solidFill>
              </a:rPr>
              <a:t> </a:t>
            </a:r>
            <a:r>
              <a:rPr lang="en-US" sz="2000" dirty="0">
                <a:solidFill>
                  <a:schemeClr val="accent1"/>
                </a:solidFill>
                <a:latin typeface="Arial" panose="020B0604020202020204" pitchFamily="34" charset="0"/>
                <a:cs typeface="Arial" panose="020B0604020202020204" pitchFamily="34" charset="0"/>
              </a:rPr>
              <a:t>Question 2:</a:t>
            </a:r>
          </a:p>
          <a:p>
            <a:pPr marL="0" indent="0" algn="just">
              <a:lnSpc>
                <a:spcPct val="200000"/>
              </a:lnSpc>
              <a:buNone/>
            </a:pPr>
            <a:r>
              <a:rPr lang="en-US" sz="2000" i="1" dirty="0">
                <a:latin typeface="Arial" panose="020B0604020202020204" pitchFamily="34" charset="0"/>
                <a:cs typeface="Arial" panose="020B0604020202020204" pitchFamily="34" charset="0"/>
              </a:rPr>
              <a:t>Why might the discounted payback period still be insufficient for making investment decisions despite considering the time value of money?</a:t>
            </a:r>
          </a:p>
        </p:txBody>
      </p:sp>
      <p:pic>
        <p:nvPicPr>
          <p:cNvPr id="5" name="Picture 4">
            <a:extLst>
              <a:ext uri="{FF2B5EF4-FFF2-40B4-BE49-F238E27FC236}">
                <a16:creationId xmlns:a16="http://schemas.microsoft.com/office/drawing/2014/main" id="{1A8F9582-68CE-431C-8B72-88E14F073978}"/>
              </a:ext>
            </a:extLst>
          </p:cNvPr>
          <p:cNvPicPr>
            <a:picLocks noChangeAspect="1"/>
          </p:cNvPicPr>
          <p:nvPr/>
        </p:nvPicPr>
        <p:blipFill>
          <a:blip r:embed="rId2"/>
          <a:stretch>
            <a:fillRect/>
          </a:stretch>
        </p:blipFill>
        <p:spPr>
          <a:xfrm>
            <a:off x="11027635" y="51275"/>
            <a:ext cx="966091" cy="746583"/>
          </a:xfrm>
          <a:prstGeom prst="rect">
            <a:avLst/>
          </a:prstGeom>
        </p:spPr>
      </p:pic>
      <p:sp>
        <p:nvSpPr>
          <p:cNvPr id="2" name="Slide Number Placeholder 1">
            <a:extLst>
              <a:ext uri="{FF2B5EF4-FFF2-40B4-BE49-F238E27FC236}">
                <a16:creationId xmlns:a16="http://schemas.microsoft.com/office/drawing/2014/main" id="{3EEE3E35-0D13-469A-9E0F-622ACCC7CC9A}"/>
              </a:ext>
            </a:extLst>
          </p:cNvPr>
          <p:cNvSpPr>
            <a:spLocks noGrp="1"/>
          </p:cNvSpPr>
          <p:nvPr>
            <p:ph type="sldNum" sz="quarter" idx="12"/>
          </p:nvPr>
        </p:nvSpPr>
        <p:spPr/>
        <p:txBody>
          <a:bodyPr/>
          <a:lstStyle/>
          <a:p>
            <a:fld id="{B7991F04-3566-4BB1-A8CB-A35BE8E11603}" type="slidenum">
              <a:rPr lang="en-IN" smtClean="0"/>
              <a:t>26</a:t>
            </a:fld>
            <a:endParaRPr lang="en-IN"/>
          </a:p>
        </p:txBody>
      </p:sp>
    </p:spTree>
    <p:extLst>
      <p:ext uri="{BB962C8B-B14F-4D97-AF65-F5344CB8AC3E}">
        <p14:creationId xmlns:p14="http://schemas.microsoft.com/office/powerpoint/2010/main" val="164677054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750F95C-005F-42A1-AD9B-6631B5ED5937}"/>
              </a:ext>
            </a:extLst>
          </p:cNvPr>
          <p:cNvSpPr>
            <a:spLocks noGrp="1"/>
          </p:cNvSpPr>
          <p:nvPr>
            <p:ph type="title"/>
          </p:nvPr>
        </p:nvSpPr>
        <p:spPr>
          <a:xfrm>
            <a:off x="730623" y="153146"/>
            <a:ext cx="10123235" cy="533867"/>
          </a:xfrm>
          <a:prstGeom prst="rect">
            <a:avLst/>
          </a:prstGeom>
          <a:solidFill>
            <a:schemeClr val="tx2">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br>
              <a:rPr lang="en-IN" sz="1050" dirty="0"/>
            </a:br>
            <a:br>
              <a:rPr lang="en-IN" sz="1050" dirty="0"/>
            </a:br>
            <a:br>
              <a:rPr lang="en-IN" sz="1050" dirty="0"/>
            </a:br>
            <a:br>
              <a:rPr lang="en-IN" sz="1050" dirty="0"/>
            </a:br>
            <a:r>
              <a:rPr lang="en-US" sz="2400" dirty="0">
                <a:solidFill>
                  <a:schemeClr val="accent1"/>
                </a:solidFill>
                <a:latin typeface="Arial" panose="020B0604020202020204" pitchFamily="34" charset="0"/>
                <a:cs typeface="Arial" panose="020B0604020202020204" pitchFamily="34" charset="0"/>
              </a:rPr>
              <a:t>Answer</a:t>
            </a:r>
            <a:br>
              <a:rPr lang="en-IN" sz="2400" dirty="0">
                <a:solidFill>
                  <a:schemeClr val="accent1"/>
                </a:solidFill>
                <a:latin typeface="Arial" panose="020B0604020202020204" pitchFamily="34" charset="0"/>
                <a:cs typeface="Arial" panose="020B0604020202020204" pitchFamily="34" charset="0"/>
              </a:rPr>
            </a:br>
            <a:endParaRPr lang="en-IN" sz="2400" dirty="0">
              <a:solidFill>
                <a:schemeClr val="accent1"/>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A72C9E36-B70B-46C9-997A-F4D7C97AA8D8}"/>
              </a:ext>
            </a:extLst>
          </p:cNvPr>
          <p:cNvSpPr>
            <a:spLocks noGrp="1"/>
          </p:cNvSpPr>
          <p:nvPr>
            <p:ph type="body" sz="half" idx="4294967295"/>
          </p:nvPr>
        </p:nvSpPr>
        <p:spPr>
          <a:xfrm>
            <a:off x="838199" y="887506"/>
            <a:ext cx="10403541" cy="4981482"/>
          </a:xfrm>
        </p:spPr>
        <p:txBody>
          <a:bodyPr>
            <a:normAutofit/>
          </a:bodyPr>
          <a:lstStyle/>
          <a:p>
            <a:pPr marL="0" indent="0" algn="just">
              <a:lnSpc>
                <a:spcPct val="200000"/>
              </a:lnSpc>
              <a:buNone/>
            </a:pPr>
            <a:r>
              <a:rPr lang="en-US" sz="2000" dirty="0">
                <a:latin typeface="Arial" panose="020B0604020202020204" pitchFamily="34" charset="0"/>
                <a:cs typeface="Arial" panose="020B0604020202020204" pitchFamily="34" charset="0"/>
              </a:rPr>
              <a:t>Though DPP accounts for the time value of money, it </a:t>
            </a:r>
            <a:r>
              <a:rPr lang="en-US" sz="2000" b="1" dirty="0">
                <a:latin typeface="Arial" panose="020B0604020202020204" pitchFamily="34" charset="0"/>
                <a:cs typeface="Arial" panose="020B0604020202020204" pitchFamily="34" charset="0"/>
              </a:rPr>
              <a:t>ignores cash flows beyond the payback period</a:t>
            </a:r>
            <a:r>
              <a:rPr lang="en-US" sz="2000" dirty="0">
                <a:latin typeface="Arial" panose="020B0604020202020204" pitchFamily="34" charset="0"/>
                <a:cs typeface="Arial" panose="020B0604020202020204" pitchFamily="34" charset="0"/>
              </a:rPr>
              <a:t>, which can be significant. This limitation can lead to rejecting projects that are profitable in the long run but recover the investment slowly. It also doesn’t measure overall profitability or compare the scale of projects, so relying solely on DPP can result in suboptimal decisions.</a:t>
            </a:r>
          </a:p>
        </p:txBody>
      </p:sp>
      <p:pic>
        <p:nvPicPr>
          <p:cNvPr id="5" name="Picture 4">
            <a:extLst>
              <a:ext uri="{FF2B5EF4-FFF2-40B4-BE49-F238E27FC236}">
                <a16:creationId xmlns:a16="http://schemas.microsoft.com/office/drawing/2014/main" id="{1A8F9582-68CE-431C-8B72-88E14F073978}"/>
              </a:ext>
            </a:extLst>
          </p:cNvPr>
          <p:cNvPicPr>
            <a:picLocks noChangeAspect="1"/>
          </p:cNvPicPr>
          <p:nvPr/>
        </p:nvPicPr>
        <p:blipFill>
          <a:blip r:embed="rId2"/>
          <a:stretch>
            <a:fillRect/>
          </a:stretch>
        </p:blipFill>
        <p:spPr>
          <a:xfrm>
            <a:off x="11027635" y="51275"/>
            <a:ext cx="966091" cy="746583"/>
          </a:xfrm>
          <a:prstGeom prst="rect">
            <a:avLst/>
          </a:prstGeom>
        </p:spPr>
      </p:pic>
      <p:sp>
        <p:nvSpPr>
          <p:cNvPr id="2" name="Slide Number Placeholder 1">
            <a:extLst>
              <a:ext uri="{FF2B5EF4-FFF2-40B4-BE49-F238E27FC236}">
                <a16:creationId xmlns:a16="http://schemas.microsoft.com/office/drawing/2014/main" id="{3EEE3E35-0D13-469A-9E0F-622ACCC7CC9A}"/>
              </a:ext>
            </a:extLst>
          </p:cNvPr>
          <p:cNvSpPr>
            <a:spLocks noGrp="1"/>
          </p:cNvSpPr>
          <p:nvPr>
            <p:ph type="sldNum" sz="quarter" idx="12"/>
          </p:nvPr>
        </p:nvSpPr>
        <p:spPr/>
        <p:txBody>
          <a:bodyPr/>
          <a:lstStyle/>
          <a:p>
            <a:fld id="{B7991F04-3566-4BB1-A8CB-A35BE8E11603}" type="slidenum">
              <a:rPr lang="en-IN" smtClean="0"/>
              <a:t>27</a:t>
            </a:fld>
            <a:endParaRPr lang="en-IN"/>
          </a:p>
        </p:txBody>
      </p:sp>
    </p:spTree>
    <p:extLst>
      <p:ext uri="{BB962C8B-B14F-4D97-AF65-F5344CB8AC3E}">
        <p14:creationId xmlns:p14="http://schemas.microsoft.com/office/powerpoint/2010/main" val="314955591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750F95C-005F-42A1-AD9B-6631B5ED5937}"/>
              </a:ext>
            </a:extLst>
          </p:cNvPr>
          <p:cNvSpPr>
            <a:spLocks noGrp="1"/>
          </p:cNvSpPr>
          <p:nvPr>
            <p:ph type="title"/>
          </p:nvPr>
        </p:nvSpPr>
        <p:spPr>
          <a:xfrm>
            <a:off x="748553" y="153146"/>
            <a:ext cx="10123235" cy="533867"/>
          </a:xfrm>
          <a:prstGeom prst="rect">
            <a:avLst/>
          </a:prstGeom>
          <a:solidFill>
            <a:schemeClr val="tx2">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br>
              <a:rPr lang="en-US" sz="1400" b="1" dirty="0">
                <a:solidFill>
                  <a:schemeClr val="accent1"/>
                </a:solidFill>
                <a:latin typeface="Arial" panose="020B0604020202020204" pitchFamily="34" charset="0"/>
                <a:cs typeface="Arial" panose="020B0604020202020204" pitchFamily="34" charset="0"/>
              </a:rPr>
            </a:br>
            <a:br>
              <a:rPr lang="en-US" sz="1400" b="1" dirty="0">
                <a:solidFill>
                  <a:schemeClr val="accent1"/>
                </a:solidFill>
                <a:latin typeface="Arial" panose="020B0604020202020204" pitchFamily="34" charset="0"/>
                <a:cs typeface="Arial" panose="020B0604020202020204" pitchFamily="34" charset="0"/>
              </a:rPr>
            </a:br>
            <a:r>
              <a:rPr lang="en-IN" sz="2400" dirty="0">
                <a:solidFill>
                  <a:schemeClr val="accent1"/>
                </a:solidFill>
                <a:latin typeface="Arial" panose="020B0604020202020204" pitchFamily="34" charset="0"/>
                <a:cs typeface="Arial" panose="020B0604020202020204" pitchFamily="34" charset="0"/>
              </a:rPr>
              <a:t>Net Present Value (NPV)</a:t>
            </a:r>
            <a:br>
              <a:rPr lang="en-US" sz="2400" b="1" dirty="0">
                <a:solidFill>
                  <a:schemeClr val="accent1"/>
                </a:solidFill>
                <a:latin typeface="Arial" panose="020B0604020202020204" pitchFamily="34" charset="0"/>
                <a:cs typeface="Arial" panose="020B0604020202020204" pitchFamily="34" charset="0"/>
              </a:rPr>
            </a:br>
            <a:endParaRPr lang="en-IN" sz="2400" dirty="0">
              <a:solidFill>
                <a:schemeClr val="accent1"/>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72C9E36-B70B-46C9-997A-F4D7C97AA8D8}"/>
                  </a:ext>
                </a:extLst>
              </p:cNvPr>
              <p:cNvSpPr>
                <a:spLocks noGrp="1"/>
              </p:cNvSpPr>
              <p:nvPr>
                <p:ph type="body" sz="half" idx="4294967295"/>
              </p:nvPr>
            </p:nvSpPr>
            <p:spPr>
              <a:xfrm>
                <a:off x="838199" y="887506"/>
                <a:ext cx="10403541" cy="4981482"/>
              </a:xfrm>
            </p:spPr>
            <p:txBody>
              <a:bodyPr>
                <a:normAutofit fontScale="92500" lnSpcReduction="10000"/>
              </a:bodyPr>
              <a:lstStyle/>
              <a:p>
                <a:pPr marL="0" indent="0">
                  <a:lnSpc>
                    <a:spcPct val="150000"/>
                  </a:lnSpc>
                  <a:buNone/>
                </a:pPr>
                <a:r>
                  <a:rPr lang="en-US" sz="2000" dirty="0">
                    <a:latin typeface="Arial" panose="020B0604020202020204" pitchFamily="34" charset="0"/>
                    <a:cs typeface="Arial" panose="020B0604020202020204" pitchFamily="34" charset="0"/>
                  </a:rPr>
                  <a:t>Net Present Value (NPV) is the difference between the present value of cash inflows and the present value of cash outflows over a period of time. It is used to determine the profitability of an investment or project.</a:t>
                </a:r>
              </a:p>
              <a:p>
                <a:pPr marL="0" indent="0">
                  <a:lnSpc>
                    <a:spcPct val="150000"/>
                  </a:lnSpc>
                  <a:buNone/>
                </a:pPr>
                <a:r>
                  <a:rPr lang="en-IN" sz="2000" dirty="0">
                    <a:solidFill>
                      <a:schemeClr val="accent1"/>
                    </a:solidFill>
                    <a:latin typeface="Arial" panose="020B0604020202020204" pitchFamily="34" charset="0"/>
                    <a:cs typeface="Arial" panose="020B0604020202020204" pitchFamily="34" charset="0"/>
                  </a:rPr>
                  <a:t>NPV Formula </a:t>
                </a:r>
                <a:r>
                  <a:rPr lang="en-IN" sz="2400" dirty="0">
                    <a:solidFill>
                      <a:schemeClr val="accent1"/>
                    </a:solidFill>
                    <a:latin typeface="Cambria Math" panose="02040503050406030204" pitchFamily="18" charset="0"/>
                    <a:ea typeface="Cambria Math" panose="02040503050406030204" pitchFamily="18" charset="0"/>
                    <a:cs typeface="Arial" panose="020B0604020202020204" pitchFamily="34" charset="0"/>
                  </a:rPr>
                  <a:t>:</a:t>
                </a:r>
                <a:r>
                  <a:rPr lang="en-US" sz="2400" b="0" dirty="0">
                    <a:latin typeface="Cambria Math" panose="02040503050406030204" pitchFamily="18" charset="0"/>
                    <a:ea typeface="Cambria Math" panose="02040503050406030204" pitchFamily="18" charset="0"/>
                    <a:cs typeface="Times New Roman" panose="02020603050405020304" pitchFamily="18" charset="0"/>
                  </a:rPr>
                  <a:t>                                NP</a:t>
                </a:r>
                <a14:m>
                  <m:oMath xmlns:m="http://schemas.openxmlformats.org/officeDocument/2006/math">
                    <m:r>
                      <a:rPr lang="en-US" sz="2400" b="0" i="1" smtClean="0">
                        <a:latin typeface="Cambria Math" panose="02040503050406030204" pitchFamily="18" charset="0"/>
                        <a:ea typeface="Cambria Math" panose="02040503050406030204" pitchFamily="18" charset="0"/>
                        <a:cs typeface="Times New Roman" panose="02020603050405020304" pitchFamily="18" charset="0"/>
                      </a:rPr>
                      <m:t>𝑉</m:t>
                    </m:r>
                  </m:oMath>
                </a14:m>
                <a:r>
                  <a:rPr lang="en-US" sz="2400" dirty="0">
                    <a:latin typeface="Cambria Math" panose="02040503050406030204" pitchFamily="18" charset="0"/>
                    <a:ea typeface="Cambria Math" panose="02040503050406030204" pitchFamily="18" charset="0"/>
                    <a:cs typeface="Times New Roman" panose="02020603050405020304" pitchFamily="18" charset="0"/>
                  </a:rPr>
                  <a:t>=</a:t>
                </a:r>
                <a14:m>
                  <m:oMath xmlns:m="http://schemas.openxmlformats.org/officeDocument/2006/math">
                    <m:r>
                      <a:rPr lang="en-US" sz="2400" b="0" i="0" smtClean="0">
                        <a:latin typeface="Cambria Math" panose="02040503050406030204" pitchFamily="18" charset="0"/>
                        <a:ea typeface="Cambria Math" panose="02040503050406030204" pitchFamily="18" charset="0"/>
                        <a:cs typeface="Arial" panose="020B0604020202020204" pitchFamily="34" charset="0"/>
                      </a:rPr>
                      <m:t>  </m:t>
                    </m:r>
                    <m:sSubSup>
                      <m:sSubSupPr>
                        <m:ctrlPr>
                          <a:rPr lang="en-US" sz="2400" b="0" i="1" smtClean="0">
                            <a:latin typeface="Cambria Math" panose="02040503050406030204" pitchFamily="18" charset="0"/>
                            <a:ea typeface="Cambria Math" panose="02040503050406030204" pitchFamily="18" charset="0"/>
                            <a:cs typeface="Arial" panose="020B0604020202020204" pitchFamily="34" charset="0"/>
                          </a:rPr>
                        </m:ctrlPr>
                      </m:sSubSupPr>
                      <m:e>
                        <m:r>
                          <a:rPr lang="en-US" sz="2400" b="0" i="1" smtClean="0">
                            <a:latin typeface="Cambria Math" panose="02040503050406030204" pitchFamily="18" charset="0"/>
                            <a:ea typeface="Cambria Math" panose="02040503050406030204" pitchFamily="18" charset="0"/>
                            <a:cs typeface="Arial" panose="020B0604020202020204" pitchFamily="34" charset="0"/>
                          </a:rPr>
                          <m:t>∑</m:t>
                        </m:r>
                      </m:e>
                      <m:sub>
                        <m:r>
                          <a:rPr lang="en-US" sz="2400" b="0" i="1" smtClean="0">
                            <a:latin typeface="Cambria Math" panose="02040503050406030204" pitchFamily="18" charset="0"/>
                            <a:ea typeface="Cambria Math" panose="02040503050406030204" pitchFamily="18" charset="0"/>
                            <a:cs typeface="Arial" panose="020B0604020202020204" pitchFamily="34" charset="0"/>
                          </a:rPr>
                          <m:t>𝑡</m:t>
                        </m:r>
                        <m:r>
                          <a:rPr lang="en-US" sz="2400" b="0" i="1" smtClean="0">
                            <a:latin typeface="Cambria Math" panose="02040503050406030204" pitchFamily="18" charset="0"/>
                            <a:ea typeface="Cambria Math" panose="02040503050406030204" pitchFamily="18" charset="0"/>
                            <a:cs typeface="Arial" panose="020B0604020202020204" pitchFamily="34" charset="0"/>
                          </a:rPr>
                          <m:t>=1</m:t>
                        </m:r>
                      </m:sub>
                      <m:sup>
                        <m:r>
                          <a:rPr lang="en-US" sz="2400" b="0" i="1" smtClean="0">
                            <a:latin typeface="Cambria Math" panose="02040503050406030204" pitchFamily="18" charset="0"/>
                            <a:ea typeface="Cambria Math" panose="02040503050406030204" pitchFamily="18" charset="0"/>
                            <a:cs typeface="Arial" panose="020B0604020202020204" pitchFamily="34" charset="0"/>
                          </a:rPr>
                          <m:t>𝑛</m:t>
                        </m:r>
                      </m:sup>
                    </m:sSubSup>
                    <m:f>
                      <m:fPr>
                        <m:ctrlPr>
                          <a:rPr lang="en-US" sz="2400" i="1" smtClean="0">
                            <a:latin typeface="Cambria Math" panose="02040503050406030204" pitchFamily="18" charset="0"/>
                            <a:ea typeface="Cambria Math" panose="02040503050406030204" pitchFamily="18" charset="0"/>
                            <a:cs typeface="Arial" panose="020B0604020202020204" pitchFamily="34" charset="0"/>
                          </a:rPr>
                        </m:ctrlPr>
                      </m:fPr>
                      <m:num>
                        <m:sSub>
                          <m:sSubPr>
                            <m:ctrlPr>
                              <a:rPr lang="en-US" sz="2400" b="0" i="1" smtClean="0">
                                <a:latin typeface="Cambria Math" panose="02040503050406030204" pitchFamily="18" charset="0"/>
                                <a:ea typeface="Cambria Math" panose="02040503050406030204" pitchFamily="18" charset="0"/>
                                <a:cs typeface="Arial" panose="020B0604020202020204" pitchFamily="34" charset="0"/>
                              </a:rPr>
                            </m:ctrlPr>
                          </m:sSubPr>
                          <m:e>
                            <m:r>
                              <a:rPr lang="en-US" sz="2400" b="0" i="1" smtClean="0">
                                <a:latin typeface="Cambria Math" panose="02040503050406030204" pitchFamily="18" charset="0"/>
                                <a:ea typeface="Cambria Math" panose="02040503050406030204" pitchFamily="18" charset="0"/>
                                <a:cs typeface="Arial" panose="020B0604020202020204" pitchFamily="34" charset="0"/>
                              </a:rPr>
                              <m:t>𝐶𝐹</m:t>
                            </m:r>
                          </m:e>
                          <m:sub>
                            <m:r>
                              <a:rPr lang="en-US" sz="2400" b="0" i="1" smtClean="0">
                                <a:latin typeface="Cambria Math" panose="02040503050406030204" pitchFamily="18" charset="0"/>
                                <a:ea typeface="Cambria Math" panose="02040503050406030204" pitchFamily="18" charset="0"/>
                                <a:cs typeface="Arial" panose="020B0604020202020204" pitchFamily="34" charset="0"/>
                              </a:rPr>
                              <m:t>𝑡</m:t>
                            </m:r>
                          </m:sub>
                        </m:sSub>
                      </m:num>
                      <m:den>
                        <m:sSup>
                          <m:sSupPr>
                            <m:ctrlPr>
                              <a:rPr lang="pt-BR" sz="2400" i="1">
                                <a:latin typeface="Cambria Math" panose="02040503050406030204" pitchFamily="18" charset="0"/>
                                <a:ea typeface="Cambria Math" panose="02040503050406030204" pitchFamily="18" charset="0"/>
                                <a:cs typeface="Arial" panose="020B0604020202020204" pitchFamily="34" charset="0"/>
                              </a:rPr>
                            </m:ctrlPr>
                          </m:sSupPr>
                          <m:e>
                            <m:d>
                              <m:dPr>
                                <m:ctrlPr>
                                  <a:rPr lang="pt-BR" sz="2400" i="1">
                                    <a:latin typeface="Cambria Math" panose="02040503050406030204" pitchFamily="18" charset="0"/>
                                    <a:ea typeface="Cambria Math" panose="02040503050406030204" pitchFamily="18" charset="0"/>
                                    <a:cs typeface="Arial" panose="020B0604020202020204" pitchFamily="34" charset="0"/>
                                  </a:rPr>
                                </m:ctrlPr>
                              </m:dPr>
                              <m:e>
                                <m:r>
                                  <a:rPr lang="en-US" sz="2400" i="1">
                                    <a:latin typeface="Cambria Math" panose="02040503050406030204" pitchFamily="18" charset="0"/>
                                    <a:ea typeface="Cambria Math" panose="02040503050406030204" pitchFamily="18" charset="0"/>
                                    <a:cs typeface="Arial" panose="020B0604020202020204" pitchFamily="34" charset="0"/>
                                  </a:rPr>
                                  <m:t>1</m:t>
                                </m:r>
                                <m:r>
                                  <a:rPr lang="pt-BR" sz="2400" i="1">
                                    <a:latin typeface="Cambria Math" panose="02040503050406030204" pitchFamily="18" charset="0"/>
                                    <a:ea typeface="Cambria Math" panose="02040503050406030204" pitchFamily="18" charset="0"/>
                                    <a:cs typeface="Arial" panose="020B0604020202020204" pitchFamily="34" charset="0"/>
                                  </a:rPr>
                                  <m:t>+</m:t>
                                </m:r>
                                <m:r>
                                  <a:rPr lang="en-US" sz="2400" i="1">
                                    <a:latin typeface="Cambria Math" panose="02040503050406030204" pitchFamily="18" charset="0"/>
                                    <a:ea typeface="Cambria Math" panose="02040503050406030204" pitchFamily="18" charset="0"/>
                                    <a:cs typeface="Arial" panose="020B0604020202020204" pitchFamily="34" charset="0"/>
                                  </a:rPr>
                                  <m:t>𝑟</m:t>
                                </m:r>
                              </m:e>
                            </m:d>
                          </m:e>
                          <m:sup>
                            <m:r>
                              <a:rPr lang="en-US" sz="2400" b="0" i="1" smtClean="0">
                                <a:latin typeface="Cambria Math" panose="02040503050406030204" pitchFamily="18" charset="0"/>
                                <a:ea typeface="Cambria Math" panose="02040503050406030204" pitchFamily="18" charset="0"/>
                                <a:cs typeface="Arial" panose="020B0604020202020204" pitchFamily="34" charset="0"/>
                              </a:rPr>
                              <m:t>𝑡</m:t>
                            </m:r>
                          </m:sup>
                        </m:sSup>
                      </m:den>
                    </m:f>
                    <m:r>
                      <a:rPr lang="en-US" sz="2400" b="0" i="1" smtClean="0">
                        <a:latin typeface="Cambria Math" panose="02040503050406030204" pitchFamily="18" charset="0"/>
                        <a:ea typeface="Cambria Math" panose="02040503050406030204" pitchFamily="18" charset="0"/>
                        <a:cs typeface="Arial" panose="020B0604020202020204" pitchFamily="34" charset="0"/>
                      </a:rPr>
                      <m:t>  −</m:t>
                    </m:r>
                    <m:sSub>
                      <m:sSubPr>
                        <m:ctrlPr>
                          <a:rPr lang="pt-BR" sz="2400" b="0" i="1" smtClean="0">
                            <a:latin typeface="Cambria Math" panose="02040503050406030204" pitchFamily="18" charset="0"/>
                            <a:ea typeface="Cambria Math" panose="02040503050406030204" pitchFamily="18" charset="0"/>
                            <a:cs typeface="Arial" panose="020B0604020202020204" pitchFamily="34" charset="0"/>
                          </a:rPr>
                        </m:ctrlPr>
                      </m:sSubPr>
                      <m:e>
                        <m:r>
                          <a:rPr lang="en-US" sz="2400" b="0" i="1" smtClean="0">
                            <a:latin typeface="Cambria Math" panose="02040503050406030204" pitchFamily="18" charset="0"/>
                            <a:ea typeface="Cambria Math" panose="02040503050406030204" pitchFamily="18" charset="0"/>
                            <a:cs typeface="Arial" panose="020B0604020202020204" pitchFamily="34" charset="0"/>
                          </a:rPr>
                          <m:t>𝑐</m:t>
                        </m:r>
                      </m:e>
                      <m:sub>
                        <m:r>
                          <a:rPr lang="pt-BR" sz="2400" b="0" i="1" smtClean="0">
                            <a:latin typeface="Cambria Math" panose="02040503050406030204" pitchFamily="18" charset="0"/>
                            <a:ea typeface="Cambria Math" panose="02040503050406030204" pitchFamily="18" charset="0"/>
                            <a:cs typeface="Arial" panose="020B0604020202020204" pitchFamily="34" charset="0"/>
                          </a:rPr>
                          <m:t>0</m:t>
                        </m:r>
                      </m:sub>
                    </m:sSub>
                  </m:oMath>
                </a14:m>
                <a:endParaRPr lang="en-US" sz="2400" b="0" dirty="0">
                  <a:latin typeface="Cambria Math" panose="02040503050406030204" pitchFamily="18" charset="0"/>
                  <a:ea typeface="Cambria Math" panose="02040503050406030204" pitchFamily="18" charset="0"/>
                  <a:cs typeface="Arial" panose="020B0604020202020204" pitchFamily="34" charset="0"/>
                </a:endParaRPr>
              </a:p>
              <a:p>
                <a:pPr marL="0" indent="0">
                  <a:lnSpc>
                    <a:spcPct val="150000"/>
                  </a:lnSpc>
                  <a:buNone/>
                </a:pPr>
                <a:r>
                  <a:rPr lang="en-US" sz="2000" dirty="0">
                    <a:latin typeface="Arial" panose="020B0604020202020204" pitchFamily="34" charset="0"/>
                    <a:cs typeface="Arial" panose="020B0604020202020204" pitchFamily="34" charset="0"/>
                  </a:rPr>
                  <a:t>Where</a:t>
                </a:r>
                <a14:m>
                  <m:oMath xmlns:m="http://schemas.openxmlformats.org/officeDocument/2006/math">
                    <a:fld id="{825F15A7-03F4-43D7-82C5-3E23DA2F108C}" type="mathplaceholder">
                      <a:rPr lang="en-US" sz="2000" i="1" smtClean="0">
                        <a:latin typeface="Cambria Math" panose="02040503050406030204" pitchFamily="18" charset="0"/>
                        <a:cs typeface="Arial" panose="020B0604020202020204" pitchFamily="34" charset="0"/>
                      </a:rPr>
                      <a:t>Type equation here.</a:t>
                    </a:fld>
                  </m:oMath>
                </a14:m>
                <a:endParaRPr lang="en-US" sz="2000" dirty="0">
                  <a:latin typeface="Arial" panose="020B0604020202020204" pitchFamily="34" charset="0"/>
                  <a:cs typeface="Arial" panose="020B0604020202020204" pitchFamily="34" charset="0"/>
                </a:endParaRPr>
              </a:p>
              <a:p>
                <a:pPr>
                  <a:lnSpc>
                    <a:spcPct val="150000"/>
                  </a:lnSpc>
                </a:pPr>
                <a:r>
                  <a:rPr lang="en-US" sz="2000" dirty="0">
                    <a:latin typeface="Arial" panose="020B0604020202020204" pitchFamily="34" charset="0"/>
                    <a:cs typeface="Arial" panose="020B0604020202020204" pitchFamily="34" charset="0"/>
                  </a:rPr>
                  <a:t>CF = Cash inflow at time t </a:t>
                </a:r>
                <a:r>
                  <a:rPr lang="en-IN" sz="1400" dirty="0">
                    <a:latin typeface="Arial" panose="020B0604020202020204" pitchFamily="34" charset="0"/>
                    <a:cs typeface="Arial" panose="020B0604020202020204" pitchFamily="34" charset="0"/>
                  </a:rPr>
                  <a:t>                                                                          </a:t>
                </a:r>
                <a:r>
                  <a:rPr lang="en-IN" sz="2200" dirty="0">
                    <a:latin typeface="Arial" panose="020B0604020202020204" pitchFamily="34" charset="0"/>
                    <a:cs typeface="Arial" panose="020B0604020202020204" pitchFamily="34" charset="0"/>
                  </a:rPr>
                  <a:t>n = Number of periods</a:t>
                </a:r>
                <a:endParaRPr lang="en-US" sz="2200" dirty="0">
                  <a:latin typeface="Arial" panose="020B0604020202020204" pitchFamily="34" charset="0"/>
                  <a:cs typeface="Arial" panose="020B0604020202020204" pitchFamily="34" charset="0"/>
                </a:endParaRPr>
              </a:p>
              <a:p>
                <a:pPr>
                  <a:lnSpc>
                    <a:spcPct val="150000"/>
                  </a:lnSpc>
                </a:pPr>
                <a:r>
                  <a:rPr lang="en-US" sz="2200" dirty="0">
                    <a:latin typeface="Arial" panose="020B0604020202020204" pitchFamily="34" charset="0"/>
                    <a:cs typeface="Arial" panose="020B0604020202020204" pitchFamily="34" charset="0"/>
                  </a:rPr>
                  <a:t>C0​ = Initial investment (cash outflow at time 0)</a:t>
                </a:r>
              </a:p>
              <a:p>
                <a:pPr>
                  <a:lnSpc>
                    <a:spcPct val="150000"/>
                  </a:lnSpc>
                </a:pPr>
                <a:r>
                  <a:rPr lang="en-US" sz="2000" dirty="0">
                    <a:latin typeface="Arial" panose="020B0604020202020204" pitchFamily="34" charset="0"/>
                    <a:cs typeface="Arial" panose="020B0604020202020204" pitchFamily="34" charset="0"/>
                  </a:rPr>
                  <a:t>r= Discount rate (cost of capital)</a:t>
                </a:r>
              </a:p>
              <a:p>
                <a:pPr>
                  <a:lnSpc>
                    <a:spcPct val="150000"/>
                  </a:lnSpc>
                </a:pPr>
                <a:r>
                  <a:rPr lang="en-US" sz="2000" dirty="0">
                    <a:latin typeface="Arial" panose="020B0604020202020204" pitchFamily="34" charset="0"/>
                    <a:cs typeface="Arial" panose="020B0604020202020204" pitchFamily="34" charset="0"/>
                  </a:rPr>
                  <a:t>t = Time period (1, 2, 3…n)</a:t>
                </a:r>
              </a:p>
            </p:txBody>
          </p:sp>
        </mc:Choice>
        <mc:Fallback xmlns="">
          <p:sp>
            <p:nvSpPr>
              <p:cNvPr id="3" name="Content Placeholder 2">
                <a:extLst>
                  <a:ext uri="{FF2B5EF4-FFF2-40B4-BE49-F238E27FC236}">
                    <a16:creationId xmlns:a16="http://schemas.microsoft.com/office/drawing/2014/main" id="{A72C9E36-B70B-46C9-997A-F4D7C97AA8D8}"/>
                  </a:ext>
                </a:extLst>
              </p:cNvPr>
              <p:cNvSpPr>
                <a:spLocks noGrp="1" noRot="1" noChangeAspect="1" noMove="1" noResize="1" noEditPoints="1" noAdjustHandles="1" noChangeArrowheads="1" noChangeShapeType="1" noTextEdit="1"/>
              </p:cNvSpPr>
              <p:nvPr>
                <p:ph type="body" sz="half" idx="4294967295"/>
              </p:nvPr>
            </p:nvSpPr>
            <p:spPr>
              <a:xfrm>
                <a:off x="838199" y="887506"/>
                <a:ext cx="10403541" cy="4981482"/>
              </a:xfrm>
              <a:blipFill>
                <a:blip r:embed="rId2"/>
                <a:stretch>
                  <a:fillRect l="-527"/>
                </a:stretch>
              </a:blipFill>
            </p:spPr>
            <p:txBody>
              <a:bodyPr/>
              <a:lstStyle/>
              <a:p>
                <a:r>
                  <a:rPr lang="en-IN">
                    <a:noFill/>
                  </a:rPr>
                  <a:t> </a:t>
                </a:r>
              </a:p>
            </p:txBody>
          </p:sp>
        </mc:Fallback>
      </mc:AlternateContent>
      <p:pic>
        <p:nvPicPr>
          <p:cNvPr id="5" name="Picture 4">
            <a:extLst>
              <a:ext uri="{FF2B5EF4-FFF2-40B4-BE49-F238E27FC236}">
                <a16:creationId xmlns:a16="http://schemas.microsoft.com/office/drawing/2014/main" id="{1A8F9582-68CE-431C-8B72-88E14F073978}"/>
              </a:ext>
            </a:extLst>
          </p:cNvPr>
          <p:cNvPicPr>
            <a:picLocks noChangeAspect="1"/>
          </p:cNvPicPr>
          <p:nvPr/>
        </p:nvPicPr>
        <p:blipFill>
          <a:blip r:embed="rId3"/>
          <a:stretch>
            <a:fillRect/>
          </a:stretch>
        </p:blipFill>
        <p:spPr>
          <a:xfrm>
            <a:off x="11027635" y="51275"/>
            <a:ext cx="966091" cy="746583"/>
          </a:xfrm>
          <a:prstGeom prst="rect">
            <a:avLst/>
          </a:prstGeom>
        </p:spPr>
      </p:pic>
      <p:sp>
        <p:nvSpPr>
          <p:cNvPr id="2" name="Slide Number Placeholder 1">
            <a:extLst>
              <a:ext uri="{FF2B5EF4-FFF2-40B4-BE49-F238E27FC236}">
                <a16:creationId xmlns:a16="http://schemas.microsoft.com/office/drawing/2014/main" id="{3EEE3E35-0D13-469A-9E0F-622ACCC7CC9A}"/>
              </a:ext>
            </a:extLst>
          </p:cNvPr>
          <p:cNvSpPr>
            <a:spLocks noGrp="1"/>
          </p:cNvSpPr>
          <p:nvPr>
            <p:ph type="sldNum" sz="quarter" idx="12"/>
          </p:nvPr>
        </p:nvSpPr>
        <p:spPr/>
        <p:txBody>
          <a:bodyPr/>
          <a:lstStyle/>
          <a:p>
            <a:fld id="{B7991F04-3566-4BB1-A8CB-A35BE8E11603}" type="slidenum">
              <a:rPr lang="en-IN" smtClean="0"/>
              <a:t>28</a:t>
            </a:fld>
            <a:endParaRPr lang="en-IN"/>
          </a:p>
        </p:txBody>
      </p:sp>
    </p:spTree>
    <p:extLst>
      <p:ext uri="{BB962C8B-B14F-4D97-AF65-F5344CB8AC3E}">
        <p14:creationId xmlns:p14="http://schemas.microsoft.com/office/powerpoint/2010/main" val="335586403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750F95C-005F-42A1-AD9B-6631B5ED5937}"/>
              </a:ext>
            </a:extLst>
          </p:cNvPr>
          <p:cNvSpPr>
            <a:spLocks noGrp="1"/>
          </p:cNvSpPr>
          <p:nvPr>
            <p:ph type="title"/>
          </p:nvPr>
        </p:nvSpPr>
        <p:spPr>
          <a:xfrm>
            <a:off x="748553" y="153146"/>
            <a:ext cx="10123235" cy="533867"/>
          </a:xfrm>
          <a:prstGeom prst="rect">
            <a:avLst/>
          </a:prstGeom>
          <a:solidFill>
            <a:schemeClr val="tx2">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br>
              <a:rPr lang="en-US" sz="1400" b="1" dirty="0">
                <a:solidFill>
                  <a:schemeClr val="accent1"/>
                </a:solidFill>
                <a:latin typeface="Arial" panose="020B0604020202020204" pitchFamily="34" charset="0"/>
                <a:cs typeface="Arial" panose="020B0604020202020204" pitchFamily="34" charset="0"/>
              </a:rPr>
            </a:br>
            <a:br>
              <a:rPr lang="en-US" sz="1400" b="1" dirty="0">
                <a:solidFill>
                  <a:schemeClr val="accent1"/>
                </a:solidFill>
                <a:latin typeface="Arial" panose="020B0604020202020204" pitchFamily="34" charset="0"/>
                <a:cs typeface="Arial" panose="020B0604020202020204" pitchFamily="34" charset="0"/>
              </a:rPr>
            </a:br>
            <a:r>
              <a:rPr lang="en-US" sz="2400" dirty="0">
                <a:solidFill>
                  <a:schemeClr val="accent1"/>
                </a:solidFill>
                <a:latin typeface="Arial" panose="020B0604020202020204" pitchFamily="34" charset="0"/>
                <a:cs typeface="Arial" panose="020B0604020202020204" pitchFamily="34" charset="0"/>
              </a:rPr>
              <a:t>Key Concepts in NPV</a:t>
            </a:r>
            <a:br>
              <a:rPr lang="en-US" sz="2400" b="1" dirty="0"/>
            </a:br>
            <a:endParaRPr lang="en-IN" sz="2400" dirty="0">
              <a:solidFill>
                <a:schemeClr val="accent1"/>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A72C9E36-B70B-46C9-997A-F4D7C97AA8D8}"/>
              </a:ext>
            </a:extLst>
          </p:cNvPr>
          <p:cNvSpPr>
            <a:spLocks noGrp="1"/>
          </p:cNvSpPr>
          <p:nvPr>
            <p:ph type="body" sz="half" idx="4294967295"/>
          </p:nvPr>
        </p:nvSpPr>
        <p:spPr>
          <a:xfrm>
            <a:off x="838199" y="887506"/>
            <a:ext cx="10403541" cy="4981482"/>
          </a:xfrm>
        </p:spPr>
        <p:txBody>
          <a:bodyPr>
            <a:normAutofit/>
          </a:bodyPr>
          <a:lstStyle/>
          <a:p>
            <a:pPr marL="0" indent="0">
              <a:lnSpc>
                <a:spcPct val="150000"/>
              </a:lnSpc>
              <a:buNone/>
            </a:pPr>
            <a:r>
              <a:rPr lang="en-US" sz="2000" dirty="0">
                <a:solidFill>
                  <a:schemeClr val="accent1"/>
                </a:solidFill>
                <a:latin typeface="Arial" panose="020B0604020202020204" pitchFamily="34" charset="0"/>
                <a:cs typeface="Arial" panose="020B0604020202020204" pitchFamily="34" charset="0"/>
              </a:rPr>
              <a:t>1. Time Value of Money (TVM)</a:t>
            </a:r>
          </a:p>
          <a:p>
            <a:pPr>
              <a:lnSpc>
                <a:spcPct val="150000"/>
              </a:lnSpc>
              <a:buFont typeface="Arial" panose="020B0604020202020204" pitchFamily="34" charset="0"/>
              <a:buChar char="•"/>
            </a:pPr>
            <a:r>
              <a:rPr lang="en-US" sz="2000" dirty="0">
                <a:latin typeface="Arial" panose="020B0604020202020204" pitchFamily="34" charset="0"/>
                <a:cs typeface="Arial" panose="020B0604020202020204" pitchFamily="34" charset="0"/>
              </a:rPr>
              <a:t>A rupee today is worth more than a rupee tomorrow.</a:t>
            </a:r>
          </a:p>
          <a:p>
            <a:pPr>
              <a:lnSpc>
                <a:spcPct val="150000"/>
              </a:lnSpc>
              <a:buFont typeface="Arial" panose="020B0604020202020204" pitchFamily="34" charset="0"/>
              <a:buChar char="•"/>
            </a:pPr>
            <a:r>
              <a:rPr lang="en-US" sz="2000" dirty="0">
                <a:latin typeface="Arial" panose="020B0604020202020204" pitchFamily="34" charset="0"/>
                <a:cs typeface="Arial" panose="020B0604020202020204" pitchFamily="34" charset="0"/>
              </a:rPr>
              <a:t>NPV discounts future cash flows to reflect this.</a:t>
            </a:r>
          </a:p>
          <a:p>
            <a:pPr marL="0" indent="0">
              <a:lnSpc>
                <a:spcPct val="150000"/>
              </a:lnSpc>
              <a:buNone/>
            </a:pPr>
            <a:r>
              <a:rPr lang="en-US" sz="2000" dirty="0">
                <a:solidFill>
                  <a:schemeClr val="accent1"/>
                </a:solidFill>
                <a:latin typeface="Arial" panose="020B0604020202020204" pitchFamily="34" charset="0"/>
                <a:cs typeface="Arial" panose="020B0604020202020204" pitchFamily="34" charset="0"/>
              </a:rPr>
              <a:t>2. Discount Rate</a:t>
            </a:r>
          </a:p>
          <a:p>
            <a:pPr>
              <a:lnSpc>
                <a:spcPct val="150000"/>
              </a:lnSpc>
              <a:buFont typeface="Arial" panose="020B0604020202020204" pitchFamily="34" charset="0"/>
              <a:buChar char="•"/>
            </a:pPr>
            <a:r>
              <a:rPr lang="en-US" sz="2000" dirty="0">
                <a:latin typeface="Arial" panose="020B0604020202020204" pitchFamily="34" charset="0"/>
                <a:cs typeface="Arial" panose="020B0604020202020204" pitchFamily="34" charset="0"/>
              </a:rPr>
              <a:t>Usually, the company’s cost of capital or required rate of return.</a:t>
            </a:r>
          </a:p>
          <a:p>
            <a:pPr>
              <a:lnSpc>
                <a:spcPct val="150000"/>
              </a:lnSpc>
              <a:buFont typeface="Arial" panose="020B0604020202020204" pitchFamily="34" charset="0"/>
              <a:buChar char="•"/>
            </a:pPr>
            <a:r>
              <a:rPr lang="en-US" sz="2000" dirty="0">
                <a:latin typeface="Arial" panose="020B0604020202020204" pitchFamily="34" charset="0"/>
                <a:cs typeface="Arial" panose="020B0604020202020204" pitchFamily="34" charset="0"/>
              </a:rPr>
              <a:t>Reflects the opportunity cost and risk of the investment.</a:t>
            </a:r>
          </a:p>
          <a:p>
            <a:pPr marL="0" indent="0">
              <a:lnSpc>
                <a:spcPct val="150000"/>
              </a:lnSpc>
              <a:buNone/>
            </a:pPr>
            <a:r>
              <a:rPr lang="en-US" sz="2000" dirty="0">
                <a:solidFill>
                  <a:schemeClr val="accent1"/>
                </a:solidFill>
                <a:latin typeface="Arial" panose="020B0604020202020204" pitchFamily="34" charset="0"/>
                <a:cs typeface="Arial" panose="020B0604020202020204" pitchFamily="34" charset="0"/>
              </a:rPr>
              <a:t>3. Cash Flows</a:t>
            </a:r>
          </a:p>
          <a:p>
            <a:pPr>
              <a:lnSpc>
                <a:spcPct val="150000"/>
              </a:lnSpc>
              <a:buFont typeface="Arial" panose="020B0604020202020204" pitchFamily="34" charset="0"/>
              <a:buChar char="•"/>
            </a:pPr>
            <a:r>
              <a:rPr lang="en-US" sz="2000" dirty="0">
                <a:latin typeface="Arial" panose="020B0604020202020204" pitchFamily="34" charset="0"/>
                <a:cs typeface="Arial" panose="020B0604020202020204" pitchFamily="34" charset="0"/>
              </a:rPr>
              <a:t>Only relevant (incremental) cash flows are considered — not accounting profits.</a:t>
            </a:r>
          </a:p>
          <a:p>
            <a:pPr marL="0" indent="0">
              <a:lnSpc>
                <a:spcPct val="200000"/>
              </a:lnSpc>
              <a:buNone/>
            </a:pPr>
            <a:endParaRPr lang="en-US" sz="2000" b="1" dirty="0">
              <a:solidFill>
                <a:schemeClr val="accent1"/>
              </a:solidFill>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1A8F9582-68CE-431C-8B72-88E14F073978}"/>
              </a:ext>
            </a:extLst>
          </p:cNvPr>
          <p:cNvPicPr>
            <a:picLocks noChangeAspect="1"/>
          </p:cNvPicPr>
          <p:nvPr/>
        </p:nvPicPr>
        <p:blipFill>
          <a:blip r:embed="rId2"/>
          <a:stretch>
            <a:fillRect/>
          </a:stretch>
        </p:blipFill>
        <p:spPr>
          <a:xfrm>
            <a:off x="11027635" y="51275"/>
            <a:ext cx="966091" cy="746583"/>
          </a:xfrm>
          <a:prstGeom prst="rect">
            <a:avLst/>
          </a:prstGeom>
        </p:spPr>
      </p:pic>
      <p:sp>
        <p:nvSpPr>
          <p:cNvPr id="2" name="Slide Number Placeholder 1">
            <a:extLst>
              <a:ext uri="{FF2B5EF4-FFF2-40B4-BE49-F238E27FC236}">
                <a16:creationId xmlns:a16="http://schemas.microsoft.com/office/drawing/2014/main" id="{3EEE3E35-0D13-469A-9E0F-622ACCC7CC9A}"/>
              </a:ext>
            </a:extLst>
          </p:cNvPr>
          <p:cNvSpPr>
            <a:spLocks noGrp="1"/>
          </p:cNvSpPr>
          <p:nvPr>
            <p:ph type="sldNum" sz="quarter" idx="12"/>
          </p:nvPr>
        </p:nvSpPr>
        <p:spPr/>
        <p:txBody>
          <a:bodyPr/>
          <a:lstStyle/>
          <a:p>
            <a:fld id="{B7991F04-3566-4BB1-A8CB-A35BE8E11603}" type="slidenum">
              <a:rPr lang="en-IN" smtClean="0"/>
              <a:t>29</a:t>
            </a:fld>
            <a:endParaRPr lang="en-IN"/>
          </a:p>
        </p:txBody>
      </p:sp>
    </p:spTree>
    <p:extLst>
      <p:ext uri="{BB962C8B-B14F-4D97-AF65-F5344CB8AC3E}">
        <p14:creationId xmlns:p14="http://schemas.microsoft.com/office/powerpoint/2010/main" val="385128479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750F95C-005F-42A1-AD9B-6631B5ED5937}"/>
              </a:ext>
            </a:extLst>
          </p:cNvPr>
          <p:cNvSpPr>
            <a:spLocks noGrp="1"/>
          </p:cNvSpPr>
          <p:nvPr>
            <p:ph type="title"/>
          </p:nvPr>
        </p:nvSpPr>
        <p:spPr>
          <a:xfrm>
            <a:off x="748553" y="153146"/>
            <a:ext cx="10123235" cy="533867"/>
          </a:xfrm>
          <a:prstGeom prst="rect">
            <a:avLst/>
          </a:prstGeom>
          <a:solidFill>
            <a:schemeClr val="tx2">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br>
              <a:rPr lang="en-US" sz="1400" b="1" dirty="0">
                <a:solidFill>
                  <a:schemeClr val="accent1"/>
                </a:solidFill>
                <a:latin typeface="Arial" panose="020B0604020202020204" pitchFamily="34" charset="0"/>
                <a:cs typeface="Arial" panose="020B0604020202020204" pitchFamily="34" charset="0"/>
              </a:rPr>
            </a:br>
            <a:br>
              <a:rPr lang="en-US" sz="1400" b="1" dirty="0">
                <a:solidFill>
                  <a:schemeClr val="accent1"/>
                </a:solidFill>
                <a:latin typeface="Arial" panose="020B0604020202020204" pitchFamily="34" charset="0"/>
                <a:cs typeface="Arial" panose="020B0604020202020204" pitchFamily="34" charset="0"/>
              </a:rPr>
            </a:br>
            <a:r>
              <a:rPr lang="en-US" sz="2400" dirty="0">
                <a:solidFill>
                  <a:schemeClr val="accent1"/>
                </a:solidFill>
                <a:latin typeface="Arial" panose="020B0604020202020204" pitchFamily="34" charset="0"/>
                <a:cs typeface="Arial" panose="020B0604020202020204" pitchFamily="34" charset="0"/>
              </a:rPr>
              <a:t>NPV Decision Rule</a:t>
            </a:r>
            <a:br>
              <a:rPr lang="en-US" sz="2400" b="1" dirty="0"/>
            </a:br>
            <a:endParaRPr lang="en-IN" sz="2400" dirty="0">
              <a:solidFill>
                <a:schemeClr val="accent1"/>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A72C9E36-B70B-46C9-997A-F4D7C97AA8D8}"/>
              </a:ext>
            </a:extLst>
          </p:cNvPr>
          <p:cNvSpPr>
            <a:spLocks noGrp="1"/>
          </p:cNvSpPr>
          <p:nvPr>
            <p:ph type="body" sz="half" idx="4294967295"/>
          </p:nvPr>
        </p:nvSpPr>
        <p:spPr>
          <a:xfrm>
            <a:off x="838199" y="887506"/>
            <a:ext cx="10403541" cy="4981482"/>
          </a:xfrm>
        </p:spPr>
        <p:txBody>
          <a:bodyPr>
            <a:normAutofit/>
          </a:bodyPr>
          <a:lstStyle/>
          <a:p>
            <a:pPr>
              <a:lnSpc>
                <a:spcPct val="200000"/>
              </a:lnSpc>
              <a:buFont typeface="Arial" panose="020B0604020202020204" pitchFamily="34" charset="0"/>
              <a:buChar char="•"/>
            </a:pPr>
            <a:r>
              <a:rPr lang="en-US" sz="2000" dirty="0">
                <a:solidFill>
                  <a:schemeClr val="accent1"/>
                </a:solidFill>
                <a:latin typeface="Arial" panose="020B0604020202020204" pitchFamily="34" charset="0"/>
                <a:cs typeface="Arial" panose="020B0604020202020204" pitchFamily="34" charset="0"/>
              </a:rPr>
              <a:t>NPV &gt; 0 </a:t>
            </a:r>
            <a:r>
              <a:rPr lang="en-US" sz="2000" dirty="0">
                <a:latin typeface="Arial" panose="020B0604020202020204" pitchFamily="34" charset="0"/>
                <a:cs typeface="Arial" panose="020B0604020202020204" pitchFamily="34" charset="0"/>
              </a:rPr>
              <a:t>→ Accept the project (adds value to the firm)</a:t>
            </a:r>
          </a:p>
          <a:p>
            <a:pPr>
              <a:lnSpc>
                <a:spcPct val="200000"/>
              </a:lnSpc>
              <a:buFont typeface="Arial" panose="020B0604020202020204" pitchFamily="34" charset="0"/>
              <a:buChar char="•"/>
            </a:pPr>
            <a:r>
              <a:rPr lang="en-US" sz="2000" dirty="0">
                <a:solidFill>
                  <a:schemeClr val="accent1"/>
                </a:solidFill>
                <a:latin typeface="Arial" panose="020B0604020202020204" pitchFamily="34" charset="0"/>
                <a:cs typeface="Arial" panose="020B0604020202020204" pitchFamily="34" charset="0"/>
              </a:rPr>
              <a:t>NPV &lt; 0 </a:t>
            </a:r>
            <a:r>
              <a:rPr lang="en-US" sz="2000" dirty="0">
                <a:latin typeface="Arial" panose="020B0604020202020204" pitchFamily="34" charset="0"/>
                <a:cs typeface="Arial" panose="020B0604020202020204" pitchFamily="34" charset="0"/>
              </a:rPr>
              <a:t>→ Reject the project (destroys value)</a:t>
            </a:r>
          </a:p>
          <a:p>
            <a:pPr>
              <a:lnSpc>
                <a:spcPct val="200000"/>
              </a:lnSpc>
              <a:buFont typeface="Arial" panose="020B0604020202020204" pitchFamily="34" charset="0"/>
              <a:buChar char="•"/>
            </a:pPr>
            <a:r>
              <a:rPr lang="en-US" sz="2000" dirty="0">
                <a:solidFill>
                  <a:schemeClr val="accent1"/>
                </a:solidFill>
                <a:latin typeface="Arial" panose="020B0604020202020204" pitchFamily="34" charset="0"/>
                <a:cs typeface="Arial" panose="020B0604020202020204" pitchFamily="34" charset="0"/>
              </a:rPr>
              <a:t>NPV = 0 </a:t>
            </a:r>
            <a:r>
              <a:rPr lang="en-US" sz="2000" dirty="0">
                <a:latin typeface="Arial" panose="020B0604020202020204" pitchFamily="34" charset="0"/>
                <a:cs typeface="Arial" panose="020B0604020202020204" pitchFamily="34" charset="0"/>
              </a:rPr>
              <a:t>→ Indifferent (no gain, no loss)</a:t>
            </a:r>
          </a:p>
          <a:p>
            <a:pPr marL="0" indent="0">
              <a:lnSpc>
                <a:spcPct val="200000"/>
              </a:lnSpc>
              <a:buNone/>
            </a:pPr>
            <a:endParaRPr lang="en-US" sz="2000" b="1" dirty="0">
              <a:solidFill>
                <a:schemeClr val="accent1"/>
              </a:solidFill>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1A8F9582-68CE-431C-8B72-88E14F073978}"/>
              </a:ext>
            </a:extLst>
          </p:cNvPr>
          <p:cNvPicPr>
            <a:picLocks noChangeAspect="1"/>
          </p:cNvPicPr>
          <p:nvPr/>
        </p:nvPicPr>
        <p:blipFill>
          <a:blip r:embed="rId2"/>
          <a:stretch>
            <a:fillRect/>
          </a:stretch>
        </p:blipFill>
        <p:spPr>
          <a:xfrm>
            <a:off x="11027635" y="51275"/>
            <a:ext cx="966091" cy="746583"/>
          </a:xfrm>
          <a:prstGeom prst="rect">
            <a:avLst/>
          </a:prstGeom>
        </p:spPr>
      </p:pic>
      <p:sp>
        <p:nvSpPr>
          <p:cNvPr id="2" name="Slide Number Placeholder 1">
            <a:extLst>
              <a:ext uri="{FF2B5EF4-FFF2-40B4-BE49-F238E27FC236}">
                <a16:creationId xmlns:a16="http://schemas.microsoft.com/office/drawing/2014/main" id="{3EEE3E35-0D13-469A-9E0F-622ACCC7CC9A}"/>
              </a:ext>
            </a:extLst>
          </p:cNvPr>
          <p:cNvSpPr>
            <a:spLocks noGrp="1"/>
          </p:cNvSpPr>
          <p:nvPr>
            <p:ph type="sldNum" sz="quarter" idx="12"/>
          </p:nvPr>
        </p:nvSpPr>
        <p:spPr/>
        <p:txBody>
          <a:bodyPr/>
          <a:lstStyle/>
          <a:p>
            <a:fld id="{B7991F04-3566-4BB1-A8CB-A35BE8E11603}" type="slidenum">
              <a:rPr lang="en-IN" smtClean="0"/>
              <a:t>30</a:t>
            </a:fld>
            <a:endParaRPr lang="en-IN"/>
          </a:p>
        </p:txBody>
      </p:sp>
    </p:spTree>
    <p:extLst>
      <p:ext uri="{BB962C8B-B14F-4D97-AF65-F5344CB8AC3E}">
        <p14:creationId xmlns:p14="http://schemas.microsoft.com/office/powerpoint/2010/main" val="38375691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750F95C-005F-42A1-AD9B-6631B5ED5937}"/>
              </a:ext>
            </a:extLst>
          </p:cNvPr>
          <p:cNvSpPr>
            <a:spLocks noGrp="1"/>
          </p:cNvSpPr>
          <p:nvPr>
            <p:ph type="title"/>
          </p:nvPr>
        </p:nvSpPr>
        <p:spPr>
          <a:xfrm>
            <a:off x="748553" y="153146"/>
            <a:ext cx="10123235" cy="533867"/>
          </a:xfrm>
          <a:prstGeom prst="rect">
            <a:avLst/>
          </a:prstGeom>
          <a:solidFill>
            <a:schemeClr val="tx2">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br>
              <a:rPr lang="en-US" sz="1400" b="1" dirty="0">
                <a:solidFill>
                  <a:schemeClr val="accent1"/>
                </a:solidFill>
                <a:latin typeface="Arial" panose="020B0604020202020204" pitchFamily="34" charset="0"/>
                <a:cs typeface="Arial" panose="020B0604020202020204" pitchFamily="34" charset="0"/>
              </a:rPr>
            </a:br>
            <a:br>
              <a:rPr lang="en-US" sz="1400" b="1" dirty="0">
                <a:solidFill>
                  <a:schemeClr val="accent1"/>
                </a:solidFill>
                <a:latin typeface="Arial" panose="020B0604020202020204" pitchFamily="34" charset="0"/>
                <a:cs typeface="Arial" panose="020B0604020202020204" pitchFamily="34" charset="0"/>
              </a:rPr>
            </a:br>
            <a:br>
              <a:rPr lang="en-US" sz="1400" b="1" dirty="0">
                <a:solidFill>
                  <a:schemeClr val="accent1"/>
                </a:solidFill>
                <a:latin typeface="Arial" panose="020B0604020202020204" pitchFamily="34" charset="0"/>
                <a:cs typeface="Arial" panose="020B0604020202020204" pitchFamily="34" charset="0"/>
              </a:rPr>
            </a:br>
            <a:r>
              <a:rPr lang="en-US" sz="2400" dirty="0">
                <a:solidFill>
                  <a:schemeClr val="accent1"/>
                </a:solidFill>
                <a:latin typeface="Arial" panose="020B0604020202020204" pitchFamily="34" charset="0"/>
                <a:cs typeface="Arial" panose="020B0604020202020204" pitchFamily="34" charset="0"/>
              </a:rPr>
              <a:t>Example of NPV Calculation</a:t>
            </a:r>
            <a:br>
              <a:rPr lang="en-US" sz="2400" b="1" dirty="0">
                <a:latin typeface="Arial" panose="020B0604020202020204" pitchFamily="34" charset="0"/>
                <a:cs typeface="Arial" panose="020B0604020202020204" pitchFamily="34" charset="0"/>
              </a:rPr>
            </a:br>
            <a:br>
              <a:rPr lang="en-US" sz="2400" b="1" dirty="0">
                <a:solidFill>
                  <a:schemeClr val="accent1"/>
                </a:solidFill>
                <a:latin typeface="Arial" panose="020B0604020202020204" pitchFamily="34" charset="0"/>
                <a:cs typeface="Arial" panose="020B0604020202020204" pitchFamily="34" charset="0"/>
              </a:rPr>
            </a:br>
            <a:endParaRPr lang="en-IN" sz="2400" dirty="0">
              <a:solidFill>
                <a:schemeClr val="accent1"/>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A72C9E36-B70B-46C9-997A-F4D7C97AA8D8}"/>
              </a:ext>
            </a:extLst>
          </p:cNvPr>
          <p:cNvSpPr>
            <a:spLocks noGrp="1"/>
          </p:cNvSpPr>
          <p:nvPr>
            <p:ph type="body" sz="half" idx="4294967295"/>
          </p:nvPr>
        </p:nvSpPr>
        <p:spPr>
          <a:xfrm>
            <a:off x="838199" y="887506"/>
            <a:ext cx="10403541" cy="4981482"/>
          </a:xfrm>
        </p:spPr>
        <p:txBody>
          <a:bodyPr>
            <a:normAutofit/>
          </a:bodyPr>
          <a:lstStyle/>
          <a:p>
            <a:pPr marL="0" indent="0">
              <a:lnSpc>
                <a:spcPct val="100000"/>
              </a:lnSpc>
              <a:buNone/>
            </a:pPr>
            <a:r>
              <a:rPr lang="en-US" sz="2000" dirty="0">
                <a:solidFill>
                  <a:schemeClr val="accent1"/>
                </a:solidFill>
                <a:latin typeface="Arial" panose="020B0604020202020204" pitchFamily="34" charset="0"/>
                <a:cs typeface="Arial" panose="020B0604020202020204" pitchFamily="34" charset="0"/>
              </a:rPr>
              <a:t>Project: </a:t>
            </a:r>
            <a:r>
              <a:rPr lang="en-US" sz="2000" dirty="0">
                <a:latin typeface="Arial" panose="020B0604020202020204" pitchFamily="34" charset="0"/>
                <a:cs typeface="Arial" panose="020B0604020202020204" pitchFamily="34" charset="0"/>
              </a:rPr>
              <a:t>A company is considering investing </a:t>
            </a:r>
            <a:r>
              <a:rPr lang="en-IN" sz="2000" b="0" i="0" dirty="0">
                <a:solidFill>
                  <a:srgbClr val="474747"/>
                </a:solidFill>
                <a:effectLst/>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10,000 in a project expected to generate the following cash inflows over 4 years. The company’s required rate of return (discount rate) is 10%.</a:t>
            </a:r>
          </a:p>
          <a:p>
            <a:pPr marL="0" indent="0">
              <a:lnSpc>
                <a:spcPct val="100000"/>
              </a:lnSpc>
              <a:buNone/>
            </a:pPr>
            <a:endParaRPr lang="en-US" sz="2000" dirty="0">
              <a:latin typeface="Arial" panose="020B0604020202020204" pitchFamily="34" charset="0"/>
              <a:cs typeface="Arial" panose="020B0604020202020204" pitchFamily="34" charset="0"/>
            </a:endParaRPr>
          </a:p>
          <a:p>
            <a:pPr marL="0" indent="0">
              <a:lnSpc>
                <a:spcPct val="100000"/>
              </a:lnSpc>
              <a:buNone/>
            </a:pPr>
            <a:endParaRPr lang="en-US" sz="2000" dirty="0">
              <a:latin typeface="Arial" panose="020B0604020202020204" pitchFamily="34" charset="0"/>
              <a:cs typeface="Arial" panose="020B0604020202020204" pitchFamily="34" charset="0"/>
            </a:endParaRPr>
          </a:p>
          <a:p>
            <a:pPr marL="0" indent="0">
              <a:lnSpc>
                <a:spcPct val="100000"/>
              </a:lnSpc>
              <a:buNone/>
            </a:pPr>
            <a:endParaRPr lang="en-US" sz="2000" dirty="0">
              <a:latin typeface="Arial" panose="020B0604020202020204" pitchFamily="34" charset="0"/>
              <a:cs typeface="Arial" panose="020B0604020202020204" pitchFamily="34" charset="0"/>
            </a:endParaRPr>
          </a:p>
          <a:p>
            <a:pPr marL="0" indent="0">
              <a:lnSpc>
                <a:spcPct val="100000"/>
              </a:lnSpc>
              <a:buNone/>
            </a:pPr>
            <a:endParaRPr lang="en-US" sz="2000" dirty="0">
              <a:latin typeface="Arial" panose="020B0604020202020204" pitchFamily="34" charset="0"/>
              <a:cs typeface="Arial" panose="020B0604020202020204" pitchFamily="34" charset="0"/>
            </a:endParaRPr>
          </a:p>
          <a:p>
            <a:pPr marL="0" indent="0">
              <a:lnSpc>
                <a:spcPct val="100000"/>
              </a:lnSpc>
              <a:buNone/>
            </a:pPr>
            <a:endParaRPr lang="en-US" sz="2000" dirty="0">
              <a:latin typeface="Arial" panose="020B0604020202020204" pitchFamily="34" charset="0"/>
              <a:cs typeface="Arial" panose="020B0604020202020204" pitchFamily="34" charset="0"/>
            </a:endParaRPr>
          </a:p>
          <a:p>
            <a:pPr marL="0" indent="0">
              <a:lnSpc>
                <a:spcPct val="100000"/>
              </a:lnSpc>
              <a:buNone/>
            </a:pPr>
            <a:endParaRPr lang="en-US" sz="2000" dirty="0">
              <a:latin typeface="Arial" panose="020B0604020202020204" pitchFamily="34" charset="0"/>
              <a:cs typeface="Arial" panose="020B0604020202020204" pitchFamily="34" charset="0"/>
            </a:endParaRPr>
          </a:p>
          <a:p>
            <a:pPr marL="0" indent="0">
              <a:lnSpc>
                <a:spcPct val="100000"/>
              </a:lnSpc>
              <a:buNone/>
            </a:pPr>
            <a:endParaRPr lang="en-US" sz="2000" dirty="0">
              <a:latin typeface="Arial" panose="020B0604020202020204" pitchFamily="34" charset="0"/>
              <a:cs typeface="Arial" panose="020B0604020202020204" pitchFamily="34" charset="0"/>
            </a:endParaRPr>
          </a:p>
          <a:p>
            <a:pPr marL="0" indent="0">
              <a:lnSpc>
                <a:spcPct val="100000"/>
              </a:lnSpc>
              <a:buNone/>
            </a:pPr>
            <a:endParaRPr lang="en-US" sz="2000" dirty="0">
              <a:latin typeface="Arial" panose="020B0604020202020204" pitchFamily="34" charset="0"/>
              <a:cs typeface="Arial" panose="020B0604020202020204" pitchFamily="34" charset="0"/>
            </a:endParaRPr>
          </a:p>
          <a:p>
            <a:pPr marL="0" indent="0">
              <a:lnSpc>
                <a:spcPct val="100000"/>
              </a:lnSpc>
              <a:buNone/>
            </a:pPr>
            <a:endParaRPr lang="en-US" sz="2000" dirty="0">
              <a:latin typeface="Arial" panose="020B0604020202020204" pitchFamily="34" charset="0"/>
              <a:cs typeface="Arial" panose="020B0604020202020204" pitchFamily="34" charset="0"/>
            </a:endParaRPr>
          </a:p>
          <a:p>
            <a:pPr marL="0" indent="0">
              <a:lnSpc>
                <a:spcPct val="100000"/>
              </a:lnSpc>
              <a:buNone/>
            </a:pPr>
            <a:endParaRPr lang="en-US" sz="2000" dirty="0">
              <a:latin typeface="Arial" panose="020B0604020202020204" pitchFamily="34" charset="0"/>
              <a:cs typeface="Arial" panose="020B0604020202020204" pitchFamily="34" charset="0"/>
            </a:endParaRPr>
          </a:p>
          <a:p>
            <a:pPr marL="0" indent="0">
              <a:lnSpc>
                <a:spcPct val="100000"/>
              </a:lnSpc>
              <a:buNone/>
            </a:pPr>
            <a:endParaRPr lang="en-US" sz="2000" dirty="0">
              <a:latin typeface="Arial" panose="020B0604020202020204" pitchFamily="34" charset="0"/>
              <a:cs typeface="Arial" panose="020B0604020202020204" pitchFamily="34" charset="0"/>
            </a:endParaRPr>
          </a:p>
          <a:p>
            <a:pPr marL="0" indent="0">
              <a:lnSpc>
                <a:spcPct val="100000"/>
              </a:lnSpc>
              <a:buNone/>
            </a:pPr>
            <a:endParaRPr lang="en-US" sz="2000" dirty="0">
              <a:solidFill>
                <a:schemeClr val="accent1"/>
              </a:solidFill>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1A8F9582-68CE-431C-8B72-88E14F073978}"/>
              </a:ext>
            </a:extLst>
          </p:cNvPr>
          <p:cNvPicPr>
            <a:picLocks noChangeAspect="1"/>
          </p:cNvPicPr>
          <p:nvPr/>
        </p:nvPicPr>
        <p:blipFill>
          <a:blip r:embed="rId2"/>
          <a:stretch>
            <a:fillRect/>
          </a:stretch>
        </p:blipFill>
        <p:spPr>
          <a:xfrm>
            <a:off x="11027635" y="51275"/>
            <a:ext cx="966091" cy="746583"/>
          </a:xfrm>
          <a:prstGeom prst="rect">
            <a:avLst/>
          </a:prstGeom>
        </p:spPr>
      </p:pic>
      <p:sp>
        <p:nvSpPr>
          <p:cNvPr id="2" name="Slide Number Placeholder 1">
            <a:extLst>
              <a:ext uri="{FF2B5EF4-FFF2-40B4-BE49-F238E27FC236}">
                <a16:creationId xmlns:a16="http://schemas.microsoft.com/office/drawing/2014/main" id="{3EEE3E35-0D13-469A-9E0F-622ACCC7CC9A}"/>
              </a:ext>
            </a:extLst>
          </p:cNvPr>
          <p:cNvSpPr>
            <a:spLocks noGrp="1"/>
          </p:cNvSpPr>
          <p:nvPr>
            <p:ph type="sldNum" sz="quarter" idx="12"/>
          </p:nvPr>
        </p:nvSpPr>
        <p:spPr/>
        <p:txBody>
          <a:bodyPr/>
          <a:lstStyle/>
          <a:p>
            <a:fld id="{B7991F04-3566-4BB1-A8CB-A35BE8E11603}" type="slidenum">
              <a:rPr lang="en-IN" smtClean="0"/>
              <a:t>31</a:t>
            </a:fld>
            <a:endParaRPr lang="en-IN"/>
          </a:p>
        </p:txBody>
      </p:sp>
      <p:graphicFrame>
        <p:nvGraphicFramePr>
          <p:cNvPr id="6" name="Table 5">
            <a:extLst>
              <a:ext uri="{FF2B5EF4-FFF2-40B4-BE49-F238E27FC236}">
                <a16:creationId xmlns:a16="http://schemas.microsoft.com/office/drawing/2014/main" id="{C7989E4C-72C7-4970-9023-7AB6CBD96B4F}"/>
              </a:ext>
            </a:extLst>
          </p:cNvPr>
          <p:cNvGraphicFramePr>
            <a:graphicFrameLocks noGrp="1"/>
          </p:cNvGraphicFramePr>
          <p:nvPr>
            <p:extLst>
              <p:ext uri="{D42A27DB-BD31-4B8C-83A1-F6EECF244321}">
                <p14:modId xmlns:p14="http://schemas.microsoft.com/office/powerpoint/2010/main" val="1401441905"/>
              </p:ext>
            </p:extLst>
          </p:nvPr>
        </p:nvGraphicFramePr>
        <p:xfrm>
          <a:off x="2303928" y="2259106"/>
          <a:ext cx="6078072" cy="3370730"/>
        </p:xfrm>
        <a:graphic>
          <a:graphicData uri="http://schemas.openxmlformats.org/drawingml/2006/table">
            <a:tbl>
              <a:tblPr/>
              <a:tblGrid>
                <a:gridCol w="3039036">
                  <a:extLst>
                    <a:ext uri="{9D8B030D-6E8A-4147-A177-3AD203B41FA5}">
                      <a16:colId xmlns:a16="http://schemas.microsoft.com/office/drawing/2014/main" val="2184953622"/>
                    </a:ext>
                  </a:extLst>
                </a:gridCol>
                <a:gridCol w="3039036">
                  <a:extLst>
                    <a:ext uri="{9D8B030D-6E8A-4147-A177-3AD203B41FA5}">
                      <a16:colId xmlns:a16="http://schemas.microsoft.com/office/drawing/2014/main" val="1809000969"/>
                    </a:ext>
                  </a:extLst>
                </a:gridCol>
              </a:tblGrid>
              <a:tr h="674146">
                <a:tc>
                  <a:txBody>
                    <a:bodyPr/>
                    <a:lstStyle/>
                    <a:p>
                      <a:r>
                        <a:rPr lang="en-IN" sz="2000" dirty="0">
                          <a:solidFill>
                            <a:schemeClr val="accent1"/>
                          </a:solidFill>
                          <a:latin typeface="Arial" panose="020B0604020202020204" pitchFamily="34" charset="0"/>
                          <a:cs typeface="Arial" panose="020B0604020202020204" pitchFamily="34" charset="0"/>
                        </a:rPr>
                        <a:t>Year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dirty="0">
                          <a:solidFill>
                            <a:schemeClr val="accent1"/>
                          </a:solidFill>
                          <a:latin typeface="Arial" panose="020B0604020202020204" pitchFamily="34" charset="0"/>
                          <a:cs typeface="Arial" panose="020B0604020202020204" pitchFamily="34" charset="0"/>
                        </a:rPr>
                        <a:t>Cash Inflow (CF)</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53777328"/>
                  </a:ext>
                </a:extLst>
              </a:tr>
              <a:tr h="674146">
                <a:tc>
                  <a:txBody>
                    <a:bodyPr/>
                    <a:lstStyle/>
                    <a:p>
                      <a:r>
                        <a:rPr lang="en-IN" sz="2000" dirty="0">
                          <a:latin typeface="Arial" panose="020B0604020202020204" pitchFamily="34" charset="0"/>
                          <a:cs typeface="Arial" panose="020B0604020202020204" pitchFamily="34"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b="0" i="0" dirty="0">
                          <a:solidFill>
                            <a:srgbClr val="474747"/>
                          </a:solidFill>
                          <a:effectLst/>
                          <a:latin typeface="Arial" panose="020B0604020202020204" pitchFamily="34" charset="0"/>
                          <a:cs typeface="Arial" panose="020B0604020202020204" pitchFamily="34" charset="0"/>
                        </a:rPr>
                        <a:t>₹</a:t>
                      </a:r>
                      <a:r>
                        <a:rPr lang="en-IN" sz="2000" dirty="0">
                          <a:latin typeface="Arial" panose="020B0604020202020204" pitchFamily="34" charset="0"/>
                          <a:cs typeface="Arial" panose="020B0604020202020204" pitchFamily="34" charset="0"/>
                        </a:rPr>
                        <a:t>3,000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43161426"/>
                  </a:ext>
                </a:extLst>
              </a:tr>
              <a:tr h="674146">
                <a:tc>
                  <a:txBody>
                    <a:bodyPr/>
                    <a:lstStyle/>
                    <a:p>
                      <a:r>
                        <a:rPr lang="en-IN" sz="2000" dirty="0">
                          <a:latin typeface="Arial" panose="020B0604020202020204" pitchFamily="34" charset="0"/>
                          <a:cs typeface="Arial" panose="020B0604020202020204" pitchFamily="34" charset="0"/>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b="0" i="0" dirty="0">
                          <a:solidFill>
                            <a:srgbClr val="474747"/>
                          </a:solidFill>
                          <a:effectLst/>
                          <a:latin typeface="Arial" panose="020B0604020202020204" pitchFamily="34" charset="0"/>
                          <a:cs typeface="Arial" panose="020B0604020202020204" pitchFamily="34" charset="0"/>
                        </a:rPr>
                        <a:t>₹</a:t>
                      </a:r>
                      <a:r>
                        <a:rPr lang="en-IN" sz="2000" dirty="0">
                          <a:latin typeface="Arial" panose="020B0604020202020204" pitchFamily="34" charset="0"/>
                          <a:cs typeface="Arial" panose="020B0604020202020204" pitchFamily="34" charset="0"/>
                        </a:rPr>
                        <a:t>4,000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11605034"/>
                  </a:ext>
                </a:extLst>
              </a:tr>
              <a:tr h="674146">
                <a:tc>
                  <a:txBody>
                    <a:bodyPr/>
                    <a:lstStyle/>
                    <a:p>
                      <a:r>
                        <a:rPr lang="en-IN" sz="2000">
                          <a:latin typeface="Arial" panose="020B0604020202020204" pitchFamily="34" charset="0"/>
                          <a:cs typeface="Arial" panose="020B0604020202020204" pitchFamily="34"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b="0" i="0" dirty="0">
                          <a:solidFill>
                            <a:srgbClr val="474747"/>
                          </a:solidFill>
                          <a:effectLst/>
                          <a:latin typeface="Arial" panose="020B0604020202020204" pitchFamily="34" charset="0"/>
                          <a:cs typeface="Arial" panose="020B0604020202020204" pitchFamily="34" charset="0"/>
                        </a:rPr>
                        <a:t>₹</a:t>
                      </a:r>
                      <a:r>
                        <a:rPr lang="en-IN" sz="2000" dirty="0">
                          <a:latin typeface="Arial" panose="020B0604020202020204" pitchFamily="34" charset="0"/>
                          <a:cs typeface="Arial" panose="020B0604020202020204" pitchFamily="34" charset="0"/>
                        </a:rPr>
                        <a:t>4,000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53736763"/>
                  </a:ext>
                </a:extLst>
              </a:tr>
              <a:tr h="674146">
                <a:tc>
                  <a:txBody>
                    <a:bodyPr/>
                    <a:lstStyle/>
                    <a:p>
                      <a:r>
                        <a:rPr lang="en-IN" sz="2000">
                          <a:latin typeface="Arial" panose="020B0604020202020204" pitchFamily="34" charset="0"/>
                          <a:cs typeface="Arial" panose="020B0604020202020204" pitchFamily="34" charset="0"/>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b="0" i="0" dirty="0">
                          <a:solidFill>
                            <a:srgbClr val="474747"/>
                          </a:solidFill>
                          <a:effectLst/>
                          <a:latin typeface="Arial" panose="020B0604020202020204" pitchFamily="34" charset="0"/>
                          <a:cs typeface="Arial" panose="020B0604020202020204" pitchFamily="34" charset="0"/>
                        </a:rPr>
                        <a:t>₹</a:t>
                      </a:r>
                      <a:r>
                        <a:rPr lang="en-IN" sz="2000" dirty="0">
                          <a:latin typeface="Arial" panose="020B0604020202020204" pitchFamily="34" charset="0"/>
                          <a:cs typeface="Arial" panose="020B0604020202020204" pitchFamily="34" charset="0"/>
                        </a:rPr>
                        <a:t>2,000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98072465"/>
                  </a:ext>
                </a:extLst>
              </a:tr>
            </a:tbl>
          </a:graphicData>
        </a:graphic>
      </p:graphicFrame>
    </p:spTree>
    <p:extLst>
      <p:ext uri="{BB962C8B-B14F-4D97-AF65-F5344CB8AC3E}">
        <p14:creationId xmlns:p14="http://schemas.microsoft.com/office/powerpoint/2010/main" val="339322514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750F95C-005F-42A1-AD9B-6631B5ED5937}"/>
              </a:ext>
            </a:extLst>
          </p:cNvPr>
          <p:cNvSpPr>
            <a:spLocks noGrp="1"/>
          </p:cNvSpPr>
          <p:nvPr>
            <p:ph type="title"/>
          </p:nvPr>
        </p:nvSpPr>
        <p:spPr>
          <a:xfrm>
            <a:off x="748553" y="136525"/>
            <a:ext cx="10123235" cy="533867"/>
          </a:xfrm>
          <a:prstGeom prst="rect">
            <a:avLst/>
          </a:prstGeom>
          <a:solidFill>
            <a:schemeClr val="tx2">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r>
              <a:rPr lang="en-US" sz="2400" dirty="0">
                <a:solidFill>
                  <a:schemeClr val="accent1"/>
                </a:solidFill>
                <a:latin typeface="Arial" panose="020B0604020202020204" pitchFamily="34" charset="0"/>
                <a:cs typeface="Arial" panose="020B0604020202020204" pitchFamily="34" charset="0"/>
              </a:rPr>
              <a:t>Example of NPV Calculation</a:t>
            </a:r>
            <a:endParaRPr lang="en-IN" sz="2400" dirty="0">
              <a:solidFill>
                <a:schemeClr val="accent1"/>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72C9E36-B70B-46C9-997A-F4D7C97AA8D8}"/>
                  </a:ext>
                </a:extLst>
              </p:cNvPr>
              <p:cNvSpPr>
                <a:spLocks noGrp="1"/>
              </p:cNvSpPr>
              <p:nvPr>
                <p:ph type="body" sz="half" idx="4294967295"/>
              </p:nvPr>
            </p:nvSpPr>
            <p:spPr>
              <a:xfrm>
                <a:off x="838199" y="887506"/>
                <a:ext cx="10403541" cy="4981482"/>
              </a:xfrm>
            </p:spPr>
            <p:txBody>
              <a:bodyPr>
                <a:normAutofit/>
              </a:bodyPr>
              <a:lstStyle/>
              <a:p>
                <a:pPr marL="0" indent="0">
                  <a:lnSpc>
                    <a:spcPct val="200000"/>
                  </a:lnSpc>
                  <a:buNone/>
                </a:pPr>
                <a:r>
                  <a:rPr lang="en-US" sz="2000" dirty="0">
                    <a:solidFill>
                      <a:schemeClr val="accent1"/>
                    </a:solidFill>
                    <a:latin typeface="Arial" panose="020B0604020202020204" pitchFamily="34" charset="0"/>
                    <a:cs typeface="Arial" panose="020B0604020202020204" pitchFamily="34" charset="0"/>
                  </a:rPr>
                  <a:t>Answer:</a:t>
                </a:r>
                <a:r>
                  <a:rPr lang="en-US" sz="2000" dirty="0">
                    <a:latin typeface="Arial" panose="020B0604020202020204" pitchFamily="34" charset="0"/>
                    <a:cs typeface="Arial" panose="020B0604020202020204" pitchFamily="34" charset="0"/>
                  </a:rPr>
                  <a:t> Step 1: Write down the formula</a:t>
                </a:r>
                <a:r>
                  <a:rPr lang="en-US" sz="2000" dirty="0">
                    <a:solidFill>
                      <a:schemeClr val="accent1"/>
                    </a:solidFill>
                    <a:latin typeface="Arial" panose="020B0604020202020204" pitchFamily="34" charset="0"/>
                    <a:cs typeface="Arial" panose="020B0604020202020204" pitchFamily="34" charset="0"/>
                  </a:rPr>
                  <a:t>         </a:t>
                </a:r>
                <a:r>
                  <a:rPr lang="en-US" sz="2000" b="0" dirty="0">
                    <a:latin typeface="Cambria Math" panose="02040503050406030204" pitchFamily="18" charset="0"/>
                    <a:ea typeface="Cambria Math" panose="02040503050406030204" pitchFamily="18" charset="0"/>
                    <a:cs typeface="Times New Roman" panose="02020603050405020304" pitchFamily="18" charset="0"/>
                  </a:rPr>
                  <a:t>NP</a:t>
                </a:r>
                <a14:m>
                  <m:oMath xmlns:m="http://schemas.openxmlformats.org/officeDocument/2006/math">
                    <m:r>
                      <a:rPr lang="en-US" sz="2000" b="0" i="1" smtClean="0">
                        <a:latin typeface="Cambria Math" panose="02040503050406030204" pitchFamily="18" charset="0"/>
                        <a:ea typeface="Cambria Math" panose="02040503050406030204" pitchFamily="18" charset="0"/>
                        <a:cs typeface="Times New Roman" panose="02020603050405020304" pitchFamily="18" charset="0"/>
                      </a:rPr>
                      <m:t>𝑉</m:t>
                    </m:r>
                  </m:oMath>
                </a14:m>
                <a:r>
                  <a:rPr lang="en-US" sz="2000" dirty="0">
                    <a:latin typeface="Cambria Math" panose="02040503050406030204" pitchFamily="18" charset="0"/>
                    <a:ea typeface="Cambria Math" panose="02040503050406030204" pitchFamily="18" charset="0"/>
                    <a:cs typeface="Times New Roman" panose="02020603050405020304" pitchFamily="18" charset="0"/>
                  </a:rPr>
                  <a:t>=</a:t>
                </a:r>
                <a14:m>
                  <m:oMath xmlns:m="http://schemas.openxmlformats.org/officeDocument/2006/math">
                    <m:r>
                      <a:rPr lang="en-US" sz="2000">
                        <a:latin typeface="Cambria Math" panose="02040503050406030204" pitchFamily="18" charset="0"/>
                        <a:ea typeface="Cambria Math" panose="02040503050406030204" pitchFamily="18" charset="0"/>
                        <a:cs typeface="Arial" panose="020B0604020202020204" pitchFamily="34" charset="0"/>
                      </a:rPr>
                      <m:t>  </m:t>
                    </m:r>
                    <m:sSubSup>
                      <m:sSubSupPr>
                        <m:ctrlPr>
                          <a:rPr lang="en-US" sz="2000" i="1">
                            <a:latin typeface="Cambria Math" panose="02040503050406030204" pitchFamily="18" charset="0"/>
                            <a:ea typeface="Cambria Math" panose="02040503050406030204" pitchFamily="18" charset="0"/>
                            <a:cs typeface="Arial" panose="020B0604020202020204" pitchFamily="34" charset="0"/>
                          </a:rPr>
                        </m:ctrlPr>
                      </m:sSubSupPr>
                      <m:e>
                        <m:r>
                          <a:rPr lang="en-US" sz="2000" i="1">
                            <a:latin typeface="Cambria Math" panose="02040503050406030204" pitchFamily="18" charset="0"/>
                            <a:ea typeface="Cambria Math" panose="02040503050406030204" pitchFamily="18" charset="0"/>
                            <a:cs typeface="Arial" panose="020B0604020202020204" pitchFamily="34" charset="0"/>
                          </a:rPr>
                          <m:t>∑</m:t>
                        </m:r>
                      </m:e>
                      <m:sub>
                        <m:r>
                          <a:rPr lang="en-US" sz="2000" i="1">
                            <a:latin typeface="Cambria Math" panose="02040503050406030204" pitchFamily="18" charset="0"/>
                            <a:ea typeface="Cambria Math" panose="02040503050406030204" pitchFamily="18" charset="0"/>
                            <a:cs typeface="Arial" panose="020B0604020202020204" pitchFamily="34" charset="0"/>
                          </a:rPr>
                          <m:t>𝑡</m:t>
                        </m:r>
                        <m:r>
                          <a:rPr lang="en-US" sz="2000" i="1">
                            <a:latin typeface="Cambria Math" panose="02040503050406030204" pitchFamily="18" charset="0"/>
                            <a:ea typeface="Cambria Math" panose="02040503050406030204" pitchFamily="18" charset="0"/>
                            <a:cs typeface="Arial" panose="020B0604020202020204" pitchFamily="34" charset="0"/>
                          </a:rPr>
                          <m:t>=1</m:t>
                        </m:r>
                      </m:sub>
                      <m:sup>
                        <m:r>
                          <a:rPr lang="en-US" sz="2000" b="0" i="1" smtClean="0">
                            <a:latin typeface="Cambria Math" panose="02040503050406030204" pitchFamily="18" charset="0"/>
                            <a:ea typeface="Cambria Math" panose="02040503050406030204" pitchFamily="18" charset="0"/>
                            <a:cs typeface="Arial" panose="020B0604020202020204" pitchFamily="34" charset="0"/>
                          </a:rPr>
                          <m:t>4</m:t>
                        </m:r>
                      </m:sup>
                    </m:sSubSup>
                    <m:f>
                      <m:fPr>
                        <m:ctrlPr>
                          <a:rPr lang="en-US" sz="2000" i="1" smtClean="0">
                            <a:latin typeface="Cambria Math" panose="02040503050406030204" pitchFamily="18" charset="0"/>
                            <a:ea typeface="Cambria Math" panose="02040503050406030204" pitchFamily="18" charset="0"/>
                            <a:cs typeface="Arial" panose="020B0604020202020204" pitchFamily="34" charset="0"/>
                          </a:rPr>
                        </m:ctrlPr>
                      </m:fPr>
                      <m:num>
                        <m:r>
                          <a:rPr lang="en-US" sz="2000" b="0" i="1" smtClean="0">
                            <a:latin typeface="Cambria Math" panose="02040503050406030204" pitchFamily="18" charset="0"/>
                            <a:ea typeface="Cambria Math" panose="02040503050406030204" pitchFamily="18" charset="0"/>
                            <a:cs typeface="Arial" panose="020B0604020202020204" pitchFamily="34" charset="0"/>
                          </a:rPr>
                          <m:t>𝐶𝐹</m:t>
                        </m:r>
                      </m:num>
                      <m:den>
                        <m:sSup>
                          <m:sSupPr>
                            <m:ctrlPr>
                              <a:rPr lang="pt-BR" sz="2000" i="1">
                                <a:latin typeface="Cambria Math" panose="02040503050406030204" pitchFamily="18" charset="0"/>
                                <a:ea typeface="Cambria Math" panose="02040503050406030204" pitchFamily="18" charset="0"/>
                                <a:cs typeface="Arial" panose="020B0604020202020204" pitchFamily="34" charset="0"/>
                              </a:rPr>
                            </m:ctrlPr>
                          </m:sSupPr>
                          <m:e>
                            <m:d>
                              <m:dPr>
                                <m:ctrlPr>
                                  <a:rPr lang="pt-BR" sz="2000" i="1">
                                    <a:latin typeface="Cambria Math" panose="02040503050406030204" pitchFamily="18" charset="0"/>
                                    <a:ea typeface="Cambria Math" panose="02040503050406030204" pitchFamily="18" charset="0"/>
                                    <a:cs typeface="Arial" panose="020B0604020202020204" pitchFamily="34" charset="0"/>
                                  </a:rPr>
                                </m:ctrlPr>
                              </m:dPr>
                              <m:e>
                                <m:r>
                                  <a:rPr lang="en-US" sz="2000" i="1">
                                    <a:latin typeface="Cambria Math" panose="02040503050406030204" pitchFamily="18" charset="0"/>
                                    <a:ea typeface="Cambria Math" panose="02040503050406030204" pitchFamily="18" charset="0"/>
                                    <a:cs typeface="Arial" panose="020B0604020202020204" pitchFamily="34" charset="0"/>
                                  </a:rPr>
                                  <m:t>1</m:t>
                                </m:r>
                                <m:r>
                                  <a:rPr lang="pt-BR" sz="2000" i="1">
                                    <a:latin typeface="Cambria Math" panose="02040503050406030204" pitchFamily="18" charset="0"/>
                                    <a:ea typeface="Cambria Math" panose="02040503050406030204" pitchFamily="18" charset="0"/>
                                    <a:cs typeface="Arial" panose="020B0604020202020204" pitchFamily="34" charset="0"/>
                                  </a:rPr>
                                  <m:t>+</m:t>
                                </m:r>
                                <m:r>
                                  <a:rPr lang="en-US" sz="2000" b="0" i="1" smtClean="0">
                                    <a:latin typeface="Cambria Math" panose="02040503050406030204" pitchFamily="18" charset="0"/>
                                    <a:ea typeface="Cambria Math" panose="02040503050406030204" pitchFamily="18" charset="0"/>
                                    <a:cs typeface="Arial" panose="020B0604020202020204" pitchFamily="34" charset="0"/>
                                  </a:rPr>
                                  <m:t>0.10</m:t>
                                </m:r>
                              </m:e>
                            </m:d>
                          </m:e>
                          <m:sup>
                            <m:r>
                              <a:rPr lang="en-US" sz="2000" b="0" i="1" smtClean="0">
                                <a:latin typeface="Cambria Math" panose="02040503050406030204" pitchFamily="18" charset="0"/>
                                <a:ea typeface="Cambria Math" panose="02040503050406030204" pitchFamily="18" charset="0"/>
                                <a:cs typeface="Arial" panose="020B0604020202020204" pitchFamily="34" charset="0"/>
                              </a:rPr>
                              <m:t>𝑡</m:t>
                            </m:r>
                          </m:sup>
                        </m:sSup>
                      </m:den>
                    </m:f>
                    <m:r>
                      <a:rPr lang="en-US" sz="2000" b="0" i="1" smtClean="0">
                        <a:latin typeface="Cambria Math" panose="02040503050406030204" pitchFamily="18" charset="0"/>
                        <a:ea typeface="Cambria Math" panose="02040503050406030204" pitchFamily="18" charset="0"/>
                        <a:cs typeface="Arial" panose="020B0604020202020204" pitchFamily="34" charset="0"/>
                      </a:rPr>
                      <m:t>  −10,000</m:t>
                    </m:r>
                  </m:oMath>
                </a14:m>
                <a:endParaRPr lang="en-US" sz="2000" b="0" dirty="0">
                  <a:latin typeface="Cambria Math" panose="02040503050406030204" pitchFamily="18" charset="0"/>
                  <a:ea typeface="Cambria Math" panose="02040503050406030204" pitchFamily="18" charset="0"/>
                  <a:cs typeface="Arial" panose="020B0604020202020204" pitchFamily="34" charset="0"/>
                </a:endParaRPr>
              </a:p>
              <a:p>
                <a:pPr marL="0" indent="0">
                  <a:lnSpc>
                    <a:spcPct val="200000"/>
                  </a:lnSpc>
                  <a:buNone/>
                </a:pPr>
                <a:r>
                  <a:rPr lang="en-US" sz="2000" dirty="0">
                    <a:latin typeface="Arial" panose="020B0604020202020204" pitchFamily="34" charset="0"/>
                    <a:cs typeface="Arial" panose="020B0604020202020204" pitchFamily="34" charset="0"/>
                  </a:rPr>
                  <a:t>Step 2: Calculate present value (PV) of each cash flow</a:t>
                </a:r>
                <a:endParaRPr lang="en-US" sz="2000" b="0" dirty="0">
                  <a:latin typeface="Arial" panose="020B0604020202020204" pitchFamily="34" charset="0"/>
                  <a:ea typeface="Cambria Math" panose="02040503050406030204" pitchFamily="18" charset="0"/>
                  <a:cs typeface="Arial" panose="020B0604020202020204" pitchFamily="34" charset="0"/>
                </a:endParaRPr>
              </a:p>
              <a:p>
                <a:pPr marL="0" indent="0">
                  <a:lnSpc>
                    <a:spcPct val="200000"/>
                  </a:lnSpc>
                  <a:buNone/>
                </a:pPr>
                <a:endParaRPr lang="en-US" sz="2000" dirty="0">
                  <a:solidFill>
                    <a:schemeClr val="accent1"/>
                  </a:solidFill>
                  <a:latin typeface="Arial" panose="020B0604020202020204" pitchFamily="34" charset="0"/>
                  <a:cs typeface="Arial" panose="020B0604020202020204" pitchFamily="34" charset="0"/>
                </a:endParaRPr>
              </a:p>
            </p:txBody>
          </p:sp>
        </mc:Choice>
        <mc:Fallback xmlns="">
          <p:sp>
            <p:nvSpPr>
              <p:cNvPr id="3" name="Content Placeholder 2">
                <a:extLst>
                  <a:ext uri="{FF2B5EF4-FFF2-40B4-BE49-F238E27FC236}">
                    <a16:creationId xmlns:a16="http://schemas.microsoft.com/office/drawing/2014/main" id="{A72C9E36-B70B-46C9-997A-F4D7C97AA8D8}"/>
                  </a:ext>
                </a:extLst>
              </p:cNvPr>
              <p:cNvSpPr>
                <a:spLocks noGrp="1" noRot="1" noChangeAspect="1" noMove="1" noResize="1" noEditPoints="1" noAdjustHandles="1" noChangeArrowheads="1" noChangeShapeType="1" noTextEdit="1"/>
              </p:cNvSpPr>
              <p:nvPr>
                <p:ph type="body" sz="half" idx="4294967295"/>
              </p:nvPr>
            </p:nvSpPr>
            <p:spPr>
              <a:xfrm>
                <a:off x="838199" y="887506"/>
                <a:ext cx="10403541" cy="4981482"/>
              </a:xfrm>
              <a:blipFill>
                <a:blip r:embed="rId2"/>
                <a:stretch>
                  <a:fillRect l="-586"/>
                </a:stretch>
              </a:blipFill>
            </p:spPr>
            <p:txBody>
              <a:bodyPr/>
              <a:lstStyle/>
              <a:p>
                <a:r>
                  <a:rPr lang="en-IN">
                    <a:noFill/>
                  </a:rPr>
                  <a:t> </a:t>
                </a:r>
              </a:p>
            </p:txBody>
          </p:sp>
        </mc:Fallback>
      </mc:AlternateContent>
      <p:pic>
        <p:nvPicPr>
          <p:cNvPr id="5" name="Picture 4">
            <a:extLst>
              <a:ext uri="{FF2B5EF4-FFF2-40B4-BE49-F238E27FC236}">
                <a16:creationId xmlns:a16="http://schemas.microsoft.com/office/drawing/2014/main" id="{1A8F9582-68CE-431C-8B72-88E14F073978}"/>
              </a:ext>
            </a:extLst>
          </p:cNvPr>
          <p:cNvPicPr>
            <a:picLocks noChangeAspect="1"/>
          </p:cNvPicPr>
          <p:nvPr/>
        </p:nvPicPr>
        <p:blipFill>
          <a:blip r:embed="rId3"/>
          <a:stretch>
            <a:fillRect/>
          </a:stretch>
        </p:blipFill>
        <p:spPr>
          <a:xfrm>
            <a:off x="11027635" y="51275"/>
            <a:ext cx="966091" cy="746583"/>
          </a:xfrm>
          <a:prstGeom prst="rect">
            <a:avLst/>
          </a:prstGeom>
        </p:spPr>
      </p:pic>
      <p:sp>
        <p:nvSpPr>
          <p:cNvPr id="2" name="Slide Number Placeholder 1">
            <a:extLst>
              <a:ext uri="{FF2B5EF4-FFF2-40B4-BE49-F238E27FC236}">
                <a16:creationId xmlns:a16="http://schemas.microsoft.com/office/drawing/2014/main" id="{3EEE3E35-0D13-469A-9E0F-622ACCC7CC9A}"/>
              </a:ext>
            </a:extLst>
          </p:cNvPr>
          <p:cNvSpPr>
            <a:spLocks noGrp="1"/>
          </p:cNvSpPr>
          <p:nvPr>
            <p:ph type="sldNum" sz="quarter" idx="12"/>
          </p:nvPr>
        </p:nvSpPr>
        <p:spPr/>
        <p:txBody>
          <a:bodyPr/>
          <a:lstStyle/>
          <a:p>
            <a:fld id="{B7991F04-3566-4BB1-A8CB-A35BE8E11603}" type="slidenum">
              <a:rPr lang="en-IN" smtClean="0"/>
              <a:t>32</a:t>
            </a:fld>
            <a:endParaRPr lang="en-IN"/>
          </a:p>
        </p:txBody>
      </p:sp>
      <mc:AlternateContent xmlns:mc="http://schemas.openxmlformats.org/markup-compatibility/2006" xmlns:a14="http://schemas.microsoft.com/office/drawing/2010/main">
        <mc:Choice Requires="a14">
          <p:graphicFrame>
            <p:nvGraphicFramePr>
              <p:cNvPr id="6" name="Table 5">
                <a:extLst>
                  <a:ext uri="{FF2B5EF4-FFF2-40B4-BE49-F238E27FC236}">
                    <a16:creationId xmlns:a16="http://schemas.microsoft.com/office/drawing/2014/main" id="{1631094D-B6C9-4708-A856-1D4E5DB8A30C}"/>
                  </a:ext>
                </a:extLst>
              </p:cNvPr>
              <p:cNvGraphicFramePr>
                <a:graphicFrameLocks noGrp="1"/>
              </p:cNvGraphicFramePr>
              <p:nvPr>
                <p:extLst>
                  <p:ext uri="{D42A27DB-BD31-4B8C-83A1-F6EECF244321}">
                    <p14:modId xmlns:p14="http://schemas.microsoft.com/office/powerpoint/2010/main" val="606986391"/>
                  </p:ext>
                </p:extLst>
              </p:nvPr>
            </p:nvGraphicFramePr>
            <p:xfrm>
              <a:off x="838200" y="2575260"/>
              <a:ext cx="10515600" cy="3837799"/>
            </p:xfrm>
            <a:graphic>
              <a:graphicData uri="http://schemas.openxmlformats.org/drawingml/2006/table">
                <a:tbl>
                  <a:tblPr/>
                  <a:tblGrid>
                    <a:gridCol w="2628900">
                      <a:extLst>
                        <a:ext uri="{9D8B030D-6E8A-4147-A177-3AD203B41FA5}">
                          <a16:colId xmlns:a16="http://schemas.microsoft.com/office/drawing/2014/main" val="1239831339"/>
                        </a:ext>
                      </a:extLst>
                    </a:gridCol>
                    <a:gridCol w="2628900">
                      <a:extLst>
                        <a:ext uri="{9D8B030D-6E8A-4147-A177-3AD203B41FA5}">
                          <a16:colId xmlns:a16="http://schemas.microsoft.com/office/drawing/2014/main" val="3661009294"/>
                        </a:ext>
                      </a:extLst>
                    </a:gridCol>
                    <a:gridCol w="2628900">
                      <a:extLst>
                        <a:ext uri="{9D8B030D-6E8A-4147-A177-3AD203B41FA5}">
                          <a16:colId xmlns:a16="http://schemas.microsoft.com/office/drawing/2014/main" val="4074276020"/>
                        </a:ext>
                      </a:extLst>
                    </a:gridCol>
                    <a:gridCol w="2628900">
                      <a:extLst>
                        <a:ext uri="{9D8B030D-6E8A-4147-A177-3AD203B41FA5}">
                          <a16:colId xmlns:a16="http://schemas.microsoft.com/office/drawing/2014/main" val="1394357116"/>
                        </a:ext>
                      </a:extLst>
                    </a:gridCol>
                  </a:tblGrid>
                  <a:tr h="1033639">
                    <a:tc>
                      <a:txBody>
                        <a:bodyPr/>
                        <a:lstStyle/>
                        <a:p>
                          <a:r>
                            <a:rPr lang="en-IN" sz="2000" dirty="0">
                              <a:solidFill>
                                <a:schemeClr val="accent1"/>
                              </a:solidFill>
                              <a:latin typeface="Arial" panose="020B0604020202020204" pitchFamily="34" charset="0"/>
                              <a:cs typeface="Arial" panose="020B0604020202020204" pitchFamily="34" charset="0"/>
                            </a:rPr>
                            <a:t>Year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dirty="0">
                              <a:solidFill>
                                <a:schemeClr val="accent1"/>
                              </a:solidFill>
                              <a:latin typeface="Arial" panose="020B0604020202020204" pitchFamily="34" charset="0"/>
                              <a:cs typeface="Arial" panose="020B0604020202020204" pitchFamily="34" charset="0"/>
                            </a:rPr>
                            <a:t>CF</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dirty="0">
                              <a:solidFill>
                                <a:schemeClr val="accent1"/>
                              </a:solidFill>
                              <a:latin typeface="Arial" panose="020B0604020202020204" pitchFamily="34" charset="0"/>
                              <a:cs typeface="Arial" panose="020B0604020202020204" pitchFamily="34" charset="0"/>
                            </a:rPr>
                            <a:t>Discount Factor </a:t>
                          </a:r>
                          <a14:m>
                            <m:oMath xmlns:m="http://schemas.openxmlformats.org/officeDocument/2006/math">
                              <m:f>
                                <m:fPr>
                                  <m:ctrlPr>
                                    <a:rPr lang="en-US" sz="2000" i="1" smtClean="0">
                                      <a:solidFill>
                                        <a:schemeClr val="accent1"/>
                                      </a:solidFill>
                                      <a:latin typeface="Cambria Math" panose="02040503050406030204" pitchFamily="18" charset="0"/>
                                      <a:ea typeface="Cambria Math" panose="02040503050406030204" pitchFamily="18" charset="0"/>
                                      <a:cs typeface="Arial" panose="020B0604020202020204" pitchFamily="34" charset="0"/>
                                    </a:rPr>
                                  </m:ctrlPr>
                                </m:fPr>
                                <m:num>
                                  <m:r>
                                    <a:rPr lang="en-US" sz="2000" b="0" i="1" smtClean="0">
                                      <a:solidFill>
                                        <a:schemeClr val="accent1"/>
                                      </a:solidFill>
                                      <a:latin typeface="Cambria Math" panose="02040503050406030204" pitchFamily="18" charset="0"/>
                                      <a:ea typeface="Cambria Math" panose="02040503050406030204" pitchFamily="18" charset="0"/>
                                      <a:cs typeface="Arial" panose="020B0604020202020204" pitchFamily="34" charset="0"/>
                                    </a:rPr>
                                    <m:t>1</m:t>
                                  </m:r>
                                </m:num>
                                <m:den>
                                  <m:sSup>
                                    <m:sSupPr>
                                      <m:ctrlPr>
                                        <a:rPr lang="pt-BR" sz="2000" i="1">
                                          <a:solidFill>
                                            <a:schemeClr val="accent1"/>
                                          </a:solidFill>
                                          <a:latin typeface="Cambria Math" panose="02040503050406030204" pitchFamily="18" charset="0"/>
                                          <a:ea typeface="Cambria Math" panose="02040503050406030204" pitchFamily="18" charset="0"/>
                                          <a:cs typeface="Arial" panose="020B0604020202020204" pitchFamily="34" charset="0"/>
                                        </a:rPr>
                                      </m:ctrlPr>
                                    </m:sSupPr>
                                    <m:e>
                                      <m:d>
                                        <m:dPr>
                                          <m:ctrlPr>
                                            <a:rPr lang="pt-BR" sz="2000" i="1">
                                              <a:solidFill>
                                                <a:schemeClr val="accent1"/>
                                              </a:solidFill>
                                              <a:latin typeface="Cambria Math" panose="02040503050406030204" pitchFamily="18" charset="0"/>
                                              <a:ea typeface="Cambria Math" panose="02040503050406030204" pitchFamily="18" charset="0"/>
                                              <a:cs typeface="Arial" panose="020B0604020202020204" pitchFamily="34" charset="0"/>
                                            </a:rPr>
                                          </m:ctrlPr>
                                        </m:dPr>
                                        <m:e>
                                          <m:r>
                                            <a:rPr lang="en-US" sz="2000" i="1">
                                              <a:solidFill>
                                                <a:schemeClr val="accent1"/>
                                              </a:solidFill>
                                              <a:latin typeface="Cambria Math" panose="02040503050406030204" pitchFamily="18" charset="0"/>
                                              <a:ea typeface="Cambria Math" panose="02040503050406030204" pitchFamily="18" charset="0"/>
                                              <a:cs typeface="Arial" panose="020B0604020202020204" pitchFamily="34" charset="0"/>
                                            </a:rPr>
                                            <m:t>1</m:t>
                                          </m:r>
                                          <m:r>
                                            <a:rPr lang="pt-BR" sz="2000" i="1">
                                              <a:solidFill>
                                                <a:schemeClr val="accent1"/>
                                              </a:solidFill>
                                              <a:latin typeface="Cambria Math" panose="02040503050406030204" pitchFamily="18" charset="0"/>
                                              <a:ea typeface="Cambria Math" panose="02040503050406030204" pitchFamily="18" charset="0"/>
                                              <a:cs typeface="Arial" panose="020B0604020202020204" pitchFamily="34" charset="0"/>
                                            </a:rPr>
                                            <m:t>+</m:t>
                                          </m:r>
                                          <m:r>
                                            <a:rPr lang="en-US" sz="2000" b="0" i="1" smtClean="0">
                                              <a:solidFill>
                                                <a:schemeClr val="accent1"/>
                                              </a:solidFill>
                                              <a:latin typeface="Cambria Math" panose="02040503050406030204" pitchFamily="18" charset="0"/>
                                              <a:ea typeface="Cambria Math" panose="02040503050406030204" pitchFamily="18" charset="0"/>
                                              <a:cs typeface="Arial" panose="020B0604020202020204" pitchFamily="34" charset="0"/>
                                            </a:rPr>
                                            <m:t>0.10</m:t>
                                          </m:r>
                                        </m:e>
                                      </m:d>
                                    </m:e>
                                    <m:sup>
                                      <m:r>
                                        <a:rPr lang="en-US" sz="2000" b="0" i="1" smtClean="0">
                                          <a:solidFill>
                                            <a:schemeClr val="accent1"/>
                                          </a:solidFill>
                                          <a:latin typeface="Cambria Math" panose="02040503050406030204" pitchFamily="18" charset="0"/>
                                          <a:ea typeface="Cambria Math" panose="02040503050406030204" pitchFamily="18" charset="0"/>
                                          <a:cs typeface="Arial" panose="020B0604020202020204" pitchFamily="34" charset="0"/>
                                        </a:rPr>
                                        <m:t>𝑡</m:t>
                                      </m:r>
                                    </m:sup>
                                  </m:sSup>
                                </m:den>
                              </m:f>
                            </m:oMath>
                          </a14:m>
                          <a:endParaRPr lang="en-IN" sz="2000" dirty="0">
                            <a:solidFill>
                              <a:schemeClr val="accent1"/>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solidFill>
                                <a:schemeClr val="accent1"/>
                              </a:solidFill>
                              <a:latin typeface="Arial" panose="020B0604020202020204" pitchFamily="34" charset="0"/>
                              <a:cs typeface="Arial" panose="020B0604020202020204" pitchFamily="34" charset="0"/>
                            </a:rPr>
                            <a:t>Present Value (PV) = CF × Discount Factor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78216740"/>
                      </a:ext>
                    </a:extLst>
                  </a:tr>
                  <a:tr h="650911">
                    <a:tc>
                      <a:txBody>
                        <a:bodyPr/>
                        <a:lstStyle/>
                        <a:p>
                          <a:r>
                            <a:rPr lang="en-IN" sz="2000" dirty="0">
                              <a:latin typeface="Arial" panose="020B0604020202020204" pitchFamily="34" charset="0"/>
                              <a:cs typeface="Arial" panose="020B0604020202020204" pitchFamily="34"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dirty="0">
                              <a:latin typeface="Arial" panose="020B0604020202020204" pitchFamily="34" charset="0"/>
                              <a:cs typeface="Arial" panose="020B0604020202020204" pitchFamily="34" charset="0"/>
                            </a:rPr>
                            <a:t>3,000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dirty="0">
                              <a:latin typeface="Arial" panose="020B0604020202020204" pitchFamily="34" charset="0"/>
                              <a:cs typeface="Arial" panose="020B0604020202020204" pitchFamily="34" charset="0"/>
                            </a:rPr>
                            <a:t>0.9091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a:latin typeface="Arial" panose="020B0604020202020204" pitchFamily="34" charset="0"/>
                              <a:cs typeface="Arial" panose="020B0604020202020204" pitchFamily="34" charset="0"/>
                            </a:rPr>
                            <a:t>3,000 × 0.9091 = 2,727.30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7196060"/>
                      </a:ext>
                    </a:extLst>
                  </a:tr>
                  <a:tr h="650911">
                    <a:tc>
                      <a:txBody>
                        <a:bodyPr/>
                        <a:lstStyle/>
                        <a:p>
                          <a:r>
                            <a:rPr lang="en-IN" sz="2000">
                              <a:latin typeface="Arial" panose="020B0604020202020204" pitchFamily="34" charset="0"/>
                              <a:cs typeface="Arial" panose="020B0604020202020204" pitchFamily="34" charset="0"/>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dirty="0">
                              <a:latin typeface="Arial" panose="020B0604020202020204" pitchFamily="34" charset="0"/>
                              <a:cs typeface="Arial" panose="020B0604020202020204" pitchFamily="34" charset="0"/>
                            </a:rPr>
                            <a:t>4,000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dirty="0">
                              <a:latin typeface="Arial" panose="020B0604020202020204" pitchFamily="34" charset="0"/>
                              <a:cs typeface="Arial" panose="020B0604020202020204" pitchFamily="34" charset="0"/>
                            </a:rPr>
                            <a:t>0.8264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dirty="0">
                              <a:latin typeface="Arial" panose="020B0604020202020204" pitchFamily="34" charset="0"/>
                              <a:cs typeface="Arial" panose="020B0604020202020204" pitchFamily="34" charset="0"/>
                            </a:rPr>
                            <a:t>4,000 × 0.8264 = 3,305.60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66520052"/>
                      </a:ext>
                    </a:extLst>
                  </a:tr>
                  <a:tr h="650911">
                    <a:tc>
                      <a:txBody>
                        <a:bodyPr/>
                        <a:lstStyle/>
                        <a:p>
                          <a:r>
                            <a:rPr lang="en-IN" sz="2000">
                              <a:latin typeface="Arial" panose="020B0604020202020204" pitchFamily="34" charset="0"/>
                              <a:cs typeface="Arial" panose="020B0604020202020204" pitchFamily="34"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a:latin typeface="Arial" panose="020B0604020202020204" pitchFamily="34" charset="0"/>
                              <a:cs typeface="Arial" panose="020B0604020202020204" pitchFamily="34" charset="0"/>
                            </a:rPr>
                            <a:t>4,000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dirty="0">
                              <a:latin typeface="Arial" panose="020B0604020202020204" pitchFamily="34" charset="0"/>
                              <a:cs typeface="Arial" panose="020B0604020202020204" pitchFamily="34" charset="0"/>
                            </a:rPr>
                            <a:t>0.7513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dirty="0">
                              <a:latin typeface="Arial" panose="020B0604020202020204" pitchFamily="34" charset="0"/>
                              <a:cs typeface="Arial" panose="020B0604020202020204" pitchFamily="34" charset="0"/>
                            </a:rPr>
                            <a:t>4,000 × 0.7513 = 3,005.20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20529948"/>
                      </a:ext>
                    </a:extLst>
                  </a:tr>
                  <a:tr h="650911">
                    <a:tc>
                      <a:txBody>
                        <a:bodyPr/>
                        <a:lstStyle/>
                        <a:p>
                          <a:r>
                            <a:rPr lang="en-IN" sz="2000" dirty="0">
                              <a:latin typeface="Arial" panose="020B0604020202020204" pitchFamily="34" charset="0"/>
                              <a:cs typeface="Arial" panose="020B0604020202020204" pitchFamily="34" charset="0"/>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dirty="0">
                              <a:latin typeface="Arial" panose="020B0604020202020204" pitchFamily="34" charset="0"/>
                              <a:cs typeface="Arial" panose="020B0604020202020204" pitchFamily="34" charset="0"/>
                            </a:rPr>
                            <a:t>2,000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dirty="0">
                              <a:latin typeface="Arial" panose="020B0604020202020204" pitchFamily="34" charset="0"/>
                              <a:cs typeface="Arial" panose="020B0604020202020204" pitchFamily="34" charset="0"/>
                            </a:rPr>
                            <a:t>0.6830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dirty="0">
                              <a:latin typeface="Arial" panose="020B0604020202020204" pitchFamily="34" charset="0"/>
                              <a:cs typeface="Arial" panose="020B0604020202020204" pitchFamily="34" charset="0"/>
                            </a:rPr>
                            <a:t>2,000 × 0.6830 = 1,366.00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1860914"/>
                      </a:ext>
                    </a:extLst>
                  </a:tr>
                </a:tbl>
              </a:graphicData>
            </a:graphic>
          </p:graphicFrame>
        </mc:Choice>
        <mc:Fallback xmlns="">
          <p:graphicFrame>
            <p:nvGraphicFramePr>
              <p:cNvPr id="6" name="Table 5">
                <a:extLst>
                  <a:ext uri="{FF2B5EF4-FFF2-40B4-BE49-F238E27FC236}">
                    <a16:creationId xmlns:a16="http://schemas.microsoft.com/office/drawing/2014/main" id="{1631094D-B6C9-4708-A856-1D4E5DB8A30C}"/>
                  </a:ext>
                </a:extLst>
              </p:cNvPr>
              <p:cNvGraphicFramePr>
                <a:graphicFrameLocks noGrp="1"/>
              </p:cNvGraphicFramePr>
              <p:nvPr>
                <p:extLst>
                  <p:ext uri="{D42A27DB-BD31-4B8C-83A1-F6EECF244321}">
                    <p14:modId xmlns:p14="http://schemas.microsoft.com/office/powerpoint/2010/main" val="606986391"/>
                  </p:ext>
                </p:extLst>
              </p:nvPr>
            </p:nvGraphicFramePr>
            <p:xfrm>
              <a:off x="838200" y="2575260"/>
              <a:ext cx="10515600" cy="3837799"/>
            </p:xfrm>
            <a:graphic>
              <a:graphicData uri="http://schemas.openxmlformats.org/drawingml/2006/table">
                <a:tbl>
                  <a:tblPr/>
                  <a:tblGrid>
                    <a:gridCol w="2628900">
                      <a:extLst>
                        <a:ext uri="{9D8B030D-6E8A-4147-A177-3AD203B41FA5}">
                          <a16:colId xmlns:a16="http://schemas.microsoft.com/office/drawing/2014/main" val="1239831339"/>
                        </a:ext>
                      </a:extLst>
                    </a:gridCol>
                    <a:gridCol w="2628900">
                      <a:extLst>
                        <a:ext uri="{9D8B030D-6E8A-4147-A177-3AD203B41FA5}">
                          <a16:colId xmlns:a16="http://schemas.microsoft.com/office/drawing/2014/main" val="3661009294"/>
                        </a:ext>
                      </a:extLst>
                    </a:gridCol>
                    <a:gridCol w="2628900">
                      <a:extLst>
                        <a:ext uri="{9D8B030D-6E8A-4147-A177-3AD203B41FA5}">
                          <a16:colId xmlns:a16="http://schemas.microsoft.com/office/drawing/2014/main" val="4074276020"/>
                        </a:ext>
                      </a:extLst>
                    </a:gridCol>
                    <a:gridCol w="2628900">
                      <a:extLst>
                        <a:ext uri="{9D8B030D-6E8A-4147-A177-3AD203B41FA5}">
                          <a16:colId xmlns:a16="http://schemas.microsoft.com/office/drawing/2014/main" val="1394357116"/>
                        </a:ext>
                      </a:extLst>
                    </a:gridCol>
                  </a:tblGrid>
                  <a:tr h="1033639">
                    <a:tc>
                      <a:txBody>
                        <a:bodyPr/>
                        <a:lstStyle/>
                        <a:p>
                          <a:r>
                            <a:rPr lang="en-IN" sz="2000" dirty="0">
                              <a:solidFill>
                                <a:schemeClr val="accent1"/>
                              </a:solidFill>
                              <a:latin typeface="Arial" panose="020B0604020202020204" pitchFamily="34" charset="0"/>
                              <a:cs typeface="Arial" panose="020B0604020202020204" pitchFamily="34" charset="0"/>
                            </a:rPr>
                            <a:t>Year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dirty="0">
                              <a:solidFill>
                                <a:schemeClr val="accent1"/>
                              </a:solidFill>
                              <a:latin typeface="Arial" panose="020B0604020202020204" pitchFamily="34" charset="0"/>
                              <a:cs typeface="Arial" panose="020B0604020202020204" pitchFamily="34" charset="0"/>
                            </a:rPr>
                            <a:t>CF</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00000" t="-588" r="-100231" b="-281765"/>
                          </a:stretch>
                        </a:blipFill>
                      </a:tcPr>
                    </a:tc>
                    <a:tc>
                      <a:txBody>
                        <a:bodyPr/>
                        <a:lstStyle/>
                        <a:p>
                          <a:r>
                            <a:rPr lang="en-US" sz="2000" dirty="0">
                              <a:solidFill>
                                <a:schemeClr val="accent1"/>
                              </a:solidFill>
                              <a:latin typeface="Arial" panose="020B0604020202020204" pitchFamily="34" charset="0"/>
                              <a:cs typeface="Arial" panose="020B0604020202020204" pitchFamily="34" charset="0"/>
                            </a:rPr>
                            <a:t>Present Value (PV) = CF × Discount Factor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78216740"/>
                      </a:ext>
                    </a:extLst>
                  </a:tr>
                  <a:tr h="701040">
                    <a:tc>
                      <a:txBody>
                        <a:bodyPr/>
                        <a:lstStyle/>
                        <a:p>
                          <a:r>
                            <a:rPr lang="en-IN" sz="2000" dirty="0">
                              <a:latin typeface="Arial" panose="020B0604020202020204" pitchFamily="34" charset="0"/>
                              <a:cs typeface="Arial" panose="020B0604020202020204" pitchFamily="34"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dirty="0">
                              <a:latin typeface="Arial" panose="020B0604020202020204" pitchFamily="34" charset="0"/>
                              <a:cs typeface="Arial" panose="020B0604020202020204" pitchFamily="34" charset="0"/>
                            </a:rPr>
                            <a:t>3,000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dirty="0">
                              <a:latin typeface="Arial" panose="020B0604020202020204" pitchFamily="34" charset="0"/>
                              <a:cs typeface="Arial" panose="020B0604020202020204" pitchFamily="34" charset="0"/>
                            </a:rPr>
                            <a:t>0.9091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a:latin typeface="Arial" panose="020B0604020202020204" pitchFamily="34" charset="0"/>
                              <a:cs typeface="Arial" panose="020B0604020202020204" pitchFamily="34" charset="0"/>
                            </a:rPr>
                            <a:t>3,000 × 0.9091 = 2,727.30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7196060"/>
                      </a:ext>
                    </a:extLst>
                  </a:tr>
                  <a:tr h="701040">
                    <a:tc>
                      <a:txBody>
                        <a:bodyPr/>
                        <a:lstStyle/>
                        <a:p>
                          <a:r>
                            <a:rPr lang="en-IN" sz="2000">
                              <a:latin typeface="Arial" panose="020B0604020202020204" pitchFamily="34" charset="0"/>
                              <a:cs typeface="Arial" panose="020B0604020202020204" pitchFamily="34" charset="0"/>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dirty="0">
                              <a:latin typeface="Arial" panose="020B0604020202020204" pitchFamily="34" charset="0"/>
                              <a:cs typeface="Arial" panose="020B0604020202020204" pitchFamily="34" charset="0"/>
                            </a:rPr>
                            <a:t>4,000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dirty="0">
                              <a:latin typeface="Arial" panose="020B0604020202020204" pitchFamily="34" charset="0"/>
                              <a:cs typeface="Arial" panose="020B0604020202020204" pitchFamily="34" charset="0"/>
                            </a:rPr>
                            <a:t>0.8264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dirty="0">
                              <a:latin typeface="Arial" panose="020B0604020202020204" pitchFamily="34" charset="0"/>
                              <a:cs typeface="Arial" panose="020B0604020202020204" pitchFamily="34" charset="0"/>
                            </a:rPr>
                            <a:t>4,000 × 0.8264 = 3,305.60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66520052"/>
                      </a:ext>
                    </a:extLst>
                  </a:tr>
                  <a:tr h="701040">
                    <a:tc>
                      <a:txBody>
                        <a:bodyPr/>
                        <a:lstStyle/>
                        <a:p>
                          <a:r>
                            <a:rPr lang="en-IN" sz="2000">
                              <a:latin typeface="Arial" panose="020B0604020202020204" pitchFamily="34" charset="0"/>
                              <a:cs typeface="Arial" panose="020B0604020202020204" pitchFamily="34"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a:latin typeface="Arial" panose="020B0604020202020204" pitchFamily="34" charset="0"/>
                              <a:cs typeface="Arial" panose="020B0604020202020204" pitchFamily="34" charset="0"/>
                            </a:rPr>
                            <a:t>4,000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dirty="0">
                              <a:latin typeface="Arial" panose="020B0604020202020204" pitchFamily="34" charset="0"/>
                              <a:cs typeface="Arial" panose="020B0604020202020204" pitchFamily="34" charset="0"/>
                            </a:rPr>
                            <a:t>0.7513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dirty="0">
                              <a:latin typeface="Arial" panose="020B0604020202020204" pitchFamily="34" charset="0"/>
                              <a:cs typeface="Arial" panose="020B0604020202020204" pitchFamily="34" charset="0"/>
                            </a:rPr>
                            <a:t>4,000 × 0.7513 = 3,005.20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20529948"/>
                      </a:ext>
                    </a:extLst>
                  </a:tr>
                  <a:tr h="701040">
                    <a:tc>
                      <a:txBody>
                        <a:bodyPr/>
                        <a:lstStyle/>
                        <a:p>
                          <a:r>
                            <a:rPr lang="en-IN" sz="2000" dirty="0">
                              <a:latin typeface="Arial" panose="020B0604020202020204" pitchFamily="34" charset="0"/>
                              <a:cs typeface="Arial" panose="020B0604020202020204" pitchFamily="34" charset="0"/>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dirty="0">
                              <a:latin typeface="Arial" panose="020B0604020202020204" pitchFamily="34" charset="0"/>
                              <a:cs typeface="Arial" panose="020B0604020202020204" pitchFamily="34" charset="0"/>
                            </a:rPr>
                            <a:t>2,000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dirty="0">
                              <a:latin typeface="Arial" panose="020B0604020202020204" pitchFamily="34" charset="0"/>
                              <a:cs typeface="Arial" panose="020B0604020202020204" pitchFamily="34" charset="0"/>
                            </a:rPr>
                            <a:t>0.6830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dirty="0">
                              <a:latin typeface="Arial" panose="020B0604020202020204" pitchFamily="34" charset="0"/>
                              <a:cs typeface="Arial" panose="020B0604020202020204" pitchFamily="34" charset="0"/>
                            </a:rPr>
                            <a:t>2,000 × 0.6830 = 1,366.00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1860914"/>
                      </a:ext>
                    </a:extLst>
                  </a:tr>
                </a:tbl>
              </a:graphicData>
            </a:graphic>
          </p:graphicFrame>
        </mc:Fallback>
      </mc:AlternateContent>
    </p:spTree>
    <p:extLst>
      <p:ext uri="{BB962C8B-B14F-4D97-AF65-F5344CB8AC3E}">
        <p14:creationId xmlns:p14="http://schemas.microsoft.com/office/powerpoint/2010/main" val="427779360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750F95C-005F-42A1-AD9B-6631B5ED5937}"/>
              </a:ext>
            </a:extLst>
          </p:cNvPr>
          <p:cNvSpPr>
            <a:spLocks noGrp="1"/>
          </p:cNvSpPr>
          <p:nvPr>
            <p:ph type="title"/>
          </p:nvPr>
        </p:nvSpPr>
        <p:spPr>
          <a:xfrm>
            <a:off x="748553" y="153146"/>
            <a:ext cx="10123235" cy="533867"/>
          </a:xfrm>
          <a:prstGeom prst="rect">
            <a:avLst/>
          </a:prstGeom>
          <a:solidFill>
            <a:schemeClr val="tx2">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br>
              <a:rPr lang="en-US" sz="1400" b="1" dirty="0">
                <a:solidFill>
                  <a:schemeClr val="accent1"/>
                </a:solidFill>
                <a:latin typeface="Arial" panose="020B0604020202020204" pitchFamily="34" charset="0"/>
                <a:cs typeface="Arial" panose="020B0604020202020204" pitchFamily="34" charset="0"/>
              </a:rPr>
            </a:br>
            <a:br>
              <a:rPr lang="en-US" sz="1400" b="1" dirty="0">
                <a:solidFill>
                  <a:schemeClr val="accent1"/>
                </a:solidFill>
                <a:latin typeface="Arial" panose="020B0604020202020204" pitchFamily="34" charset="0"/>
                <a:cs typeface="Arial" panose="020B0604020202020204" pitchFamily="34" charset="0"/>
              </a:rPr>
            </a:br>
            <a:r>
              <a:rPr lang="en-US" sz="2400" dirty="0">
                <a:solidFill>
                  <a:schemeClr val="accent1"/>
                </a:solidFill>
                <a:latin typeface="Arial" panose="020B0604020202020204" pitchFamily="34" charset="0"/>
                <a:cs typeface="Arial" panose="020B0604020202020204" pitchFamily="34" charset="0"/>
              </a:rPr>
              <a:t>E</a:t>
            </a:r>
            <a:r>
              <a:rPr lang="en-US" sz="2400" dirty="0">
                <a:solidFill>
                  <a:schemeClr val="accent1"/>
                </a:solidFill>
              </a:rPr>
              <a:t>xample of NPV Calculation</a:t>
            </a:r>
            <a:br>
              <a:rPr lang="en-US" sz="2400" b="1" dirty="0"/>
            </a:br>
            <a:endParaRPr lang="en-IN" sz="2400" dirty="0">
              <a:solidFill>
                <a:schemeClr val="accent1"/>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A72C9E36-B70B-46C9-997A-F4D7C97AA8D8}"/>
              </a:ext>
            </a:extLst>
          </p:cNvPr>
          <p:cNvSpPr>
            <a:spLocks noGrp="1"/>
          </p:cNvSpPr>
          <p:nvPr>
            <p:ph type="body" sz="half" idx="4294967295"/>
          </p:nvPr>
        </p:nvSpPr>
        <p:spPr>
          <a:xfrm>
            <a:off x="838199" y="887506"/>
            <a:ext cx="10403541" cy="4981482"/>
          </a:xfrm>
        </p:spPr>
        <p:txBody>
          <a:bodyPr>
            <a:normAutofit/>
          </a:bodyPr>
          <a:lstStyle/>
          <a:p>
            <a:pPr>
              <a:lnSpc>
                <a:spcPct val="200000"/>
              </a:lnSpc>
            </a:pPr>
            <a:r>
              <a:rPr lang="en-US" sz="2000" dirty="0">
                <a:latin typeface="Arial" panose="020B0604020202020204" pitchFamily="34" charset="0"/>
                <a:cs typeface="Arial" panose="020B0604020202020204" pitchFamily="34" charset="0"/>
              </a:rPr>
              <a:t>Step 3: Sum the present values of cash inflows</a:t>
            </a:r>
          </a:p>
          <a:p>
            <a:pPr marL="0" indent="0">
              <a:lnSpc>
                <a:spcPct val="200000"/>
              </a:lnSpc>
              <a:buNone/>
            </a:pPr>
            <a:r>
              <a:rPr lang="en-US" sz="2000" b="1" dirty="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2,727.30+3,305.60+3,005.20+1,366.00=10,404.10</a:t>
            </a:r>
          </a:p>
          <a:p>
            <a:r>
              <a:rPr lang="en-US" sz="1400" b="1" dirty="0"/>
              <a:t> </a:t>
            </a:r>
            <a:r>
              <a:rPr lang="en-US" sz="2000" dirty="0">
                <a:latin typeface="Arial" panose="020B0604020202020204" pitchFamily="34" charset="0"/>
                <a:cs typeface="Arial" panose="020B0604020202020204" pitchFamily="34" charset="0"/>
              </a:rPr>
              <a:t>Step 4: Subtract initial investment</a:t>
            </a:r>
          </a:p>
          <a:p>
            <a:pPr marL="0" indent="0">
              <a:buNone/>
            </a:pPr>
            <a:r>
              <a:rPr lang="en-US" sz="2000" dirty="0">
                <a:solidFill>
                  <a:schemeClr val="accent1"/>
                </a:solidFill>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NPV = 10,404.10 -10,000=404.10</a:t>
            </a:r>
          </a:p>
          <a:p>
            <a:r>
              <a:rPr lang="en-US" sz="2000" dirty="0">
                <a:latin typeface="Arial" panose="020B0604020202020204" pitchFamily="34" charset="0"/>
                <a:cs typeface="Arial" panose="020B0604020202020204" pitchFamily="34" charset="0"/>
              </a:rPr>
              <a:t>Conclusion:</a:t>
            </a:r>
          </a:p>
          <a:p>
            <a:pPr marL="0" indent="0">
              <a:buNone/>
            </a:pPr>
            <a:r>
              <a:rPr lang="en-US" sz="2000" dirty="0">
                <a:latin typeface="Arial" panose="020B0604020202020204" pitchFamily="34" charset="0"/>
                <a:cs typeface="Arial" panose="020B0604020202020204" pitchFamily="34" charset="0"/>
              </a:rPr>
              <a:t>Since NPV = </a:t>
            </a:r>
            <a:r>
              <a:rPr lang="en-IN" sz="2000" b="0" i="0" dirty="0">
                <a:solidFill>
                  <a:srgbClr val="474747"/>
                </a:solidFill>
                <a:effectLst/>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404.10 &gt; 0, the project is expected to add value and should be accepted.</a:t>
            </a:r>
          </a:p>
          <a:p>
            <a:pPr marL="0" indent="0">
              <a:buNone/>
            </a:pPr>
            <a:endParaRPr lang="en-US" sz="2000"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1A8F9582-68CE-431C-8B72-88E14F073978}"/>
              </a:ext>
            </a:extLst>
          </p:cNvPr>
          <p:cNvPicPr>
            <a:picLocks noChangeAspect="1"/>
          </p:cNvPicPr>
          <p:nvPr/>
        </p:nvPicPr>
        <p:blipFill>
          <a:blip r:embed="rId2"/>
          <a:stretch>
            <a:fillRect/>
          </a:stretch>
        </p:blipFill>
        <p:spPr>
          <a:xfrm>
            <a:off x="11027635" y="51275"/>
            <a:ext cx="966091" cy="746583"/>
          </a:xfrm>
          <a:prstGeom prst="rect">
            <a:avLst/>
          </a:prstGeom>
        </p:spPr>
      </p:pic>
      <p:sp>
        <p:nvSpPr>
          <p:cNvPr id="2" name="Slide Number Placeholder 1">
            <a:extLst>
              <a:ext uri="{FF2B5EF4-FFF2-40B4-BE49-F238E27FC236}">
                <a16:creationId xmlns:a16="http://schemas.microsoft.com/office/drawing/2014/main" id="{3EEE3E35-0D13-469A-9E0F-622ACCC7CC9A}"/>
              </a:ext>
            </a:extLst>
          </p:cNvPr>
          <p:cNvSpPr>
            <a:spLocks noGrp="1"/>
          </p:cNvSpPr>
          <p:nvPr>
            <p:ph type="sldNum" sz="quarter" idx="12"/>
          </p:nvPr>
        </p:nvSpPr>
        <p:spPr/>
        <p:txBody>
          <a:bodyPr/>
          <a:lstStyle/>
          <a:p>
            <a:fld id="{B7991F04-3566-4BB1-A8CB-A35BE8E11603}" type="slidenum">
              <a:rPr lang="en-IN" smtClean="0"/>
              <a:t>33</a:t>
            </a:fld>
            <a:endParaRPr lang="en-IN"/>
          </a:p>
        </p:txBody>
      </p:sp>
    </p:spTree>
    <p:extLst>
      <p:ext uri="{BB962C8B-B14F-4D97-AF65-F5344CB8AC3E}">
        <p14:creationId xmlns:p14="http://schemas.microsoft.com/office/powerpoint/2010/main" val="253075822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750F95C-005F-42A1-AD9B-6631B5ED5937}"/>
              </a:ext>
            </a:extLst>
          </p:cNvPr>
          <p:cNvSpPr>
            <a:spLocks noGrp="1"/>
          </p:cNvSpPr>
          <p:nvPr>
            <p:ph type="title"/>
          </p:nvPr>
        </p:nvSpPr>
        <p:spPr>
          <a:xfrm>
            <a:off x="748553" y="153146"/>
            <a:ext cx="10123235" cy="533867"/>
          </a:xfrm>
          <a:prstGeom prst="rect">
            <a:avLst/>
          </a:prstGeom>
          <a:solidFill>
            <a:schemeClr val="tx2">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br>
              <a:rPr lang="en-US" sz="1400" b="1" dirty="0">
                <a:solidFill>
                  <a:schemeClr val="accent1"/>
                </a:solidFill>
                <a:latin typeface="Arial" panose="020B0604020202020204" pitchFamily="34" charset="0"/>
                <a:cs typeface="Arial" panose="020B0604020202020204" pitchFamily="34" charset="0"/>
              </a:rPr>
            </a:br>
            <a:br>
              <a:rPr lang="en-US" sz="1400" b="1" dirty="0">
                <a:solidFill>
                  <a:schemeClr val="accent1"/>
                </a:solidFill>
                <a:latin typeface="Arial" panose="020B0604020202020204" pitchFamily="34" charset="0"/>
                <a:cs typeface="Arial" panose="020B0604020202020204" pitchFamily="34" charset="0"/>
              </a:rPr>
            </a:br>
            <a:br>
              <a:rPr lang="en-US" sz="1400" b="1" dirty="0">
                <a:solidFill>
                  <a:schemeClr val="accent1"/>
                </a:solidFill>
                <a:latin typeface="Arial" panose="020B0604020202020204" pitchFamily="34" charset="0"/>
                <a:cs typeface="Arial" panose="020B0604020202020204" pitchFamily="34" charset="0"/>
              </a:rPr>
            </a:br>
            <a:br>
              <a:rPr lang="en-US" sz="1400" b="1" dirty="0">
                <a:solidFill>
                  <a:schemeClr val="accent1"/>
                </a:solidFill>
                <a:latin typeface="Arial" panose="020B0604020202020204" pitchFamily="34" charset="0"/>
                <a:cs typeface="Arial" panose="020B0604020202020204" pitchFamily="34" charset="0"/>
              </a:rPr>
            </a:br>
            <a:r>
              <a:rPr lang="en-US" sz="2400" dirty="0">
                <a:solidFill>
                  <a:schemeClr val="accent1"/>
                </a:solidFill>
                <a:latin typeface="Arial" panose="020B0604020202020204" pitchFamily="34" charset="0"/>
                <a:cs typeface="Arial" panose="020B0604020202020204" pitchFamily="34" charset="0"/>
              </a:rPr>
              <a:t>Question </a:t>
            </a:r>
            <a:br>
              <a:rPr lang="en-US" sz="2400" dirty="0">
                <a:solidFill>
                  <a:schemeClr val="accent1"/>
                </a:solidFill>
                <a:latin typeface="Arial" panose="020B0604020202020204" pitchFamily="34" charset="0"/>
                <a:cs typeface="Arial" panose="020B0604020202020204" pitchFamily="34" charset="0"/>
              </a:rPr>
            </a:br>
            <a:br>
              <a:rPr lang="en-US" sz="2400" b="1" dirty="0">
                <a:solidFill>
                  <a:schemeClr val="accent1"/>
                </a:solidFill>
                <a:latin typeface="Arial" panose="020B0604020202020204" pitchFamily="34" charset="0"/>
                <a:cs typeface="Arial" panose="020B0604020202020204" pitchFamily="34" charset="0"/>
              </a:rPr>
            </a:br>
            <a:endParaRPr lang="en-IN" sz="2400" dirty="0">
              <a:solidFill>
                <a:schemeClr val="accent1"/>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A72C9E36-B70B-46C9-997A-F4D7C97AA8D8}"/>
              </a:ext>
            </a:extLst>
          </p:cNvPr>
          <p:cNvSpPr>
            <a:spLocks noGrp="1"/>
          </p:cNvSpPr>
          <p:nvPr>
            <p:ph type="body" sz="half" idx="4294967295"/>
          </p:nvPr>
        </p:nvSpPr>
        <p:spPr>
          <a:xfrm>
            <a:off x="838199" y="887506"/>
            <a:ext cx="10403541" cy="4981482"/>
          </a:xfrm>
        </p:spPr>
        <p:txBody>
          <a:bodyPr>
            <a:normAutofit lnSpcReduction="10000"/>
          </a:bodyPr>
          <a:lstStyle/>
          <a:p>
            <a:pPr marL="0" indent="0">
              <a:buNone/>
            </a:pPr>
            <a:r>
              <a:rPr lang="en-US" sz="2000" b="1" dirty="0">
                <a:latin typeface="Arial" panose="020B0604020202020204" pitchFamily="34" charset="0"/>
                <a:cs typeface="Arial" panose="020B0604020202020204" pitchFamily="34" charset="0"/>
              </a:rPr>
              <a:t> </a:t>
            </a:r>
            <a:r>
              <a:rPr lang="en-US" sz="2000" dirty="0">
                <a:solidFill>
                  <a:schemeClr val="accent1"/>
                </a:solidFill>
                <a:latin typeface="Arial" panose="020B0604020202020204" pitchFamily="34" charset="0"/>
                <a:cs typeface="Arial" panose="020B0604020202020204" pitchFamily="34" charset="0"/>
              </a:rPr>
              <a:t>Question 1: </a:t>
            </a:r>
          </a:p>
          <a:p>
            <a:pPr>
              <a:buFont typeface="Arial" panose="020B0604020202020204" pitchFamily="34" charset="0"/>
              <a:buChar char="•"/>
            </a:pPr>
            <a:r>
              <a:rPr lang="en-US" sz="2000" dirty="0">
                <a:latin typeface="Arial" panose="020B0604020202020204" pitchFamily="34" charset="0"/>
                <a:cs typeface="Arial" panose="020B0604020202020204" pitchFamily="34" charset="0"/>
              </a:rPr>
              <a:t>Initial Investment: </a:t>
            </a:r>
            <a:r>
              <a:rPr lang="en-IN" sz="2000" b="0" i="0" dirty="0">
                <a:solidFill>
                  <a:srgbClr val="474747"/>
                </a:solidFill>
                <a:effectLst/>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5,000</a:t>
            </a:r>
          </a:p>
          <a:p>
            <a:pPr>
              <a:buFont typeface="Arial" panose="020B0604020202020204" pitchFamily="34" charset="0"/>
              <a:buChar char="•"/>
            </a:pPr>
            <a:r>
              <a:rPr lang="en-US" sz="2000" dirty="0">
                <a:latin typeface="Arial" panose="020B0604020202020204" pitchFamily="34" charset="0"/>
                <a:cs typeface="Arial" panose="020B0604020202020204" pitchFamily="34" charset="0"/>
              </a:rPr>
              <a:t>Cash Inflows:</a:t>
            </a:r>
          </a:p>
          <a:p>
            <a:pPr marL="457200" lvl="1" indent="0">
              <a:buNone/>
            </a:pPr>
            <a:r>
              <a:rPr lang="en-US" sz="2000" dirty="0">
                <a:latin typeface="Arial" panose="020B0604020202020204" pitchFamily="34" charset="0"/>
                <a:cs typeface="Arial" panose="020B0604020202020204" pitchFamily="34" charset="0"/>
              </a:rPr>
              <a:t>Year 1: </a:t>
            </a:r>
            <a:r>
              <a:rPr lang="en-IN" sz="2000" b="0" i="0" dirty="0">
                <a:solidFill>
                  <a:srgbClr val="474747"/>
                </a:solidFill>
                <a:effectLst/>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2,000</a:t>
            </a:r>
          </a:p>
          <a:p>
            <a:pPr marL="457200" lvl="1" indent="0">
              <a:buNone/>
            </a:pPr>
            <a:r>
              <a:rPr lang="en-US" sz="2000" dirty="0">
                <a:latin typeface="Arial" panose="020B0604020202020204" pitchFamily="34" charset="0"/>
                <a:cs typeface="Arial" panose="020B0604020202020204" pitchFamily="34" charset="0"/>
              </a:rPr>
              <a:t>Year 2: </a:t>
            </a:r>
            <a:r>
              <a:rPr lang="en-IN" sz="2000" b="0" i="0" dirty="0">
                <a:solidFill>
                  <a:srgbClr val="474747"/>
                </a:solidFill>
                <a:effectLst/>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2,500</a:t>
            </a:r>
          </a:p>
          <a:p>
            <a:pPr marL="457200" lvl="1" indent="0">
              <a:buNone/>
            </a:pPr>
            <a:r>
              <a:rPr lang="en-US" sz="2000" dirty="0">
                <a:latin typeface="Arial" panose="020B0604020202020204" pitchFamily="34" charset="0"/>
                <a:cs typeface="Arial" panose="020B0604020202020204" pitchFamily="34" charset="0"/>
              </a:rPr>
              <a:t>Year 3: </a:t>
            </a:r>
            <a:r>
              <a:rPr lang="en-IN" sz="2000" b="0" i="0" dirty="0">
                <a:solidFill>
                  <a:srgbClr val="474747"/>
                </a:solidFill>
                <a:effectLst/>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2,500</a:t>
            </a:r>
          </a:p>
          <a:p>
            <a:pPr>
              <a:buFont typeface="Arial" panose="020B0604020202020204" pitchFamily="34" charset="0"/>
              <a:buChar char="•"/>
            </a:pPr>
            <a:r>
              <a:rPr lang="en-US" sz="2000" dirty="0">
                <a:latin typeface="Arial" panose="020B0604020202020204" pitchFamily="34" charset="0"/>
                <a:cs typeface="Arial" panose="020B0604020202020204" pitchFamily="34" charset="0"/>
              </a:rPr>
              <a:t>Discount Rate: 10%</a:t>
            </a:r>
          </a:p>
          <a:p>
            <a:pPr marL="0" indent="0">
              <a:buNone/>
            </a:pPr>
            <a:r>
              <a:rPr lang="en-US" sz="2000" dirty="0">
                <a:solidFill>
                  <a:schemeClr val="accent1"/>
                </a:solidFill>
                <a:latin typeface="Arial" panose="020B0604020202020204" pitchFamily="34" charset="0"/>
                <a:cs typeface="Arial" panose="020B0604020202020204" pitchFamily="34" charset="0"/>
              </a:rPr>
              <a:t>Question 2: </a:t>
            </a:r>
          </a:p>
          <a:p>
            <a:r>
              <a:rPr lang="en-IN" sz="2000" dirty="0">
                <a:latin typeface="Arial" panose="020B0604020202020204" pitchFamily="34" charset="0"/>
                <a:cs typeface="Arial" panose="020B0604020202020204" pitchFamily="34" charset="0"/>
              </a:rPr>
              <a:t>Initial Investment: </a:t>
            </a:r>
            <a:r>
              <a:rPr lang="en-IN" sz="2000" b="0" i="0" dirty="0">
                <a:solidFill>
                  <a:srgbClr val="474747"/>
                </a:solidFill>
                <a:effectLst/>
                <a:latin typeface="Arial" panose="020B0604020202020204" pitchFamily="34" charset="0"/>
                <a:cs typeface="Arial" panose="020B0604020202020204" pitchFamily="34" charset="0"/>
              </a:rPr>
              <a:t>₹ </a:t>
            </a:r>
            <a:r>
              <a:rPr lang="en-IN" sz="2000" dirty="0">
                <a:latin typeface="Arial" panose="020B0604020202020204" pitchFamily="34" charset="0"/>
                <a:cs typeface="Arial" panose="020B0604020202020204" pitchFamily="34" charset="0"/>
              </a:rPr>
              <a:t>6,000</a:t>
            </a:r>
          </a:p>
          <a:p>
            <a:r>
              <a:rPr lang="en-IN" sz="2000" dirty="0">
                <a:latin typeface="Arial" panose="020B0604020202020204" pitchFamily="34" charset="0"/>
                <a:cs typeface="Arial" panose="020B0604020202020204" pitchFamily="34" charset="0"/>
              </a:rPr>
              <a:t>Cash Inflows:</a:t>
            </a:r>
          </a:p>
          <a:p>
            <a:pPr marL="0" indent="0">
              <a:buNone/>
            </a:pPr>
            <a:r>
              <a:rPr lang="en-IN" sz="2000" dirty="0">
                <a:latin typeface="Arial" panose="020B0604020202020204" pitchFamily="34" charset="0"/>
                <a:cs typeface="Arial" panose="020B0604020202020204" pitchFamily="34" charset="0"/>
              </a:rPr>
              <a:t>    Year 1: </a:t>
            </a:r>
            <a:r>
              <a:rPr lang="en-IN" sz="2000" b="0" i="0" dirty="0">
                <a:solidFill>
                  <a:srgbClr val="474747"/>
                </a:solidFill>
                <a:effectLst/>
                <a:latin typeface="Arial" panose="020B0604020202020204" pitchFamily="34" charset="0"/>
                <a:cs typeface="Arial" panose="020B0604020202020204" pitchFamily="34" charset="0"/>
              </a:rPr>
              <a:t>₹ </a:t>
            </a:r>
            <a:r>
              <a:rPr lang="en-IN" sz="2000" dirty="0">
                <a:latin typeface="Arial" panose="020B0604020202020204" pitchFamily="34" charset="0"/>
                <a:cs typeface="Arial" panose="020B0604020202020204" pitchFamily="34" charset="0"/>
              </a:rPr>
              <a:t>1,500</a:t>
            </a:r>
          </a:p>
          <a:p>
            <a:pPr marL="0" indent="0">
              <a:buNone/>
            </a:pPr>
            <a:r>
              <a:rPr lang="en-IN" sz="2000" dirty="0">
                <a:latin typeface="Arial" panose="020B0604020202020204" pitchFamily="34" charset="0"/>
                <a:cs typeface="Arial" panose="020B0604020202020204" pitchFamily="34" charset="0"/>
              </a:rPr>
              <a:t>    Year 2: </a:t>
            </a:r>
            <a:r>
              <a:rPr lang="en-IN" sz="2000" b="0" i="0" dirty="0">
                <a:solidFill>
                  <a:srgbClr val="474747"/>
                </a:solidFill>
                <a:effectLst/>
                <a:latin typeface="Arial" panose="020B0604020202020204" pitchFamily="34" charset="0"/>
                <a:cs typeface="Arial" panose="020B0604020202020204" pitchFamily="34" charset="0"/>
              </a:rPr>
              <a:t>₹ </a:t>
            </a:r>
            <a:r>
              <a:rPr lang="en-IN" sz="2000" dirty="0">
                <a:latin typeface="Arial" panose="020B0604020202020204" pitchFamily="34" charset="0"/>
                <a:cs typeface="Arial" panose="020B0604020202020204" pitchFamily="34" charset="0"/>
              </a:rPr>
              <a:t>1,800</a:t>
            </a:r>
          </a:p>
          <a:p>
            <a:pPr marL="0" indent="0">
              <a:buNone/>
            </a:pPr>
            <a:r>
              <a:rPr lang="en-IN" sz="2000" dirty="0">
                <a:latin typeface="Arial" panose="020B0604020202020204" pitchFamily="34" charset="0"/>
                <a:cs typeface="Arial" panose="020B0604020202020204" pitchFamily="34" charset="0"/>
              </a:rPr>
              <a:t>    Year 3: </a:t>
            </a:r>
            <a:r>
              <a:rPr lang="en-IN" sz="2000" b="0" i="0" dirty="0">
                <a:solidFill>
                  <a:srgbClr val="474747"/>
                </a:solidFill>
                <a:effectLst/>
                <a:latin typeface="Arial" panose="020B0604020202020204" pitchFamily="34" charset="0"/>
                <a:cs typeface="Arial" panose="020B0604020202020204" pitchFamily="34" charset="0"/>
              </a:rPr>
              <a:t>₹ </a:t>
            </a:r>
            <a:r>
              <a:rPr lang="en-IN" sz="2000" dirty="0">
                <a:latin typeface="Arial" panose="020B0604020202020204" pitchFamily="34" charset="0"/>
                <a:cs typeface="Arial" panose="020B0604020202020204" pitchFamily="34" charset="0"/>
              </a:rPr>
              <a:t>2,000</a:t>
            </a:r>
          </a:p>
          <a:p>
            <a:r>
              <a:rPr lang="en-IN" sz="2000" dirty="0">
                <a:latin typeface="Arial" panose="020B0604020202020204" pitchFamily="34" charset="0"/>
                <a:cs typeface="Arial" panose="020B0604020202020204" pitchFamily="34" charset="0"/>
              </a:rPr>
              <a:t>Discount Rate: 12%</a:t>
            </a:r>
            <a:endParaRPr lang="en-US" sz="2000" dirty="0">
              <a:latin typeface="Arial" panose="020B0604020202020204" pitchFamily="34" charset="0"/>
              <a:cs typeface="Arial" panose="020B0604020202020204" pitchFamily="34" charset="0"/>
            </a:endParaRPr>
          </a:p>
          <a:p>
            <a:pPr>
              <a:buFont typeface="Arial" panose="020B0604020202020204" pitchFamily="34" charset="0"/>
              <a:buChar char="•"/>
            </a:pPr>
            <a:endParaRPr lang="en-US" sz="2000" dirty="0">
              <a:latin typeface="Arial" panose="020B0604020202020204" pitchFamily="34" charset="0"/>
              <a:cs typeface="Arial" panose="020B0604020202020204" pitchFamily="34" charset="0"/>
            </a:endParaRPr>
          </a:p>
          <a:p>
            <a:pPr marL="0" indent="0">
              <a:lnSpc>
                <a:spcPct val="200000"/>
              </a:lnSpc>
              <a:buNone/>
            </a:pPr>
            <a:endParaRPr lang="en-US" sz="2000"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1A8F9582-68CE-431C-8B72-88E14F073978}"/>
              </a:ext>
            </a:extLst>
          </p:cNvPr>
          <p:cNvPicPr>
            <a:picLocks noChangeAspect="1"/>
          </p:cNvPicPr>
          <p:nvPr/>
        </p:nvPicPr>
        <p:blipFill>
          <a:blip r:embed="rId2"/>
          <a:stretch>
            <a:fillRect/>
          </a:stretch>
        </p:blipFill>
        <p:spPr>
          <a:xfrm>
            <a:off x="11027635" y="51275"/>
            <a:ext cx="966091" cy="746583"/>
          </a:xfrm>
          <a:prstGeom prst="rect">
            <a:avLst/>
          </a:prstGeom>
        </p:spPr>
      </p:pic>
      <p:sp>
        <p:nvSpPr>
          <p:cNvPr id="2" name="Slide Number Placeholder 1">
            <a:extLst>
              <a:ext uri="{FF2B5EF4-FFF2-40B4-BE49-F238E27FC236}">
                <a16:creationId xmlns:a16="http://schemas.microsoft.com/office/drawing/2014/main" id="{3EEE3E35-0D13-469A-9E0F-622ACCC7CC9A}"/>
              </a:ext>
            </a:extLst>
          </p:cNvPr>
          <p:cNvSpPr>
            <a:spLocks noGrp="1"/>
          </p:cNvSpPr>
          <p:nvPr>
            <p:ph type="sldNum" sz="quarter" idx="12"/>
          </p:nvPr>
        </p:nvSpPr>
        <p:spPr/>
        <p:txBody>
          <a:bodyPr/>
          <a:lstStyle/>
          <a:p>
            <a:fld id="{B7991F04-3566-4BB1-A8CB-A35BE8E11603}" type="slidenum">
              <a:rPr lang="en-IN" smtClean="0"/>
              <a:t>34</a:t>
            </a:fld>
            <a:endParaRPr lang="en-IN"/>
          </a:p>
        </p:txBody>
      </p:sp>
    </p:spTree>
    <p:extLst>
      <p:ext uri="{BB962C8B-B14F-4D97-AF65-F5344CB8AC3E}">
        <p14:creationId xmlns:p14="http://schemas.microsoft.com/office/powerpoint/2010/main" val="362496385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750F95C-005F-42A1-AD9B-6631B5ED5937}"/>
              </a:ext>
            </a:extLst>
          </p:cNvPr>
          <p:cNvSpPr>
            <a:spLocks noGrp="1"/>
          </p:cNvSpPr>
          <p:nvPr>
            <p:ph type="title"/>
          </p:nvPr>
        </p:nvSpPr>
        <p:spPr>
          <a:xfrm>
            <a:off x="748553" y="153146"/>
            <a:ext cx="10123235" cy="533867"/>
          </a:xfrm>
          <a:prstGeom prst="rect">
            <a:avLst/>
          </a:prstGeom>
          <a:solidFill>
            <a:schemeClr val="tx2">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br>
              <a:rPr lang="en-US" sz="1400" b="1" dirty="0">
                <a:solidFill>
                  <a:schemeClr val="accent1"/>
                </a:solidFill>
                <a:latin typeface="Arial" panose="020B0604020202020204" pitchFamily="34" charset="0"/>
                <a:cs typeface="Arial" panose="020B0604020202020204" pitchFamily="34" charset="0"/>
              </a:rPr>
            </a:br>
            <a:br>
              <a:rPr lang="en-US" sz="1400" b="1" dirty="0">
                <a:solidFill>
                  <a:schemeClr val="accent1"/>
                </a:solidFill>
                <a:latin typeface="Arial" panose="020B0604020202020204" pitchFamily="34" charset="0"/>
                <a:cs typeface="Arial" panose="020B0604020202020204" pitchFamily="34" charset="0"/>
              </a:rPr>
            </a:br>
            <a:r>
              <a:rPr lang="en-IN" sz="2400" dirty="0">
                <a:solidFill>
                  <a:schemeClr val="accent1"/>
                </a:solidFill>
                <a:latin typeface="Arial" panose="020B0604020202020204" pitchFamily="34" charset="0"/>
                <a:cs typeface="Arial" panose="020B0604020202020204" pitchFamily="34" charset="0"/>
              </a:rPr>
              <a:t>Advantages of NPV</a:t>
            </a:r>
            <a:br>
              <a:rPr lang="en-US" sz="2400" b="1" dirty="0">
                <a:solidFill>
                  <a:schemeClr val="accent1"/>
                </a:solidFill>
                <a:latin typeface="Arial" panose="020B0604020202020204" pitchFamily="34" charset="0"/>
                <a:cs typeface="Arial" panose="020B0604020202020204" pitchFamily="34" charset="0"/>
              </a:rPr>
            </a:br>
            <a:endParaRPr lang="en-IN" sz="2400" dirty="0">
              <a:solidFill>
                <a:schemeClr val="accent1"/>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A72C9E36-B70B-46C9-997A-F4D7C97AA8D8}"/>
              </a:ext>
            </a:extLst>
          </p:cNvPr>
          <p:cNvSpPr>
            <a:spLocks noGrp="1"/>
          </p:cNvSpPr>
          <p:nvPr>
            <p:ph type="body" sz="half" idx="4294967295"/>
          </p:nvPr>
        </p:nvSpPr>
        <p:spPr>
          <a:xfrm>
            <a:off x="838199" y="887506"/>
            <a:ext cx="10403541" cy="4981482"/>
          </a:xfrm>
        </p:spPr>
        <p:txBody>
          <a:bodyPr>
            <a:normAutofit/>
          </a:bodyPr>
          <a:lstStyle/>
          <a:p>
            <a:pPr>
              <a:lnSpc>
                <a:spcPct val="200000"/>
              </a:lnSpc>
              <a:buFont typeface="Arial" panose="020B0604020202020204" pitchFamily="34" charset="0"/>
              <a:buChar char="•"/>
            </a:pPr>
            <a:r>
              <a:rPr lang="en-US" sz="2000" dirty="0">
                <a:latin typeface="Arial" panose="020B0604020202020204" pitchFamily="34" charset="0"/>
                <a:cs typeface="Arial" panose="020B0604020202020204" pitchFamily="34" charset="0"/>
              </a:rPr>
              <a:t>Considers the time value of money</a:t>
            </a:r>
          </a:p>
          <a:p>
            <a:pPr>
              <a:lnSpc>
                <a:spcPct val="200000"/>
              </a:lnSpc>
              <a:buFont typeface="Arial" panose="020B0604020202020204" pitchFamily="34" charset="0"/>
              <a:buChar char="•"/>
            </a:pPr>
            <a:r>
              <a:rPr lang="en-US" sz="2000" dirty="0">
                <a:latin typeface="Arial" panose="020B0604020202020204" pitchFamily="34" charset="0"/>
                <a:cs typeface="Arial" panose="020B0604020202020204" pitchFamily="34" charset="0"/>
              </a:rPr>
              <a:t>Accounts for all cash flows</a:t>
            </a:r>
          </a:p>
          <a:p>
            <a:pPr>
              <a:lnSpc>
                <a:spcPct val="200000"/>
              </a:lnSpc>
              <a:buFont typeface="Arial" panose="020B0604020202020204" pitchFamily="34" charset="0"/>
              <a:buChar char="•"/>
            </a:pPr>
            <a:r>
              <a:rPr lang="en-US" sz="2000" dirty="0">
                <a:latin typeface="Arial" panose="020B0604020202020204" pitchFamily="34" charset="0"/>
                <a:cs typeface="Arial" panose="020B0604020202020204" pitchFamily="34" charset="0"/>
              </a:rPr>
              <a:t>Uses objective decision rule (maximizing shareholder value)</a:t>
            </a:r>
          </a:p>
          <a:p>
            <a:pPr>
              <a:lnSpc>
                <a:spcPct val="200000"/>
              </a:lnSpc>
              <a:buFont typeface="Arial" panose="020B0604020202020204" pitchFamily="34" charset="0"/>
              <a:buChar char="•"/>
            </a:pPr>
            <a:r>
              <a:rPr lang="en-US" sz="2000" dirty="0">
                <a:latin typeface="Arial" panose="020B0604020202020204" pitchFamily="34" charset="0"/>
                <a:cs typeface="Arial" panose="020B0604020202020204" pitchFamily="34" charset="0"/>
              </a:rPr>
              <a:t>Adjusts for risk via discount rate</a:t>
            </a:r>
          </a:p>
          <a:p>
            <a:pPr marL="0" indent="0">
              <a:lnSpc>
                <a:spcPct val="200000"/>
              </a:lnSpc>
              <a:buNone/>
            </a:pPr>
            <a:endParaRPr lang="en-US" sz="2000"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1A8F9582-68CE-431C-8B72-88E14F073978}"/>
              </a:ext>
            </a:extLst>
          </p:cNvPr>
          <p:cNvPicPr>
            <a:picLocks noChangeAspect="1"/>
          </p:cNvPicPr>
          <p:nvPr/>
        </p:nvPicPr>
        <p:blipFill>
          <a:blip r:embed="rId2"/>
          <a:stretch>
            <a:fillRect/>
          </a:stretch>
        </p:blipFill>
        <p:spPr>
          <a:xfrm>
            <a:off x="11027635" y="51275"/>
            <a:ext cx="966091" cy="746583"/>
          </a:xfrm>
          <a:prstGeom prst="rect">
            <a:avLst/>
          </a:prstGeom>
        </p:spPr>
      </p:pic>
      <p:sp>
        <p:nvSpPr>
          <p:cNvPr id="2" name="Slide Number Placeholder 1">
            <a:extLst>
              <a:ext uri="{FF2B5EF4-FFF2-40B4-BE49-F238E27FC236}">
                <a16:creationId xmlns:a16="http://schemas.microsoft.com/office/drawing/2014/main" id="{3EEE3E35-0D13-469A-9E0F-622ACCC7CC9A}"/>
              </a:ext>
            </a:extLst>
          </p:cNvPr>
          <p:cNvSpPr>
            <a:spLocks noGrp="1"/>
          </p:cNvSpPr>
          <p:nvPr>
            <p:ph type="sldNum" sz="quarter" idx="12"/>
          </p:nvPr>
        </p:nvSpPr>
        <p:spPr/>
        <p:txBody>
          <a:bodyPr/>
          <a:lstStyle/>
          <a:p>
            <a:fld id="{B7991F04-3566-4BB1-A8CB-A35BE8E11603}" type="slidenum">
              <a:rPr lang="en-IN" smtClean="0"/>
              <a:t>35</a:t>
            </a:fld>
            <a:endParaRPr lang="en-IN"/>
          </a:p>
        </p:txBody>
      </p:sp>
    </p:spTree>
    <p:extLst>
      <p:ext uri="{BB962C8B-B14F-4D97-AF65-F5344CB8AC3E}">
        <p14:creationId xmlns:p14="http://schemas.microsoft.com/office/powerpoint/2010/main" val="205640691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750F95C-005F-42A1-AD9B-6631B5ED5937}"/>
              </a:ext>
            </a:extLst>
          </p:cNvPr>
          <p:cNvSpPr>
            <a:spLocks noGrp="1"/>
          </p:cNvSpPr>
          <p:nvPr>
            <p:ph type="title"/>
          </p:nvPr>
        </p:nvSpPr>
        <p:spPr>
          <a:xfrm>
            <a:off x="748553" y="153146"/>
            <a:ext cx="10123235" cy="533867"/>
          </a:xfrm>
          <a:prstGeom prst="rect">
            <a:avLst/>
          </a:prstGeom>
          <a:solidFill>
            <a:schemeClr val="tx2">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r>
              <a:rPr lang="en-IN" sz="2400" dirty="0">
                <a:solidFill>
                  <a:schemeClr val="accent1"/>
                </a:solidFill>
                <a:latin typeface="Arial" panose="020B0604020202020204" pitchFamily="34" charset="0"/>
                <a:cs typeface="Arial" panose="020B0604020202020204" pitchFamily="34" charset="0"/>
              </a:rPr>
              <a:t>Disadvantages of NPV</a:t>
            </a:r>
          </a:p>
        </p:txBody>
      </p:sp>
      <p:sp>
        <p:nvSpPr>
          <p:cNvPr id="3" name="Content Placeholder 2">
            <a:extLst>
              <a:ext uri="{FF2B5EF4-FFF2-40B4-BE49-F238E27FC236}">
                <a16:creationId xmlns:a16="http://schemas.microsoft.com/office/drawing/2014/main" id="{A72C9E36-B70B-46C9-997A-F4D7C97AA8D8}"/>
              </a:ext>
            </a:extLst>
          </p:cNvPr>
          <p:cNvSpPr>
            <a:spLocks noGrp="1"/>
          </p:cNvSpPr>
          <p:nvPr>
            <p:ph type="body" sz="half" idx="4294967295"/>
          </p:nvPr>
        </p:nvSpPr>
        <p:spPr>
          <a:xfrm>
            <a:off x="838199" y="887506"/>
            <a:ext cx="10403541" cy="4981482"/>
          </a:xfrm>
        </p:spPr>
        <p:txBody>
          <a:bodyPr>
            <a:normAutofit/>
          </a:bodyPr>
          <a:lstStyle/>
          <a:p>
            <a:pPr>
              <a:lnSpc>
                <a:spcPct val="200000"/>
              </a:lnSpc>
            </a:pPr>
            <a:r>
              <a:rPr lang="en-US" sz="2000" dirty="0">
                <a:latin typeface="Arial" panose="020B0604020202020204" pitchFamily="34" charset="0"/>
                <a:cs typeface="Arial" panose="020B0604020202020204" pitchFamily="34" charset="0"/>
              </a:rPr>
              <a:t>Requires accurate estimation of future cash flows</a:t>
            </a:r>
          </a:p>
          <a:p>
            <a:pPr>
              <a:lnSpc>
                <a:spcPct val="200000"/>
              </a:lnSpc>
            </a:pPr>
            <a:r>
              <a:rPr lang="en-US" sz="2000" dirty="0">
                <a:latin typeface="Arial" panose="020B0604020202020204" pitchFamily="34" charset="0"/>
                <a:cs typeface="Arial" panose="020B0604020202020204" pitchFamily="34" charset="0"/>
              </a:rPr>
              <a:t>Sensitive to the discount rate used</a:t>
            </a:r>
          </a:p>
          <a:p>
            <a:pPr>
              <a:lnSpc>
                <a:spcPct val="200000"/>
              </a:lnSpc>
            </a:pPr>
            <a:r>
              <a:rPr lang="en-US" sz="2000" dirty="0">
                <a:latin typeface="Arial" panose="020B0604020202020204" pitchFamily="34" charset="0"/>
                <a:cs typeface="Arial" panose="020B0604020202020204" pitchFamily="34" charset="0"/>
              </a:rPr>
              <a:t>Not easily comparable across projects of different sizes</a:t>
            </a:r>
          </a:p>
          <a:p>
            <a:pPr>
              <a:lnSpc>
                <a:spcPct val="200000"/>
              </a:lnSpc>
            </a:pPr>
            <a:r>
              <a:rPr lang="en-US" sz="2000" dirty="0">
                <a:latin typeface="Arial" panose="020B0604020202020204" pitchFamily="34" charset="0"/>
                <a:cs typeface="Arial" panose="020B0604020202020204" pitchFamily="34" charset="0"/>
              </a:rPr>
              <a:t>Doesn't always work well with mutually exclusive or non-conventional cash flows</a:t>
            </a:r>
            <a:endParaRPr lang="en-US" sz="2000" dirty="0">
              <a:solidFill>
                <a:schemeClr val="accent1"/>
              </a:solidFill>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1A8F9582-68CE-431C-8B72-88E14F073978}"/>
              </a:ext>
            </a:extLst>
          </p:cNvPr>
          <p:cNvPicPr>
            <a:picLocks noChangeAspect="1"/>
          </p:cNvPicPr>
          <p:nvPr/>
        </p:nvPicPr>
        <p:blipFill>
          <a:blip r:embed="rId2"/>
          <a:stretch>
            <a:fillRect/>
          </a:stretch>
        </p:blipFill>
        <p:spPr>
          <a:xfrm>
            <a:off x="11027635" y="51275"/>
            <a:ext cx="966091" cy="746583"/>
          </a:xfrm>
          <a:prstGeom prst="rect">
            <a:avLst/>
          </a:prstGeom>
        </p:spPr>
      </p:pic>
      <p:sp>
        <p:nvSpPr>
          <p:cNvPr id="2" name="Slide Number Placeholder 1">
            <a:extLst>
              <a:ext uri="{FF2B5EF4-FFF2-40B4-BE49-F238E27FC236}">
                <a16:creationId xmlns:a16="http://schemas.microsoft.com/office/drawing/2014/main" id="{3EEE3E35-0D13-469A-9E0F-622ACCC7CC9A}"/>
              </a:ext>
            </a:extLst>
          </p:cNvPr>
          <p:cNvSpPr>
            <a:spLocks noGrp="1"/>
          </p:cNvSpPr>
          <p:nvPr>
            <p:ph type="sldNum" sz="quarter" idx="12"/>
          </p:nvPr>
        </p:nvSpPr>
        <p:spPr/>
        <p:txBody>
          <a:bodyPr/>
          <a:lstStyle/>
          <a:p>
            <a:fld id="{B7991F04-3566-4BB1-A8CB-A35BE8E11603}" type="slidenum">
              <a:rPr lang="en-IN" smtClean="0"/>
              <a:t>36</a:t>
            </a:fld>
            <a:endParaRPr lang="en-IN"/>
          </a:p>
        </p:txBody>
      </p:sp>
    </p:spTree>
    <p:extLst>
      <p:ext uri="{BB962C8B-B14F-4D97-AF65-F5344CB8AC3E}">
        <p14:creationId xmlns:p14="http://schemas.microsoft.com/office/powerpoint/2010/main" val="6892919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750F95C-005F-42A1-AD9B-6631B5ED5937}"/>
              </a:ext>
            </a:extLst>
          </p:cNvPr>
          <p:cNvSpPr>
            <a:spLocks noGrp="1"/>
          </p:cNvSpPr>
          <p:nvPr>
            <p:ph type="title"/>
          </p:nvPr>
        </p:nvSpPr>
        <p:spPr>
          <a:xfrm>
            <a:off x="748553" y="153146"/>
            <a:ext cx="10123235" cy="533867"/>
          </a:xfrm>
          <a:prstGeom prst="rect">
            <a:avLst/>
          </a:prstGeom>
          <a:solidFill>
            <a:schemeClr val="tx2">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r>
              <a:rPr lang="en-US" sz="2400" dirty="0">
                <a:solidFill>
                  <a:schemeClr val="accent1"/>
                </a:solidFill>
                <a:latin typeface="Arial" panose="020B0604020202020204" pitchFamily="34" charset="0"/>
                <a:cs typeface="Arial" panose="020B0604020202020204" pitchFamily="34" charset="0"/>
              </a:rPr>
              <a:t>Best Practices When Using NPV</a:t>
            </a:r>
            <a:endParaRPr lang="en-IN" sz="2400" dirty="0">
              <a:solidFill>
                <a:schemeClr val="accent1"/>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A72C9E36-B70B-46C9-997A-F4D7C97AA8D8}"/>
              </a:ext>
            </a:extLst>
          </p:cNvPr>
          <p:cNvSpPr>
            <a:spLocks noGrp="1"/>
          </p:cNvSpPr>
          <p:nvPr>
            <p:ph type="body" sz="half" idx="4294967295"/>
          </p:nvPr>
        </p:nvSpPr>
        <p:spPr>
          <a:xfrm>
            <a:off x="838199" y="887506"/>
            <a:ext cx="10403541" cy="4981482"/>
          </a:xfrm>
        </p:spPr>
        <p:txBody>
          <a:bodyPr>
            <a:normAutofit/>
          </a:bodyPr>
          <a:lstStyle/>
          <a:p>
            <a:pPr>
              <a:lnSpc>
                <a:spcPct val="200000"/>
              </a:lnSpc>
            </a:pPr>
            <a:r>
              <a:rPr lang="en-US" sz="2000" dirty="0">
                <a:latin typeface="Arial" panose="020B0604020202020204" pitchFamily="34" charset="0"/>
                <a:cs typeface="Arial" panose="020B0604020202020204" pitchFamily="34" charset="0"/>
              </a:rPr>
              <a:t>Use realistic cash flow projections.</a:t>
            </a:r>
          </a:p>
          <a:p>
            <a:pPr>
              <a:lnSpc>
                <a:spcPct val="200000"/>
              </a:lnSpc>
            </a:pPr>
            <a:r>
              <a:rPr lang="en-US" sz="2000" dirty="0">
                <a:latin typeface="Arial" panose="020B0604020202020204" pitchFamily="34" charset="0"/>
                <a:cs typeface="Arial" panose="020B0604020202020204" pitchFamily="34" charset="0"/>
              </a:rPr>
              <a:t>Select an appropriate discount rate (usually the cost of capital).</a:t>
            </a:r>
          </a:p>
          <a:p>
            <a:pPr>
              <a:lnSpc>
                <a:spcPct val="200000"/>
              </a:lnSpc>
            </a:pPr>
            <a:r>
              <a:rPr lang="en-US" sz="2000" dirty="0">
                <a:latin typeface="Arial" panose="020B0604020202020204" pitchFamily="34" charset="0"/>
                <a:cs typeface="Arial" panose="020B0604020202020204" pitchFamily="34" charset="0"/>
              </a:rPr>
              <a:t>Use scenario/sensitivity analysis for uncertain variables.</a:t>
            </a:r>
          </a:p>
          <a:p>
            <a:pPr>
              <a:lnSpc>
                <a:spcPct val="200000"/>
              </a:lnSpc>
            </a:pPr>
            <a:r>
              <a:rPr lang="en-US" sz="2000" dirty="0">
                <a:latin typeface="Arial" panose="020B0604020202020204" pitchFamily="34" charset="0"/>
                <a:cs typeface="Arial" panose="020B0604020202020204" pitchFamily="34" charset="0"/>
              </a:rPr>
              <a:t>Combine with other methods like IRR or Payback for better decision-making</a:t>
            </a:r>
            <a:r>
              <a:rPr lang="en-US" sz="1400" dirty="0"/>
              <a:t>.</a:t>
            </a:r>
            <a:endParaRPr lang="en-US" sz="2000" dirty="0">
              <a:solidFill>
                <a:schemeClr val="accent1"/>
              </a:solidFill>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1A8F9582-68CE-431C-8B72-88E14F073978}"/>
              </a:ext>
            </a:extLst>
          </p:cNvPr>
          <p:cNvPicPr>
            <a:picLocks noChangeAspect="1"/>
          </p:cNvPicPr>
          <p:nvPr/>
        </p:nvPicPr>
        <p:blipFill>
          <a:blip r:embed="rId2"/>
          <a:stretch>
            <a:fillRect/>
          </a:stretch>
        </p:blipFill>
        <p:spPr>
          <a:xfrm>
            <a:off x="11027635" y="51275"/>
            <a:ext cx="966091" cy="746583"/>
          </a:xfrm>
          <a:prstGeom prst="rect">
            <a:avLst/>
          </a:prstGeom>
        </p:spPr>
      </p:pic>
      <p:sp>
        <p:nvSpPr>
          <p:cNvPr id="2" name="Slide Number Placeholder 1">
            <a:extLst>
              <a:ext uri="{FF2B5EF4-FFF2-40B4-BE49-F238E27FC236}">
                <a16:creationId xmlns:a16="http://schemas.microsoft.com/office/drawing/2014/main" id="{3EEE3E35-0D13-469A-9E0F-622ACCC7CC9A}"/>
              </a:ext>
            </a:extLst>
          </p:cNvPr>
          <p:cNvSpPr>
            <a:spLocks noGrp="1"/>
          </p:cNvSpPr>
          <p:nvPr>
            <p:ph type="sldNum" sz="quarter" idx="12"/>
          </p:nvPr>
        </p:nvSpPr>
        <p:spPr/>
        <p:txBody>
          <a:bodyPr/>
          <a:lstStyle/>
          <a:p>
            <a:fld id="{B7991F04-3566-4BB1-A8CB-A35BE8E11603}" type="slidenum">
              <a:rPr lang="en-IN" smtClean="0"/>
              <a:t>37</a:t>
            </a:fld>
            <a:endParaRPr lang="en-IN"/>
          </a:p>
        </p:txBody>
      </p:sp>
    </p:spTree>
    <p:extLst>
      <p:ext uri="{BB962C8B-B14F-4D97-AF65-F5344CB8AC3E}">
        <p14:creationId xmlns:p14="http://schemas.microsoft.com/office/powerpoint/2010/main" val="32251290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750F95C-005F-42A1-AD9B-6631B5ED5937}"/>
              </a:ext>
            </a:extLst>
          </p:cNvPr>
          <p:cNvSpPr>
            <a:spLocks noGrp="1"/>
          </p:cNvSpPr>
          <p:nvPr>
            <p:ph type="title"/>
          </p:nvPr>
        </p:nvSpPr>
        <p:spPr>
          <a:xfrm>
            <a:off x="748553" y="153146"/>
            <a:ext cx="10123235" cy="533867"/>
          </a:xfrm>
          <a:prstGeom prst="rect">
            <a:avLst/>
          </a:prstGeom>
          <a:solidFill>
            <a:schemeClr val="tx2">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br>
              <a:rPr lang="en-US" sz="2400" b="1" dirty="0"/>
            </a:br>
            <a:r>
              <a:rPr lang="en-US" sz="2400" dirty="0">
                <a:solidFill>
                  <a:schemeClr val="accent1"/>
                </a:solidFill>
                <a:latin typeface="Arial" panose="020B0604020202020204" pitchFamily="34" charset="0"/>
                <a:cs typeface="Arial" panose="020B0604020202020204" pitchFamily="34" charset="0"/>
              </a:rPr>
              <a:t>When to Use NPV</a:t>
            </a:r>
            <a:br>
              <a:rPr lang="en-US" sz="2400" dirty="0">
                <a:solidFill>
                  <a:schemeClr val="accent1"/>
                </a:solidFill>
                <a:latin typeface="Arial" panose="020B0604020202020204" pitchFamily="34" charset="0"/>
                <a:cs typeface="Arial" panose="020B0604020202020204" pitchFamily="34" charset="0"/>
              </a:rPr>
            </a:br>
            <a:endParaRPr lang="en-IN" sz="2400" dirty="0">
              <a:solidFill>
                <a:schemeClr val="accent1"/>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A72C9E36-B70B-46C9-997A-F4D7C97AA8D8}"/>
              </a:ext>
            </a:extLst>
          </p:cNvPr>
          <p:cNvSpPr>
            <a:spLocks noGrp="1"/>
          </p:cNvSpPr>
          <p:nvPr>
            <p:ph type="body" sz="half" idx="4294967295"/>
          </p:nvPr>
        </p:nvSpPr>
        <p:spPr>
          <a:xfrm>
            <a:off x="838199" y="887506"/>
            <a:ext cx="10403541" cy="4981482"/>
          </a:xfrm>
        </p:spPr>
        <p:txBody>
          <a:bodyPr>
            <a:normAutofit/>
          </a:bodyPr>
          <a:lstStyle/>
          <a:p>
            <a:pPr>
              <a:lnSpc>
                <a:spcPct val="200000"/>
              </a:lnSpc>
              <a:buFont typeface="Arial" panose="020B0604020202020204" pitchFamily="34" charset="0"/>
              <a:buChar char="•"/>
            </a:pPr>
            <a:r>
              <a:rPr lang="en-US" sz="2000" dirty="0">
                <a:latin typeface="Arial" panose="020B0604020202020204" pitchFamily="34" charset="0"/>
                <a:cs typeface="Arial" panose="020B0604020202020204" pitchFamily="34" charset="0"/>
              </a:rPr>
              <a:t>Evaluating large capital investments</a:t>
            </a:r>
          </a:p>
          <a:p>
            <a:pPr>
              <a:lnSpc>
                <a:spcPct val="200000"/>
              </a:lnSpc>
              <a:buFont typeface="Arial" panose="020B0604020202020204" pitchFamily="34" charset="0"/>
              <a:buChar char="•"/>
            </a:pPr>
            <a:r>
              <a:rPr lang="en-US" sz="2000" dirty="0">
                <a:latin typeface="Arial" panose="020B0604020202020204" pitchFamily="34" charset="0"/>
                <a:cs typeface="Arial" panose="020B0604020202020204" pitchFamily="34" charset="0"/>
              </a:rPr>
              <a:t>Comparing multiple long-term projects</a:t>
            </a:r>
          </a:p>
          <a:p>
            <a:pPr>
              <a:lnSpc>
                <a:spcPct val="200000"/>
              </a:lnSpc>
              <a:buFont typeface="Arial" panose="020B0604020202020204" pitchFamily="34" charset="0"/>
              <a:buChar char="•"/>
            </a:pPr>
            <a:r>
              <a:rPr lang="en-US" sz="2000" dirty="0">
                <a:latin typeface="Arial" panose="020B0604020202020204" pitchFamily="34" charset="0"/>
                <a:cs typeface="Arial" panose="020B0604020202020204" pitchFamily="34" charset="0"/>
              </a:rPr>
              <a:t>Making acquisition decisions</a:t>
            </a:r>
          </a:p>
          <a:p>
            <a:pPr>
              <a:lnSpc>
                <a:spcPct val="200000"/>
              </a:lnSpc>
              <a:buFont typeface="Arial" panose="020B0604020202020204" pitchFamily="34" charset="0"/>
              <a:buChar char="•"/>
            </a:pPr>
            <a:r>
              <a:rPr lang="en-US" sz="2000" dirty="0">
                <a:latin typeface="Arial" panose="020B0604020202020204" pitchFamily="34" charset="0"/>
                <a:cs typeface="Arial" panose="020B0604020202020204" pitchFamily="34" charset="0"/>
              </a:rPr>
              <a:t>Budgeting for R&amp;D or infrastructure</a:t>
            </a:r>
          </a:p>
          <a:p>
            <a:pPr>
              <a:lnSpc>
                <a:spcPct val="200000"/>
              </a:lnSpc>
            </a:pPr>
            <a:endParaRPr lang="en-US" sz="2000" dirty="0">
              <a:solidFill>
                <a:schemeClr val="accent1"/>
              </a:solidFill>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1A8F9582-68CE-431C-8B72-88E14F073978}"/>
              </a:ext>
            </a:extLst>
          </p:cNvPr>
          <p:cNvPicPr>
            <a:picLocks noChangeAspect="1"/>
          </p:cNvPicPr>
          <p:nvPr/>
        </p:nvPicPr>
        <p:blipFill>
          <a:blip r:embed="rId2"/>
          <a:stretch>
            <a:fillRect/>
          </a:stretch>
        </p:blipFill>
        <p:spPr>
          <a:xfrm>
            <a:off x="11027635" y="51275"/>
            <a:ext cx="966091" cy="746583"/>
          </a:xfrm>
          <a:prstGeom prst="rect">
            <a:avLst/>
          </a:prstGeom>
        </p:spPr>
      </p:pic>
      <p:sp>
        <p:nvSpPr>
          <p:cNvPr id="2" name="Slide Number Placeholder 1">
            <a:extLst>
              <a:ext uri="{FF2B5EF4-FFF2-40B4-BE49-F238E27FC236}">
                <a16:creationId xmlns:a16="http://schemas.microsoft.com/office/drawing/2014/main" id="{3EEE3E35-0D13-469A-9E0F-622ACCC7CC9A}"/>
              </a:ext>
            </a:extLst>
          </p:cNvPr>
          <p:cNvSpPr>
            <a:spLocks noGrp="1"/>
          </p:cNvSpPr>
          <p:nvPr>
            <p:ph type="sldNum" sz="quarter" idx="12"/>
          </p:nvPr>
        </p:nvSpPr>
        <p:spPr/>
        <p:txBody>
          <a:bodyPr/>
          <a:lstStyle/>
          <a:p>
            <a:fld id="{B7991F04-3566-4BB1-A8CB-A35BE8E11603}" type="slidenum">
              <a:rPr lang="en-IN" smtClean="0"/>
              <a:t>38</a:t>
            </a:fld>
            <a:endParaRPr lang="en-IN"/>
          </a:p>
        </p:txBody>
      </p:sp>
    </p:spTree>
    <p:extLst>
      <p:ext uri="{BB962C8B-B14F-4D97-AF65-F5344CB8AC3E}">
        <p14:creationId xmlns:p14="http://schemas.microsoft.com/office/powerpoint/2010/main" val="46513612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750F95C-005F-42A1-AD9B-6631B5ED5937}"/>
              </a:ext>
            </a:extLst>
          </p:cNvPr>
          <p:cNvSpPr>
            <a:spLocks noGrp="1"/>
          </p:cNvSpPr>
          <p:nvPr>
            <p:ph type="title"/>
          </p:nvPr>
        </p:nvSpPr>
        <p:spPr>
          <a:xfrm>
            <a:off x="748553" y="153146"/>
            <a:ext cx="10123235" cy="533867"/>
          </a:xfrm>
          <a:prstGeom prst="rect">
            <a:avLst/>
          </a:prstGeom>
          <a:solidFill>
            <a:schemeClr val="tx2">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br>
              <a:rPr lang="en-US" sz="2400" b="1" dirty="0"/>
            </a:br>
            <a:r>
              <a:rPr lang="en-IN" sz="2400" dirty="0">
                <a:solidFill>
                  <a:schemeClr val="accent1"/>
                </a:solidFill>
                <a:latin typeface="Arial" panose="020B0604020202020204" pitchFamily="34" charset="0"/>
                <a:cs typeface="Arial" panose="020B0604020202020204" pitchFamily="34" charset="0"/>
              </a:rPr>
              <a:t>Questions</a:t>
            </a:r>
            <a:br>
              <a:rPr lang="en-US" sz="2400" dirty="0">
                <a:solidFill>
                  <a:schemeClr val="accent1"/>
                </a:solidFill>
                <a:latin typeface="Arial" panose="020B0604020202020204" pitchFamily="34" charset="0"/>
                <a:cs typeface="Arial" panose="020B0604020202020204" pitchFamily="34" charset="0"/>
              </a:rPr>
            </a:br>
            <a:endParaRPr lang="en-IN" sz="2400" dirty="0">
              <a:solidFill>
                <a:schemeClr val="accent1"/>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A72C9E36-B70B-46C9-997A-F4D7C97AA8D8}"/>
              </a:ext>
            </a:extLst>
          </p:cNvPr>
          <p:cNvSpPr>
            <a:spLocks noGrp="1"/>
          </p:cNvSpPr>
          <p:nvPr>
            <p:ph type="body" sz="half" idx="4294967295"/>
          </p:nvPr>
        </p:nvSpPr>
        <p:spPr>
          <a:xfrm>
            <a:off x="838199" y="887506"/>
            <a:ext cx="10403541" cy="4981482"/>
          </a:xfrm>
        </p:spPr>
        <p:txBody>
          <a:bodyPr>
            <a:normAutofit/>
          </a:bodyPr>
          <a:lstStyle/>
          <a:p>
            <a:pPr marL="0" indent="0">
              <a:lnSpc>
                <a:spcPct val="200000"/>
              </a:lnSpc>
              <a:buNone/>
            </a:pPr>
            <a:endParaRPr lang="en-US" sz="2000" i="1" dirty="0">
              <a:latin typeface="Arial" panose="020B0604020202020204" pitchFamily="34" charset="0"/>
              <a:cs typeface="Arial" panose="020B0604020202020204" pitchFamily="34" charset="0"/>
            </a:endParaRPr>
          </a:p>
          <a:p>
            <a:pPr marL="0" indent="0">
              <a:lnSpc>
                <a:spcPct val="200000"/>
              </a:lnSpc>
              <a:buNone/>
            </a:pPr>
            <a:endParaRPr lang="en-US" sz="2000" i="1" dirty="0">
              <a:latin typeface="Arial" panose="020B0604020202020204" pitchFamily="34" charset="0"/>
              <a:cs typeface="Arial" panose="020B0604020202020204" pitchFamily="34" charset="0"/>
            </a:endParaRPr>
          </a:p>
          <a:p>
            <a:pPr marL="0" indent="0" algn="ctr">
              <a:lnSpc>
                <a:spcPct val="200000"/>
              </a:lnSpc>
              <a:buNone/>
            </a:pPr>
            <a:r>
              <a:rPr lang="en-US" sz="2000" i="1" dirty="0">
                <a:latin typeface="Arial" panose="020B0604020202020204" pitchFamily="34" charset="0"/>
                <a:cs typeface="Arial" panose="020B0604020202020204" pitchFamily="34" charset="0"/>
              </a:rPr>
              <a:t>How do you decide which projects to prioritize when capital is limited?</a:t>
            </a:r>
            <a:endParaRPr lang="en-US" sz="2000" i="1" dirty="0">
              <a:solidFill>
                <a:schemeClr val="accent1"/>
              </a:solidFill>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1A8F9582-68CE-431C-8B72-88E14F073978}"/>
              </a:ext>
            </a:extLst>
          </p:cNvPr>
          <p:cNvPicPr>
            <a:picLocks noChangeAspect="1"/>
          </p:cNvPicPr>
          <p:nvPr/>
        </p:nvPicPr>
        <p:blipFill>
          <a:blip r:embed="rId2"/>
          <a:stretch>
            <a:fillRect/>
          </a:stretch>
        </p:blipFill>
        <p:spPr>
          <a:xfrm>
            <a:off x="11027635" y="51275"/>
            <a:ext cx="966091" cy="746583"/>
          </a:xfrm>
          <a:prstGeom prst="rect">
            <a:avLst/>
          </a:prstGeom>
        </p:spPr>
      </p:pic>
      <p:sp>
        <p:nvSpPr>
          <p:cNvPr id="2" name="Slide Number Placeholder 1">
            <a:extLst>
              <a:ext uri="{FF2B5EF4-FFF2-40B4-BE49-F238E27FC236}">
                <a16:creationId xmlns:a16="http://schemas.microsoft.com/office/drawing/2014/main" id="{3EEE3E35-0D13-469A-9E0F-622ACCC7CC9A}"/>
              </a:ext>
            </a:extLst>
          </p:cNvPr>
          <p:cNvSpPr>
            <a:spLocks noGrp="1"/>
          </p:cNvSpPr>
          <p:nvPr>
            <p:ph type="sldNum" sz="quarter" idx="12"/>
          </p:nvPr>
        </p:nvSpPr>
        <p:spPr/>
        <p:txBody>
          <a:bodyPr/>
          <a:lstStyle/>
          <a:p>
            <a:fld id="{B7991F04-3566-4BB1-A8CB-A35BE8E11603}" type="slidenum">
              <a:rPr lang="en-IN" smtClean="0"/>
              <a:t>39</a:t>
            </a:fld>
            <a:endParaRPr lang="en-IN"/>
          </a:p>
        </p:txBody>
      </p:sp>
    </p:spTree>
    <p:extLst>
      <p:ext uri="{BB962C8B-B14F-4D97-AF65-F5344CB8AC3E}">
        <p14:creationId xmlns:p14="http://schemas.microsoft.com/office/powerpoint/2010/main" val="160642993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750F95C-005F-42A1-AD9B-6631B5ED5937}"/>
              </a:ext>
            </a:extLst>
          </p:cNvPr>
          <p:cNvSpPr>
            <a:spLocks noGrp="1"/>
          </p:cNvSpPr>
          <p:nvPr>
            <p:ph type="title"/>
          </p:nvPr>
        </p:nvSpPr>
        <p:spPr>
          <a:xfrm>
            <a:off x="748553" y="153146"/>
            <a:ext cx="10123235" cy="533867"/>
          </a:xfrm>
          <a:prstGeom prst="rect">
            <a:avLst/>
          </a:prstGeom>
          <a:solidFill>
            <a:schemeClr val="tx2">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br>
              <a:rPr lang="en-US" sz="2400" b="1" dirty="0"/>
            </a:br>
            <a:r>
              <a:rPr lang="en-IN" sz="2400" dirty="0">
                <a:solidFill>
                  <a:schemeClr val="accent1"/>
                </a:solidFill>
                <a:latin typeface="Arial" panose="020B0604020202020204" pitchFamily="34" charset="0"/>
                <a:cs typeface="Arial" panose="020B0604020202020204" pitchFamily="34" charset="0"/>
              </a:rPr>
              <a:t>Answer</a:t>
            </a:r>
            <a:br>
              <a:rPr lang="en-US" sz="2400" dirty="0">
                <a:solidFill>
                  <a:schemeClr val="accent1"/>
                </a:solidFill>
                <a:latin typeface="Arial" panose="020B0604020202020204" pitchFamily="34" charset="0"/>
                <a:cs typeface="Arial" panose="020B0604020202020204" pitchFamily="34" charset="0"/>
              </a:rPr>
            </a:br>
            <a:endParaRPr lang="en-IN" sz="2400" dirty="0">
              <a:solidFill>
                <a:schemeClr val="accent1"/>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A72C9E36-B70B-46C9-997A-F4D7C97AA8D8}"/>
              </a:ext>
            </a:extLst>
          </p:cNvPr>
          <p:cNvSpPr>
            <a:spLocks noGrp="1"/>
          </p:cNvSpPr>
          <p:nvPr>
            <p:ph type="body" sz="half" idx="4294967295"/>
          </p:nvPr>
        </p:nvSpPr>
        <p:spPr>
          <a:xfrm>
            <a:off x="838199" y="887506"/>
            <a:ext cx="10403541" cy="4981482"/>
          </a:xfrm>
        </p:spPr>
        <p:txBody>
          <a:bodyPr>
            <a:normAutofit/>
          </a:bodyPr>
          <a:lstStyle/>
          <a:p>
            <a:pPr marL="0" indent="0" algn="just">
              <a:lnSpc>
                <a:spcPct val="150000"/>
              </a:lnSpc>
              <a:buNone/>
            </a:pPr>
            <a:endParaRPr lang="en-US" sz="2000" dirty="0">
              <a:latin typeface="Arial" panose="020B0604020202020204" pitchFamily="34" charset="0"/>
              <a:cs typeface="Arial" panose="020B0604020202020204" pitchFamily="34" charset="0"/>
            </a:endParaRPr>
          </a:p>
          <a:p>
            <a:pPr marL="0" indent="0" algn="just">
              <a:lnSpc>
                <a:spcPct val="150000"/>
              </a:lnSpc>
              <a:buNone/>
            </a:pPr>
            <a:r>
              <a:rPr lang="en-US" sz="2000" dirty="0">
                <a:latin typeface="Arial" panose="020B0604020202020204" pitchFamily="34" charset="0"/>
                <a:cs typeface="Arial" panose="020B0604020202020204" pitchFamily="34" charset="0"/>
              </a:rPr>
              <a:t>When capital is limited, projects should be prioritized based on which ones offer the highest Net Present Value (NPV) or profitability index—meaning the most value created per dollar invested. This ensures the company maximizes returns on scarce resources. Besides financial metrics, it’s important to consider strategic alignment with business goals, risk levels, and resource availability, like manpower or technology. Timing of cash flows also matters; projects with quicker returns may be preferred to improve liquidity. Combining these factors helps make balanced, value-driven investment decisions under capital constraints.</a:t>
            </a:r>
          </a:p>
        </p:txBody>
      </p:sp>
      <p:pic>
        <p:nvPicPr>
          <p:cNvPr id="5" name="Picture 4">
            <a:extLst>
              <a:ext uri="{FF2B5EF4-FFF2-40B4-BE49-F238E27FC236}">
                <a16:creationId xmlns:a16="http://schemas.microsoft.com/office/drawing/2014/main" id="{1A8F9582-68CE-431C-8B72-88E14F073978}"/>
              </a:ext>
            </a:extLst>
          </p:cNvPr>
          <p:cNvPicPr>
            <a:picLocks noChangeAspect="1"/>
          </p:cNvPicPr>
          <p:nvPr/>
        </p:nvPicPr>
        <p:blipFill>
          <a:blip r:embed="rId2"/>
          <a:stretch>
            <a:fillRect/>
          </a:stretch>
        </p:blipFill>
        <p:spPr>
          <a:xfrm>
            <a:off x="11027635" y="51275"/>
            <a:ext cx="966091" cy="746583"/>
          </a:xfrm>
          <a:prstGeom prst="rect">
            <a:avLst/>
          </a:prstGeom>
        </p:spPr>
      </p:pic>
      <p:sp>
        <p:nvSpPr>
          <p:cNvPr id="2" name="Slide Number Placeholder 1">
            <a:extLst>
              <a:ext uri="{FF2B5EF4-FFF2-40B4-BE49-F238E27FC236}">
                <a16:creationId xmlns:a16="http://schemas.microsoft.com/office/drawing/2014/main" id="{3EEE3E35-0D13-469A-9E0F-622ACCC7CC9A}"/>
              </a:ext>
            </a:extLst>
          </p:cNvPr>
          <p:cNvSpPr>
            <a:spLocks noGrp="1"/>
          </p:cNvSpPr>
          <p:nvPr>
            <p:ph type="sldNum" sz="quarter" idx="12"/>
          </p:nvPr>
        </p:nvSpPr>
        <p:spPr/>
        <p:txBody>
          <a:bodyPr/>
          <a:lstStyle/>
          <a:p>
            <a:fld id="{B7991F04-3566-4BB1-A8CB-A35BE8E11603}" type="slidenum">
              <a:rPr lang="en-IN" smtClean="0"/>
              <a:t>40</a:t>
            </a:fld>
            <a:endParaRPr lang="en-IN"/>
          </a:p>
        </p:txBody>
      </p:sp>
    </p:spTree>
    <p:extLst>
      <p:ext uri="{BB962C8B-B14F-4D97-AF65-F5344CB8AC3E}">
        <p14:creationId xmlns:p14="http://schemas.microsoft.com/office/powerpoint/2010/main" val="189713606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750F95C-005F-42A1-AD9B-6631B5ED5937}"/>
              </a:ext>
            </a:extLst>
          </p:cNvPr>
          <p:cNvSpPr>
            <a:spLocks noGrp="1"/>
          </p:cNvSpPr>
          <p:nvPr>
            <p:ph type="title"/>
          </p:nvPr>
        </p:nvSpPr>
        <p:spPr>
          <a:xfrm>
            <a:off x="748553" y="153146"/>
            <a:ext cx="10123235" cy="533867"/>
          </a:xfrm>
          <a:prstGeom prst="rect">
            <a:avLst/>
          </a:prstGeom>
          <a:solidFill>
            <a:schemeClr val="tx2">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r>
              <a:rPr lang="en-US" sz="2400" dirty="0">
                <a:solidFill>
                  <a:schemeClr val="accent1"/>
                </a:solidFill>
                <a:latin typeface="Arial" panose="020B0604020202020204" pitchFamily="34" charset="0"/>
                <a:cs typeface="Arial" panose="020B0604020202020204" pitchFamily="34" charset="0"/>
              </a:rPr>
              <a:t>IRR (Internal Rate of Return)</a:t>
            </a:r>
            <a:endParaRPr lang="en-IN" sz="2400" dirty="0">
              <a:solidFill>
                <a:schemeClr val="accent1"/>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72C9E36-B70B-46C9-997A-F4D7C97AA8D8}"/>
                  </a:ext>
                </a:extLst>
              </p:cNvPr>
              <p:cNvSpPr>
                <a:spLocks noGrp="1"/>
              </p:cNvSpPr>
              <p:nvPr>
                <p:ph type="body" sz="half" idx="4294967295"/>
              </p:nvPr>
            </p:nvSpPr>
            <p:spPr>
              <a:xfrm>
                <a:off x="838199" y="887506"/>
                <a:ext cx="10403541" cy="4981482"/>
              </a:xfrm>
            </p:spPr>
            <p:txBody>
              <a:bodyPr>
                <a:normAutofit/>
              </a:bodyPr>
              <a:lstStyle/>
              <a:p>
                <a:pPr>
                  <a:lnSpc>
                    <a:spcPct val="150000"/>
                  </a:lnSpc>
                </a:pPr>
                <a:r>
                  <a:rPr lang="en-US" sz="2000" dirty="0">
                    <a:latin typeface="Arial" panose="020B0604020202020204" pitchFamily="34" charset="0"/>
                    <a:cs typeface="Arial" panose="020B0604020202020204" pitchFamily="34" charset="0"/>
                  </a:rPr>
                  <a:t>The Internal Rate of Return (IRR) is the discount rate that makes the Net Present Value (NPV) of a project zero.</a:t>
                </a:r>
              </a:p>
              <a:p>
                <a:pPr>
                  <a:lnSpc>
                    <a:spcPct val="150000"/>
                  </a:lnSpc>
                </a:pPr>
                <a:r>
                  <a:rPr lang="en-US" sz="2000" dirty="0">
                    <a:latin typeface="Arial" panose="020B0604020202020204" pitchFamily="34" charset="0"/>
                    <a:cs typeface="Arial" panose="020B0604020202020204" pitchFamily="34" charset="0"/>
                  </a:rPr>
                  <a:t>In simpler terms, it's the rate of return at which the investment breaks even in terms of present value.</a:t>
                </a:r>
              </a:p>
              <a:p>
                <a:pPr marL="0" indent="0">
                  <a:buNone/>
                </a:pPr>
                <a:r>
                  <a:rPr lang="en-US" sz="2000" dirty="0">
                    <a:latin typeface="Arial" panose="020B0604020202020204" pitchFamily="34" charset="0"/>
                    <a:cs typeface="Arial" panose="020B0604020202020204" pitchFamily="34" charset="0"/>
                  </a:rPr>
                  <a:t>How to Calculate IRR?</a:t>
                </a:r>
              </a:p>
              <a:p>
                <a:r>
                  <a:rPr lang="en-US" sz="2000" dirty="0">
                    <a:latin typeface="Arial" panose="020B0604020202020204" pitchFamily="34" charset="0"/>
                    <a:cs typeface="Arial" panose="020B0604020202020204" pitchFamily="34" charset="0"/>
                  </a:rPr>
                  <a:t>The IRR is the value of r (discount rate) that satisfies this equation :</a:t>
                </a:r>
              </a:p>
              <a:p>
                <a:pPr marL="0" indent="0">
                  <a:lnSpc>
                    <a:spcPct val="150000"/>
                  </a:lnSpc>
                  <a:buNone/>
                </a:pPr>
                <a:r>
                  <a:rPr lang="en-IN" sz="2000" dirty="0">
                    <a:solidFill>
                      <a:schemeClr val="accent1"/>
                    </a:solidFill>
                    <a:latin typeface="Arial" panose="020B0604020202020204" pitchFamily="34" charset="0"/>
                    <a:cs typeface="Arial" panose="020B0604020202020204" pitchFamily="34" charset="0"/>
                  </a:rPr>
                  <a:t>Basic formula</a:t>
                </a:r>
                <a:r>
                  <a:rPr lang="en-IN" sz="2000" dirty="0">
                    <a:latin typeface="Arial" panose="020B0604020202020204" pitchFamily="34" charset="0"/>
                    <a:cs typeface="Arial" panose="020B0604020202020204" pitchFamily="34" charset="0"/>
                  </a:rPr>
                  <a:t>: </a:t>
                </a:r>
                <a:r>
                  <a:rPr lang="en-US" sz="2400" b="0" dirty="0">
                    <a:latin typeface="Cambria Math" panose="02040503050406030204" pitchFamily="18" charset="0"/>
                    <a:ea typeface="Cambria Math" panose="02040503050406030204" pitchFamily="18" charset="0"/>
                    <a:cs typeface="Times New Roman" panose="02020603050405020304" pitchFamily="18" charset="0"/>
                  </a:rPr>
                  <a:t>NP</a:t>
                </a:r>
                <a14:m>
                  <m:oMath xmlns:m="http://schemas.openxmlformats.org/officeDocument/2006/math">
                    <m:r>
                      <a:rPr lang="en-US" sz="2400" b="0" i="1" smtClean="0">
                        <a:latin typeface="Cambria Math" panose="02040503050406030204" pitchFamily="18" charset="0"/>
                        <a:ea typeface="Cambria Math" panose="02040503050406030204" pitchFamily="18" charset="0"/>
                        <a:cs typeface="Times New Roman" panose="02020603050405020304" pitchFamily="18" charset="0"/>
                      </a:rPr>
                      <m:t>𝑉</m:t>
                    </m:r>
                  </m:oMath>
                </a14:m>
                <a:r>
                  <a:rPr lang="en-US" sz="2400" dirty="0">
                    <a:latin typeface="Cambria Math" panose="02040503050406030204" pitchFamily="18" charset="0"/>
                    <a:ea typeface="Cambria Math" panose="02040503050406030204" pitchFamily="18" charset="0"/>
                    <a:cs typeface="Times New Roman" panose="02020603050405020304" pitchFamily="18" charset="0"/>
                  </a:rPr>
                  <a:t>=</a:t>
                </a:r>
                <a14:m>
                  <m:oMath xmlns:m="http://schemas.openxmlformats.org/officeDocument/2006/math">
                    <m:r>
                      <m:rPr>
                        <m:nor/>
                      </m:rPr>
                      <a:rPr lang="en-US" sz="2400" dirty="0">
                        <a:latin typeface="Cambria Math" panose="02040503050406030204" pitchFamily="18" charset="0"/>
                        <a:ea typeface="Cambria Math" panose="02040503050406030204" pitchFamily="18" charset="0"/>
                        <a:cs typeface="Times New Roman" panose="02020603050405020304" pitchFamily="18" charset="0"/>
                      </a:rPr>
                      <m:t>=</m:t>
                    </m:r>
                    <m:r>
                      <a:rPr lang="en-US" sz="2400">
                        <a:latin typeface="Cambria Math" panose="02040503050406030204" pitchFamily="18" charset="0"/>
                        <a:ea typeface="Cambria Math" panose="02040503050406030204" pitchFamily="18" charset="0"/>
                        <a:cs typeface="Arial" panose="020B0604020202020204" pitchFamily="34" charset="0"/>
                      </a:rPr>
                      <m:t>  </m:t>
                    </m:r>
                    <m:sSubSup>
                      <m:sSubSupPr>
                        <m:ctrlPr>
                          <a:rPr lang="en-US" sz="2400" i="1">
                            <a:latin typeface="Cambria Math" panose="02040503050406030204" pitchFamily="18" charset="0"/>
                            <a:ea typeface="Cambria Math" panose="02040503050406030204" pitchFamily="18" charset="0"/>
                            <a:cs typeface="Arial" panose="020B0604020202020204" pitchFamily="34" charset="0"/>
                          </a:rPr>
                        </m:ctrlPr>
                      </m:sSubSupPr>
                      <m:e>
                        <m:r>
                          <a:rPr lang="en-US" sz="2400" i="1">
                            <a:latin typeface="Cambria Math" panose="02040503050406030204" pitchFamily="18" charset="0"/>
                            <a:ea typeface="Cambria Math" panose="02040503050406030204" pitchFamily="18" charset="0"/>
                            <a:cs typeface="Arial" panose="020B0604020202020204" pitchFamily="34" charset="0"/>
                          </a:rPr>
                          <m:t>∑</m:t>
                        </m:r>
                      </m:e>
                      <m:sub>
                        <m:r>
                          <a:rPr lang="en-US" sz="2400" i="1">
                            <a:latin typeface="Cambria Math" panose="02040503050406030204" pitchFamily="18" charset="0"/>
                            <a:ea typeface="Cambria Math" panose="02040503050406030204" pitchFamily="18" charset="0"/>
                            <a:cs typeface="Arial" panose="020B0604020202020204" pitchFamily="34" charset="0"/>
                          </a:rPr>
                          <m:t>𝑡</m:t>
                        </m:r>
                        <m:r>
                          <a:rPr lang="en-US" sz="2400" i="1">
                            <a:latin typeface="Cambria Math" panose="02040503050406030204" pitchFamily="18" charset="0"/>
                            <a:ea typeface="Cambria Math" panose="02040503050406030204" pitchFamily="18" charset="0"/>
                            <a:cs typeface="Arial" panose="020B0604020202020204" pitchFamily="34" charset="0"/>
                          </a:rPr>
                          <m:t>=1</m:t>
                        </m:r>
                      </m:sub>
                      <m:sup>
                        <m:r>
                          <a:rPr lang="en-US" sz="2400" b="0" i="1" smtClean="0">
                            <a:latin typeface="Cambria Math" panose="02040503050406030204" pitchFamily="18" charset="0"/>
                            <a:ea typeface="Cambria Math" panose="02040503050406030204" pitchFamily="18" charset="0"/>
                            <a:cs typeface="Arial" panose="020B0604020202020204" pitchFamily="34" charset="0"/>
                          </a:rPr>
                          <m:t>𝑛</m:t>
                        </m:r>
                      </m:sup>
                    </m:sSubSup>
                    <m:f>
                      <m:fPr>
                        <m:ctrlPr>
                          <a:rPr lang="en-US" sz="2400" i="1" smtClean="0">
                            <a:latin typeface="Cambria Math" panose="02040503050406030204" pitchFamily="18" charset="0"/>
                            <a:ea typeface="Cambria Math" panose="02040503050406030204" pitchFamily="18" charset="0"/>
                            <a:cs typeface="Arial" panose="020B0604020202020204" pitchFamily="34" charset="0"/>
                          </a:rPr>
                        </m:ctrlPr>
                      </m:fPr>
                      <m:num>
                        <m:sSub>
                          <m:sSubPr>
                            <m:ctrlPr>
                              <a:rPr lang="en-US" sz="2400" i="1">
                                <a:latin typeface="Cambria Math" panose="02040503050406030204" pitchFamily="18" charset="0"/>
                                <a:ea typeface="Cambria Math" panose="02040503050406030204" pitchFamily="18" charset="0"/>
                                <a:cs typeface="Arial" panose="020B0604020202020204" pitchFamily="34" charset="0"/>
                              </a:rPr>
                            </m:ctrlPr>
                          </m:sSubPr>
                          <m:e>
                            <m:r>
                              <a:rPr lang="en-US" sz="2400" i="1">
                                <a:latin typeface="Cambria Math" panose="02040503050406030204" pitchFamily="18" charset="0"/>
                                <a:ea typeface="Cambria Math" panose="02040503050406030204" pitchFamily="18" charset="0"/>
                                <a:cs typeface="Arial" panose="020B0604020202020204" pitchFamily="34" charset="0"/>
                              </a:rPr>
                              <m:t>𝐶𝐹</m:t>
                            </m:r>
                          </m:e>
                          <m:sub>
                            <m:r>
                              <a:rPr lang="en-US" sz="2400" i="1">
                                <a:latin typeface="Cambria Math" panose="02040503050406030204" pitchFamily="18" charset="0"/>
                                <a:ea typeface="Cambria Math" panose="02040503050406030204" pitchFamily="18" charset="0"/>
                                <a:cs typeface="Arial" panose="020B0604020202020204" pitchFamily="34" charset="0"/>
                              </a:rPr>
                              <m:t>𝑡</m:t>
                            </m:r>
                          </m:sub>
                        </m:sSub>
                      </m:num>
                      <m:den>
                        <m:sSup>
                          <m:sSupPr>
                            <m:ctrlPr>
                              <a:rPr lang="pt-BR" sz="2400" i="1">
                                <a:latin typeface="Cambria Math" panose="02040503050406030204" pitchFamily="18" charset="0"/>
                                <a:ea typeface="Cambria Math" panose="02040503050406030204" pitchFamily="18" charset="0"/>
                                <a:cs typeface="Arial" panose="020B0604020202020204" pitchFamily="34" charset="0"/>
                              </a:rPr>
                            </m:ctrlPr>
                          </m:sSupPr>
                          <m:e>
                            <m:d>
                              <m:dPr>
                                <m:ctrlPr>
                                  <a:rPr lang="pt-BR" sz="2400" i="1">
                                    <a:latin typeface="Cambria Math" panose="02040503050406030204" pitchFamily="18" charset="0"/>
                                    <a:ea typeface="Cambria Math" panose="02040503050406030204" pitchFamily="18" charset="0"/>
                                    <a:cs typeface="Arial" panose="020B0604020202020204" pitchFamily="34" charset="0"/>
                                  </a:rPr>
                                </m:ctrlPr>
                              </m:dPr>
                              <m:e>
                                <m:r>
                                  <a:rPr lang="en-US" sz="2400" i="1">
                                    <a:latin typeface="Cambria Math" panose="02040503050406030204" pitchFamily="18" charset="0"/>
                                    <a:ea typeface="Cambria Math" panose="02040503050406030204" pitchFamily="18" charset="0"/>
                                    <a:cs typeface="Arial" panose="020B0604020202020204" pitchFamily="34" charset="0"/>
                                  </a:rPr>
                                  <m:t>1</m:t>
                                </m:r>
                                <m:r>
                                  <a:rPr lang="pt-BR" sz="2400" i="1">
                                    <a:latin typeface="Cambria Math" panose="02040503050406030204" pitchFamily="18" charset="0"/>
                                    <a:ea typeface="Cambria Math" panose="02040503050406030204" pitchFamily="18" charset="0"/>
                                    <a:cs typeface="Arial" panose="020B0604020202020204" pitchFamily="34" charset="0"/>
                                  </a:rPr>
                                  <m:t>+</m:t>
                                </m:r>
                                <m:r>
                                  <a:rPr lang="en-US" sz="2400" i="1">
                                    <a:latin typeface="Cambria Math" panose="02040503050406030204" pitchFamily="18" charset="0"/>
                                    <a:ea typeface="Cambria Math" panose="02040503050406030204" pitchFamily="18" charset="0"/>
                                    <a:cs typeface="Arial" panose="020B0604020202020204" pitchFamily="34" charset="0"/>
                                  </a:rPr>
                                  <m:t>𝑟</m:t>
                                </m:r>
                              </m:e>
                            </m:d>
                          </m:e>
                          <m:sup>
                            <m:r>
                              <a:rPr lang="en-US" sz="2400" b="0" i="1" smtClean="0">
                                <a:latin typeface="Cambria Math" panose="02040503050406030204" pitchFamily="18" charset="0"/>
                                <a:ea typeface="Cambria Math" panose="02040503050406030204" pitchFamily="18" charset="0"/>
                                <a:cs typeface="Arial" panose="020B0604020202020204" pitchFamily="34" charset="0"/>
                              </a:rPr>
                              <m:t>𝑡</m:t>
                            </m:r>
                          </m:sup>
                        </m:sSup>
                      </m:den>
                    </m:f>
                    <m:r>
                      <a:rPr lang="en-US" sz="2400" b="0" i="1" smtClean="0">
                        <a:latin typeface="Cambria Math" panose="02040503050406030204" pitchFamily="18" charset="0"/>
                        <a:ea typeface="Cambria Math" panose="02040503050406030204" pitchFamily="18" charset="0"/>
                        <a:cs typeface="Arial" panose="020B0604020202020204" pitchFamily="34" charset="0"/>
                      </a:rPr>
                      <m:t>  −</m:t>
                    </m:r>
                    <m:sSub>
                      <m:sSubPr>
                        <m:ctrlPr>
                          <a:rPr lang="pt-BR" sz="2400" b="0" i="1" smtClean="0">
                            <a:latin typeface="Cambria Math" panose="02040503050406030204" pitchFamily="18" charset="0"/>
                            <a:ea typeface="Cambria Math" panose="02040503050406030204" pitchFamily="18" charset="0"/>
                            <a:cs typeface="Arial" panose="020B0604020202020204" pitchFamily="34" charset="0"/>
                          </a:rPr>
                        </m:ctrlPr>
                      </m:sSubPr>
                      <m:e>
                        <m:r>
                          <a:rPr lang="en-US" sz="2400" b="0" i="1" smtClean="0">
                            <a:latin typeface="Cambria Math" panose="02040503050406030204" pitchFamily="18" charset="0"/>
                            <a:ea typeface="Cambria Math" panose="02040503050406030204" pitchFamily="18" charset="0"/>
                            <a:cs typeface="Arial" panose="020B0604020202020204" pitchFamily="34" charset="0"/>
                          </a:rPr>
                          <m:t>𝑐</m:t>
                        </m:r>
                      </m:e>
                      <m:sub>
                        <m:r>
                          <a:rPr lang="pt-BR" sz="2400" b="0" i="1" smtClean="0">
                            <a:latin typeface="Cambria Math" panose="02040503050406030204" pitchFamily="18" charset="0"/>
                            <a:ea typeface="Cambria Math" panose="02040503050406030204" pitchFamily="18" charset="0"/>
                            <a:cs typeface="Arial" panose="020B0604020202020204" pitchFamily="34" charset="0"/>
                          </a:rPr>
                          <m:t>0</m:t>
                        </m:r>
                      </m:sub>
                    </m:sSub>
                  </m:oMath>
                </a14:m>
                <a:endParaRPr lang="en-US" sz="2400" b="0" dirty="0">
                  <a:latin typeface="Cambria Math" panose="02040503050406030204" pitchFamily="18" charset="0"/>
                  <a:ea typeface="Cambria Math" panose="02040503050406030204" pitchFamily="18" charset="0"/>
                  <a:cs typeface="Arial" panose="020B0604020202020204" pitchFamily="34" charset="0"/>
                </a:endParaRPr>
              </a:p>
              <a:p>
                <a:pPr marL="0" indent="0">
                  <a:lnSpc>
                    <a:spcPct val="150000"/>
                  </a:lnSpc>
                  <a:buNone/>
                </a:pPr>
                <a:endParaRPr lang="en-US" sz="2400" dirty="0">
                  <a:latin typeface="Arial" panose="020B0604020202020204" pitchFamily="34" charset="0"/>
                  <a:cs typeface="Arial" panose="020B0604020202020204" pitchFamily="34" charset="0"/>
                </a:endParaRPr>
              </a:p>
              <a:p>
                <a:pPr marL="0" indent="0">
                  <a:lnSpc>
                    <a:spcPct val="150000"/>
                  </a:lnSpc>
                  <a:buNone/>
                </a:pPr>
                <a:endParaRPr lang="en-US" sz="2000" dirty="0">
                  <a:latin typeface="Arial" panose="020B0604020202020204" pitchFamily="34" charset="0"/>
                  <a:cs typeface="Arial" panose="020B0604020202020204" pitchFamily="34" charset="0"/>
                </a:endParaRPr>
              </a:p>
              <a:p>
                <a:pPr>
                  <a:lnSpc>
                    <a:spcPct val="200000"/>
                  </a:lnSpc>
                </a:pPr>
                <a:endParaRPr lang="en-US" sz="2000" dirty="0">
                  <a:solidFill>
                    <a:schemeClr val="accent1"/>
                  </a:solidFill>
                  <a:latin typeface="Arial" panose="020B0604020202020204" pitchFamily="34" charset="0"/>
                  <a:cs typeface="Arial" panose="020B0604020202020204" pitchFamily="34" charset="0"/>
                </a:endParaRPr>
              </a:p>
            </p:txBody>
          </p:sp>
        </mc:Choice>
        <mc:Fallback xmlns="">
          <p:sp>
            <p:nvSpPr>
              <p:cNvPr id="3" name="Content Placeholder 2">
                <a:extLst>
                  <a:ext uri="{FF2B5EF4-FFF2-40B4-BE49-F238E27FC236}">
                    <a16:creationId xmlns:a16="http://schemas.microsoft.com/office/drawing/2014/main" id="{A72C9E36-B70B-46C9-997A-F4D7C97AA8D8}"/>
                  </a:ext>
                </a:extLst>
              </p:cNvPr>
              <p:cNvSpPr>
                <a:spLocks noGrp="1" noRot="1" noChangeAspect="1" noMove="1" noResize="1" noEditPoints="1" noAdjustHandles="1" noChangeArrowheads="1" noChangeShapeType="1" noTextEdit="1"/>
              </p:cNvSpPr>
              <p:nvPr>
                <p:ph type="body" sz="half" idx="4294967295"/>
              </p:nvPr>
            </p:nvSpPr>
            <p:spPr>
              <a:xfrm>
                <a:off x="838199" y="887506"/>
                <a:ext cx="10403541" cy="4981482"/>
              </a:xfrm>
              <a:blipFill>
                <a:blip r:embed="rId2"/>
                <a:stretch>
                  <a:fillRect l="-586"/>
                </a:stretch>
              </a:blipFill>
            </p:spPr>
            <p:txBody>
              <a:bodyPr/>
              <a:lstStyle/>
              <a:p>
                <a:r>
                  <a:rPr lang="en-IN">
                    <a:noFill/>
                  </a:rPr>
                  <a:t> </a:t>
                </a:r>
              </a:p>
            </p:txBody>
          </p:sp>
        </mc:Fallback>
      </mc:AlternateContent>
      <p:pic>
        <p:nvPicPr>
          <p:cNvPr id="5" name="Picture 4">
            <a:extLst>
              <a:ext uri="{FF2B5EF4-FFF2-40B4-BE49-F238E27FC236}">
                <a16:creationId xmlns:a16="http://schemas.microsoft.com/office/drawing/2014/main" id="{1A8F9582-68CE-431C-8B72-88E14F073978}"/>
              </a:ext>
            </a:extLst>
          </p:cNvPr>
          <p:cNvPicPr>
            <a:picLocks noChangeAspect="1"/>
          </p:cNvPicPr>
          <p:nvPr/>
        </p:nvPicPr>
        <p:blipFill>
          <a:blip r:embed="rId3"/>
          <a:stretch>
            <a:fillRect/>
          </a:stretch>
        </p:blipFill>
        <p:spPr>
          <a:xfrm>
            <a:off x="11027635" y="51275"/>
            <a:ext cx="966091" cy="746583"/>
          </a:xfrm>
          <a:prstGeom prst="rect">
            <a:avLst/>
          </a:prstGeom>
        </p:spPr>
      </p:pic>
      <p:sp>
        <p:nvSpPr>
          <p:cNvPr id="2" name="Slide Number Placeholder 1">
            <a:extLst>
              <a:ext uri="{FF2B5EF4-FFF2-40B4-BE49-F238E27FC236}">
                <a16:creationId xmlns:a16="http://schemas.microsoft.com/office/drawing/2014/main" id="{3EEE3E35-0D13-469A-9E0F-622ACCC7CC9A}"/>
              </a:ext>
            </a:extLst>
          </p:cNvPr>
          <p:cNvSpPr>
            <a:spLocks noGrp="1"/>
          </p:cNvSpPr>
          <p:nvPr>
            <p:ph type="sldNum" sz="quarter" idx="12"/>
          </p:nvPr>
        </p:nvSpPr>
        <p:spPr/>
        <p:txBody>
          <a:bodyPr/>
          <a:lstStyle/>
          <a:p>
            <a:fld id="{B7991F04-3566-4BB1-A8CB-A35BE8E11603}" type="slidenum">
              <a:rPr lang="en-IN" smtClean="0"/>
              <a:t>41</a:t>
            </a:fld>
            <a:endParaRPr lang="en-IN"/>
          </a:p>
        </p:txBody>
      </p:sp>
    </p:spTree>
    <p:extLst>
      <p:ext uri="{BB962C8B-B14F-4D97-AF65-F5344CB8AC3E}">
        <p14:creationId xmlns:p14="http://schemas.microsoft.com/office/powerpoint/2010/main" val="384852031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750F95C-005F-42A1-AD9B-6631B5ED5937}"/>
              </a:ext>
            </a:extLst>
          </p:cNvPr>
          <p:cNvSpPr>
            <a:spLocks noGrp="1"/>
          </p:cNvSpPr>
          <p:nvPr>
            <p:ph type="title"/>
          </p:nvPr>
        </p:nvSpPr>
        <p:spPr>
          <a:xfrm>
            <a:off x="748553" y="153146"/>
            <a:ext cx="10123235" cy="533867"/>
          </a:xfrm>
          <a:prstGeom prst="rect">
            <a:avLst/>
          </a:prstGeom>
          <a:solidFill>
            <a:schemeClr val="tx2">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r>
              <a:rPr lang="en-IN" sz="2400" dirty="0">
                <a:solidFill>
                  <a:schemeClr val="accent1"/>
                </a:solidFill>
                <a:latin typeface="Arial" panose="020B0604020202020204" pitchFamily="34" charset="0"/>
                <a:cs typeface="Arial" panose="020B0604020202020204" pitchFamily="34" charset="0"/>
              </a:rPr>
              <a:t>Key Characteristics of IRR</a:t>
            </a:r>
          </a:p>
        </p:txBody>
      </p:sp>
      <p:sp>
        <p:nvSpPr>
          <p:cNvPr id="3" name="Content Placeholder 2">
            <a:extLst>
              <a:ext uri="{FF2B5EF4-FFF2-40B4-BE49-F238E27FC236}">
                <a16:creationId xmlns:a16="http://schemas.microsoft.com/office/drawing/2014/main" id="{A72C9E36-B70B-46C9-997A-F4D7C97AA8D8}"/>
              </a:ext>
            </a:extLst>
          </p:cNvPr>
          <p:cNvSpPr>
            <a:spLocks noGrp="1"/>
          </p:cNvSpPr>
          <p:nvPr>
            <p:ph type="body" sz="half" idx="4294967295"/>
          </p:nvPr>
        </p:nvSpPr>
        <p:spPr>
          <a:xfrm>
            <a:off x="838199" y="887506"/>
            <a:ext cx="10403541" cy="4981482"/>
          </a:xfrm>
        </p:spPr>
        <p:txBody>
          <a:bodyPr>
            <a:normAutofit/>
          </a:bodyPr>
          <a:lstStyle/>
          <a:p>
            <a:pPr>
              <a:lnSpc>
                <a:spcPct val="200000"/>
              </a:lnSpc>
              <a:buFont typeface="Arial" panose="020B0604020202020204" pitchFamily="34" charset="0"/>
              <a:buChar char="•"/>
            </a:pPr>
            <a:r>
              <a:rPr lang="en-US" sz="2000" dirty="0">
                <a:latin typeface="Arial" panose="020B0604020202020204" pitchFamily="34" charset="0"/>
                <a:cs typeface="Arial" panose="020B0604020202020204" pitchFamily="34" charset="0"/>
              </a:rPr>
              <a:t>IRR is expressed as a percentage (%).</a:t>
            </a:r>
          </a:p>
          <a:p>
            <a:pPr>
              <a:lnSpc>
                <a:spcPct val="200000"/>
              </a:lnSpc>
              <a:buFont typeface="Arial" panose="020B0604020202020204" pitchFamily="34" charset="0"/>
              <a:buChar char="•"/>
            </a:pPr>
            <a:r>
              <a:rPr lang="en-US" sz="2000" dirty="0">
                <a:latin typeface="Arial" panose="020B0604020202020204" pitchFamily="34" charset="0"/>
                <a:cs typeface="Arial" panose="020B0604020202020204" pitchFamily="34" charset="0"/>
              </a:rPr>
              <a:t>It represents the annualized rate of return expected from a project.</a:t>
            </a:r>
          </a:p>
          <a:p>
            <a:pPr>
              <a:lnSpc>
                <a:spcPct val="200000"/>
              </a:lnSpc>
              <a:buFont typeface="Arial" panose="020B0604020202020204" pitchFamily="34" charset="0"/>
              <a:buChar char="•"/>
            </a:pPr>
            <a:r>
              <a:rPr lang="en-US" sz="2000" dirty="0">
                <a:latin typeface="Arial" panose="020B0604020202020204" pitchFamily="34" charset="0"/>
                <a:cs typeface="Arial" panose="020B0604020202020204" pitchFamily="34" charset="0"/>
              </a:rPr>
              <a:t>It is the breakeven discount rate — where investment equals return.</a:t>
            </a:r>
          </a:p>
          <a:p>
            <a:pPr>
              <a:lnSpc>
                <a:spcPct val="200000"/>
              </a:lnSpc>
            </a:pPr>
            <a:endParaRPr lang="en-US" sz="2000" dirty="0">
              <a:solidFill>
                <a:schemeClr val="accent1"/>
              </a:solidFill>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1A8F9582-68CE-431C-8B72-88E14F073978}"/>
              </a:ext>
            </a:extLst>
          </p:cNvPr>
          <p:cNvPicPr>
            <a:picLocks noChangeAspect="1"/>
          </p:cNvPicPr>
          <p:nvPr/>
        </p:nvPicPr>
        <p:blipFill>
          <a:blip r:embed="rId2"/>
          <a:stretch>
            <a:fillRect/>
          </a:stretch>
        </p:blipFill>
        <p:spPr>
          <a:xfrm>
            <a:off x="11027635" y="51275"/>
            <a:ext cx="966091" cy="746583"/>
          </a:xfrm>
          <a:prstGeom prst="rect">
            <a:avLst/>
          </a:prstGeom>
        </p:spPr>
      </p:pic>
      <p:sp>
        <p:nvSpPr>
          <p:cNvPr id="2" name="Slide Number Placeholder 1">
            <a:extLst>
              <a:ext uri="{FF2B5EF4-FFF2-40B4-BE49-F238E27FC236}">
                <a16:creationId xmlns:a16="http://schemas.microsoft.com/office/drawing/2014/main" id="{3EEE3E35-0D13-469A-9E0F-622ACCC7CC9A}"/>
              </a:ext>
            </a:extLst>
          </p:cNvPr>
          <p:cNvSpPr>
            <a:spLocks noGrp="1"/>
          </p:cNvSpPr>
          <p:nvPr>
            <p:ph type="sldNum" sz="quarter" idx="12"/>
          </p:nvPr>
        </p:nvSpPr>
        <p:spPr/>
        <p:txBody>
          <a:bodyPr/>
          <a:lstStyle/>
          <a:p>
            <a:fld id="{B7991F04-3566-4BB1-A8CB-A35BE8E11603}" type="slidenum">
              <a:rPr lang="en-IN" smtClean="0"/>
              <a:t>42</a:t>
            </a:fld>
            <a:endParaRPr lang="en-IN"/>
          </a:p>
        </p:txBody>
      </p:sp>
      <p:graphicFrame>
        <p:nvGraphicFramePr>
          <p:cNvPr id="6" name="Table 5">
            <a:extLst>
              <a:ext uri="{FF2B5EF4-FFF2-40B4-BE49-F238E27FC236}">
                <a16:creationId xmlns:a16="http://schemas.microsoft.com/office/drawing/2014/main" id="{731B7AD4-130E-45D5-80CF-AA2D5EF2A8C0}"/>
              </a:ext>
            </a:extLst>
          </p:cNvPr>
          <p:cNvGraphicFramePr>
            <a:graphicFrameLocks noGrp="1"/>
          </p:cNvGraphicFramePr>
          <p:nvPr>
            <p:extLst>
              <p:ext uri="{D42A27DB-BD31-4B8C-83A1-F6EECF244321}">
                <p14:modId xmlns:p14="http://schemas.microsoft.com/office/powerpoint/2010/main" val="3342281001"/>
              </p:ext>
            </p:extLst>
          </p:nvPr>
        </p:nvGraphicFramePr>
        <p:xfrm>
          <a:off x="1425388" y="3269772"/>
          <a:ext cx="8489577" cy="2700724"/>
        </p:xfrm>
        <a:graphic>
          <a:graphicData uri="http://schemas.openxmlformats.org/drawingml/2006/table">
            <a:tbl>
              <a:tblPr/>
              <a:tblGrid>
                <a:gridCol w="4250210">
                  <a:extLst>
                    <a:ext uri="{9D8B030D-6E8A-4147-A177-3AD203B41FA5}">
                      <a16:colId xmlns:a16="http://schemas.microsoft.com/office/drawing/2014/main" val="1987281889"/>
                    </a:ext>
                  </a:extLst>
                </a:gridCol>
                <a:gridCol w="4239367">
                  <a:extLst>
                    <a:ext uri="{9D8B030D-6E8A-4147-A177-3AD203B41FA5}">
                      <a16:colId xmlns:a16="http://schemas.microsoft.com/office/drawing/2014/main" val="3148137198"/>
                    </a:ext>
                  </a:extLst>
                </a:gridCol>
              </a:tblGrid>
              <a:tr h="675181">
                <a:tc>
                  <a:txBody>
                    <a:bodyPr/>
                    <a:lstStyle/>
                    <a:p>
                      <a:r>
                        <a:rPr lang="en-US" dirty="0">
                          <a:solidFill>
                            <a:schemeClr val="accent1"/>
                          </a:solidFill>
                          <a:latin typeface="Arial" panose="020B0604020202020204" pitchFamily="34" charset="0"/>
                          <a:cs typeface="Arial" panose="020B0604020202020204" pitchFamily="34" charset="0"/>
                        </a:rPr>
                        <a:t>IRR vs Cost of Capital (r)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solidFill>
                            <a:schemeClr val="accent1"/>
                          </a:solidFill>
                          <a:latin typeface="Arial" panose="020B0604020202020204" pitchFamily="34" charset="0"/>
                          <a:cs typeface="Arial" panose="020B0604020202020204" pitchFamily="34" charset="0"/>
                        </a:rPr>
                        <a:t>Decision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5835170"/>
                  </a:ext>
                </a:extLst>
              </a:tr>
              <a:tr h="675181">
                <a:tc>
                  <a:txBody>
                    <a:bodyPr/>
                    <a:lstStyle/>
                    <a:p>
                      <a:r>
                        <a:rPr lang="en-IN" dirty="0">
                          <a:latin typeface="Arial" panose="020B0604020202020204" pitchFamily="34" charset="0"/>
                          <a:cs typeface="Arial" panose="020B0604020202020204" pitchFamily="34" charset="0"/>
                        </a:rPr>
                        <a:t>IRR &gt; 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latin typeface="Arial" panose="020B0604020202020204" pitchFamily="34" charset="0"/>
                          <a:cs typeface="Arial" panose="020B0604020202020204" pitchFamily="34" charset="0"/>
                        </a:rPr>
                        <a:t>Accept the project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06889955"/>
                  </a:ext>
                </a:extLst>
              </a:tr>
              <a:tr h="675181">
                <a:tc>
                  <a:txBody>
                    <a:bodyPr/>
                    <a:lstStyle/>
                    <a:p>
                      <a:r>
                        <a:rPr lang="en-IN" dirty="0">
                          <a:latin typeface="Arial" panose="020B0604020202020204" pitchFamily="34" charset="0"/>
                          <a:cs typeface="Arial" panose="020B0604020202020204" pitchFamily="34" charset="0"/>
                        </a:rPr>
                        <a:t>IRR &lt; 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latin typeface="Arial" panose="020B0604020202020204" pitchFamily="34" charset="0"/>
                          <a:cs typeface="Arial" panose="020B0604020202020204" pitchFamily="34" charset="0"/>
                        </a:rPr>
                        <a:t>Reject the project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76537436"/>
                  </a:ext>
                </a:extLst>
              </a:tr>
              <a:tr h="675181">
                <a:tc>
                  <a:txBody>
                    <a:bodyPr/>
                    <a:lstStyle/>
                    <a:p>
                      <a:r>
                        <a:rPr lang="en-IN">
                          <a:latin typeface="Arial" panose="020B0604020202020204" pitchFamily="34" charset="0"/>
                          <a:cs typeface="Arial" panose="020B0604020202020204" pitchFamily="34" charset="0"/>
                        </a:rPr>
                        <a:t>IRR = 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latin typeface="Arial" panose="020B0604020202020204" pitchFamily="34" charset="0"/>
                          <a:cs typeface="Arial" panose="020B0604020202020204" pitchFamily="34" charset="0"/>
                        </a:rPr>
                        <a:t>Indifferent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96164993"/>
                  </a:ext>
                </a:extLst>
              </a:tr>
            </a:tbl>
          </a:graphicData>
        </a:graphic>
      </p:graphicFrame>
    </p:spTree>
    <p:extLst>
      <p:ext uri="{BB962C8B-B14F-4D97-AF65-F5344CB8AC3E}">
        <p14:creationId xmlns:p14="http://schemas.microsoft.com/office/powerpoint/2010/main" val="293943400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750F95C-005F-42A1-AD9B-6631B5ED5937}"/>
              </a:ext>
            </a:extLst>
          </p:cNvPr>
          <p:cNvSpPr>
            <a:spLocks noGrp="1"/>
          </p:cNvSpPr>
          <p:nvPr>
            <p:ph type="title"/>
          </p:nvPr>
        </p:nvSpPr>
        <p:spPr>
          <a:xfrm>
            <a:off x="748553" y="153146"/>
            <a:ext cx="10123235" cy="533867"/>
          </a:xfrm>
          <a:prstGeom prst="rect">
            <a:avLst/>
          </a:prstGeom>
          <a:solidFill>
            <a:schemeClr val="tx2">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r>
              <a:rPr lang="en-IN" sz="2400" dirty="0">
                <a:solidFill>
                  <a:schemeClr val="accent1"/>
                </a:solidFill>
                <a:latin typeface="Arial" panose="020B0604020202020204" pitchFamily="34" charset="0"/>
                <a:cs typeface="Arial" panose="020B0604020202020204" pitchFamily="34" charset="0"/>
              </a:rPr>
              <a:t>How to Calculate IRR</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72C9E36-B70B-46C9-997A-F4D7C97AA8D8}"/>
                  </a:ext>
                </a:extLst>
              </p:cNvPr>
              <p:cNvSpPr>
                <a:spLocks noGrp="1"/>
              </p:cNvSpPr>
              <p:nvPr>
                <p:ph type="body" sz="half" idx="4294967295"/>
              </p:nvPr>
            </p:nvSpPr>
            <p:spPr>
              <a:xfrm>
                <a:off x="838199" y="887506"/>
                <a:ext cx="10403541" cy="4981482"/>
              </a:xfrm>
            </p:spPr>
            <p:txBody>
              <a:bodyPr>
                <a:normAutofit fontScale="92500" lnSpcReduction="10000"/>
              </a:bodyPr>
              <a:lstStyle/>
              <a:p>
                <a:pPr marL="0" indent="0">
                  <a:lnSpc>
                    <a:spcPct val="150000"/>
                  </a:lnSpc>
                  <a:buNone/>
                </a:pPr>
                <a:r>
                  <a:rPr lang="en-US" sz="2000" dirty="0">
                    <a:solidFill>
                      <a:schemeClr val="accent1"/>
                    </a:solidFill>
                    <a:latin typeface="Arial" panose="020B0604020202020204" pitchFamily="34" charset="0"/>
                    <a:cs typeface="Arial" panose="020B0604020202020204" pitchFamily="34" charset="0"/>
                  </a:rPr>
                  <a:t>Question:</a:t>
                </a:r>
              </a:p>
              <a:p>
                <a:pPr>
                  <a:lnSpc>
                    <a:spcPct val="150000"/>
                  </a:lnSpc>
                </a:pPr>
                <a:r>
                  <a:rPr lang="en-US" sz="2000" dirty="0">
                    <a:latin typeface="Arial" panose="020B0604020202020204" pitchFamily="34" charset="0"/>
                    <a:cs typeface="Arial" panose="020B0604020202020204" pitchFamily="34" charset="0"/>
                  </a:rPr>
                  <a:t>Invest</a:t>
                </a:r>
                <a:r>
                  <a:rPr lang="en-IN" sz="2000" b="0" i="0" dirty="0">
                    <a:solidFill>
                      <a:srgbClr val="474747"/>
                    </a:solidFill>
                    <a:effectLst/>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 8,000 now. Receive</a:t>
                </a:r>
                <a:r>
                  <a:rPr lang="en-IN" sz="2000" b="0" i="0" dirty="0">
                    <a:solidFill>
                      <a:srgbClr val="474747"/>
                    </a:solidFill>
                    <a:effectLst/>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 3,000 each year for 3 years. Find IRR.</a:t>
                </a:r>
              </a:p>
              <a:p>
                <a:pPr marL="0" indent="0">
                  <a:lnSpc>
                    <a:spcPct val="150000"/>
                  </a:lnSpc>
                  <a:buNone/>
                </a:pPr>
                <a:r>
                  <a:rPr lang="en-US" sz="2000" dirty="0">
                    <a:solidFill>
                      <a:schemeClr val="accent1"/>
                    </a:solidFill>
                    <a:latin typeface="Arial" panose="020B0604020202020204" pitchFamily="34" charset="0"/>
                    <a:cs typeface="Arial" panose="020B0604020202020204" pitchFamily="34" charset="0"/>
                  </a:rPr>
                  <a:t>Answer: </a:t>
                </a:r>
              </a:p>
              <a:p>
                <a:pPr>
                  <a:lnSpc>
                    <a:spcPct val="150000"/>
                  </a:lnSpc>
                </a:pPr>
                <a:r>
                  <a:rPr lang="en-US" sz="2000" dirty="0">
                    <a:latin typeface="Arial" panose="020B0604020202020204" pitchFamily="34" charset="0"/>
                    <a:cs typeface="Arial" panose="020B0604020202020204" pitchFamily="34" charset="0"/>
                  </a:rPr>
                  <a:t>Step 1: Use IRR formula:</a:t>
                </a:r>
              </a:p>
              <a:p>
                <a:pPr marL="0" indent="0">
                  <a:lnSpc>
                    <a:spcPct val="150000"/>
                  </a:lnSpc>
                  <a:buNone/>
                </a:pPr>
                <a:r>
                  <a:rPr lang="en-US" sz="2000" dirty="0">
                    <a:latin typeface="Arial" panose="020B0604020202020204" pitchFamily="34" charset="0"/>
                    <a:cs typeface="Arial" panose="020B0604020202020204" pitchFamily="34" charset="0"/>
                  </a:rPr>
                  <a:t>= -</a:t>
                </a:r>
                <a:r>
                  <a:rPr lang="en-US" sz="2400" dirty="0">
                    <a:latin typeface="Cambria Math" panose="02040503050406030204" pitchFamily="18" charset="0"/>
                    <a:ea typeface="Cambria Math" panose="02040503050406030204" pitchFamily="18" charset="0"/>
                    <a:cs typeface="Arial" panose="020B0604020202020204" pitchFamily="34" charset="0"/>
                  </a:rPr>
                  <a:t>8,000+  </a:t>
                </a:r>
                <a14:m>
                  <m:oMath xmlns:m="http://schemas.openxmlformats.org/officeDocument/2006/math">
                    <m:f>
                      <m:fPr>
                        <m:ctrlPr>
                          <a:rPr lang="en-US" sz="2400" i="1" smtClean="0">
                            <a:latin typeface="Cambria Math" panose="02040503050406030204" pitchFamily="18" charset="0"/>
                            <a:ea typeface="Cambria Math" panose="02040503050406030204" pitchFamily="18" charset="0"/>
                            <a:cs typeface="Arial" panose="020B0604020202020204" pitchFamily="34" charset="0"/>
                          </a:rPr>
                        </m:ctrlPr>
                      </m:fPr>
                      <m:num>
                        <m:r>
                          <a:rPr lang="en-US" sz="2400" b="0" i="1" smtClean="0">
                            <a:latin typeface="Cambria Math" panose="02040503050406030204" pitchFamily="18" charset="0"/>
                            <a:ea typeface="Cambria Math" panose="02040503050406030204" pitchFamily="18" charset="0"/>
                            <a:cs typeface="Arial" panose="020B0604020202020204" pitchFamily="34" charset="0"/>
                          </a:rPr>
                          <m:t>3000</m:t>
                        </m:r>
                      </m:num>
                      <m:den>
                        <m:r>
                          <a:rPr lang="en-US" sz="2400" b="0" i="1" smtClean="0">
                            <a:latin typeface="Cambria Math" panose="02040503050406030204" pitchFamily="18" charset="0"/>
                            <a:ea typeface="Cambria Math" panose="02040503050406030204" pitchFamily="18" charset="0"/>
                            <a:cs typeface="Arial" panose="020B0604020202020204" pitchFamily="34" charset="0"/>
                          </a:rPr>
                          <m:t>(1+</m:t>
                        </m:r>
                        <m:r>
                          <a:rPr lang="en-US" sz="2400" b="0" i="1" smtClean="0">
                            <a:latin typeface="Cambria Math" panose="02040503050406030204" pitchFamily="18" charset="0"/>
                            <a:ea typeface="Cambria Math" panose="02040503050406030204" pitchFamily="18" charset="0"/>
                            <a:cs typeface="Arial" panose="020B0604020202020204" pitchFamily="34" charset="0"/>
                          </a:rPr>
                          <m:t>𝑟</m:t>
                        </m:r>
                        <m:r>
                          <a:rPr lang="en-US" sz="2400" b="0" i="1" smtClean="0">
                            <a:latin typeface="Cambria Math" panose="02040503050406030204" pitchFamily="18" charset="0"/>
                            <a:ea typeface="Cambria Math" panose="02040503050406030204" pitchFamily="18" charset="0"/>
                            <a:cs typeface="Arial" panose="020B0604020202020204" pitchFamily="34" charset="0"/>
                          </a:rPr>
                          <m:t>)</m:t>
                        </m:r>
                      </m:den>
                    </m:f>
                  </m:oMath>
                </a14:m>
                <a:r>
                  <a:rPr lang="en-US" sz="2400" dirty="0">
                    <a:latin typeface="Cambria Math" panose="02040503050406030204" pitchFamily="18" charset="0"/>
                    <a:ea typeface="Cambria Math" panose="02040503050406030204" pitchFamily="18" charset="0"/>
                    <a:cs typeface="Arial" panose="020B0604020202020204" pitchFamily="34" charset="0"/>
                  </a:rPr>
                  <a:t>+ </a:t>
                </a:r>
                <a14:m>
                  <m:oMath xmlns:m="http://schemas.openxmlformats.org/officeDocument/2006/math">
                    <m:f>
                      <m:fPr>
                        <m:ctrlPr>
                          <a:rPr lang="en-US" sz="2400" i="1">
                            <a:latin typeface="Cambria Math" panose="02040503050406030204" pitchFamily="18" charset="0"/>
                            <a:ea typeface="Cambria Math" panose="02040503050406030204" pitchFamily="18" charset="0"/>
                            <a:cs typeface="Arial" panose="020B0604020202020204" pitchFamily="34" charset="0"/>
                          </a:rPr>
                        </m:ctrlPr>
                      </m:fPr>
                      <m:num>
                        <m:r>
                          <a:rPr lang="en-US" sz="2400" i="1">
                            <a:latin typeface="Cambria Math" panose="02040503050406030204" pitchFamily="18" charset="0"/>
                            <a:ea typeface="Cambria Math" panose="02040503050406030204" pitchFamily="18" charset="0"/>
                            <a:cs typeface="Arial" panose="020B0604020202020204" pitchFamily="34" charset="0"/>
                          </a:rPr>
                          <m:t>3000</m:t>
                        </m:r>
                      </m:num>
                      <m:den>
                        <m:sSup>
                          <m:sSupPr>
                            <m:ctrlPr>
                              <a:rPr lang="pt-BR" sz="2400" i="1">
                                <a:latin typeface="Cambria Math" panose="02040503050406030204" pitchFamily="18" charset="0"/>
                                <a:ea typeface="Cambria Math" panose="02040503050406030204" pitchFamily="18" charset="0"/>
                                <a:cs typeface="Arial" panose="020B0604020202020204" pitchFamily="34" charset="0"/>
                              </a:rPr>
                            </m:ctrlPr>
                          </m:sSupPr>
                          <m:e>
                            <m:d>
                              <m:dPr>
                                <m:ctrlPr>
                                  <a:rPr lang="pt-BR" sz="2400" i="1">
                                    <a:latin typeface="Cambria Math" panose="02040503050406030204" pitchFamily="18" charset="0"/>
                                    <a:ea typeface="Cambria Math" panose="02040503050406030204" pitchFamily="18" charset="0"/>
                                    <a:cs typeface="Arial" panose="020B0604020202020204" pitchFamily="34" charset="0"/>
                                  </a:rPr>
                                </m:ctrlPr>
                              </m:dPr>
                              <m:e>
                                <m:r>
                                  <a:rPr lang="en-US" sz="2400" i="1">
                                    <a:latin typeface="Cambria Math" panose="02040503050406030204" pitchFamily="18" charset="0"/>
                                    <a:ea typeface="Cambria Math" panose="02040503050406030204" pitchFamily="18" charset="0"/>
                                    <a:cs typeface="Arial" panose="020B0604020202020204" pitchFamily="34" charset="0"/>
                                  </a:rPr>
                                  <m:t>1</m:t>
                                </m:r>
                                <m:r>
                                  <a:rPr lang="pt-BR" sz="2400" i="1">
                                    <a:latin typeface="Cambria Math" panose="02040503050406030204" pitchFamily="18" charset="0"/>
                                    <a:ea typeface="Cambria Math" panose="02040503050406030204" pitchFamily="18" charset="0"/>
                                    <a:cs typeface="Arial" panose="020B0604020202020204" pitchFamily="34" charset="0"/>
                                  </a:rPr>
                                  <m:t>+</m:t>
                                </m:r>
                                <m:r>
                                  <a:rPr lang="en-US" sz="2400" i="1">
                                    <a:latin typeface="Cambria Math" panose="02040503050406030204" pitchFamily="18" charset="0"/>
                                    <a:ea typeface="Cambria Math" panose="02040503050406030204" pitchFamily="18" charset="0"/>
                                    <a:cs typeface="Arial" panose="020B0604020202020204" pitchFamily="34" charset="0"/>
                                  </a:rPr>
                                  <m:t>𝑟</m:t>
                                </m:r>
                              </m:e>
                            </m:d>
                          </m:e>
                          <m:sup>
                            <m:r>
                              <a:rPr lang="en-US" sz="2400" b="0" i="1" smtClean="0">
                                <a:latin typeface="Cambria Math" panose="02040503050406030204" pitchFamily="18" charset="0"/>
                                <a:ea typeface="Cambria Math" panose="02040503050406030204" pitchFamily="18" charset="0"/>
                                <a:cs typeface="Arial" panose="020B0604020202020204" pitchFamily="34" charset="0"/>
                              </a:rPr>
                              <m:t>1</m:t>
                            </m:r>
                          </m:sup>
                        </m:sSup>
                      </m:den>
                    </m:f>
                    <m:r>
                      <a:rPr lang="en-US" sz="2400" b="0" i="1" smtClean="0">
                        <a:latin typeface="Cambria Math" panose="02040503050406030204" pitchFamily="18" charset="0"/>
                        <a:ea typeface="Cambria Math" panose="02040503050406030204" pitchFamily="18" charset="0"/>
                        <a:cs typeface="Arial" panose="020B0604020202020204" pitchFamily="34" charset="0"/>
                      </a:rPr>
                      <m:t>+</m:t>
                    </m:r>
                    <m:f>
                      <m:fPr>
                        <m:ctrlPr>
                          <a:rPr lang="en-US" sz="2400" i="1">
                            <a:latin typeface="Cambria Math" panose="02040503050406030204" pitchFamily="18" charset="0"/>
                            <a:ea typeface="Cambria Math" panose="02040503050406030204" pitchFamily="18" charset="0"/>
                            <a:cs typeface="Arial" panose="020B0604020202020204" pitchFamily="34" charset="0"/>
                          </a:rPr>
                        </m:ctrlPr>
                      </m:fPr>
                      <m:num>
                        <m:r>
                          <a:rPr lang="en-US" sz="2400" i="1">
                            <a:latin typeface="Cambria Math" panose="02040503050406030204" pitchFamily="18" charset="0"/>
                            <a:ea typeface="Cambria Math" panose="02040503050406030204" pitchFamily="18" charset="0"/>
                            <a:cs typeface="Arial" panose="020B0604020202020204" pitchFamily="34" charset="0"/>
                          </a:rPr>
                          <m:t>3000</m:t>
                        </m:r>
                      </m:num>
                      <m:den>
                        <m:sSup>
                          <m:sSupPr>
                            <m:ctrlPr>
                              <a:rPr lang="pt-BR" sz="2400" i="1">
                                <a:latin typeface="Cambria Math" panose="02040503050406030204" pitchFamily="18" charset="0"/>
                                <a:ea typeface="Cambria Math" panose="02040503050406030204" pitchFamily="18" charset="0"/>
                                <a:cs typeface="Arial" panose="020B0604020202020204" pitchFamily="34" charset="0"/>
                              </a:rPr>
                            </m:ctrlPr>
                          </m:sSupPr>
                          <m:e>
                            <m:d>
                              <m:dPr>
                                <m:ctrlPr>
                                  <a:rPr lang="pt-BR" sz="2400" i="1">
                                    <a:latin typeface="Cambria Math" panose="02040503050406030204" pitchFamily="18" charset="0"/>
                                    <a:ea typeface="Cambria Math" panose="02040503050406030204" pitchFamily="18" charset="0"/>
                                    <a:cs typeface="Arial" panose="020B0604020202020204" pitchFamily="34" charset="0"/>
                                  </a:rPr>
                                </m:ctrlPr>
                              </m:dPr>
                              <m:e>
                                <m:r>
                                  <a:rPr lang="en-US" sz="2400" i="1">
                                    <a:latin typeface="Cambria Math" panose="02040503050406030204" pitchFamily="18" charset="0"/>
                                    <a:ea typeface="Cambria Math" panose="02040503050406030204" pitchFamily="18" charset="0"/>
                                    <a:cs typeface="Arial" panose="020B0604020202020204" pitchFamily="34" charset="0"/>
                                  </a:rPr>
                                  <m:t>1</m:t>
                                </m:r>
                                <m:r>
                                  <a:rPr lang="pt-BR" sz="2400" i="1">
                                    <a:latin typeface="Cambria Math" panose="02040503050406030204" pitchFamily="18" charset="0"/>
                                    <a:ea typeface="Cambria Math" panose="02040503050406030204" pitchFamily="18" charset="0"/>
                                    <a:cs typeface="Arial" panose="020B0604020202020204" pitchFamily="34" charset="0"/>
                                  </a:rPr>
                                  <m:t>+</m:t>
                                </m:r>
                                <m:r>
                                  <a:rPr lang="en-US" sz="2400" i="1">
                                    <a:latin typeface="Cambria Math" panose="02040503050406030204" pitchFamily="18" charset="0"/>
                                    <a:ea typeface="Cambria Math" panose="02040503050406030204" pitchFamily="18" charset="0"/>
                                    <a:cs typeface="Arial" panose="020B0604020202020204" pitchFamily="34" charset="0"/>
                                  </a:rPr>
                                  <m:t>𝑟</m:t>
                                </m:r>
                              </m:e>
                            </m:d>
                          </m:e>
                          <m:sup>
                            <m:r>
                              <a:rPr lang="en-US" sz="2400" b="0" i="1" smtClean="0">
                                <a:latin typeface="Cambria Math" panose="02040503050406030204" pitchFamily="18" charset="0"/>
                                <a:ea typeface="Cambria Math" panose="02040503050406030204" pitchFamily="18" charset="0"/>
                                <a:cs typeface="Arial" panose="020B0604020202020204" pitchFamily="34" charset="0"/>
                              </a:rPr>
                              <m:t>3</m:t>
                            </m:r>
                          </m:sup>
                        </m:sSup>
                      </m:den>
                    </m:f>
                  </m:oMath>
                </a14:m>
                <a:endParaRPr lang="en-US" sz="2400" dirty="0">
                  <a:latin typeface="Cambria Math" panose="02040503050406030204" pitchFamily="18" charset="0"/>
                  <a:ea typeface="Cambria Math" panose="02040503050406030204" pitchFamily="18" charset="0"/>
                  <a:cs typeface="Arial" panose="020B0604020202020204" pitchFamily="34" charset="0"/>
                </a:endParaRPr>
              </a:p>
              <a:p>
                <a:pPr>
                  <a:lnSpc>
                    <a:spcPct val="150000"/>
                  </a:lnSpc>
                </a:pPr>
                <a:r>
                  <a:rPr lang="en-US" sz="2000" dirty="0">
                    <a:latin typeface="Arial" panose="020B0604020202020204" pitchFamily="34" charset="0"/>
                    <a:cs typeface="Arial" panose="020B0604020202020204" pitchFamily="34" charset="0"/>
                  </a:rPr>
                  <a:t>Step 2: Trial with 6%:</a:t>
                </a:r>
              </a:p>
              <a:p>
                <a:pPr marL="0" indent="0">
                  <a:lnSpc>
                    <a:spcPct val="150000"/>
                  </a:lnSpc>
                  <a:buNone/>
                </a:pPr>
                <a:r>
                  <a:rPr lang="en-US" sz="2000" dirty="0">
                    <a:latin typeface="Arial" panose="020B0604020202020204" pitchFamily="34" charset="0"/>
                    <a:cs typeface="Arial" panose="020B0604020202020204" pitchFamily="34" charset="0"/>
                  </a:rPr>
                  <a:t>         NPV = -8,000 </a:t>
                </a:r>
                <a:r>
                  <a:rPr lang="en-US" sz="2000" dirty="0">
                    <a:latin typeface="Arial" panose="020B0604020202020204" pitchFamily="34" charset="0"/>
                    <a:ea typeface="Cambria Math" panose="02040503050406030204" pitchFamily="18" charset="0"/>
                    <a:cs typeface="Arial" panose="020B0604020202020204" pitchFamily="34" charset="0"/>
                  </a:rPr>
                  <a:t> +</a:t>
                </a:r>
                <a:r>
                  <a:rPr lang="en-US" sz="2000" dirty="0">
                    <a:ea typeface="Cambria Math" panose="02040503050406030204" pitchFamily="18" charset="0"/>
                    <a:cs typeface="Arial" panose="020B0604020202020204" pitchFamily="34" charset="0"/>
                  </a:rPr>
                  <a:t> </a:t>
                </a:r>
                <a14:m>
                  <m:oMath xmlns:m="http://schemas.openxmlformats.org/officeDocument/2006/math">
                    <m:f>
                      <m:fPr>
                        <m:ctrlPr>
                          <a:rPr lang="en-US" sz="2000" i="1">
                            <a:latin typeface="Cambria Math" panose="02040503050406030204" pitchFamily="18" charset="0"/>
                            <a:ea typeface="Cambria Math" panose="02040503050406030204" pitchFamily="18" charset="0"/>
                            <a:cs typeface="Arial" panose="020B0604020202020204" pitchFamily="34" charset="0"/>
                          </a:rPr>
                        </m:ctrlPr>
                      </m:fPr>
                      <m:num>
                        <m:r>
                          <a:rPr lang="en-US" sz="2000" i="1">
                            <a:latin typeface="Cambria Math" panose="02040503050406030204" pitchFamily="18" charset="0"/>
                            <a:ea typeface="Cambria Math" panose="02040503050406030204" pitchFamily="18" charset="0"/>
                            <a:cs typeface="Arial" panose="020B0604020202020204" pitchFamily="34" charset="0"/>
                          </a:rPr>
                          <m:t>3000</m:t>
                        </m:r>
                      </m:num>
                      <m:den>
                        <m:r>
                          <a:rPr lang="en-US" sz="2000" b="0" i="1" smtClean="0">
                            <a:latin typeface="Cambria Math" panose="02040503050406030204" pitchFamily="18" charset="0"/>
                            <a:ea typeface="Cambria Math" panose="02040503050406030204" pitchFamily="18" charset="0"/>
                            <a:cs typeface="Arial" panose="020B0604020202020204" pitchFamily="34" charset="0"/>
                          </a:rPr>
                          <m:t>1.06</m:t>
                        </m:r>
                      </m:den>
                    </m:f>
                  </m:oMath>
                </a14:m>
                <a:r>
                  <a:rPr lang="en-US" sz="2000" dirty="0">
                    <a:latin typeface="Arial" panose="020B0604020202020204" pitchFamily="34" charset="0"/>
                    <a:cs typeface="Arial" panose="020B0604020202020204" pitchFamily="34" charset="0"/>
                  </a:rPr>
                  <a:t> +</a:t>
                </a:r>
                <a:r>
                  <a:rPr lang="en-US" sz="2000" dirty="0">
                    <a:latin typeface="Arial" panose="020B0604020202020204" pitchFamily="34" charset="0"/>
                    <a:ea typeface="Cambria Math" panose="02040503050406030204" pitchFamily="18" charset="0"/>
                    <a:cs typeface="Arial" panose="020B0604020202020204" pitchFamily="34" charset="0"/>
                  </a:rPr>
                  <a:t> </a:t>
                </a:r>
                <a14:m>
                  <m:oMath xmlns:m="http://schemas.openxmlformats.org/officeDocument/2006/math">
                    <m:f>
                      <m:fPr>
                        <m:ctrlPr>
                          <a:rPr lang="en-US" sz="2000" i="1">
                            <a:latin typeface="Cambria Math" panose="02040503050406030204" pitchFamily="18" charset="0"/>
                            <a:ea typeface="Cambria Math" panose="02040503050406030204" pitchFamily="18" charset="0"/>
                            <a:cs typeface="Arial" panose="020B0604020202020204" pitchFamily="34" charset="0"/>
                          </a:rPr>
                        </m:ctrlPr>
                      </m:fPr>
                      <m:num>
                        <m:r>
                          <a:rPr lang="en-US" sz="2000" i="1">
                            <a:latin typeface="Cambria Math" panose="02040503050406030204" pitchFamily="18" charset="0"/>
                            <a:ea typeface="Cambria Math" panose="02040503050406030204" pitchFamily="18" charset="0"/>
                            <a:cs typeface="Arial" panose="020B0604020202020204" pitchFamily="34" charset="0"/>
                          </a:rPr>
                          <m:t>3000</m:t>
                        </m:r>
                      </m:num>
                      <m:den>
                        <m:r>
                          <a:rPr lang="en-US" sz="2000" b="0" i="1" smtClean="0">
                            <a:latin typeface="Cambria Math" panose="02040503050406030204" pitchFamily="18" charset="0"/>
                            <a:ea typeface="Cambria Math" panose="02040503050406030204" pitchFamily="18" charset="0"/>
                            <a:cs typeface="Arial" panose="020B0604020202020204" pitchFamily="34" charset="0"/>
                          </a:rPr>
                          <m:t>1.1236</m:t>
                        </m:r>
                      </m:den>
                    </m:f>
                    <m:r>
                      <a:rPr lang="en-US" sz="2000" b="0" i="1" smtClean="0">
                        <a:latin typeface="Cambria Math" panose="02040503050406030204" pitchFamily="18" charset="0"/>
                        <a:ea typeface="Cambria Math" panose="02040503050406030204" pitchFamily="18" charset="0"/>
                        <a:cs typeface="Arial" panose="020B0604020202020204" pitchFamily="34" charset="0"/>
                      </a:rPr>
                      <m:t>+</m:t>
                    </m:r>
                    <m:f>
                      <m:fPr>
                        <m:ctrlPr>
                          <a:rPr lang="en-US" sz="2000" i="1">
                            <a:latin typeface="Cambria Math" panose="02040503050406030204" pitchFamily="18" charset="0"/>
                            <a:ea typeface="Cambria Math" panose="02040503050406030204" pitchFamily="18" charset="0"/>
                            <a:cs typeface="Arial" panose="020B0604020202020204" pitchFamily="34" charset="0"/>
                          </a:rPr>
                        </m:ctrlPr>
                      </m:fPr>
                      <m:num>
                        <m:r>
                          <a:rPr lang="en-US" sz="2000" i="1">
                            <a:latin typeface="Cambria Math" panose="02040503050406030204" pitchFamily="18" charset="0"/>
                            <a:ea typeface="Cambria Math" panose="02040503050406030204" pitchFamily="18" charset="0"/>
                            <a:cs typeface="Arial" panose="020B0604020202020204" pitchFamily="34" charset="0"/>
                          </a:rPr>
                          <m:t>3000</m:t>
                        </m:r>
                      </m:num>
                      <m:den>
                        <m:r>
                          <a:rPr lang="en-US" sz="2000" b="0" i="1" smtClean="0">
                            <a:latin typeface="Cambria Math" panose="02040503050406030204" pitchFamily="18" charset="0"/>
                            <a:ea typeface="Cambria Math" panose="02040503050406030204" pitchFamily="18" charset="0"/>
                            <a:cs typeface="Arial" panose="020B0604020202020204" pitchFamily="34" charset="0"/>
                          </a:rPr>
                          <m:t>1.1910</m:t>
                        </m:r>
                      </m:den>
                    </m:f>
                  </m:oMath>
                </a14:m>
                <a:endParaRPr lang="en-US" sz="2000" b="0" dirty="0">
                  <a:latin typeface="Arial" panose="020B0604020202020204" pitchFamily="34" charset="0"/>
                  <a:ea typeface="Cambria Math" panose="02040503050406030204" pitchFamily="18" charset="0"/>
                  <a:cs typeface="Arial" panose="020B0604020202020204" pitchFamily="34" charset="0"/>
                </a:endParaRPr>
              </a:p>
              <a:p>
                <a:pPr marL="0" indent="0">
                  <a:lnSpc>
                    <a:spcPct val="150000"/>
                  </a:lnSpc>
                  <a:buNone/>
                </a:pPr>
                <a:r>
                  <a:rPr lang="en-IN" sz="2000" dirty="0">
                    <a:latin typeface="Arial" panose="020B0604020202020204" pitchFamily="34" charset="0"/>
                    <a:cs typeface="Arial" panose="020B0604020202020204" pitchFamily="34" charset="0"/>
                  </a:rPr>
                  <a:t>         NPV &gt; 0 → IRR &gt; 6%</a:t>
                </a:r>
              </a:p>
              <a:p>
                <a:pPr marL="0" indent="0">
                  <a:buNone/>
                </a:pPr>
                <a:endParaRPr lang="en-US" sz="1400" dirty="0"/>
              </a:p>
              <a:p>
                <a:pPr marL="0" indent="0">
                  <a:buNone/>
                </a:pPr>
                <a:endParaRPr lang="en-US" sz="2000" dirty="0">
                  <a:latin typeface="Arial" panose="020B0604020202020204" pitchFamily="34" charset="0"/>
                  <a:cs typeface="Arial" panose="020B0604020202020204" pitchFamily="34" charset="0"/>
                </a:endParaRPr>
              </a:p>
              <a:p>
                <a:pPr>
                  <a:lnSpc>
                    <a:spcPct val="200000"/>
                  </a:lnSpc>
                </a:pPr>
                <a:endParaRPr lang="en-US" sz="2000" dirty="0">
                  <a:solidFill>
                    <a:schemeClr val="accent1"/>
                  </a:solidFill>
                  <a:latin typeface="Arial" panose="020B0604020202020204" pitchFamily="34" charset="0"/>
                  <a:cs typeface="Arial" panose="020B0604020202020204" pitchFamily="34" charset="0"/>
                </a:endParaRPr>
              </a:p>
            </p:txBody>
          </p:sp>
        </mc:Choice>
        <mc:Fallback xmlns="">
          <p:sp>
            <p:nvSpPr>
              <p:cNvPr id="3" name="Content Placeholder 2">
                <a:extLst>
                  <a:ext uri="{FF2B5EF4-FFF2-40B4-BE49-F238E27FC236}">
                    <a16:creationId xmlns:a16="http://schemas.microsoft.com/office/drawing/2014/main" id="{A72C9E36-B70B-46C9-997A-F4D7C97AA8D8}"/>
                  </a:ext>
                </a:extLst>
              </p:cNvPr>
              <p:cNvSpPr>
                <a:spLocks noGrp="1" noRot="1" noChangeAspect="1" noMove="1" noResize="1" noEditPoints="1" noAdjustHandles="1" noChangeArrowheads="1" noChangeShapeType="1" noTextEdit="1"/>
              </p:cNvSpPr>
              <p:nvPr>
                <p:ph type="body" sz="half" idx="4294967295"/>
              </p:nvPr>
            </p:nvSpPr>
            <p:spPr>
              <a:xfrm>
                <a:off x="838199" y="887506"/>
                <a:ext cx="10403541" cy="4981482"/>
              </a:xfrm>
              <a:blipFill>
                <a:blip r:embed="rId2"/>
                <a:stretch>
                  <a:fillRect l="-527"/>
                </a:stretch>
              </a:blipFill>
            </p:spPr>
            <p:txBody>
              <a:bodyPr/>
              <a:lstStyle/>
              <a:p>
                <a:r>
                  <a:rPr lang="en-IN">
                    <a:noFill/>
                  </a:rPr>
                  <a:t> </a:t>
                </a:r>
              </a:p>
            </p:txBody>
          </p:sp>
        </mc:Fallback>
      </mc:AlternateContent>
      <p:pic>
        <p:nvPicPr>
          <p:cNvPr id="5" name="Picture 4">
            <a:extLst>
              <a:ext uri="{FF2B5EF4-FFF2-40B4-BE49-F238E27FC236}">
                <a16:creationId xmlns:a16="http://schemas.microsoft.com/office/drawing/2014/main" id="{1A8F9582-68CE-431C-8B72-88E14F073978}"/>
              </a:ext>
            </a:extLst>
          </p:cNvPr>
          <p:cNvPicPr>
            <a:picLocks noChangeAspect="1"/>
          </p:cNvPicPr>
          <p:nvPr/>
        </p:nvPicPr>
        <p:blipFill>
          <a:blip r:embed="rId3"/>
          <a:stretch>
            <a:fillRect/>
          </a:stretch>
        </p:blipFill>
        <p:spPr>
          <a:xfrm>
            <a:off x="11027635" y="51275"/>
            <a:ext cx="966091" cy="746583"/>
          </a:xfrm>
          <a:prstGeom prst="rect">
            <a:avLst/>
          </a:prstGeom>
        </p:spPr>
      </p:pic>
      <p:sp>
        <p:nvSpPr>
          <p:cNvPr id="2" name="Slide Number Placeholder 1">
            <a:extLst>
              <a:ext uri="{FF2B5EF4-FFF2-40B4-BE49-F238E27FC236}">
                <a16:creationId xmlns:a16="http://schemas.microsoft.com/office/drawing/2014/main" id="{3EEE3E35-0D13-469A-9E0F-622ACCC7CC9A}"/>
              </a:ext>
            </a:extLst>
          </p:cNvPr>
          <p:cNvSpPr>
            <a:spLocks noGrp="1"/>
          </p:cNvSpPr>
          <p:nvPr>
            <p:ph type="sldNum" sz="quarter" idx="12"/>
          </p:nvPr>
        </p:nvSpPr>
        <p:spPr/>
        <p:txBody>
          <a:bodyPr/>
          <a:lstStyle/>
          <a:p>
            <a:fld id="{B7991F04-3566-4BB1-A8CB-A35BE8E11603}" type="slidenum">
              <a:rPr lang="en-IN" smtClean="0"/>
              <a:t>43</a:t>
            </a:fld>
            <a:endParaRPr lang="en-IN"/>
          </a:p>
        </p:txBody>
      </p:sp>
    </p:spTree>
    <p:extLst>
      <p:ext uri="{BB962C8B-B14F-4D97-AF65-F5344CB8AC3E}">
        <p14:creationId xmlns:p14="http://schemas.microsoft.com/office/powerpoint/2010/main" val="131864051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750F95C-005F-42A1-AD9B-6631B5ED5937}"/>
              </a:ext>
            </a:extLst>
          </p:cNvPr>
          <p:cNvSpPr>
            <a:spLocks noGrp="1"/>
          </p:cNvSpPr>
          <p:nvPr>
            <p:ph type="title"/>
          </p:nvPr>
        </p:nvSpPr>
        <p:spPr>
          <a:xfrm>
            <a:off x="748553" y="153146"/>
            <a:ext cx="10123235" cy="533867"/>
          </a:xfrm>
          <a:prstGeom prst="rect">
            <a:avLst/>
          </a:prstGeom>
          <a:solidFill>
            <a:schemeClr val="tx2">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r>
              <a:rPr lang="en-IN" sz="2400" dirty="0">
                <a:solidFill>
                  <a:schemeClr val="accent1"/>
                </a:solidFill>
                <a:latin typeface="Arial" panose="020B0604020202020204" pitchFamily="34" charset="0"/>
                <a:cs typeface="Arial" panose="020B0604020202020204" pitchFamily="34" charset="0"/>
              </a:rPr>
              <a:t>Example: IRR Calculation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72C9E36-B70B-46C9-997A-F4D7C97AA8D8}"/>
                  </a:ext>
                </a:extLst>
              </p:cNvPr>
              <p:cNvSpPr>
                <a:spLocks noGrp="1"/>
              </p:cNvSpPr>
              <p:nvPr>
                <p:ph type="body" sz="half" idx="4294967295"/>
              </p:nvPr>
            </p:nvSpPr>
            <p:spPr>
              <a:xfrm>
                <a:off x="838199" y="887506"/>
                <a:ext cx="10403541" cy="4981482"/>
              </a:xfrm>
            </p:spPr>
            <p:txBody>
              <a:bodyPr>
                <a:normAutofit/>
              </a:bodyPr>
              <a:lstStyle/>
              <a:p>
                <a:pPr>
                  <a:lnSpc>
                    <a:spcPct val="200000"/>
                  </a:lnSpc>
                </a:pPr>
                <a:r>
                  <a:rPr lang="en-US" sz="2000" dirty="0">
                    <a:latin typeface="Arial" panose="020B0604020202020204" pitchFamily="34" charset="0"/>
                    <a:cs typeface="Arial" panose="020B0604020202020204" pitchFamily="34" charset="0"/>
                  </a:rPr>
                  <a:t>Step 3: Trial with 8%:      NPV = -</a:t>
                </a:r>
                <a:r>
                  <a:rPr lang="en-US" sz="2000" dirty="0">
                    <a:latin typeface="Arial" panose="020B0604020202020204" pitchFamily="34" charset="0"/>
                    <a:ea typeface="Cambria Math" panose="02040503050406030204" pitchFamily="18" charset="0"/>
                    <a:cs typeface="Arial" panose="020B0604020202020204" pitchFamily="34" charset="0"/>
                  </a:rPr>
                  <a:t>8,000  </a:t>
                </a:r>
                <a14:m>
                  <m:oMath xmlns:m="http://schemas.openxmlformats.org/officeDocument/2006/math">
                    <m:f>
                      <m:fPr>
                        <m:ctrlPr>
                          <a:rPr lang="en-US" sz="2000" i="1" smtClean="0">
                            <a:latin typeface="Cambria Math" panose="02040503050406030204" pitchFamily="18" charset="0"/>
                            <a:ea typeface="Cambria Math" panose="02040503050406030204" pitchFamily="18" charset="0"/>
                            <a:cs typeface="Arial" panose="020B0604020202020204" pitchFamily="34" charset="0"/>
                          </a:rPr>
                        </m:ctrlPr>
                      </m:fPr>
                      <m:num>
                        <m:r>
                          <a:rPr lang="en-US" sz="2000" b="0" i="1" smtClean="0">
                            <a:latin typeface="Cambria Math" panose="02040503050406030204" pitchFamily="18" charset="0"/>
                            <a:ea typeface="Cambria Math" panose="02040503050406030204" pitchFamily="18" charset="0"/>
                            <a:cs typeface="Arial" panose="020B0604020202020204" pitchFamily="34" charset="0"/>
                          </a:rPr>
                          <m:t>3000</m:t>
                        </m:r>
                      </m:num>
                      <m:den>
                        <m:r>
                          <a:rPr lang="en-US" sz="2000" b="0" i="1" smtClean="0">
                            <a:latin typeface="Cambria Math" panose="02040503050406030204" pitchFamily="18" charset="0"/>
                            <a:ea typeface="Cambria Math" panose="02040503050406030204" pitchFamily="18" charset="0"/>
                            <a:cs typeface="Arial" panose="020B0604020202020204" pitchFamily="34" charset="0"/>
                          </a:rPr>
                          <m:t>1.08</m:t>
                        </m:r>
                      </m:den>
                    </m:f>
                  </m:oMath>
                </a14:m>
                <a:r>
                  <a:rPr lang="en-US" sz="2000" dirty="0">
                    <a:latin typeface="Arial" panose="020B0604020202020204" pitchFamily="34" charset="0"/>
                    <a:ea typeface="Cambria Math" panose="02040503050406030204" pitchFamily="18" charset="0"/>
                    <a:cs typeface="Arial" panose="020B0604020202020204" pitchFamily="34" charset="0"/>
                  </a:rPr>
                  <a:t> + </a:t>
                </a:r>
                <a14:m>
                  <m:oMath xmlns:m="http://schemas.openxmlformats.org/officeDocument/2006/math">
                    <m:f>
                      <m:fPr>
                        <m:ctrlPr>
                          <a:rPr lang="en-US" sz="2000" i="1">
                            <a:latin typeface="Cambria Math" panose="02040503050406030204" pitchFamily="18" charset="0"/>
                            <a:ea typeface="Cambria Math" panose="02040503050406030204" pitchFamily="18" charset="0"/>
                            <a:cs typeface="Arial" panose="020B0604020202020204" pitchFamily="34" charset="0"/>
                          </a:rPr>
                        </m:ctrlPr>
                      </m:fPr>
                      <m:num>
                        <m:r>
                          <a:rPr lang="en-US" sz="2000" i="1">
                            <a:latin typeface="Cambria Math" panose="02040503050406030204" pitchFamily="18" charset="0"/>
                            <a:ea typeface="Cambria Math" panose="02040503050406030204" pitchFamily="18" charset="0"/>
                            <a:cs typeface="Arial" panose="020B0604020202020204" pitchFamily="34" charset="0"/>
                          </a:rPr>
                          <m:t>3000</m:t>
                        </m:r>
                      </m:num>
                      <m:den>
                        <m:r>
                          <a:rPr lang="en-US" sz="2000" b="0" i="1" smtClean="0">
                            <a:latin typeface="Cambria Math" panose="02040503050406030204" pitchFamily="18" charset="0"/>
                            <a:ea typeface="Cambria Math" panose="02040503050406030204" pitchFamily="18" charset="0"/>
                            <a:cs typeface="Arial" panose="020B0604020202020204" pitchFamily="34" charset="0"/>
                          </a:rPr>
                          <m:t>1.1664</m:t>
                        </m:r>
                      </m:den>
                    </m:f>
                    <m:r>
                      <a:rPr lang="en-US" sz="2000" b="0" i="1" smtClean="0">
                        <a:latin typeface="Cambria Math" panose="02040503050406030204" pitchFamily="18" charset="0"/>
                        <a:ea typeface="Cambria Math" panose="02040503050406030204" pitchFamily="18" charset="0"/>
                        <a:cs typeface="Arial" panose="020B0604020202020204" pitchFamily="34" charset="0"/>
                      </a:rPr>
                      <m:t>+</m:t>
                    </m:r>
                    <m:f>
                      <m:fPr>
                        <m:ctrlPr>
                          <a:rPr lang="en-US" sz="2000" i="1">
                            <a:latin typeface="Cambria Math" panose="02040503050406030204" pitchFamily="18" charset="0"/>
                            <a:ea typeface="Cambria Math" panose="02040503050406030204" pitchFamily="18" charset="0"/>
                            <a:cs typeface="Arial" panose="020B0604020202020204" pitchFamily="34" charset="0"/>
                          </a:rPr>
                        </m:ctrlPr>
                      </m:fPr>
                      <m:num>
                        <m:r>
                          <a:rPr lang="en-US" sz="2000" i="1">
                            <a:latin typeface="Cambria Math" panose="02040503050406030204" pitchFamily="18" charset="0"/>
                            <a:ea typeface="Cambria Math" panose="02040503050406030204" pitchFamily="18" charset="0"/>
                            <a:cs typeface="Arial" panose="020B0604020202020204" pitchFamily="34" charset="0"/>
                          </a:rPr>
                          <m:t>3000</m:t>
                        </m:r>
                      </m:num>
                      <m:den>
                        <m:r>
                          <a:rPr lang="en-US" sz="2000" b="0" i="1" smtClean="0">
                            <a:latin typeface="Cambria Math" panose="02040503050406030204" pitchFamily="18" charset="0"/>
                            <a:ea typeface="Cambria Math" panose="02040503050406030204" pitchFamily="18" charset="0"/>
                            <a:cs typeface="Arial" panose="020B0604020202020204" pitchFamily="34" charset="0"/>
                          </a:rPr>
                          <m:t>1.2597</m:t>
                        </m:r>
                      </m:den>
                    </m:f>
                  </m:oMath>
                </a14:m>
                <a:endParaRPr lang="en-US" sz="2000" b="0" dirty="0">
                  <a:latin typeface="Arial" panose="020B0604020202020204" pitchFamily="34" charset="0"/>
                  <a:ea typeface="Cambria Math" panose="02040503050406030204" pitchFamily="18" charset="0"/>
                  <a:cs typeface="Arial" panose="020B0604020202020204" pitchFamily="34" charset="0"/>
                </a:endParaRPr>
              </a:p>
              <a:p>
                <a:pPr marL="0" indent="0">
                  <a:lnSpc>
                    <a:spcPct val="200000"/>
                  </a:lnSpc>
                  <a:buNone/>
                </a:pPr>
                <a:r>
                  <a:rPr lang="en-IN" sz="2000" dirty="0">
                    <a:latin typeface="Arial" panose="020B0604020202020204" pitchFamily="34" charset="0"/>
                    <a:cs typeface="Arial" panose="020B0604020202020204" pitchFamily="34" charset="0"/>
                  </a:rPr>
                  <a:t>Step 4: Interpolate:       </a:t>
                </a:r>
                <a:r>
                  <a:rPr lang="en-US" sz="2000" dirty="0">
                    <a:latin typeface="Arial" panose="020B0604020202020204" pitchFamily="34" charset="0"/>
                    <a:cs typeface="Arial" panose="020B0604020202020204" pitchFamily="34" charset="0"/>
                  </a:rPr>
                  <a:t>IRR = 6%(</a:t>
                </a:r>
                <a14:m>
                  <m:oMath xmlns:m="http://schemas.openxmlformats.org/officeDocument/2006/math">
                    <m:f>
                      <m:fPr>
                        <m:ctrlPr>
                          <a:rPr lang="en-US" sz="2000" i="1" smtClean="0">
                            <a:latin typeface="Cambria Math" panose="02040503050406030204" pitchFamily="18" charset="0"/>
                            <a:cs typeface="Arial" panose="020B0604020202020204" pitchFamily="34" charset="0"/>
                          </a:rPr>
                        </m:ctrlPr>
                      </m:fPr>
                      <m:num>
                        <m:r>
                          <a:rPr lang="en-US" sz="2000" b="0" i="1" smtClean="0">
                            <a:latin typeface="Cambria Math" panose="02040503050406030204" pitchFamily="18" charset="0"/>
                            <a:cs typeface="Arial" panose="020B0604020202020204" pitchFamily="34" charset="0"/>
                          </a:rPr>
                          <m:t>19.45</m:t>
                        </m:r>
                      </m:num>
                      <m:den>
                        <m:r>
                          <a:rPr lang="en-US" sz="2000" b="0" i="1" smtClean="0">
                            <a:latin typeface="Cambria Math" panose="02040503050406030204" pitchFamily="18" charset="0"/>
                            <a:cs typeface="Arial" panose="020B0604020202020204" pitchFamily="34" charset="0"/>
                          </a:rPr>
                          <m:t>19.45+269.77</m:t>
                        </m:r>
                      </m:den>
                    </m:f>
                  </m:oMath>
                </a14:m>
                <a:r>
                  <a:rPr lang="en-US" sz="2000" dirty="0">
                    <a:latin typeface="Arial" panose="020B0604020202020204" pitchFamily="34" charset="0"/>
                    <a:cs typeface="Arial" panose="020B0604020202020204" pitchFamily="34" charset="0"/>
                  </a:rPr>
                  <a:t>)</a:t>
                </a:r>
                <a14:m>
                  <m:oMath xmlns:m="http://schemas.openxmlformats.org/officeDocument/2006/math">
                    <m:r>
                      <a:rPr lang="en-US" sz="2000" i="1" dirty="0" smtClean="0">
                        <a:latin typeface="Cambria Math" panose="02040503050406030204" pitchFamily="18" charset="0"/>
                        <a:ea typeface="Cambria Math" panose="02040503050406030204" pitchFamily="18" charset="0"/>
                        <a:cs typeface="Arial" panose="020B0604020202020204" pitchFamily="34" charset="0"/>
                      </a:rPr>
                      <m:t>×</m:t>
                    </m:r>
                    <m:d>
                      <m:dPr>
                        <m:ctrlPr>
                          <a:rPr lang="en-US" sz="2000" b="0" i="1" dirty="0" smtClean="0">
                            <a:latin typeface="Cambria Math" panose="02040503050406030204" pitchFamily="18" charset="0"/>
                            <a:ea typeface="Cambria Math" panose="02040503050406030204" pitchFamily="18" charset="0"/>
                            <a:cs typeface="Arial" panose="020B0604020202020204" pitchFamily="34" charset="0"/>
                          </a:rPr>
                        </m:ctrlPr>
                      </m:dPr>
                      <m:e>
                        <m:r>
                          <a:rPr lang="en-US" sz="2000" b="0" i="1" dirty="0" smtClean="0">
                            <a:latin typeface="Cambria Math" panose="02040503050406030204" pitchFamily="18" charset="0"/>
                            <a:ea typeface="Cambria Math" panose="02040503050406030204" pitchFamily="18" charset="0"/>
                            <a:cs typeface="Arial" panose="020B0604020202020204" pitchFamily="34" charset="0"/>
                          </a:rPr>
                          <m:t>8%−6%</m:t>
                        </m:r>
                      </m:e>
                    </m:d>
                    <m:r>
                      <a:rPr lang="en-US" sz="2000" b="0" i="0" dirty="0" smtClean="0">
                        <a:latin typeface="Cambria Math" panose="02040503050406030204" pitchFamily="18" charset="0"/>
                        <a:ea typeface="Cambria Math" panose="02040503050406030204" pitchFamily="18" charset="0"/>
                        <a:cs typeface="Arial" panose="020B0604020202020204" pitchFamily="34" charset="0"/>
                      </a:rPr>
                      <m:t>=</m:t>
                    </m:r>
                  </m:oMath>
                </a14:m>
                <a:r>
                  <a:rPr lang="en-US" sz="2000" dirty="0">
                    <a:latin typeface="Arial" panose="020B0604020202020204" pitchFamily="34" charset="0"/>
                    <a:cs typeface="Arial" panose="020B0604020202020204" pitchFamily="34" charset="0"/>
                  </a:rPr>
                  <a:t> 6%+</a:t>
                </a:r>
                <a:r>
                  <a:rPr lang="en-US" sz="2000" dirty="0">
                    <a:latin typeface="Arial" panose="020B0604020202020204" pitchFamily="34" charset="0"/>
                    <a:ea typeface="Cambria Math" panose="02040503050406030204" pitchFamily="18" charset="0"/>
                    <a:cs typeface="Arial" panose="020B0604020202020204" pitchFamily="34" charset="0"/>
                  </a:rPr>
                  <a:t> </a:t>
                </a:r>
                <a14:m>
                  <m:oMath xmlns:m="http://schemas.openxmlformats.org/officeDocument/2006/math">
                    <m:f>
                      <m:fPr>
                        <m:ctrlPr>
                          <a:rPr lang="en-US" sz="2000" i="1">
                            <a:latin typeface="Cambria Math" panose="02040503050406030204" pitchFamily="18" charset="0"/>
                            <a:ea typeface="Cambria Math" panose="02040503050406030204" pitchFamily="18" charset="0"/>
                            <a:cs typeface="Arial" panose="020B0604020202020204" pitchFamily="34" charset="0"/>
                          </a:rPr>
                        </m:ctrlPr>
                      </m:fPr>
                      <m:num>
                        <m:r>
                          <a:rPr lang="en-US" sz="2000" b="0" i="1" smtClean="0">
                            <a:latin typeface="Cambria Math" panose="02040503050406030204" pitchFamily="18" charset="0"/>
                            <a:ea typeface="Cambria Math" panose="02040503050406030204" pitchFamily="18" charset="0"/>
                            <a:cs typeface="Arial" panose="020B0604020202020204" pitchFamily="34" charset="0"/>
                          </a:rPr>
                          <m:t>19.45</m:t>
                        </m:r>
                      </m:num>
                      <m:den>
                        <m:r>
                          <a:rPr lang="en-US" sz="2000" b="0" i="1" smtClean="0">
                            <a:latin typeface="Cambria Math" panose="02040503050406030204" pitchFamily="18" charset="0"/>
                            <a:ea typeface="Cambria Math" panose="02040503050406030204" pitchFamily="18" charset="0"/>
                            <a:cs typeface="Arial" panose="020B0604020202020204" pitchFamily="34" charset="0"/>
                          </a:rPr>
                          <m:t>289.22</m:t>
                        </m:r>
                      </m:den>
                    </m:f>
                    <m:r>
                      <a:rPr lang="en-US" sz="2000" i="1">
                        <a:latin typeface="Cambria Math" panose="02040503050406030204" pitchFamily="18" charset="0"/>
                        <a:ea typeface="Cambria Math" panose="02040503050406030204" pitchFamily="18" charset="0"/>
                        <a:cs typeface="Arial" panose="020B0604020202020204" pitchFamily="34" charset="0"/>
                      </a:rPr>
                      <m:t> </m:t>
                    </m:r>
                    <m:r>
                      <a:rPr lang="en-US" sz="2000" i="1" dirty="0">
                        <a:latin typeface="Cambria Math" panose="02040503050406030204" pitchFamily="18" charset="0"/>
                        <a:ea typeface="Cambria Math" panose="02040503050406030204" pitchFamily="18" charset="0"/>
                        <a:cs typeface="Arial" panose="020B0604020202020204" pitchFamily="34" charset="0"/>
                      </a:rPr>
                      <m:t>×</m:t>
                    </m:r>
                  </m:oMath>
                </a14:m>
                <a:r>
                  <a:rPr lang="en-US" sz="2000" dirty="0">
                    <a:latin typeface="Arial" panose="020B0604020202020204" pitchFamily="34" charset="0"/>
                    <a:cs typeface="Arial" panose="020B0604020202020204" pitchFamily="34" charset="0"/>
                  </a:rPr>
                  <a:t>2%</a:t>
                </a:r>
              </a:p>
              <a:p>
                <a:pPr marL="0" indent="0">
                  <a:lnSpc>
                    <a:spcPct val="200000"/>
                  </a:lnSpc>
                  <a:buNone/>
                </a:pPr>
                <a:r>
                  <a:rPr lang="en-US" sz="2000" dirty="0">
                    <a:latin typeface="Arial" panose="020B0604020202020204" pitchFamily="34" charset="0"/>
                    <a:cs typeface="Arial" panose="020B0604020202020204" pitchFamily="34" charset="0"/>
                  </a:rPr>
                  <a:t>                                     =6%+0.134%=6.13%</a:t>
                </a:r>
              </a:p>
              <a:p>
                <a:pPr>
                  <a:lnSpc>
                    <a:spcPct val="200000"/>
                  </a:lnSpc>
                </a:pPr>
                <a:endParaRPr lang="en-US" sz="2000" dirty="0">
                  <a:solidFill>
                    <a:schemeClr val="accent1"/>
                  </a:solidFill>
                  <a:latin typeface="Arial" panose="020B0604020202020204" pitchFamily="34" charset="0"/>
                  <a:cs typeface="Arial" panose="020B0604020202020204" pitchFamily="34" charset="0"/>
                </a:endParaRPr>
              </a:p>
            </p:txBody>
          </p:sp>
        </mc:Choice>
        <mc:Fallback xmlns="">
          <p:sp>
            <p:nvSpPr>
              <p:cNvPr id="3" name="Content Placeholder 2">
                <a:extLst>
                  <a:ext uri="{FF2B5EF4-FFF2-40B4-BE49-F238E27FC236}">
                    <a16:creationId xmlns:a16="http://schemas.microsoft.com/office/drawing/2014/main" id="{A72C9E36-B70B-46C9-997A-F4D7C97AA8D8}"/>
                  </a:ext>
                </a:extLst>
              </p:cNvPr>
              <p:cNvSpPr>
                <a:spLocks noGrp="1" noRot="1" noChangeAspect="1" noMove="1" noResize="1" noEditPoints="1" noAdjustHandles="1" noChangeArrowheads="1" noChangeShapeType="1" noTextEdit="1"/>
              </p:cNvSpPr>
              <p:nvPr>
                <p:ph type="body" sz="half" idx="4294967295"/>
              </p:nvPr>
            </p:nvSpPr>
            <p:spPr>
              <a:xfrm>
                <a:off x="838199" y="887506"/>
                <a:ext cx="10403541" cy="4981482"/>
              </a:xfrm>
              <a:blipFill>
                <a:blip r:embed="rId2"/>
                <a:stretch>
                  <a:fillRect l="-586"/>
                </a:stretch>
              </a:blipFill>
            </p:spPr>
            <p:txBody>
              <a:bodyPr/>
              <a:lstStyle/>
              <a:p>
                <a:r>
                  <a:rPr lang="en-IN">
                    <a:noFill/>
                  </a:rPr>
                  <a:t> </a:t>
                </a:r>
              </a:p>
            </p:txBody>
          </p:sp>
        </mc:Fallback>
      </mc:AlternateContent>
      <p:pic>
        <p:nvPicPr>
          <p:cNvPr id="5" name="Picture 4">
            <a:extLst>
              <a:ext uri="{FF2B5EF4-FFF2-40B4-BE49-F238E27FC236}">
                <a16:creationId xmlns:a16="http://schemas.microsoft.com/office/drawing/2014/main" id="{1A8F9582-68CE-431C-8B72-88E14F073978}"/>
              </a:ext>
            </a:extLst>
          </p:cNvPr>
          <p:cNvPicPr>
            <a:picLocks noChangeAspect="1"/>
          </p:cNvPicPr>
          <p:nvPr/>
        </p:nvPicPr>
        <p:blipFill>
          <a:blip r:embed="rId3"/>
          <a:stretch>
            <a:fillRect/>
          </a:stretch>
        </p:blipFill>
        <p:spPr>
          <a:xfrm>
            <a:off x="11027635" y="51275"/>
            <a:ext cx="966091" cy="746583"/>
          </a:xfrm>
          <a:prstGeom prst="rect">
            <a:avLst/>
          </a:prstGeom>
        </p:spPr>
      </p:pic>
      <p:sp>
        <p:nvSpPr>
          <p:cNvPr id="2" name="Slide Number Placeholder 1">
            <a:extLst>
              <a:ext uri="{FF2B5EF4-FFF2-40B4-BE49-F238E27FC236}">
                <a16:creationId xmlns:a16="http://schemas.microsoft.com/office/drawing/2014/main" id="{3EEE3E35-0D13-469A-9E0F-622ACCC7CC9A}"/>
              </a:ext>
            </a:extLst>
          </p:cNvPr>
          <p:cNvSpPr>
            <a:spLocks noGrp="1"/>
          </p:cNvSpPr>
          <p:nvPr>
            <p:ph type="sldNum" sz="quarter" idx="12"/>
          </p:nvPr>
        </p:nvSpPr>
        <p:spPr/>
        <p:txBody>
          <a:bodyPr/>
          <a:lstStyle/>
          <a:p>
            <a:fld id="{B7991F04-3566-4BB1-A8CB-A35BE8E11603}" type="slidenum">
              <a:rPr lang="en-IN" smtClean="0"/>
              <a:t>44</a:t>
            </a:fld>
            <a:endParaRPr lang="en-IN"/>
          </a:p>
        </p:txBody>
      </p:sp>
    </p:spTree>
    <p:extLst>
      <p:ext uri="{BB962C8B-B14F-4D97-AF65-F5344CB8AC3E}">
        <p14:creationId xmlns:p14="http://schemas.microsoft.com/office/powerpoint/2010/main" val="82570644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750F95C-005F-42A1-AD9B-6631B5ED5937}"/>
              </a:ext>
            </a:extLst>
          </p:cNvPr>
          <p:cNvSpPr>
            <a:spLocks noGrp="1"/>
          </p:cNvSpPr>
          <p:nvPr>
            <p:ph type="title"/>
          </p:nvPr>
        </p:nvSpPr>
        <p:spPr>
          <a:xfrm>
            <a:off x="748553" y="153146"/>
            <a:ext cx="10123235" cy="533867"/>
          </a:xfrm>
          <a:prstGeom prst="rect">
            <a:avLst/>
          </a:prstGeom>
          <a:solidFill>
            <a:schemeClr val="tx2">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r>
              <a:rPr lang="en-IN" sz="2400" dirty="0">
                <a:solidFill>
                  <a:schemeClr val="accent1"/>
                </a:solidFill>
                <a:latin typeface="Arial" panose="020B0604020202020204" pitchFamily="34" charset="0"/>
                <a:cs typeface="Arial" panose="020B0604020202020204" pitchFamily="34" charset="0"/>
              </a:rPr>
              <a:t>Advantages of IRR</a:t>
            </a:r>
          </a:p>
        </p:txBody>
      </p:sp>
      <p:sp>
        <p:nvSpPr>
          <p:cNvPr id="3" name="Content Placeholder 2">
            <a:extLst>
              <a:ext uri="{FF2B5EF4-FFF2-40B4-BE49-F238E27FC236}">
                <a16:creationId xmlns:a16="http://schemas.microsoft.com/office/drawing/2014/main" id="{A72C9E36-B70B-46C9-997A-F4D7C97AA8D8}"/>
              </a:ext>
            </a:extLst>
          </p:cNvPr>
          <p:cNvSpPr>
            <a:spLocks noGrp="1"/>
          </p:cNvSpPr>
          <p:nvPr>
            <p:ph type="body" sz="half" idx="4294967295"/>
          </p:nvPr>
        </p:nvSpPr>
        <p:spPr>
          <a:xfrm>
            <a:off x="838199" y="887506"/>
            <a:ext cx="10403541" cy="4981482"/>
          </a:xfrm>
        </p:spPr>
        <p:txBody>
          <a:bodyPr>
            <a:normAutofit/>
          </a:bodyPr>
          <a:lstStyle/>
          <a:p>
            <a:pPr>
              <a:lnSpc>
                <a:spcPct val="200000"/>
              </a:lnSpc>
            </a:pPr>
            <a:r>
              <a:rPr lang="en-US" sz="2000" dirty="0">
                <a:latin typeface="Arial" panose="020B0604020202020204" pitchFamily="34" charset="0"/>
                <a:cs typeface="Arial" panose="020B0604020202020204" pitchFamily="34" charset="0"/>
              </a:rPr>
              <a:t>Easy to understand: Shows return as a simple percentage.</a:t>
            </a:r>
          </a:p>
          <a:p>
            <a:pPr>
              <a:lnSpc>
                <a:spcPct val="200000"/>
              </a:lnSpc>
            </a:pPr>
            <a:r>
              <a:rPr lang="en-US" sz="2000" dirty="0">
                <a:latin typeface="Arial" panose="020B0604020202020204" pitchFamily="34" charset="0"/>
                <a:cs typeface="Arial" panose="020B0604020202020204" pitchFamily="34" charset="0"/>
              </a:rPr>
              <a:t>Accounts for time value of money.</a:t>
            </a:r>
          </a:p>
          <a:p>
            <a:pPr>
              <a:lnSpc>
                <a:spcPct val="200000"/>
              </a:lnSpc>
            </a:pPr>
            <a:r>
              <a:rPr lang="en-IN" sz="2000" dirty="0">
                <a:latin typeface="Arial" panose="020B0604020202020204" pitchFamily="34" charset="0"/>
                <a:cs typeface="Arial" panose="020B0604020202020204" pitchFamily="34" charset="0"/>
              </a:rPr>
              <a:t>Considers all cash flows.</a:t>
            </a:r>
            <a:endParaRPr lang="en-US" sz="2000" dirty="0">
              <a:latin typeface="Arial" panose="020B0604020202020204" pitchFamily="34" charset="0"/>
              <a:cs typeface="Arial" panose="020B0604020202020204" pitchFamily="34" charset="0"/>
            </a:endParaRPr>
          </a:p>
          <a:p>
            <a:pPr>
              <a:lnSpc>
                <a:spcPct val="200000"/>
              </a:lnSpc>
            </a:pPr>
            <a:r>
              <a:rPr lang="en-US" sz="2000" dirty="0">
                <a:latin typeface="Arial" panose="020B0604020202020204" pitchFamily="34" charset="0"/>
                <a:cs typeface="Arial" panose="020B0604020202020204" pitchFamily="34" charset="0"/>
              </a:rPr>
              <a:t>Useful for comparing projects of different sizes.</a:t>
            </a:r>
            <a:endParaRPr lang="en-US" sz="2000" dirty="0">
              <a:solidFill>
                <a:schemeClr val="accent1"/>
              </a:solidFill>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1A8F9582-68CE-431C-8B72-88E14F073978}"/>
              </a:ext>
            </a:extLst>
          </p:cNvPr>
          <p:cNvPicPr>
            <a:picLocks noChangeAspect="1"/>
          </p:cNvPicPr>
          <p:nvPr/>
        </p:nvPicPr>
        <p:blipFill>
          <a:blip r:embed="rId2"/>
          <a:stretch>
            <a:fillRect/>
          </a:stretch>
        </p:blipFill>
        <p:spPr>
          <a:xfrm>
            <a:off x="11027635" y="51275"/>
            <a:ext cx="966091" cy="746583"/>
          </a:xfrm>
          <a:prstGeom prst="rect">
            <a:avLst/>
          </a:prstGeom>
        </p:spPr>
      </p:pic>
      <p:sp>
        <p:nvSpPr>
          <p:cNvPr id="2" name="Slide Number Placeholder 1">
            <a:extLst>
              <a:ext uri="{FF2B5EF4-FFF2-40B4-BE49-F238E27FC236}">
                <a16:creationId xmlns:a16="http://schemas.microsoft.com/office/drawing/2014/main" id="{3EEE3E35-0D13-469A-9E0F-622ACCC7CC9A}"/>
              </a:ext>
            </a:extLst>
          </p:cNvPr>
          <p:cNvSpPr>
            <a:spLocks noGrp="1"/>
          </p:cNvSpPr>
          <p:nvPr>
            <p:ph type="sldNum" sz="quarter" idx="12"/>
          </p:nvPr>
        </p:nvSpPr>
        <p:spPr/>
        <p:txBody>
          <a:bodyPr/>
          <a:lstStyle/>
          <a:p>
            <a:fld id="{B7991F04-3566-4BB1-A8CB-A35BE8E11603}" type="slidenum">
              <a:rPr lang="en-IN" smtClean="0"/>
              <a:t>45</a:t>
            </a:fld>
            <a:endParaRPr lang="en-IN"/>
          </a:p>
        </p:txBody>
      </p:sp>
    </p:spTree>
    <p:extLst>
      <p:ext uri="{BB962C8B-B14F-4D97-AF65-F5344CB8AC3E}">
        <p14:creationId xmlns:p14="http://schemas.microsoft.com/office/powerpoint/2010/main" val="363243338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750F95C-005F-42A1-AD9B-6631B5ED5937}"/>
              </a:ext>
            </a:extLst>
          </p:cNvPr>
          <p:cNvSpPr>
            <a:spLocks noGrp="1"/>
          </p:cNvSpPr>
          <p:nvPr>
            <p:ph type="title"/>
          </p:nvPr>
        </p:nvSpPr>
        <p:spPr>
          <a:xfrm>
            <a:off x="748553" y="153146"/>
            <a:ext cx="10123235" cy="533867"/>
          </a:xfrm>
          <a:prstGeom prst="rect">
            <a:avLst/>
          </a:prstGeom>
          <a:solidFill>
            <a:schemeClr val="tx2">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r>
              <a:rPr lang="en-IN" sz="2400" dirty="0">
                <a:solidFill>
                  <a:schemeClr val="accent1"/>
                </a:solidFill>
                <a:latin typeface="Arial" panose="020B0604020202020204" pitchFamily="34" charset="0"/>
                <a:cs typeface="Arial" panose="020B0604020202020204" pitchFamily="34" charset="0"/>
              </a:rPr>
              <a:t>Disadvantages of IRR</a:t>
            </a:r>
          </a:p>
        </p:txBody>
      </p:sp>
      <p:sp>
        <p:nvSpPr>
          <p:cNvPr id="3" name="Content Placeholder 2">
            <a:extLst>
              <a:ext uri="{FF2B5EF4-FFF2-40B4-BE49-F238E27FC236}">
                <a16:creationId xmlns:a16="http://schemas.microsoft.com/office/drawing/2014/main" id="{A72C9E36-B70B-46C9-997A-F4D7C97AA8D8}"/>
              </a:ext>
            </a:extLst>
          </p:cNvPr>
          <p:cNvSpPr>
            <a:spLocks noGrp="1"/>
          </p:cNvSpPr>
          <p:nvPr>
            <p:ph type="body" sz="half" idx="4294967295"/>
          </p:nvPr>
        </p:nvSpPr>
        <p:spPr>
          <a:xfrm>
            <a:off x="838199" y="887506"/>
            <a:ext cx="10403541" cy="4981482"/>
          </a:xfrm>
        </p:spPr>
        <p:txBody>
          <a:bodyPr>
            <a:noAutofit/>
          </a:bodyPr>
          <a:lstStyle/>
          <a:p>
            <a:pPr marL="0" indent="0">
              <a:lnSpc>
                <a:spcPct val="200000"/>
              </a:lnSpc>
              <a:buNone/>
            </a:pPr>
            <a:r>
              <a:rPr lang="en-IN" sz="2000" dirty="0">
                <a:solidFill>
                  <a:schemeClr val="accent1"/>
                </a:solidFill>
                <a:latin typeface="Arial" panose="020B0604020202020204" pitchFamily="34" charset="0"/>
                <a:cs typeface="Arial" panose="020B0604020202020204" pitchFamily="34" charset="0"/>
              </a:rPr>
              <a:t>1. Multiple IRRs:</a:t>
            </a:r>
          </a:p>
          <a:p>
            <a:pPr>
              <a:lnSpc>
                <a:spcPct val="200000"/>
              </a:lnSpc>
            </a:pPr>
            <a:r>
              <a:rPr lang="en-US" sz="2000" dirty="0">
                <a:latin typeface="Arial" panose="020B0604020202020204" pitchFamily="34" charset="0"/>
                <a:cs typeface="Arial" panose="020B0604020202020204" pitchFamily="34" charset="0"/>
              </a:rPr>
              <a:t>Occurs if the project has non-conventional cash flows (sign changes more than once).</a:t>
            </a:r>
          </a:p>
          <a:p>
            <a:pPr>
              <a:lnSpc>
                <a:spcPct val="200000"/>
              </a:lnSpc>
            </a:pPr>
            <a:r>
              <a:rPr lang="en-US" sz="2000" dirty="0">
                <a:latin typeface="Arial" panose="020B0604020202020204" pitchFamily="34" charset="0"/>
                <a:cs typeface="Arial" panose="020B0604020202020204" pitchFamily="34" charset="0"/>
              </a:rPr>
              <a:t>May lead to confusion or a wrong decision.</a:t>
            </a:r>
          </a:p>
          <a:p>
            <a:pPr marL="0" indent="0">
              <a:lnSpc>
                <a:spcPct val="200000"/>
              </a:lnSpc>
              <a:buNone/>
            </a:pPr>
            <a:r>
              <a:rPr lang="en-IN" sz="2000" dirty="0">
                <a:solidFill>
                  <a:schemeClr val="accent1"/>
                </a:solidFill>
                <a:latin typeface="Arial" panose="020B0604020202020204" pitchFamily="34" charset="0"/>
                <a:cs typeface="Arial" panose="020B0604020202020204" pitchFamily="34" charset="0"/>
              </a:rPr>
              <a:t>2. Assumes reinvestment at IRR:</a:t>
            </a:r>
            <a:endParaRPr lang="en-US" sz="2000" dirty="0">
              <a:solidFill>
                <a:schemeClr val="accent1"/>
              </a:solidFill>
              <a:latin typeface="Arial" panose="020B0604020202020204" pitchFamily="34" charset="0"/>
              <a:cs typeface="Arial" panose="020B0604020202020204" pitchFamily="34" charset="0"/>
            </a:endParaRPr>
          </a:p>
          <a:p>
            <a:pPr>
              <a:lnSpc>
                <a:spcPct val="200000"/>
              </a:lnSpc>
            </a:pPr>
            <a:r>
              <a:rPr lang="en-US" sz="2000" dirty="0">
                <a:latin typeface="Arial" panose="020B0604020202020204" pitchFamily="34" charset="0"/>
                <a:cs typeface="Arial" panose="020B0604020202020204" pitchFamily="34" charset="0"/>
              </a:rPr>
              <a:t>Unrealistic assumption compared to NPV (which assumes reinvestment at the cost of capital).</a:t>
            </a:r>
          </a:p>
        </p:txBody>
      </p:sp>
      <p:pic>
        <p:nvPicPr>
          <p:cNvPr id="5" name="Picture 4">
            <a:extLst>
              <a:ext uri="{FF2B5EF4-FFF2-40B4-BE49-F238E27FC236}">
                <a16:creationId xmlns:a16="http://schemas.microsoft.com/office/drawing/2014/main" id="{1A8F9582-68CE-431C-8B72-88E14F073978}"/>
              </a:ext>
            </a:extLst>
          </p:cNvPr>
          <p:cNvPicPr>
            <a:picLocks noChangeAspect="1"/>
          </p:cNvPicPr>
          <p:nvPr/>
        </p:nvPicPr>
        <p:blipFill>
          <a:blip r:embed="rId2"/>
          <a:stretch>
            <a:fillRect/>
          </a:stretch>
        </p:blipFill>
        <p:spPr>
          <a:xfrm>
            <a:off x="11027635" y="51275"/>
            <a:ext cx="966091" cy="746583"/>
          </a:xfrm>
          <a:prstGeom prst="rect">
            <a:avLst/>
          </a:prstGeom>
        </p:spPr>
      </p:pic>
      <p:sp>
        <p:nvSpPr>
          <p:cNvPr id="2" name="Slide Number Placeholder 1">
            <a:extLst>
              <a:ext uri="{FF2B5EF4-FFF2-40B4-BE49-F238E27FC236}">
                <a16:creationId xmlns:a16="http://schemas.microsoft.com/office/drawing/2014/main" id="{3EEE3E35-0D13-469A-9E0F-622ACCC7CC9A}"/>
              </a:ext>
            </a:extLst>
          </p:cNvPr>
          <p:cNvSpPr>
            <a:spLocks noGrp="1"/>
          </p:cNvSpPr>
          <p:nvPr>
            <p:ph type="sldNum" sz="quarter" idx="12"/>
          </p:nvPr>
        </p:nvSpPr>
        <p:spPr/>
        <p:txBody>
          <a:bodyPr/>
          <a:lstStyle/>
          <a:p>
            <a:fld id="{B7991F04-3566-4BB1-A8CB-A35BE8E11603}" type="slidenum">
              <a:rPr lang="en-IN" smtClean="0"/>
              <a:t>46</a:t>
            </a:fld>
            <a:endParaRPr lang="en-IN"/>
          </a:p>
        </p:txBody>
      </p:sp>
    </p:spTree>
    <p:extLst>
      <p:ext uri="{BB962C8B-B14F-4D97-AF65-F5344CB8AC3E}">
        <p14:creationId xmlns:p14="http://schemas.microsoft.com/office/powerpoint/2010/main" val="402294013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750F95C-005F-42A1-AD9B-6631B5ED5937}"/>
              </a:ext>
            </a:extLst>
          </p:cNvPr>
          <p:cNvSpPr>
            <a:spLocks noGrp="1"/>
          </p:cNvSpPr>
          <p:nvPr>
            <p:ph type="title"/>
          </p:nvPr>
        </p:nvSpPr>
        <p:spPr>
          <a:xfrm>
            <a:off x="748553" y="153146"/>
            <a:ext cx="10123235" cy="533867"/>
          </a:xfrm>
          <a:prstGeom prst="rect">
            <a:avLst/>
          </a:prstGeom>
          <a:solidFill>
            <a:schemeClr val="tx2">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r>
              <a:rPr lang="en-IN" sz="2400" dirty="0">
                <a:solidFill>
                  <a:schemeClr val="accent1"/>
                </a:solidFill>
                <a:latin typeface="Arial" panose="020B0604020202020204" pitchFamily="34" charset="0"/>
                <a:cs typeface="Arial" panose="020B0604020202020204" pitchFamily="34" charset="0"/>
              </a:rPr>
              <a:t>Disadvantages of IRR</a:t>
            </a:r>
          </a:p>
        </p:txBody>
      </p:sp>
      <p:sp>
        <p:nvSpPr>
          <p:cNvPr id="3" name="Content Placeholder 2">
            <a:extLst>
              <a:ext uri="{FF2B5EF4-FFF2-40B4-BE49-F238E27FC236}">
                <a16:creationId xmlns:a16="http://schemas.microsoft.com/office/drawing/2014/main" id="{A72C9E36-B70B-46C9-997A-F4D7C97AA8D8}"/>
              </a:ext>
            </a:extLst>
          </p:cNvPr>
          <p:cNvSpPr>
            <a:spLocks noGrp="1"/>
          </p:cNvSpPr>
          <p:nvPr>
            <p:ph type="body" sz="half" idx="4294967295"/>
          </p:nvPr>
        </p:nvSpPr>
        <p:spPr>
          <a:xfrm>
            <a:off x="838199" y="887506"/>
            <a:ext cx="10403541" cy="4981482"/>
          </a:xfrm>
        </p:spPr>
        <p:txBody>
          <a:bodyPr>
            <a:normAutofit/>
          </a:bodyPr>
          <a:lstStyle/>
          <a:p>
            <a:pPr marL="0" indent="0">
              <a:lnSpc>
                <a:spcPct val="200000"/>
              </a:lnSpc>
              <a:buNone/>
            </a:pPr>
            <a:r>
              <a:rPr lang="en-IN" sz="2000" dirty="0">
                <a:solidFill>
                  <a:schemeClr val="accent1"/>
                </a:solidFill>
                <a:latin typeface="Arial" panose="020B0604020202020204" pitchFamily="34" charset="0"/>
                <a:cs typeface="Arial" panose="020B0604020202020204" pitchFamily="34" charset="0"/>
              </a:rPr>
              <a:t>3. Ignores the scale of the project:</a:t>
            </a:r>
            <a:endParaRPr lang="en-US" sz="2000" dirty="0">
              <a:solidFill>
                <a:schemeClr val="accent1"/>
              </a:solidFill>
              <a:latin typeface="Arial" panose="020B0604020202020204" pitchFamily="34" charset="0"/>
              <a:cs typeface="Arial" panose="020B0604020202020204" pitchFamily="34" charset="0"/>
            </a:endParaRPr>
          </a:p>
          <a:p>
            <a:pPr>
              <a:lnSpc>
                <a:spcPct val="200000"/>
              </a:lnSpc>
            </a:pPr>
            <a:r>
              <a:rPr lang="en-US" sz="2000" dirty="0">
                <a:latin typeface="Arial" panose="020B0604020202020204" pitchFamily="34" charset="0"/>
                <a:cs typeface="Arial" panose="020B0604020202020204" pitchFamily="34" charset="0"/>
              </a:rPr>
              <a:t>A small project with a high IRR might create less value than a larger project with a lower IRR.</a:t>
            </a:r>
          </a:p>
          <a:p>
            <a:pPr marL="0" indent="0">
              <a:lnSpc>
                <a:spcPct val="200000"/>
              </a:lnSpc>
              <a:buNone/>
            </a:pPr>
            <a:r>
              <a:rPr lang="en-US" sz="2000" dirty="0">
                <a:solidFill>
                  <a:schemeClr val="accent1"/>
                </a:solidFill>
                <a:latin typeface="Arial" panose="020B0604020202020204" pitchFamily="34" charset="0"/>
                <a:cs typeface="Arial" panose="020B0604020202020204" pitchFamily="34" charset="0"/>
              </a:rPr>
              <a:t>4. Not suitable for mutually exclusive projects:</a:t>
            </a:r>
          </a:p>
          <a:p>
            <a:pPr>
              <a:lnSpc>
                <a:spcPct val="200000"/>
              </a:lnSpc>
            </a:pPr>
            <a:r>
              <a:rPr lang="en-US" sz="2000" dirty="0">
                <a:latin typeface="Arial" panose="020B0604020202020204" pitchFamily="34" charset="0"/>
                <a:cs typeface="Arial" panose="020B0604020202020204" pitchFamily="34" charset="0"/>
              </a:rPr>
              <a:t>May lead to wrong decisions compared to NPV.</a:t>
            </a:r>
            <a:endParaRPr lang="en-US" sz="2000" dirty="0">
              <a:solidFill>
                <a:schemeClr val="accent1"/>
              </a:solidFill>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1A8F9582-68CE-431C-8B72-88E14F073978}"/>
              </a:ext>
            </a:extLst>
          </p:cNvPr>
          <p:cNvPicPr>
            <a:picLocks noChangeAspect="1"/>
          </p:cNvPicPr>
          <p:nvPr/>
        </p:nvPicPr>
        <p:blipFill>
          <a:blip r:embed="rId2"/>
          <a:stretch>
            <a:fillRect/>
          </a:stretch>
        </p:blipFill>
        <p:spPr>
          <a:xfrm>
            <a:off x="11027635" y="51275"/>
            <a:ext cx="966091" cy="746583"/>
          </a:xfrm>
          <a:prstGeom prst="rect">
            <a:avLst/>
          </a:prstGeom>
        </p:spPr>
      </p:pic>
      <p:sp>
        <p:nvSpPr>
          <p:cNvPr id="2" name="Slide Number Placeholder 1">
            <a:extLst>
              <a:ext uri="{FF2B5EF4-FFF2-40B4-BE49-F238E27FC236}">
                <a16:creationId xmlns:a16="http://schemas.microsoft.com/office/drawing/2014/main" id="{3EEE3E35-0D13-469A-9E0F-622ACCC7CC9A}"/>
              </a:ext>
            </a:extLst>
          </p:cNvPr>
          <p:cNvSpPr>
            <a:spLocks noGrp="1"/>
          </p:cNvSpPr>
          <p:nvPr>
            <p:ph type="sldNum" sz="quarter" idx="12"/>
          </p:nvPr>
        </p:nvSpPr>
        <p:spPr/>
        <p:txBody>
          <a:bodyPr/>
          <a:lstStyle/>
          <a:p>
            <a:fld id="{B7991F04-3566-4BB1-A8CB-A35BE8E11603}" type="slidenum">
              <a:rPr lang="en-IN" smtClean="0"/>
              <a:t>47</a:t>
            </a:fld>
            <a:endParaRPr lang="en-IN"/>
          </a:p>
        </p:txBody>
      </p:sp>
    </p:spTree>
    <p:extLst>
      <p:ext uri="{BB962C8B-B14F-4D97-AF65-F5344CB8AC3E}">
        <p14:creationId xmlns:p14="http://schemas.microsoft.com/office/powerpoint/2010/main" val="276487857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750F95C-005F-42A1-AD9B-6631B5ED5937}"/>
              </a:ext>
            </a:extLst>
          </p:cNvPr>
          <p:cNvSpPr>
            <a:spLocks noGrp="1"/>
          </p:cNvSpPr>
          <p:nvPr>
            <p:ph type="title"/>
          </p:nvPr>
        </p:nvSpPr>
        <p:spPr>
          <a:xfrm>
            <a:off x="748553" y="153146"/>
            <a:ext cx="10123235" cy="533867"/>
          </a:xfrm>
          <a:prstGeom prst="rect">
            <a:avLst/>
          </a:prstGeom>
          <a:solidFill>
            <a:schemeClr val="tx2">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r>
              <a:rPr lang="en-IN" sz="2400" dirty="0">
                <a:solidFill>
                  <a:schemeClr val="accent1"/>
                </a:solidFill>
                <a:latin typeface="Arial" panose="020B0604020202020204" pitchFamily="34" charset="0"/>
                <a:cs typeface="Arial" panose="020B0604020202020204" pitchFamily="34" charset="0"/>
              </a:rPr>
              <a:t>When to Use IRR</a:t>
            </a:r>
          </a:p>
        </p:txBody>
      </p:sp>
      <p:sp>
        <p:nvSpPr>
          <p:cNvPr id="3" name="Content Placeholder 2">
            <a:extLst>
              <a:ext uri="{FF2B5EF4-FFF2-40B4-BE49-F238E27FC236}">
                <a16:creationId xmlns:a16="http://schemas.microsoft.com/office/drawing/2014/main" id="{A72C9E36-B70B-46C9-997A-F4D7C97AA8D8}"/>
              </a:ext>
            </a:extLst>
          </p:cNvPr>
          <p:cNvSpPr>
            <a:spLocks noGrp="1"/>
          </p:cNvSpPr>
          <p:nvPr>
            <p:ph type="body" sz="half" idx="4294967295"/>
          </p:nvPr>
        </p:nvSpPr>
        <p:spPr>
          <a:xfrm>
            <a:off x="838199" y="887506"/>
            <a:ext cx="10403541" cy="4981482"/>
          </a:xfrm>
        </p:spPr>
        <p:txBody>
          <a:bodyPr>
            <a:normAutofit/>
          </a:bodyPr>
          <a:lstStyle/>
          <a:p>
            <a:pPr>
              <a:lnSpc>
                <a:spcPct val="200000"/>
              </a:lnSpc>
            </a:pPr>
            <a:r>
              <a:rPr lang="en-US" sz="2000" dirty="0">
                <a:latin typeface="Arial" panose="020B0604020202020204" pitchFamily="34" charset="0"/>
                <a:cs typeface="Arial" panose="020B0604020202020204" pitchFamily="34" charset="0"/>
              </a:rPr>
              <a:t>You want a quick estimate of return as a percentage.</a:t>
            </a:r>
          </a:p>
          <a:p>
            <a:pPr>
              <a:lnSpc>
                <a:spcPct val="200000"/>
              </a:lnSpc>
            </a:pPr>
            <a:r>
              <a:rPr lang="en-US" sz="2000" dirty="0">
                <a:latin typeface="Arial" panose="020B0604020202020204" pitchFamily="34" charset="0"/>
                <a:cs typeface="Arial" panose="020B0604020202020204" pitchFamily="34" charset="0"/>
              </a:rPr>
              <a:t>Comparing projects of similar size and duration.</a:t>
            </a:r>
          </a:p>
          <a:p>
            <a:pPr>
              <a:lnSpc>
                <a:spcPct val="200000"/>
              </a:lnSpc>
            </a:pPr>
            <a:r>
              <a:rPr lang="en-US" sz="2000" dirty="0">
                <a:latin typeface="Arial" panose="020B0604020202020204" pitchFamily="34" charset="0"/>
                <a:cs typeface="Arial" panose="020B0604020202020204" pitchFamily="34" charset="0"/>
              </a:rPr>
              <a:t>Communicating performance to non-financial stakeholders.</a:t>
            </a:r>
          </a:p>
          <a:p>
            <a:pPr>
              <a:lnSpc>
                <a:spcPct val="200000"/>
              </a:lnSpc>
            </a:pPr>
            <a:r>
              <a:rPr lang="en-US" sz="2000" dirty="0">
                <a:latin typeface="Arial" panose="020B0604020202020204" pitchFamily="34" charset="0"/>
                <a:cs typeface="Arial" panose="020B0604020202020204" pitchFamily="34" charset="0"/>
              </a:rPr>
              <a:t>Complementing NPV analysis (not replacing it)</a:t>
            </a:r>
            <a:endParaRPr lang="en-US" sz="2000" dirty="0">
              <a:solidFill>
                <a:schemeClr val="accent1"/>
              </a:solidFill>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1A8F9582-68CE-431C-8B72-88E14F073978}"/>
              </a:ext>
            </a:extLst>
          </p:cNvPr>
          <p:cNvPicPr>
            <a:picLocks noChangeAspect="1"/>
          </p:cNvPicPr>
          <p:nvPr/>
        </p:nvPicPr>
        <p:blipFill>
          <a:blip r:embed="rId2"/>
          <a:stretch>
            <a:fillRect/>
          </a:stretch>
        </p:blipFill>
        <p:spPr>
          <a:xfrm>
            <a:off x="11027635" y="51275"/>
            <a:ext cx="966091" cy="746583"/>
          </a:xfrm>
          <a:prstGeom prst="rect">
            <a:avLst/>
          </a:prstGeom>
        </p:spPr>
      </p:pic>
      <p:sp>
        <p:nvSpPr>
          <p:cNvPr id="2" name="Slide Number Placeholder 1">
            <a:extLst>
              <a:ext uri="{FF2B5EF4-FFF2-40B4-BE49-F238E27FC236}">
                <a16:creationId xmlns:a16="http://schemas.microsoft.com/office/drawing/2014/main" id="{3EEE3E35-0D13-469A-9E0F-622ACCC7CC9A}"/>
              </a:ext>
            </a:extLst>
          </p:cNvPr>
          <p:cNvSpPr>
            <a:spLocks noGrp="1"/>
          </p:cNvSpPr>
          <p:nvPr>
            <p:ph type="sldNum" sz="quarter" idx="12"/>
          </p:nvPr>
        </p:nvSpPr>
        <p:spPr/>
        <p:txBody>
          <a:bodyPr/>
          <a:lstStyle/>
          <a:p>
            <a:fld id="{B7991F04-3566-4BB1-A8CB-A35BE8E11603}" type="slidenum">
              <a:rPr lang="en-IN" smtClean="0"/>
              <a:t>48</a:t>
            </a:fld>
            <a:endParaRPr lang="en-IN"/>
          </a:p>
        </p:txBody>
      </p:sp>
    </p:spTree>
    <p:extLst>
      <p:ext uri="{BB962C8B-B14F-4D97-AF65-F5344CB8AC3E}">
        <p14:creationId xmlns:p14="http://schemas.microsoft.com/office/powerpoint/2010/main" val="249580933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750F95C-005F-42A1-AD9B-6631B5ED5937}"/>
              </a:ext>
            </a:extLst>
          </p:cNvPr>
          <p:cNvSpPr>
            <a:spLocks noGrp="1"/>
          </p:cNvSpPr>
          <p:nvPr>
            <p:ph type="title"/>
          </p:nvPr>
        </p:nvSpPr>
        <p:spPr>
          <a:xfrm>
            <a:off x="748553" y="153146"/>
            <a:ext cx="10123235" cy="533867"/>
          </a:xfrm>
          <a:prstGeom prst="rect">
            <a:avLst/>
          </a:prstGeom>
          <a:solidFill>
            <a:schemeClr val="tx2">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r>
              <a:rPr lang="en-IN" sz="2400" dirty="0">
                <a:solidFill>
                  <a:schemeClr val="accent1"/>
                </a:solidFill>
                <a:latin typeface="Arial" panose="020B0604020202020204" pitchFamily="34" charset="0"/>
                <a:cs typeface="Arial" panose="020B0604020202020204" pitchFamily="34" charset="0"/>
              </a:rPr>
              <a:t>NPV vs IRR</a:t>
            </a:r>
          </a:p>
        </p:txBody>
      </p:sp>
      <p:pic>
        <p:nvPicPr>
          <p:cNvPr id="5" name="Picture 4">
            <a:extLst>
              <a:ext uri="{FF2B5EF4-FFF2-40B4-BE49-F238E27FC236}">
                <a16:creationId xmlns:a16="http://schemas.microsoft.com/office/drawing/2014/main" id="{1A8F9582-68CE-431C-8B72-88E14F073978}"/>
              </a:ext>
            </a:extLst>
          </p:cNvPr>
          <p:cNvPicPr>
            <a:picLocks noChangeAspect="1"/>
          </p:cNvPicPr>
          <p:nvPr/>
        </p:nvPicPr>
        <p:blipFill>
          <a:blip r:embed="rId2"/>
          <a:stretch>
            <a:fillRect/>
          </a:stretch>
        </p:blipFill>
        <p:spPr>
          <a:xfrm>
            <a:off x="11027635" y="51275"/>
            <a:ext cx="966091" cy="746583"/>
          </a:xfrm>
          <a:prstGeom prst="rect">
            <a:avLst/>
          </a:prstGeom>
        </p:spPr>
      </p:pic>
      <p:sp>
        <p:nvSpPr>
          <p:cNvPr id="2" name="Slide Number Placeholder 1">
            <a:extLst>
              <a:ext uri="{FF2B5EF4-FFF2-40B4-BE49-F238E27FC236}">
                <a16:creationId xmlns:a16="http://schemas.microsoft.com/office/drawing/2014/main" id="{3EEE3E35-0D13-469A-9E0F-622ACCC7CC9A}"/>
              </a:ext>
            </a:extLst>
          </p:cNvPr>
          <p:cNvSpPr>
            <a:spLocks noGrp="1"/>
          </p:cNvSpPr>
          <p:nvPr>
            <p:ph type="sldNum" sz="quarter" idx="12"/>
          </p:nvPr>
        </p:nvSpPr>
        <p:spPr/>
        <p:txBody>
          <a:bodyPr/>
          <a:lstStyle/>
          <a:p>
            <a:fld id="{B7991F04-3566-4BB1-A8CB-A35BE8E11603}" type="slidenum">
              <a:rPr lang="en-IN" smtClean="0"/>
              <a:t>49</a:t>
            </a:fld>
            <a:endParaRPr lang="en-IN"/>
          </a:p>
        </p:txBody>
      </p:sp>
      <p:graphicFrame>
        <p:nvGraphicFramePr>
          <p:cNvPr id="6" name="Table 5">
            <a:extLst>
              <a:ext uri="{FF2B5EF4-FFF2-40B4-BE49-F238E27FC236}">
                <a16:creationId xmlns:a16="http://schemas.microsoft.com/office/drawing/2014/main" id="{2553B22B-FCD8-4E7D-A895-1000BDE50A27}"/>
              </a:ext>
            </a:extLst>
          </p:cNvPr>
          <p:cNvGraphicFramePr>
            <a:graphicFrameLocks noGrp="1"/>
          </p:cNvGraphicFramePr>
          <p:nvPr>
            <p:extLst>
              <p:ext uri="{D42A27DB-BD31-4B8C-83A1-F6EECF244321}">
                <p14:modId xmlns:p14="http://schemas.microsoft.com/office/powerpoint/2010/main" val="3685224614"/>
              </p:ext>
            </p:extLst>
          </p:nvPr>
        </p:nvGraphicFramePr>
        <p:xfrm>
          <a:off x="878540" y="1004046"/>
          <a:ext cx="9641771" cy="4565147"/>
        </p:xfrm>
        <a:graphic>
          <a:graphicData uri="http://schemas.openxmlformats.org/drawingml/2006/table">
            <a:tbl>
              <a:tblPr/>
              <a:tblGrid>
                <a:gridCol w="2512047">
                  <a:extLst>
                    <a:ext uri="{9D8B030D-6E8A-4147-A177-3AD203B41FA5}">
                      <a16:colId xmlns:a16="http://schemas.microsoft.com/office/drawing/2014/main" val="999859826"/>
                    </a:ext>
                  </a:extLst>
                </a:gridCol>
                <a:gridCol w="3564862">
                  <a:extLst>
                    <a:ext uri="{9D8B030D-6E8A-4147-A177-3AD203B41FA5}">
                      <a16:colId xmlns:a16="http://schemas.microsoft.com/office/drawing/2014/main" val="2839551144"/>
                    </a:ext>
                  </a:extLst>
                </a:gridCol>
                <a:gridCol w="3564862">
                  <a:extLst>
                    <a:ext uri="{9D8B030D-6E8A-4147-A177-3AD203B41FA5}">
                      <a16:colId xmlns:a16="http://schemas.microsoft.com/office/drawing/2014/main" val="3029391508"/>
                    </a:ext>
                  </a:extLst>
                </a:gridCol>
              </a:tblGrid>
              <a:tr h="647944">
                <a:tc>
                  <a:txBody>
                    <a:bodyPr/>
                    <a:lstStyle/>
                    <a:p>
                      <a:r>
                        <a:rPr lang="en-IN" sz="2000" dirty="0">
                          <a:solidFill>
                            <a:schemeClr val="accent1"/>
                          </a:solidFill>
                          <a:latin typeface="Arial" panose="020B0604020202020204" pitchFamily="34" charset="0"/>
                          <a:cs typeface="Arial" panose="020B0604020202020204" pitchFamily="34" charset="0"/>
                        </a:rPr>
                        <a:t>Feature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dirty="0">
                          <a:solidFill>
                            <a:schemeClr val="accent1"/>
                          </a:solidFill>
                          <a:latin typeface="Arial" panose="020B0604020202020204" pitchFamily="34" charset="0"/>
                          <a:cs typeface="Arial" panose="020B0604020202020204" pitchFamily="34" charset="0"/>
                        </a:rPr>
                        <a:t>NPV</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dirty="0">
                          <a:solidFill>
                            <a:schemeClr val="accent1"/>
                          </a:solidFill>
                          <a:latin typeface="Arial" panose="020B0604020202020204" pitchFamily="34" charset="0"/>
                          <a:cs typeface="Arial" panose="020B0604020202020204" pitchFamily="34" charset="0"/>
                        </a:rPr>
                        <a:t>IRR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96729204"/>
                  </a:ext>
                </a:extLst>
              </a:tr>
              <a:tr h="698435">
                <a:tc>
                  <a:txBody>
                    <a:bodyPr/>
                    <a:lstStyle/>
                    <a:p>
                      <a:r>
                        <a:rPr lang="en-IN" sz="2000" dirty="0">
                          <a:latin typeface="Arial" panose="020B0604020202020204" pitchFamily="34" charset="0"/>
                          <a:cs typeface="Arial" panose="020B0604020202020204" pitchFamily="34" charset="0"/>
                        </a:rPr>
                        <a:t>Type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dirty="0">
                          <a:latin typeface="Arial" panose="020B0604020202020204" pitchFamily="34" charset="0"/>
                          <a:cs typeface="Arial" panose="020B0604020202020204" pitchFamily="34" charset="0"/>
                        </a:rPr>
                        <a:t>Absolute value (</a:t>
                      </a:r>
                      <a:r>
                        <a:rPr lang="en-IN" sz="2000" b="0" i="0" kern="1200" dirty="0">
                          <a:solidFill>
                            <a:schemeClr val="tx1"/>
                          </a:solidFill>
                          <a:effectLst/>
                          <a:latin typeface="+mn-lt"/>
                          <a:ea typeface="+mn-ea"/>
                          <a:cs typeface="+mn-cs"/>
                        </a:rPr>
                        <a:t>₹</a:t>
                      </a:r>
                      <a:r>
                        <a:rPr lang="en-IN" sz="2000" dirty="0">
                          <a:latin typeface="Arial" panose="020B0604020202020204" pitchFamily="34" charset="0"/>
                          <a:cs typeface="Arial" panose="020B0604020202020204" pitchFamily="34"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dirty="0">
                          <a:latin typeface="Arial" panose="020B0604020202020204" pitchFamily="34" charset="0"/>
                          <a:cs typeface="Arial" panose="020B0604020202020204" pitchFamily="34" charset="0"/>
                        </a:rPr>
                        <a:t>Percentage rate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51104302"/>
                  </a:ext>
                </a:extLst>
              </a:tr>
              <a:tr h="751728">
                <a:tc>
                  <a:txBody>
                    <a:bodyPr/>
                    <a:lstStyle/>
                    <a:p>
                      <a:r>
                        <a:rPr lang="en-IN" sz="2000" dirty="0">
                          <a:latin typeface="Arial" panose="020B0604020202020204" pitchFamily="34" charset="0"/>
                          <a:cs typeface="Arial" panose="020B0604020202020204" pitchFamily="34" charset="0"/>
                        </a:rPr>
                        <a:t>Decision Rule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dirty="0">
                          <a:latin typeface="Arial" panose="020B0604020202020204" pitchFamily="34" charset="0"/>
                          <a:cs typeface="Arial" panose="020B0604020202020204" pitchFamily="34" charset="0"/>
                        </a:rPr>
                        <a:t>Accept if NPV &gt; 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latin typeface="Arial" panose="020B0604020202020204" pitchFamily="34" charset="0"/>
                          <a:cs typeface="Arial" panose="020B0604020202020204" pitchFamily="34" charset="0"/>
                        </a:rPr>
                        <a:t>Accept if IRR &gt; cost of capital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36517991"/>
                  </a:ext>
                </a:extLst>
              </a:tr>
              <a:tr h="611893">
                <a:tc>
                  <a:txBody>
                    <a:bodyPr/>
                    <a:lstStyle/>
                    <a:p>
                      <a:r>
                        <a:rPr lang="en-IN" sz="2000" dirty="0">
                          <a:latin typeface="Arial" panose="020B0604020202020204" pitchFamily="34" charset="0"/>
                          <a:cs typeface="Arial" panose="020B0604020202020204" pitchFamily="34" charset="0"/>
                        </a:rPr>
                        <a:t>Reinvestment Assumption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latin typeface="Arial" panose="020B0604020202020204" pitchFamily="34" charset="0"/>
                          <a:cs typeface="Arial" panose="020B0604020202020204" pitchFamily="34" charset="0"/>
                        </a:rPr>
                        <a:t>Reinvest at cost of capital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dirty="0">
                          <a:latin typeface="Arial" panose="020B0604020202020204" pitchFamily="34" charset="0"/>
                          <a:cs typeface="Arial" panose="020B0604020202020204" pitchFamily="34" charset="0"/>
                        </a:rPr>
                        <a:t>Reinvest at IRR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642483"/>
                  </a:ext>
                </a:extLst>
              </a:tr>
              <a:tr h="744995">
                <a:tc>
                  <a:txBody>
                    <a:bodyPr/>
                    <a:lstStyle/>
                    <a:p>
                      <a:r>
                        <a:rPr lang="en-IN" sz="2000">
                          <a:latin typeface="Arial" panose="020B0604020202020204" pitchFamily="34" charset="0"/>
                          <a:cs typeface="Arial" panose="020B0604020202020204" pitchFamily="34" charset="0"/>
                        </a:rPr>
                        <a:t>Reliability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dirty="0">
                          <a:latin typeface="Arial" panose="020B0604020202020204" pitchFamily="34" charset="0"/>
                          <a:cs typeface="Arial" panose="020B0604020202020204" pitchFamily="34" charset="0"/>
                        </a:rPr>
                        <a:t>More reliable for unique decisions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latin typeface="Arial" panose="020B0604020202020204" pitchFamily="34" charset="0"/>
                          <a:cs typeface="Arial" panose="020B0604020202020204" pitchFamily="34" charset="0"/>
                        </a:rPr>
                        <a:t>Can be misleading in special cases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02119915"/>
                  </a:ext>
                </a:extLst>
              </a:tr>
              <a:tr h="1021005">
                <a:tc>
                  <a:txBody>
                    <a:bodyPr/>
                    <a:lstStyle/>
                    <a:p>
                      <a:r>
                        <a:rPr lang="en-IN" sz="2000" dirty="0">
                          <a:latin typeface="Arial" panose="020B0604020202020204" pitchFamily="34" charset="0"/>
                          <a:cs typeface="Arial" panose="020B0604020202020204" pitchFamily="34" charset="0"/>
                        </a:rPr>
                        <a:t>Multiple Rates Issue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dirty="0">
                          <a:latin typeface="Arial" panose="020B0604020202020204" pitchFamily="34" charset="0"/>
                          <a:cs typeface="Arial" panose="020B0604020202020204" pitchFamily="34" charset="0"/>
                        </a:rPr>
                        <a:t>No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latin typeface="Arial" panose="020B0604020202020204" pitchFamily="34" charset="0"/>
                          <a:cs typeface="Arial" panose="020B0604020202020204" pitchFamily="34" charset="0"/>
                        </a:rPr>
                        <a:t>Possible with non-conventional cash flows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49108697"/>
                  </a:ext>
                </a:extLst>
              </a:tr>
            </a:tbl>
          </a:graphicData>
        </a:graphic>
      </p:graphicFrame>
    </p:spTree>
    <p:extLst>
      <p:ext uri="{BB962C8B-B14F-4D97-AF65-F5344CB8AC3E}">
        <p14:creationId xmlns:p14="http://schemas.microsoft.com/office/powerpoint/2010/main" val="162201127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750F95C-005F-42A1-AD9B-6631B5ED5937}"/>
              </a:ext>
            </a:extLst>
          </p:cNvPr>
          <p:cNvSpPr>
            <a:spLocks noGrp="1"/>
          </p:cNvSpPr>
          <p:nvPr>
            <p:ph type="title"/>
          </p:nvPr>
        </p:nvSpPr>
        <p:spPr>
          <a:xfrm>
            <a:off x="748553" y="153146"/>
            <a:ext cx="10123235" cy="533867"/>
          </a:xfrm>
          <a:prstGeom prst="rect">
            <a:avLst/>
          </a:prstGeom>
          <a:solidFill>
            <a:schemeClr val="tx2">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r>
              <a:rPr lang="en-US" sz="2400" dirty="0">
                <a:solidFill>
                  <a:schemeClr val="accent1"/>
                </a:solidFill>
                <a:latin typeface="Arial" panose="020B0604020202020204" pitchFamily="34" charset="0"/>
                <a:cs typeface="Arial" panose="020B0604020202020204" pitchFamily="34" charset="0"/>
              </a:rPr>
              <a:t>Question</a:t>
            </a:r>
            <a:endParaRPr lang="en-IN" sz="2400" dirty="0">
              <a:solidFill>
                <a:schemeClr val="accent1"/>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A72C9E36-B70B-46C9-997A-F4D7C97AA8D8}"/>
              </a:ext>
            </a:extLst>
          </p:cNvPr>
          <p:cNvSpPr>
            <a:spLocks noGrp="1"/>
          </p:cNvSpPr>
          <p:nvPr>
            <p:ph type="body" sz="half" idx="4294967295"/>
          </p:nvPr>
        </p:nvSpPr>
        <p:spPr>
          <a:xfrm>
            <a:off x="838199" y="887506"/>
            <a:ext cx="10403541" cy="4981482"/>
          </a:xfrm>
        </p:spPr>
        <p:txBody>
          <a:bodyPr>
            <a:normAutofit/>
          </a:bodyPr>
          <a:lstStyle/>
          <a:p>
            <a:pPr marL="0" indent="0">
              <a:lnSpc>
                <a:spcPct val="200000"/>
              </a:lnSpc>
              <a:buNone/>
            </a:pPr>
            <a:endParaRPr lang="en-US" sz="1400" dirty="0"/>
          </a:p>
          <a:p>
            <a:pPr marL="0" indent="0">
              <a:lnSpc>
                <a:spcPct val="200000"/>
              </a:lnSpc>
              <a:buNone/>
            </a:pPr>
            <a:endParaRPr lang="en-US" sz="1400" dirty="0"/>
          </a:p>
          <a:p>
            <a:pPr marL="0" indent="0">
              <a:lnSpc>
                <a:spcPct val="200000"/>
              </a:lnSpc>
              <a:buNone/>
            </a:pPr>
            <a:r>
              <a:rPr lang="en-US" sz="1400" dirty="0"/>
              <a:t>"</a:t>
            </a:r>
            <a:r>
              <a:rPr lang="en-US" sz="2000" i="1" dirty="0">
                <a:latin typeface="Arial" panose="020B0604020202020204" pitchFamily="34" charset="0"/>
                <a:cs typeface="Arial" panose="020B0604020202020204" pitchFamily="34" charset="0"/>
              </a:rPr>
              <a:t>How can the IRR method lead to incorrect investment decisions when evaluating mutually exclusive projects?"</a:t>
            </a:r>
            <a:endParaRPr lang="en-US" sz="2000" i="1" dirty="0">
              <a:solidFill>
                <a:schemeClr val="accent1"/>
              </a:solidFill>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1A8F9582-68CE-431C-8B72-88E14F073978}"/>
              </a:ext>
            </a:extLst>
          </p:cNvPr>
          <p:cNvPicPr>
            <a:picLocks noChangeAspect="1"/>
          </p:cNvPicPr>
          <p:nvPr/>
        </p:nvPicPr>
        <p:blipFill>
          <a:blip r:embed="rId2"/>
          <a:stretch>
            <a:fillRect/>
          </a:stretch>
        </p:blipFill>
        <p:spPr>
          <a:xfrm>
            <a:off x="11027635" y="51275"/>
            <a:ext cx="966091" cy="746583"/>
          </a:xfrm>
          <a:prstGeom prst="rect">
            <a:avLst/>
          </a:prstGeom>
        </p:spPr>
      </p:pic>
      <p:sp>
        <p:nvSpPr>
          <p:cNvPr id="2" name="Slide Number Placeholder 1">
            <a:extLst>
              <a:ext uri="{FF2B5EF4-FFF2-40B4-BE49-F238E27FC236}">
                <a16:creationId xmlns:a16="http://schemas.microsoft.com/office/drawing/2014/main" id="{3EEE3E35-0D13-469A-9E0F-622ACCC7CC9A}"/>
              </a:ext>
            </a:extLst>
          </p:cNvPr>
          <p:cNvSpPr>
            <a:spLocks noGrp="1"/>
          </p:cNvSpPr>
          <p:nvPr>
            <p:ph type="sldNum" sz="quarter" idx="12"/>
          </p:nvPr>
        </p:nvSpPr>
        <p:spPr/>
        <p:txBody>
          <a:bodyPr/>
          <a:lstStyle/>
          <a:p>
            <a:fld id="{B7991F04-3566-4BB1-A8CB-A35BE8E11603}" type="slidenum">
              <a:rPr lang="en-IN" smtClean="0"/>
              <a:t>50</a:t>
            </a:fld>
            <a:endParaRPr lang="en-IN"/>
          </a:p>
        </p:txBody>
      </p:sp>
    </p:spTree>
    <p:extLst>
      <p:ext uri="{BB962C8B-B14F-4D97-AF65-F5344CB8AC3E}">
        <p14:creationId xmlns:p14="http://schemas.microsoft.com/office/powerpoint/2010/main" val="142354852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750F95C-005F-42A1-AD9B-6631B5ED5937}"/>
              </a:ext>
            </a:extLst>
          </p:cNvPr>
          <p:cNvSpPr>
            <a:spLocks noGrp="1"/>
          </p:cNvSpPr>
          <p:nvPr>
            <p:ph type="title"/>
          </p:nvPr>
        </p:nvSpPr>
        <p:spPr>
          <a:xfrm>
            <a:off x="748553" y="153146"/>
            <a:ext cx="10123235" cy="533867"/>
          </a:xfrm>
          <a:prstGeom prst="rect">
            <a:avLst/>
          </a:prstGeom>
          <a:solidFill>
            <a:schemeClr val="tx2">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r>
              <a:rPr lang="en-IN" sz="2400" dirty="0">
                <a:solidFill>
                  <a:schemeClr val="accent1"/>
                </a:solidFill>
                <a:latin typeface="Arial" panose="020B0604020202020204" pitchFamily="34" charset="0"/>
                <a:cs typeface="Arial" panose="020B0604020202020204" pitchFamily="34" charset="0"/>
              </a:rPr>
              <a:t>Answer</a:t>
            </a:r>
          </a:p>
        </p:txBody>
      </p:sp>
      <p:sp>
        <p:nvSpPr>
          <p:cNvPr id="3" name="Content Placeholder 2">
            <a:extLst>
              <a:ext uri="{FF2B5EF4-FFF2-40B4-BE49-F238E27FC236}">
                <a16:creationId xmlns:a16="http://schemas.microsoft.com/office/drawing/2014/main" id="{A72C9E36-B70B-46C9-997A-F4D7C97AA8D8}"/>
              </a:ext>
            </a:extLst>
          </p:cNvPr>
          <p:cNvSpPr>
            <a:spLocks noGrp="1"/>
          </p:cNvSpPr>
          <p:nvPr>
            <p:ph type="body" sz="half" idx="4294967295"/>
          </p:nvPr>
        </p:nvSpPr>
        <p:spPr>
          <a:xfrm>
            <a:off x="838199" y="887506"/>
            <a:ext cx="10403541" cy="4981482"/>
          </a:xfrm>
        </p:spPr>
        <p:txBody>
          <a:bodyPr>
            <a:normAutofit/>
          </a:bodyPr>
          <a:lstStyle/>
          <a:p>
            <a:pPr marL="0" indent="0">
              <a:lnSpc>
                <a:spcPct val="200000"/>
              </a:lnSpc>
              <a:buNone/>
            </a:pPr>
            <a:endParaRPr lang="en-US" sz="1400" dirty="0"/>
          </a:p>
          <a:p>
            <a:pPr marL="0" indent="0">
              <a:lnSpc>
                <a:spcPct val="200000"/>
              </a:lnSpc>
              <a:buNone/>
            </a:pPr>
            <a:endParaRPr lang="en-US" sz="1400" dirty="0"/>
          </a:p>
          <a:p>
            <a:pPr marL="0" indent="0">
              <a:lnSpc>
                <a:spcPct val="200000"/>
              </a:lnSpc>
              <a:buNone/>
            </a:pPr>
            <a:r>
              <a:rPr lang="en-US" sz="2000" dirty="0">
                <a:latin typeface="Arial" panose="020B0604020202020204" pitchFamily="34" charset="0"/>
                <a:cs typeface="Arial" panose="020B0604020202020204" pitchFamily="34" charset="0"/>
              </a:rPr>
              <a:t>IRR can be misleading for mutually exclusive projects because it shows the rate of return, not the actual value created. A project with a higher IRR might have a lower NPV, meaning it adds less value. Also, IRR assumes reinvestment at the IRR itself, which is unrealistic. So, NPV is more reliable for decision-making</a:t>
            </a:r>
            <a:endParaRPr lang="en-US" sz="2000" i="1" dirty="0">
              <a:solidFill>
                <a:schemeClr val="accent1"/>
              </a:solidFill>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1A8F9582-68CE-431C-8B72-88E14F073978}"/>
              </a:ext>
            </a:extLst>
          </p:cNvPr>
          <p:cNvPicPr>
            <a:picLocks noChangeAspect="1"/>
          </p:cNvPicPr>
          <p:nvPr/>
        </p:nvPicPr>
        <p:blipFill>
          <a:blip r:embed="rId2"/>
          <a:stretch>
            <a:fillRect/>
          </a:stretch>
        </p:blipFill>
        <p:spPr>
          <a:xfrm>
            <a:off x="11027635" y="51275"/>
            <a:ext cx="966091" cy="746583"/>
          </a:xfrm>
          <a:prstGeom prst="rect">
            <a:avLst/>
          </a:prstGeom>
        </p:spPr>
      </p:pic>
      <p:sp>
        <p:nvSpPr>
          <p:cNvPr id="2" name="Slide Number Placeholder 1">
            <a:extLst>
              <a:ext uri="{FF2B5EF4-FFF2-40B4-BE49-F238E27FC236}">
                <a16:creationId xmlns:a16="http://schemas.microsoft.com/office/drawing/2014/main" id="{3EEE3E35-0D13-469A-9E0F-622ACCC7CC9A}"/>
              </a:ext>
            </a:extLst>
          </p:cNvPr>
          <p:cNvSpPr>
            <a:spLocks noGrp="1"/>
          </p:cNvSpPr>
          <p:nvPr>
            <p:ph type="sldNum" sz="quarter" idx="12"/>
          </p:nvPr>
        </p:nvSpPr>
        <p:spPr/>
        <p:txBody>
          <a:bodyPr/>
          <a:lstStyle/>
          <a:p>
            <a:fld id="{B7991F04-3566-4BB1-A8CB-A35BE8E11603}" type="slidenum">
              <a:rPr lang="en-IN" smtClean="0"/>
              <a:t>51</a:t>
            </a:fld>
            <a:endParaRPr lang="en-IN"/>
          </a:p>
        </p:txBody>
      </p:sp>
    </p:spTree>
    <p:extLst>
      <p:ext uri="{BB962C8B-B14F-4D97-AF65-F5344CB8AC3E}">
        <p14:creationId xmlns:p14="http://schemas.microsoft.com/office/powerpoint/2010/main" val="406826974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750F95C-005F-42A1-AD9B-6631B5ED5937}"/>
              </a:ext>
            </a:extLst>
          </p:cNvPr>
          <p:cNvSpPr>
            <a:spLocks noGrp="1"/>
          </p:cNvSpPr>
          <p:nvPr>
            <p:ph type="title"/>
          </p:nvPr>
        </p:nvSpPr>
        <p:spPr>
          <a:xfrm>
            <a:off x="757518" y="153146"/>
            <a:ext cx="10123235" cy="533867"/>
          </a:xfrm>
          <a:prstGeom prst="rect">
            <a:avLst/>
          </a:prstGeom>
          <a:solidFill>
            <a:schemeClr val="tx2">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r>
              <a:rPr lang="en-US" sz="2400" dirty="0">
                <a:solidFill>
                  <a:schemeClr val="accent1"/>
                </a:solidFill>
                <a:latin typeface="Arial" panose="020B0604020202020204" pitchFamily="34" charset="0"/>
                <a:cs typeface="Arial" panose="020B0604020202020204" pitchFamily="34" charset="0"/>
              </a:rPr>
              <a:t>Questions</a:t>
            </a:r>
            <a:endParaRPr lang="en-IN" sz="2400" dirty="0">
              <a:solidFill>
                <a:schemeClr val="accent1"/>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A72C9E36-B70B-46C9-997A-F4D7C97AA8D8}"/>
              </a:ext>
            </a:extLst>
          </p:cNvPr>
          <p:cNvSpPr>
            <a:spLocks noGrp="1"/>
          </p:cNvSpPr>
          <p:nvPr>
            <p:ph type="body" sz="half" idx="4294967295"/>
          </p:nvPr>
        </p:nvSpPr>
        <p:spPr>
          <a:xfrm>
            <a:off x="838199" y="887506"/>
            <a:ext cx="10403541" cy="4981482"/>
          </a:xfrm>
        </p:spPr>
        <p:txBody>
          <a:bodyPr>
            <a:normAutofit/>
          </a:bodyPr>
          <a:lstStyle/>
          <a:p>
            <a:pPr marL="342900" indent="-342900">
              <a:lnSpc>
                <a:spcPct val="200000"/>
              </a:lnSpc>
              <a:buFont typeface="+mj-lt"/>
              <a:buAutoNum type="arabicPeriod"/>
            </a:pPr>
            <a:r>
              <a:rPr lang="en-US" sz="2000" dirty="0">
                <a:latin typeface="Arial" panose="020B0604020202020204" pitchFamily="34" charset="0"/>
                <a:cs typeface="Arial" panose="020B0604020202020204" pitchFamily="34" charset="0"/>
              </a:rPr>
              <a:t>  What happens if a project has multiple IRRs?</a:t>
            </a:r>
          </a:p>
          <a:p>
            <a:pPr marL="457200" indent="-457200">
              <a:lnSpc>
                <a:spcPct val="200000"/>
              </a:lnSpc>
              <a:buFont typeface="+mj-lt"/>
              <a:buAutoNum type="arabicPeriod"/>
            </a:pPr>
            <a:r>
              <a:rPr lang="en-US" sz="2000" dirty="0">
                <a:latin typeface="Arial" panose="020B0604020202020204" pitchFamily="34" charset="0"/>
                <a:cs typeface="Arial" panose="020B0604020202020204" pitchFamily="34" charset="0"/>
              </a:rPr>
              <a:t> Why is NPV preferred over IRR in capital budgeting?  Can a project have no IRR?</a:t>
            </a:r>
          </a:p>
          <a:p>
            <a:pPr marL="457200" indent="-457200">
              <a:lnSpc>
                <a:spcPct val="200000"/>
              </a:lnSpc>
              <a:buFont typeface="+mj-lt"/>
              <a:buAutoNum type="arabicPeriod"/>
            </a:pPr>
            <a:r>
              <a:rPr lang="en-US" sz="2000" dirty="0">
                <a:latin typeface="Arial" panose="020B0604020202020204" pitchFamily="34" charset="0"/>
                <a:cs typeface="Arial" panose="020B0604020202020204" pitchFamily="34" charset="0"/>
              </a:rPr>
              <a:t> What does it mean if IRR = cost of capital?</a:t>
            </a:r>
          </a:p>
          <a:p>
            <a:pPr marL="457200" indent="-457200">
              <a:lnSpc>
                <a:spcPct val="200000"/>
              </a:lnSpc>
              <a:buFont typeface="+mj-lt"/>
              <a:buAutoNum type="arabicPeriod"/>
            </a:pPr>
            <a:r>
              <a:rPr lang="en-US" sz="2000" dirty="0">
                <a:latin typeface="Arial" panose="020B0604020202020204" pitchFamily="34" charset="0"/>
                <a:cs typeface="Arial" panose="020B0604020202020204" pitchFamily="34" charset="0"/>
              </a:rPr>
              <a:t> How do timing differences in cash flows affect IRR and NPV?</a:t>
            </a:r>
          </a:p>
          <a:p>
            <a:pPr marL="457200" indent="-457200">
              <a:lnSpc>
                <a:spcPct val="200000"/>
              </a:lnSpc>
              <a:buFont typeface="+mj-lt"/>
              <a:buAutoNum type="arabicPeriod"/>
            </a:pPr>
            <a:r>
              <a:rPr lang="en-US" sz="2000" dirty="0">
                <a:latin typeface="Arial" panose="020B0604020202020204" pitchFamily="34" charset="0"/>
                <a:cs typeface="Arial" panose="020B0604020202020204" pitchFamily="34" charset="0"/>
              </a:rPr>
              <a:t>Can IRR and NPV give conflicting decisions? When and why?</a:t>
            </a:r>
          </a:p>
          <a:p>
            <a:pPr marL="457200" indent="-457200">
              <a:lnSpc>
                <a:spcPct val="200000"/>
              </a:lnSpc>
              <a:buFont typeface="+mj-lt"/>
              <a:buAutoNum type="arabicPeriod"/>
            </a:pPr>
            <a:endParaRPr lang="en-US" sz="2000" dirty="0">
              <a:solidFill>
                <a:schemeClr val="accent1"/>
              </a:solidFill>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1A8F9582-68CE-431C-8B72-88E14F073978}"/>
              </a:ext>
            </a:extLst>
          </p:cNvPr>
          <p:cNvPicPr>
            <a:picLocks noChangeAspect="1"/>
          </p:cNvPicPr>
          <p:nvPr/>
        </p:nvPicPr>
        <p:blipFill>
          <a:blip r:embed="rId2"/>
          <a:stretch>
            <a:fillRect/>
          </a:stretch>
        </p:blipFill>
        <p:spPr>
          <a:xfrm>
            <a:off x="11027635" y="51275"/>
            <a:ext cx="966091" cy="746583"/>
          </a:xfrm>
          <a:prstGeom prst="rect">
            <a:avLst/>
          </a:prstGeom>
        </p:spPr>
      </p:pic>
      <p:sp>
        <p:nvSpPr>
          <p:cNvPr id="2" name="Slide Number Placeholder 1">
            <a:extLst>
              <a:ext uri="{FF2B5EF4-FFF2-40B4-BE49-F238E27FC236}">
                <a16:creationId xmlns:a16="http://schemas.microsoft.com/office/drawing/2014/main" id="{3EEE3E35-0D13-469A-9E0F-622ACCC7CC9A}"/>
              </a:ext>
            </a:extLst>
          </p:cNvPr>
          <p:cNvSpPr>
            <a:spLocks noGrp="1"/>
          </p:cNvSpPr>
          <p:nvPr>
            <p:ph type="sldNum" sz="quarter" idx="12"/>
          </p:nvPr>
        </p:nvSpPr>
        <p:spPr/>
        <p:txBody>
          <a:bodyPr/>
          <a:lstStyle/>
          <a:p>
            <a:fld id="{B7991F04-3566-4BB1-A8CB-A35BE8E11603}" type="slidenum">
              <a:rPr lang="en-IN" smtClean="0"/>
              <a:t>52</a:t>
            </a:fld>
            <a:endParaRPr lang="en-IN"/>
          </a:p>
        </p:txBody>
      </p:sp>
    </p:spTree>
    <p:extLst>
      <p:ext uri="{BB962C8B-B14F-4D97-AF65-F5344CB8AC3E}">
        <p14:creationId xmlns:p14="http://schemas.microsoft.com/office/powerpoint/2010/main" val="17622240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750F95C-005F-42A1-AD9B-6631B5ED5937}"/>
              </a:ext>
            </a:extLst>
          </p:cNvPr>
          <p:cNvSpPr>
            <a:spLocks noGrp="1"/>
          </p:cNvSpPr>
          <p:nvPr>
            <p:ph type="title"/>
          </p:nvPr>
        </p:nvSpPr>
        <p:spPr>
          <a:xfrm>
            <a:off x="748553" y="153146"/>
            <a:ext cx="10123235" cy="533867"/>
          </a:xfrm>
          <a:prstGeom prst="rect">
            <a:avLst/>
          </a:prstGeom>
          <a:solidFill>
            <a:schemeClr val="tx2">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r>
              <a:rPr lang="en-US" sz="2400" dirty="0">
                <a:solidFill>
                  <a:schemeClr val="accent1"/>
                </a:solidFill>
                <a:latin typeface="Arial" panose="020B0604020202020204" pitchFamily="34" charset="0"/>
                <a:cs typeface="Arial" panose="020B0604020202020204" pitchFamily="34" charset="0"/>
              </a:rPr>
              <a:t>Comparison of Capital Budgeting Techniques</a:t>
            </a:r>
            <a:endParaRPr lang="en-IN" sz="2400" dirty="0">
              <a:solidFill>
                <a:schemeClr val="accent1"/>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A72C9E36-B70B-46C9-997A-F4D7C97AA8D8}"/>
              </a:ext>
            </a:extLst>
          </p:cNvPr>
          <p:cNvSpPr>
            <a:spLocks noGrp="1"/>
          </p:cNvSpPr>
          <p:nvPr>
            <p:ph type="body" sz="half" idx="4294967295"/>
          </p:nvPr>
        </p:nvSpPr>
        <p:spPr>
          <a:xfrm>
            <a:off x="838199" y="887506"/>
            <a:ext cx="10403541" cy="4981482"/>
          </a:xfrm>
        </p:spPr>
        <p:txBody>
          <a:bodyPr>
            <a:normAutofit/>
          </a:bodyPr>
          <a:lstStyle/>
          <a:p>
            <a:pPr marL="342900" indent="-342900">
              <a:lnSpc>
                <a:spcPct val="200000"/>
              </a:lnSpc>
              <a:buFont typeface="+mj-lt"/>
              <a:buAutoNum type="arabicPeriod"/>
            </a:pPr>
            <a:endParaRPr lang="en-US" sz="1400" dirty="0"/>
          </a:p>
          <a:p>
            <a:pPr marL="0" indent="0">
              <a:lnSpc>
                <a:spcPct val="200000"/>
              </a:lnSpc>
              <a:buNone/>
            </a:pPr>
            <a:endParaRPr lang="en-US" sz="2000" dirty="0">
              <a:solidFill>
                <a:schemeClr val="accent1"/>
              </a:solidFill>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1A8F9582-68CE-431C-8B72-88E14F073978}"/>
              </a:ext>
            </a:extLst>
          </p:cNvPr>
          <p:cNvPicPr>
            <a:picLocks noChangeAspect="1"/>
          </p:cNvPicPr>
          <p:nvPr/>
        </p:nvPicPr>
        <p:blipFill>
          <a:blip r:embed="rId2"/>
          <a:stretch>
            <a:fillRect/>
          </a:stretch>
        </p:blipFill>
        <p:spPr>
          <a:xfrm>
            <a:off x="11027635" y="51275"/>
            <a:ext cx="966091" cy="746583"/>
          </a:xfrm>
          <a:prstGeom prst="rect">
            <a:avLst/>
          </a:prstGeom>
        </p:spPr>
      </p:pic>
      <p:sp>
        <p:nvSpPr>
          <p:cNvPr id="2" name="Slide Number Placeholder 1">
            <a:extLst>
              <a:ext uri="{FF2B5EF4-FFF2-40B4-BE49-F238E27FC236}">
                <a16:creationId xmlns:a16="http://schemas.microsoft.com/office/drawing/2014/main" id="{3EEE3E35-0D13-469A-9E0F-622ACCC7CC9A}"/>
              </a:ext>
            </a:extLst>
          </p:cNvPr>
          <p:cNvSpPr>
            <a:spLocks noGrp="1"/>
          </p:cNvSpPr>
          <p:nvPr>
            <p:ph type="sldNum" sz="quarter" idx="12"/>
          </p:nvPr>
        </p:nvSpPr>
        <p:spPr/>
        <p:txBody>
          <a:bodyPr/>
          <a:lstStyle/>
          <a:p>
            <a:fld id="{B7991F04-3566-4BB1-A8CB-A35BE8E11603}" type="slidenum">
              <a:rPr lang="en-IN" smtClean="0"/>
              <a:t>53</a:t>
            </a:fld>
            <a:endParaRPr lang="en-IN"/>
          </a:p>
        </p:txBody>
      </p:sp>
      <p:graphicFrame>
        <p:nvGraphicFramePr>
          <p:cNvPr id="7" name="Table 6">
            <a:extLst>
              <a:ext uri="{FF2B5EF4-FFF2-40B4-BE49-F238E27FC236}">
                <a16:creationId xmlns:a16="http://schemas.microsoft.com/office/drawing/2014/main" id="{8FFDF59C-883A-4611-BC83-B614A1E496B3}"/>
              </a:ext>
            </a:extLst>
          </p:cNvPr>
          <p:cNvGraphicFramePr>
            <a:graphicFrameLocks noGrp="1"/>
          </p:cNvGraphicFramePr>
          <p:nvPr/>
        </p:nvGraphicFramePr>
        <p:xfrm>
          <a:off x="838200" y="1285220"/>
          <a:ext cx="10515600" cy="4458860"/>
        </p:xfrm>
        <a:graphic>
          <a:graphicData uri="http://schemas.openxmlformats.org/drawingml/2006/table">
            <a:tbl>
              <a:tblPr/>
              <a:tblGrid>
                <a:gridCol w="2103120">
                  <a:extLst>
                    <a:ext uri="{9D8B030D-6E8A-4147-A177-3AD203B41FA5}">
                      <a16:colId xmlns:a16="http://schemas.microsoft.com/office/drawing/2014/main" val="3493976164"/>
                    </a:ext>
                  </a:extLst>
                </a:gridCol>
                <a:gridCol w="2103120">
                  <a:extLst>
                    <a:ext uri="{9D8B030D-6E8A-4147-A177-3AD203B41FA5}">
                      <a16:colId xmlns:a16="http://schemas.microsoft.com/office/drawing/2014/main" val="1854665334"/>
                    </a:ext>
                  </a:extLst>
                </a:gridCol>
                <a:gridCol w="2103120">
                  <a:extLst>
                    <a:ext uri="{9D8B030D-6E8A-4147-A177-3AD203B41FA5}">
                      <a16:colId xmlns:a16="http://schemas.microsoft.com/office/drawing/2014/main" val="1506943163"/>
                    </a:ext>
                  </a:extLst>
                </a:gridCol>
                <a:gridCol w="2103120">
                  <a:extLst>
                    <a:ext uri="{9D8B030D-6E8A-4147-A177-3AD203B41FA5}">
                      <a16:colId xmlns:a16="http://schemas.microsoft.com/office/drawing/2014/main" val="1937888670"/>
                    </a:ext>
                  </a:extLst>
                </a:gridCol>
                <a:gridCol w="2103120">
                  <a:extLst>
                    <a:ext uri="{9D8B030D-6E8A-4147-A177-3AD203B41FA5}">
                      <a16:colId xmlns:a16="http://schemas.microsoft.com/office/drawing/2014/main" val="2523152507"/>
                    </a:ext>
                  </a:extLst>
                </a:gridCol>
              </a:tblGrid>
              <a:tr h="863255">
                <a:tc>
                  <a:txBody>
                    <a:bodyPr/>
                    <a:lstStyle/>
                    <a:p>
                      <a:r>
                        <a:rPr lang="en-IN" sz="2000" dirty="0">
                          <a:solidFill>
                            <a:schemeClr val="accent1"/>
                          </a:solidFill>
                          <a:latin typeface="Arial" panose="020B0604020202020204" pitchFamily="34" charset="0"/>
                          <a:cs typeface="Arial" panose="020B0604020202020204" pitchFamily="34" charset="0"/>
                        </a:rPr>
                        <a:t>Method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dirty="0">
                          <a:solidFill>
                            <a:schemeClr val="accent1"/>
                          </a:solidFill>
                          <a:latin typeface="Arial" panose="020B0604020202020204" pitchFamily="34" charset="0"/>
                          <a:cs typeface="Arial" panose="020B0604020202020204" pitchFamily="34" charset="0"/>
                        </a:rPr>
                        <a:t>Time Value of Money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dirty="0">
                          <a:solidFill>
                            <a:schemeClr val="accent1"/>
                          </a:solidFill>
                          <a:latin typeface="Arial" panose="020B0604020202020204" pitchFamily="34" charset="0"/>
                          <a:cs typeface="Arial" panose="020B0604020202020204" pitchFamily="34" charset="0"/>
                        </a:rPr>
                        <a:t>Considers All Cash Flows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dirty="0">
                          <a:solidFill>
                            <a:schemeClr val="accent1"/>
                          </a:solidFill>
                          <a:latin typeface="Arial" panose="020B0604020202020204" pitchFamily="34" charset="0"/>
                          <a:cs typeface="Arial" panose="020B0604020202020204" pitchFamily="34" charset="0"/>
                        </a:rPr>
                        <a:t>Output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dirty="0">
                          <a:solidFill>
                            <a:schemeClr val="accent1"/>
                          </a:solidFill>
                          <a:latin typeface="Arial" panose="020B0604020202020204" pitchFamily="34" charset="0"/>
                          <a:cs typeface="Arial" panose="020B0604020202020204" pitchFamily="34" charset="0"/>
                        </a:rPr>
                        <a:t>Best Used For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86379138"/>
                  </a:ext>
                </a:extLst>
              </a:tr>
              <a:tr h="863255">
                <a:tc>
                  <a:txBody>
                    <a:bodyPr/>
                    <a:lstStyle/>
                    <a:p>
                      <a:r>
                        <a:rPr lang="en-IN" sz="2000" dirty="0">
                          <a:latin typeface="Arial" panose="020B0604020202020204" pitchFamily="34" charset="0"/>
                          <a:cs typeface="Arial" panose="020B0604020202020204" pitchFamily="34" charset="0"/>
                        </a:rPr>
                        <a:t>Payback Period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dirty="0">
                          <a:latin typeface="Arial" panose="020B0604020202020204" pitchFamily="34" charset="0"/>
                          <a:cs typeface="Arial" panose="020B0604020202020204" pitchFamily="34" charset="0"/>
                        </a:rPr>
                        <a:t> No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dirty="0">
                          <a:latin typeface="Arial" panose="020B0604020202020204" pitchFamily="34" charset="0"/>
                          <a:cs typeface="Arial" panose="020B0604020202020204" pitchFamily="34" charset="0"/>
                        </a:rPr>
                        <a:t> No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a:latin typeface="Arial" panose="020B0604020202020204" pitchFamily="34" charset="0"/>
                          <a:cs typeface="Arial" panose="020B0604020202020204" pitchFamily="34" charset="0"/>
                        </a:rPr>
                        <a:t>Years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a:latin typeface="Arial" panose="020B0604020202020204" pitchFamily="34" charset="0"/>
                          <a:cs typeface="Arial" panose="020B0604020202020204" pitchFamily="34" charset="0"/>
                        </a:rPr>
                        <a:t>Quick liquidity analysis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7203570"/>
                  </a:ext>
                </a:extLst>
              </a:tr>
              <a:tr h="863255">
                <a:tc>
                  <a:txBody>
                    <a:bodyPr/>
                    <a:lstStyle/>
                    <a:p>
                      <a:r>
                        <a:rPr lang="en-IN" sz="2000">
                          <a:latin typeface="Arial" panose="020B0604020202020204" pitchFamily="34" charset="0"/>
                          <a:cs typeface="Arial" panose="020B0604020202020204" pitchFamily="34" charset="0"/>
                        </a:rPr>
                        <a:t>Discounted Payback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dirty="0">
                          <a:latin typeface="Arial" panose="020B0604020202020204" pitchFamily="34" charset="0"/>
                          <a:cs typeface="Arial" panose="020B0604020202020204" pitchFamily="34" charset="0"/>
                        </a:rPr>
                        <a:t> Yes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dirty="0">
                          <a:latin typeface="Arial" panose="020B0604020202020204" pitchFamily="34" charset="0"/>
                          <a:cs typeface="Arial" panose="020B0604020202020204" pitchFamily="34" charset="0"/>
                        </a:rPr>
                        <a:t> No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dirty="0">
                          <a:latin typeface="Arial" panose="020B0604020202020204" pitchFamily="34" charset="0"/>
                          <a:cs typeface="Arial" panose="020B0604020202020204" pitchFamily="34" charset="0"/>
                        </a:rPr>
                        <a:t>Years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dirty="0">
                          <a:latin typeface="Arial" panose="020B0604020202020204" pitchFamily="34" charset="0"/>
                          <a:cs typeface="Arial" panose="020B0604020202020204" pitchFamily="34" charset="0"/>
                        </a:rPr>
                        <a:t>Risk-sensitive liquidity analysis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90308695"/>
                  </a:ext>
                </a:extLst>
              </a:tr>
              <a:tr h="863255">
                <a:tc>
                  <a:txBody>
                    <a:bodyPr/>
                    <a:lstStyle/>
                    <a:p>
                      <a:r>
                        <a:rPr lang="en-IN" sz="2000">
                          <a:latin typeface="Arial" panose="020B0604020202020204" pitchFamily="34" charset="0"/>
                          <a:cs typeface="Arial" panose="020B0604020202020204" pitchFamily="34" charset="0"/>
                        </a:rPr>
                        <a:t>NPV</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dirty="0">
                          <a:latin typeface="Arial" panose="020B0604020202020204" pitchFamily="34" charset="0"/>
                          <a:cs typeface="Arial" panose="020B0604020202020204" pitchFamily="34" charset="0"/>
                        </a:rPr>
                        <a:t> Yes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dirty="0">
                          <a:latin typeface="Arial" panose="020B0604020202020204" pitchFamily="34" charset="0"/>
                          <a:cs typeface="Arial" panose="020B0604020202020204" pitchFamily="34" charset="0"/>
                        </a:rPr>
                        <a:t> Yes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b="0" i="0" kern="1200" dirty="0">
                          <a:solidFill>
                            <a:schemeClr val="tx1"/>
                          </a:solidFill>
                          <a:effectLst/>
                          <a:latin typeface="+mn-lt"/>
                          <a:ea typeface="+mn-ea"/>
                          <a:cs typeface="+mn-cs"/>
                        </a:rPr>
                        <a:t>₹</a:t>
                      </a:r>
                      <a:r>
                        <a:rPr lang="en-IN" sz="2000" dirty="0">
                          <a:latin typeface="Arial" panose="020B0604020202020204" pitchFamily="34" charset="0"/>
                          <a:cs typeface="Arial" panose="020B0604020202020204" pitchFamily="34" charset="0"/>
                        </a:rPr>
                        <a:t> Value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dirty="0">
                          <a:latin typeface="Arial" panose="020B0604020202020204" pitchFamily="34" charset="0"/>
                          <a:cs typeface="Arial" panose="020B0604020202020204" pitchFamily="34" charset="0"/>
                        </a:rPr>
                        <a:t>Profit-maximizing decisions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93954481"/>
                  </a:ext>
                </a:extLst>
              </a:tr>
              <a:tr h="863255">
                <a:tc>
                  <a:txBody>
                    <a:bodyPr/>
                    <a:lstStyle/>
                    <a:p>
                      <a:r>
                        <a:rPr lang="en-IN" sz="2000">
                          <a:latin typeface="Arial" panose="020B0604020202020204" pitchFamily="34" charset="0"/>
                          <a:cs typeface="Arial" panose="020B0604020202020204" pitchFamily="34" charset="0"/>
                        </a:rPr>
                        <a:t>IRR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dirty="0">
                          <a:latin typeface="Arial" panose="020B0604020202020204" pitchFamily="34" charset="0"/>
                          <a:cs typeface="Arial" panose="020B0604020202020204" pitchFamily="34" charset="0"/>
                        </a:rPr>
                        <a:t> Yes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dirty="0">
                          <a:latin typeface="Arial" panose="020B0604020202020204" pitchFamily="34" charset="0"/>
                          <a:cs typeface="Arial" panose="020B0604020202020204" pitchFamily="34" charset="0"/>
                        </a:rPr>
                        <a:t> Yes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dirty="0">
                          <a:latin typeface="Arial" panose="020B0604020202020204" pitchFamily="34" charset="0"/>
                          <a:cs typeface="Arial" panose="020B0604020202020204" pitchFamily="34" charset="0"/>
                        </a:rPr>
                        <a:t>% Return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dirty="0">
                          <a:latin typeface="Arial" panose="020B0604020202020204" pitchFamily="34" charset="0"/>
                          <a:cs typeface="Arial" panose="020B0604020202020204" pitchFamily="34" charset="0"/>
                        </a:rPr>
                        <a:t>Comparing profitability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45407717"/>
                  </a:ext>
                </a:extLst>
              </a:tr>
            </a:tbl>
          </a:graphicData>
        </a:graphic>
      </p:graphicFrame>
    </p:spTree>
    <p:extLst>
      <p:ext uri="{BB962C8B-B14F-4D97-AF65-F5344CB8AC3E}">
        <p14:creationId xmlns:p14="http://schemas.microsoft.com/office/powerpoint/2010/main" val="11312784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750F95C-005F-42A1-AD9B-6631B5ED5937}"/>
              </a:ext>
            </a:extLst>
          </p:cNvPr>
          <p:cNvSpPr>
            <a:spLocks noGrp="1"/>
          </p:cNvSpPr>
          <p:nvPr>
            <p:ph type="title"/>
          </p:nvPr>
        </p:nvSpPr>
        <p:spPr>
          <a:xfrm>
            <a:off x="730623" y="153146"/>
            <a:ext cx="10123235" cy="533867"/>
          </a:xfrm>
          <a:prstGeom prst="rect">
            <a:avLst/>
          </a:prstGeom>
          <a:solidFill>
            <a:schemeClr val="tx2">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br>
              <a:rPr lang="en-IN" sz="1050" dirty="0"/>
            </a:br>
            <a:br>
              <a:rPr lang="en-IN" sz="1050" dirty="0"/>
            </a:br>
            <a:br>
              <a:rPr lang="en-IN" sz="1050" dirty="0"/>
            </a:br>
            <a:br>
              <a:rPr lang="en-IN" sz="1050" dirty="0"/>
            </a:br>
            <a:r>
              <a:rPr lang="en-US" sz="2400" dirty="0">
                <a:solidFill>
                  <a:schemeClr val="accent1"/>
                </a:solidFill>
                <a:latin typeface="Arial" panose="020B0604020202020204" pitchFamily="34" charset="0"/>
                <a:cs typeface="Arial" panose="020B0604020202020204" pitchFamily="34" charset="0"/>
              </a:rPr>
              <a:t>Questions</a:t>
            </a:r>
            <a:br>
              <a:rPr lang="en-IN" sz="2400" dirty="0">
                <a:solidFill>
                  <a:schemeClr val="accent1"/>
                </a:solidFill>
                <a:latin typeface="Arial" panose="020B0604020202020204" pitchFamily="34" charset="0"/>
                <a:cs typeface="Arial" panose="020B0604020202020204" pitchFamily="34" charset="0"/>
              </a:rPr>
            </a:br>
            <a:br>
              <a:rPr lang="en-IN" sz="2400" dirty="0">
                <a:solidFill>
                  <a:schemeClr val="accent1"/>
                </a:solidFill>
                <a:latin typeface="Arial" panose="020B0604020202020204" pitchFamily="34" charset="0"/>
                <a:cs typeface="Arial" panose="020B0604020202020204" pitchFamily="34" charset="0"/>
              </a:rPr>
            </a:br>
            <a:endParaRPr lang="en-IN" sz="2400" dirty="0">
              <a:solidFill>
                <a:schemeClr val="accent1"/>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A72C9E36-B70B-46C9-997A-F4D7C97AA8D8}"/>
              </a:ext>
            </a:extLst>
          </p:cNvPr>
          <p:cNvSpPr>
            <a:spLocks noGrp="1"/>
          </p:cNvSpPr>
          <p:nvPr>
            <p:ph type="body" sz="half" idx="4294967295"/>
          </p:nvPr>
        </p:nvSpPr>
        <p:spPr>
          <a:xfrm>
            <a:off x="838199" y="887506"/>
            <a:ext cx="10403541" cy="4981482"/>
          </a:xfrm>
        </p:spPr>
        <p:txBody>
          <a:bodyPr>
            <a:normAutofit/>
          </a:bodyPr>
          <a:lstStyle/>
          <a:p>
            <a:pPr marL="0" indent="0">
              <a:lnSpc>
                <a:spcPct val="250000"/>
              </a:lnSpc>
              <a:buNone/>
            </a:pPr>
            <a:r>
              <a:rPr lang="en-US" sz="1400" b="1" dirty="0">
                <a:solidFill>
                  <a:schemeClr val="accent1"/>
                </a:solidFill>
              </a:rPr>
              <a:t> </a:t>
            </a:r>
            <a:r>
              <a:rPr lang="en-US" sz="2000" dirty="0">
                <a:solidFill>
                  <a:schemeClr val="accent1"/>
                </a:solidFill>
                <a:latin typeface="Arial" panose="020B0604020202020204" pitchFamily="34" charset="0"/>
                <a:cs typeface="Arial" panose="020B0604020202020204" pitchFamily="34" charset="0"/>
              </a:rPr>
              <a:t>Question 1:</a:t>
            </a:r>
          </a:p>
          <a:p>
            <a:pPr marL="0" indent="0">
              <a:lnSpc>
                <a:spcPct val="250000"/>
              </a:lnSpc>
              <a:buNone/>
            </a:pPr>
            <a:r>
              <a:rPr lang="en-US" sz="2000" i="1" dirty="0">
                <a:latin typeface="Arial" panose="020B0604020202020204" pitchFamily="34" charset="0"/>
                <a:cs typeface="Arial" panose="020B0604020202020204" pitchFamily="34" charset="0"/>
              </a:rPr>
              <a:t>If a project has a shorter payback period but a lower NPV compared to another project, which should a company choose? Why?</a:t>
            </a:r>
            <a:endParaRPr lang="en-US" sz="2000" dirty="0">
              <a:latin typeface="Arial" panose="020B0604020202020204" pitchFamily="34" charset="0"/>
              <a:cs typeface="Arial" panose="020B0604020202020204" pitchFamily="34" charset="0"/>
            </a:endParaRPr>
          </a:p>
          <a:p>
            <a:pPr marL="0" indent="0" algn="just">
              <a:lnSpc>
                <a:spcPct val="200000"/>
              </a:lnSpc>
              <a:buNone/>
            </a:pPr>
            <a:endParaRPr lang="en-US" sz="2000"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1A8F9582-68CE-431C-8B72-88E14F073978}"/>
              </a:ext>
            </a:extLst>
          </p:cNvPr>
          <p:cNvPicPr>
            <a:picLocks noChangeAspect="1"/>
          </p:cNvPicPr>
          <p:nvPr/>
        </p:nvPicPr>
        <p:blipFill>
          <a:blip r:embed="rId2"/>
          <a:stretch>
            <a:fillRect/>
          </a:stretch>
        </p:blipFill>
        <p:spPr>
          <a:xfrm>
            <a:off x="11027635" y="51275"/>
            <a:ext cx="966091" cy="746583"/>
          </a:xfrm>
          <a:prstGeom prst="rect">
            <a:avLst/>
          </a:prstGeom>
        </p:spPr>
      </p:pic>
      <p:sp>
        <p:nvSpPr>
          <p:cNvPr id="2" name="Slide Number Placeholder 1">
            <a:extLst>
              <a:ext uri="{FF2B5EF4-FFF2-40B4-BE49-F238E27FC236}">
                <a16:creationId xmlns:a16="http://schemas.microsoft.com/office/drawing/2014/main" id="{3EEE3E35-0D13-469A-9E0F-622ACCC7CC9A}"/>
              </a:ext>
            </a:extLst>
          </p:cNvPr>
          <p:cNvSpPr>
            <a:spLocks noGrp="1"/>
          </p:cNvSpPr>
          <p:nvPr>
            <p:ph type="sldNum" sz="quarter" idx="12"/>
          </p:nvPr>
        </p:nvSpPr>
        <p:spPr/>
        <p:txBody>
          <a:bodyPr/>
          <a:lstStyle/>
          <a:p>
            <a:fld id="{B7991F04-3566-4BB1-A8CB-A35BE8E11603}" type="slidenum">
              <a:rPr lang="en-IN" smtClean="0"/>
              <a:t>54</a:t>
            </a:fld>
            <a:endParaRPr lang="en-IN"/>
          </a:p>
        </p:txBody>
      </p:sp>
    </p:spTree>
    <p:extLst>
      <p:ext uri="{BB962C8B-B14F-4D97-AF65-F5344CB8AC3E}">
        <p14:creationId xmlns:p14="http://schemas.microsoft.com/office/powerpoint/2010/main" val="254218317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750F95C-005F-42A1-AD9B-6631B5ED5937}"/>
              </a:ext>
            </a:extLst>
          </p:cNvPr>
          <p:cNvSpPr>
            <a:spLocks noGrp="1"/>
          </p:cNvSpPr>
          <p:nvPr>
            <p:ph type="title"/>
          </p:nvPr>
        </p:nvSpPr>
        <p:spPr>
          <a:xfrm>
            <a:off x="730623" y="153146"/>
            <a:ext cx="10123235" cy="533867"/>
          </a:xfrm>
          <a:prstGeom prst="rect">
            <a:avLst/>
          </a:prstGeom>
          <a:solidFill>
            <a:schemeClr val="tx2">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br>
              <a:rPr lang="en-IN" sz="1050" dirty="0"/>
            </a:br>
            <a:br>
              <a:rPr lang="en-IN" sz="1050" dirty="0"/>
            </a:br>
            <a:br>
              <a:rPr lang="en-IN" sz="1050" dirty="0"/>
            </a:br>
            <a:br>
              <a:rPr lang="en-IN" sz="1050" dirty="0"/>
            </a:br>
            <a:r>
              <a:rPr lang="en-US" sz="2400" dirty="0">
                <a:solidFill>
                  <a:schemeClr val="accent1"/>
                </a:solidFill>
                <a:latin typeface="Arial" panose="020B0604020202020204" pitchFamily="34" charset="0"/>
                <a:cs typeface="Arial" panose="020B0604020202020204" pitchFamily="34" charset="0"/>
              </a:rPr>
              <a:t>Answer</a:t>
            </a:r>
            <a:br>
              <a:rPr lang="en-IN" sz="2400" dirty="0">
                <a:solidFill>
                  <a:schemeClr val="accent1"/>
                </a:solidFill>
                <a:latin typeface="Arial" panose="020B0604020202020204" pitchFamily="34" charset="0"/>
                <a:cs typeface="Arial" panose="020B0604020202020204" pitchFamily="34" charset="0"/>
              </a:rPr>
            </a:br>
            <a:br>
              <a:rPr lang="en-IN" sz="2400" dirty="0">
                <a:solidFill>
                  <a:schemeClr val="accent1"/>
                </a:solidFill>
                <a:latin typeface="Arial" panose="020B0604020202020204" pitchFamily="34" charset="0"/>
                <a:cs typeface="Arial" panose="020B0604020202020204" pitchFamily="34" charset="0"/>
              </a:rPr>
            </a:br>
            <a:endParaRPr lang="en-IN" sz="2400" dirty="0">
              <a:solidFill>
                <a:schemeClr val="accent1"/>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A72C9E36-B70B-46C9-997A-F4D7C97AA8D8}"/>
              </a:ext>
            </a:extLst>
          </p:cNvPr>
          <p:cNvSpPr>
            <a:spLocks noGrp="1"/>
          </p:cNvSpPr>
          <p:nvPr>
            <p:ph type="body" sz="half" idx="4294967295"/>
          </p:nvPr>
        </p:nvSpPr>
        <p:spPr>
          <a:xfrm>
            <a:off x="838199" y="887506"/>
            <a:ext cx="10403541" cy="4981482"/>
          </a:xfrm>
        </p:spPr>
        <p:txBody>
          <a:bodyPr>
            <a:normAutofit/>
          </a:bodyPr>
          <a:lstStyle/>
          <a:p>
            <a:pPr marL="0" indent="0" algn="just">
              <a:lnSpc>
                <a:spcPct val="170000"/>
              </a:lnSpc>
              <a:buNone/>
            </a:pPr>
            <a:r>
              <a:rPr lang="en-US" sz="2000" dirty="0">
                <a:latin typeface="Arial" panose="020B0604020202020204" pitchFamily="34" charset="0"/>
                <a:cs typeface="Arial" panose="020B0604020202020204" pitchFamily="34" charset="0"/>
              </a:rPr>
              <a:t>The company should generally choose the project with the </a:t>
            </a:r>
            <a:r>
              <a:rPr lang="en-US" sz="2000" b="1" dirty="0">
                <a:latin typeface="Arial" panose="020B0604020202020204" pitchFamily="34" charset="0"/>
                <a:cs typeface="Arial" panose="020B0604020202020204" pitchFamily="34" charset="0"/>
              </a:rPr>
              <a:t>higher NPV</a:t>
            </a:r>
            <a:r>
              <a:rPr lang="en-US" sz="2000" dirty="0">
                <a:latin typeface="Arial" panose="020B0604020202020204" pitchFamily="34" charset="0"/>
                <a:cs typeface="Arial" panose="020B0604020202020204" pitchFamily="34" charset="0"/>
              </a:rPr>
              <a:t>, even if it has a longer payback period. NPV measures the total value added by the project, reflecting profitability and wealth creation. A shorter payback period focuses only on liquidity and risk recovery but ignores the overall profitability and cash flows beyond the payback point. However, if the company faces liquidity constraints or higher risk aversion, the shorter payback might be preferred.</a:t>
            </a:r>
            <a:endParaRPr lang="en-US" sz="2000" dirty="0">
              <a:solidFill>
                <a:schemeClr val="accent1"/>
              </a:solidFill>
              <a:latin typeface="Arial" panose="020B0604020202020204" pitchFamily="34" charset="0"/>
              <a:cs typeface="Arial" panose="020B0604020202020204" pitchFamily="34" charset="0"/>
            </a:endParaRPr>
          </a:p>
          <a:p>
            <a:pPr marL="0" indent="0" algn="just">
              <a:lnSpc>
                <a:spcPct val="200000"/>
              </a:lnSpc>
              <a:buNone/>
            </a:pPr>
            <a:endParaRPr lang="en-US" sz="2000"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1A8F9582-68CE-431C-8B72-88E14F073978}"/>
              </a:ext>
            </a:extLst>
          </p:cNvPr>
          <p:cNvPicPr>
            <a:picLocks noChangeAspect="1"/>
          </p:cNvPicPr>
          <p:nvPr/>
        </p:nvPicPr>
        <p:blipFill>
          <a:blip r:embed="rId2"/>
          <a:stretch>
            <a:fillRect/>
          </a:stretch>
        </p:blipFill>
        <p:spPr>
          <a:xfrm>
            <a:off x="11027635" y="51275"/>
            <a:ext cx="966091" cy="746583"/>
          </a:xfrm>
          <a:prstGeom prst="rect">
            <a:avLst/>
          </a:prstGeom>
        </p:spPr>
      </p:pic>
      <p:sp>
        <p:nvSpPr>
          <p:cNvPr id="2" name="Slide Number Placeholder 1">
            <a:extLst>
              <a:ext uri="{FF2B5EF4-FFF2-40B4-BE49-F238E27FC236}">
                <a16:creationId xmlns:a16="http://schemas.microsoft.com/office/drawing/2014/main" id="{3EEE3E35-0D13-469A-9E0F-622ACCC7CC9A}"/>
              </a:ext>
            </a:extLst>
          </p:cNvPr>
          <p:cNvSpPr>
            <a:spLocks noGrp="1"/>
          </p:cNvSpPr>
          <p:nvPr>
            <p:ph type="sldNum" sz="quarter" idx="12"/>
          </p:nvPr>
        </p:nvSpPr>
        <p:spPr/>
        <p:txBody>
          <a:bodyPr/>
          <a:lstStyle/>
          <a:p>
            <a:fld id="{B7991F04-3566-4BB1-A8CB-A35BE8E11603}" type="slidenum">
              <a:rPr lang="en-IN" smtClean="0"/>
              <a:t>55</a:t>
            </a:fld>
            <a:endParaRPr lang="en-IN"/>
          </a:p>
        </p:txBody>
      </p:sp>
    </p:spTree>
    <p:extLst>
      <p:ext uri="{BB962C8B-B14F-4D97-AF65-F5344CB8AC3E}">
        <p14:creationId xmlns:p14="http://schemas.microsoft.com/office/powerpoint/2010/main" val="77685101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405</TotalTime>
  <Words>3030</Words>
  <Application>Microsoft Office PowerPoint</Application>
  <PresentationFormat>Widescreen</PresentationFormat>
  <Paragraphs>502</Paragraphs>
  <Slides>55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55</vt:i4>
      </vt:variant>
    </vt:vector>
  </HeadingPairs>
  <TitlesOfParts>
    <vt:vector size="60" baseType="lpstr">
      <vt:lpstr>Arial</vt:lpstr>
      <vt:lpstr>Calibri</vt:lpstr>
      <vt:lpstr>Calibri Light</vt:lpstr>
      <vt:lpstr>Cambria Math</vt:lpstr>
      <vt:lpstr>Office Theme</vt:lpstr>
      <vt:lpstr>CAPITAL BUDGETING</vt:lpstr>
      <vt:lpstr>Learning Outcomes</vt:lpstr>
      <vt:lpstr>  Capital Budgeting </vt:lpstr>
      <vt:lpstr>  Capital Budgeting </vt:lpstr>
      <vt:lpstr>    Objectives of Capital Budgeting  </vt:lpstr>
      <vt:lpstr>   Steps in the Capital Budgeting Process  </vt:lpstr>
      <vt:lpstr>Steps in the Capital Budgeting Process</vt:lpstr>
      <vt:lpstr>  Capital Budgeting Techniques </vt:lpstr>
      <vt:lpstr>Payback Period</vt:lpstr>
      <vt:lpstr> Payback Period Decision Rule </vt:lpstr>
      <vt:lpstr>Example 1: Equal Cash Flows</vt:lpstr>
      <vt:lpstr> Advantages of Payback Period </vt:lpstr>
      <vt:lpstr>Disadvantages of Payback Period</vt:lpstr>
      <vt:lpstr>Summary</vt:lpstr>
      <vt:lpstr>  Discounted Payback Period </vt:lpstr>
      <vt:lpstr>  Discounted Payback Period </vt:lpstr>
      <vt:lpstr>   Example  </vt:lpstr>
      <vt:lpstr>Example</vt:lpstr>
      <vt:lpstr>Example</vt:lpstr>
      <vt:lpstr>Example</vt:lpstr>
      <vt:lpstr>     Advantages of Discounted Payback Period  </vt:lpstr>
      <vt:lpstr>     Disadvantages  </vt:lpstr>
      <vt:lpstr>     When to Use Discounted Payback Period   </vt:lpstr>
      <vt:lpstr>Discounted Payback vs Payback Period</vt:lpstr>
      <vt:lpstr>Summary</vt:lpstr>
      <vt:lpstr>    Questions  </vt:lpstr>
      <vt:lpstr>    Answer </vt:lpstr>
      <vt:lpstr>  Net Present Value (NPV) </vt:lpstr>
      <vt:lpstr>  Key Concepts in NPV </vt:lpstr>
      <vt:lpstr>  NPV Decision Rule </vt:lpstr>
      <vt:lpstr>   Example of NPV Calculation  </vt:lpstr>
      <vt:lpstr>Example of NPV Calculation</vt:lpstr>
      <vt:lpstr>  Example of NPV Calculation </vt:lpstr>
      <vt:lpstr>    Question   </vt:lpstr>
      <vt:lpstr>  Advantages of NPV </vt:lpstr>
      <vt:lpstr>Disadvantages of NPV</vt:lpstr>
      <vt:lpstr>Best Practices When Using NPV</vt:lpstr>
      <vt:lpstr> When to Use NPV </vt:lpstr>
      <vt:lpstr> Questions </vt:lpstr>
      <vt:lpstr> Answer </vt:lpstr>
      <vt:lpstr>IRR (Internal Rate of Return)</vt:lpstr>
      <vt:lpstr>Key Characteristics of IRR</vt:lpstr>
      <vt:lpstr>How to Calculate IRR</vt:lpstr>
      <vt:lpstr>Example: IRR Calculation</vt:lpstr>
      <vt:lpstr>Advantages of IRR</vt:lpstr>
      <vt:lpstr>Disadvantages of IRR</vt:lpstr>
      <vt:lpstr>Disadvantages of IRR</vt:lpstr>
      <vt:lpstr>When to Use IRR</vt:lpstr>
      <vt:lpstr>NPV vs IRR</vt:lpstr>
      <vt:lpstr>Question</vt:lpstr>
      <vt:lpstr>Answer</vt:lpstr>
      <vt:lpstr>Questions</vt:lpstr>
      <vt:lpstr>Comparison of Capital Budgeting Techniques</vt:lpstr>
      <vt:lpstr>    Questions  </vt:lpstr>
      <vt:lpstr>    Answer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Capital Budgeting</dc:title>
  <dc:creator>Subhasmita Parida</dc:creator>
  <cp:lastModifiedBy>Subhasmita Parida</cp:lastModifiedBy>
  <cp:revision>40</cp:revision>
  <dcterms:created xsi:type="dcterms:W3CDTF">2025-09-02T17:15:54Z</dcterms:created>
  <dcterms:modified xsi:type="dcterms:W3CDTF">2026-03-15T08:35:36Z</dcterms:modified>
</cp:coreProperties>
</file>