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43"/>
  </p:notesMasterIdLst>
  <p:sldIdLst>
    <p:sldId id="271" r:id="rId2"/>
    <p:sldId id="275" r:id="rId3"/>
    <p:sldId id="297" r:id="rId4"/>
    <p:sldId id="257" r:id="rId5"/>
    <p:sldId id="258" r:id="rId6"/>
    <p:sldId id="269" r:id="rId7"/>
    <p:sldId id="278" r:id="rId8"/>
    <p:sldId id="277" r:id="rId9"/>
    <p:sldId id="279" r:id="rId10"/>
    <p:sldId id="280" r:id="rId11"/>
    <p:sldId id="281" r:id="rId12"/>
    <p:sldId id="276" r:id="rId13"/>
    <p:sldId id="264" r:id="rId14"/>
    <p:sldId id="272" r:id="rId15"/>
    <p:sldId id="298" r:id="rId16"/>
    <p:sldId id="284" r:id="rId17"/>
    <p:sldId id="285" r:id="rId18"/>
    <p:sldId id="286" r:id="rId19"/>
    <p:sldId id="287" r:id="rId20"/>
    <p:sldId id="288" r:id="rId21"/>
    <p:sldId id="289" r:id="rId22"/>
    <p:sldId id="290" r:id="rId23"/>
    <p:sldId id="291" r:id="rId24"/>
    <p:sldId id="260" r:id="rId25"/>
    <p:sldId id="261" r:id="rId26"/>
    <p:sldId id="262" r:id="rId27"/>
    <p:sldId id="292" r:id="rId28"/>
    <p:sldId id="293" r:id="rId29"/>
    <p:sldId id="294" r:id="rId30"/>
    <p:sldId id="295" r:id="rId31"/>
    <p:sldId id="296" r:id="rId32"/>
    <p:sldId id="301" r:id="rId33"/>
    <p:sldId id="299" r:id="rId34"/>
    <p:sldId id="300" r:id="rId35"/>
    <p:sldId id="268" r:id="rId36"/>
    <p:sldId id="302" r:id="rId37"/>
    <p:sldId id="303" r:id="rId38"/>
    <p:sldId id="304" r:id="rId39"/>
    <p:sldId id="305" r:id="rId40"/>
    <p:sldId id="306" r:id="rId41"/>
    <p:sldId id="283" r:id="rId4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682" autoAdjust="0"/>
    <p:restoredTop sz="94660"/>
  </p:normalViewPr>
  <p:slideViewPr>
    <p:cSldViewPr snapToGrid="0">
      <p:cViewPr varScale="1">
        <p:scale>
          <a:sx n="80" d="100"/>
          <a:sy n="80" d="100"/>
        </p:scale>
        <p:origin x="98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C631327-F275-41F2-B070-6ED2C36A30F9}" type="doc">
      <dgm:prSet loTypeId="urn:microsoft.com/office/officeart/2005/8/layout/vList2" loCatId="list" qsTypeId="urn:microsoft.com/office/officeart/2005/8/quickstyle/3d3" qsCatId="3D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02571A29-9FE6-4C62-BD95-7295C0DAE2A7}">
      <dgm:prSet custT="1"/>
      <dgm:spPr/>
      <dgm:t>
        <a:bodyPr/>
        <a:lstStyle/>
        <a:p>
          <a:r>
            <a:rPr lang="en-US" sz="2400" b="1" dirty="0"/>
            <a:t>Understand the Concept of IPO</a:t>
          </a:r>
          <a:endParaRPr lang="en-IN" sz="2400" b="1" dirty="0"/>
        </a:p>
      </dgm:t>
    </dgm:pt>
    <dgm:pt modelId="{839DEC1C-D691-4D5B-8C37-8B787DFE87F1}" type="parTrans" cxnId="{7753A25B-E2B6-4978-A8C3-0EA90E018C2F}">
      <dgm:prSet/>
      <dgm:spPr/>
      <dgm:t>
        <a:bodyPr/>
        <a:lstStyle/>
        <a:p>
          <a:endParaRPr lang="en-IN" sz="2400" b="1"/>
        </a:p>
      </dgm:t>
    </dgm:pt>
    <dgm:pt modelId="{19856949-6279-4F6E-A279-55799E5D7163}" type="sibTrans" cxnId="{7753A25B-E2B6-4978-A8C3-0EA90E018C2F}">
      <dgm:prSet/>
      <dgm:spPr/>
      <dgm:t>
        <a:bodyPr/>
        <a:lstStyle/>
        <a:p>
          <a:endParaRPr lang="en-IN" sz="2400" b="1"/>
        </a:p>
      </dgm:t>
    </dgm:pt>
    <dgm:pt modelId="{76FF71D4-5231-41BB-ADBE-0DB7416822BD}">
      <dgm:prSet custT="1"/>
      <dgm:spPr/>
      <dgm:t>
        <a:bodyPr/>
        <a:lstStyle/>
        <a:p>
          <a:r>
            <a:rPr lang="en-US" sz="2400" b="1" dirty="0"/>
            <a:t>Understanding IPO mechanics helps investors and companies make informed capital market decisions</a:t>
          </a:r>
          <a:endParaRPr lang="en-IN" sz="2400" b="1" dirty="0"/>
        </a:p>
      </dgm:t>
    </dgm:pt>
    <dgm:pt modelId="{53EC64B5-F629-4492-8442-6563468C65D6}" type="parTrans" cxnId="{169A5E22-DF87-445C-937B-5E9ABAAB7494}">
      <dgm:prSet/>
      <dgm:spPr/>
      <dgm:t>
        <a:bodyPr/>
        <a:lstStyle/>
        <a:p>
          <a:endParaRPr lang="en-IN" sz="2400" b="1"/>
        </a:p>
      </dgm:t>
    </dgm:pt>
    <dgm:pt modelId="{34AA7E88-0D67-45DA-8A45-9802068185CD}" type="sibTrans" cxnId="{169A5E22-DF87-445C-937B-5E9ABAAB7494}">
      <dgm:prSet/>
      <dgm:spPr/>
      <dgm:t>
        <a:bodyPr/>
        <a:lstStyle/>
        <a:p>
          <a:endParaRPr lang="en-IN" sz="2400" b="1"/>
        </a:p>
      </dgm:t>
    </dgm:pt>
    <dgm:pt modelId="{460B9E09-BD42-4CEE-B32D-E28A20CBE412}">
      <dgm:prSet custT="1"/>
      <dgm:spPr/>
      <dgm:t>
        <a:bodyPr/>
        <a:lstStyle/>
        <a:p>
          <a:r>
            <a:rPr lang="en-US" sz="2400" b="1" dirty="0"/>
            <a:t>Analyze the critical role of IPO processing steps</a:t>
          </a:r>
          <a:endParaRPr lang="en-IN" sz="2400" b="1" dirty="0"/>
        </a:p>
      </dgm:t>
    </dgm:pt>
    <dgm:pt modelId="{CB101C09-539D-49F6-9230-56EF1F6CE2BA}" type="parTrans" cxnId="{96C47BDB-3039-472E-9018-E72D475EB75C}">
      <dgm:prSet/>
      <dgm:spPr/>
      <dgm:t>
        <a:bodyPr/>
        <a:lstStyle/>
        <a:p>
          <a:endParaRPr lang="en-IN" sz="2400" b="1"/>
        </a:p>
      </dgm:t>
    </dgm:pt>
    <dgm:pt modelId="{4527C875-12AD-46B2-A6C7-67E8C686651D}" type="sibTrans" cxnId="{96C47BDB-3039-472E-9018-E72D475EB75C}">
      <dgm:prSet/>
      <dgm:spPr/>
      <dgm:t>
        <a:bodyPr/>
        <a:lstStyle/>
        <a:p>
          <a:endParaRPr lang="en-IN" sz="2400" b="1"/>
        </a:p>
      </dgm:t>
    </dgm:pt>
    <dgm:pt modelId="{12516289-D4F9-42F3-9912-C25F2B9B97FD}">
      <dgm:prSet custT="1"/>
      <dgm:spPr/>
      <dgm:t>
        <a:bodyPr/>
        <a:lstStyle/>
        <a:p>
          <a:r>
            <a:rPr lang="en-US" sz="2400" b="1" dirty="0"/>
            <a:t>Analyze the major IPO pricing methods </a:t>
          </a:r>
          <a:endParaRPr lang="en-IN" sz="2400" b="1" dirty="0"/>
        </a:p>
      </dgm:t>
    </dgm:pt>
    <dgm:pt modelId="{DC09A198-C541-4BB0-84A0-6C9BC8B23969}" type="parTrans" cxnId="{55D34631-0B50-46CA-A592-F324D31DD17F}">
      <dgm:prSet/>
      <dgm:spPr/>
      <dgm:t>
        <a:bodyPr/>
        <a:lstStyle/>
        <a:p>
          <a:endParaRPr lang="en-IN" sz="2400" b="1"/>
        </a:p>
      </dgm:t>
    </dgm:pt>
    <dgm:pt modelId="{1C0FC638-2D99-410C-A466-FEDD82BBF0BA}" type="sibTrans" cxnId="{55D34631-0B50-46CA-A592-F324D31DD17F}">
      <dgm:prSet/>
      <dgm:spPr/>
      <dgm:t>
        <a:bodyPr/>
        <a:lstStyle/>
        <a:p>
          <a:endParaRPr lang="en-IN" sz="2400" b="1"/>
        </a:p>
      </dgm:t>
    </dgm:pt>
    <dgm:pt modelId="{F074178A-4EFD-46E9-AA7F-86E7C8E75498}">
      <dgm:prSet custT="1"/>
      <dgm:spPr/>
      <dgm:t>
        <a:bodyPr/>
        <a:lstStyle/>
        <a:p>
          <a:r>
            <a:rPr lang="en-US" sz="2400" b="1" dirty="0"/>
            <a:t>Understanding the concept of Underpricing of IPO</a:t>
          </a:r>
          <a:endParaRPr lang="en-IN" sz="2400" b="1" dirty="0"/>
        </a:p>
      </dgm:t>
    </dgm:pt>
    <dgm:pt modelId="{7A180DFD-B381-4144-93CA-0F0EABA96560}" type="sibTrans" cxnId="{0424FCD5-5702-4644-B002-D58D437B9578}">
      <dgm:prSet/>
      <dgm:spPr/>
      <dgm:t>
        <a:bodyPr/>
        <a:lstStyle/>
        <a:p>
          <a:endParaRPr lang="en-IN" sz="2400" b="1"/>
        </a:p>
      </dgm:t>
    </dgm:pt>
    <dgm:pt modelId="{2FF5D50E-B60D-42FF-9C1E-EA0E7BF30D4A}" type="parTrans" cxnId="{0424FCD5-5702-4644-B002-D58D437B9578}">
      <dgm:prSet/>
      <dgm:spPr/>
      <dgm:t>
        <a:bodyPr/>
        <a:lstStyle/>
        <a:p>
          <a:endParaRPr lang="en-IN" sz="2400" b="1"/>
        </a:p>
      </dgm:t>
    </dgm:pt>
    <dgm:pt modelId="{FD015BE0-B2DE-4D0A-A4EC-C67E9D184D8C}" type="pres">
      <dgm:prSet presAssocID="{0C631327-F275-41F2-B070-6ED2C36A30F9}" presName="linear" presStyleCnt="0">
        <dgm:presLayoutVars>
          <dgm:animLvl val="lvl"/>
          <dgm:resizeHandles val="exact"/>
        </dgm:presLayoutVars>
      </dgm:prSet>
      <dgm:spPr/>
    </dgm:pt>
    <dgm:pt modelId="{EB3D0091-9205-42CB-8884-7E3A039745BE}" type="pres">
      <dgm:prSet presAssocID="{02571A29-9FE6-4C62-BD95-7295C0DAE2A7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9825B92A-8F9D-4901-938E-1C6EAA453CFC}" type="pres">
      <dgm:prSet presAssocID="{19856949-6279-4F6E-A279-55799E5D7163}" presName="spacer" presStyleCnt="0"/>
      <dgm:spPr/>
    </dgm:pt>
    <dgm:pt modelId="{75642127-8105-499E-8C78-3464939271BE}" type="pres">
      <dgm:prSet presAssocID="{76FF71D4-5231-41BB-ADBE-0DB7416822BD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EBDB4D71-FFEA-4AFA-918D-FDFC3A7D67BE}" type="pres">
      <dgm:prSet presAssocID="{34AA7E88-0D67-45DA-8A45-9802068185CD}" presName="spacer" presStyleCnt="0"/>
      <dgm:spPr/>
    </dgm:pt>
    <dgm:pt modelId="{F813068D-1048-4945-82ED-3C657E573E24}" type="pres">
      <dgm:prSet presAssocID="{460B9E09-BD42-4CEE-B32D-E28A20CBE412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DB3851D6-EF52-4672-8C0A-322143A1A3F5}" type="pres">
      <dgm:prSet presAssocID="{4527C875-12AD-46B2-A6C7-67E8C686651D}" presName="spacer" presStyleCnt="0"/>
      <dgm:spPr/>
    </dgm:pt>
    <dgm:pt modelId="{A3675AE8-E636-4F95-B7B0-4EAAA0B0216C}" type="pres">
      <dgm:prSet presAssocID="{12516289-D4F9-42F3-9912-C25F2B9B97FD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FCB87AAE-F2AB-4A3A-AC32-2ACC59F2AAF6}" type="pres">
      <dgm:prSet presAssocID="{1C0FC638-2D99-410C-A466-FEDD82BBF0BA}" presName="spacer" presStyleCnt="0"/>
      <dgm:spPr/>
    </dgm:pt>
    <dgm:pt modelId="{F96A8CB6-B8FB-4518-97F1-4B1F7648D052}" type="pres">
      <dgm:prSet presAssocID="{F074178A-4EFD-46E9-AA7F-86E7C8E75498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169A5E22-DF87-445C-937B-5E9ABAAB7494}" srcId="{0C631327-F275-41F2-B070-6ED2C36A30F9}" destId="{76FF71D4-5231-41BB-ADBE-0DB7416822BD}" srcOrd="1" destOrd="0" parTransId="{53EC64B5-F629-4492-8442-6563468C65D6}" sibTransId="{34AA7E88-0D67-45DA-8A45-9802068185CD}"/>
    <dgm:cxn modelId="{8F984C22-FC78-43BB-B487-1A5CFB36811D}" type="presOf" srcId="{460B9E09-BD42-4CEE-B32D-E28A20CBE412}" destId="{F813068D-1048-4945-82ED-3C657E573E24}" srcOrd="0" destOrd="0" presId="urn:microsoft.com/office/officeart/2005/8/layout/vList2"/>
    <dgm:cxn modelId="{5758D527-E650-4552-8FA5-CEF87EAECCB6}" type="presOf" srcId="{0C631327-F275-41F2-B070-6ED2C36A30F9}" destId="{FD015BE0-B2DE-4D0A-A4EC-C67E9D184D8C}" srcOrd="0" destOrd="0" presId="urn:microsoft.com/office/officeart/2005/8/layout/vList2"/>
    <dgm:cxn modelId="{55D34631-0B50-46CA-A592-F324D31DD17F}" srcId="{0C631327-F275-41F2-B070-6ED2C36A30F9}" destId="{12516289-D4F9-42F3-9912-C25F2B9B97FD}" srcOrd="3" destOrd="0" parTransId="{DC09A198-C541-4BB0-84A0-6C9BC8B23969}" sibTransId="{1C0FC638-2D99-410C-A466-FEDD82BBF0BA}"/>
    <dgm:cxn modelId="{7753A25B-E2B6-4978-A8C3-0EA90E018C2F}" srcId="{0C631327-F275-41F2-B070-6ED2C36A30F9}" destId="{02571A29-9FE6-4C62-BD95-7295C0DAE2A7}" srcOrd="0" destOrd="0" parTransId="{839DEC1C-D691-4D5B-8C37-8B787DFE87F1}" sibTransId="{19856949-6279-4F6E-A279-55799E5D7163}"/>
    <dgm:cxn modelId="{82B37445-EAD8-41FF-8C07-C89692438DBC}" type="presOf" srcId="{F074178A-4EFD-46E9-AA7F-86E7C8E75498}" destId="{F96A8CB6-B8FB-4518-97F1-4B1F7648D052}" srcOrd="0" destOrd="0" presId="urn:microsoft.com/office/officeart/2005/8/layout/vList2"/>
    <dgm:cxn modelId="{9C18DF65-89D6-44F4-AF10-0E2BB40D23BD}" type="presOf" srcId="{12516289-D4F9-42F3-9912-C25F2B9B97FD}" destId="{A3675AE8-E636-4F95-B7B0-4EAAA0B0216C}" srcOrd="0" destOrd="0" presId="urn:microsoft.com/office/officeart/2005/8/layout/vList2"/>
    <dgm:cxn modelId="{6E088659-DA76-48B9-887D-9F312572EC45}" type="presOf" srcId="{76FF71D4-5231-41BB-ADBE-0DB7416822BD}" destId="{75642127-8105-499E-8C78-3464939271BE}" srcOrd="0" destOrd="0" presId="urn:microsoft.com/office/officeart/2005/8/layout/vList2"/>
    <dgm:cxn modelId="{CFA661C2-2F2D-483D-A3AD-5DD47C6A015C}" type="presOf" srcId="{02571A29-9FE6-4C62-BD95-7295C0DAE2A7}" destId="{EB3D0091-9205-42CB-8884-7E3A039745BE}" srcOrd="0" destOrd="0" presId="urn:microsoft.com/office/officeart/2005/8/layout/vList2"/>
    <dgm:cxn modelId="{0424FCD5-5702-4644-B002-D58D437B9578}" srcId="{0C631327-F275-41F2-B070-6ED2C36A30F9}" destId="{F074178A-4EFD-46E9-AA7F-86E7C8E75498}" srcOrd="4" destOrd="0" parTransId="{2FF5D50E-B60D-42FF-9C1E-EA0E7BF30D4A}" sibTransId="{7A180DFD-B381-4144-93CA-0F0EABA96560}"/>
    <dgm:cxn modelId="{96C47BDB-3039-472E-9018-E72D475EB75C}" srcId="{0C631327-F275-41F2-B070-6ED2C36A30F9}" destId="{460B9E09-BD42-4CEE-B32D-E28A20CBE412}" srcOrd="2" destOrd="0" parTransId="{CB101C09-539D-49F6-9230-56EF1F6CE2BA}" sibTransId="{4527C875-12AD-46B2-A6C7-67E8C686651D}"/>
    <dgm:cxn modelId="{76ED61F3-8122-4613-8558-844703681F8C}" type="presParOf" srcId="{FD015BE0-B2DE-4D0A-A4EC-C67E9D184D8C}" destId="{EB3D0091-9205-42CB-8884-7E3A039745BE}" srcOrd="0" destOrd="0" presId="urn:microsoft.com/office/officeart/2005/8/layout/vList2"/>
    <dgm:cxn modelId="{EEF65FB7-89FE-4D77-9B9E-C5B7A0667B46}" type="presParOf" srcId="{FD015BE0-B2DE-4D0A-A4EC-C67E9D184D8C}" destId="{9825B92A-8F9D-4901-938E-1C6EAA453CFC}" srcOrd="1" destOrd="0" presId="urn:microsoft.com/office/officeart/2005/8/layout/vList2"/>
    <dgm:cxn modelId="{D9517184-84F5-4859-B62A-F594DF607D6C}" type="presParOf" srcId="{FD015BE0-B2DE-4D0A-A4EC-C67E9D184D8C}" destId="{75642127-8105-499E-8C78-3464939271BE}" srcOrd="2" destOrd="0" presId="urn:microsoft.com/office/officeart/2005/8/layout/vList2"/>
    <dgm:cxn modelId="{870D27CA-545B-48F0-BC40-D55F0F081856}" type="presParOf" srcId="{FD015BE0-B2DE-4D0A-A4EC-C67E9D184D8C}" destId="{EBDB4D71-FFEA-4AFA-918D-FDFC3A7D67BE}" srcOrd="3" destOrd="0" presId="urn:microsoft.com/office/officeart/2005/8/layout/vList2"/>
    <dgm:cxn modelId="{B5A7A28C-7F93-468B-BE3B-59A23E534440}" type="presParOf" srcId="{FD015BE0-B2DE-4D0A-A4EC-C67E9D184D8C}" destId="{F813068D-1048-4945-82ED-3C657E573E24}" srcOrd="4" destOrd="0" presId="urn:microsoft.com/office/officeart/2005/8/layout/vList2"/>
    <dgm:cxn modelId="{E7B57E34-66E6-47C0-9BE1-B429F33076DB}" type="presParOf" srcId="{FD015BE0-B2DE-4D0A-A4EC-C67E9D184D8C}" destId="{DB3851D6-EF52-4672-8C0A-322143A1A3F5}" srcOrd="5" destOrd="0" presId="urn:microsoft.com/office/officeart/2005/8/layout/vList2"/>
    <dgm:cxn modelId="{E6F03762-E0A2-479E-A202-AB6D8DB19B18}" type="presParOf" srcId="{FD015BE0-B2DE-4D0A-A4EC-C67E9D184D8C}" destId="{A3675AE8-E636-4F95-B7B0-4EAAA0B0216C}" srcOrd="6" destOrd="0" presId="urn:microsoft.com/office/officeart/2005/8/layout/vList2"/>
    <dgm:cxn modelId="{07F404F6-9057-4467-94A3-89D89A970788}" type="presParOf" srcId="{FD015BE0-B2DE-4D0A-A4EC-C67E9D184D8C}" destId="{FCB87AAE-F2AB-4A3A-AC32-2ACC59F2AAF6}" srcOrd="7" destOrd="0" presId="urn:microsoft.com/office/officeart/2005/8/layout/vList2"/>
    <dgm:cxn modelId="{F788FD33-C391-4B52-834D-800B6C7F6D79}" type="presParOf" srcId="{FD015BE0-B2DE-4D0A-A4EC-C67E9D184D8C}" destId="{F96A8CB6-B8FB-4518-97F1-4B1F7648D052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B3D0091-9205-42CB-8884-7E3A039745BE}">
      <dsp:nvSpPr>
        <dsp:cNvPr id="0" name=""/>
        <dsp:cNvSpPr/>
      </dsp:nvSpPr>
      <dsp:spPr>
        <a:xfrm>
          <a:off x="0" y="507"/>
          <a:ext cx="10515600" cy="85964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/>
            <a:t>Understand the Concept of IPO</a:t>
          </a:r>
          <a:endParaRPr lang="en-IN" sz="2400" b="1" kern="1200" dirty="0"/>
        </a:p>
      </dsp:txBody>
      <dsp:txXfrm>
        <a:off x="41965" y="42472"/>
        <a:ext cx="10431670" cy="775717"/>
      </dsp:txXfrm>
    </dsp:sp>
    <dsp:sp modelId="{75642127-8105-499E-8C78-3464939271BE}">
      <dsp:nvSpPr>
        <dsp:cNvPr id="0" name=""/>
        <dsp:cNvSpPr/>
      </dsp:nvSpPr>
      <dsp:spPr>
        <a:xfrm>
          <a:off x="0" y="873176"/>
          <a:ext cx="10515600" cy="85964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/>
            <a:t>Understanding IPO mechanics helps investors and companies make informed capital market decisions</a:t>
          </a:r>
          <a:endParaRPr lang="en-IN" sz="2400" b="1" kern="1200" dirty="0"/>
        </a:p>
      </dsp:txBody>
      <dsp:txXfrm>
        <a:off x="41965" y="915141"/>
        <a:ext cx="10431670" cy="775717"/>
      </dsp:txXfrm>
    </dsp:sp>
    <dsp:sp modelId="{F813068D-1048-4945-82ED-3C657E573E24}">
      <dsp:nvSpPr>
        <dsp:cNvPr id="0" name=""/>
        <dsp:cNvSpPr/>
      </dsp:nvSpPr>
      <dsp:spPr>
        <a:xfrm>
          <a:off x="0" y="1745845"/>
          <a:ext cx="10515600" cy="85964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/>
            <a:t>Analyze the critical role of IPO processing steps</a:t>
          </a:r>
          <a:endParaRPr lang="en-IN" sz="2400" b="1" kern="1200" dirty="0"/>
        </a:p>
      </dsp:txBody>
      <dsp:txXfrm>
        <a:off x="41965" y="1787810"/>
        <a:ext cx="10431670" cy="775717"/>
      </dsp:txXfrm>
    </dsp:sp>
    <dsp:sp modelId="{A3675AE8-E636-4F95-B7B0-4EAAA0B0216C}">
      <dsp:nvSpPr>
        <dsp:cNvPr id="0" name=""/>
        <dsp:cNvSpPr/>
      </dsp:nvSpPr>
      <dsp:spPr>
        <a:xfrm>
          <a:off x="0" y="2618514"/>
          <a:ext cx="10515600" cy="85964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/>
            <a:t>Analyze the major IPO pricing methods </a:t>
          </a:r>
          <a:endParaRPr lang="en-IN" sz="2400" b="1" kern="1200" dirty="0"/>
        </a:p>
      </dsp:txBody>
      <dsp:txXfrm>
        <a:off x="41965" y="2660479"/>
        <a:ext cx="10431670" cy="775717"/>
      </dsp:txXfrm>
    </dsp:sp>
    <dsp:sp modelId="{F96A8CB6-B8FB-4518-97F1-4B1F7648D052}">
      <dsp:nvSpPr>
        <dsp:cNvPr id="0" name=""/>
        <dsp:cNvSpPr/>
      </dsp:nvSpPr>
      <dsp:spPr>
        <a:xfrm>
          <a:off x="0" y="3491183"/>
          <a:ext cx="10515600" cy="85964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/>
            <a:t>Understanding the concept of Underpricing of IPO</a:t>
          </a:r>
          <a:endParaRPr lang="en-IN" sz="2400" b="1" kern="1200" dirty="0"/>
        </a:p>
      </dsp:txBody>
      <dsp:txXfrm>
        <a:off x="41965" y="3533148"/>
        <a:ext cx="10431670" cy="77571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7D47A8-860D-42C0-BCC3-93D50B34CC31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BA92D0-7059-49CE-9F37-F35901C0CC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00103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960E-B987-3EEC-4B1F-D259525D3B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AAB9DC-8E03-4A30-A0E1-EBE6A4DE13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156AB1-7D3E-564F-C047-5B8833EBE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0D3B78-786F-4E6E-8666-78832934A890}" type="datetime1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E6E963-235E-6705-7964-B814C0B8A3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C1E6FC-35BB-31BE-F177-1F132AE9C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B8923-622D-4042-83D5-F58F36E541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9983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A0E205-E70B-67B3-852F-04D7A33AE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C0BAC5-EAB8-4D2F-5D74-B1A672F57D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1B1A43-753E-4D1B-0CAC-D32F1E1CA8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97CE96-A11F-49A1-B16B-3D3935A10848}" type="datetime1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1F7200-CA39-6F81-7693-C877EA80B8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FCE6B1-995E-0310-520E-72C769C08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B8923-622D-4042-83D5-F58F36E541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69743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09078-E860-B307-F362-C177EB1A5B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EA32EA-FA8C-C7E2-F325-01C50D08A1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CA49A0-23B3-1331-1D82-FA2D2FF4C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464DB-C810-45F2-8458-B36FC4A32E7B}" type="datetime1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6C6A1F-4281-3BB3-D993-5CF8840387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BA57CE-13EB-65FB-2DE3-D95A93721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B8923-622D-4042-83D5-F58F36E541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50720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C52C8-4EC6-6165-3746-56081059AF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A3835C-27B5-3C89-BDC9-3214731A5F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A1F810-3E7D-5D06-D74C-3BE5C4E64C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8356F5-51DC-2AFE-C8BA-FEAD2C33A1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FFDBD-22B3-433E-9DDD-320B8EFAAB29}" type="datetime1">
              <a:rPr lang="en-IN" smtClean="0"/>
              <a:t>07-11-2025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6890DE-9A9E-C533-86B5-ACDA8394A5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1632EA-9272-E415-C1E9-C03CCC130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B8923-622D-4042-83D5-F58F36E541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33628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C91514-2ED9-2647-D1AD-6F3DD320B0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DDDC86-6317-66FB-E110-69F0C1F179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D5AC76-E8E2-3D15-3F80-00ED4FB777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398E9E-66BF-D9BE-B153-705081DCF4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DA135D3-51B6-4B7C-7980-5C05C6EAAF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56719EC-D28D-9C5B-0721-1BC2EA7306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B7B1B7-85C1-4255-A90A-91B75F548DBB}" type="datetime1">
              <a:rPr lang="en-IN" smtClean="0"/>
              <a:t>07-11-2025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E86A6F-BC18-2199-3ECB-2DAC02746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D78278-7A41-4F39-85D3-67FBCDD4C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B8923-622D-4042-83D5-F58F36E541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77968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FCF65C-8A50-CBD6-37E1-F145EE9216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0107E9F-1B10-FAD0-1C7D-53DC75224C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A17D5B-8FAA-4A49-B0A4-617DBDDF9C8B}" type="datetime1">
              <a:rPr lang="en-IN" smtClean="0"/>
              <a:t>07-11-2025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A26A4B-E916-BC3C-1F48-06ADFE120F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A203EC-EBD5-5C2C-9E25-A1A6D63FC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B8923-622D-4042-83D5-F58F36E541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52914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07FE6C-6B99-46A5-CD99-994AA1D12D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1DF84-FA69-4E4F-93B4-21AEC01515F4}" type="datetime1">
              <a:rPr lang="en-IN" smtClean="0"/>
              <a:t>07-11-2025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5C4399-E50D-E740-3F18-8CC590AF68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50DE69-3292-DAB5-8989-C4420CCAB9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B8923-622D-4042-83D5-F58F36E541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65173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A6CB06-FF57-2F2C-2D55-87E61F5326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35464A-72FC-D46D-847F-311CCA0F71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82A721-AF83-8A29-FB82-6D32A05B51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DC46DA-B084-4AD0-A587-5E84028CFD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C6A01-2E27-4FB1-ACFB-2789EA54122C}" type="datetime1">
              <a:rPr lang="en-IN" smtClean="0"/>
              <a:t>07-11-2025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5A3475-4C80-1324-B634-C8C62CBCD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D263F0-1313-6CA2-A93B-DCD76EA31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B8923-622D-4042-83D5-F58F36E541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46185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27B260-0148-2C1F-4DE3-4E31F7CD68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AB129E2-6D8F-2EBD-E568-5EB7839B78D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926BFB-C979-87B0-8E6B-88562559F2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DEBF9C-F1A3-8020-89E3-AC4733461C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EA533-8243-4BE1-800D-0782B6852390}" type="datetime1">
              <a:rPr lang="en-IN" smtClean="0"/>
              <a:t>07-11-2025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90FD8B-283D-3D13-AB91-0A966FA99A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F6D6B8-8D1A-59C3-A2E5-A35C2AE039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B8923-622D-4042-83D5-F58F36E541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88661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B8F9E-B20F-DDFE-282A-FC389BBCD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76C1EF-2A56-B080-904A-70E978107B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A5E56D-8B7F-F2F7-7E2E-5DAF189EF2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4322F8-1A14-4B7B-97EA-E08AD1B7D268}" type="datetime1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37BB35-A699-42AD-E9DA-524DD8F1F1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BD6A75-599F-2E64-B5EA-910922649D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B8923-622D-4042-83D5-F58F36E541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28772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ACDE496-3372-67ED-B439-B8512FA386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B187E2-2B7D-7913-4E8A-99456DA469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8B498E-1751-0304-4D06-66C010EB42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B484B7-8B16-4A7B-B619-A4062E6CA3C6}" type="datetime1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E0790F-8FAE-474A-15BB-A04C7B4678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2F9872-1EC9-12F0-3A83-364FB0F97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B8923-622D-4042-83D5-F58F36E541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81830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D41027D-367D-D084-C8E6-C7B0D2E1F7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6F4BBE-4D6F-0A2E-3A7A-8502EFC9A6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D41D72-1E4A-E8A8-891F-BA9E326C2E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3497FB-8743-4424-90E6-C4959E6E00D0}" type="datetime1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E091A7-1418-2460-3813-076BAB659A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5E441A-0104-49C9-88C4-FDB9DF3058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DB8923-622D-4042-83D5-F58F36E541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30463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2.wmf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42E4C7F-93B9-0C43-73FA-03D64E2C5467}"/>
              </a:ext>
            </a:extLst>
          </p:cNvPr>
          <p:cNvSpPr txBox="1">
            <a:spLocks/>
          </p:cNvSpPr>
          <p:nvPr/>
        </p:nvSpPr>
        <p:spPr>
          <a:xfrm>
            <a:off x="0" y="264540"/>
            <a:ext cx="12192000" cy="594362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latin typeface="+mn-lt"/>
                <a:cs typeface="Arial" panose="020B0604020202020204" pitchFamily="34" charset="0"/>
              </a:rPr>
              <a:t>Initial Public Offerings(IPOs)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5578479D-BAC5-DA40-257A-54E350168ACE}"/>
              </a:ext>
            </a:extLst>
          </p:cNvPr>
          <p:cNvSpPr txBox="1">
            <a:spLocks/>
          </p:cNvSpPr>
          <p:nvPr/>
        </p:nvSpPr>
        <p:spPr>
          <a:xfrm>
            <a:off x="0" y="3684040"/>
            <a:ext cx="12192000" cy="286454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b="1" dirty="0"/>
              <a:t>Financial Management </a:t>
            </a:r>
          </a:p>
          <a:p>
            <a:r>
              <a:rPr lang="en-IN" dirty="0"/>
              <a:t>Code – HS4L003</a:t>
            </a:r>
          </a:p>
          <a:p>
            <a:r>
              <a:rPr lang="en-IN" b="1" dirty="0"/>
              <a:t>Dr. Naresh Chandra Sahu</a:t>
            </a:r>
          </a:p>
          <a:p>
            <a:r>
              <a:rPr lang="en-IN" dirty="0"/>
              <a:t>Associate Professor (Economics)</a:t>
            </a:r>
          </a:p>
          <a:p>
            <a:pPr>
              <a:defRPr/>
            </a:pPr>
            <a:endParaRPr lang="en-US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/>
            </a:pP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School of Humanities, Social Sciences and Management</a:t>
            </a:r>
          </a:p>
          <a:p>
            <a:pPr>
              <a:defRPr/>
            </a:pP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Indian Institute of Technology, Bhubaneswar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C01295D1-0905-2E9E-299B-21DE9E7CEB2D}"/>
              </a:ext>
            </a:extLst>
          </p:cNvPr>
          <p:cNvSpPr txBox="1">
            <a:spLocks/>
          </p:cNvSpPr>
          <p:nvPr/>
        </p:nvSpPr>
        <p:spPr>
          <a:xfrm>
            <a:off x="1524000" y="5116313"/>
            <a:ext cx="9144000" cy="9327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04BCF508-C8DC-2C74-D6A2-EAF468E5D6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A1DCFAE8-8E9E-42B1-9A81-DFF72612FDA6}" type="slidenum">
              <a:rPr lang="en-IN" smtClean="0"/>
              <a:t>1</a:t>
            </a:fld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9806765-B78A-A3C5-A5D0-A106E4BF86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4970" y="1214611"/>
            <a:ext cx="2062060" cy="1897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9339428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03A5CBD-CA71-F5D6-DADA-042DFB9B8A0D}"/>
              </a:ext>
            </a:extLst>
          </p:cNvPr>
          <p:cNvSpPr txBox="1">
            <a:spLocks/>
          </p:cNvSpPr>
          <p:nvPr/>
        </p:nvSpPr>
        <p:spPr>
          <a:xfrm>
            <a:off x="490728" y="1161287"/>
            <a:ext cx="10911840" cy="54778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200" dirty="0"/>
              <a:t>Meaning of Initial Public Offering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200" dirty="0"/>
              <a:t>Why do companies go public?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200" dirty="0"/>
              <a:t>Key parties involved in IPO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200" dirty="0"/>
              <a:t>Steps of IPO process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200" dirty="0"/>
              <a:t>Major pricing methods and  IPO pricing 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200" dirty="0"/>
              <a:t>Benefits of IPO and Disadvantages of IPO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200" dirty="0"/>
              <a:t>Underpricing of IPO (Reasons, advantages, and disadvantages)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200" dirty="0"/>
              <a:t>Major risk to be remembered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3C818AD-97C7-6F33-41F3-06FC6ADE78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A1DCFAE8-8E9E-42B1-9A81-DFF72612FDA6}" type="slidenum">
              <a:rPr lang="en-IN" smtClean="0"/>
              <a:t>2</a:t>
            </a:fld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D1D2AED-9BA8-ACA1-6FD6-EDDC2C701D85}"/>
              </a:ext>
            </a:extLst>
          </p:cNvPr>
          <p:cNvSpPr/>
          <p:nvPr/>
        </p:nvSpPr>
        <p:spPr>
          <a:xfrm>
            <a:off x="0" y="0"/>
            <a:ext cx="12192000" cy="694944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8F7A3F91-80D6-71C6-4EB3-F680300A87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0728" y="0"/>
            <a:ext cx="10515600" cy="758951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+mn-lt"/>
              </a:rPr>
              <a:t>Contents:</a:t>
            </a:r>
            <a:endParaRPr lang="en-IN" sz="3200" b="1" dirty="0">
              <a:solidFill>
                <a:schemeClr val="bg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699767821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Content Placeholder 3">
            <a:extLst>
              <a:ext uri="{FF2B5EF4-FFF2-40B4-BE49-F238E27FC236}">
                <a16:creationId xmlns:a16="http://schemas.microsoft.com/office/drawing/2014/main" id="{D848CC79-3B14-2827-109C-4FB8D98968D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91707429"/>
              </p:ext>
            </p:extLst>
          </p:nvPr>
        </p:nvGraphicFramePr>
        <p:xfrm>
          <a:off x="838200" y="1350137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098779FB-C2F2-04E2-E3BB-D193E26EA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A1DCFAE8-8E9E-42B1-9A81-DFF72612FDA6}" type="slidenum">
              <a:rPr lang="en-IN" smtClean="0"/>
              <a:t>3</a:t>
            </a:fld>
            <a:endParaRPr lang="en-IN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5AD1D4A-5512-8EBA-C736-76686DD13A49}"/>
              </a:ext>
            </a:extLst>
          </p:cNvPr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52EE8A5-98C0-3C9C-FAA6-7F82FB0191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0728" y="1"/>
            <a:ext cx="10515600" cy="685800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+mn-lt"/>
              </a:rPr>
              <a:t>Learning Outcomes</a:t>
            </a:r>
            <a:endParaRPr lang="en-IN" sz="3200" b="1" dirty="0">
              <a:solidFill>
                <a:schemeClr val="bg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890195352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1FC353-2B2F-4B41-031A-ACC6653F19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7072" y="925902"/>
            <a:ext cx="10916728" cy="5251061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b="1" dirty="0"/>
              <a:t>Meaning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An </a:t>
            </a:r>
            <a:r>
              <a:rPr lang="en-US" sz="2000" b="1" dirty="0"/>
              <a:t>Initial Public Offering (IPO)</a:t>
            </a:r>
            <a:r>
              <a:rPr lang="en-US" sz="2000" dirty="0"/>
              <a:t> is when a privately-held company offers its shares to the public for the first time and becomes listed on a stock exchange.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The firm converts some (or all) of its ownership into tradable shares so outside investors can buy them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An IPO is the first sale of shares by a privately held company to general public investors, institutional investors, and high-net-worth individuals. Through this process, the company raises funds for purposes such as business expansion, repaying loans, future capital needs, or allowing initial investors to monetize their stake.</a:t>
            </a:r>
            <a:endParaRPr lang="en-IN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8FA5D8-B22C-9D4A-8C94-383538A6C5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B8923-622D-4042-83D5-F58F36E54171}" type="slidenum">
              <a:rPr lang="en-IN" smtClean="0"/>
              <a:t>4</a:t>
            </a:fld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A810FFA-AD0B-E987-D736-2A4B1AC59AE7}"/>
              </a:ext>
            </a:extLst>
          </p:cNvPr>
          <p:cNvSpPr/>
          <p:nvPr/>
        </p:nvSpPr>
        <p:spPr>
          <a:xfrm>
            <a:off x="0" y="0"/>
            <a:ext cx="12192000" cy="694944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bg1"/>
                </a:solidFill>
              </a:rPr>
              <a:t>Initial public offering (IPO)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21141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04B10F-C6F5-7F31-6783-2F72EAF725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383DC6-8E79-0226-B8B6-BE7CFF7D55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3811" y="1000664"/>
            <a:ext cx="10979989" cy="51763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b="1" dirty="0"/>
              <a:t>Raise capital</a:t>
            </a:r>
            <a:r>
              <a:rPr lang="en-US" sz="2000" dirty="0"/>
              <a:t> to fund growth, pay debt, finance acquisitions, or invest in R&amp;D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b="1" dirty="0"/>
              <a:t>Create liquidity</a:t>
            </a:r>
            <a:r>
              <a:rPr lang="en-US" sz="2000" dirty="0"/>
              <a:t> for founders, early investors, and employees (so they can sell shares later)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b="1" dirty="0"/>
              <a:t>Improve credibility &amp; visibility</a:t>
            </a:r>
            <a:r>
              <a:rPr lang="en-US" sz="2000" dirty="0"/>
              <a:t> — public firms gain brand recognition and easier access to capital markets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b="1" dirty="0"/>
              <a:t>Use stock as currency</a:t>
            </a:r>
            <a:r>
              <a:rPr lang="en-US" sz="2000" dirty="0"/>
              <a:t> for acquisitions or employee compensation (stock options)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b="1" dirty="0"/>
              <a:t>Trade-offs: </a:t>
            </a:r>
            <a:r>
              <a:rPr lang="en-US" sz="2000" dirty="0"/>
              <a:t>public companies face more disclosure, regulation, and short-term market pressure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2000" dirty="0"/>
              <a:t>Facilitates future mergers and acquisitions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2000" dirty="0"/>
              <a:t> Allows for a wider choice of financing alternatives and enhances ability to borrow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BA0C1A-85FE-FB42-C2B4-35F5C4C70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B8923-622D-4042-83D5-F58F36E54171}" type="slidenum">
              <a:rPr lang="en-IN" smtClean="0"/>
              <a:t>5</a:t>
            </a:fld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E14C73E-085F-6D23-1748-F9382C0E2AB9}"/>
              </a:ext>
            </a:extLst>
          </p:cNvPr>
          <p:cNvSpPr/>
          <p:nvPr/>
        </p:nvSpPr>
        <p:spPr>
          <a:xfrm>
            <a:off x="0" y="0"/>
            <a:ext cx="12192000" cy="694944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/>
              <a:t>Why do companies go public?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6736304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B1C893-1250-084D-E06A-030A9A6CF6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029420"/>
            <a:ext cx="10744201" cy="5147544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en-US" sz="2900" b="1" dirty="0"/>
              <a:t>Issuing company/promoters</a:t>
            </a:r>
          </a:p>
          <a:p>
            <a:pPr>
              <a:lnSpc>
                <a:spcPct val="160000"/>
              </a:lnSpc>
            </a:pPr>
            <a:r>
              <a:rPr lang="en-US" dirty="0"/>
              <a:t>In an Initial Public Offering (IPO), the issuing company (also called the issuer) .</a:t>
            </a:r>
          </a:p>
          <a:p>
            <a:pPr>
              <a:lnSpc>
                <a:spcPct val="160000"/>
              </a:lnSpc>
            </a:pPr>
            <a:r>
              <a:rPr lang="en-US" dirty="0"/>
              <a:t>They initiate, coordinate, and authorize every stage of the transition from being a private entity to becoming a publicly traded company. </a:t>
            </a:r>
          </a:p>
          <a:p>
            <a:pPr>
              <a:lnSpc>
                <a:spcPct val="160000"/>
              </a:lnSpc>
            </a:pPr>
            <a:r>
              <a:rPr lang="en-US" dirty="0"/>
              <a:t>Their responsibilities span strategic, financial, regulatory, and communication functions throughout the IPO lifecycle.</a:t>
            </a:r>
            <a:endParaRPr lang="en-US" sz="2900" dirty="0"/>
          </a:p>
          <a:p>
            <a:pPr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en-US" sz="2900" b="1" dirty="0"/>
              <a:t>Lead underwriter/investment banks</a:t>
            </a:r>
            <a:r>
              <a:rPr lang="en-US" sz="2900" dirty="0"/>
              <a:t> </a:t>
            </a:r>
          </a:p>
          <a:p>
            <a:pPr>
              <a:lnSpc>
                <a:spcPct val="160000"/>
              </a:lnSpc>
            </a:pPr>
            <a:r>
              <a:rPr lang="en-US" altLang="en-US" sz="2900" dirty="0"/>
              <a:t>An underwriter is an investment firm that acts as an intermediary between a company selling securities and the investing public</a:t>
            </a:r>
          </a:p>
          <a:p>
            <a:pPr>
              <a:lnSpc>
                <a:spcPct val="160000"/>
              </a:lnSpc>
            </a:pPr>
            <a:endParaRPr lang="en-US" altLang="en-US" sz="2900" dirty="0"/>
          </a:p>
          <a:p>
            <a:pPr marL="0" indent="0">
              <a:lnSpc>
                <a:spcPct val="150000"/>
              </a:lnSpc>
              <a:buNone/>
            </a:pPr>
            <a:endParaRPr lang="en-US" sz="2000" dirty="0"/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6569CE-832F-060C-317A-D9300B6A6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B8923-622D-4042-83D5-F58F36E54171}" type="slidenum">
              <a:rPr lang="en-IN" smtClean="0"/>
              <a:t>6</a:t>
            </a:fld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F318B81-6BC9-7D45-F10A-B922864777A1}"/>
              </a:ext>
            </a:extLst>
          </p:cNvPr>
          <p:cNvSpPr/>
          <p:nvPr/>
        </p:nvSpPr>
        <p:spPr>
          <a:xfrm>
            <a:off x="46008" y="0"/>
            <a:ext cx="12192000" cy="694944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b="1" dirty="0"/>
          </a:p>
          <a:p>
            <a:r>
              <a:rPr lang="en-US" sz="2800" b="1" dirty="0"/>
              <a:t>Key parties involved</a:t>
            </a:r>
            <a:br>
              <a:rPr lang="en-US" sz="2800" b="1" dirty="0"/>
            </a:b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5061564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BF2EC7-C2FE-91E3-512D-45D8D305C8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000664"/>
            <a:ext cx="10744200" cy="5176299"/>
          </a:xfrm>
        </p:spPr>
        <p:txBody>
          <a:bodyPr>
            <a:normAutofit/>
          </a:bodyPr>
          <a:lstStyle/>
          <a:p>
            <a:pPr>
              <a:lnSpc>
                <a:spcPct val="160000"/>
              </a:lnSpc>
            </a:pPr>
            <a:r>
              <a:rPr lang="en-US" altLang="en-US" sz="2000" dirty="0"/>
              <a:t>The underwriter is the principal player in the IPO</a:t>
            </a:r>
          </a:p>
          <a:p>
            <a:pPr>
              <a:lnSpc>
                <a:spcPct val="160000"/>
              </a:lnSpc>
            </a:pPr>
            <a:r>
              <a:rPr lang="en-US" altLang="en-US" sz="2000" dirty="0"/>
              <a:t>Typically, the underwriter buys the securities for less than the offering price and accepts the risk of not being able to sell them, manage the offering, stabilize the price, and </a:t>
            </a:r>
            <a:r>
              <a:rPr lang="en-US" sz="2000" dirty="0"/>
              <a:t>allocate shares</a:t>
            </a:r>
          </a:p>
          <a:p>
            <a:pPr marL="0" indent="0">
              <a:lnSpc>
                <a:spcPct val="160000"/>
              </a:lnSpc>
              <a:buNone/>
            </a:pPr>
            <a:r>
              <a:rPr lang="en-US" altLang="en-US" sz="2000" b="1" dirty="0"/>
              <a:t>Types of Underwriting</a:t>
            </a:r>
          </a:p>
          <a:p>
            <a:pPr>
              <a:lnSpc>
                <a:spcPct val="150000"/>
              </a:lnSpc>
            </a:pPr>
            <a:r>
              <a:rPr lang="en-US" altLang="en-US" sz="2000" dirty="0"/>
              <a:t>Firm commitment underwriting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en-US" sz="2000" dirty="0"/>
              <a:t>The underwriter buys the entire issue, assuming full financial responsibility for any unsold shares</a:t>
            </a:r>
          </a:p>
          <a:p>
            <a:pPr>
              <a:lnSpc>
                <a:spcPct val="150000"/>
              </a:lnSpc>
            </a:pPr>
            <a:r>
              <a:rPr lang="en-US" altLang="en-US" sz="2000" dirty="0"/>
              <a:t>Best efforts underwriting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en-US" sz="2000" dirty="0"/>
              <a:t>The underwriter sells as much of the issue as possible, but can return any unsold shares to the issuer without financial responsibility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CFF353-411B-B67E-A0E2-B00840C42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B8923-622D-4042-83D5-F58F36E54171}" type="slidenum">
              <a:rPr lang="en-IN" smtClean="0"/>
              <a:t>7</a:t>
            </a:fld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DEA43CD-BC1A-1C48-4E6C-BD2F2552FBE9}"/>
              </a:ext>
            </a:extLst>
          </p:cNvPr>
          <p:cNvSpPr/>
          <p:nvPr/>
        </p:nvSpPr>
        <p:spPr>
          <a:xfrm>
            <a:off x="46008" y="0"/>
            <a:ext cx="12192000" cy="694944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b="1" dirty="0"/>
          </a:p>
          <a:p>
            <a:r>
              <a:rPr lang="en-US" sz="2800" b="1" dirty="0"/>
              <a:t>Key parties involved</a:t>
            </a:r>
            <a:br>
              <a:rPr lang="en-US" sz="2800" b="1" dirty="0"/>
            </a:b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7143973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CAE2F2-5A05-18B9-9ADE-02B42DAB99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857" y="1029419"/>
            <a:ext cx="10703943" cy="5147544"/>
          </a:xfrm>
        </p:spPr>
        <p:txBody>
          <a:bodyPr>
            <a:normAutofit lnSpcReduction="10000"/>
          </a:bodyPr>
          <a:lstStyle/>
          <a:p>
            <a:pPr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en-US" sz="2200" b="1" dirty="0"/>
              <a:t>Regulators &amp; stock exchange</a:t>
            </a:r>
          </a:p>
          <a:p>
            <a:pPr marL="0" indent="0">
              <a:lnSpc>
                <a:spcPct val="160000"/>
              </a:lnSpc>
              <a:buNone/>
            </a:pPr>
            <a:r>
              <a:rPr lang="en-US" sz="2200" dirty="0"/>
              <a:t>  Securities regulators, such as SEBI (India) or the SEC- </a:t>
            </a:r>
            <a:r>
              <a:rPr lang="en-IN" sz="2200" dirty="0"/>
              <a:t>Securities and Exchange Commission</a:t>
            </a:r>
          </a:p>
          <a:p>
            <a:pPr marL="0" indent="0">
              <a:lnSpc>
                <a:spcPct val="160000"/>
              </a:lnSpc>
              <a:buNone/>
            </a:pPr>
            <a:r>
              <a:rPr lang="en-US" sz="2200" dirty="0"/>
              <a:t>(U.S.), along with stock exchanges like the NYSE- </a:t>
            </a:r>
            <a:r>
              <a:rPr lang="en-IN" sz="2200" dirty="0"/>
              <a:t>New York Stock Exchange and </a:t>
            </a:r>
            <a:r>
              <a:rPr lang="en-US" sz="2200" dirty="0"/>
              <a:t>NSE/BSE.</a:t>
            </a:r>
          </a:p>
          <a:p>
            <a:pPr lvl="1">
              <a:lnSpc>
                <a:spcPct val="160000"/>
              </a:lnSpc>
            </a:pPr>
            <a:r>
              <a:rPr lang="en-US" sz="2200" dirty="0"/>
              <a:t>Ensure rules and disclosures. Review and approve the prospectus to ensure all material information is disclosed.</a:t>
            </a:r>
          </a:p>
          <a:p>
            <a:pPr lvl="1">
              <a:lnSpc>
                <a:spcPct val="160000"/>
              </a:lnSpc>
            </a:pPr>
            <a:r>
              <a:rPr lang="en-US" sz="2200" dirty="0"/>
              <a:t>Enforce investor protection laws and verify compliance with listing and disclosure requirements.</a:t>
            </a:r>
          </a:p>
          <a:p>
            <a:pPr lvl="1">
              <a:lnSpc>
                <a:spcPct val="160000"/>
              </a:lnSpc>
            </a:pPr>
            <a:r>
              <a:rPr lang="en-US" sz="2200" dirty="0"/>
              <a:t>The stock exchange lists the shares, provides an electronic platform for trading, and ensures the issuer meets listing standards (minimum capital, governance, etc.).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dirty="0"/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6F8B03-F351-4F78-9102-00933E2CD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B8923-622D-4042-83D5-F58F36E54171}" type="slidenum">
              <a:rPr lang="en-IN" smtClean="0"/>
              <a:t>8</a:t>
            </a:fld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BB6BAAF-AD9E-ED29-AEFB-4CCDC386AECE}"/>
              </a:ext>
            </a:extLst>
          </p:cNvPr>
          <p:cNvSpPr/>
          <p:nvPr/>
        </p:nvSpPr>
        <p:spPr>
          <a:xfrm>
            <a:off x="46008" y="0"/>
            <a:ext cx="12192000" cy="694944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b="1" dirty="0"/>
          </a:p>
          <a:p>
            <a:r>
              <a:rPr lang="en-US" sz="2800" b="1" dirty="0"/>
              <a:t>Key parties involved</a:t>
            </a:r>
            <a:br>
              <a:rPr lang="en-US" sz="2800" b="1" dirty="0"/>
            </a:b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4350001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256730-5566-731F-B05F-8C3E227E09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7109" y="1006416"/>
            <a:ext cx="10686691" cy="517054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b="1" dirty="0"/>
              <a:t>Lawyers &amp; auditors</a:t>
            </a:r>
            <a:r>
              <a:rPr lang="en-US" sz="2000" dirty="0"/>
              <a:t> 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 Prepare legal/financial disclosures.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Ensure legal compliance and draft the prospectus and other SEC/SEBI filings.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Conduct due diligence to confirm there are no material misstatements or omissions.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Review contracts, intellectual property rights, and corporate governance structures.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b="1" dirty="0"/>
              <a:t>Institutional &amp; retail investors</a:t>
            </a:r>
          </a:p>
          <a:p>
            <a:pPr>
              <a:lnSpc>
                <a:spcPct val="150000"/>
              </a:lnSpc>
            </a:pPr>
            <a:r>
              <a:rPr lang="en-US" sz="2000" b="1" dirty="0"/>
              <a:t>Institutional investors</a:t>
            </a:r>
            <a:r>
              <a:rPr lang="en-US" sz="2000" dirty="0"/>
              <a:t>:  Pension funds, mutual funds, insurance companies, and hedge funds that buy large blocks of shares during the offering.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000" dirty="0"/>
          </a:p>
          <a:p>
            <a:pPr>
              <a:lnSpc>
                <a:spcPct val="150000"/>
              </a:lnSpc>
            </a:pPr>
            <a:endParaRPr lang="en-IN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D1FF84-6298-25BA-9C31-DCEA67D6E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B8923-622D-4042-83D5-F58F36E54171}" type="slidenum">
              <a:rPr lang="en-IN" smtClean="0"/>
              <a:t>9</a:t>
            </a:fld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EEB153F-53A5-E9A6-B2B5-EC924CD3D192}"/>
              </a:ext>
            </a:extLst>
          </p:cNvPr>
          <p:cNvSpPr/>
          <p:nvPr/>
        </p:nvSpPr>
        <p:spPr>
          <a:xfrm>
            <a:off x="46008" y="0"/>
            <a:ext cx="12192000" cy="694944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b="1" dirty="0"/>
          </a:p>
          <a:p>
            <a:r>
              <a:rPr lang="en-US" sz="2800" b="1" dirty="0"/>
              <a:t>Key parties involved</a:t>
            </a:r>
            <a:br>
              <a:rPr lang="en-US" sz="2800" b="1" dirty="0"/>
            </a:b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0311620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2B4757-BCFE-8291-CCE6-77A0E3E2F4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0113" y="1259457"/>
            <a:ext cx="10663687" cy="491750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000" dirty="0"/>
              <a:t>Their demand helps determine the IPO price through a process called book building.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They often get priority allocations due to their scale and reliability</a:t>
            </a:r>
          </a:p>
          <a:p>
            <a:pPr>
              <a:lnSpc>
                <a:spcPct val="150000"/>
              </a:lnSpc>
            </a:pPr>
            <a:r>
              <a:rPr lang="en-US" sz="2000" b="1" dirty="0"/>
              <a:t>Retail investors: </a:t>
            </a:r>
            <a:r>
              <a:rPr lang="en-US" sz="2000" dirty="0"/>
              <a:t>Individual investors applying for smaller quantities of shares.</a:t>
            </a:r>
          </a:p>
          <a:p>
            <a:pPr lvl="1">
              <a:lnSpc>
                <a:spcPct val="150000"/>
              </a:lnSpc>
            </a:pPr>
            <a:r>
              <a:rPr lang="en-US" sz="2000" dirty="0"/>
              <a:t>Provide breadth of participation in the market.</a:t>
            </a:r>
          </a:p>
          <a:p>
            <a:pPr lvl="1">
              <a:lnSpc>
                <a:spcPct val="150000"/>
              </a:lnSpc>
            </a:pPr>
            <a:r>
              <a:rPr lang="en-US" sz="2000" dirty="0"/>
              <a:t>Usually receive a smaller portion of the allocation, but their enthusiasm can drive aftermarket performance.</a:t>
            </a:r>
          </a:p>
          <a:p>
            <a:pPr>
              <a:lnSpc>
                <a:spcPct val="170000"/>
              </a:lnSpc>
            </a:pPr>
            <a:endParaRPr lang="en-US" dirty="0"/>
          </a:p>
          <a:p>
            <a:pPr marL="0" indent="0">
              <a:lnSpc>
                <a:spcPct val="150000"/>
              </a:lnSpc>
              <a:buNone/>
            </a:pPr>
            <a:endParaRPr lang="en-US" dirty="0"/>
          </a:p>
          <a:p>
            <a:endParaRPr lang="en-US" b="1" dirty="0"/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DBAAE3-FAFF-0C0C-C26E-1B2776193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B8923-622D-4042-83D5-F58F36E54171}" type="slidenum">
              <a:rPr lang="en-IN" smtClean="0"/>
              <a:t>10</a:t>
            </a:fld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6E20E86-99B2-43B2-6B71-73541D2ACDC0}"/>
              </a:ext>
            </a:extLst>
          </p:cNvPr>
          <p:cNvSpPr/>
          <p:nvPr/>
        </p:nvSpPr>
        <p:spPr>
          <a:xfrm>
            <a:off x="46008" y="0"/>
            <a:ext cx="12192000" cy="694944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b="1" dirty="0"/>
          </a:p>
          <a:p>
            <a:r>
              <a:rPr lang="en-US" sz="2800" b="1" dirty="0"/>
              <a:t>Key parties involved</a:t>
            </a:r>
            <a:br>
              <a:rPr lang="en-US" sz="2800" b="1" dirty="0"/>
            </a:b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0517407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3BD6D2-1809-7F6C-55D2-9338AD1014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838" y="1075426"/>
            <a:ext cx="10818962" cy="5101537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b="1" dirty="0"/>
              <a:t>Market makers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000" dirty="0"/>
              <a:t>Brokerage firms or dealer banks are authorized to continuously buy and sell an issuer’s shares on the exchange.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Provide liquidity and ensure that the new shares can always be bought or sold at market prices.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Help stabilize the stock price in early trading, especially if the IPO is volatile.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The lead underwriter sometimes acts as a market maker during the initial period after listing</a:t>
            </a:r>
          </a:p>
          <a:p>
            <a:pPr marL="0" indent="0">
              <a:buNone/>
            </a:pPr>
            <a:endParaRPr lang="en-US" dirty="0"/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40B818-26D1-584B-D849-F4C0C418E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B8923-622D-4042-83D5-F58F36E54171}" type="slidenum">
              <a:rPr lang="en-IN" smtClean="0"/>
              <a:t>11</a:t>
            </a:fld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4F95834-D986-233B-ABBE-B72C3FD44C54}"/>
              </a:ext>
            </a:extLst>
          </p:cNvPr>
          <p:cNvSpPr/>
          <p:nvPr/>
        </p:nvSpPr>
        <p:spPr>
          <a:xfrm>
            <a:off x="46008" y="0"/>
            <a:ext cx="12192000" cy="694944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b="1" dirty="0"/>
          </a:p>
          <a:p>
            <a:r>
              <a:rPr lang="en-US" sz="2800" b="1" dirty="0"/>
              <a:t>Key parties involved</a:t>
            </a:r>
            <a:br>
              <a:rPr lang="en-US" sz="2800" b="1" dirty="0"/>
            </a:b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4115585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C81403-D44D-7E94-92D1-85FD827D1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B8923-622D-4042-83D5-F58F36E54171}" type="slidenum">
              <a:rPr lang="en-IN" smtClean="0"/>
              <a:t>12</a:t>
            </a:fld>
            <a:endParaRPr lang="en-IN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A8284C21-9DFC-D5D3-D926-760D0A373FF4}"/>
              </a:ext>
            </a:extLst>
          </p:cNvPr>
          <p:cNvGrpSpPr/>
          <p:nvPr/>
        </p:nvGrpSpPr>
        <p:grpSpPr>
          <a:xfrm>
            <a:off x="1679275" y="1282461"/>
            <a:ext cx="8931216" cy="5073889"/>
            <a:chOff x="0" y="0"/>
            <a:chExt cx="9445287" cy="5486336"/>
          </a:xfrm>
        </p:grpSpPr>
        <p:sp>
          <p:nvSpPr>
            <p:cNvPr id="6" name="Shape 1607">
              <a:extLst>
                <a:ext uri="{FF2B5EF4-FFF2-40B4-BE49-F238E27FC236}">
                  <a16:creationId xmlns:a16="http://schemas.microsoft.com/office/drawing/2014/main" id="{C9B1C3D3-228E-FE70-7412-BDEFB5516118}"/>
                </a:ext>
              </a:extLst>
            </p:cNvPr>
            <p:cNvSpPr/>
            <p:nvPr/>
          </p:nvSpPr>
          <p:spPr>
            <a:xfrm>
              <a:off x="457200" y="4800537"/>
              <a:ext cx="7924800" cy="0"/>
            </a:xfrm>
            <a:custGeom>
              <a:avLst/>
              <a:gdLst/>
              <a:ahLst/>
              <a:cxnLst/>
              <a:rect l="0" t="0" r="0" b="0"/>
              <a:pathLst>
                <a:path w="7924800">
                  <a:moveTo>
                    <a:pt x="0" y="0"/>
                  </a:moveTo>
                  <a:lnTo>
                    <a:pt x="7924800" y="0"/>
                  </a:lnTo>
                </a:path>
              </a:pathLst>
            </a:custGeom>
            <a:ln w="12700" cap="flat">
              <a:round/>
            </a:ln>
          </p:spPr>
          <p:style>
            <a:lnRef idx="1">
              <a:srgbClr val="CC0000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7" name="Shape 28467">
              <a:extLst>
                <a:ext uri="{FF2B5EF4-FFF2-40B4-BE49-F238E27FC236}">
                  <a16:creationId xmlns:a16="http://schemas.microsoft.com/office/drawing/2014/main" id="{F59C6734-D135-3159-4A2C-BA0485CFAB2C}"/>
                </a:ext>
              </a:extLst>
            </p:cNvPr>
            <p:cNvSpPr/>
            <p:nvPr/>
          </p:nvSpPr>
          <p:spPr>
            <a:xfrm>
              <a:off x="76200" y="638111"/>
              <a:ext cx="8686800" cy="4848225"/>
            </a:xfrm>
            <a:custGeom>
              <a:avLst/>
              <a:gdLst/>
              <a:ahLst/>
              <a:cxnLst/>
              <a:rect l="0" t="0" r="0" b="0"/>
              <a:pathLst>
                <a:path w="8686800" h="4848225">
                  <a:moveTo>
                    <a:pt x="0" y="0"/>
                  </a:moveTo>
                  <a:lnTo>
                    <a:pt x="8686800" y="0"/>
                  </a:lnTo>
                  <a:lnTo>
                    <a:pt x="8686800" y="4848225"/>
                  </a:lnTo>
                  <a:lnTo>
                    <a:pt x="0" y="4848225"/>
                  </a:lnTo>
                  <a:lnTo>
                    <a:pt x="0" y="0"/>
                  </a:lnTo>
                </a:path>
              </a:pathLst>
            </a:custGeom>
            <a:ln w="0" cap="flat">
              <a:round/>
            </a:ln>
          </p:spPr>
          <p:style>
            <a:lnRef idx="0">
              <a:srgbClr val="000000">
                <a:alpha val="0"/>
              </a:srgbClr>
            </a:lnRef>
            <a:fillRef idx="1">
              <a:srgbClr val="DDDDDD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8" name="Shape 1612">
              <a:extLst>
                <a:ext uri="{FF2B5EF4-FFF2-40B4-BE49-F238E27FC236}">
                  <a16:creationId xmlns:a16="http://schemas.microsoft.com/office/drawing/2014/main" id="{1C77B7A4-822D-5058-DAEE-25F98C2D49B7}"/>
                </a:ext>
              </a:extLst>
            </p:cNvPr>
            <p:cNvSpPr/>
            <p:nvPr/>
          </p:nvSpPr>
          <p:spPr>
            <a:xfrm>
              <a:off x="0" y="0"/>
              <a:ext cx="1930146" cy="5077587"/>
            </a:xfrm>
            <a:custGeom>
              <a:avLst/>
              <a:gdLst/>
              <a:ahLst/>
              <a:cxnLst/>
              <a:rect l="0" t="0" r="0" b="0"/>
              <a:pathLst>
                <a:path w="1930146" h="5077587">
                  <a:moveTo>
                    <a:pt x="0" y="5077587"/>
                  </a:moveTo>
                  <a:lnTo>
                    <a:pt x="1930146" y="5077587"/>
                  </a:lnTo>
                  <a:lnTo>
                    <a:pt x="1930146" y="0"/>
                  </a:lnTo>
                  <a:lnTo>
                    <a:pt x="0" y="0"/>
                  </a:lnTo>
                  <a:close/>
                </a:path>
              </a:pathLst>
            </a:custGeom>
            <a:ln w="12700" cap="flat">
              <a:custDash>
                <a:ds d="400000" sp="300000"/>
              </a:custDash>
              <a:miter lim="101600"/>
            </a:ln>
          </p:spPr>
          <p:style>
            <a:lnRef idx="1">
              <a:srgbClr val="336699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9" name="Shape 28468">
              <a:extLst>
                <a:ext uri="{FF2B5EF4-FFF2-40B4-BE49-F238E27FC236}">
                  <a16:creationId xmlns:a16="http://schemas.microsoft.com/office/drawing/2014/main" id="{A5EC42DE-69FD-46F8-5A41-83967ACE97D4}"/>
                </a:ext>
              </a:extLst>
            </p:cNvPr>
            <p:cNvSpPr/>
            <p:nvPr/>
          </p:nvSpPr>
          <p:spPr>
            <a:xfrm>
              <a:off x="85065" y="2077644"/>
              <a:ext cx="1755267" cy="680733"/>
            </a:xfrm>
            <a:custGeom>
              <a:avLst/>
              <a:gdLst/>
              <a:ahLst/>
              <a:cxnLst/>
              <a:rect l="0" t="0" r="0" b="0"/>
              <a:pathLst>
                <a:path w="1755267" h="680733">
                  <a:moveTo>
                    <a:pt x="0" y="0"/>
                  </a:moveTo>
                  <a:lnTo>
                    <a:pt x="1755267" y="0"/>
                  </a:lnTo>
                  <a:lnTo>
                    <a:pt x="1755267" y="680733"/>
                  </a:lnTo>
                  <a:lnTo>
                    <a:pt x="0" y="680733"/>
                  </a:lnTo>
                  <a:lnTo>
                    <a:pt x="0" y="0"/>
                  </a:lnTo>
                </a:path>
              </a:pathLst>
            </a:custGeom>
            <a:ln w="0" cap="flat">
              <a:round/>
            </a:ln>
          </p:spPr>
          <p:style>
            <a:lnRef idx="0">
              <a:srgbClr val="000000">
                <a:alpha val="0"/>
              </a:srgbClr>
            </a:lnRef>
            <a:fillRef idx="1">
              <a:srgbClr val="336699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10" name="Shape 1614">
              <a:extLst>
                <a:ext uri="{FF2B5EF4-FFF2-40B4-BE49-F238E27FC236}">
                  <a16:creationId xmlns:a16="http://schemas.microsoft.com/office/drawing/2014/main" id="{E47604DD-642A-5274-954C-1DA36BD3F349}"/>
                </a:ext>
              </a:extLst>
            </p:cNvPr>
            <p:cNvSpPr/>
            <p:nvPr/>
          </p:nvSpPr>
          <p:spPr>
            <a:xfrm>
              <a:off x="85065" y="2077644"/>
              <a:ext cx="1755267" cy="680733"/>
            </a:xfrm>
            <a:custGeom>
              <a:avLst/>
              <a:gdLst/>
              <a:ahLst/>
              <a:cxnLst/>
              <a:rect l="0" t="0" r="0" b="0"/>
              <a:pathLst>
                <a:path w="1755267" h="680733">
                  <a:moveTo>
                    <a:pt x="0" y="680733"/>
                  </a:moveTo>
                  <a:lnTo>
                    <a:pt x="1755267" y="680733"/>
                  </a:lnTo>
                  <a:lnTo>
                    <a:pt x="1755267" y="0"/>
                  </a:lnTo>
                  <a:lnTo>
                    <a:pt x="0" y="0"/>
                  </a:lnTo>
                  <a:close/>
                </a:path>
              </a:pathLst>
            </a:custGeom>
            <a:ln w="12700" cap="flat">
              <a:miter lim="101600"/>
            </a:ln>
          </p:spPr>
          <p:style>
            <a:lnRef idx="1">
              <a:srgbClr val="000000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D9015E8-172E-3C78-4DF1-93AC33DE3D70}"/>
                </a:ext>
              </a:extLst>
            </p:cNvPr>
            <p:cNvSpPr/>
            <p:nvPr/>
          </p:nvSpPr>
          <p:spPr>
            <a:xfrm>
              <a:off x="427025" y="2324179"/>
              <a:ext cx="1423296" cy="244082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IN" sz="1300" b="1" kern="100">
                  <a:solidFill>
                    <a:srgbClr val="FFFFFF"/>
                  </a:solidFill>
                  <a:effectLst/>
                  <a:latin typeface="Arial" panose="020B0604020202020204" pitchFamily="34" charset="0"/>
                  <a:ea typeface="Arial" panose="020B0604020202020204" pitchFamily="34" charset="0"/>
                </a:rPr>
                <a:t>Due diligence</a:t>
              </a:r>
              <a:endParaRPr lang="en-IN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12" name="Shape 28469">
              <a:extLst>
                <a:ext uri="{FF2B5EF4-FFF2-40B4-BE49-F238E27FC236}">
                  <a16:creationId xmlns:a16="http://schemas.microsoft.com/office/drawing/2014/main" id="{A648AC80-EC68-E238-4373-209849B17AB2}"/>
                </a:ext>
              </a:extLst>
            </p:cNvPr>
            <p:cNvSpPr/>
            <p:nvPr/>
          </p:nvSpPr>
          <p:spPr>
            <a:xfrm>
              <a:off x="85065" y="1101268"/>
              <a:ext cx="1755267" cy="680733"/>
            </a:xfrm>
            <a:custGeom>
              <a:avLst/>
              <a:gdLst/>
              <a:ahLst/>
              <a:cxnLst/>
              <a:rect l="0" t="0" r="0" b="0"/>
              <a:pathLst>
                <a:path w="1755267" h="680733">
                  <a:moveTo>
                    <a:pt x="0" y="0"/>
                  </a:moveTo>
                  <a:lnTo>
                    <a:pt x="1755267" y="0"/>
                  </a:lnTo>
                  <a:lnTo>
                    <a:pt x="1755267" y="680733"/>
                  </a:lnTo>
                  <a:lnTo>
                    <a:pt x="0" y="680733"/>
                  </a:lnTo>
                  <a:lnTo>
                    <a:pt x="0" y="0"/>
                  </a:lnTo>
                </a:path>
              </a:pathLst>
            </a:custGeom>
            <a:ln w="0" cap="flat">
              <a:miter lim="1016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336699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13" name="Shape 1617">
              <a:extLst>
                <a:ext uri="{FF2B5EF4-FFF2-40B4-BE49-F238E27FC236}">
                  <a16:creationId xmlns:a16="http://schemas.microsoft.com/office/drawing/2014/main" id="{882D1483-06A8-9784-36A4-D35D68A62E74}"/>
                </a:ext>
              </a:extLst>
            </p:cNvPr>
            <p:cNvSpPr/>
            <p:nvPr/>
          </p:nvSpPr>
          <p:spPr>
            <a:xfrm>
              <a:off x="85065" y="1101268"/>
              <a:ext cx="1755267" cy="680733"/>
            </a:xfrm>
            <a:custGeom>
              <a:avLst/>
              <a:gdLst/>
              <a:ahLst/>
              <a:cxnLst/>
              <a:rect l="0" t="0" r="0" b="0"/>
              <a:pathLst>
                <a:path w="1755267" h="680733">
                  <a:moveTo>
                    <a:pt x="0" y="680733"/>
                  </a:moveTo>
                  <a:lnTo>
                    <a:pt x="1755267" y="680733"/>
                  </a:lnTo>
                  <a:lnTo>
                    <a:pt x="1755267" y="0"/>
                  </a:lnTo>
                  <a:lnTo>
                    <a:pt x="0" y="0"/>
                  </a:lnTo>
                  <a:close/>
                </a:path>
              </a:pathLst>
            </a:custGeom>
            <a:ln w="12700" cap="flat">
              <a:miter lim="101600"/>
            </a:ln>
          </p:spPr>
          <p:style>
            <a:lnRef idx="1">
              <a:srgbClr val="000000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CB0A6C9-599B-2BAA-F341-F4E6E57FB011}"/>
                </a:ext>
              </a:extLst>
            </p:cNvPr>
            <p:cNvSpPr/>
            <p:nvPr/>
          </p:nvSpPr>
          <p:spPr>
            <a:xfrm>
              <a:off x="350825" y="1129617"/>
              <a:ext cx="1685368" cy="244081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IN" sz="1300" b="1" kern="100">
                  <a:solidFill>
                    <a:srgbClr val="FFFFFF"/>
                  </a:solidFill>
                  <a:effectLst/>
                  <a:latin typeface="Arial" panose="020B0604020202020204" pitchFamily="34" charset="0"/>
                  <a:ea typeface="Arial" panose="020B0604020202020204" pitchFamily="34" charset="0"/>
                </a:rPr>
                <a:t>Appointment of </a:t>
              </a:r>
              <a:endParaRPr lang="en-IN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8C09C45-1734-3A6C-77FF-A7302CF7D0F7}"/>
                </a:ext>
              </a:extLst>
            </p:cNvPr>
            <p:cNvSpPr/>
            <p:nvPr/>
          </p:nvSpPr>
          <p:spPr>
            <a:xfrm>
              <a:off x="343205" y="1347549"/>
              <a:ext cx="1708572" cy="244081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IN" sz="1300" b="1" kern="100">
                  <a:solidFill>
                    <a:srgbClr val="FFFFFF"/>
                  </a:solidFill>
                  <a:effectLst/>
                  <a:latin typeface="Arial" panose="020B0604020202020204" pitchFamily="34" charset="0"/>
                  <a:ea typeface="Arial" panose="020B0604020202020204" pitchFamily="34" charset="0"/>
                </a:rPr>
                <a:t>BRLM and legal </a:t>
              </a:r>
              <a:endParaRPr lang="en-IN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C35C55FD-4B54-D4A3-F77A-32060C87ECEB}"/>
                </a:ext>
              </a:extLst>
            </p:cNvPr>
            <p:cNvSpPr/>
            <p:nvPr/>
          </p:nvSpPr>
          <p:spPr>
            <a:xfrm>
              <a:off x="651053" y="1565481"/>
              <a:ext cx="826630" cy="244081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IN" sz="1300" b="1" kern="100">
                  <a:solidFill>
                    <a:srgbClr val="FFFFFF"/>
                  </a:solidFill>
                  <a:effectLst/>
                  <a:latin typeface="Arial" panose="020B0604020202020204" pitchFamily="34" charset="0"/>
                  <a:ea typeface="Arial" panose="020B0604020202020204" pitchFamily="34" charset="0"/>
                </a:rPr>
                <a:t>counsel</a:t>
              </a:r>
              <a:endParaRPr lang="en-IN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17" name="Shape 28470">
              <a:extLst>
                <a:ext uri="{FF2B5EF4-FFF2-40B4-BE49-F238E27FC236}">
                  <a16:creationId xmlns:a16="http://schemas.microsoft.com/office/drawing/2014/main" id="{18AFF53D-1CF6-8EA3-A54C-BE85D1C2388B}"/>
                </a:ext>
              </a:extLst>
            </p:cNvPr>
            <p:cNvSpPr/>
            <p:nvPr/>
          </p:nvSpPr>
          <p:spPr>
            <a:xfrm>
              <a:off x="85065" y="3054020"/>
              <a:ext cx="1755267" cy="680733"/>
            </a:xfrm>
            <a:custGeom>
              <a:avLst/>
              <a:gdLst/>
              <a:ahLst/>
              <a:cxnLst/>
              <a:rect l="0" t="0" r="0" b="0"/>
              <a:pathLst>
                <a:path w="1755267" h="680733">
                  <a:moveTo>
                    <a:pt x="0" y="0"/>
                  </a:moveTo>
                  <a:lnTo>
                    <a:pt x="1755267" y="0"/>
                  </a:lnTo>
                  <a:lnTo>
                    <a:pt x="1755267" y="680733"/>
                  </a:lnTo>
                  <a:lnTo>
                    <a:pt x="0" y="680733"/>
                  </a:lnTo>
                  <a:lnTo>
                    <a:pt x="0" y="0"/>
                  </a:lnTo>
                </a:path>
              </a:pathLst>
            </a:custGeom>
            <a:ln w="0" cap="flat">
              <a:miter lim="1016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336699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18" name="Shape 1622">
              <a:extLst>
                <a:ext uri="{FF2B5EF4-FFF2-40B4-BE49-F238E27FC236}">
                  <a16:creationId xmlns:a16="http://schemas.microsoft.com/office/drawing/2014/main" id="{3C336FF7-80B7-BAF1-881F-7EEEC1356952}"/>
                </a:ext>
              </a:extLst>
            </p:cNvPr>
            <p:cNvSpPr/>
            <p:nvPr/>
          </p:nvSpPr>
          <p:spPr>
            <a:xfrm>
              <a:off x="85065" y="3054020"/>
              <a:ext cx="1755267" cy="680733"/>
            </a:xfrm>
            <a:custGeom>
              <a:avLst/>
              <a:gdLst/>
              <a:ahLst/>
              <a:cxnLst/>
              <a:rect l="0" t="0" r="0" b="0"/>
              <a:pathLst>
                <a:path w="1755267" h="680733">
                  <a:moveTo>
                    <a:pt x="0" y="680733"/>
                  </a:moveTo>
                  <a:lnTo>
                    <a:pt x="1755267" y="680733"/>
                  </a:lnTo>
                  <a:lnTo>
                    <a:pt x="1755267" y="0"/>
                  </a:lnTo>
                  <a:lnTo>
                    <a:pt x="0" y="0"/>
                  </a:lnTo>
                  <a:close/>
                </a:path>
              </a:pathLst>
            </a:custGeom>
            <a:ln w="12700" cap="flat">
              <a:miter lim="101600"/>
            </a:ln>
          </p:spPr>
          <p:style>
            <a:lnRef idx="1">
              <a:srgbClr val="000000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9CC59119-83E7-3CDA-A784-132A5D4EBB18}"/>
                </a:ext>
              </a:extLst>
            </p:cNvPr>
            <p:cNvSpPr/>
            <p:nvPr/>
          </p:nvSpPr>
          <p:spPr>
            <a:xfrm>
              <a:off x="329489" y="3191589"/>
              <a:ext cx="1745081" cy="244082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IN" sz="1300" b="1" kern="100">
                  <a:solidFill>
                    <a:srgbClr val="FFFFFF"/>
                  </a:solidFill>
                  <a:effectLst/>
                  <a:latin typeface="Arial" panose="020B0604020202020204" pitchFamily="34" charset="0"/>
                  <a:ea typeface="Arial" panose="020B0604020202020204" pitchFamily="34" charset="0"/>
                </a:rPr>
                <a:t>Drafting of Draft </a:t>
              </a:r>
              <a:endParaRPr lang="en-IN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2044A187-754B-4D3C-0267-D2A375B0A3F9}"/>
                </a:ext>
              </a:extLst>
            </p:cNvPr>
            <p:cNvSpPr/>
            <p:nvPr/>
          </p:nvSpPr>
          <p:spPr>
            <a:xfrm>
              <a:off x="491033" y="3409521"/>
              <a:ext cx="1252602" cy="244082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IN" sz="1300" b="1" kern="100">
                  <a:solidFill>
                    <a:srgbClr val="FFFFFF"/>
                  </a:solidFill>
                  <a:effectLst/>
                  <a:latin typeface="Arial" panose="020B0604020202020204" pitchFamily="34" charset="0"/>
                  <a:ea typeface="Arial" panose="020B0604020202020204" pitchFamily="34" charset="0"/>
                </a:rPr>
                <a:t>Red Herring</a:t>
              </a:r>
              <a:endParaRPr lang="en-IN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21" name="Shape 28471">
              <a:extLst>
                <a:ext uri="{FF2B5EF4-FFF2-40B4-BE49-F238E27FC236}">
                  <a16:creationId xmlns:a16="http://schemas.microsoft.com/office/drawing/2014/main" id="{6DB72B0B-A4F5-C412-4B9D-9AFD98914E5C}"/>
                </a:ext>
              </a:extLst>
            </p:cNvPr>
            <p:cNvSpPr/>
            <p:nvPr/>
          </p:nvSpPr>
          <p:spPr>
            <a:xfrm>
              <a:off x="85065" y="4030294"/>
              <a:ext cx="1755267" cy="680733"/>
            </a:xfrm>
            <a:custGeom>
              <a:avLst/>
              <a:gdLst/>
              <a:ahLst/>
              <a:cxnLst/>
              <a:rect l="0" t="0" r="0" b="0"/>
              <a:pathLst>
                <a:path w="1755267" h="680733">
                  <a:moveTo>
                    <a:pt x="0" y="0"/>
                  </a:moveTo>
                  <a:lnTo>
                    <a:pt x="1755267" y="0"/>
                  </a:lnTo>
                  <a:lnTo>
                    <a:pt x="1755267" y="680733"/>
                  </a:lnTo>
                  <a:lnTo>
                    <a:pt x="0" y="680733"/>
                  </a:lnTo>
                  <a:lnTo>
                    <a:pt x="0" y="0"/>
                  </a:lnTo>
                </a:path>
              </a:pathLst>
            </a:custGeom>
            <a:ln w="0" cap="flat">
              <a:miter lim="1016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336699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22" name="Shape 1626">
              <a:extLst>
                <a:ext uri="{FF2B5EF4-FFF2-40B4-BE49-F238E27FC236}">
                  <a16:creationId xmlns:a16="http://schemas.microsoft.com/office/drawing/2014/main" id="{5E7941A5-7183-9F1E-2E90-F4947FFC8B56}"/>
                </a:ext>
              </a:extLst>
            </p:cNvPr>
            <p:cNvSpPr/>
            <p:nvPr/>
          </p:nvSpPr>
          <p:spPr>
            <a:xfrm>
              <a:off x="85065" y="4030294"/>
              <a:ext cx="1755267" cy="680733"/>
            </a:xfrm>
            <a:custGeom>
              <a:avLst/>
              <a:gdLst/>
              <a:ahLst/>
              <a:cxnLst/>
              <a:rect l="0" t="0" r="0" b="0"/>
              <a:pathLst>
                <a:path w="1755267" h="680733">
                  <a:moveTo>
                    <a:pt x="0" y="680733"/>
                  </a:moveTo>
                  <a:lnTo>
                    <a:pt x="1755267" y="680733"/>
                  </a:lnTo>
                  <a:lnTo>
                    <a:pt x="1755267" y="0"/>
                  </a:lnTo>
                  <a:lnTo>
                    <a:pt x="0" y="0"/>
                  </a:lnTo>
                  <a:close/>
                </a:path>
              </a:pathLst>
            </a:custGeom>
            <a:ln w="12700" cap="flat">
              <a:miter lim="101600"/>
            </a:ln>
          </p:spPr>
          <p:style>
            <a:lnRef idx="1">
              <a:srgbClr val="000000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2A876FE2-46B2-A78C-BC7D-89F28622844C}"/>
                </a:ext>
              </a:extLst>
            </p:cNvPr>
            <p:cNvSpPr/>
            <p:nvPr/>
          </p:nvSpPr>
          <p:spPr>
            <a:xfrm>
              <a:off x="254813" y="4168168"/>
              <a:ext cx="1941490" cy="244081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IN" sz="1300" b="1" kern="100">
                  <a:solidFill>
                    <a:srgbClr val="FFFFFF"/>
                  </a:solidFill>
                  <a:effectLst/>
                  <a:latin typeface="Arial" panose="020B0604020202020204" pitchFamily="34" charset="0"/>
                  <a:ea typeface="Arial" panose="020B0604020202020204" pitchFamily="34" charset="0"/>
                </a:rPr>
                <a:t>Filing with SEBI &amp; </a:t>
              </a:r>
              <a:endParaRPr lang="en-IN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00C410B5-33FB-5FD2-FA03-6759F4226EA7}"/>
                </a:ext>
              </a:extLst>
            </p:cNvPr>
            <p:cNvSpPr/>
            <p:nvPr/>
          </p:nvSpPr>
          <p:spPr>
            <a:xfrm>
              <a:off x="280721" y="4386100"/>
              <a:ext cx="1814304" cy="244082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IN" sz="1300" b="1" kern="100">
                  <a:solidFill>
                    <a:srgbClr val="FFFFFF"/>
                  </a:solidFill>
                  <a:effectLst/>
                  <a:latin typeface="Arial" panose="020B0604020202020204" pitchFamily="34" charset="0"/>
                  <a:ea typeface="Arial" panose="020B0604020202020204" pitchFamily="34" charset="0"/>
                </a:rPr>
                <a:t>Stock Exchanges</a:t>
              </a:r>
              <a:endParaRPr lang="en-IN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25" name="Shape 28472">
              <a:extLst>
                <a:ext uri="{FF2B5EF4-FFF2-40B4-BE49-F238E27FC236}">
                  <a16:creationId xmlns:a16="http://schemas.microsoft.com/office/drawing/2014/main" id="{16414762-DF08-6A9B-49D0-B00DA66C9CB8}"/>
                </a:ext>
              </a:extLst>
            </p:cNvPr>
            <p:cNvSpPr/>
            <p:nvPr/>
          </p:nvSpPr>
          <p:spPr>
            <a:xfrm>
              <a:off x="3770503" y="4030294"/>
              <a:ext cx="1459992" cy="680733"/>
            </a:xfrm>
            <a:custGeom>
              <a:avLst/>
              <a:gdLst/>
              <a:ahLst/>
              <a:cxnLst/>
              <a:rect l="0" t="0" r="0" b="0"/>
              <a:pathLst>
                <a:path w="1459992" h="680733">
                  <a:moveTo>
                    <a:pt x="0" y="0"/>
                  </a:moveTo>
                  <a:lnTo>
                    <a:pt x="1459992" y="0"/>
                  </a:lnTo>
                  <a:lnTo>
                    <a:pt x="1459992" y="680733"/>
                  </a:lnTo>
                  <a:lnTo>
                    <a:pt x="0" y="680733"/>
                  </a:lnTo>
                  <a:lnTo>
                    <a:pt x="0" y="0"/>
                  </a:lnTo>
                </a:path>
              </a:pathLst>
            </a:custGeom>
            <a:ln w="0" cap="flat">
              <a:miter lim="1016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336699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26" name="Shape 1630">
              <a:extLst>
                <a:ext uri="{FF2B5EF4-FFF2-40B4-BE49-F238E27FC236}">
                  <a16:creationId xmlns:a16="http://schemas.microsoft.com/office/drawing/2014/main" id="{D8B5B7CE-E302-5BA5-7EA8-15B37CC5A0D9}"/>
                </a:ext>
              </a:extLst>
            </p:cNvPr>
            <p:cNvSpPr/>
            <p:nvPr/>
          </p:nvSpPr>
          <p:spPr>
            <a:xfrm>
              <a:off x="3770503" y="4030294"/>
              <a:ext cx="1459992" cy="680733"/>
            </a:xfrm>
            <a:custGeom>
              <a:avLst/>
              <a:gdLst/>
              <a:ahLst/>
              <a:cxnLst/>
              <a:rect l="0" t="0" r="0" b="0"/>
              <a:pathLst>
                <a:path w="1459992" h="680733">
                  <a:moveTo>
                    <a:pt x="0" y="680733"/>
                  </a:moveTo>
                  <a:lnTo>
                    <a:pt x="1459992" y="680733"/>
                  </a:lnTo>
                  <a:lnTo>
                    <a:pt x="1459992" y="0"/>
                  </a:lnTo>
                  <a:lnTo>
                    <a:pt x="0" y="0"/>
                  </a:lnTo>
                  <a:close/>
                </a:path>
              </a:pathLst>
            </a:custGeom>
            <a:ln w="12700" cap="flat">
              <a:miter lim="101600"/>
            </a:ln>
          </p:spPr>
          <p:style>
            <a:lnRef idx="1">
              <a:srgbClr val="000000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6814905A-1165-6D74-3055-3CBA2BC9F8FF}"/>
                </a:ext>
              </a:extLst>
            </p:cNvPr>
            <p:cNvSpPr/>
            <p:nvPr/>
          </p:nvSpPr>
          <p:spPr>
            <a:xfrm>
              <a:off x="3893566" y="4184932"/>
              <a:ext cx="1676794" cy="244082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IN" sz="1300" b="1" kern="100">
                  <a:solidFill>
                    <a:srgbClr val="FFFFFF"/>
                  </a:solidFill>
                  <a:effectLst/>
                  <a:latin typeface="Arial" panose="020B0604020202020204" pitchFamily="34" charset="0"/>
                  <a:ea typeface="Arial" panose="020B0604020202020204" pitchFamily="34" charset="0"/>
                </a:rPr>
                <a:t>SEBI Clearance </a:t>
              </a:r>
              <a:endParaRPr lang="en-IN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A420A4CB-0DBB-5E37-0173-029D9C1A064F}"/>
                </a:ext>
              </a:extLst>
            </p:cNvPr>
            <p:cNvSpPr/>
            <p:nvPr/>
          </p:nvSpPr>
          <p:spPr>
            <a:xfrm>
              <a:off x="3994150" y="4383052"/>
              <a:ext cx="1410602" cy="244082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IN" sz="1300" b="1" kern="100">
                  <a:solidFill>
                    <a:srgbClr val="FFFFFF"/>
                  </a:solidFill>
                  <a:effectLst/>
                  <a:latin typeface="Arial" panose="020B0604020202020204" pitchFamily="34" charset="0"/>
                  <a:ea typeface="Arial" panose="020B0604020202020204" pitchFamily="34" charset="0"/>
                </a:rPr>
                <a:t>&amp; ROC Filing </a:t>
              </a:r>
              <a:endParaRPr lang="en-IN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29" name="Shape 28473">
              <a:extLst>
                <a:ext uri="{FF2B5EF4-FFF2-40B4-BE49-F238E27FC236}">
                  <a16:creationId xmlns:a16="http://schemas.microsoft.com/office/drawing/2014/main" id="{E8B85EDB-BB1B-1101-C0E4-E0245A960E28}"/>
                </a:ext>
              </a:extLst>
            </p:cNvPr>
            <p:cNvSpPr/>
            <p:nvPr/>
          </p:nvSpPr>
          <p:spPr>
            <a:xfrm>
              <a:off x="2075434" y="4030294"/>
              <a:ext cx="1459992" cy="680733"/>
            </a:xfrm>
            <a:custGeom>
              <a:avLst/>
              <a:gdLst/>
              <a:ahLst/>
              <a:cxnLst/>
              <a:rect l="0" t="0" r="0" b="0"/>
              <a:pathLst>
                <a:path w="1459992" h="680733">
                  <a:moveTo>
                    <a:pt x="0" y="0"/>
                  </a:moveTo>
                  <a:lnTo>
                    <a:pt x="1459992" y="0"/>
                  </a:lnTo>
                  <a:lnTo>
                    <a:pt x="1459992" y="680733"/>
                  </a:lnTo>
                  <a:lnTo>
                    <a:pt x="0" y="680733"/>
                  </a:lnTo>
                  <a:lnTo>
                    <a:pt x="0" y="0"/>
                  </a:lnTo>
                </a:path>
              </a:pathLst>
            </a:custGeom>
            <a:ln w="0" cap="flat">
              <a:miter lim="1016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336699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30" name="Shape 1634">
              <a:extLst>
                <a:ext uri="{FF2B5EF4-FFF2-40B4-BE49-F238E27FC236}">
                  <a16:creationId xmlns:a16="http://schemas.microsoft.com/office/drawing/2014/main" id="{636268AD-99DA-3860-5E48-725F1F33B24F}"/>
                </a:ext>
              </a:extLst>
            </p:cNvPr>
            <p:cNvSpPr/>
            <p:nvPr/>
          </p:nvSpPr>
          <p:spPr>
            <a:xfrm>
              <a:off x="2075434" y="4030294"/>
              <a:ext cx="1459992" cy="680733"/>
            </a:xfrm>
            <a:custGeom>
              <a:avLst/>
              <a:gdLst/>
              <a:ahLst/>
              <a:cxnLst/>
              <a:rect l="0" t="0" r="0" b="0"/>
              <a:pathLst>
                <a:path w="1459992" h="680733">
                  <a:moveTo>
                    <a:pt x="0" y="680733"/>
                  </a:moveTo>
                  <a:lnTo>
                    <a:pt x="1459992" y="680733"/>
                  </a:lnTo>
                  <a:lnTo>
                    <a:pt x="1459992" y="0"/>
                  </a:lnTo>
                  <a:lnTo>
                    <a:pt x="0" y="0"/>
                  </a:lnTo>
                  <a:close/>
                </a:path>
              </a:pathLst>
            </a:custGeom>
            <a:ln w="12700" cap="flat">
              <a:miter lim="101600"/>
            </a:ln>
          </p:spPr>
          <p:style>
            <a:lnRef idx="1">
              <a:srgbClr val="000000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2F70FFD0-412C-E13E-4550-1A48069BF134}"/>
                </a:ext>
              </a:extLst>
            </p:cNvPr>
            <p:cNvSpPr/>
            <p:nvPr/>
          </p:nvSpPr>
          <p:spPr>
            <a:xfrm>
              <a:off x="2256155" y="4277286"/>
              <a:ext cx="352766" cy="244082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IN" sz="1300" b="1" kern="100">
                  <a:solidFill>
                    <a:srgbClr val="FFFFFF"/>
                  </a:solidFill>
                  <a:effectLst/>
                  <a:latin typeface="Arial" panose="020B0604020202020204" pitchFamily="34" charset="0"/>
                  <a:ea typeface="Arial" panose="020B0604020202020204" pitchFamily="34" charset="0"/>
                </a:rPr>
                <a:t>Pre</a:t>
              </a:r>
              <a:endParaRPr lang="en-IN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CB7E21AE-DCCC-4B70-32AD-F8F32B44DF03}"/>
                </a:ext>
              </a:extLst>
            </p:cNvPr>
            <p:cNvSpPr/>
            <p:nvPr/>
          </p:nvSpPr>
          <p:spPr>
            <a:xfrm>
              <a:off x="2521331" y="4277286"/>
              <a:ext cx="72898" cy="244082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IN" sz="1300" b="1" kern="100">
                  <a:solidFill>
                    <a:srgbClr val="FFFFFF"/>
                  </a:solidFill>
                  <a:effectLst/>
                  <a:latin typeface="Arial" panose="020B0604020202020204" pitchFamily="34" charset="0"/>
                  <a:ea typeface="Arial" panose="020B0604020202020204" pitchFamily="34" charset="0"/>
                </a:rPr>
                <a:t>-</a:t>
              </a:r>
              <a:endParaRPr lang="en-IN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D34665B4-B827-B942-6DE8-742CC9A7B684}"/>
                </a:ext>
              </a:extLst>
            </p:cNvPr>
            <p:cNvSpPr/>
            <p:nvPr/>
          </p:nvSpPr>
          <p:spPr>
            <a:xfrm>
              <a:off x="2576195" y="4277286"/>
              <a:ext cx="1035870" cy="244082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IN" sz="1300" b="1" kern="100">
                  <a:solidFill>
                    <a:srgbClr val="FFFFFF"/>
                  </a:solidFill>
                  <a:effectLst/>
                  <a:latin typeface="Arial" panose="020B0604020202020204" pitchFamily="34" charset="0"/>
                  <a:ea typeface="Arial" panose="020B0604020202020204" pitchFamily="34" charset="0"/>
                </a:rPr>
                <a:t>Marketing</a:t>
              </a:r>
              <a:endParaRPr lang="en-IN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34" name="Shape 28474">
              <a:extLst>
                <a:ext uri="{FF2B5EF4-FFF2-40B4-BE49-F238E27FC236}">
                  <a16:creationId xmlns:a16="http://schemas.microsoft.com/office/drawing/2014/main" id="{D78C2292-47C9-6286-8C50-D31D67F5274B}"/>
                </a:ext>
              </a:extLst>
            </p:cNvPr>
            <p:cNvSpPr/>
            <p:nvPr/>
          </p:nvSpPr>
          <p:spPr>
            <a:xfrm>
              <a:off x="85065" y="124892"/>
              <a:ext cx="1755267" cy="680733"/>
            </a:xfrm>
            <a:custGeom>
              <a:avLst/>
              <a:gdLst/>
              <a:ahLst/>
              <a:cxnLst/>
              <a:rect l="0" t="0" r="0" b="0"/>
              <a:pathLst>
                <a:path w="1755267" h="680733">
                  <a:moveTo>
                    <a:pt x="0" y="0"/>
                  </a:moveTo>
                  <a:lnTo>
                    <a:pt x="1755267" y="0"/>
                  </a:lnTo>
                  <a:lnTo>
                    <a:pt x="1755267" y="680733"/>
                  </a:lnTo>
                  <a:lnTo>
                    <a:pt x="0" y="680733"/>
                  </a:lnTo>
                  <a:lnTo>
                    <a:pt x="0" y="0"/>
                  </a:lnTo>
                </a:path>
              </a:pathLst>
            </a:custGeom>
            <a:ln w="0" cap="flat">
              <a:miter lim="1016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336699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35" name="Shape 1639">
              <a:extLst>
                <a:ext uri="{FF2B5EF4-FFF2-40B4-BE49-F238E27FC236}">
                  <a16:creationId xmlns:a16="http://schemas.microsoft.com/office/drawing/2014/main" id="{9D651C03-B71D-27EE-43BF-9BB2ABBD4930}"/>
                </a:ext>
              </a:extLst>
            </p:cNvPr>
            <p:cNvSpPr/>
            <p:nvPr/>
          </p:nvSpPr>
          <p:spPr>
            <a:xfrm>
              <a:off x="85065" y="124892"/>
              <a:ext cx="1755267" cy="680733"/>
            </a:xfrm>
            <a:custGeom>
              <a:avLst/>
              <a:gdLst/>
              <a:ahLst/>
              <a:cxnLst/>
              <a:rect l="0" t="0" r="0" b="0"/>
              <a:pathLst>
                <a:path w="1755267" h="680733">
                  <a:moveTo>
                    <a:pt x="0" y="680733"/>
                  </a:moveTo>
                  <a:lnTo>
                    <a:pt x="1755267" y="680733"/>
                  </a:lnTo>
                  <a:lnTo>
                    <a:pt x="1755267" y="0"/>
                  </a:lnTo>
                  <a:lnTo>
                    <a:pt x="0" y="0"/>
                  </a:lnTo>
                  <a:close/>
                </a:path>
              </a:pathLst>
            </a:custGeom>
            <a:ln w="12700" cap="flat">
              <a:miter lim="101600"/>
            </a:ln>
          </p:spPr>
          <p:style>
            <a:lnRef idx="1">
              <a:srgbClr val="000000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FD985B8A-63A9-0AC9-905B-00DF3A2766CF}"/>
                </a:ext>
              </a:extLst>
            </p:cNvPr>
            <p:cNvSpPr/>
            <p:nvPr/>
          </p:nvSpPr>
          <p:spPr>
            <a:xfrm>
              <a:off x="259385" y="261826"/>
              <a:ext cx="1931201" cy="244081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IN" sz="1300" b="1" kern="100">
                  <a:solidFill>
                    <a:srgbClr val="FFFFFF"/>
                  </a:solidFill>
                  <a:effectLst/>
                  <a:latin typeface="Arial" panose="020B0604020202020204" pitchFamily="34" charset="0"/>
                  <a:ea typeface="Arial" panose="020B0604020202020204" pitchFamily="34" charset="0"/>
                </a:rPr>
                <a:t>Decision to go for </a:t>
              </a:r>
              <a:endParaRPr lang="en-IN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D8DFAAFF-C436-139C-F346-08F44070675D}"/>
                </a:ext>
              </a:extLst>
            </p:cNvPr>
            <p:cNvSpPr/>
            <p:nvPr/>
          </p:nvSpPr>
          <p:spPr>
            <a:xfrm>
              <a:off x="820217" y="479758"/>
              <a:ext cx="377043" cy="244081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IN" sz="1300" b="1" kern="100">
                  <a:solidFill>
                    <a:srgbClr val="FFFFFF"/>
                  </a:solidFill>
                  <a:effectLst/>
                  <a:latin typeface="Arial" panose="020B0604020202020204" pitchFamily="34" charset="0"/>
                  <a:ea typeface="Arial" panose="020B0604020202020204" pitchFamily="34" charset="0"/>
                </a:rPr>
                <a:t>IPO</a:t>
              </a:r>
              <a:endParaRPr lang="en-IN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38" name="Shape 1642">
              <a:extLst>
                <a:ext uri="{FF2B5EF4-FFF2-40B4-BE49-F238E27FC236}">
                  <a16:creationId xmlns:a16="http://schemas.microsoft.com/office/drawing/2014/main" id="{F4B2518E-D7AB-59DD-324A-5B02F730A656}"/>
                </a:ext>
              </a:extLst>
            </p:cNvPr>
            <p:cNvSpPr/>
            <p:nvPr/>
          </p:nvSpPr>
          <p:spPr>
            <a:xfrm>
              <a:off x="851599" y="806514"/>
              <a:ext cx="222250" cy="295656"/>
            </a:xfrm>
            <a:custGeom>
              <a:avLst/>
              <a:gdLst/>
              <a:ahLst/>
              <a:cxnLst/>
              <a:rect l="0" t="0" r="0" b="0"/>
              <a:pathLst>
                <a:path w="222250" h="295656">
                  <a:moveTo>
                    <a:pt x="88900" y="0"/>
                  </a:moveTo>
                  <a:lnTo>
                    <a:pt x="133350" y="0"/>
                  </a:lnTo>
                  <a:lnTo>
                    <a:pt x="133350" y="206756"/>
                  </a:lnTo>
                  <a:lnTo>
                    <a:pt x="222250" y="206756"/>
                  </a:lnTo>
                  <a:lnTo>
                    <a:pt x="111125" y="295656"/>
                  </a:lnTo>
                  <a:lnTo>
                    <a:pt x="0" y="206756"/>
                  </a:lnTo>
                  <a:lnTo>
                    <a:pt x="88900" y="206756"/>
                  </a:lnTo>
                  <a:lnTo>
                    <a:pt x="88900" y="0"/>
                  </a:lnTo>
                  <a:close/>
                </a:path>
              </a:pathLst>
            </a:custGeom>
            <a:ln w="0" cap="flat">
              <a:miter lim="1016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000000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39" name="Shape 1643">
              <a:extLst>
                <a:ext uri="{FF2B5EF4-FFF2-40B4-BE49-F238E27FC236}">
                  <a16:creationId xmlns:a16="http://schemas.microsoft.com/office/drawing/2014/main" id="{3D96F1DB-DFD6-912F-2575-E1A612C1932C}"/>
                </a:ext>
              </a:extLst>
            </p:cNvPr>
            <p:cNvSpPr/>
            <p:nvPr/>
          </p:nvSpPr>
          <p:spPr>
            <a:xfrm>
              <a:off x="851599" y="1782890"/>
              <a:ext cx="222250" cy="295529"/>
            </a:xfrm>
            <a:custGeom>
              <a:avLst/>
              <a:gdLst/>
              <a:ahLst/>
              <a:cxnLst/>
              <a:rect l="0" t="0" r="0" b="0"/>
              <a:pathLst>
                <a:path w="222250" h="295529">
                  <a:moveTo>
                    <a:pt x="88900" y="0"/>
                  </a:moveTo>
                  <a:lnTo>
                    <a:pt x="133350" y="0"/>
                  </a:lnTo>
                  <a:lnTo>
                    <a:pt x="133350" y="206629"/>
                  </a:lnTo>
                  <a:lnTo>
                    <a:pt x="222250" y="206629"/>
                  </a:lnTo>
                  <a:lnTo>
                    <a:pt x="111125" y="295529"/>
                  </a:lnTo>
                  <a:lnTo>
                    <a:pt x="0" y="206629"/>
                  </a:lnTo>
                  <a:lnTo>
                    <a:pt x="88900" y="206629"/>
                  </a:lnTo>
                  <a:lnTo>
                    <a:pt x="88900" y="0"/>
                  </a:lnTo>
                  <a:close/>
                </a:path>
              </a:pathLst>
            </a:custGeom>
            <a:ln w="0" cap="flat">
              <a:miter lim="1016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000000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40" name="Shape 1644">
              <a:extLst>
                <a:ext uri="{FF2B5EF4-FFF2-40B4-BE49-F238E27FC236}">
                  <a16:creationId xmlns:a16="http://schemas.microsoft.com/office/drawing/2014/main" id="{ABAAA01E-87ED-CEB0-A865-262CDACD7FF3}"/>
                </a:ext>
              </a:extLst>
            </p:cNvPr>
            <p:cNvSpPr/>
            <p:nvPr/>
          </p:nvSpPr>
          <p:spPr>
            <a:xfrm>
              <a:off x="851599" y="3735515"/>
              <a:ext cx="222250" cy="295656"/>
            </a:xfrm>
            <a:custGeom>
              <a:avLst/>
              <a:gdLst/>
              <a:ahLst/>
              <a:cxnLst/>
              <a:rect l="0" t="0" r="0" b="0"/>
              <a:pathLst>
                <a:path w="222250" h="295656">
                  <a:moveTo>
                    <a:pt x="88900" y="0"/>
                  </a:moveTo>
                  <a:lnTo>
                    <a:pt x="133350" y="0"/>
                  </a:lnTo>
                  <a:lnTo>
                    <a:pt x="133350" y="206756"/>
                  </a:lnTo>
                  <a:lnTo>
                    <a:pt x="222250" y="206756"/>
                  </a:lnTo>
                  <a:lnTo>
                    <a:pt x="111125" y="295656"/>
                  </a:lnTo>
                  <a:lnTo>
                    <a:pt x="0" y="206756"/>
                  </a:lnTo>
                  <a:lnTo>
                    <a:pt x="88900" y="206756"/>
                  </a:lnTo>
                  <a:lnTo>
                    <a:pt x="88900" y="0"/>
                  </a:lnTo>
                  <a:close/>
                </a:path>
              </a:pathLst>
            </a:custGeom>
            <a:ln w="0" cap="flat">
              <a:miter lim="1016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000000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41" name="Shape 1645">
              <a:extLst>
                <a:ext uri="{FF2B5EF4-FFF2-40B4-BE49-F238E27FC236}">
                  <a16:creationId xmlns:a16="http://schemas.microsoft.com/office/drawing/2014/main" id="{B3E99501-CDBE-A625-685B-6034C5FA3F44}"/>
                </a:ext>
              </a:extLst>
            </p:cNvPr>
            <p:cNvSpPr/>
            <p:nvPr/>
          </p:nvSpPr>
          <p:spPr>
            <a:xfrm>
              <a:off x="851599" y="2759139"/>
              <a:ext cx="222250" cy="295656"/>
            </a:xfrm>
            <a:custGeom>
              <a:avLst/>
              <a:gdLst/>
              <a:ahLst/>
              <a:cxnLst/>
              <a:rect l="0" t="0" r="0" b="0"/>
              <a:pathLst>
                <a:path w="222250" h="295656">
                  <a:moveTo>
                    <a:pt x="88900" y="0"/>
                  </a:moveTo>
                  <a:lnTo>
                    <a:pt x="133350" y="0"/>
                  </a:lnTo>
                  <a:lnTo>
                    <a:pt x="133350" y="206756"/>
                  </a:lnTo>
                  <a:lnTo>
                    <a:pt x="222250" y="206756"/>
                  </a:lnTo>
                  <a:lnTo>
                    <a:pt x="111125" y="295656"/>
                  </a:lnTo>
                  <a:lnTo>
                    <a:pt x="0" y="206756"/>
                  </a:lnTo>
                  <a:lnTo>
                    <a:pt x="88900" y="206756"/>
                  </a:lnTo>
                  <a:lnTo>
                    <a:pt x="88900" y="0"/>
                  </a:lnTo>
                  <a:close/>
                </a:path>
              </a:pathLst>
            </a:custGeom>
            <a:ln w="0" cap="flat">
              <a:miter lim="1016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000000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42" name="Shape 1646">
              <a:extLst>
                <a:ext uri="{FF2B5EF4-FFF2-40B4-BE49-F238E27FC236}">
                  <a16:creationId xmlns:a16="http://schemas.microsoft.com/office/drawing/2014/main" id="{7EC478B0-4224-BD73-0AF3-9C74603E7AD2}"/>
                </a:ext>
              </a:extLst>
            </p:cNvPr>
            <p:cNvSpPr/>
            <p:nvPr/>
          </p:nvSpPr>
          <p:spPr>
            <a:xfrm>
              <a:off x="1840357" y="4260381"/>
              <a:ext cx="235077" cy="222250"/>
            </a:xfrm>
            <a:custGeom>
              <a:avLst/>
              <a:gdLst/>
              <a:ahLst/>
              <a:cxnLst/>
              <a:rect l="0" t="0" r="0" b="0"/>
              <a:pathLst>
                <a:path w="235077" h="222250">
                  <a:moveTo>
                    <a:pt x="146177" y="0"/>
                  </a:moveTo>
                  <a:lnTo>
                    <a:pt x="235077" y="111125"/>
                  </a:lnTo>
                  <a:lnTo>
                    <a:pt x="146177" y="222250"/>
                  </a:lnTo>
                  <a:lnTo>
                    <a:pt x="146177" y="133350"/>
                  </a:lnTo>
                  <a:lnTo>
                    <a:pt x="0" y="133350"/>
                  </a:lnTo>
                  <a:lnTo>
                    <a:pt x="0" y="88900"/>
                  </a:lnTo>
                  <a:lnTo>
                    <a:pt x="146177" y="88900"/>
                  </a:lnTo>
                  <a:lnTo>
                    <a:pt x="146177" y="0"/>
                  </a:lnTo>
                  <a:close/>
                </a:path>
              </a:pathLst>
            </a:custGeom>
            <a:ln w="0" cap="flat">
              <a:miter lim="1016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000000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43" name="Shape 1647">
              <a:extLst>
                <a:ext uri="{FF2B5EF4-FFF2-40B4-BE49-F238E27FC236}">
                  <a16:creationId xmlns:a16="http://schemas.microsoft.com/office/drawing/2014/main" id="{7EA2DEF1-2475-BADD-7A38-392C8EF9BDB5}"/>
                </a:ext>
              </a:extLst>
            </p:cNvPr>
            <p:cNvSpPr/>
            <p:nvPr/>
          </p:nvSpPr>
          <p:spPr>
            <a:xfrm>
              <a:off x="5230368" y="4260381"/>
              <a:ext cx="235077" cy="222250"/>
            </a:xfrm>
            <a:custGeom>
              <a:avLst/>
              <a:gdLst/>
              <a:ahLst/>
              <a:cxnLst/>
              <a:rect l="0" t="0" r="0" b="0"/>
              <a:pathLst>
                <a:path w="235077" h="222250">
                  <a:moveTo>
                    <a:pt x="146177" y="0"/>
                  </a:moveTo>
                  <a:lnTo>
                    <a:pt x="235077" y="111125"/>
                  </a:lnTo>
                  <a:lnTo>
                    <a:pt x="146177" y="222250"/>
                  </a:lnTo>
                  <a:lnTo>
                    <a:pt x="146177" y="133350"/>
                  </a:lnTo>
                  <a:lnTo>
                    <a:pt x="0" y="133350"/>
                  </a:lnTo>
                  <a:lnTo>
                    <a:pt x="0" y="88900"/>
                  </a:lnTo>
                  <a:lnTo>
                    <a:pt x="146177" y="88900"/>
                  </a:lnTo>
                  <a:lnTo>
                    <a:pt x="146177" y="0"/>
                  </a:lnTo>
                  <a:close/>
                </a:path>
              </a:pathLst>
            </a:custGeom>
            <a:ln w="0" cap="flat">
              <a:miter lim="1016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000000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44" name="Shape 1648">
              <a:extLst>
                <a:ext uri="{FF2B5EF4-FFF2-40B4-BE49-F238E27FC236}">
                  <a16:creationId xmlns:a16="http://schemas.microsoft.com/office/drawing/2014/main" id="{906D5524-BABD-6199-0FD7-5637D2659700}"/>
                </a:ext>
              </a:extLst>
            </p:cNvPr>
            <p:cNvSpPr/>
            <p:nvPr/>
          </p:nvSpPr>
          <p:spPr>
            <a:xfrm>
              <a:off x="7061454" y="0"/>
              <a:ext cx="1930146" cy="5077587"/>
            </a:xfrm>
            <a:custGeom>
              <a:avLst/>
              <a:gdLst/>
              <a:ahLst/>
              <a:cxnLst/>
              <a:rect l="0" t="0" r="0" b="0"/>
              <a:pathLst>
                <a:path w="1930146" h="5077587">
                  <a:moveTo>
                    <a:pt x="0" y="5077587"/>
                  </a:moveTo>
                  <a:lnTo>
                    <a:pt x="1930146" y="5077587"/>
                  </a:lnTo>
                  <a:lnTo>
                    <a:pt x="1930146" y="0"/>
                  </a:lnTo>
                  <a:lnTo>
                    <a:pt x="0" y="0"/>
                  </a:lnTo>
                  <a:close/>
                </a:path>
              </a:pathLst>
            </a:custGeom>
            <a:ln w="12700" cap="flat">
              <a:custDash>
                <a:ds d="400000" sp="300000"/>
              </a:custDash>
              <a:miter lim="101600"/>
            </a:ln>
          </p:spPr>
          <p:style>
            <a:lnRef idx="1">
              <a:srgbClr val="336699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45" name="Shape 28475">
              <a:extLst>
                <a:ext uri="{FF2B5EF4-FFF2-40B4-BE49-F238E27FC236}">
                  <a16:creationId xmlns:a16="http://schemas.microsoft.com/office/drawing/2014/main" id="{70CAA028-A12F-2B62-2CE7-067B0F58E146}"/>
                </a:ext>
              </a:extLst>
            </p:cNvPr>
            <p:cNvSpPr/>
            <p:nvPr/>
          </p:nvSpPr>
          <p:spPr>
            <a:xfrm>
              <a:off x="5465445" y="4030294"/>
              <a:ext cx="1459992" cy="680733"/>
            </a:xfrm>
            <a:custGeom>
              <a:avLst/>
              <a:gdLst/>
              <a:ahLst/>
              <a:cxnLst/>
              <a:rect l="0" t="0" r="0" b="0"/>
              <a:pathLst>
                <a:path w="1459992" h="680733">
                  <a:moveTo>
                    <a:pt x="0" y="0"/>
                  </a:moveTo>
                  <a:lnTo>
                    <a:pt x="1459992" y="0"/>
                  </a:lnTo>
                  <a:lnTo>
                    <a:pt x="1459992" y="680733"/>
                  </a:lnTo>
                  <a:lnTo>
                    <a:pt x="0" y="680733"/>
                  </a:lnTo>
                  <a:lnTo>
                    <a:pt x="0" y="0"/>
                  </a:lnTo>
                </a:path>
              </a:pathLst>
            </a:custGeom>
            <a:ln w="0" cap="flat">
              <a:miter lim="1016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336699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46" name="Shape 1650">
              <a:extLst>
                <a:ext uri="{FF2B5EF4-FFF2-40B4-BE49-F238E27FC236}">
                  <a16:creationId xmlns:a16="http://schemas.microsoft.com/office/drawing/2014/main" id="{EA281B24-8AD5-3737-D123-B975C5280125}"/>
                </a:ext>
              </a:extLst>
            </p:cNvPr>
            <p:cNvSpPr/>
            <p:nvPr/>
          </p:nvSpPr>
          <p:spPr>
            <a:xfrm>
              <a:off x="5465445" y="4030294"/>
              <a:ext cx="1459992" cy="680733"/>
            </a:xfrm>
            <a:custGeom>
              <a:avLst/>
              <a:gdLst/>
              <a:ahLst/>
              <a:cxnLst/>
              <a:rect l="0" t="0" r="0" b="0"/>
              <a:pathLst>
                <a:path w="1459992" h="680733">
                  <a:moveTo>
                    <a:pt x="0" y="680733"/>
                  </a:moveTo>
                  <a:lnTo>
                    <a:pt x="1459992" y="680733"/>
                  </a:lnTo>
                  <a:lnTo>
                    <a:pt x="1459992" y="0"/>
                  </a:lnTo>
                  <a:lnTo>
                    <a:pt x="0" y="0"/>
                  </a:lnTo>
                  <a:close/>
                </a:path>
              </a:pathLst>
            </a:custGeom>
            <a:ln w="12700" cap="flat">
              <a:miter lim="101600"/>
            </a:ln>
          </p:spPr>
          <p:style>
            <a:lnRef idx="1">
              <a:srgbClr val="000000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8BAD3824-7C66-A6A3-8419-BC7F1D7AE9D7}"/>
                </a:ext>
              </a:extLst>
            </p:cNvPr>
            <p:cNvSpPr/>
            <p:nvPr/>
          </p:nvSpPr>
          <p:spPr>
            <a:xfrm>
              <a:off x="5733542" y="4277286"/>
              <a:ext cx="1232181" cy="244082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IN" sz="1300" b="1" kern="100">
                  <a:solidFill>
                    <a:srgbClr val="FFFFFF"/>
                  </a:solidFill>
                  <a:effectLst/>
                  <a:latin typeface="Arial" panose="020B0604020202020204" pitchFamily="34" charset="0"/>
                  <a:ea typeface="Arial" panose="020B0604020202020204" pitchFamily="34" charset="0"/>
                </a:rPr>
                <a:t>Roadshows</a:t>
              </a:r>
              <a:endParaRPr lang="en-IN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48" name="Shape 1652">
              <a:extLst>
                <a:ext uri="{FF2B5EF4-FFF2-40B4-BE49-F238E27FC236}">
                  <a16:creationId xmlns:a16="http://schemas.microsoft.com/office/drawing/2014/main" id="{99CDC6E9-195A-AED8-53D5-6C114D8C9620}"/>
                </a:ext>
              </a:extLst>
            </p:cNvPr>
            <p:cNvSpPr/>
            <p:nvPr/>
          </p:nvSpPr>
          <p:spPr>
            <a:xfrm>
              <a:off x="6925437" y="4260381"/>
              <a:ext cx="235077" cy="222250"/>
            </a:xfrm>
            <a:custGeom>
              <a:avLst/>
              <a:gdLst/>
              <a:ahLst/>
              <a:cxnLst/>
              <a:rect l="0" t="0" r="0" b="0"/>
              <a:pathLst>
                <a:path w="235077" h="222250">
                  <a:moveTo>
                    <a:pt x="146177" y="0"/>
                  </a:moveTo>
                  <a:lnTo>
                    <a:pt x="235077" y="111125"/>
                  </a:lnTo>
                  <a:lnTo>
                    <a:pt x="146177" y="222250"/>
                  </a:lnTo>
                  <a:lnTo>
                    <a:pt x="146177" y="133350"/>
                  </a:lnTo>
                  <a:lnTo>
                    <a:pt x="0" y="133350"/>
                  </a:lnTo>
                  <a:lnTo>
                    <a:pt x="0" y="88900"/>
                  </a:lnTo>
                  <a:lnTo>
                    <a:pt x="146177" y="88900"/>
                  </a:lnTo>
                  <a:lnTo>
                    <a:pt x="146177" y="0"/>
                  </a:lnTo>
                  <a:close/>
                </a:path>
              </a:pathLst>
            </a:custGeom>
            <a:ln w="0" cap="flat">
              <a:miter lim="1016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000000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49" name="Shape 1653">
              <a:extLst>
                <a:ext uri="{FF2B5EF4-FFF2-40B4-BE49-F238E27FC236}">
                  <a16:creationId xmlns:a16="http://schemas.microsoft.com/office/drawing/2014/main" id="{993988FF-7A98-8574-F61D-388DA72C3121}"/>
                </a:ext>
              </a:extLst>
            </p:cNvPr>
            <p:cNvSpPr/>
            <p:nvPr/>
          </p:nvSpPr>
          <p:spPr>
            <a:xfrm>
              <a:off x="3535426" y="4260381"/>
              <a:ext cx="235077" cy="222250"/>
            </a:xfrm>
            <a:custGeom>
              <a:avLst/>
              <a:gdLst/>
              <a:ahLst/>
              <a:cxnLst/>
              <a:rect l="0" t="0" r="0" b="0"/>
              <a:pathLst>
                <a:path w="235077" h="222250">
                  <a:moveTo>
                    <a:pt x="146177" y="0"/>
                  </a:moveTo>
                  <a:lnTo>
                    <a:pt x="235077" y="111125"/>
                  </a:lnTo>
                  <a:lnTo>
                    <a:pt x="146177" y="222250"/>
                  </a:lnTo>
                  <a:lnTo>
                    <a:pt x="146177" y="133350"/>
                  </a:lnTo>
                  <a:lnTo>
                    <a:pt x="0" y="133350"/>
                  </a:lnTo>
                  <a:lnTo>
                    <a:pt x="0" y="88900"/>
                  </a:lnTo>
                  <a:lnTo>
                    <a:pt x="146177" y="88900"/>
                  </a:lnTo>
                  <a:lnTo>
                    <a:pt x="146177" y="0"/>
                  </a:lnTo>
                  <a:close/>
                </a:path>
              </a:pathLst>
            </a:custGeom>
            <a:ln w="0" cap="flat">
              <a:miter lim="1016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000000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50" name="Shape 28476">
              <a:extLst>
                <a:ext uri="{FF2B5EF4-FFF2-40B4-BE49-F238E27FC236}">
                  <a16:creationId xmlns:a16="http://schemas.microsoft.com/office/drawing/2014/main" id="{C2FB518C-F916-D9E8-EDA2-3A09D6B3A6E2}"/>
                </a:ext>
              </a:extLst>
            </p:cNvPr>
            <p:cNvSpPr/>
            <p:nvPr/>
          </p:nvSpPr>
          <p:spPr>
            <a:xfrm>
              <a:off x="3598799" y="1332751"/>
              <a:ext cx="1781556" cy="856412"/>
            </a:xfrm>
            <a:custGeom>
              <a:avLst/>
              <a:gdLst/>
              <a:ahLst/>
              <a:cxnLst/>
              <a:rect l="0" t="0" r="0" b="0"/>
              <a:pathLst>
                <a:path w="1781556" h="856412">
                  <a:moveTo>
                    <a:pt x="0" y="0"/>
                  </a:moveTo>
                  <a:lnTo>
                    <a:pt x="1781556" y="0"/>
                  </a:lnTo>
                  <a:lnTo>
                    <a:pt x="1781556" y="856412"/>
                  </a:lnTo>
                  <a:lnTo>
                    <a:pt x="0" y="856412"/>
                  </a:lnTo>
                  <a:lnTo>
                    <a:pt x="0" y="0"/>
                  </a:lnTo>
                </a:path>
              </a:pathLst>
            </a:custGeom>
            <a:ln w="0" cap="flat">
              <a:miter lim="1016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F1F61E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51" name="Shape 1655">
              <a:extLst>
                <a:ext uri="{FF2B5EF4-FFF2-40B4-BE49-F238E27FC236}">
                  <a16:creationId xmlns:a16="http://schemas.microsoft.com/office/drawing/2014/main" id="{E15412EE-80F4-590C-BE79-572D37A6689A}"/>
                </a:ext>
              </a:extLst>
            </p:cNvPr>
            <p:cNvSpPr/>
            <p:nvPr/>
          </p:nvSpPr>
          <p:spPr>
            <a:xfrm>
              <a:off x="3598799" y="1332751"/>
              <a:ext cx="1781556" cy="856412"/>
            </a:xfrm>
            <a:custGeom>
              <a:avLst/>
              <a:gdLst/>
              <a:ahLst/>
              <a:cxnLst/>
              <a:rect l="0" t="0" r="0" b="0"/>
              <a:pathLst>
                <a:path w="1781556" h="856412">
                  <a:moveTo>
                    <a:pt x="0" y="856412"/>
                  </a:moveTo>
                  <a:lnTo>
                    <a:pt x="1781556" y="856412"/>
                  </a:lnTo>
                  <a:lnTo>
                    <a:pt x="1781556" y="0"/>
                  </a:lnTo>
                  <a:lnTo>
                    <a:pt x="0" y="0"/>
                  </a:lnTo>
                  <a:close/>
                </a:path>
              </a:pathLst>
            </a:custGeom>
            <a:ln w="12700" cap="flat">
              <a:miter lim="101600"/>
            </a:ln>
          </p:spPr>
          <p:style>
            <a:lnRef idx="1">
              <a:srgbClr val="000000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F505E156-7E2E-7A94-2239-AC9DA83779F9}"/>
                </a:ext>
              </a:extLst>
            </p:cNvPr>
            <p:cNvSpPr/>
            <p:nvPr/>
          </p:nvSpPr>
          <p:spPr>
            <a:xfrm>
              <a:off x="4227322" y="1665844"/>
              <a:ext cx="698206" cy="264422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IN" sz="1400" b="1" kern="100"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Arial" panose="020B0604020202020204" pitchFamily="34" charset="0"/>
                </a:rPr>
                <a:t>Issuer</a:t>
              </a:r>
              <a:endParaRPr lang="en-IN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53" name="Shape 28477">
              <a:extLst>
                <a:ext uri="{FF2B5EF4-FFF2-40B4-BE49-F238E27FC236}">
                  <a16:creationId xmlns:a16="http://schemas.microsoft.com/office/drawing/2014/main" id="{A1E7527A-45F2-486B-93AF-79348B633CC9}"/>
                </a:ext>
              </a:extLst>
            </p:cNvPr>
            <p:cNvSpPr/>
            <p:nvPr/>
          </p:nvSpPr>
          <p:spPr>
            <a:xfrm>
              <a:off x="7160514" y="4030294"/>
              <a:ext cx="1755267" cy="680733"/>
            </a:xfrm>
            <a:custGeom>
              <a:avLst/>
              <a:gdLst/>
              <a:ahLst/>
              <a:cxnLst/>
              <a:rect l="0" t="0" r="0" b="0"/>
              <a:pathLst>
                <a:path w="1755267" h="680733">
                  <a:moveTo>
                    <a:pt x="0" y="0"/>
                  </a:moveTo>
                  <a:lnTo>
                    <a:pt x="1755267" y="0"/>
                  </a:lnTo>
                  <a:lnTo>
                    <a:pt x="1755267" y="680733"/>
                  </a:lnTo>
                  <a:lnTo>
                    <a:pt x="0" y="680733"/>
                  </a:lnTo>
                  <a:lnTo>
                    <a:pt x="0" y="0"/>
                  </a:lnTo>
                </a:path>
              </a:pathLst>
            </a:custGeom>
            <a:ln w="0" cap="flat">
              <a:miter lim="1016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336699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54" name="Shape 1658">
              <a:extLst>
                <a:ext uri="{FF2B5EF4-FFF2-40B4-BE49-F238E27FC236}">
                  <a16:creationId xmlns:a16="http://schemas.microsoft.com/office/drawing/2014/main" id="{FE172AF6-AB2D-E0EF-7B31-D49E6127EC67}"/>
                </a:ext>
              </a:extLst>
            </p:cNvPr>
            <p:cNvSpPr/>
            <p:nvPr/>
          </p:nvSpPr>
          <p:spPr>
            <a:xfrm>
              <a:off x="7160514" y="4030294"/>
              <a:ext cx="1755267" cy="680733"/>
            </a:xfrm>
            <a:custGeom>
              <a:avLst/>
              <a:gdLst/>
              <a:ahLst/>
              <a:cxnLst/>
              <a:rect l="0" t="0" r="0" b="0"/>
              <a:pathLst>
                <a:path w="1755267" h="680733">
                  <a:moveTo>
                    <a:pt x="0" y="680733"/>
                  </a:moveTo>
                  <a:lnTo>
                    <a:pt x="1755267" y="680733"/>
                  </a:lnTo>
                  <a:lnTo>
                    <a:pt x="1755267" y="0"/>
                  </a:lnTo>
                  <a:lnTo>
                    <a:pt x="0" y="0"/>
                  </a:lnTo>
                  <a:close/>
                </a:path>
              </a:pathLst>
            </a:custGeom>
            <a:ln w="12700" cap="flat">
              <a:miter lim="101600"/>
            </a:ln>
          </p:spPr>
          <p:style>
            <a:lnRef idx="1">
              <a:srgbClr val="000000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FF1A5654-7821-FA98-527D-186FF63206AB}"/>
                </a:ext>
              </a:extLst>
            </p:cNvPr>
            <p:cNvSpPr/>
            <p:nvPr/>
          </p:nvSpPr>
          <p:spPr>
            <a:xfrm>
              <a:off x="7489825" y="4277286"/>
              <a:ext cx="1461207" cy="244082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IN" sz="1300" b="1" kern="100">
                  <a:solidFill>
                    <a:srgbClr val="FFFFFF"/>
                  </a:solidFill>
                  <a:effectLst/>
                  <a:latin typeface="Arial" panose="020B0604020202020204" pitchFamily="34" charset="0"/>
                  <a:ea typeface="Arial" panose="020B0604020202020204" pitchFamily="34" charset="0"/>
                </a:rPr>
                <a:t>Book building</a:t>
              </a:r>
              <a:endParaRPr lang="en-IN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56" name="Shape 28478">
              <a:extLst>
                <a:ext uri="{FF2B5EF4-FFF2-40B4-BE49-F238E27FC236}">
                  <a16:creationId xmlns:a16="http://schemas.microsoft.com/office/drawing/2014/main" id="{57D5ED04-8AE0-7A84-5B68-B8837491FEDB}"/>
                </a:ext>
              </a:extLst>
            </p:cNvPr>
            <p:cNvSpPr/>
            <p:nvPr/>
          </p:nvSpPr>
          <p:spPr>
            <a:xfrm>
              <a:off x="7160514" y="2062404"/>
              <a:ext cx="1755267" cy="680733"/>
            </a:xfrm>
            <a:custGeom>
              <a:avLst/>
              <a:gdLst/>
              <a:ahLst/>
              <a:cxnLst/>
              <a:rect l="0" t="0" r="0" b="0"/>
              <a:pathLst>
                <a:path w="1755267" h="680733">
                  <a:moveTo>
                    <a:pt x="0" y="0"/>
                  </a:moveTo>
                  <a:lnTo>
                    <a:pt x="1755267" y="0"/>
                  </a:lnTo>
                  <a:lnTo>
                    <a:pt x="1755267" y="680733"/>
                  </a:lnTo>
                  <a:lnTo>
                    <a:pt x="0" y="680733"/>
                  </a:lnTo>
                  <a:lnTo>
                    <a:pt x="0" y="0"/>
                  </a:lnTo>
                </a:path>
              </a:pathLst>
            </a:custGeom>
            <a:ln w="0" cap="flat">
              <a:miter lim="1016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336699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57" name="Shape 1661">
              <a:extLst>
                <a:ext uri="{FF2B5EF4-FFF2-40B4-BE49-F238E27FC236}">
                  <a16:creationId xmlns:a16="http://schemas.microsoft.com/office/drawing/2014/main" id="{8A3F05B5-526B-C925-63C2-356144B95405}"/>
                </a:ext>
              </a:extLst>
            </p:cNvPr>
            <p:cNvSpPr/>
            <p:nvPr/>
          </p:nvSpPr>
          <p:spPr>
            <a:xfrm>
              <a:off x="7160514" y="2062404"/>
              <a:ext cx="1755267" cy="680733"/>
            </a:xfrm>
            <a:custGeom>
              <a:avLst/>
              <a:gdLst/>
              <a:ahLst/>
              <a:cxnLst/>
              <a:rect l="0" t="0" r="0" b="0"/>
              <a:pathLst>
                <a:path w="1755267" h="680733">
                  <a:moveTo>
                    <a:pt x="0" y="680733"/>
                  </a:moveTo>
                  <a:lnTo>
                    <a:pt x="1755267" y="680733"/>
                  </a:lnTo>
                  <a:lnTo>
                    <a:pt x="1755267" y="0"/>
                  </a:lnTo>
                  <a:lnTo>
                    <a:pt x="0" y="0"/>
                  </a:lnTo>
                  <a:close/>
                </a:path>
              </a:pathLst>
            </a:custGeom>
            <a:ln w="12700" cap="flat">
              <a:miter lim="101600"/>
            </a:ln>
          </p:spPr>
          <p:style>
            <a:lnRef idx="1">
              <a:srgbClr val="000000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DC0B5F11-3877-7F4F-4C87-8D40E467521D}"/>
                </a:ext>
              </a:extLst>
            </p:cNvPr>
            <p:cNvSpPr/>
            <p:nvPr/>
          </p:nvSpPr>
          <p:spPr>
            <a:xfrm>
              <a:off x="7354189" y="2199719"/>
              <a:ext cx="1880900" cy="244082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IN" sz="1300" b="1" kern="100">
                  <a:solidFill>
                    <a:srgbClr val="FFFFFF"/>
                  </a:solidFill>
                  <a:effectLst/>
                  <a:latin typeface="Arial" panose="020B0604020202020204" pitchFamily="34" charset="0"/>
                  <a:ea typeface="Arial" panose="020B0604020202020204" pitchFamily="34" charset="0"/>
                </a:rPr>
                <a:t>RoC filing of final </a:t>
              </a:r>
              <a:endParaRPr lang="en-IN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E9D75BC2-3794-D8F7-6877-675AA3C95588}"/>
                </a:ext>
              </a:extLst>
            </p:cNvPr>
            <p:cNvSpPr/>
            <p:nvPr/>
          </p:nvSpPr>
          <p:spPr>
            <a:xfrm>
              <a:off x="7590409" y="2417756"/>
              <a:ext cx="1191730" cy="244533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IN" sz="1300" b="1" kern="100">
                  <a:solidFill>
                    <a:srgbClr val="FFFFFF"/>
                  </a:solidFill>
                  <a:effectLst/>
                  <a:latin typeface="Arial" panose="020B0604020202020204" pitchFamily="34" charset="0"/>
                  <a:ea typeface="Arial" panose="020B0604020202020204" pitchFamily="34" charset="0"/>
                </a:rPr>
                <a:t>Prospectus</a:t>
              </a:r>
              <a:endParaRPr lang="en-IN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60" name="Shape 28479">
              <a:extLst>
                <a:ext uri="{FF2B5EF4-FFF2-40B4-BE49-F238E27FC236}">
                  <a16:creationId xmlns:a16="http://schemas.microsoft.com/office/drawing/2014/main" id="{C28CBF11-2C6B-9C33-7899-7F6F52DF33D3}"/>
                </a:ext>
              </a:extLst>
            </p:cNvPr>
            <p:cNvSpPr/>
            <p:nvPr/>
          </p:nvSpPr>
          <p:spPr>
            <a:xfrm>
              <a:off x="7160514" y="3045511"/>
              <a:ext cx="1755267" cy="680733"/>
            </a:xfrm>
            <a:custGeom>
              <a:avLst/>
              <a:gdLst/>
              <a:ahLst/>
              <a:cxnLst/>
              <a:rect l="0" t="0" r="0" b="0"/>
              <a:pathLst>
                <a:path w="1755267" h="680733">
                  <a:moveTo>
                    <a:pt x="0" y="0"/>
                  </a:moveTo>
                  <a:lnTo>
                    <a:pt x="1755267" y="0"/>
                  </a:lnTo>
                  <a:lnTo>
                    <a:pt x="1755267" y="680733"/>
                  </a:lnTo>
                  <a:lnTo>
                    <a:pt x="0" y="680733"/>
                  </a:lnTo>
                  <a:lnTo>
                    <a:pt x="0" y="0"/>
                  </a:lnTo>
                </a:path>
              </a:pathLst>
            </a:custGeom>
            <a:ln w="0" cap="flat">
              <a:miter lim="1016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336699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61" name="Shape 1665">
              <a:extLst>
                <a:ext uri="{FF2B5EF4-FFF2-40B4-BE49-F238E27FC236}">
                  <a16:creationId xmlns:a16="http://schemas.microsoft.com/office/drawing/2014/main" id="{21D118AD-8C4C-9BA4-1B0C-498DB4061F57}"/>
                </a:ext>
              </a:extLst>
            </p:cNvPr>
            <p:cNvSpPr/>
            <p:nvPr/>
          </p:nvSpPr>
          <p:spPr>
            <a:xfrm>
              <a:off x="7160514" y="3045511"/>
              <a:ext cx="1755267" cy="680733"/>
            </a:xfrm>
            <a:custGeom>
              <a:avLst/>
              <a:gdLst/>
              <a:ahLst/>
              <a:cxnLst/>
              <a:rect l="0" t="0" r="0" b="0"/>
              <a:pathLst>
                <a:path w="1755267" h="680733">
                  <a:moveTo>
                    <a:pt x="0" y="680733"/>
                  </a:moveTo>
                  <a:lnTo>
                    <a:pt x="1755267" y="680733"/>
                  </a:lnTo>
                  <a:lnTo>
                    <a:pt x="1755267" y="0"/>
                  </a:lnTo>
                  <a:lnTo>
                    <a:pt x="0" y="0"/>
                  </a:lnTo>
                  <a:close/>
                </a:path>
              </a:pathLst>
            </a:custGeom>
            <a:ln w="12700" cap="flat">
              <a:miter lim="101600"/>
            </a:ln>
          </p:spPr>
          <p:style>
            <a:lnRef idx="1">
              <a:srgbClr val="000000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B1840C96-0667-E561-73D6-26E67C89FC05}"/>
                </a:ext>
              </a:extLst>
            </p:cNvPr>
            <p:cNvSpPr/>
            <p:nvPr/>
          </p:nvSpPr>
          <p:spPr>
            <a:xfrm>
              <a:off x="7259701" y="3292173"/>
              <a:ext cx="2072726" cy="244082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IN" sz="1300" b="1" kern="100">
                  <a:solidFill>
                    <a:srgbClr val="FFFFFF"/>
                  </a:solidFill>
                  <a:effectLst/>
                  <a:latin typeface="Arial" panose="020B0604020202020204" pitchFamily="34" charset="0"/>
                  <a:ea typeface="Arial" panose="020B0604020202020204" pitchFamily="34" charset="0"/>
                </a:rPr>
                <a:t>Pricing &amp; Allocation</a:t>
              </a:r>
              <a:endParaRPr lang="en-IN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63" name="Shape 28480">
              <a:extLst>
                <a:ext uri="{FF2B5EF4-FFF2-40B4-BE49-F238E27FC236}">
                  <a16:creationId xmlns:a16="http://schemas.microsoft.com/office/drawing/2014/main" id="{56F1B6D6-B8A2-F556-8847-FD748B59934C}"/>
                </a:ext>
              </a:extLst>
            </p:cNvPr>
            <p:cNvSpPr/>
            <p:nvPr/>
          </p:nvSpPr>
          <p:spPr>
            <a:xfrm>
              <a:off x="7160514" y="1079297"/>
              <a:ext cx="1755267" cy="680733"/>
            </a:xfrm>
            <a:custGeom>
              <a:avLst/>
              <a:gdLst/>
              <a:ahLst/>
              <a:cxnLst/>
              <a:rect l="0" t="0" r="0" b="0"/>
              <a:pathLst>
                <a:path w="1755267" h="680733">
                  <a:moveTo>
                    <a:pt x="0" y="0"/>
                  </a:moveTo>
                  <a:lnTo>
                    <a:pt x="1755267" y="0"/>
                  </a:lnTo>
                  <a:lnTo>
                    <a:pt x="1755267" y="680733"/>
                  </a:lnTo>
                  <a:lnTo>
                    <a:pt x="0" y="680733"/>
                  </a:lnTo>
                  <a:lnTo>
                    <a:pt x="0" y="0"/>
                  </a:lnTo>
                </a:path>
              </a:pathLst>
            </a:custGeom>
            <a:ln w="0" cap="flat">
              <a:miter lim="1016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336699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64" name="Shape 1668">
              <a:extLst>
                <a:ext uri="{FF2B5EF4-FFF2-40B4-BE49-F238E27FC236}">
                  <a16:creationId xmlns:a16="http://schemas.microsoft.com/office/drawing/2014/main" id="{B5CB07AC-C58C-1506-410C-D0B727CA8FCF}"/>
                </a:ext>
              </a:extLst>
            </p:cNvPr>
            <p:cNvSpPr/>
            <p:nvPr/>
          </p:nvSpPr>
          <p:spPr>
            <a:xfrm>
              <a:off x="7160514" y="1079297"/>
              <a:ext cx="1755267" cy="680733"/>
            </a:xfrm>
            <a:custGeom>
              <a:avLst/>
              <a:gdLst/>
              <a:ahLst/>
              <a:cxnLst/>
              <a:rect l="0" t="0" r="0" b="0"/>
              <a:pathLst>
                <a:path w="1755267" h="680733">
                  <a:moveTo>
                    <a:pt x="0" y="680733"/>
                  </a:moveTo>
                  <a:lnTo>
                    <a:pt x="1755267" y="680733"/>
                  </a:lnTo>
                  <a:lnTo>
                    <a:pt x="1755267" y="0"/>
                  </a:lnTo>
                  <a:lnTo>
                    <a:pt x="0" y="0"/>
                  </a:lnTo>
                  <a:close/>
                </a:path>
              </a:pathLst>
            </a:custGeom>
            <a:ln w="12700" cap="flat">
              <a:miter lim="101600"/>
            </a:ln>
          </p:spPr>
          <p:style>
            <a:lnRef idx="1">
              <a:srgbClr val="000000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D28BB20B-EA80-D6BE-96BC-888DB4811F70}"/>
                </a:ext>
              </a:extLst>
            </p:cNvPr>
            <p:cNvSpPr/>
            <p:nvPr/>
          </p:nvSpPr>
          <p:spPr>
            <a:xfrm>
              <a:off x="7768718" y="1325578"/>
              <a:ext cx="717689" cy="244081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IN" sz="1300" b="1" kern="100">
                  <a:solidFill>
                    <a:srgbClr val="FFFFFF"/>
                  </a:solidFill>
                  <a:effectLst/>
                  <a:latin typeface="Arial" panose="020B0604020202020204" pitchFamily="34" charset="0"/>
                  <a:ea typeface="Arial" panose="020B0604020202020204" pitchFamily="34" charset="0"/>
                </a:rPr>
                <a:t>Listing</a:t>
              </a:r>
              <a:endParaRPr lang="en-IN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66" name="Shape 28481">
              <a:extLst>
                <a:ext uri="{FF2B5EF4-FFF2-40B4-BE49-F238E27FC236}">
                  <a16:creationId xmlns:a16="http://schemas.microsoft.com/office/drawing/2014/main" id="{715B1C0B-CE3D-67B2-AF9E-0BB2FACBCF22}"/>
                </a:ext>
              </a:extLst>
            </p:cNvPr>
            <p:cNvSpPr/>
            <p:nvPr/>
          </p:nvSpPr>
          <p:spPr>
            <a:xfrm>
              <a:off x="7160514" y="96189"/>
              <a:ext cx="1755267" cy="680733"/>
            </a:xfrm>
            <a:custGeom>
              <a:avLst/>
              <a:gdLst/>
              <a:ahLst/>
              <a:cxnLst/>
              <a:rect l="0" t="0" r="0" b="0"/>
              <a:pathLst>
                <a:path w="1755267" h="680733">
                  <a:moveTo>
                    <a:pt x="0" y="0"/>
                  </a:moveTo>
                  <a:lnTo>
                    <a:pt x="1755267" y="0"/>
                  </a:lnTo>
                  <a:lnTo>
                    <a:pt x="1755267" y="680733"/>
                  </a:lnTo>
                  <a:lnTo>
                    <a:pt x="0" y="680733"/>
                  </a:lnTo>
                  <a:lnTo>
                    <a:pt x="0" y="0"/>
                  </a:lnTo>
                </a:path>
              </a:pathLst>
            </a:custGeom>
            <a:ln w="0" cap="flat">
              <a:miter lim="1016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336699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67" name="Shape 1671">
              <a:extLst>
                <a:ext uri="{FF2B5EF4-FFF2-40B4-BE49-F238E27FC236}">
                  <a16:creationId xmlns:a16="http://schemas.microsoft.com/office/drawing/2014/main" id="{1CF5D2ED-2144-65AD-A521-A10A35AF3E53}"/>
                </a:ext>
              </a:extLst>
            </p:cNvPr>
            <p:cNvSpPr/>
            <p:nvPr/>
          </p:nvSpPr>
          <p:spPr>
            <a:xfrm>
              <a:off x="7160514" y="96189"/>
              <a:ext cx="1755267" cy="680733"/>
            </a:xfrm>
            <a:custGeom>
              <a:avLst/>
              <a:gdLst/>
              <a:ahLst/>
              <a:cxnLst/>
              <a:rect l="0" t="0" r="0" b="0"/>
              <a:pathLst>
                <a:path w="1755267" h="680733">
                  <a:moveTo>
                    <a:pt x="0" y="680733"/>
                  </a:moveTo>
                  <a:lnTo>
                    <a:pt x="1755267" y="680733"/>
                  </a:lnTo>
                  <a:lnTo>
                    <a:pt x="1755267" y="0"/>
                  </a:lnTo>
                  <a:lnTo>
                    <a:pt x="0" y="0"/>
                  </a:lnTo>
                  <a:close/>
                </a:path>
              </a:pathLst>
            </a:custGeom>
            <a:ln w="12700" cap="flat">
              <a:miter lim="101600"/>
            </a:ln>
          </p:spPr>
          <p:style>
            <a:lnRef idx="1">
              <a:srgbClr val="000000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D0486BA9-C259-3B50-9201-D9B6E2701BD5}"/>
                </a:ext>
              </a:extLst>
            </p:cNvPr>
            <p:cNvSpPr/>
            <p:nvPr/>
          </p:nvSpPr>
          <p:spPr>
            <a:xfrm>
              <a:off x="7332853" y="233251"/>
              <a:ext cx="1937768" cy="244081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IN" sz="1300" b="1" kern="100" dirty="0">
                  <a:solidFill>
                    <a:srgbClr val="FFFFFF"/>
                  </a:solidFill>
                  <a:effectLst/>
                  <a:latin typeface="Arial" panose="020B0604020202020204" pitchFamily="34" charset="0"/>
                  <a:ea typeface="Arial" panose="020B0604020202020204" pitchFamily="34" charset="0"/>
                </a:rPr>
                <a:t>Funds transferred </a:t>
              </a:r>
              <a:endParaRPr lang="en-IN" sz="1100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BA9C9FC9-EF95-C5E4-5D85-0088A5332DF2}"/>
                </a:ext>
              </a:extLst>
            </p:cNvPr>
            <p:cNvSpPr/>
            <p:nvPr/>
          </p:nvSpPr>
          <p:spPr>
            <a:xfrm>
              <a:off x="7695565" y="451183"/>
              <a:ext cx="912441" cy="244081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IN" sz="1300" b="1" kern="100" dirty="0">
                  <a:solidFill>
                    <a:srgbClr val="FFFFFF"/>
                  </a:solidFill>
                  <a:effectLst/>
                  <a:latin typeface="Arial" panose="020B0604020202020204" pitchFamily="34" charset="0"/>
                  <a:ea typeface="Arial" panose="020B0604020202020204" pitchFamily="34" charset="0"/>
                </a:rPr>
                <a:t>to issuer</a:t>
              </a:r>
              <a:endParaRPr lang="en-IN" sz="1100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70" name="Shape 1674">
              <a:extLst>
                <a:ext uri="{FF2B5EF4-FFF2-40B4-BE49-F238E27FC236}">
                  <a16:creationId xmlns:a16="http://schemas.microsoft.com/office/drawing/2014/main" id="{2AD76D41-CCC0-9923-E948-B4D71B163532}"/>
                </a:ext>
              </a:extLst>
            </p:cNvPr>
            <p:cNvSpPr/>
            <p:nvPr/>
          </p:nvSpPr>
          <p:spPr>
            <a:xfrm>
              <a:off x="7927848" y="3726244"/>
              <a:ext cx="222250" cy="304038"/>
            </a:xfrm>
            <a:custGeom>
              <a:avLst/>
              <a:gdLst/>
              <a:ahLst/>
              <a:cxnLst/>
              <a:rect l="0" t="0" r="0" b="0"/>
              <a:pathLst>
                <a:path w="222250" h="304038">
                  <a:moveTo>
                    <a:pt x="111125" y="0"/>
                  </a:moveTo>
                  <a:lnTo>
                    <a:pt x="222250" y="88900"/>
                  </a:lnTo>
                  <a:lnTo>
                    <a:pt x="133350" y="88900"/>
                  </a:lnTo>
                  <a:lnTo>
                    <a:pt x="133350" y="304038"/>
                  </a:lnTo>
                  <a:lnTo>
                    <a:pt x="88900" y="304038"/>
                  </a:lnTo>
                  <a:lnTo>
                    <a:pt x="88900" y="88900"/>
                  </a:lnTo>
                  <a:lnTo>
                    <a:pt x="0" y="88900"/>
                  </a:lnTo>
                  <a:lnTo>
                    <a:pt x="111125" y="0"/>
                  </a:lnTo>
                  <a:close/>
                </a:path>
              </a:pathLst>
            </a:custGeom>
            <a:ln w="0" cap="flat">
              <a:miter lim="1016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000000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71" name="Shape 1675">
              <a:extLst>
                <a:ext uri="{FF2B5EF4-FFF2-40B4-BE49-F238E27FC236}">
                  <a16:creationId xmlns:a16="http://schemas.microsoft.com/office/drawing/2014/main" id="{ECB2B40A-B7E9-94F8-32E6-5D92B12CEB0C}"/>
                </a:ext>
              </a:extLst>
            </p:cNvPr>
            <p:cNvSpPr/>
            <p:nvPr/>
          </p:nvSpPr>
          <p:spPr>
            <a:xfrm>
              <a:off x="7927086" y="1760919"/>
              <a:ext cx="222250" cy="302387"/>
            </a:xfrm>
            <a:custGeom>
              <a:avLst/>
              <a:gdLst/>
              <a:ahLst/>
              <a:cxnLst/>
              <a:rect l="0" t="0" r="0" b="0"/>
              <a:pathLst>
                <a:path w="222250" h="302387">
                  <a:moveTo>
                    <a:pt x="111125" y="0"/>
                  </a:moveTo>
                  <a:lnTo>
                    <a:pt x="222250" y="88900"/>
                  </a:lnTo>
                  <a:lnTo>
                    <a:pt x="133350" y="88900"/>
                  </a:lnTo>
                  <a:lnTo>
                    <a:pt x="133350" y="302387"/>
                  </a:lnTo>
                  <a:lnTo>
                    <a:pt x="88900" y="302387"/>
                  </a:lnTo>
                  <a:lnTo>
                    <a:pt x="88900" y="88900"/>
                  </a:lnTo>
                  <a:lnTo>
                    <a:pt x="0" y="88900"/>
                  </a:lnTo>
                  <a:lnTo>
                    <a:pt x="111125" y="0"/>
                  </a:lnTo>
                  <a:close/>
                </a:path>
              </a:pathLst>
            </a:custGeom>
            <a:ln w="0" cap="flat">
              <a:miter lim="1016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000000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72" name="Shape 1676">
              <a:extLst>
                <a:ext uri="{FF2B5EF4-FFF2-40B4-BE49-F238E27FC236}">
                  <a16:creationId xmlns:a16="http://schemas.microsoft.com/office/drawing/2014/main" id="{0B9B8E7E-6EE3-15DC-AD0F-6E214E2D1357}"/>
                </a:ext>
              </a:extLst>
            </p:cNvPr>
            <p:cNvSpPr/>
            <p:nvPr/>
          </p:nvSpPr>
          <p:spPr>
            <a:xfrm>
              <a:off x="7927086" y="2744026"/>
              <a:ext cx="222250" cy="302387"/>
            </a:xfrm>
            <a:custGeom>
              <a:avLst/>
              <a:gdLst/>
              <a:ahLst/>
              <a:cxnLst/>
              <a:rect l="0" t="0" r="0" b="0"/>
              <a:pathLst>
                <a:path w="222250" h="302387">
                  <a:moveTo>
                    <a:pt x="111125" y="0"/>
                  </a:moveTo>
                  <a:lnTo>
                    <a:pt x="222250" y="88900"/>
                  </a:lnTo>
                  <a:lnTo>
                    <a:pt x="133350" y="88900"/>
                  </a:lnTo>
                  <a:lnTo>
                    <a:pt x="133350" y="302387"/>
                  </a:lnTo>
                  <a:lnTo>
                    <a:pt x="88900" y="302387"/>
                  </a:lnTo>
                  <a:lnTo>
                    <a:pt x="88900" y="88900"/>
                  </a:lnTo>
                  <a:lnTo>
                    <a:pt x="0" y="88900"/>
                  </a:lnTo>
                  <a:lnTo>
                    <a:pt x="111125" y="0"/>
                  </a:lnTo>
                  <a:close/>
                </a:path>
              </a:pathLst>
            </a:custGeom>
            <a:ln w="0" cap="flat">
              <a:miter lim="1016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000000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73" name="Shape 1677">
              <a:extLst>
                <a:ext uri="{FF2B5EF4-FFF2-40B4-BE49-F238E27FC236}">
                  <a16:creationId xmlns:a16="http://schemas.microsoft.com/office/drawing/2014/main" id="{724A24C6-FB94-2522-E001-F2403DA415AB}"/>
                </a:ext>
              </a:extLst>
            </p:cNvPr>
            <p:cNvSpPr/>
            <p:nvPr/>
          </p:nvSpPr>
          <p:spPr>
            <a:xfrm>
              <a:off x="7927086" y="777811"/>
              <a:ext cx="222250" cy="302387"/>
            </a:xfrm>
            <a:custGeom>
              <a:avLst/>
              <a:gdLst/>
              <a:ahLst/>
              <a:cxnLst/>
              <a:rect l="0" t="0" r="0" b="0"/>
              <a:pathLst>
                <a:path w="222250" h="302387">
                  <a:moveTo>
                    <a:pt x="111125" y="0"/>
                  </a:moveTo>
                  <a:lnTo>
                    <a:pt x="222250" y="88900"/>
                  </a:lnTo>
                  <a:lnTo>
                    <a:pt x="133350" y="88900"/>
                  </a:lnTo>
                  <a:lnTo>
                    <a:pt x="133350" y="302387"/>
                  </a:lnTo>
                  <a:lnTo>
                    <a:pt x="88900" y="302387"/>
                  </a:lnTo>
                  <a:lnTo>
                    <a:pt x="88900" y="88900"/>
                  </a:lnTo>
                  <a:lnTo>
                    <a:pt x="0" y="88900"/>
                  </a:lnTo>
                  <a:lnTo>
                    <a:pt x="111125" y="0"/>
                  </a:lnTo>
                  <a:close/>
                </a:path>
              </a:pathLst>
            </a:custGeom>
            <a:ln w="0" cap="flat">
              <a:miter lim="1016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000000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99FCA8CC-16BA-055B-AAF2-7B196FDAB703}"/>
                </a:ext>
              </a:extLst>
            </p:cNvPr>
            <p:cNvSpPr/>
            <p:nvPr/>
          </p:nvSpPr>
          <p:spPr>
            <a:xfrm>
              <a:off x="459943" y="4811601"/>
              <a:ext cx="1402466" cy="244081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IN" sz="1300" b="1" kern="100"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Arial" panose="020B0604020202020204" pitchFamily="34" charset="0"/>
                </a:rPr>
                <a:t>Preparation / </a:t>
              </a:r>
              <a:endParaRPr lang="en-IN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3C641691-6942-F9DA-6E76-5A845C515CBD}"/>
                </a:ext>
              </a:extLst>
            </p:cNvPr>
            <p:cNvSpPr/>
            <p:nvPr/>
          </p:nvSpPr>
          <p:spPr>
            <a:xfrm>
              <a:off x="563575" y="5009721"/>
              <a:ext cx="1066112" cy="244082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IN" sz="1300" b="1" kern="100"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Arial" panose="020B0604020202020204" pitchFamily="34" charset="0"/>
                </a:rPr>
                <a:t>Approvals</a:t>
              </a:r>
              <a:endParaRPr lang="en-IN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AAFC8E40-0798-E1E8-0CB5-4A0A52BC6BAA}"/>
                </a:ext>
              </a:extLst>
            </p:cNvPr>
            <p:cNvSpPr/>
            <p:nvPr/>
          </p:nvSpPr>
          <p:spPr>
            <a:xfrm>
              <a:off x="2863342" y="4811601"/>
              <a:ext cx="4275480" cy="244081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IN" sz="1300" b="1" kern="100"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Arial" panose="020B0604020202020204" pitchFamily="34" charset="0"/>
                </a:rPr>
                <a:t>Marketing and Estimation of Price Range</a:t>
              </a:r>
              <a:endParaRPr lang="en-IN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497D2EEE-AC27-37C4-AFA8-609FF078D2B5}"/>
                </a:ext>
              </a:extLst>
            </p:cNvPr>
            <p:cNvSpPr/>
            <p:nvPr/>
          </p:nvSpPr>
          <p:spPr>
            <a:xfrm>
              <a:off x="7177406" y="4811601"/>
              <a:ext cx="2267881" cy="244081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IN" sz="1300" b="1" kern="100"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Arial" panose="020B0604020202020204" pitchFamily="34" charset="0"/>
                </a:rPr>
                <a:t>Launch &amp; Completion</a:t>
              </a:r>
              <a:endParaRPr lang="en-IN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78" name="Shape 1682">
              <a:extLst>
                <a:ext uri="{FF2B5EF4-FFF2-40B4-BE49-F238E27FC236}">
                  <a16:creationId xmlns:a16="http://schemas.microsoft.com/office/drawing/2014/main" id="{8167A2A4-7C9F-3028-BD5C-6636C7BAC77C}"/>
                </a:ext>
              </a:extLst>
            </p:cNvPr>
            <p:cNvSpPr/>
            <p:nvPr/>
          </p:nvSpPr>
          <p:spPr>
            <a:xfrm>
              <a:off x="1990344" y="3634994"/>
              <a:ext cx="4961255" cy="1442593"/>
            </a:xfrm>
            <a:custGeom>
              <a:avLst/>
              <a:gdLst/>
              <a:ahLst/>
              <a:cxnLst/>
              <a:rect l="0" t="0" r="0" b="0"/>
              <a:pathLst>
                <a:path w="4961255" h="1442593">
                  <a:moveTo>
                    <a:pt x="0" y="1442593"/>
                  </a:moveTo>
                  <a:lnTo>
                    <a:pt x="4961255" y="1442593"/>
                  </a:lnTo>
                  <a:lnTo>
                    <a:pt x="4961255" y="0"/>
                  </a:lnTo>
                  <a:lnTo>
                    <a:pt x="0" y="0"/>
                  </a:lnTo>
                  <a:close/>
                </a:path>
              </a:pathLst>
            </a:custGeom>
            <a:ln w="12700" cap="flat">
              <a:custDash>
                <a:ds d="400000" sp="300000"/>
              </a:custDash>
              <a:miter lim="101600"/>
            </a:ln>
          </p:spPr>
          <p:style>
            <a:lnRef idx="1">
              <a:srgbClr val="336699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81" name="Rectangle 80">
            <a:extLst>
              <a:ext uri="{FF2B5EF4-FFF2-40B4-BE49-F238E27FC236}">
                <a16:creationId xmlns:a16="http://schemas.microsoft.com/office/drawing/2014/main" id="{46BD1B42-6E77-F1CB-FBA3-3CA2D41A5511}"/>
              </a:ext>
            </a:extLst>
          </p:cNvPr>
          <p:cNvSpPr/>
          <p:nvPr/>
        </p:nvSpPr>
        <p:spPr>
          <a:xfrm>
            <a:off x="46008" y="0"/>
            <a:ext cx="12192000" cy="694944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b="1" dirty="0"/>
          </a:p>
          <a:p>
            <a:r>
              <a:rPr lang="en-US" sz="2800" b="1" dirty="0"/>
              <a:t>Steps of IPO </a:t>
            </a:r>
            <a:br>
              <a:rPr lang="en-US" sz="2800" b="1" dirty="0"/>
            </a:b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3445007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3D0FC7-66EF-E109-BDD5-695A90D73B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7366" y="1127185"/>
            <a:ext cx="10646433" cy="5049778"/>
          </a:xfrm>
        </p:spPr>
        <p:txBody>
          <a:bodyPr>
            <a:normAutofit fontScale="92500"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200" b="1" dirty="0"/>
              <a:t>Decision &amp; preparation:</a:t>
            </a:r>
            <a:r>
              <a:rPr lang="en-US" sz="2200" dirty="0"/>
              <a:t> Board approves IPO; assemble advisors (investment banks, lawyers, auditors).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200" b="1" dirty="0"/>
              <a:t>Due diligence &amp; financials:</a:t>
            </a:r>
            <a:r>
              <a:rPr lang="en-US" sz="2200" dirty="0"/>
              <a:t> Audit historical financials, prepare disclosures, corporate housekeeping (governance).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200" b="1" dirty="0"/>
              <a:t>Draft prospectus / registration statement:</a:t>
            </a:r>
            <a:r>
              <a:rPr lang="en-US" sz="2200" dirty="0"/>
              <a:t> Public disclosure document describing business, risks, financials (called S-1 in US; prospectus/DRHP in India).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200" b="1" dirty="0"/>
              <a:t>Regulatory review:</a:t>
            </a:r>
            <a:r>
              <a:rPr lang="en-US" sz="2200" dirty="0"/>
              <a:t> Submit to securities regulator and stock exchange; respond to questions.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200" b="1" dirty="0"/>
              <a:t>Marketing / roadshow:</a:t>
            </a:r>
            <a:r>
              <a:rPr lang="en-US" sz="2200" dirty="0"/>
              <a:t> Management + underwriters present to institutional investors to generate demand.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F5A64B-E359-9A06-845C-5B8A88883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B8923-622D-4042-83D5-F58F36E54171}" type="slidenum">
              <a:rPr lang="en-IN" smtClean="0"/>
              <a:t>13</a:t>
            </a:fld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F952C71-4D7C-3E07-25B0-571895A82107}"/>
              </a:ext>
            </a:extLst>
          </p:cNvPr>
          <p:cNvSpPr/>
          <p:nvPr/>
        </p:nvSpPr>
        <p:spPr>
          <a:xfrm>
            <a:off x="46008" y="0"/>
            <a:ext cx="12192000" cy="694944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b="1" dirty="0"/>
          </a:p>
          <a:p>
            <a:r>
              <a:rPr lang="en-US" sz="2800" b="1" dirty="0"/>
              <a:t>Steps of IPO </a:t>
            </a:r>
            <a:br>
              <a:rPr lang="en-US" sz="2800" b="1" dirty="0"/>
            </a:b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6277729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60D544-C10B-85BB-A63F-0288E04F7E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2128" y="1167442"/>
            <a:ext cx="10571672" cy="5009521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000" b="1" dirty="0"/>
              <a:t>Book-building &amp; pricing:</a:t>
            </a:r>
            <a:r>
              <a:rPr lang="en-US" sz="2000" dirty="0"/>
              <a:t> Underwriters gauge demand and set the offer price and size.</a:t>
            </a:r>
            <a:endParaRPr lang="en-US" sz="2000" b="1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b="1" dirty="0"/>
              <a:t>Allocation &amp; subscription:</a:t>
            </a:r>
            <a:r>
              <a:rPr lang="en-US" sz="2000" dirty="0"/>
              <a:t> Shares allocated among institutional, retail, and employee tranches. Payment and allotment follow.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b="1" dirty="0"/>
              <a:t>Listing / first trading day:</a:t>
            </a:r>
            <a:r>
              <a:rPr lang="en-US" sz="2000" dirty="0"/>
              <a:t> Shares begin trading on the exchange.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b="1" dirty="0"/>
              <a:t>Post-IPO:</a:t>
            </a:r>
            <a:r>
              <a:rPr lang="en-US" sz="2000" dirty="0"/>
              <a:t> Lock-up periods, possible greenshoe overallotment exercised, and follow-on offerings later.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EDFFBA-BDE1-81C9-4D39-4875DD9125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B8923-622D-4042-83D5-F58F36E54171}" type="slidenum">
              <a:rPr lang="en-IN" smtClean="0"/>
              <a:t>14</a:t>
            </a:fld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89CAA32-84C1-08AF-B0FE-38018906084D}"/>
              </a:ext>
            </a:extLst>
          </p:cNvPr>
          <p:cNvSpPr/>
          <p:nvPr/>
        </p:nvSpPr>
        <p:spPr>
          <a:xfrm>
            <a:off x="46008" y="0"/>
            <a:ext cx="12192000" cy="694944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b="1" dirty="0"/>
          </a:p>
          <a:p>
            <a:r>
              <a:rPr lang="en-US" sz="2800" b="1" dirty="0"/>
              <a:t>Steps of IPO </a:t>
            </a:r>
            <a:br>
              <a:rPr lang="en-US" sz="2800" b="1" dirty="0"/>
            </a:b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4342573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47F2C97D-529D-9626-3DEA-052E15CFD97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33547727"/>
              </p:ext>
            </p:extLst>
          </p:nvPr>
        </p:nvGraphicFramePr>
        <p:xfrm>
          <a:off x="1006415" y="1374475"/>
          <a:ext cx="10777266" cy="495508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489910">
                  <a:extLst>
                    <a:ext uri="{9D8B030D-6E8A-4147-A177-3AD203B41FA5}">
                      <a16:colId xmlns:a16="http://schemas.microsoft.com/office/drawing/2014/main" val="1637270188"/>
                    </a:ext>
                  </a:extLst>
                </a:gridCol>
                <a:gridCol w="945562">
                  <a:extLst>
                    <a:ext uri="{9D8B030D-6E8A-4147-A177-3AD203B41FA5}">
                      <a16:colId xmlns:a16="http://schemas.microsoft.com/office/drawing/2014/main" val="2926970557"/>
                    </a:ext>
                  </a:extLst>
                </a:gridCol>
                <a:gridCol w="1389302">
                  <a:extLst>
                    <a:ext uri="{9D8B030D-6E8A-4147-A177-3AD203B41FA5}">
                      <a16:colId xmlns:a16="http://schemas.microsoft.com/office/drawing/2014/main" val="1020743128"/>
                    </a:ext>
                  </a:extLst>
                </a:gridCol>
                <a:gridCol w="1336986">
                  <a:extLst>
                    <a:ext uri="{9D8B030D-6E8A-4147-A177-3AD203B41FA5}">
                      <a16:colId xmlns:a16="http://schemas.microsoft.com/office/drawing/2014/main" val="620494373"/>
                    </a:ext>
                  </a:extLst>
                </a:gridCol>
                <a:gridCol w="1523001">
                  <a:extLst>
                    <a:ext uri="{9D8B030D-6E8A-4147-A177-3AD203B41FA5}">
                      <a16:colId xmlns:a16="http://schemas.microsoft.com/office/drawing/2014/main" val="3328343967"/>
                    </a:ext>
                  </a:extLst>
                </a:gridCol>
                <a:gridCol w="1354425">
                  <a:extLst>
                    <a:ext uri="{9D8B030D-6E8A-4147-A177-3AD203B41FA5}">
                      <a16:colId xmlns:a16="http://schemas.microsoft.com/office/drawing/2014/main" val="3425601033"/>
                    </a:ext>
                  </a:extLst>
                </a:gridCol>
                <a:gridCol w="1028111">
                  <a:extLst>
                    <a:ext uri="{9D8B030D-6E8A-4147-A177-3AD203B41FA5}">
                      <a16:colId xmlns:a16="http://schemas.microsoft.com/office/drawing/2014/main" val="91415783"/>
                    </a:ext>
                  </a:extLst>
                </a:gridCol>
                <a:gridCol w="709969">
                  <a:extLst>
                    <a:ext uri="{9D8B030D-6E8A-4147-A177-3AD203B41FA5}">
                      <a16:colId xmlns:a16="http://schemas.microsoft.com/office/drawing/2014/main" val="52744753"/>
                    </a:ext>
                  </a:extLst>
                </a:gridCol>
              </a:tblGrid>
              <a:tr h="45789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350" kern="100" dirty="0">
                          <a:effectLst/>
                        </a:rPr>
                        <a:t>Activity</a:t>
                      </a:r>
                      <a:endParaRPr lang="en-IN" sz="1100" kern="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955" marR="4445" marT="0" marB="0" anchor="ctr"/>
                </a:tc>
                <a:tc gridSpan="7">
                  <a:txBody>
                    <a:bodyPr/>
                    <a:lstStyle/>
                    <a:p>
                      <a:pPr marL="6223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350" kern="100">
                          <a:effectLst/>
                        </a:rPr>
                        <a:t>IPO Process - 23 weeks</a:t>
                      </a:r>
                      <a:endParaRPr lang="en-IN" sz="1100" kern="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955" marR="4445" marT="0" marB="0" anchor="ctr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0630062"/>
                  </a:ext>
                </a:extLst>
              </a:tr>
              <a:tr h="542753">
                <a:tc rowSpan="7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1565"/>
                        </a:spcAft>
                        <a:buNone/>
                      </a:pPr>
                      <a:r>
                        <a:rPr lang="en-IN" sz="2000" kern="100" dirty="0">
                          <a:effectLst/>
                        </a:rPr>
                        <a:t>Preparation Phase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1560"/>
                        </a:spcAft>
                        <a:buNone/>
                      </a:pPr>
                      <a:r>
                        <a:rPr lang="en-IN" sz="2000" kern="100" dirty="0">
                          <a:effectLst/>
                        </a:rPr>
                        <a:t>Due Diligence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1565"/>
                        </a:spcAft>
                        <a:buNone/>
                      </a:pPr>
                      <a:r>
                        <a:rPr lang="en-IN" sz="2000" kern="100" dirty="0">
                          <a:effectLst/>
                        </a:rPr>
                        <a:t>Filing of Draft Document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1560"/>
                        </a:spcAft>
                        <a:buNone/>
                      </a:pPr>
                      <a:r>
                        <a:rPr lang="en-IN" sz="2000" kern="100" dirty="0">
                          <a:effectLst/>
                        </a:rPr>
                        <a:t>Sebi Observation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1565"/>
                        </a:spcAft>
                        <a:buNone/>
                      </a:pPr>
                      <a:r>
                        <a:rPr lang="en-IN" sz="2000" kern="100" dirty="0">
                          <a:effectLst/>
                        </a:rPr>
                        <a:t>Finalization &amp; filing of the offer Document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1560"/>
                        </a:spcAft>
                        <a:buNone/>
                      </a:pPr>
                      <a:r>
                        <a:rPr lang="en-IN" sz="2000" kern="100" dirty="0">
                          <a:effectLst/>
                        </a:rPr>
                        <a:t>Issue Period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effectLst/>
                        </a:rPr>
                        <a:t>Post Issue Activities</a:t>
                      </a:r>
                      <a:endParaRPr lang="en-IN" sz="2000" kern="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955" marR="4445" marT="0" marB="0" anchor="ctr"/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effectLst/>
                        </a:rPr>
                        <a:t>2 weeks</a:t>
                      </a:r>
                      <a:endParaRPr lang="en-IN" sz="2000" kern="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955" marR="4445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>
                          <a:effectLst/>
                        </a:rPr>
                        <a:t> </a:t>
                      </a:r>
                      <a:endParaRPr lang="en-IN" sz="1100" kern="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955" marR="4445" marT="0" marB="0"/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>
                          <a:effectLst/>
                        </a:rPr>
                        <a:t> </a:t>
                      </a:r>
                      <a:endParaRPr lang="en-IN" sz="1100" kern="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955" marR="4445" marT="0" marB="0"/>
                </a:tc>
                <a:tc rowSpan="3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>
                          <a:effectLst/>
                        </a:rPr>
                        <a:t> </a:t>
                      </a:r>
                      <a:endParaRPr lang="en-IN" sz="1100" kern="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955" marR="4445" marT="0" marB="0"/>
                </a:tc>
                <a:tc rowSpan="4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>
                          <a:effectLst/>
                        </a:rPr>
                        <a:t> </a:t>
                      </a:r>
                      <a:endParaRPr lang="en-IN" sz="1100" kern="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955" marR="4445" marT="0" marB="0"/>
                </a:tc>
                <a:tc rowSpan="5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>
                          <a:effectLst/>
                        </a:rPr>
                        <a:t> </a:t>
                      </a:r>
                      <a:endParaRPr lang="en-IN" sz="1100" kern="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955" marR="4445" marT="0" marB="0"/>
                </a:tc>
                <a:tc rowSpan="6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>
                          <a:effectLst/>
                        </a:rPr>
                        <a:t> </a:t>
                      </a:r>
                      <a:endParaRPr lang="en-IN" sz="1100" kern="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955" marR="4445" marT="0" marB="0"/>
                </a:tc>
                <a:extLst>
                  <a:ext uri="{0D108BD9-81ED-4DB2-BD59-A6C34878D82A}">
                    <a16:rowId xmlns:a16="http://schemas.microsoft.com/office/drawing/2014/main" val="1566972210"/>
                  </a:ext>
                </a:extLst>
              </a:tr>
              <a:tr h="541914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rowSpan="6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 dirty="0">
                          <a:effectLst/>
                        </a:rPr>
                        <a:t> </a:t>
                      </a:r>
                      <a:endParaRPr lang="en-IN" sz="1100" kern="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955" marR="4445" marT="0" marB="0"/>
                </a:tc>
                <a:tc>
                  <a:txBody>
                    <a:bodyPr/>
                    <a:lstStyle/>
                    <a:p>
                      <a:pPr marR="8255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effectLst/>
                        </a:rPr>
                        <a:t>4 - 5 weeks</a:t>
                      </a:r>
                      <a:endParaRPr lang="en-IN" sz="2000" kern="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955" marR="4445" marT="0" marB="0" anchor="ctr"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947763"/>
                  </a:ext>
                </a:extLst>
              </a:tr>
              <a:tr h="70415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rowSpan="5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 dirty="0">
                          <a:effectLst/>
                        </a:rPr>
                        <a:t> </a:t>
                      </a:r>
                      <a:endParaRPr lang="en-IN" sz="1100" kern="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955" marR="4445" marT="0" marB="0"/>
                </a:tc>
                <a:tc>
                  <a:txBody>
                    <a:bodyPr/>
                    <a:lstStyle/>
                    <a:p>
                      <a:pPr marR="8255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effectLst/>
                        </a:rPr>
                        <a:t>    1  week</a:t>
                      </a:r>
                      <a:endParaRPr lang="en-IN" sz="2000" kern="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955" marR="4445" marT="0" marB="0" anchor="ctr"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5310689"/>
                  </a:ext>
                </a:extLst>
              </a:tr>
              <a:tr h="541914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rowSpan="4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 dirty="0">
                          <a:effectLst/>
                        </a:rPr>
                        <a:t> </a:t>
                      </a:r>
                      <a:endParaRPr lang="en-IN" sz="1100" kern="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955" marR="4445" marT="0" marB="0"/>
                </a:tc>
                <a:tc>
                  <a:txBody>
                    <a:bodyPr/>
                    <a:lstStyle/>
                    <a:p>
                      <a:pPr marR="1016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effectLst/>
                        </a:rPr>
                        <a:t>4 - 8 weeks</a:t>
                      </a:r>
                      <a:endParaRPr lang="en-IN" sz="2000" kern="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955" marR="4445" marT="0" marB="0" anchor="ctr"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3791133"/>
                  </a:ext>
                </a:extLst>
              </a:tr>
              <a:tr h="776956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 dirty="0">
                          <a:effectLst/>
                        </a:rPr>
                        <a:t> </a:t>
                      </a:r>
                      <a:endParaRPr lang="en-IN" sz="1100" kern="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955" marR="4445" marT="0" marB="0"/>
                </a:tc>
                <a:tc>
                  <a:txBody>
                    <a:bodyPr/>
                    <a:lstStyle/>
                    <a:p>
                      <a:pPr marR="8255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effectLst/>
                        </a:rPr>
                        <a:t>2 - 3 weeks</a:t>
                      </a:r>
                      <a:endParaRPr lang="en-IN" sz="2000" kern="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955" marR="4445" marT="0" marB="0" anchor="ctr"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1758803"/>
                  </a:ext>
                </a:extLst>
              </a:tr>
              <a:tr h="634473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>
                          <a:effectLst/>
                        </a:rPr>
                        <a:t> </a:t>
                      </a:r>
                      <a:endParaRPr lang="en-IN" sz="1100" kern="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955" marR="444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effectLst/>
                        </a:rPr>
                        <a:t>Min. 3 Days</a:t>
                      </a:r>
                      <a:endParaRPr lang="en-IN" sz="2000" kern="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955" marR="4445" marT="0" marB="0"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3235564"/>
                  </a:ext>
                </a:extLst>
              </a:tr>
              <a:tr h="751704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>
                          <a:effectLst/>
                        </a:rPr>
                        <a:t> </a:t>
                      </a:r>
                      <a:endParaRPr lang="en-IN" sz="1100" kern="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955" marR="4445" marT="0" marB="0"/>
                </a:tc>
                <a:tc>
                  <a:txBody>
                    <a:bodyPr/>
                    <a:lstStyle/>
                    <a:p>
                      <a:pPr marR="762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effectLst/>
                        </a:rPr>
                        <a:t>2 - 3 weeks</a:t>
                      </a:r>
                      <a:endParaRPr lang="en-IN" sz="2000" kern="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955" marR="4445" marT="0" marB="0" anchor="ctr"/>
                </a:tc>
                <a:extLst>
                  <a:ext uri="{0D108BD9-81ED-4DB2-BD59-A6C34878D82A}">
                    <a16:rowId xmlns:a16="http://schemas.microsoft.com/office/drawing/2014/main" val="2310755447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EAC2C5-769B-3BC8-C695-4BFC84B77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B8923-622D-4042-83D5-F58F36E54171}" type="slidenum">
              <a:rPr lang="en-IN" smtClean="0"/>
              <a:t>15</a:t>
            </a:fld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403FAAF-2E5F-E4F0-D105-C9BDC1B07C34}"/>
              </a:ext>
            </a:extLst>
          </p:cNvPr>
          <p:cNvSpPr/>
          <p:nvPr/>
        </p:nvSpPr>
        <p:spPr>
          <a:xfrm>
            <a:off x="46008" y="0"/>
            <a:ext cx="12145992" cy="684362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/>
              <a:t>Execution process timeline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2080206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529C16-B253-BD3E-B4AA-5F2E5023C0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4067" y="1063924"/>
            <a:ext cx="11110823" cy="529242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000" dirty="0"/>
              <a:t>When a company decides to go public through an Initial Public Offering (IPO), the crucial step is determining the offer price at which shares will be sold to investors. 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Two major pricing methods are used worldwide: </a:t>
            </a:r>
            <a:r>
              <a:rPr lang="en-US" sz="2000" b="1" dirty="0"/>
              <a:t> the Book Building Mechanism and the Fixed Price Regime</a:t>
            </a:r>
            <a:r>
              <a:rPr lang="en-US" sz="2000" dirty="0"/>
              <a:t>.</a:t>
            </a:r>
          </a:p>
          <a:p>
            <a:pPr marL="0" indent="0">
              <a:buNone/>
            </a:pPr>
            <a:endParaRPr lang="en-IN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203CB6-2331-65A7-4530-F237FC6A24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B8923-622D-4042-83D5-F58F36E54171}" type="slidenum">
              <a:rPr lang="en-IN" smtClean="0"/>
              <a:t>16</a:t>
            </a:fld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9DD828B-7A91-B0B9-A6D9-7A17CAD684B4}"/>
              </a:ext>
            </a:extLst>
          </p:cNvPr>
          <p:cNvSpPr/>
          <p:nvPr/>
        </p:nvSpPr>
        <p:spPr>
          <a:xfrm>
            <a:off x="46008" y="0"/>
            <a:ext cx="12192000" cy="694944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/>
              <a:t>Major pricing methods</a:t>
            </a:r>
            <a:endParaRPr lang="en-US" sz="2800" dirty="0"/>
          </a:p>
        </p:txBody>
      </p:sp>
      <p:graphicFrame>
        <p:nvGraphicFramePr>
          <p:cNvPr id="8" name="Object 4">
            <a:extLst>
              <a:ext uri="{FF2B5EF4-FFF2-40B4-BE49-F238E27FC236}">
                <a16:creationId xmlns:a16="http://schemas.microsoft.com/office/drawing/2014/main" id="{58633CFD-4679-FFC9-3BE7-CAA3E11479D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47556891"/>
              </p:ext>
            </p:extLst>
          </p:nvPr>
        </p:nvGraphicFramePr>
        <p:xfrm>
          <a:off x="6142008" y="3620444"/>
          <a:ext cx="3959764" cy="2482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" name="Microsoft ClipArt Gallery" r:id="rId3" imgW="4209840" imgH="2057400" progId="MS_ClipArt_Gallery">
                  <p:embed/>
                </p:oleObj>
              </mc:Choice>
              <mc:Fallback>
                <p:oleObj name="Microsoft ClipArt Gallery" r:id="rId3" imgW="4209840" imgH="2057400" progId="MS_ClipArt_Gallery">
                  <p:embed/>
                  <p:pic>
                    <p:nvPicPr>
                      <p:cNvPr id="8" name="Object 4">
                        <a:extLst>
                          <a:ext uri="{FF2B5EF4-FFF2-40B4-BE49-F238E27FC236}">
                            <a16:creationId xmlns:a16="http://schemas.microsoft.com/office/drawing/2014/main" id="{58633CFD-4679-FFC9-3BE7-CAA3E11479DA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42008" y="3620444"/>
                        <a:ext cx="3959764" cy="2482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609958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04DF18-B065-8F52-E48D-58DF358B9E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3079" y="1052423"/>
            <a:ext cx="10870721" cy="5124540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200" b="1" dirty="0"/>
              <a:t>Book Building Mechanism</a:t>
            </a:r>
            <a:br>
              <a:rPr lang="en-US" sz="2000" dirty="0"/>
            </a:br>
            <a:r>
              <a:rPr lang="en-US" sz="2000" dirty="0"/>
              <a:t>Book building is a dynamic price discovery process where investors bid for shares within a specified price range (price band) during the IPO period. The final issue price, called the </a:t>
            </a:r>
            <a:r>
              <a:rPr lang="en-US" sz="2000" b="1" dirty="0"/>
              <a:t>cut-off price</a:t>
            </a:r>
            <a:r>
              <a:rPr lang="en-US" sz="2000" dirty="0"/>
              <a:t>, is determined based on the demand generated across bids.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It is considered the most efficient, transparent, and market-driven method for pricing IPOs.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000" b="1" dirty="0"/>
              <a:t>Key steps in  book building mechanism</a:t>
            </a:r>
          </a:p>
          <a:p>
            <a:pPr>
              <a:lnSpc>
                <a:spcPct val="150000"/>
              </a:lnSpc>
            </a:pPr>
            <a:r>
              <a:rPr lang="en-US" sz="2000" b="1" dirty="0"/>
              <a:t>Appointment of Book Runners (Lead Managers)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sz="2000" dirty="0"/>
              <a:t>The issuing company appoints one or more Book Running Lead Managers (BRLMs to handle the book building and issue management.</a:t>
            </a:r>
          </a:p>
          <a:p>
            <a:pPr>
              <a:lnSpc>
                <a:spcPct val="150000"/>
              </a:lnSpc>
            </a:pPr>
            <a:endParaRPr lang="en-US" sz="2000" dirty="0"/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BA880C-EE9E-95FE-EDBF-5C9D474D51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B8923-622D-4042-83D5-F58F36E54171}" type="slidenum">
              <a:rPr lang="en-IN" smtClean="0"/>
              <a:t>17</a:t>
            </a:fld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E396C76-B23D-43C0-FD81-876BD5025DAD}"/>
              </a:ext>
            </a:extLst>
          </p:cNvPr>
          <p:cNvSpPr/>
          <p:nvPr/>
        </p:nvSpPr>
        <p:spPr>
          <a:xfrm>
            <a:off x="46008" y="0"/>
            <a:ext cx="12192000" cy="694944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/>
              <a:t>Major pricing methods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305955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144991-9D6D-7107-D3F5-1D5F780577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864" y="1127186"/>
            <a:ext cx="10657936" cy="5049778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150000"/>
              </a:lnSpc>
            </a:pPr>
            <a:r>
              <a:rPr lang="en-US" sz="2400" b="1" dirty="0"/>
              <a:t>Filing of Draft Red Herring Prospectus (DRHP)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The issuer files a DRHP with SEBI containing all information about the IPO except for the final price.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A price band is specified — for example, ₹120–₹144 per share — with the lower limit (floor price) and upper limit (cap price).</a:t>
            </a:r>
          </a:p>
          <a:p>
            <a:pPr>
              <a:lnSpc>
                <a:spcPct val="150000"/>
              </a:lnSpc>
            </a:pPr>
            <a:r>
              <a:rPr lang="en-US" sz="2400" b="1" dirty="0"/>
              <a:t>Bidding Phase (Book Building Period)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Institutional, retail, and high-net-worth investors (HNIs) place bids within this price band.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Investors state the number of shares they want and the price they are willing to pay.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Retail investors can simply bid at the “cut-off price”, meaning they agree to buy at whatever price is finalized through demand aggregation.​</a:t>
            </a:r>
          </a:p>
          <a:p>
            <a:pPr>
              <a:lnSpc>
                <a:spcPct val="150000"/>
              </a:lnSpc>
            </a:pPr>
            <a:endParaRPr lang="en-IN" sz="20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3CA24F-E367-4B7A-3FC1-5A23D5F57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B8923-622D-4042-83D5-F58F36E54171}" type="slidenum">
              <a:rPr lang="en-IN" smtClean="0"/>
              <a:t>18</a:t>
            </a:fld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624F3D0-DAB6-8D16-5BF3-68B167188559}"/>
              </a:ext>
            </a:extLst>
          </p:cNvPr>
          <p:cNvSpPr/>
          <p:nvPr/>
        </p:nvSpPr>
        <p:spPr>
          <a:xfrm>
            <a:off x="46008" y="0"/>
            <a:ext cx="12192000" cy="694944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/>
              <a:t>Major pricing methods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9944850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E0BB68-9CC2-2DC9-3D8A-289410028B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1833" y="1058174"/>
            <a:ext cx="11064815" cy="520460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/>
              <a:t>Price determination</a:t>
            </a:r>
          </a:p>
          <a:p>
            <a:pPr lvl="1">
              <a:lnSpc>
                <a:spcPct val="150000"/>
              </a:lnSpc>
            </a:pPr>
            <a:r>
              <a:rPr lang="en-US" sz="2000" dirty="0"/>
              <a:t>After the bidding closes, demand is aggregated to form an order book.</a:t>
            </a:r>
          </a:p>
          <a:p>
            <a:pPr lvl="1">
              <a:lnSpc>
                <a:spcPct val="150000"/>
              </a:lnSpc>
            </a:pPr>
            <a:r>
              <a:rPr lang="en-US" sz="2000" dirty="0"/>
              <a:t>The </a:t>
            </a:r>
            <a:r>
              <a:rPr lang="en-US" sz="2000" b="1" dirty="0"/>
              <a:t>cut-off price </a:t>
            </a:r>
            <a:r>
              <a:rPr lang="en-US" sz="2000" dirty="0"/>
              <a:t>is determined, it is the price at which the total demand equals the issue size.</a:t>
            </a:r>
          </a:p>
          <a:p>
            <a:pPr lvl="1">
              <a:lnSpc>
                <a:spcPct val="150000"/>
              </a:lnSpc>
            </a:pPr>
            <a:r>
              <a:rPr lang="en-US" sz="2000" dirty="0"/>
              <a:t>Shares are then allotted to investors who bid at or above this cut-off level.</a:t>
            </a:r>
          </a:p>
          <a:p>
            <a:pPr>
              <a:lnSpc>
                <a:spcPct val="150000"/>
              </a:lnSpc>
            </a:pPr>
            <a:r>
              <a:rPr lang="en-US" sz="2000" b="1" dirty="0"/>
              <a:t>Allotment and Listing</a:t>
            </a:r>
          </a:p>
          <a:p>
            <a:pPr lvl="1">
              <a:lnSpc>
                <a:spcPct val="150000"/>
              </a:lnSpc>
            </a:pPr>
            <a:r>
              <a:rPr lang="en-US" sz="2000" dirty="0"/>
              <a:t>Once the cut-off price is finalized, shares are allotted to successful applicants and credited to their demat accounts.</a:t>
            </a:r>
          </a:p>
          <a:p>
            <a:pPr lvl="1">
              <a:lnSpc>
                <a:spcPct val="150000"/>
              </a:lnSpc>
            </a:pPr>
            <a:r>
              <a:rPr lang="en-US" sz="2000" dirty="0"/>
              <a:t>The IPO is then listed on the stock exchange for public trading.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81454A-3297-A71B-0C73-7295CDFF7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B8923-622D-4042-83D5-F58F36E54171}" type="slidenum">
              <a:rPr lang="en-IN" smtClean="0"/>
              <a:t>19</a:t>
            </a:fld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7BADCE8-A982-9A46-CC38-50BC4F4DCE06}"/>
              </a:ext>
            </a:extLst>
          </p:cNvPr>
          <p:cNvSpPr/>
          <p:nvPr/>
        </p:nvSpPr>
        <p:spPr>
          <a:xfrm>
            <a:off x="46008" y="0"/>
            <a:ext cx="12192000" cy="694944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/>
              <a:t>Major pricing methods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2559564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69AEFB-616B-84E7-14C1-24AAF09298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3079" y="1161691"/>
            <a:ext cx="10870721" cy="5015272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200" b="1" dirty="0"/>
              <a:t>Advantages of Book building mechanism</a:t>
            </a:r>
          </a:p>
          <a:p>
            <a:pPr>
              <a:lnSpc>
                <a:spcPct val="150000"/>
              </a:lnSpc>
            </a:pPr>
            <a:r>
              <a:rPr lang="en-US" sz="2200" b="1" dirty="0"/>
              <a:t>Efficient Price Discovery</a:t>
            </a:r>
            <a:r>
              <a:rPr lang="en-US" sz="2200" dirty="0"/>
              <a:t>: Reflects real market demand as institutional and retail investors bid competitively.</a:t>
            </a:r>
          </a:p>
          <a:p>
            <a:pPr>
              <a:lnSpc>
                <a:spcPct val="150000"/>
              </a:lnSpc>
            </a:pPr>
            <a:r>
              <a:rPr lang="en-US" sz="2200" b="1" dirty="0"/>
              <a:t>Transparency</a:t>
            </a:r>
            <a:r>
              <a:rPr lang="en-US" sz="2200" dirty="0"/>
              <a:t>: Investors can see demand patterns during the issue.</a:t>
            </a:r>
          </a:p>
          <a:p>
            <a:pPr>
              <a:lnSpc>
                <a:spcPct val="150000"/>
              </a:lnSpc>
            </a:pPr>
            <a:r>
              <a:rPr lang="en-US" sz="2200" b="1" dirty="0"/>
              <a:t>Flexibility</a:t>
            </a:r>
            <a:r>
              <a:rPr lang="en-US" sz="2200" dirty="0"/>
              <a:t>: Price band allows adjustment based on investor appetite.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200" b="1" dirty="0"/>
              <a:t>Disadvantages of Book building mechanism</a:t>
            </a:r>
          </a:p>
          <a:p>
            <a:pPr>
              <a:lnSpc>
                <a:spcPct val="150000"/>
              </a:lnSpc>
            </a:pPr>
            <a:r>
              <a:rPr lang="en-US" sz="2200" b="1" dirty="0"/>
              <a:t>Complexity</a:t>
            </a:r>
            <a:r>
              <a:rPr lang="en-US" sz="2200" dirty="0"/>
              <a:t>: Requires sophisticated investors and active underwriter involvement.</a:t>
            </a:r>
          </a:p>
          <a:p>
            <a:pPr>
              <a:lnSpc>
                <a:spcPct val="150000"/>
              </a:lnSpc>
            </a:pPr>
            <a:r>
              <a:rPr lang="en-US" sz="2200" b="1" dirty="0"/>
              <a:t>Potential Bias: </a:t>
            </a:r>
            <a:r>
              <a:rPr lang="en-US" sz="2200" dirty="0"/>
              <a:t>Institutional investors may have an advantage over retail investors in allocation.</a:t>
            </a:r>
          </a:p>
          <a:p>
            <a:pPr>
              <a:lnSpc>
                <a:spcPct val="150000"/>
              </a:lnSpc>
            </a:pPr>
            <a:r>
              <a:rPr lang="en-US" sz="2200" b="1" dirty="0"/>
              <a:t>Consultation Costs</a:t>
            </a:r>
            <a:r>
              <a:rPr lang="en-US" sz="2200" dirty="0"/>
              <a:t>: Higher expenses for roadshows, marketing, and record-keeping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D8ACCD-89D4-C6FB-9F91-FC42682BDE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B8923-622D-4042-83D5-F58F36E54171}" type="slidenum">
              <a:rPr lang="en-IN" smtClean="0"/>
              <a:t>20</a:t>
            </a:fld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273C2D8-ECC7-6802-7E0C-02AEDE672EAF}"/>
              </a:ext>
            </a:extLst>
          </p:cNvPr>
          <p:cNvSpPr/>
          <p:nvPr/>
        </p:nvSpPr>
        <p:spPr>
          <a:xfrm>
            <a:off x="46008" y="0"/>
            <a:ext cx="12192000" cy="694944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/>
              <a:t>Major pricing methods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8791036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0F556F-20FE-6F00-8D06-ABD4C2CDB3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321" y="931653"/>
            <a:ext cx="11352362" cy="5486400"/>
          </a:xfrm>
        </p:spPr>
        <p:txBody>
          <a:bodyPr>
            <a:normAutofit fontScale="85000" lnSpcReduction="20000"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en-US" sz="2600" b="1" dirty="0"/>
              <a:t>Fixed price regime</a:t>
            </a:r>
          </a:p>
          <a:p>
            <a:pPr>
              <a:lnSpc>
                <a:spcPct val="170000"/>
              </a:lnSpc>
            </a:pPr>
            <a:r>
              <a:rPr lang="en-US" sz="2200" dirty="0"/>
              <a:t>Under the fixed price issue, the company predetermines the IPO price of the shares before the issue opens. </a:t>
            </a:r>
          </a:p>
          <a:p>
            <a:pPr>
              <a:lnSpc>
                <a:spcPct val="170000"/>
              </a:lnSpc>
            </a:pPr>
            <a:r>
              <a:rPr lang="en-US" sz="2200" dirty="0"/>
              <a:t>This method is simpler but less reflective of real-time market demand.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US" sz="2600" b="1" dirty="0"/>
              <a:t>Steps in the fixed price IPO</a:t>
            </a:r>
          </a:p>
          <a:p>
            <a:pPr>
              <a:lnSpc>
                <a:spcPct val="170000"/>
              </a:lnSpc>
            </a:pPr>
            <a:r>
              <a:rPr lang="en-US" sz="2200" b="1" dirty="0"/>
              <a:t>Price Determination Before Issue</a:t>
            </a:r>
          </a:p>
          <a:p>
            <a:pPr marL="457200" lvl="1" indent="0">
              <a:lnSpc>
                <a:spcPct val="170000"/>
              </a:lnSpc>
              <a:buNone/>
            </a:pPr>
            <a:r>
              <a:rPr lang="en-US" sz="2200" dirty="0"/>
              <a:t>The issuer and underwriters determine a single offer price based on internal valuation methods, market conditions, and a comparative analysis of similar companies.</a:t>
            </a:r>
          </a:p>
          <a:p>
            <a:pPr>
              <a:lnSpc>
                <a:spcPct val="170000"/>
              </a:lnSpc>
            </a:pPr>
            <a:r>
              <a:rPr lang="en-US" sz="2200" b="1" dirty="0"/>
              <a:t>Announcement and Subscription</a:t>
            </a:r>
          </a:p>
          <a:p>
            <a:pPr lvl="1">
              <a:lnSpc>
                <a:spcPct val="170000"/>
              </a:lnSpc>
            </a:pPr>
            <a:r>
              <a:rPr lang="en-US" sz="2200" dirty="0"/>
              <a:t>The fixed price is published in the prospectus before subscriptions open, and Investors apply for shares at that fixed price.</a:t>
            </a:r>
            <a:endParaRPr lang="en-IN" sz="22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DFD1F5-1C61-E036-7BC7-C4141C65C1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B8923-622D-4042-83D5-F58F36E54171}" type="slidenum">
              <a:rPr lang="en-IN" smtClean="0"/>
              <a:t>21</a:t>
            </a:fld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EFD93DE-4C17-D274-979A-62424506596B}"/>
              </a:ext>
            </a:extLst>
          </p:cNvPr>
          <p:cNvSpPr/>
          <p:nvPr/>
        </p:nvSpPr>
        <p:spPr>
          <a:xfrm>
            <a:off x="46008" y="0"/>
            <a:ext cx="12192000" cy="694944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/>
              <a:t>Major pricing methods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9590020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B5DA0C-2645-5B8D-CF6F-B085E3E454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0332" y="1187269"/>
            <a:ext cx="11077755" cy="5265289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/>
              <a:t>Demand Disclosure Post‑Closure</a:t>
            </a:r>
          </a:p>
          <a:p>
            <a:pPr lvl="1">
              <a:lnSpc>
                <a:spcPct val="150000"/>
              </a:lnSpc>
            </a:pPr>
            <a:r>
              <a:rPr lang="en-US" sz="2000" dirty="0"/>
              <a:t>Unlike book building, demand data is available only after the issue closes.</a:t>
            </a:r>
          </a:p>
          <a:p>
            <a:pPr>
              <a:lnSpc>
                <a:spcPct val="150000"/>
              </a:lnSpc>
            </a:pPr>
            <a:r>
              <a:rPr lang="en-US" sz="2000" b="1" dirty="0"/>
              <a:t>Allotment and Listing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sz="2000" dirty="0"/>
              <a:t>Once subscriptions are collected and verified, shares are allotted to applicants (fully or partially, if oversubscribed) and then listed on the exchange.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000" b="1" dirty="0"/>
              <a:t>Advantages of Fixed Price Regime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Simplicity: Easier for small and retail investors to understand.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Certainty: Price is predetermined; no confusion regarding bidding.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Low Cost: Less administrative and marketing work than book building.</a:t>
            </a:r>
          </a:p>
          <a:p>
            <a:pPr marL="457200" lvl="1" indent="0">
              <a:lnSpc>
                <a:spcPct val="150000"/>
              </a:lnSpc>
              <a:buNone/>
            </a:pPr>
            <a:endParaRPr lang="en-US" sz="2000" dirty="0"/>
          </a:p>
          <a:p>
            <a:pPr marL="0" indent="0">
              <a:lnSpc>
                <a:spcPct val="150000"/>
              </a:lnSpc>
              <a:buNone/>
            </a:pPr>
            <a:endParaRPr lang="en-IN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FFC8A9-A2DD-4259-EBF3-6C0B08AFC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B8923-622D-4042-83D5-F58F36E54171}" type="slidenum">
              <a:rPr lang="en-IN" smtClean="0"/>
              <a:t>22</a:t>
            </a:fld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CF69E1C-DA46-545B-51C6-29AB101C9F34}"/>
              </a:ext>
            </a:extLst>
          </p:cNvPr>
          <p:cNvSpPr/>
          <p:nvPr/>
        </p:nvSpPr>
        <p:spPr>
          <a:xfrm>
            <a:off x="46008" y="0"/>
            <a:ext cx="12192000" cy="694944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/>
              <a:t>Major pricing methods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2330796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F4567D-4BD2-BE3E-1201-2CB3C723A4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0845" y="1161692"/>
            <a:ext cx="10772955" cy="5015272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sz="2000" b="1" dirty="0"/>
              <a:t>Disadvantages of fixed price regime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No Price Discovery: Price decided without market feedback may be inaccurately set.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Lower Transparency: Investors can’t gauge demand until the issue closes.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High Risk of Under‑ or Over‑pricing: Might lead to undersubscription or reduced post‑listing performance.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DAC115-9942-F73C-B386-0128C134D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B8923-622D-4042-83D5-F58F36E54171}" type="slidenum">
              <a:rPr lang="en-IN" smtClean="0"/>
              <a:t>23</a:t>
            </a:fld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CB7FCE1-068E-E9FB-A144-62CC358138F6}"/>
              </a:ext>
            </a:extLst>
          </p:cNvPr>
          <p:cNvSpPr/>
          <p:nvPr/>
        </p:nvSpPr>
        <p:spPr>
          <a:xfrm>
            <a:off x="46008" y="0"/>
            <a:ext cx="12192000" cy="694944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/>
              <a:t>Major pricing methods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65958196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3FE8B7-2AE1-EB05-1779-66F950989F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3309B7-80B8-0CDE-6018-B92A594363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1102" y="1040921"/>
            <a:ext cx="10732698" cy="5136042"/>
          </a:xfrm>
        </p:spPr>
        <p:txBody>
          <a:bodyPr>
            <a:normAutofit/>
          </a:bodyPr>
          <a:lstStyle/>
          <a:p>
            <a:pPr marL="0" indent="0">
              <a:lnSpc>
                <a:spcPct val="160000"/>
              </a:lnSpc>
              <a:buNone/>
            </a:pPr>
            <a:r>
              <a:rPr lang="en-US" sz="2400" b="1" dirty="0"/>
              <a:t>For Companies:</a:t>
            </a:r>
          </a:p>
          <a:p>
            <a:pPr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Capital for growth/expansion without incurring debt.​</a:t>
            </a:r>
          </a:p>
          <a:p>
            <a:pPr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Liquidity and exit opportunities for early investors and founders.​</a:t>
            </a:r>
          </a:p>
          <a:p>
            <a:pPr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Enhanced prestige, public profile, and ability to attract top talent.​</a:t>
            </a:r>
          </a:p>
          <a:p>
            <a:pPr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Ability to issue more shares and raise further capital (follow-on offerings).​</a:t>
            </a:r>
          </a:p>
          <a:p>
            <a:pPr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Transparent corporate governance and increased discipline.​</a:t>
            </a:r>
          </a:p>
          <a:p>
            <a:pPr>
              <a:lnSpc>
                <a:spcPct val="160000"/>
              </a:lnSpc>
            </a:pPr>
            <a:endParaRPr lang="en-IN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980E98-5AE2-4EC1-C6E7-7109A3D9E3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B8923-622D-4042-83D5-F58F36E54171}" type="slidenum">
              <a:rPr lang="en-IN" smtClean="0"/>
              <a:t>24</a:t>
            </a:fld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448FDAC-8512-4FFE-9252-D8AB7D0891A1}"/>
              </a:ext>
            </a:extLst>
          </p:cNvPr>
          <p:cNvSpPr/>
          <p:nvPr/>
        </p:nvSpPr>
        <p:spPr>
          <a:xfrm>
            <a:off x="46008" y="0"/>
            <a:ext cx="12192000" cy="694944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b="1" dirty="0"/>
          </a:p>
          <a:p>
            <a:r>
              <a:rPr lang="en-US" sz="2800" b="1" dirty="0"/>
              <a:t> Benefits of IPOs </a:t>
            </a:r>
            <a:br>
              <a:rPr lang="en-US" sz="2800" b="1" dirty="0"/>
            </a:b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65498579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FC7845-FF17-5A74-966C-EA9DD6848B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2265C3-E516-1079-CD8A-C652841043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2604" y="1104182"/>
            <a:ext cx="10721196" cy="5072782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b="1" dirty="0"/>
              <a:t>For Investors: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Opportunity to invest in potentially high-growth companies early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Zero cost for initial application, unlike secondary market trades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Access to detailed information via the prospectus for informed decision-making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Possibility for quick gains if the stock lists at a premium, or long-term wealth creation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IN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31A492-CBCE-37BF-1D97-3490F44F6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B8923-622D-4042-83D5-F58F36E54171}" type="slidenum">
              <a:rPr lang="en-IN" smtClean="0"/>
              <a:t>25</a:t>
            </a:fld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CDC2790-4284-F8DD-D39F-14C78B1CAECF}"/>
              </a:ext>
            </a:extLst>
          </p:cNvPr>
          <p:cNvSpPr/>
          <p:nvPr/>
        </p:nvSpPr>
        <p:spPr>
          <a:xfrm>
            <a:off x="46008" y="0"/>
            <a:ext cx="12192000" cy="694944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b="1" dirty="0"/>
          </a:p>
          <a:p>
            <a:r>
              <a:rPr lang="en-US" sz="2800" b="1" dirty="0"/>
              <a:t>Benefits of IPOs</a:t>
            </a:r>
            <a:br>
              <a:rPr lang="en-US" sz="2800" b="1" dirty="0"/>
            </a:b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20578056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D40E1B-0E6C-3638-E40F-9FB2AA4CF9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3642EF-CEC2-216F-FB5B-3180558302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611" y="1132936"/>
            <a:ext cx="10675189" cy="504402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IPOs involve considerable regulatory scrutiny, increased public disclosure, and management burden.​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b="1" dirty="0"/>
              <a:t>Market volatility -</a:t>
            </a:r>
            <a:r>
              <a:rPr lang="en-US" sz="2000" dirty="0"/>
              <a:t>Share prices can fluctuate sharply, especially post-IPO.​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Significant costs in underwriting, compliance, and reporting.​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Early investors may lose some control and influence over company management.​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b="1" dirty="0"/>
              <a:t>Not every IPO is successful </a:t>
            </a:r>
            <a:r>
              <a:rPr lang="en-US" sz="2000" dirty="0"/>
              <a:t>- Investors should carefully study the prospectus and company fundamentals</a:t>
            </a:r>
          </a:p>
          <a:p>
            <a:pPr>
              <a:lnSpc>
                <a:spcPct val="150000"/>
              </a:lnSpc>
            </a:pPr>
            <a:endParaRPr lang="en-IN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27B1FD-1E88-C9F4-241B-80D83CCDF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B8923-622D-4042-83D5-F58F36E54171}" type="slidenum">
              <a:rPr lang="en-IN" smtClean="0"/>
              <a:t>26</a:t>
            </a:fld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0DD54C3-B54B-E731-131E-6BEF803E7C71}"/>
              </a:ext>
            </a:extLst>
          </p:cNvPr>
          <p:cNvSpPr/>
          <p:nvPr/>
        </p:nvSpPr>
        <p:spPr>
          <a:xfrm>
            <a:off x="46008" y="0"/>
            <a:ext cx="12192000" cy="694944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b="1" dirty="0"/>
          </a:p>
          <a:p>
            <a:r>
              <a:rPr lang="en-US" sz="2800" b="1" dirty="0"/>
              <a:t>Disadvantages  of IPOs</a:t>
            </a:r>
            <a:br>
              <a:rPr lang="en-US" sz="2800" b="1" dirty="0"/>
            </a:b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97334398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E22617B-7BE9-68A3-637F-87786FB0B70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17585" y="1144438"/>
                <a:ext cx="11225841" cy="5106837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2000" dirty="0"/>
                  <a:t>IPO underpricing occurs when the offer price of a stock during an Initial Public Offering (IPO) is set below its market value, resulting in the stock’s price rising significantly on the first day of trading and leading to a </a:t>
                </a:r>
                <a:r>
                  <a:rPr lang="en-US" sz="2000" b="1" dirty="0"/>
                  <a:t>“listing gain” </a:t>
                </a:r>
                <a:r>
                  <a:rPr lang="en-US" sz="2000" dirty="0"/>
                  <a:t>for those who were allocated shares at the IPO price.</a:t>
                </a:r>
              </a:p>
              <a:p>
                <a:pPr>
                  <a:lnSpc>
                    <a:spcPct val="150000"/>
                  </a:lnSpc>
                </a:pPr>
                <a:r>
                  <a:rPr lang="en-IN" sz="2000" dirty="0"/>
                  <a:t>It is typically measured as the percentage difference between the first-day closing price and the offer price, calculated as: </a:t>
                </a:r>
                <a14:m>
                  <m:oMath xmlns:m="http://schemas.openxmlformats.org/officeDocument/2006/math"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       </m:t>
                    </m:r>
                    <m:r>
                      <m:rPr>
                        <m:nor/>
                      </m:rPr>
                      <a:rPr lang="en-IN" sz="2000" b="1"/>
                      <m:t>Underpricing</m:t>
                    </m:r>
                    <m:r>
                      <m:rPr>
                        <m:nor/>
                      </m:rPr>
                      <a:rPr lang="en-IN" sz="2000" b="1"/>
                      <m:t> (%)</m:t>
                    </m:r>
                    <m:r>
                      <a:rPr lang="en-IN" sz="200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ar-AE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2000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ar-AE" sz="20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r>
                          <a:rPr lang="ar-AE" sz="200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ar-AE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2000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ar-AE" sz="200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ar-AE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2000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ar-AE" sz="200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  <m:r>
                      <a:rPr lang="ar-AE" sz="2000">
                        <a:latin typeface="Cambria Math" panose="02040503050406030204" pitchFamily="18" charset="0"/>
                      </a:rPr>
                      <m:t>×</m:t>
                    </m:r>
                    <m:r>
                      <a:rPr lang="ar-AE" sz="2000">
                        <a:latin typeface="Cambria Math" panose="02040503050406030204" pitchFamily="18" charset="0"/>
                      </a:rPr>
                      <m:t>100</m:t>
                    </m:r>
                  </m:oMath>
                </a14:m>
                <a:endParaRPr lang="en-IN" sz="2000" dirty="0"/>
              </a:p>
              <a:p>
                <a:pPr>
                  <a:lnSpc>
                    <a:spcPct val="150000"/>
                  </a:lnSpc>
                </a:pPr>
                <a:r>
                  <a:rPr lang="en-IN" sz="2000" b="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ar-AE" sz="2000" dirty="0"/>
                  <a:t> = </a:t>
                </a:r>
                <a:r>
                  <a:rPr lang="en-IN" sz="2000" dirty="0"/>
                  <a:t>Market price at the end of the first trading day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ar-AE" sz="200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ar-AE" sz="2000" dirty="0"/>
                  <a:t> = </a:t>
                </a:r>
                <a:r>
                  <a:rPr lang="en-IN" sz="2000" dirty="0"/>
                  <a:t>IPO offer (issue) price​</a:t>
                </a:r>
              </a:p>
              <a:p>
                <a:pPr>
                  <a:lnSpc>
                    <a:spcPct val="150000"/>
                  </a:lnSpc>
                </a:pPr>
                <a:r>
                  <a:rPr lang="en-IN" sz="2000" dirty="0"/>
                  <a:t>For example, if a company issues shares at ₹100 and the price closes at ₹160 on listing day, the IPO is underpriced by 60</a:t>
                </a:r>
              </a:p>
              <a:p>
                <a:pPr>
                  <a:lnSpc>
                    <a:spcPct val="170000"/>
                  </a:lnSpc>
                </a:pPr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E22617B-7BE9-68A3-637F-87786FB0B70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17585" y="1144438"/>
                <a:ext cx="11225841" cy="5106837"/>
              </a:xfrm>
              <a:blipFill>
                <a:blip r:embed="rId2"/>
                <a:stretch>
                  <a:fillRect l="-489" r="-70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98B2F2-C56D-1BDB-E3EF-502E83043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B8923-622D-4042-83D5-F58F36E54171}" type="slidenum">
              <a:rPr lang="en-IN" smtClean="0"/>
              <a:t>27</a:t>
            </a:fld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91A1CCE-FDA2-B75F-EC9E-F96EA1472B3C}"/>
              </a:ext>
            </a:extLst>
          </p:cNvPr>
          <p:cNvSpPr/>
          <p:nvPr/>
        </p:nvSpPr>
        <p:spPr>
          <a:xfrm>
            <a:off x="46008" y="0"/>
            <a:ext cx="12192000" cy="694944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000" b="1" dirty="0"/>
          </a:p>
          <a:p>
            <a:r>
              <a:rPr lang="en-US" sz="2800" b="1" dirty="0"/>
              <a:t> Underpricing of IPO</a:t>
            </a:r>
            <a:br>
              <a:rPr lang="en-US" sz="2800" b="1" dirty="0"/>
            </a:b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14366720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61579A-A254-D245-1F17-F75CCDD404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1064" y="833888"/>
            <a:ext cx="11438627" cy="5522462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b="1" dirty="0"/>
              <a:t>Why does  underpricing happen?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000" dirty="0"/>
              <a:t>Underpricing can be intentional (strategically set by the issuer and underwriters) or unintentional (arising from misjudging market demand).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000" dirty="0"/>
              <a:t> </a:t>
            </a:r>
            <a:r>
              <a:rPr lang="en-US" sz="2000" b="1" dirty="0"/>
              <a:t>Information Asymmetry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There is often a gap between the information known to the company/underwriters and what investors know and to attract uninformed retail investors who may perceive the IPO as risky, underwriters set a lower offer price to ensure oversubscription and the successful selling of all shares.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000" b="1" dirty="0"/>
              <a:t>Winner’s Curse Theory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Sophisticated (informed) investors avoid overpriced IPOs, while less informed investors end up investing more in poor-quality IPOs the “winners” in allocation, but the “losers” in return.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A6761A-A636-5D8B-16D6-71A9C5D43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B8923-622D-4042-83D5-F58F36E54171}" type="slidenum">
              <a:rPr lang="en-IN" smtClean="0"/>
              <a:t>28</a:t>
            </a:fld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CEA97B5-6D75-07A8-5677-C9C437C1B817}"/>
              </a:ext>
            </a:extLst>
          </p:cNvPr>
          <p:cNvSpPr/>
          <p:nvPr/>
        </p:nvSpPr>
        <p:spPr>
          <a:xfrm>
            <a:off x="46008" y="0"/>
            <a:ext cx="12192000" cy="694944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b="1" dirty="0"/>
          </a:p>
          <a:p>
            <a:r>
              <a:rPr lang="en-US" sz="2800" b="1" dirty="0"/>
              <a:t> Underpricing of IPO</a:t>
            </a:r>
            <a:br>
              <a:rPr lang="en-US" sz="2800" b="1" dirty="0"/>
            </a:b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0418978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81973D-8739-4260-8D50-144A3C3A3C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6596" y="1058174"/>
            <a:ext cx="10767204" cy="5118789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200" b="1" dirty="0"/>
              <a:t>Risk Compensation</a:t>
            </a:r>
          </a:p>
          <a:p>
            <a:pPr>
              <a:lnSpc>
                <a:spcPct val="150000"/>
              </a:lnSpc>
            </a:pPr>
            <a:r>
              <a:rPr lang="en-US" sz="2200" dirty="0"/>
              <a:t>Since newly listed companies have no previous market track record, underpricing acts as compensation for investors’ uncertainty or risk-taking.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200" b="1" dirty="0"/>
              <a:t> Agency Conflicts</a:t>
            </a:r>
          </a:p>
          <a:p>
            <a:pPr>
              <a:lnSpc>
                <a:spcPct val="150000"/>
              </a:lnSpc>
            </a:pPr>
            <a:r>
              <a:rPr lang="en-US" sz="2200" dirty="0"/>
              <a:t>Underwriters might prefer slight underpricing because it helps ensure full subscription (making their job easier) and can increase trading volume and their commission fees.​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200" b="1" dirty="0"/>
              <a:t>Legal or Market Strategy</a:t>
            </a:r>
          </a:p>
          <a:p>
            <a:pPr>
              <a:lnSpc>
                <a:spcPct val="150000"/>
              </a:lnSpc>
            </a:pPr>
            <a:r>
              <a:rPr lang="en-US" sz="2200" dirty="0"/>
              <a:t>Setting a lower price reduces the risk of lawsuits by early investors claiming overpricing.</a:t>
            </a:r>
          </a:p>
          <a:p>
            <a:pPr>
              <a:lnSpc>
                <a:spcPct val="150000"/>
              </a:lnSpc>
            </a:pPr>
            <a:r>
              <a:rPr lang="en-US" sz="2200" dirty="0"/>
              <a:t>In volatile or weak markets, underpricing encourages participation despite uncertainty.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57D0DB-C005-AFA1-7DD0-DDF1BF3AB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B8923-622D-4042-83D5-F58F36E54171}" type="slidenum">
              <a:rPr lang="en-IN" smtClean="0"/>
              <a:t>29</a:t>
            </a:fld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F080A12-4650-68D7-ADCD-C2326E2C60CF}"/>
              </a:ext>
            </a:extLst>
          </p:cNvPr>
          <p:cNvSpPr/>
          <p:nvPr/>
        </p:nvSpPr>
        <p:spPr>
          <a:xfrm>
            <a:off x="46008" y="0"/>
            <a:ext cx="12192000" cy="694944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000" b="1" dirty="0"/>
          </a:p>
          <a:p>
            <a:r>
              <a:rPr lang="en-US" sz="2800" b="1" dirty="0"/>
              <a:t> Underpricing of IPO</a:t>
            </a:r>
            <a:br>
              <a:rPr lang="en-US" sz="2800" b="1" dirty="0"/>
            </a:b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23048670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1001B5-A296-683D-DC2C-9BD04FF735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8355" y="1311215"/>
            <a:ext cx="10715445" cy="4865748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sz="2000" b="1" dirty="0"/>
              <a:t>For companies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Ensures full subscription and successful market entry.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Builds goodwill, visibility, and positive media coverage.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Reduces legal and reputational risks from failed issues.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000" b="1" dirty="0"/>
              <a:t>For Investors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Creates instant gains (“listing profit”) if the share price rises post-listing.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Boosts investor confidence in the market for future IPOs</a:t>
            </a:r>
            <a:r>
              <a:rPr lang="en-US" dirty="0"/>
              <a:t>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05F4BC-10F9-1AD8-C57B-E12121545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B8923-622D-4042-83D5-F58F36E54171}" type="slidenum">
              <a:rPr lang="en-IN" smtClean="0"/>
              <a:t>30</a:t>
            </a:fld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D047513-F7E6-0D04-6472-AA4BB56C1E0E}"/>
              </a:ext>
            </a:extLst>
          </p:cNvPr>
          <p:cNvSpPr/>
          <p:nvPr/>
        </p:nvSpPr>
        <p:spPr>
          <a:xfrm>
            <a:off x="46008" y="0"/>
            <a:ext cx="12192000" cy="694944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000" b="1" dirty="0"/>
          </a:p>
          <a:p>
            <a:r>
              <a:rPr lang="en-US" sz="2800" b="1" dirty="0"/>
              <a:t>  Benefits of Underpricing of IPO</a:t>
            </a:r>
            <a:br>
              <a:rPr lang="en-US" sz="2800" b="1" dirty="0"/>
            </a:b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07056423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36A41C-D62B-46E3-3106-8CB2BBD485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2091" y="1236453"/>
            <a:ext cx="10801709" cy="4940510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000" b="1" dirty="0"/>
              <a:t>For companies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Money left on the table – by pricing too low, firms raise less capital than they could have.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May suggest weak internal confidence in valuation.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Temporary trading enthusiasm may fade, leading to price correction later.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000" b="1" dirty="0"/>
              <a:t>For investors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Encourages speculation and short-termism rather than long-term investment.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Skews valuation signals for subsequent offerings.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7F535C-F171-67AB-4370-7B2A342DB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B8923-622D-4042-83D5-F58F36E54171}" type="slidenum">
              <a:rPr lang="en-IN" smtClean="0"/>
              <a:t>31</a:t>
            </a:fld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84147A5-FECC-0503-C332-E5E60636887C}"/>
              </a:ext>
            </a:extLst>
          </p:cNvPr>
          <p:cNvSpPr/>
          <p:nvPr/>
        </p:nvSpPr>
        <p:spPr>
          <a:xfrm>
            <a:off x="46008" y="0"/>
            <a:ext cx="12192000" cy="694944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000" b="1" dirty="0"/>
          </a:p>
          <a:p>
            <a:r>
              <a:rPr lang="en-US" sz="2800" b="1" dirty="0"/>
              <a:t>Disadvantages of Underpricing of IPO</a:t>
            </a:r>
            <a:br>
              <a:rPr lang="en-US" sz="2800" b="1" dirty="0"/>
            </a:b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77776860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F4D92A-B847-0632-7DDF-8AD6ECB731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6341" y="1196196"/>
            <a:ext cx="10807460" cy="498076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b="1" dirty="0"/>
              <a:t>Reasons behind raising capital by a company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To finance business expansion, enter new markets, or launch new products.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To invest in research and development, fostering innovation and long-term growth.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To acquire fixed assets such as equipment, property, and inventory needed for operations.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To increase working capital for smooth daily operations and meet short-term obligations.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To restructure existing debt or improve the financial stability of the business.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To fund mergers, acquisitions, or strategic initiatives that enhance competitiveness.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12E265-F2D9-CE21-AAF2-DB61227227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B8923-622D-4042-83D5-F58F36E54171}" type="slidenum">
              <a:rPr lang="en-IN" smtClean="0"/>
              <a:t>32</a:t>
            </a:fld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952CB7C-CCC9-14DD-918D-C28C5BEAB9FA}"/>
              </a:ext>
            </a:extLst>
          </p:cNvPr>
          <p:cNvSpPr/>
          <p:nvPr/>
        </p:nvSpPr>
        <p:spPr>
          <a:xfrm>
            <a:off x="46008" y="0"/>
            <a:ext cx="12192000" cy="694944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000" b="1" dirty="0"/>
          </a:p>
          <a:p>
            <a:r>
              <a:rPr lang="en-US" sz="2800" b="1" dirty="0"/>
              <a:t>  Methods of raising capital</a:t>
            </a:r>
            <a:br>
              <a:rPr lang="en-US" sz="2800" b="1" dirty="0"/>
            </a:b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8444140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FA9D94-9F2A-366F-79A6-6CEC1DCF6C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589" y="1173193"/>
            <a:ext cx="10606177" cy="4589702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000" b="1" dirty="0"/>
              <a:t>Equity Financing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Selling ownership shares to investors. Examples include venture capital, angel investors, equity crowdfunding, and IPOs. It does not require repayment but dilutes ownership.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000" b="1" dirty="0"/>
              <a:t>Debt Financing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Borrowing funds from banks, financial institutions, or issuing bonds. Debt must be repaid with interest, preserving ownership.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000" b="1" dirty="0"/>
              <a:t>Hybrid Financing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Combines debt and equity features, such as convertible debentures or preferred shares.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BBD1DA-851A-7A97-FF2F-DEE267635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B8923-622D-4042-83D5-F58F36E54171}" type="slidenum">
              <a:rPr lang="en-IN" smtClean="0"/>
              <a:t>33</a:t>
            </a:fld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A30D10D-FFCC-85B9-422E-3BB33D62C7BA}"/>
              </a:ext>
            </a:extLst>
          </p:cNvPr>
          <p:cNvSpPr/>
          <p:nvPr/>
        </p:nvSpPr>
        <p:spPr>
          <a:xfrm>
            <a:off x="46008" y="0"/>
            <a:ext cx="12192000" cy="694944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000" b="1" dirty="0"/>
          </a:p>
          <a:p>
            <a:r>
              <a:rPr lang="en-US" sz="2800" b="1" dirty="0"/>
              <a:t>  Methods of raising capital</a:t>
            </a:r>
            <a:br>
              <a:rPr lang="en-US" sz="2800" b="1" dirty="0"/>
            </a:b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75620026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7025BB-6D26-663D-66FF-A14321B02E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3592" y="1132936"/>
            <a:ext cx="10790209" cy="5044027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sz="2000" b="1" dirty="0"/>
              <a:t>Internal Financing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Using retained earnings or owner’s funds without outside contribution.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000" b="1" dirty="0"/>
              <a:t>Alternative Methods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Crowdfunding, grants, government schemes, and revenue-based financing offer flexible options for startups and SMEs.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000" b="1" dirty="0"/>
              <a:t>Rights Issues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Existing shareholders are offered additional shares to raise more capital without going public.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06541B-A9A1-A5E1-AA8D-B002D151A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B8923-622D-4042-83D5-F58F36E54171}" type="slidenum">
              <a:rPr lang="en-IN" smtClean="0"/>
              <a:t>34</a:t>
            </a:fld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FFCE590-0673-CACC-9EB7-CC4B9D00ABA2}"/>
              </a:ext>
            </a:extLst>
          </p:cNvPr>
          <p:cNvSpPr/>
          <p:nvPr/>
        </p:nvSpPr>
        <p:spPr>
          <a:xfrm>
            <a:off x="46008" y="0"/>
            <a:ext cx="12192000" cy="694944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000" b="1" dirty="0"/>
          </a:p>
          <a:p>
            <a:r>
              <a:rPr lang="en-US" sz="2800" b="1" dirty="0"/>
              <a:t>  Methods of raising capital</a:t>
            </a:r>
            <a:br>
              <a:rPr lang="en-US" sz="2800" b="1" dirty="0"/>
            </a:b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4101665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DB17CF-6239-8BFC-F3FA-005CA5872A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864" y="1127186"/>
            <a:ext cx="10657936" cy="504977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b="1" dirty="0"/>
              <a:t>Information asymmetry &amp; hype</a:t>
            </a:r>
            <a:r>
              <a:rPr lang="en-US" sz="2000" dirty="0"/>
              <a:t> - Retail investors may lack the full picture.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b="1" dirty="0"/>
              <a:t>Overvaluation</a:t>
            </a:r>
            <a:r>
              <a:rPr lang="en-US" sz="2000" dirty="0"/>
              <a:t> - Pricing driven by demand rather than fundamentals.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b="1" dirty="0"/>
              <a:t>Lock-up expirations</a:t>
            </a:r>
            <a:r>
              <a:rPr lang="en-US" sz="2000" dirty="0"/>
              <a:t> can trigger selling pressure.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b="1" dirty="0"/>
              <a:t>Post-IPO dilution</a:t>
            </a:r>
            <a:r>
              <a:rPr lang="en-US" sz="2000" dirty="0"/>
              <a:t> from follow-on offerings or option exercises.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b="1" dirty="0"/>
              <a:t>Operational risks</a:t>
            </a:r>
            <a:r>
              <a:rPr lang="en-US" sz="2000" dirty="0"/>
              <a:t> disclosed in prospectus.</a:t>
            </a:r>
          </a:p>
          <a:p>
            <a:pPr>
              <a:lnSpc>
                <a:spcPct val="150000"/>
              </a:lnSpc>
            </a:pPr>
            <a:endParaRPr lang="en-IN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972D75-436A-293B-6563-9A3CC2A0E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B8923-622D-4042-83D5-F58F36E54171}" type="slidenum">
              <a:rPr lang="en-IN" smtClean="0"/>
              <a:t>35</a:t>
            </a:fld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5156C11-2240-99B6-16EA-298A27F8FF75}"/>
              </a:ext>
            </a:extLst>
          </p:cNvPr>
          <p:cNvSpPr/>
          <p:nvPr/>
        </p:nvSpPr>
        <p:spPr>
          <a:xfrm>
            <a:off x="46008" y="0"/>
            <a:ext cx="12192000" cy="694944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b="1" dirty="0"/>
          </a:p>
          <a:p>
            <a:r>
              <a:rPr lang="en-US" sz="2800" b="1" dirty="0"/>
              <a:t>Major risks to be remembered</a:t>
            </a:r>
            <a:br>
              <a:rPr lang="en-US" sz="2800" b="1" dirty="0"/>
            </a:b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76984156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CD89A2-157B-E420-BB47-9543FD2CDE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578" y="1115683"/>
            <a:ext cx="11461630" cy="5319623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000" b="1" dirty="0"/>
              <a:t>Meaning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000" dirty="0"/>
              <a:t>IPO grading is the process of evaluating a company's fundamentals when planning to go public and assigning it a grade </a:t>
            </a:r>
            <a:r>
              <a:rPr lang="en-US" sz="2000" b="1" dirty="0"/>
              <a:t>(on a scale of 1 to 5) </a:t>
            </a:r>
            <a:r>
              <a:rPr lang="en-US" sz="2000" dirty="0"/>
              <a:t>by a credit rating agency approved by the</a:t>
            </a:r>
            <a:r>
              <a:rPr lang="en-US" sz="2000" b="1" dirty="0"/>
              <a:t> Securities and Exchange Board of India (SEBI).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It helps investors understand the quality of the company and its prospects before investing.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000" b="1" dirty="0"/>
              <a:t>Purpose of IPO Grading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To </a:t>
            </a:r>
            <a:r>
              <a:rPr lang="en-US" sz="2000" b="1" dirty="0"/>
              <a:t>guide investors</a:t>
            </a:r>
            <a:r>
              <a:rPr lang="en-US" sz="2000" dirty="0"/>
              <a:t> (especially retail investors) about the </a:t>
            </a:r>
            <a:r>
              <a:rPr lang="en-US" sz="2000" b="1" dirty="0"/>
              <a:t>fundamentals of the company</a:t>
            </a:r>
            <a:r>
              <a:rPr lang="en-US" sz="2000" dirty="0"/>
              <a:t>, not the market price.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To </a:t>
            </a:r>
            <a:r>
              <a:rPr lang="en-US" sz="2000" b="1" dirty="0"/>
              <a:t>enhance transparency and confidence</a:t>
            </a:r>
            <a:r>
              <a:rPr lang="en-US" sz="2000" dirty="0"/>
              <a:t> in the IPO market.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To provide an </a:t>
            </a:r>
            <a:r>
              <a:rPr lang="en-US" sz="2000" b="1" dirty="0"/>
              <a:t>independent, third-party opinion</a:t>
            </a:r>
            <a:r>
              <a:rPr lang="en-US" sz="2000" dirty="0"/>
              <a:t> about the company's financial and managerial strength.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40DCBD-1F5F-C019-90BE-E99B13ECF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B8923-622D-4042-83D5-F58F36E54171}" type="slidenum">
              <a:rPr lang="en-IN" smtClean="0"/>
              <a:t>36</a:t>
            </a:fld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DED6D2B-F4A6-CF07-B88C-F65BF24F1B42}"/>
              </a:ext>
            </a:extLst>
          </p:cNvPr>
          <p:cNvSpPr/>
          <p:nvPr/>
        </p:nvSpPr>
        <p:spPr>
          <a:xfrm>
            <a:off x="46008" y="0"/>
            <a:ext cx="12192000" cy="694944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000" b="1" dirty="0"/>
          </a:p>
          <a:p>
            <a:r>
              <a:rPr lang="en-US" sz="2800" b="1" dirty="0"/>
              <a:t>  IPO grading</a:t>
            </a:r>
            <a:br>
              <a:rPr lang="en-US" sz="2800" b="1" dirty="0"/>
            </a:b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80906802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9DCF22C8-C9B4-AE78-E239-B35F1FDCAFA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8937099"/>
              </p:ext>
            </p:extLst>
          </p:nvPr>
        </p:nvGraphicFramePr>
        <p:xfrm>
          <a:off x="851140" y="2904014"/>
          <a:ext cx="3505200" cy="219456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175714496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23893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71724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04881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04292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54706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4527627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DA7596-9D78-DB8A-FED8-71940223F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B8923-622D-4042-83D5-F58F36E54171}" type="slidenum">
              <a:rPr lang="en-IN" smtClean="0"/>
              <a:t>37</a:t>
            </a:fld>
            <a:endParaRPr lang="en-IN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8B3E3D2-E97B-2EEF-A62F-E041517C09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3473190"/>
              </p:ext>
            </p:extLst>
          </p:nvPr>
        </p:nvGraphicFramePr>
        <p:xfrm>
          <a:off x="1236453" y="1800046"/>
          <a:ext cx="9891622" cy="4088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7079">
                  <a:extLst>
                    <a:ext uri="{9D8B030D-6E8A-4147-A177-3AD203B41FA5}">
                      <a16:colId xmlns:a16="http://schemas.microsoft.com/office/drawing/2014/main" val="1040834179"/>
                    </a:ext>
                  </a:extLst>
                </a:gridCol>
                <a:gridCol w="4123475">
                  <a:extLst>
                    <a:ext uri="{9D8B030D-6E8A-4147-A177-3AD203B41FA5}">
                      <a16:colId xmlns:a16="http://schemas.microsoft.com/office/drawing/2014/main" val="1371797741"/>
                    </a:ext>
                  </a:extLst>
                </a:gridCol>
                <a:gridCol w="3731068">
                  <a:extLst>
                    <a:ext uri="{9D8B030D-6E8A-4147-A177-3AD203B41FA5}">
                      <a16:colId xmlns:a16="http://schemas.microsoft.com/office/drawing/2014/main" val="245612843"/>
                    </a:ext>
                  </a:extLst>
                </a:gridCol>
              </a:tblGrid>
              <a:tr h="4306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Grade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Meaning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Interpretation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83253809"/>
                  </a:ext>
                </a:extLst>
              </a:tr>
              <a:tr h="7316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Grade 5/5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Strong fundamentals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Excellent company prospects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15719767"/>
                  </a:ext>
                </a:extLst>
              </a:tr>
              <a:tr h="7316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Grade 4/5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Above-average fundamentals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Good performance expected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53788985"/>
                  </a:ext>
                </a:extLst>
              </a:tr>
              <a:tr h="7316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Grade 3/5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Average fundamentals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Moderate investment quality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2732168"/>
                  </a:ext>
                </a:extLst>
              </a:tr>
              <a:tr h="7316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Grade 2/5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Below-average fundamentals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Weak fundamentals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64993772"/>
                  </a:ext>
                </a:extLst>
              </a:tr>
              <a:tr h="7316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Grade 1/5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Poor fundamentals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High risk, not recommended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45652587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081BF577-4A51-6B4A-5420-2489D6501484}"/>
              </a:ext>
            </a:extLst>
          </p:cNvPr>
          <p:cNvSpPr/>
          <p:nvPr/>
        </p:nvSpPr>
        <p:spPr>
          <a:xfrm>
            <a:off x="46008" y="0"/>
            <a:ext cx="12192000" cy="694944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000" b="1" dirty="0"/>
          </a:p>
          <a:p>
            <a:r>
              <a:rPr lang="en-US" sz="2800" b="1" dirty="0"/>
              <a:t>  IPO grading</a:t>
            </a:r>
            <a:br>
              <a:rPr lang="en-US" sz="2800" b="1" dirty="0"/>
            </a:b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32865570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548B51-BE28-52CA-D2BA-E5D366DCDB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4581" y="1017917"/>
            <a:ext cx="11565147" cy="5338434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sz="2900" b="1" dirty="0"/>
              <a:t>IPO Grading Process (Step-by-Step)</a:t>
            </a:r>
          </a:p>
          <a:p>
            <a:pPr>
              <a:lnSpc>
                <a:spcPct val="160000"/>
              </a:lnSpc>
            </a:pPr>
            <a:r>
              <a:rPr lang="en-US" sz="2900" b="1" dirty="0"/>
              <a:t>Application for </a:t>
            </a:r>
            <a:r>
              <a:rPr lang="en-US" sz="3200" b="1" dirty="0"/>
              <a:t>grading</a:t>
            </a:r>
            <a:r>
              <a:rPr lang="en-US" sz="2900" b="1" dirty="0"/>
              <a:t>: </a:t>
            </a:r>
            <a:r>
              <a:rPr lang="en-US" sz="2900" dirty="0"/>
              <a:t>The issuing company or lead manager applies to a SEBI-registered credit rating agency.</a:t>
            </a:r>
          </a:p>
          <a:p>
            <a:pPr>
              <a:lnSpc>
                <a:spcPct val="160000"/>
              </a:lnSpc>
            </a:pPr>
            <a:r>
              <a:rPr lang="en-US" sz="2900" b="1" dirty="0"/>
              <a:t>Information sharing: </a:t>
            </a:r>
            <a:r>
              <a:rPr lang="en-US" sz="2900" dirty="0"/>
              <a:t>The company submits detailed documents — financial statements, business model, management structure, risk factors, and industry analysis.</a:t>
            </a:r>
          </a:p>
          <a:p>
            <a:pPr>
              <a:lnSpc>
                <a:spcPct val="160000"/>
              </a:lnSpc>
            </a:pPr>
            <a:r>
              <a:rPr lang="en-US" sz="2900" b="1" dirty="0"/>
              <a:t>Evaluation:</a:t>
            </a:r>
            <a:endParaRPr lang="en-US" sz="2900" dirty="0"/>
          </a:p>
          <a:p>
            <a:pPr marL="457200" lvl="1" indent="0">
              <a:lnSpc>
                <a:spcPct val="160000"/>
              </a:lnSpc>
              <a:buNone/>
            </a:pPr>
            <a:r>
              <a:rPr lang="en-US" sz="2900" dirty="0"/>
              <a:t>The rating agency analyzes the company based on</a:t>
            </a:r>
          </a:p>
          <a:p>
            <a:pPr lvl="2">
              <a:lnSpc>
                <a:spcPct val="160000"/>
              </a:lnSpc>
            </a:pPr>
            <a:r>
              <a:rPr lang="en-US" sz="2900" dirty="0"/>
              <a:t>Business prospects  and Financial performance</a:t>
            </a:r>
          </a:p>
          <a:p>
            <a:pPr lvl="2">
              <a:lnSpc>
                <a:spcPct val="160000"/>
              </a:lnSpc>
            </a:pPr>
            <a:r>
              <a:rPr lang="en-US" sz="2900" dirty="0"/>
              <a:t>Corporate governance and Management quality</a:t>
            </a:r>
          </a:p>
          <a:p>
            <a:pPr lvl="2">
              <a:lnSpc>
                <a:spcPct val="160000"/>
              </a:lnSpc>
            </a:pPr>
            <a:r>
              <a:rPr lang="en-US" sz="2900" dirty="0"/>
              <a:t>Legal and regulatory compliance</a:t>
            </a:r>
          </a:p>
          <a:p>
            <a:pPr lvl="2">
              <a:lnSpc>
                <a:spcPct val="160000"/>
              </a:lnSpc>
            </a:pPr>
            <a:r>
              <a:rPr lang="en-US" sz="2900" dirty="0"/>
              <a:t>Competitive environment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2DB490-D9A5-F593-50DB-4B1E4A967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B8923-622D-4042-83D5-F58F36E54171}" type="slidenum">
              <a:rPr lang="en-IN" smtClean="0"/>
              <a:t>38</a:t>
            </a:fld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EA20EDD-0083-79AC-D0C7-15453AC7B4B6}"/>
              </a:ext>
            </a:extLst>
          </p:cNvPr>
          <p:cNvSpPr/>
          <p:nvPr/>
        </p:nvSpPr>
        <p:spPr>
          <a:xfrm>
            <a:off x="46008" y="0"/>
            <a:ext cx="12192000" cy="694944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000" b="1" dirty="0"/>
          </a:p>
          <a:p>
            <a:r>
              <a:rPr lang="en-US" sz="2800" b="1" dirty="0"/>
              <a:t>  IPO grading</a:t>
            </a:r>
            <a:br>
              <a:rPr lang="en-US" sz="2800" b="1" dirty="0"/>
            </a:b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8076721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8044D0-32ED-CCA1-525C-DDA53B7C27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1102" y="1115682"/>
            <a:ext cx="11312106" cy="5240667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en-US" sz="2000" b="1" dirty="0"/>
              <a:t>Assigning Grade: </a:t>
            </a:r>
            <a:r>
              <a:rPr lang="en-US" sz="2000" dirty="0"/>
              <a:t>The agency assigns a grade (1 to 5) reflecting the company’s fundamentals.</a:t>
            </a:r>
          </a:p>
          <a:p>
            <a:pPr>
              <a:lnSpc>
                <a:spcPct val="150000"/>
              </a:lnSpc>
            </a:pPr>
            <a:r>
              <a:rPr lang="en-US" sz="2000" b="1" dirty="0"/>
              <a:t>Disclosure: </a:t>
            </a:r>
            <a:r>
              <a:rPr lang="en-US" sz="2000" dirty="0"/>
              <a:t>The grading and detailed rationale are disclosed in the </a:t>
            </a:r>
            <a:r>
              <a:rPr lang="en-US" sz="2000" b="1" dirty="0"/>
              <a:t>Red Herring Prospectus (RHP)</a:t>
            </a:r>
            <a:r>
              <a:rPr lang="en-US" sz="2000" dirty="0"/>
              <a:t> and filed with </a:t>
            </a:r>
            <a:r>
              <a:rPr lang="en-US" sz="2000" b="1" dirty="0"/>
              <a:t>SEBI</a:t>
            </a:r>
            <a:r>
              <a:rPr lang="en-US" sz="2000" dirty="0"/>
              <a:t> and the </a:t>
            </a:r>
            <a:r>
              <a:rPr lang="en-US" sz="2000" b="1" dirty="0"/>
              <a:t>stock exchanges</a:t>
            </a:r>
            <a:r>
              <a:rPr lang="en-US" sz="2000" dirty="0"/>
              <a:t>.</a:t>
            </a:r>
          </a:p>
          <a:p>
            <a:pPr>
              <a:lnSpc>
                <a:spcPct val="150000"/>
              </a:lnSpc>
            </a:pPr>
            <a:r>
              <a:rPr lang="en-US" sz="2000" b="1" dirty="0"/>
              <a:t>Publication: </a:t>
            </a:r>
            <a:r>
              <a:rPr lang="en-US" sz="2000" dirty="0"/>
              <a:t>The grading is published in newspapers and on the agency’s and company’s websites for investor awareness.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000" b="1" dirty="0"/>
              <a:t>Agencies Authorized by SEBI to Grade IPOs:</a:t>
            </a:r>
          </a:p>
          <a:p>
            <a:pPr>
              <a:lnSpc>
                <a:spcPct val="150000"/>
              </a:lnSpc>
            </a:pPr>
            <a:r>
              <a:rPr lang="en-US" sz="2000" b="1" dirty="0"/>
              <a:t>CRISIL</a:t>
            </a:r>
            <a:r>
              <a:rPr lang="en-US" sz="2000" dirty="0"/>
              <a:t> (Credit Rating Information Services of India Ltd.)</a:t>
            </a:r>
          </a:p>
          <a:p>
            <a:pPr>
              <a:lnSpc>
                <a:spcPct val="150000"/>
              </a:lnSpc>
            </a:pPr>
            <a:r>
              <a:rPr lang="en-US" sz="2000" b="1" dirty="0"/>
              <a:t>ICRA</a:t>
            </a:r>
            <a:r>
              <a:rPr lang="en-US" sz="2000" dirty="0"/>
              <a:t> (Investment Information and Credit Rating Agency of India Ltd.)</a:t>
            </a:r>
          </a:p>
          <a:p>
            <a:pPr>
              <a:lnSpc>
                <a:spcPct val="150000"/>
              </a:lnSpc>
            </a:pPr>
            <a:r>
              <a:rPr lang="en-US" sz="2000" b="1" dirty="0"/>
              <a:t>CARE Ratings </a:t>
            </a:r>
            <a:r>
              <a:rPr lang="en-US" sz="2000" dirty="0"/>
              <a:t>(Credit Analysis and Research Limited)</a:t>
            </a:r>
          </a:p>
          <a:p>
            <a:pPr>
              <a:lnSpc>
                <a:spcPct val="150000"/>
              </a:lnSpc>
            </a:pPr>
            <a:r>
              <a:rPr lang="en-US" sz="2000" b="1" dirty="0"/>
              <a:t>Fitch India</a:t>
            </a:r>
            <a:r>
              <a:rPr lang="en-US" sz="2000" dirty="0"/>
              <a:t> (India Ratings &amp; Research)</a:t>
            </a:r>
          </a:p>
          <a:p>
            <a:pPr>
              <a:lnSpc>
                <a:spcPct val="150000"/>
              </a:lnSpc>
            </a:pPr>
            <a:endParaRPr lang="en-US" sz="2000" dirty="0"/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5F204A-FBB9-EFA3-8EEF-09B936D5E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B8923-622D-4042-83D5-F58F36E54171}" type="slidenum">
              <a:rPr lang="en-IN" smtClean="0"/>
              <a:t>39</a:t>
            </a:fld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D4F1996-C0F6-E6B5-EFBB-3C2E6B5AE106}"/>
              </a:ext>
            </a:extLst>
          </p:cNvPr>
          <p:cNvSpPr/>
          <p:nvPr/>
        </p:nvSpPr>
        <p:spPr>
          <a:xfrm>
            <a:off x="46008" y="0"/>
            <a:ext cx="12192000" cy="694944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000" b="1" dirty="0"/>
          </a:p>
          <a:p>
            <a:r>
              <a:rPr lang="en-US" sz="2800" b="1" dirty="0"/>
              <a:t>  IPO grading</a:t>
            </a:r>
            <a:br>
              <a:rPr lang="en-US" sz="2800" b="1" dirty="0"/>
            </a:b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88771749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3FDED573-E648-B0C3-EE02-0964E835023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92992206"/>
              </p:ext>
            </p:extLst>
          </p:nvPr>
        </p:nvGraphicFramePr>
        <p:xfrm>
          <a:off x="1736785" y="3797862"/>
          <a:ext cx="9995138" cy="3039662"/>
        </p:xfrm>
        <a:graphic>
          <a:graphicData uri="http://schemas.openxmlformats.org/drawingml/2006/table">
            <a:tbl>
              <a:tblPr/>
              <a:tblGrid>
                <a:gridCol w="3315696">
                  <a:extLst>
                    <a:ext uri="{9D8B030D-6E8A-4147-A177-3AD203B41FA5}">
                      <a16:colId xmlns:a16="http://schemas.microsoft.com/office/drawing/2014/main" val="2804209081"/>
                    </a:ext>
                  </a:extLst>
                </a:gridCol>
                <a:gridCol w="3339721">
                  <a:extLst>
                    <a:ext uri="{9D8B030D-6E8A-4147-A177-3AD203B41FA5}">
                      <a16:colId xmlns:a16="http://schemas.microsoft.com/office/drawing/2014/main" val="2556989930"/>
                    </a:ext>
                  </a:extLst>
                </a:gridCol>
                <a:gridCol w="3339721">
                  <a:extLst>
                    <a:ext uri="{9D8B030D-6E8A-4147-A177-3AD203B41FA5}">
                      <a16:colId xmlns:a16="http://schemas.microsoft.com/office/drawing/2014/main" val="3035244282"/>
                    </a:ext>
                  </a:extLst>
                </a:gridCol>
              </a:tblGrid>
              <a:tr h="894018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9365866"/>
                  </a:ext>
                </a:extLst>
              </a:tr>
              <a:tr h="62581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5998289"/>
                  </a:ext>
                </a:extLst>
              </a:tr>
              <a:tr h="894018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0968027"/>
                  </a:ext>
                </a:extLst>
              </a:tr>
              <a:tr h="62581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4847650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DA4A58-AA8A-E563-9E52-001AF19CE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B8923-622D-4042-83D5-F58F36E54171}" type="slidenum">
              <a:rPr lang="en-IN" smtClean="0"/>
              <a:t>40</a:t>
            </a:fld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D9DD201-52E5-1A9D-90F1-25E9E0987ABB}"/>
              </a:ext>
            </a:extLst>
          </p:cNvPr>
          <p:cNvSpPr/>
          <p:nvPr/>
        </p:nvSpPr>
        <p:spPr>
          <a:xfrm>
            <a:off x="46008" y="0"/>
            <a:ext cx="12192000" cy="694944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000" b="1" dirty="0"/>
          </a:p>
          <a:p>
            <a:r>
              <a:rPr lang="en-US" sz="2800" b="1" dirty="0"/>
              <a:t>  Major Acts Governing IPO</a:t>
            </a:r>
            <a:br>
              <a:rPr lang="en-US" sz="2800" b="1" dirty="0"/>
            </a:br>
            <a:endParaRPr lang="en-US" sz="2800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B8DFB650-89F8-7DD3-96CE-61009597CA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4267884"/>
              </p:ext>
            </p:extLst>
          </p:nvPr>
        </p:nvGraphicFramePr>
        <p:xfrm>
          <a:off x="1662024" y="1512495"/>
          <a:ext cx="9080738" cy="47153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97921">
                  <a:extLst>
                    <a:ext uri="{9D8B030D-6E8A-4147-A177-3AD203B41FA5}">
                      <a16:colId xmlns:a16="http://schemas.microsoft.com/office/drawing/2014/main" val="2507795411"/>
                    </a:ext>
                  </a:extLst>
                </a:gridCol>
                <a:gridCol w="3097921">
                  <a:extLst>
                    <a:ext uri="{9D8B030D-6E8A-4147-A177-3AD203B41FA5}">
                      <a16:colId xmlns:a16="http://schemas.microsoft.com/office/drawing/2014/main" val="3036239225"/>
                    </a:ext>
                  </a:extLst>
                </a:gridCol>
                <a:gridCol w="2884896">
                  <a:extLst>
                    <a:ext uri="{9D8B030D-6E8A-4147-A177-3AD203B41FA5}">
                      <a16:colId xmlns:a16="http://schemas.microsoft.com/office/drawing/2014/main" val="1194293680"/>
                    </a:ext>
                  </a:extLst>
                </a:gridCol>
              </a:tblGrid>
              <a:tr h="333889">
                <a:tc>
                  <a:txBody>
                    <a:bodyPr/>
                    <a:lstStyle/>
                    <a:p>
                      <a:r>
                        <a:rPr lang="en-US" dirty="0"/>
                        <a:t>Act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Year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Purpose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3406398"/>
                  </a:ext>
                </a:extLst>
              </a:tr>
              <a:tr h="112323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1" dirty="0"/>
                        <a:t>Securities Contracts (Regulation) Act</a:t>
                      </a:r>
                      <a:endParaRPr lang="en-IN" dirty="0"/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1956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Defines how companies issue shares, prepare prospectus, and obtain approvals.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5791237"/>
                  </a:ext>
                </a:extLst>
              </a:tr>
              <a:tr h="9458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SEBI Act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1992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Regulates trading and listing of securities on stock exchanges.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87448050"/>
                  </a:ext>
                </a:extLst>
              </a:tr>
              <a:tr h="13005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Depositories Act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1996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Establishes SEBI and gives it authority to regulate the securities market, including IPOs.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69488972"/>
                  </a:ext>
                </a:extLst>
              </a:tr>
              <a:tr h="84540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1" dirty="0"/>
                        <a:t>Companies Act</a:t>
                      </a:r>
                      <a:endParaRPr lang="en-IN" dirty="0"/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1" dirty="0"/>
                        <a:t>2013</a:t>
                      </a:r>
                      <a:endParaRPr lang="en-IN" dirty="0"/>
                    </a:p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Provides for dematerialization (electronic form) of shares.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284408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7896232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0E3A84A-C55F-FA33-69BD-DBB83A5780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56470"/>
            <a:ext cx="12192000" cy="1107996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en-US" sz="6600" b="1" dirty="0">
                <a:latin typeface="Arial" panose="020B0604020202020204" pitchFamily="34" charset="0"/>
                <a:cs typeface="Arial" panose="020B0604020202020204" pitchFamily="34" charset="0"/>
              </a:rPr>
              <a:t>NAMASKAR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07D4A4-3C0A-AF4E-7730-8F35D3D3579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6002" y="1488197"/>
            <a:ext cx="3199995" cy="385154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9DC40ED-3821-1CB9-F78D-43663FCC5D55}"/>
              </a:ext>
            </a:extLst>
          </p:cNvPr>
          <p:cNvSpPr txBox="1"/>
          <p:nvPr/>
        </p:nvSpPr>
        <p:spPr>
          <a:xfrm>
            <a:off x="0" y="5595256"/>
            <a:ext cx="121920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600" b="1" dirty="0">
                <a:latin typeface="Arial" panose="020B0604020202020204" pitchFamily="34" charset="0"/>
                <a:cs typeface="Arial" panose="020B0604020202020204" pitchFamily="34" charset="0"/>
              </a:rPr>
              <a:t>THANK YOU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BE2716E-4CA1-9079-7205-9D57C7447C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1F119E-D379-4BF1-8F16-5498F2FE73E1}" type="slidenum">
              <a:rPr lang="en-IN" smtClean="0"/>
              <a:t>41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4835026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2089</TotalTime>
  <Words>3279</Words>
  <Application>Microsoft Office PowerPoint</Application>
  <PresentationFormat>Widescreen</PresentationFormat>
  <Paragraphs>422</Paragraphs>
  <Slides>41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8" baseType="lpstr">
      <vt:lpstr>Arial</vt:lpstr>
      <vt:lpstr>Calibri</vt:lpstr>
      <vt:lpstr>Calibri Light</vt:lpstr>
      <vt:lpstr>Cambria Math</vt:lpstr>
      <vt:lpstr>Wingdings</vt:lpstr>
      <vt:lpstr>Office Theme</vt:lpstr>
      <vt:lpstr>Microsoft ClipArt Gallery</vt:lpstr>
      <vt:lpstr>PowerPoint Presentation</vt:lpstr>
      <vt:lpstr>Contents:</vt:lpstr>
      <vt:lpstr>Learning Outcomes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Deepak Sahu</dc:creator>
  <cp:lastModifiedBy>Subhasmita Parida</cp:lastModifiedBy>
  <cp:revision>12</cp:revision>
  <dcterms:created xsi:type="dcterms:W3CDTF">2025-10-10T13:57:59Z</dcterms:created>
  <dcterms:modified xsi:type="dcterms:W3CDTF">2025-11-07T06:18:39Z</dcterms:modified>
</cp:coreProperties>
</file>