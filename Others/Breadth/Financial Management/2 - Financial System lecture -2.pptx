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320" r:id="rId4"/>
    <p:sldId id="257" r:id="rId5"/>
    <p:sldId id="289" r:id="rId6"/>
    <p:sldId id="262" r:id="rId7"/>
    <p:sldId id="265" r:id="rId8"/>
    <p:sldId id="268" r:id="rId9"/>
    <p:sldId id="322" r:id="rId10"/>
    <p:sldId id="324" r:id="rId11"/>
    <p:sldId id="325" r:id="rId12"/>
    <p:sldId id="310" r:id="rId13"/>
    <p:sldId id="311" r:id="rId14"/>
    <p:sldId id="270" r:id="rId15"/>
    <p:sldId id="264" r:id="rId16"/>
    <p:sldId id="272" r:id="rId17"/>
    <p:sldId id="271" r:id="rId18"/>
    <p:sldId id="274" r:id="rId19"/>
    <p:sldId id="275" r:id="rId20"/>
    <p:sldId id="276" r:id="rId21"/>
    <p:sldId id="277" r:id="rId22"/>
    <p:sldId id="316" r:id="rId23"/>
    <p:sldId id="284" r:id="rId24"/>
    <p:sldId id="278" r:id="rId25"/>
    <p:sldId id="317" r:id="rId26"/>
    <p:sldId id="279" r:id="rId27"/>
    <p:sldId id="318" r:id="rId28"/>
    <p:sldId id="319" r:id="rId29"/>
    <p:sldId id="315" r:id="rId30"/>
    <p:sldId id="321" r:id="rId31"/>
    <p:sldId id="263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36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0C0EA-C8BD-49C9-9C46-A8CD2E88D28C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B5F06-7D63-4BA8-9B97-4EE8D78C3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842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96C1-6818-4BD3-A908-57FC4B8C8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D4E563-ED2E-4F59-AA93-E82DC2CA0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43534-64B5-4C6A-85E3-BFDDAB544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BD179-2711-447E-8655-3BD8FADFAD57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022C6-B7F5-4046-A0B6-3DA6932C0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E89A-06B6-4808-8144-5B982DD79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625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30EFC-3291-4B01-89F7-F03FF6033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893A-EEF0-4995-B572-B6BE1B8D8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A7C9E-B401-40E1-97BA-9F3B89563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84B8A-57FB-44A0-911B-F981738DBDE9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9CE0D-74B7-4F76-80BB-DE2F0589D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D3F04-4C16-4534-BB84-9E8044F2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DD182-70D3-4044-A671-40B11B89E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4FB95-63DE-4886-A2F2-CA4510A4B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A4367-20EB-4455-A4A5-2B721E41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820BB-A323-4004-BD16-27E98A7B29DE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0090-4415-478D-994F-CD3719ED9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8FE0E5-DE67-47C4-BF8A-41FB570D6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7935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D97C-C9E3-4CA2-8BF8-D93E5374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59B1C-D4EC-4E74-98CB-A3140FFC61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BDAE4E-CC38-4B9F-8F1E-7FD3C333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CCF11-57BA-470B-944B-68B796FA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86462-AE92-4E27-862E-EEEA0684B5C6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8A846-4131-40F0-AC1C-4E1E281A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51070-2593-4BC0-AF89-606E3C11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3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BCD6-4CC5-49EF-BB72-B48F13EA5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5846A-0135-4533-9586-C3BD3E11C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5446E-24E6-48E1-BB2D-CF642948E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C18FB-A000-4626-A86C-EF68FCA14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BC8AC1-093F-4710-BBE4-7D369AAB5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6C3EF7-15C8-4670-A3D5-B446F7AC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E5F5E-F594-4015-B868-B24C0423A22D}" type="datetime1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B8CBC-E5AA-4CF8-AB26-5FAE676B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BBD29-266E-463C-8CA6-ADB275AC6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643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8E4A-1090-4BDA-99F2-65A3E045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D60A4F-4F84-4114-9328-D1FA1401C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E324-97F8-4325-8E50-85E9C0271C69}" type="datetime1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BF9A0-5BAE-4E03-BA55-8B65D4A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9654D-E82B-4CB8-946E-9A45CA44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97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F6447-B0E4-43CB-8D8D-543327A6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BE5F8-A426-45A9-9DD0-CF8F2C5C8832}" type="datetime1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6A3766-1F91-4AFC-BE1D-4BAE294A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66BC-646A-4EFE-8266-69C48EE9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474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EC69D-472F-4B78-B366-87ED4701C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2E277-CEF6-4690-A03D-BAA4425D6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3E8A2-CB3E-473E-B588-6D4D0F881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A8293-5A5C-454A-85F6-2357CA35C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C99D8-0E3C-4195-A8F5-BE44F0231050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560C5-6FDD-4F2D-BDE1-EB6F6E456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0843E1-6C4A-443C-9D3B-8923DEE4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03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86D1-2015-46E2-96CD-12A7A111D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5D34AD-3DE0-493F-AF3A-DDA31F084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888F5C-187B-4904-94C5-175E75F5DF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5D4A7D-7835-4961-B737-F65928DC6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B92DF-833F-43C7-B672-55515B6146A1}" type="datetime1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BC846A-449C-4C4C-9B24-72C83BC6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57A82-D687-4925-A27B-FD174A2E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50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EC4F2-0590-44ED-AAB4-13B826CD2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ABA761-F45C-439D-BE2B-56CD69065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8F9AA-3546-4376-BB7A-D36C2893F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185B-9314-4578-998B-20D35898F8DC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5960B-4906-4AFF-B95F-765B6FD77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703B-E885-494A-8CDB-5586EFFD5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91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6B487D-9EDE-42BC-B421-EE1A84FFD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FF042-453E-41FB-BFA9-659F3A524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F193A-7385-4230-B6EA-1256368A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162D5-02EF-4E55-93CB-D7801A6CF433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FC21CC-D690-480E-9142-B3A7CC442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AA346-A26A-4FAC-B838-E1F1FA91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2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9E5B0-B951-415A-B1A3-9EDB8D71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AC724-585E-45C9-83E5-47983DFCE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906A-C201-4787-8DB5-F62A600DF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F9034-45B1-4727-9CB4-8F64459BCB61}" type="datetime1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6820C-C0C2-451C-989C-DCDDE52D9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068A8-2D3A-4829-B1E4-B6AE2C225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CFAE8-8E9E-42B1-9A81-DFF72612FD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5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0F455-BC79-E0BD-A932-4AAC82BBB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8847" y="808892"/>
            <a:ext cx="9920431" cy="633046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rial" panose="020B0604020202020204" pitchFamily="34" charset="0"/>
                <a:cs typeface="Arial" panose="020B0604020202020204" pitchFamily="34" charset="0"/>
              </a:rPr>
              <a:t>Overview of Financial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8BDD4-5999-D88C-CDA9-369D927A8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069" y="3722877"/>
            <a:ext cx="9920430" cy="2864545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 </a:t>
            </a:r>
          </a:p>
          <a:p>
            <a:r>
              <a:rPr lang="en-IN" dirty="0"/>
              <a:t>Financial Management(HS4L003)</a:t>
            </a:r>
          </a:p>
          <a:p>
            <a:r>
              <a:rPr lang="en-IN" dirty="0"/>
              <a:t>Dr. Naresh Chandra Sahu</a:t>
            </a:r>
          </a:p>
          <a:p>
            <a:r>
              <a:rPr lang="en-IN" dirty="0"/>
              <a:t>Associate Professor (Economics)</a:t>
            </a:r>
          </a:p>
          <a:p>
            <a:pPr>
              <a:defRPr/>
            </a:pPr>
            <a:endParaRPr lang="en-US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 of Humanities, Social Sciences &amp; Management</a:t>
            </a:r>
          </a:p>
          <a:p>
            <a:pPr>
              <a:defRPr/>
            </a:pP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Indian Institute of Technology, Bhubaneswar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611643E-496F-6C24-52CF-26048AD81153}"/>
              </a:ext>
            </a:extLst>
          </p:cNvPr>
          <p:cNvSpPr txBox="1">
            <a:spLocks/>
          </p:cNvSpPr>
          <p:nvPr/>
        </p:nvSpPr>
        <p:spPr>
          <a:xfrm>
            <a:off x="1524000" y="5116313"/>
            <a:ext cx="9144000" cy="932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30A92-D783-6F7E-FFC5-F3C3B0C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92813-3586-95C9-052B-177472216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03" y="1685301"/>
            <a:ext cx="2139370" cy="20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7BA649-F677-6CCD-20FD-994910E322B7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Outcomes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0452DF-1D39-AA1B-1E0E-EB58B9C5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5A395A-6066-9C8A-302A-E77BBDA2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55EA1E-2AFF-D4B2-6FB3-415B169F931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79937" y="770228"/>
            <a:ext cx="10328032" cy="58493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concept and role of the financial system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different financial institutions (banks, NBFCs, DFIs, etc.)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about financial markets – money, capital, debt, and forex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 various financial instruments (T-bills, bonds, CDs, etc.)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financial services like banking, insurance, and investments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how the money market operates with short-term instruments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structure of the debt and capital markets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the workings of the forex market and its types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Recognize the role of regulatory institutions in the financial system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091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9C977-AFD5-87F0-06C0-D0EEF380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A985FC-9D32-7C52-1251-CCE20DD888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9937" y="933206"/>
            <a:ext cx="10328031" cy="552335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6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financial system is a network of institutions, markets, instruments, and services that facilitate the flow of funds between savers (those who have surplus funds) and borrowers (those who need funds).</a:t>
            </a:r>
          </a:p>
          <a:p>
            <a:pPr algn="just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Objectives of a  Financial System: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Efficient Fund Allocation – Channel savings into productive investments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Capital Formation – Helps in building the capital stock of the economy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Liquidity Provision – Ensure that money is available when and where it is needed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Information Processing – Help in assessing risk and return through credit rating and analysis</a:t>
            </a:r>
          </a:p>
          <a:p>
            <a:pPr marL="342900" indent="-3429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Financial Inclusion – Ensure access to financial services for all, especially the underserved</a:t>
            </a:r>
          </a:p>
          <a:p>
            <a:pPr algn="just">
              <a:lnSpc>
                <a:spcPct val="160000"/>
              </a:lnSpc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0A9B5B-1332-D83F-5E50-A19AE8F06729}"/>
              </a:ext>
            </a:extLst>
          </p:cNvPr>
          <p:cNvSpPr/>
          <p:nvPr/>
        </p:nvSpPr>
        <p:spPr>
          <a:xfrm>
            <a:off x="679938" y="136525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System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9B8ECC-1CC1-40A1-4034-9C2DE2172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F9A2BD-E5AB-ADCE-0320-1734CC2F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8619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371EF6-44D1-49B5-B3D2-D035D2695133}"/>
              </a:ext>
            </a:extLst>
          </p:cNvPr>
          <p:cNvSpPr/>
          <p:nvPr/>
        </p:nvSpPr>
        <p:spPr>
          <a:xfrm>
            <a:off x="4500282" y="2809877"/>
            <a:ext cx="3065930" cy="1425387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System </a:t>
            </a:r>
            <a:endPara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03BA90E-B9B9-4F0E-82D8-66147F220479}"/>
              </a:ext>
            </a:extLst>
          </p:cNvPr>
          <p:cNvSpPr/>
          <p:nvPr/>
        </p:nvSpPr>
        <p:spPr>
          <a:xfrm>
            <a:off x="1711152" y="749233"/>
            <a:ext cx="2147821" cy="142538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Services </a:t>
            </a:r>
            <a:endPara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794BB6D-D0D5-42B7-A57A-34551E23C89E}"/>
              </a:ext>
            </a:extLst>
          </p:cNvPr>
          <p:cNvSpPr/>
          <p:nvPr/>
        </p:nvSpPr>
        <p:spPr>
          <a:xfrm>
            <a:off x="7590374" y="554597"/>
            <a:ext cx="2504146" cy="142538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Institutions </a:t>
            </a:r>
            <a:endPara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086A464-ABD4-42A8-B7DD-BC8B2B631AD4}"/>
              </a:ext>
            </a:extLst>
          </p:cNvPr>
          <p:cNvSpPr/>
          <p:nvPr/>
        </p:nvSpPr>
        <p:spPr>
          <a:xfrm>
            <a:off x="8411964" y="4559273"/>
            <a:ext cx="2504145" cy="142538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Market </a:t>
            </a:r>
            <a:endPara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617F794-34AC-45C6-A834-1BD9398262C3}"/>
              </a:ext>
            </a:extLst>
          </p:cNvPr>
          <p:cNvSpPr/>
          <p:nvPr/>
        </p:nvSpPr>
        <p:spPr>
          <a:xfrm>
            <a:off x="1353950" y="4559273"/>
            <a:ext cx="2223241" cy="142538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Instruments </a:t>
            </a:r>
            <a:endParaRPr lang="en-IN" sz="1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5B84C8-1948-400C-A7C2-76E1F42BA6C5}"/>
              </a:ext>
            </a:extLst>
          </p:cNvPr>
          <p:cNvCxnSpPr>
            <a:cxnSpLocks/>
          </p:cNvCxnSpPr>
          <p:nvPr/>
        </p:nvCxnSpPr>
        <p:spPr>
          <a:xfrm flipH="1" flipV="1">
            <a:off x="3534754" y="2103015"/>
            <a:ext cx="999471" cy="7391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87131EF-E9A2-4C06-A81B-900B24D91575}"/>
              </a:ext>
            </a:extLst>
          </p:cNvPr>
          <p:cNvCxnSpPr>
            <a:cxnSpLocks/>
          </p:cNvCxnSpPr>
          <p:nvPr/>
        </p:nvCxnSpPr>
        <p:spPr>
          <a:xfrm>
            <a:off x="7552772" y="4136429"/>
            <a:ext cx="941284" cy="741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006E81-5AC5-4315-B26A-E1A12D8649CD}"/>
              </a:ext>
            </a:extLst>
          </p:cNvPr>
          <p:cNvCxnSpPr>
            <a:cxnSpLocks/>
          </p:cNvCxnSpPr>
          <p:nvPr/>
        </p:nvCxnSpPr>
        <p:spPr>
          <a:xfrm flipV="1">
            <a:off x="7513854" y="2011224"/>
            <a:ext cx="753027" cy="890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0EE86BD-6F77-4395-91F1-B55756AA4116}"/>
              </a:ext>
            </a:extLst>
          </p:cNvPr>
          <p:cNvCxnSpPr>
            <a:cxnSpLocks/>
          </p:cNvCxnSpPr>
          <p:nvPr/>
        </p:nvCxnSpPr>
        <p:spPr>
          <a:xfrm flipH="1">
            <a:off x="3700499" y="4183215"/>
            <a:ext cx="833726" cy="64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4B499-CD4F-2B10-3906-A286E18DE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A1DCFAE8-8E9E-42B1-9A81-DFF72612FDA6}" type="slidenum">
              <a:rPr lang="en-IN" sz="190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4</a:t>
            </a:fld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9226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BDF521-1B21-434E-AEF6-4D2AC975A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939" y="898898"/>
            <a:ext cx="10328030" cy="533334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financial institution is an organization that provides financial services to individuals, businesses, and governments. These services include deposit-taking, lending, investment, insurance, and financial market facilitation.</a:t>
            </a:r>
          </a:p>
          <a:p>
            <a:pPr marL="0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6A4C2-7558-F304-6BA5-CA6C6D3BA3B5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Institution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DDF771-59E1-5928-DE30-F3B65EE50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A4AD33-9388-A96E-EBB6-FCB66742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8497" y="6397468"/>
            <a:ext cx="2743200" cy="365125"/>
          </a:xfrm>
        </p:spPr>
        <p:txBody>
          <a:bodyPr/>
          <a:lstStyle/>
          <a:p>
            <a:fld id="{A1DCFAE8-8E9E-42B1-9A81-DFF72612FDA6}" type="slidenum">
              <a:rPr lang="en-IN" sz="1900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F6EF26-68D1-A78C-7C76-E837DACAF9A9}"/>
              </a:ext>
            </a:extLst>
          </p:cNvPr>
          <p:cNvSpPr/>
          <p:nvPr/>
        </p:nvSpPr>
        <p:spPr>
          <a:xfrm>
            <a:off x="1081667" y="2514600"/>
            <a:ext cx="2542478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Banking Institutions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2B342B-719B-F919-B47B-E9CB1B63F6A4}"/>
              </a:ext>
            </a:extLst>
          </p:cNvPr>
          <p:cNvSpPr/>
          <p:nvPr/>
        </p:nvSpPr>
        <p:spPr>
          <a:xfrm>
            <a:off x="8063760" y="4233526"/>
            <a:ext cx="233060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Regulatory  Institutions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87F24D-7532-F3DA-686A-CFC22EB3EC02}"/>
              </a:ext>
            </a:extLst>
          </p:cNvPr>
          <p:cNvSpPr/>
          <p:nvPr/>
        </p:nvSpPr>
        <p:spPr>
          <a:xfrm>
            <a:off x="4790162" y="4233526"/>
            <a:ext cx="233060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Housing Finance Companies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30E71-042E-424B-0DE8-CE9E0C119EFC}"/>
              </a:ext>
            </a:extLst>
          </p:cNvPr>
          <p:cNvSpPr/>
          <p:nvPr/>
        </p:nvSpPr>
        <p:spPr>
          <a:xfrm>
            <a:off x="1081668" y="4233526"/>
            <a:ext cx="2542477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Insurance Companies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9A7362-1443-25AF-B64C-9202D95E876D}"/>
              </a:ext>
            </a:extLst>
          </p:cNvPr>
          <p:cNvSpPr/>
          <p:nvPr/>
        </p:nvSpPr>
        <p:spPr>
          <a:xfrm>
            <a:off x="4678650" y="2514600"/>
            <a:ext cx="233060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Non-Banking Institutions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C757B-5CD2-641E-6359-3762177A6907}"/>
              </a:ext>
            </a:extLst>
          </p:cNvPr>
          <p:cNvSpPr/>
          <p:nvPr/>
        </p:nvSpPr>
        <p:spPr>
          <a:xfrm>
            <a:off x="8063760" y="2514600"/>
            <a:ext cx="233060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Mutual Fund </a:t>
            </a:r>
          </a:p>
        </p:txBody>
      </p:sp>
    </p:spTree>
    <p:extLst>
      <p:ext uri="{BB962C8B-B14F-4D97-AF65-F5344CB8AC3E}">
        <p14:creationId xmlns:p14="http://schemas.microsoft.com/office/powerpoint/2010/main" val="76097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21641-172C-4E50-938B-0868EF813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820981"/>
            <a:ext cx="10328031" cy="4625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banking institution is a type of financial institution that is legally allowed to accept deposits from the public and create credit.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738518-7125-0E2F-B052-AF5C03057F09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Banking Institutions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37F014-FC88-EC42-2113-A8822615F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397A1-D778-0B04-9AA5-A294493C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6</a:t>
            </a:fld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EECE8-31AC-965B-FD0D-E2BE99A84551}"/>
              </a:ext>
            </a:extLst>
          </p:cNvPr>
          <p:cNvSpPr/>
          <p:nvPr/>
        </p:nvSpPr>
        <p:spPr>
          <a:xfrm>
            <a:off x="1326708" y="1859237"/>
            <a:ext cx="3389971" cy="5191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Scheduled Commercial Bank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207D26-4AD2-FB3A-1BBD-49287379739D}"/>
              </a:ext>
            </a:extLst>
          </p:cNvPr>
          <p:cNvSpPr/>
          <p:nvPr/>
        </p:nvSpPr>
        <p:spPr>
          <a:xfrm>
            <a:off x="6793665" y="1859237"/>
            <a:ext cx="3389971" cy="5191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Non-Scheduled Commercial Bank 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98A01730-4732-B129-1896-CBDEF5BE577A}"/>
              </a:ext>
            </a:extLst>
          </p:cNvPr>
          <p:cNvSpPr txBox="1">
            <a:spLocks/>
          </p:cNvSpPr>
          <p:nvPr/>
        </p:nvSpPr>
        <p:spPr>
          <a:xfrm>
            <a:off x="858357" y="3133493"/>
            <a:ext cx="4037028" cy="3389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D435A88F-220A-F726-5039-EE5134AE43C1}"/>
              </a:ext>
            </a:extLst>
          </p:cNvPr>
          <p:cNvSpPr txBox="1">
            <a:spLocks/>
          </p:cNvSpPr>
          <p:nvPr/>
        </p:nvSpPr>
        <p:spPr>
          <a:xfrm>
            <a:off x="711531" y="2463169"/>
            <a:ext cx="5257801" cy="3893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Included in the Second Schedule of the RBI Act, 1934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Must have a minimum ₹5 lakh in paid-up capital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borrow from RBI for funds and emergencies</a:t>
            </a:r>
          </a:p>
          <a:p>
            <a:pPr algn="just">
              <a:lnSpc>
                <a:spcPct val="15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SBI, HDFC, ICICI, Bank of Baroda, Axis Bank, PNB</a:t>
            </a:r>
          </a:p>
          <a:p>
            <a:pPr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Full range: loans, deposits, ATMs, net banking, cards, etc.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A162428E-6A81-F1C8-E0B5-ED8392118178}"/>
              </a:ext>
            </a:extLst>
          </p:cNvPr>
          <p:cNvSpPr txBox="1">
            <a:spLocks/>
          </p:cNvSpPr>
          <p:nvPr/>
        </p:nvSpPr>
        <p:spPr>
          <a:xfrm>
            <a:off x="6398400" y="2378421"/>
            <a:ext cx="5082069" cy="362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Not included in the Second Schedule of the RBI Act, 1934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 fixed requirement; often less than ₹5 lakh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No direct access to RBI lending facilities</a:t>
            </a: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Some local cooperative banks, small rural or community banks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6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Limited services, often only basic deposit and loans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60000"/>
              </a:lnSpc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839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1D758-3CBB-4C2B-B144-D2D49CAD8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767978"/>
            <a:ext cx="10515600" cy="505609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Financial services similar to banks, but that do not hold a banking license, cannot accept demand deposits (like savings or current accounts).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CB5871-304A-11CD-EA9F-41FD0765EFCE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 Banking Institutions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903C6B-8E8E-3714-C988-4CED3B3A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3A1B0-7162-81EE-3F45-5ECD8FD7D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7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765950-D588-5D6C-22AA-F9B442EB55DB}"/>
              </a:ext>
            </a:extLst>
          </p:cNvPr>
          <p:cNvSpPr/>
          <p:nvPr/>
        </p:nvSpPr>
        <p:spPr>
          <a:xfrm>
            <a:off x="764474" y="2464848"/>
            <a:ext cx="2788090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NBFC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830C4-42E3-3574-547F-C4B39298E16F}"/>
              </a:ext>
            </a:extLst>
          </p:cNvPr>
          <p:cNvSpPr txBox="1"/>
          <p:nvPr/>
        </p:nvSpPr>
        <p:spPr>
          <a:xfrm>
            <a:off x="3890717" y="1988343"/>
            <a:ext cx="7152965" cy="179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Do not accept demand deposits (like savings/current accounts)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Provide loans, insurance, investments, and leasing services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Cannot issue cheques like banks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Examples: Bajaj Finance, LIC, HDFC Mutual Fund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1C6408-2D53-4478-825E-6C2BE5BDEB5E}"/>
              </a:ext>
            </a:extLst>
          </p:cNvPr>
          <p:cNvSpPr/>
          <p:nvPr/>
        </p:nvSpPr>
        <p:spPr>
          <a:xfrm>
            <a:off x="764474" y="4718611"/>
            <a:ext cx="2829235" cy="9144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evelopment Financial Institutions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5C117-077B-D3B2-CB72-05632B3AB424}"/>
              </a:ext>
            </a:extLst>
          </p:cNvPr>
          <p:cNvSpPr txBox="1"/>
          <p:nvPr/>
        </p:nvSpPr>
        <p:spPr>
          <a:xfrm>
            <a:off x="3855004" y="4200043"/>
            <a:ext cx="7152965" cy="257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Provide long-term finance for development projects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Support industry, agriculture, SMEs, and infrastructure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Often government-backed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Do not accept public deposits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Examples: SIDBI, NABARD, EXIM Bank, IFCI</a:t>
            </a:r>
          </a:p>
          <a:p>
            <a:endParaRPr lang="en-US" sz="1900" dirty="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A09DD97-3DCA-949A-F397-9AE080F34476}"/>
              </a:ext>
            </a:extLst>
          </p:cNvPr>
          <p:cNvSpPr/>
          <p:nvPr/>
        </p:nvSpPr>
        <p:spPr>
          <a:xfrm>
            <a:off x="3737917" y="1988343"/>
            <a:ext cx="152800" cy="186741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96816B3C-4A0E-B8CC-74A9-003C95949967}"/>
              </a:ext>
            </a:extLst>
          </p:cNvPr>
          <p:cNvSpPr/>
          <p:nvPr/>
        </p:nvSpPr>
        <p:spPr>
          <a:xfrm>
            <a:off x="3678245" y="4324413"/>
            <a:ext cx="119344" cy="203193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749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610CF-31CB-4F11-BA10-FE9933528D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9937" y="778167"/>
            <a:ext cx="10328031" cy="508923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 mutual fund is a type of investment vehicle that pools money from many investors to invest in a diversified portfolio of assets such as: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Stocks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Bonds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Money market instruments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Other securities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How Does It Work?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Pooling of Money: Investors contribute money to the fund.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Investment by Fund Manager: The manager invests this pool based on the fund's objectives.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Returns &amp; NAV: Returns (profits or losses) are reflected in the Net Asset Value (NAV)—the per-unit price of the fund.</a:t>
            </a:r>
          </a:p>
          <a:p>
            <a:pPr algn="just">
              <a:lnSpc>
                <a:spcPct val="150000"/>
              </a:lnSpc>
              <a:buFont typeface="+mj-lt"/>
              <a:buAutoNum type="arabicPeriod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Redemption: Investors can sell (redeem) their mutual fund units at the current NAV.</a:t>
            </a:r>
          </a:p>
          <a:p>
            <a:pPr algn="just">
              <a:lnSpc>
                <a:spcPct val="15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8DB58-7D53-62E7-CE50-B82F7C76BD71}"/>
              </a:ext>
            </a:extLst>
          </p:cNvPr>
          <p:cNvSpPr/>
          <p:nvPr/>
        </p:nvSpPr>
        <p:spPr>
          <a:xfrm>
            <a:off x="679938" y="284630"/>
            <a:ext cx="10328031" cy="4642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Fund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E2EE82-DD4C-15C9-0F99-C58E4E0E9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26854"/>
            <a:ext cx="966091" cy="8873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41F7EA-465F-817E-BEAF-E7545E92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5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10A171-71AC-44A7-9C29-530FC35E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514"/>
            <a:ext cx="10515600" cy="505544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Mutual Funds: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Based on assets and class: Equity Funds, Debt Funds, Hybrid Funds, Money Market Funds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Based on structure: Open-ended funds, Closed-end funds, and Interval funds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Based on objectives: Growth funds, Income funds, Tax saving funds, Index funds, Sectoral/thematic funds.  </a:t>
            </a:r>
            <a:endParaRPr lang="en-IN" sz="1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D2D4D-3247-4555-8319-F7E4DA99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9</a:t>
            </a:fld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7D774F8-E6F7-4AB0-B508-357320C7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32554" cy="6254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Fund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87793-BC9B-4049-B879-868336AA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754" y="234212"/>
            <a:ext cx="966091" cy="8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24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10A171-71AC-44A7-9C29-530FC35E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514"/>
            <a:ext cx="10515600" cy="505544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of Mutual Funds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Diversification: Spreads risk across many assets.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Professional Management: Handled by experts.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Liquidity: Easy to buy/sell (open-ended).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Transparency: Regular updates on holdings and performance.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Accessibility: Start with small amounts (e.g., SIPs).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Regulated: In most countries, mutual funds are regulated (e.g., by SEBI in India, SEC in the U.S.).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D2D4D-3247-4555-8319-F7E4DA99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10</a:t>
            </a:fld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7D774F8-E6F7-4AB0-B508-357320C7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32554" cy="6254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Fund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87793-BC9B-4049-B879-868336AA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754" y="234212"/>
            <a:ext cx="966091" cy="8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031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710A171-71AC-44A7-9C29-530FC35E6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515"/>
            <a:ext cx="10515600" cy="4631586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1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Risks Involved: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Market Risk: Value can go down with markets.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Interest Rate Risk: Affects debt funds.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Credit Risk: Bonds in the fund may default.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Liquidity Risk: Some funds may be hard to sell quickly.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Fund Manager Risk: Poor decisions can affect returns.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ED2D4D-3247-4555-8319-F7E4DA99D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11</a:t>
            </a:fld>
            <a:endParaRPr lang="en-IN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7D774F8-E6F7-4AB0-B508-357320C7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032554" cy="6254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Fund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D87793-BC9B-4049-B879-868336AA2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0754" y="234212"/>
            <a:ext cx="966091" cy="8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857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B77F4-9796-5A4F-50F2-7577BFE2F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A3386-D83B-CA39-29A8-CCD2ABAE47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767977"/>
            <a:ext cx="10328031" cy="639110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 insurance company is a financial institution that offers risk coverage by collecting premiums and providing payouts or benefits in case of insured events.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Types of Insurance Companies: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Life Insurance Companies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Covers life risk (death, survival, etc.)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 LIC (Life Insurance Corporation of India)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General Insurance Companies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Covers non-life risks (car, health, fire, travel, etc.)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 New India Assurance, ICICI Lombard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Health Insurance Companies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Focuses only on medical expenses</a:t>
            </a:r>
          </a:p>
          <a:p>
            <a:pPr lvl="1" algn="just">
              <a:lnSpc>
                <a:spcPct val="15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Example: Star Health Insurance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004660-F624-3515-B8A2-24BEB5A14077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Insurance Companies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80AD9-6500-CF1E-0E4D-D0CE3BC32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351D7A-9765-94F5-C02C-BDAD342A5355}"/>
              </a:ext>
            </a:extLst>
          </p:cNvPr>
          <p:cNvSpPr txBox="1"/>
          <p:nvPr/>
        </p:nvSpPr>
        <p:spPr>
          <a:xfrm>
            <a:off x="1680282" y="4114800"/>
            <a:ext cx="2787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492F193-27C4-3F8E-4F7D-C0E8A844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72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A9EE12-9BD3-4980-B211-26CB3CA59B52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Housing Finance Companies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921D42-3A2B-41D6-BEF8-F054C0C38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C3A22D-F83D-078D-75FD-021349F14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13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C377BD-4234-FFD0-984B-ADE6BADFC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933206"/>
            <a:ext cx="10515600" cy="480462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Housing Finance Companies (HFCs) are non-banking financial institutions that provide home loans to individuals or builders for: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Specialize in home-related financing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Offer EMIs (monthly repayment system)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Usually have fixed or floating interest rates</a:t>
            </a:r>
          </a:p>
          <a:p>
            <a:pPr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Require property as collateral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Faster processing than banks (in some cases)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570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43794-4922-4326-AAC3-3359D1213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933206"/>
            <a:ext cx="10328031" cy="463503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Regulatory institutions are government or statutory bodies that monitor, control, and guide financial, economic, and business activities to ensure stability, fairness, and transparency in the system.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AAFE67-1E07-5126-E0A6-BFE51AB9A8F0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Regulatory  Institutions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C30B2-AF60-83EC-15F7-9B01A40B1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B2A32B-ED04-AA50-8BC2-4D554F4E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00371B-C924-2AD1-1F3F-B7963E142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38" y="2999676"/>
            <a:ext cx="2143125" cy="2013093"/>
          </a:xfrm>
          <a:prstGeom prst="rect">
            <a:avLst/>
          </a:prstGeom>
        </p:spPr>
      </p:pic>
      <p:pic>
        <p:nvPicPr>
          <p:cNvPr id="1030" name="Picture 6" descr="SEBI Logo PNG Vector (EPS) Free Download">
            <a:extLst>
              <a:ext uri="{FF2B5EF4-FFF2-40B4-BE49-F238E27FC236}">
                <a16:creationId xmlns:a16="http://schemas.microsoft.com/office/drawing/2014/main" id="{C9CC8A84-B33E-1DCF-7A9D-F1CD5F695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130" y="2999676"/>
            <a:ext cx="1868062" cy="201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RDAI: The Insurance Regulatory Authority of India">
            <a:extLst>
              <a:ext uri="{FF2B5EF4-FFF2-40B4-BE49-F238E27FC236}">
                <a16:creationId xmlns:a16="http://schemas.microsoft.com/office/drawing/2014/main" id="{078928B7-386B-1FC2-2332-AE2665C19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728" y="2999676"/>
            <a:ext cx="2141656" cy="168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Organization Structure | Pension Fund Regulatory and Development Authority ( PFRDA) - PFRDA">
            <a:extLst>
              <a:ext uri="{FF2B5EF4-FFF2-40B4-BE49-F238E27FC236}">
                <a16:creationId xmlns:a16="http://schemas.microsoft.com/office/drawing/2014/main" id="{9C7818E8-90AF-50D8-0310-DDFA53A06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4758" y="2999676"/>
            <a:ext cx="1883211" cy="168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DDC07F-8084-74B9-490F-96506A2E9D21}"/>
              </a:ext>
            </a:extLst>
          </p:cNvPr>
          <p:cNvSpPr txBox="1"/>
          <p:nvPr/>
        </p:nvSpPr>
        <p:spPr>
          <a:xfrm>
            <a:off x="679938" y="556823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6ACDFB-7DAF-C532-99DA-4C675337EF61}"/>
              </a:ext>
            </a:extLst>
          </p:cNvPr>
          <p:cNvSpPr txBox="1"/>
          <p:nvPr/>
        </p:nvSpPr>
        <p:spPr>
          <a:xfrm>
            <a:off x="832338" y="5720639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30D39E-6130-02AB-138F-1B14A28CB7D2}"/>
              </a:ext>
            </a:extLst>
          </p:cNvPr>
          <p:cNvSpPr txBox="1"/>
          <p:nvPr/>
        </p:nvSpPr>
        <p:spPr>
          <a:xfrm>
            <a:off x="717507" y="5383350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9B5CE-D0C2-EF73-5C5D-A682DB325E81}"/>
              </a:ext>
            </a:extLst>
          </p:cNvPr>
          <p:cNvSpPr txBox="1"/>
          <p:nvPr/>
        </p:nvSpPr>
        <p:spPr>
          <a:xfrm>
            <a:off x="642369" y="5245018"/>
            <a:ext cx="2286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Reserve Bank of India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D2E79-13E1-1094-4FC4-878E862528D8}"/>
              </a:ext>
            </a:extLst>
          </p:cNvPr>
          <p:cNvSpPr txBox="1"/>
          <p:nvPr/>
        </p:nvSpPr>
        <p:spPr>
          <a:xfrm>
            <a:off x="3326469" y="5245018"/>
            <a:ext cx="2286000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Securities and  Exchange Board of India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594740-61BC-7774-038F-0F21532B44D9}"/>
              </a:ext>
            </a:extLst>
          </p:cNvPr>
          <p:cNvSpPr txBox="1"/>
          <p:nvPr/>
        </p:nvSpPr>
        <p:spPr>
          <a:xfrm>
            <a:off x="6032556" y="5121740"/>
            <a:ext cx="2286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Insurance Regulatory and Development Authority of India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B52B60-4EE4-A12F-2DE5-FEC31967B1F5}"/>
              </a:ext>
            </a:extLst>
          </p:cNvPr>
          <p:cNvSpPr txBox="1"/>
          <p:nvPr/>
        </p:nvSpPr>
        <p:spPr>
          <a:xfrm>
            <a:off x="8610599" y="5228586"/>
            <a:ext cx="2743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Pension Fund Regulatory Development Authority of India</a:t>
            </a:r>
          </a:p>
        </p:txBody>
      </p:sp>
    </p:spTree>
    <p:extLst>
      <p:ext uri="{BB962C8B-B14F-4D97-AF65-F5344CB8AC3E}">
        <p14:creationId xmlns:p14="http://schemas.microsoft.com/office/powerpoint/2010/main" val="1274671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BCA8-0164-4422-A8E2-1EE229FBE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39" y="1304366"/>
            <a:ext cx="10220530" cy="424926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C2552C-D344-DBCA-DEC5-BFD6DD3E0AF7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Services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F408A2-D146-E504-9FDE-B0B60027F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504CE-721B-6820-83BE-2DCC3D190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15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6583FE-0614-8E10-3EF9-27458A389E4F}"/>
              </a:ext>
            </a:extLst>
          </p:cNvPr>
          <p:cNvSpPr txBox="1"/>
          <p:nvPr/>
        </p:nvSpPr>
        <p:spPr>
          <a:xfrm>
            <a:off x="679938" y="1105081"/>
            <a:ext cx="10328031" cy="4423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Financial services are the functions and facilities provided by financial institutions to manage money and facilitate transactions.</a:t>
            </a:r>
          </a:p>
          <a:p>
            <a:pPr algn="just">
              <a:lnSpc>
                <a:spcPct val="150000"/>
              </a:lnSpc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Banking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Deposits, loans, credit cards (e.g., SBI, HDFC)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Investment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Mutual funds, stockbroking (e.g., Groww, Zerodha)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Insurance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Life, health, general insurance (e.g., LIC, Star Health)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Capital Market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IPOs, bonds, equity raising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Leasing &amp; Hire Purchase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Use of assets without buying (e.g., vehicle leasing)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Forex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Currency exchange, remittance (e.g., Western Union)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Fintech Services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Digital payments, UPI, mobile banking (e.g., Paytm, PhonePe)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5480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9FB72A-7951-192B-B36C-341171670A3E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Market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408AD-DA1F-C9C5-CB3F-AB4DC3956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EF3739-2C0E-756F-120F-22294C50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0CC0D-CF79-6B25-C2C5-A7CF17D5D012}"/>
              </a:ext>
            </a:extLst>
          </p:cNvPr>
          <p:cNvSpPr txBox="1"/>
          <p:nvPr/>
        </p:nvSpPr>
        <p:spPr>
          <a:xfrm>
            <a:off x="679938" y="1080960"/>
            <a:ext cx="10328031" cy="915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market is an arrangement where buyers and sellers come together to exchange goods or services, or to trade financial instruments/products, at a particular time and place</a:t>
            </a:r>
            <a:r>
              <a:rPr lang="en-US" altLang="en-US" sz="19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D653B1-FA26-865B-9914-8D91A2FD3785}"/>
              </a:ext>
            </a:extLst>
          </p:cNvPr>
          <p:cNvSpPr/>
          <p:nvPr/>
        </p:nvSpPr>
        <p:spPr>
          <a:xfrm>
            <a:off x="8937161" y="4471639"/>
            <a:ext cx="2185639" cy="501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Capital Market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6C5004-CC91-5893-649C-E6B08B1B33CF}"/>
              </a:ext>
            </a:extLst>
          </p:cNvPr>
          <p:cNvSpPr/>
          <p:nvPr/>
        </p:nvSpPr>
        <p:spPr>
          <a:xfrm>
            <a:off x="6132598" y="4471639"/>
            <a:ext cx="2185639" cy="501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Forex Market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0666A6-EFAD-2CE3-E968-591B2E621A16}"/>
              </a:ext>
            </a:extLst>
          </p:cNvPr>
          <p:cNvSpPr/>
          <p:nvPr/>
        </p:nvSpPr>
        <p:spPr>
          <a:xfrm>
            <a:off x="3369670" y="4471639"/>
            <a:ext cx="2185639" cy="501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Debt  Market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4DF7EE-963A-9851-44D3-A4E76F84FBE0}"/>
              </a:ext>
            </a:extLst>
          </p:cNvPr>
          <p:cNvSpPr/>
          <p:nvPr/>
        </p:nvSpPr>
        <p:spPr>
          <a:xfrm>
            <a:off x="679938" y="4471639"/>
            <a:ext cx="2185639" cy="50180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Money Market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0C98192-5456-5E7E-E767-CB19978E71F4}"/>
              </a:ext>
            </a:extLst>
          </p:cNvPr>
          <p:cNvSpPr/>
          <p:nvPr/>
        </p:nvSpPr>
        <p:spPr>
          <a:xfrm>
            <a:off x="4462489" y="2309257"/>
            <a:ext cx="2921620" cy="64633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Financial Market 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E5674FE-C7A1-183B-77AD-828802D6F561}"/>
              </a:ext>
            </a:extLst>
          </p:cNvPr>
          <p:cNvCxnSpPr>
            <a:cxnSpLocks/>
          </p:cNvCxnSpPr>
          <p:nvPr/>
        </p:nvCxnSpPr>
        <p:spPr>
          <a:xfrm flipH="1">
            <a:off x="1973766" y="2787805"/>
            <a:ext cx="3880624" cy="162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7838F13-2EA5-924C-36E1-E0F8D1176A2A}"/>
              </a:ext>
            </a:extLst>
          </p:cNvPr>
          <p:cNvCxnSpPr>
            <a:cxnSpLocks/>
          </p:cNvCxnSpPr>
          <p:nvPr/>
        </p:nvCxnSpPr>
        <p:spPr>
          <a:xfrm flipH="1">
            <a:off x="5084956" y="2787805"/>
            <a:ext cx="758997" cy="1628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1D53FA6-EB55-5CEA-786E-44B0FA846740}"/>
              </a:ext>
            </a:extLst>
          </p:cNvPr>
          <p:cNvCxnSpPr>
            <a:cxnSpLocks/>
          </p:cNvCxnSpPr>
          <p:nvPr/>
        </p:nvCxnSpPr>
        <p:spPr>
          <a:xfrm>
            <a:off x="5843953" y="2787805"/>
            <a:ext cx="1259374" cy="168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02B00D0-68A8-E6CA-FBA5-A7D02E9A41E6}"/>
              </a:ext>
            </a:extLst>
          </p:cNvPr>
          <p:cNvCxnSpPr>
            <a:cxnSpLocks/>
          </p:cNvCxnSpPr>
          <p:nvPr/>
        </p:nvCxnSpPr>
        <p:spPr>
          <a:xfrm>
            <a:off x="5849172" y="2787805"/>
            <a:ext cx="3875405" cy="168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9367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3E89-80A6-4A98-9DBD-158F24086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788" y="911494"/>
            <a:ext cx="10515600" cy="43964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FEF6C5-EF95-EACD-5AFD-2E779993AA55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Money Market 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F1FE05-419B-6FA5-24EF-C5A474F4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1A8CB-6083-36E6-A6AC-861F90B8A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A1DCFAE8-8E9E-42B1-9A81-DFF72612FDA6}" type="slidenum">
              <a:rPr lang="en-IN" sz="1900" smtClean="0">
                <a:latin typeface="Arial" panose="020B0604020202020204" pitchFamily="34" charset="0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17</a:t>
            </a:fld>
            <a:endParaRPr lang="en-IN" sz="1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C126F-4D62-12A1-0A66-4D382FEE5823}"/>
              </a:ext>
            </a:extLst>
          </p:cNvPr>
          <p:cNvSpPr txBox="1"/>
          <p:nvPr/>
        </p:nvSpPr>
        <p:spPr>
          <a:xfrm>
            <a:off x="679938" y="825472"/>
            <a:ext cx="10269057" cy="1353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money market is a part of the financial market where short-term borrowing and lending take place – usually for less than one year.</a:t>
            </a:r>
          </a:p>
          <a:p>
            <a:pPr>
              <a:lnSpc>
                <a:spcPct val="150000"/>
              </a:lnSpc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DBEAC2-F101-089C-2AC4-F89BBAECD98C}"/>
              </a:ext>
            </a:extLst>
          </p:cNvPr>
          <p:cNvSpPr txBox="1"/>
          <p:nvPr/>
        </p:nvSpPr>
        <p:spPr>
          <a:xfrm>
            <a:off x="679938" y="2302045"/>
            <a:ext cx="8073768" cy="179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Issued by: Government of India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  Maturity: 91 days, 182 days, or 364 days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  Purpose: The Government raises short-term funds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   Example: RBI issues a 91-day T-bill at ₹97 for a face value of ₹100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150FEA-8831-0F22-1A59-79DDF17D8BCA}"/>
              </a:ext>
            </a:extLst>
          </p:cNvPr>
          <p:cNvSpPr txBox="1"/>
          <p:nvPr/>
        </p:nvSpPr>
        <p:spPr>
          <a:xfrm>
            <a:off x="981308" y="1702635"/>
            <a:ext cx="3077736" cy="47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Treasury Bills (T-Bills)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81AD73-D241-9495-A612-3BF907ADEB3F}"/>
              </a:ext>
            </a:extLst>
          </p:cNvPr>
          <p:cNvSpPr txBox="1"/>
          <p:nvPr/>
        </p:nvSpPr>
        <p:spPr>
          <a:xfrm>
            <a:off x="860612" y="4217199"/>
            <a:ext cx="5235388" cy="47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Commercial Paper (CP)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AFEEE-1A41-6C23-EED7-1C72B5256F6B}"/>
              </a:ext>
            </a:extLst>
          </p:cNvPr>
          <p:cNvSpPr txBox="1"/>
          <p:nvPr/>
        </p:nvSpPr>
        <p:spPr>
          <a:xfrm>
            <a:off x="738910" y="4746434"/>
            <a:ext cx="10210085" cy="1792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Issued by: Large corporations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Maturity: 15 days to 1 year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Purpose: Short-term working capital needs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Tata Motors issues CP to raise ₹100 crores for 6 months</a:t>
            </a:r>
          </a:p>
        </p:txBody>
      </p:sp>
    </p:spTree>
    <p:extLst>
      <p:ext uri="{BB962C8B-B14F-4D97-AF65-F5344CB8AC3E}">
        <p14:creationId xmlns:p14="http://schemas.microsoft.com/office/powerpoint/2010/main" val="4105815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69CB3E6-A30F-4081-B5EE-6DACD1950D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0141" y="1836904"/>
            <a:ext cx="5439938" cy="947854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70000"/>
              </a:lnSpc>
              <a:buNone/>
            </a:pP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FE26DC-45B6-ABCE-3807-13CCA8FE1788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Money Market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7CBF9-5AB3-A4CC-4DF5-FD25440CF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69AAC3-6827-2131-F9D2-0E0D444B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18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8CF4A-85BA-03E2-970E-934AB9D4CD56}"/>
              </a:ext>
            </a:extLst>
          </p:cNvPr>
          <p:cNvSpPr txBox="1"/>
          <p:nvPr/>
        </p:nvSpPr>
        <p:spPr>
          <a:xfrm>
            <a:off x="679938" y="1044713"/>
            <a:ext cx="4677508" cy="47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Certificate of Deposit (CD)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CE23CE-6D78-60C7-F6D0-975E7FA4D3A5}"/>
              </a:ext>
            </a:extLst>
          </p:cNvPr>
          <p:cNvSpPr txBox="1"/>
          <p:nvPr/>
        </p:nvSpPr>
        <p:spPr>
          <a:xfrm>
            <a:off x="679936" y="1611045"/>
            <a:ext cx="895628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Issued by: Commercial banks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Maturity: 7 days to 1 year (for individuals), up to 3 years (for institutions)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Purpose: Raise funds from the public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SBI issues a CD offering 6% interest for 6 months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1E8FDA-567B-98F2-4F8D-C18694E78920}"/>
              </a:ext>
            </a:extLst>
          </p:cNvPr>
          <p:cNvSpPr txBox="1"/>
          <p:nvPr/>
        </p:nvSpPr>
        <p:spPr>
          <a:xfrm>
            <a:off x="760141" y="3482550"/>
            <a:ext cx="3694628" cy="476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Call Money / Notice Money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45F8B4-E341-1AC6-9BF8-FEBD7158FE58}"/>
              </a:ext>
            </a:extLst>
          </p:cNvPr>
          <p:cNvSpPr txBox="1"/>
          <p:nvPr/>
        </p:nvSpPr>
        <p:spPr>
          <a:xfrm>
            <a:off x="679936" y="4143094"/>
            <a:ext cx="8956287" cy="2562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Call Money: Overnight funds (1 day)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Notice Money: 2–14 days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Participants: Banks and financial institutions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HDFC Bank borrows ₹500 crores from ICICI Bank for 1 day at 4% interest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328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CAA6F-7A72-4757-8A11-7F095E3A3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1477836"/>
            <a:ext cx="8147539" cy="208432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Short-term loans backed by securities(within or equal to one year)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One party sells securities with an agreement to repurchase them later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RBI conducts a repo operation to inject liquidity in the system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DF6F55-4407-4276-90B8-747E132A2A5A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Money Market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E7AC9-BD50-9856-DEB2-5F29A5578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E3F3A-00A8-F7C6-F590-858C0133C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19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5AEF8-2A5D-5448-40AA-061523725B01}"/>
              </a:ext>
            </a:extLst>
          </p:cNvPr>
          <p:cNvSpPr txBox="1"/>
          <p:nvPr/>
        </p:nvSpPr>
        <p:spPr>
          <a:xfrm>
            <a:off x="679937" y="3333216"/>
            <a:ext cx="382172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Banker’s Acceptance (BA</a:t>
            </a:r>
            <a:r>
              <a:rPr lang="en-IN" b="1" dirty="0"/>
              <a:t>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21EB7-C6F4-3FFD-0AE2-CA98829C47C1}"/>
              </a:ext>
            </a:extLst>
          </p:cNvPr>
          <p:cNvSpPr txBox="1"/>
          <p:nvPr/>
        </p:nvSpPr>
        <p:spPr>
          <a:xfrm>
            <a:off x="679937" y="974237"/>
            <a:ext cx="536916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Repurchase Agreements (Repo)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A3DDEC-E4EA-731C-30B7-B6416CD53F68}"/>
              </a:ext>
            </a:extLst>
          </p:cNvPr>
          <p:cNvSpPr txBox="1"/>
          <p:nvPr/>
        </p:nvSpPr>
        <p:spPr>
          <a:xfrm>
            <a:off x="679937" y="3994936"/>
            <a:ext cx="81475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time draft (post-dated cheque) guaranteed by a bank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Common in foreign trade transactions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An Indian exporter receives a BA from a US buyer’s bank for payment after 60 days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9531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48CDE-4697-4E43-BA65-B09722941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1017354"/>
            <a:ext cx="10328031" cy="5338996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debt market is a financial market where investors buy and sell debt securities.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These are instruments where the borrower promises to repay the principal with interest after a fixed time.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Who are the Participants?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Government (Central, State)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Corporates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Banks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Mutual Funds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Insurance companies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Retail investors</a:t>
            </a:r>
          </a:p>
          <a:p>
            <a:pPr marL="0" indent="0" algn="just">
              <a:lnSpc>
                <a:spcPct val="160000"/>
              </a:lnSpc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DC8318-57F0-B5ED-BD37-A2C89135A277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Debt  Market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E9864-6BF8-C55C-1C78-F40F0735C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042D43-F48D-FFAD-295D-B71E20050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61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0FB71-9DF4-4C53-BCA1-15C674828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933206"/>
            <a:ext cx="10328031" cy="5423144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Types of Debt Market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1. Government Securities (G-Secs) Market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Bonds issued by Central or State Governments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Considered risk-free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RBI issues a 10-year Government bond at 7% interest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2. Corporate Debt Market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Bonds/debentures issued by companies to raise capital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Example: Reliance Industries issues Non-Convertible Debentures (NCDs)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D9CBF-2C4D-707F-7E25-0D16596F09FC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Debt Market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8C0EBA-BC59-4D8F-E5FE-76EBCD799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EF35E7-5501-E72C-654C-469B10340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220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B3752-44A3-B058-74B6-F21155FCC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98DB9-7020-58A7-0A69-9C30D5BA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7" y="1261452"/>
            <a:ext cx="10328031" cy="5788269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3. Money Market (Short-term debt instruments)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Already covered earlier (T-Bills, CP, CD, etc.)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4. Municipal Bond Market</a:t>
            </a:r>
          </a:p>
          <a:p>
            <a:pPr algn="just"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Bonds issued by local authorities/municipalities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Example: Pune Municipal Corporation issues bonds for water infrastructure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F2E730-170D-171A-AB2F-33A083F62C24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Debt Market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8B770-FE8C-5FD2-0ABF-CD36A5A40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04AFDC-CF44-0B24-662C-9B29305E8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043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337A8-EF3B-4829-B728-65B87C868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770" y="1069971"/>
            <a:ext cx="10213200" cy="547150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FOREX market is a global marketplace where currencies are bought and sold.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It is the largest and most liquid financial market in the world..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Who are the Participants?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Central Banks (e.g., RBI)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Commercial Banks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Corporations (importers/exporters)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Investors &amp; Hedge Funds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Tourists &amp; Travelers</a:t>
            </a:r>
          </a:p>
          <a:p>
            <a:pPr algn="just">
              <a:lnSpc>
                <a:spcPct val="150000"/>
              </a:lnSpc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Forex Brokers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E49C64-3F6A-4458-AB27-56E87955AC07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Market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DD77E3-B0AC-A363-5DB0-880877541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67A379-635C-E7EE-EE64-A3A2101E2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2433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5A1B-516D-4A94-85B2-2165EBC02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7" y="1093787"/>
            <a:ext cx="10328031" cy="4670425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Spot Market 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 the spot market, currencies are exchanged immediately at the current exchange rate (called the "spot rate").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Settlement: Within 2 business days.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Example: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 want to buy $1,000 today.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If 1 USD = ₹83, you pay ₹83,000.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transaction is done on the spot.</a:t>
            </a:r>
          </a:p>
          <a:p>
            <a:pPr marL="0" indent="0">
              <a:lnSpc>
                <a:spcPct val="160000"/>
              </a:lnSpc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ADAA81-8766-F9F1-E09F-8F790CBCB997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Market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6F06D-786A-585C-4E1E-E91122B9F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8A89EC-4470-0436-D138-65DF52704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82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EC75F-65D1-1634-77E7-8A6AEF55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4E74C-2A7D-20C3-1C27-72EDDA392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1187823"/>
            <a:ext cx="10328031" cy="4482353"/>
          </a:xfrm>
        </p:spPr>
        <p:txBody>
          <a:bodyPr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Forward Market 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private agreement between two parties to buy/sell a currency at a fixed rate on a future date.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Settlement: On the agreed future date.</a:t>
            </a:r>
          </a:p>
          <a:p>
            <a:pPr>
              <a:lnSpc>
                <a:spcPct val="16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 A company expects to pay $1 million in 3 months.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They lock in a rate of ₹84/USD with a bank to avoid future currency fluctuations.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79E61-0638-0CA9-7881-F940DFE1121A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Market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BB5AEE-6DAA-8CD5-BC9C-EE7AB4FE9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ECEB72-CE46-EF50-698C-6998C64D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906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546D0-BE71-432C-8D6B-2D3F6E056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933206"/>
            <a:ext cx="10328031" cy="3553131"/>
          </a:xfrm>
        </p:spPr>
        <p:txBody>
          <a:bodyPr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Future Market </a:t>
            </a:r>
          </a:p>
          <a:p>
            <a:pPr>
              <a:lnSpc>
                <a:spcPct val="1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Similar to forwards, but standardized contracts are traded on organized exchanges (like NSE, BSE, CME).</a:t>
            </a:r>
          </a:p>
          <a:p>
            <a:pPr>
              <a:lnSpc>
                <a:spcPct val="1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An investor buys a USD-INR futures contract on NSE that expires in 1 month.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If the rate moves in their favor, they profit.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Difference from Forward:</a:t>
            </a:r>
          </a:p>
          <a:p>
            <a:pPr>
              <a:lnSpc>
                <a:spcPct val="1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Futures are regulated, standardized, and publicly traded.</a:t>
            </a:r>
          </a:p>
          <a:p>
            <a:pPr>
              <a:lnSpc>
                <a:spcPct val="17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Forwards are private and customizable.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C4237C-7160-FF11-72F6-63FD370B09C5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Market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FC9CD3-3570-0B86-D278-33F570AF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5D50C0-65E9-D1BA-7715-F653BBDD2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629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DE154-AE7F-FEC8-B8D2-29970E64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2075-5502-0D45-19B8-429949010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8" y="1253331"/>
            <a:ext cx="1032803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Option Market 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A contract that gives the buyer the right (but not obligation) to buy or sell a currency at a fixed rate before a set date.</a:t>
            </a:r>
          </a:p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Example: You buy an option to buy USD at ₹85 anytime in the next 2 months.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If USD rises to ₹90, you exercise the option and profit.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If it falls to ₹80, you let the option expire and lose only the premium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0A0B6-1919-4C71-EF85-983B20B12B4A}"/>
              </a:ext>
            </a:extLst>
          </p:cNvPr>
          <p:cNvSpPr/>
          <p:nvPr/>
        </p:nvSpPr>
        <p:spPr>
          <a:xfrm>
            <a:off x="679938" y="211133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Forex Market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B9FD82-ABD5-051D-E088-14CB8AA7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800" y="45904"/>
            <a:ext cx="966091" cy="8873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40D67E-5DC3-8697-DD96-6695F090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951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81293-74A5-8695-45B3-26B5D1E4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9FBBEC7-8879-3D3A-EFA9-21255413D393}"/>
              </a:ext>
            </a:extLst>
          </p:cNvPr>
          <p:cNvSpPr/>
          <p:nvPr/>
        </p:nvSpPr>
        <p:spPr>
          <a:xfrm>
            <a:off x="838200" y="231769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Market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8C6233-5211-D847-F6B1-5C16B23E2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707" y="71718"/>
            <a:ext cx="788894" cy="8614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94720C-7538-9BDE-C9D9-0F464739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28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47B45F-ADB2-3F9C-F448-4546A135E045}"/>
              </a:ext>
            </a:extLst>
          </p:cNvPr>
          <p:cNvSpPr txBox="1"/>
          <p:nvPr/>
        </p:nvSpPr>
        <p:spPr>
          <a:xfrm>
            <a:off x="838199" y="1033027"/>
            <a:ext cx="10328031" cy="5246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The Capital Market is a part of the financial system where long-term funds are raised and invested through the buying and selling of securities, such as shares, bonds, debentures, etc.</a:t>
            </a:r>
          </a:p>
          <a:p>
            <a:pPr algn="just">
              <a:lnSpc>
                <a:spcPct val="200000"/>
              </a:lnSpc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Who are the Participants?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Companies (issuers of securities)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Investors (individuals, institutions)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Stock Exchanges (NSE, BSE)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Regulators (like SEBI in India)</a:t>
            </a:r>
          </a:p>
          <a:p>
            <a:pPr algn="just">
              <a:lnSpc>
                <a:spcPct val="200000"/>
              </a:lnSpc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8167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1C99EC-BD8B-406E-9268-B2C8A336FC81}"/>
              </a:ext>
            </a:extLst>
          </p:cNvPr>
          <p:cNvSpPr/>
          <p:nvPr/>
        </p:nvSpPr>
        <p:spPr>
          <a:xfrm>
            <a:off x="838200" y="212719"/>
            <a:ext cx="10328031" cy="556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Market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BEA7C9-A30C-421E-AE0D-1EECF9486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0707" y="52668"/>
            <a:ext cx="788894" cy="8614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C6D5D-6CE4-733B-2F15-2E25F52F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29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F51D4-9BA0-F777-9EE9-021EDA7A2CC1}"/>
              </a:ext>
            </a:extLst>
          </p:cNvPr>
          <p:cNvSpPr txBox="1"/>
          <p:nvPr/>
        </p:nvSpPr>
        <p:spPr>
          <a:xfrm>
            <a:off x="838199" y="1047914"/>
            <a:ext cx="10328031" cy="5193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Types of Capital Market;</a:t>
            </a: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Primary Market (New Issue Market)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Where new securities are issued for the first time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Companies raise capital by issuing IPO (Initial Public Offering)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Reliance Industries issues new shares to the public for the first time.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Arial" panose="020B0604020202020204" pitchFamily="34" charset="0"/>
                <a:cs typeface="Arial" panose="020B0604020202020204" pitchFamily="34" charset="0"/>
              </a:rPr>
              <a:t>Secondary Market (Stock Market)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Where existing securities are bought and sold among investors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Provides liquidity to investments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b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You buy Tata Motors shares from another investor on the NSE/BSE.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7727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DF7B5-BF8A-47B7-9B92-4B30CF7C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53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endParaRPr lang="en-IN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A14A6BF-CE50-4153-BF52-3EF2EC8E4E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14184"/>
            <a:ext cx="10515599" cy="184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financial inclusion, and why is it important in India?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Name two key regulatory bodies in the Indian financial system.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does the Indian banking sector faces the major challenges today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DB6E9C-6B71-4097-ADB1-422EC8173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30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1061F-14D1-4427-B493-12FD8A2E4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282" y="209018"/>
            <a:ext cx="788894" cy="86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342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171F171-B9A4-D4BB-F8B7-A1ECF748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908" y="2313026"/>
            <a:ext cx="3515360" cy="29324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D75FE1-DFEB-70E0-678A-82C21A926E72}"/>
              </a:ext>
            </a:extLst>
          </p:cNvPr>
          <p:cNvSpPr txBox="1"/>
          <p:nvPr/>
        </p:nvSpPr>
        <p:spPr>
          <a:xfrm>
            <a:off x="4810487" y="714229"/>
            <a:ext cx="257102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NAMASKAR</a:t>
            </a:r>
          </a:p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         &amp;</a:t>
            </a:r>
          </a:p>
          <a:p>
            <a:r>
              <a:rPr lang="en-IN" sz="3000" b="1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E639AA-7884-B0FA-C3BF-5B71DD31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CFAE8-8E9E-42B1-9A81-DFF72612FDA6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518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2502</TotalTime>
  <Words>2279</Words>
  <Application>Microsoft Office PowerPoint</Application>
  <PresentationFormat>Widescreen</PresentationFormat>
  <Paragraphs>289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Office Theme</vt:lpstr>
      <vt:lpstr>Overview of Financial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Mutual Fund  </vt:lpstr>
      <vt:lpstr>Mutual Fund  </vt:lpstr>
      <vt:lpstr>Mutual Fund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                                                             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Subhasmita Parida</dc:creator>
  <cp:lastModifiedBy>alivaparida2024@gmail.com</cp:lastModifiedBy>
  <cp:revision>137</cp:revision>
  <dcterms:created xsi:type="dcterms:W3CDTF">2025-02-09T14:42:55Z</dcterms:created>
  <dcterms:modified xsi:type="dcterms:W3CDTF">2026-01-13T06:01:16Z</dcterms:modified>
</cp:coreProperties>
</file>