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1"/>
  </p:notesMasterIdLst>
  <p:sldIdLst>
    <p:sldId id="334" r:id="rId2"/>
    <p:sldId id="261" r:id="rId3"/>
    <p:sldId id="333" r:id="rId4"/>
    <p:sldId id="330" r:id="rId5"/>
    <p:sldId id="328" r:id="rId6"/>
    <p:sldId id="265" r:id="rId7"/>
    <p:sldId id="268" r:id="rId8"/>
    <p:sldId id="339" r:id="rId9"/>
    <p:sldId id="274" r:id="rId10"/>
    <p:sldId id="279" r:id="rId11"/>
    <p:sldId id="278" r:id="rId12"/>
    <p:sldId id="281" r:id="rId13"/>
    <p:sldId id="315" r:id="rId14"/>
    <p:sldId id="286" r:id="rId15"/>
    <p:sldId id="341" r:id="rId16"/>
    <p:sldId id="344" r:id="rId17"/>
    <p:sldId id="275" r:id="rId18"/>
    <p:sldId id="302" r:id="rId19"/>
    <p:sldId id="303" r:id="rId20"/>
    <p:sldId id="316" r:id="rId21"/>
    <p:sldId id="304" r:id="rId22"/>
    <p:sldId id="305" r:id="rId23"/>
    <p:sldId id="284" r:id="rId24"/>
    <p:sldId id="282" r:id="rId25"/>
    <p:sldId id="342" r:id="rId26"/>
    <p:sldId id="276" r:id="rId27"/>
    <p:sldId id="345" r:id="rId28"/>
    <p:sldId id="290" r:id="rId29"/>
    <p:sldId id="287" r:id="rId30"/>
    <p:sldId id="288" r:id="rId31"/>
    <p:sldId id="291" r:id="rId32"/>
    <p:sldId id="306" r:id="rId33"/>
    <p:sldId id="289" r:id="rId34"/>
    <p:sldId id="343" r:id="rId35"/>
    <p:sldId id="292" r:id="rId36"/>
    <p:sldId id="271" r:id="rId37"/>
    <p:sldId id="294" r:id="rId38"/>
    <p:sldId id="296" r:id="rId39"/>
    <p:sldId id="297" r:id="rId40"/>
    <p:sldId id="295" r:id="rId41"/>
    <p:sldId id="298" r:id="rId42"/>
    <p:sldId id="299" r:id="rId43"/>
    <p:sldId id="300" r:id="rId44"/>
    <p:sldId id="308" r:id="rId45"/>
    <p:sldId id="309" r:id="rId46"/>
    <p:sldId id="310" r:id="rId47"/>
    <p:sldId id="312" r:id="rId48"/>
    <p:sldId id="313" r:id="rId49"/>
    <p:sldId id="314" r:id="rId50"/>
    <p:sldId id="311" r:id="rId51"/>
    <p:sldId id="340" r:id="rId52"/>
    <p:sldId id="269" r:id="rId53"/>
    <p:sldId id="270" r:id="rId54"/>
    <p:sldId id="283" r:id="rId55"/>
    <p:sldId id="336" r:id="rId56"/>
    <p:sldId id="323" r:id="rId57"/>
    <p:sldId id="338" r:id="rId58"/>
    <p:sldId id="324" r:id="rId59"/>
    <p:sldId id="325"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p:cViewPr varScale="1">
        <p:scale>
          <a:sx n="80" d="100"/>
          <a:sy n="80" d="100"/>
        </p:scale>
        <p:origin x="763"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2A9B89-FA0F-46FC-B36D-7695EA574823}"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E645E6A5-13B0-4C12-B5EC-A1A488394F1D}">
      <dgm:prSet phldrT="[Text]" custT="1">
        <dgm:style>
          <a:lnRef idx="1">
            <a:schemeClr val="accent3"/>
          </a:lnRef>
          <a:fillRef idx="2">
            <a:schemeClr val="accent3"/>
          </a:fillRef>
          <a:effectRef idx="1">
            <a:schemeClr val="accent3"/>
          </a:effectRef>
          <a:fontRef idx="minor">
            <a:schemeClr val="dk1"/>
          </a:fontRef>
        </dgm:style>
      </dgm:prSet>
      <dgm:spPr/>
      <dgm:t>
        <a:bodyPr/>
        <a:lstStyle/>
        <a:p>
          <a:r>
            <a:rPr lang="en-US" sz="2000" dirty="0">
              <a:latin typeface="Arial" panose="020B0604020202020204" pitchFamily="34" charset="0"/>
              <a:cs typeface="Arial" panose="020B0604020202020204" pitchFamily="34" charset="0"/>
            </a:rPr>
            <a:t>Step 1</a:t>
          </a:r>
        </a:p>
      </dgm:t>
    </dgm:pt>
    <dgm:pt modelId="{D384DA32-38B9-42E6-AF34-50762909E1D4}" type="parTrans" cxnId="{F86CD56A-2CDB-48DE-A145-D9242AF1CACE}">
      <dgm:prSet/>
      <dgm:spPr/>
      <dgm:t>
        <a:bodyPr/>
        <a:lstStyle/>
        <a:p>
          <a:endParaRPr lang="en-US"/>
        </a:p>
      </dgm:t>
    </dgm:pt>
    <dgm:pt modelId="{181C33B7-A57D-4A39-A6EF-94054AE9E238}" type="sibTrans" cxnId="{F86CD56A-2CDB-48DE-A145-D9242AF1CACE}">
      <dgm:prSet/>
      <dgm:spPr/>
      <dgm:t>
        <a:bodyPr/>
        <a:lstStyle/>
        <a:p>
          <a:endParaRPr lang="en-US" sz="2000">
            <a:latin typeface="Arial" panose="020B0604020202020204" pitchFamily="34" charset="0"/>
            <a:cs typeface="Arial" panose="020B0604020202020204" pitchFamily="34" charset="0"/>
          </a:endParaRPr>
        </a:p>
      </dgm:t>
    </dgm:pt>
    <dgm:pt modelId="{A031EB19-C127-4D59-B7C6-F2140A0E9355}">
      <dgm:prSet phldrT="[Text]" custT="1"/>
      <dgm:spPr/>
      <dgm:t>
        <a:bodyPr/>
        <a:lstStyle/>
        <a:p>
          <a:pPr algn="ctr">
            <a:buNone/>
          </a:pPr>
          <a:r>
            <a:rPr lang="en-US" sz="2000" b="0" dirty="0">
              <a:latin typeface="Arial" panose="020B0604020202020204" pitchFamily="34" charset="0"/>
              <a:cs typeface="Arial" panose="020B0604020202020204" pitchFamily="34" charset="0"/>
            </a:rPr>
            <a:t>Selection of relevant information</a:t>
          </a:r>
        </a:p>
      </dgm:t>
    </dgm:pt>
    <dgm:pt modelId="{C1084CDA-1186-4520-B36B-D94F21693FB8}" type="parTrans" cxnId="{E1A4F0DE-43D5-4EB5-B88E-FF4AACCED7EB}">
      <dgm:prSet/>
      <dgm:spPr/>
      <dgm:t>
        <a:bodyPr/>
        <a:lstStyle/>
        <a:p>
          <a:endParaRPr lang="en-US"/>
        </a:p>
      </dgm:t>
    </dgm:pt>
    <dgm:pt modelId="{3864000F-B243-46B4-A5F9-DB18520CB1FD}" type="sibTrans" cxnId="{E1A4F0DE-43D5-4EB5-B88E-FF4AACCED7EB}">
      <dgm:prSet/>
      <dgm:spPr/>
      <dgm:t>
        <a:bodyPr/>
        <a:lstStyle/>
        <a:p>
          <a:endParaRPr lang="en-US"/>
        </a:p>
      </dgm:t>
    </dgm:pt>
    <dgm:pt modelId="{54AAB622-5839-4CA2-A5B5-80495F2275FF}">
      <dgm:prSet phldrT="[Text]" custT="1">
        <dgm:style>
          <a:lnRef idx="1">
            <a:schemeClr val="accent5"/>
          </a:lnRef>
          <a:fillRef idx="2">
            <a:schemeClr val="accent5"/>
          </a:fillRef>
          <a:effectRef idx="1">
            <a:schemeClr val="accent5"/>
          </a:effectRef>
          <a:fontRef idx="minor">
            <a:schemeClr val="dk1"/>
          </a:fontRef>
        </dgm:style>
      </dgm:prSet>
      <dgm:spPr/>
      <dgm:t>
        <a:bodyPr/>
        <a:lstStyle/>
        <a:p>
          <a:r>
            <a:rPr lang="en-US" sz="2000" dirty="0">
              <a:latin typeface="Arial" panose="020B0604020202020204" pitchFamily="34" charset="0"/>
              <a:cs typeface="Arial" panose="020B0604020202020204" pitchFamily="34" charset="0"/>
            </a:rPr>
            <a:t>Step 2</a:t>
          </a:r>
        </a:p>
      </dgm:t>
    </dgm:pt>
    <dgm:pt modelId="{C8F52525-D724-4456-8E83-3992170FC8E1}" type="parTrans" cxnId="{78D690B6-D621-47F5-A03C-1BBFB61FB704}">
      <dgm:prSet/>
      <dgm:spPr/>
      <dgm:t>
        <a:bodyPr/>
        <a:lstStyle/>
        <a:p>
          <a:endParaRPr lang="en-US"/>
        </a:p>
      </dgm:t>
    </dgm:pt>
    <dgm:pt modelId="{DAB71033-3E50-4D8E-9B0C-6B18501036CC}" type="sibTrans" cxnId="{78D690B6-D621-47F5-A03C-1BBFB61FB704}">
      <dgm:prSet/>
      <dgm:spPr/>
      <dgm:t>
        <a:bodyPr/>
        <a:lstStyle/>
        <a:p>
          <a:endParaRPr lang="en-US" sz="2000">
            <a:latin typeface="Arial" panose="020B0604020202020204" pitchFamily="34" charset="0"/>
            <a:cs typeface="Arial" panose="020B0604020202020204" pitchFamily="34" charset="0"/>
          </a:endParaRPr>
        </a:p>
      </dgm:t>
    </dgm:pt>
    <dgm:pt modelId="{FE22ABA5-E8D6-460C-98EA-B937F0DAB4A4}">
      <dgm:prSet phldrT="[Text]" custT="1"/>
      <dgm:spPr/>
      <dgm:t>
        <a:bodyPr/>
        <a:lstStyle/>
        <a:p>
          <a:pPr algn="ctr">
            <a:buNone/>
          </a:pPr>
          <a:r>
            <a:rPr lang="en-US" sz="2000" b="0" dirty="0">
              <a:latin typeface="Arial" panose="020B0604020202020204" pitchFamily="34" charset="0"/>
              <a:cs typeface="Arial" panose="020B0604020202020204" pitchFamily="34" charset="0"/>
            </a:rPr>
            <a:t>Calculation of appropriate ratios from the data</a:t>
          </a:r>
        </a:p>
      </dgm:t>
    </dgm:pt>
    <dgm:pt modelId="{C9BF5F80-89EE-4483-BBED-4C97899AE46D}" type="parTrans" cxnId="{96F75772-AC3C-45BF-831A-A5237C5F2B2C}">
      <dgm:prSet/>
      <dgm:spPr/>
      <dgm:t>
        <a:bodyPr/>
        <a:lstStyle/>
        <a:p>
          <a:endParaRPr lang="en-US"/>
        </a:p>
      </dgm:t>
    </dgm:pt>
    <dgm:pt modelId="{B29BEC3C-18C9-42B4-B126-C8CC0902CBE8}" type="sibTrans" cxnId="{96F75772-AC3C-45BF-831A-A5237C5F2B2C}">
      <dgm:prSet/>
      <dgm:spPr/>
      <dgm:t>
        <a:bodyPr/>
        <a:lstStyle/>
        <a:p>
          <a:endParaRPr lang="en-US"/>
        </a:p>
      </dgm:t>
    </dgm:pt>
    <dgm:pt modelId="{C6E9613C-5611-4C46-A8A4-AABBB0C54C28}">
      <dgm:prSet phldrT="[Text]" custT="1">
        <dgm:style>
          <a:lnRef idx="1">
            <a:schemeClr val="accent2"/>
          </a:lnRef>
          <a:fillRef idx="2">
            <a:schemeClr val="accent2"/>
          </a:fillRef>
          <a:effectRef idx="1">
            <a:schemeClr val="accent2"/>
          </a:effectRef>
          <a:fontRef idx="minor">
            <a:schemeClr val="dk1"/>
          </a:fontRef>
        </dgm:style>
      </dgm:prSet>
      <dgm:spPr/>
      <dgm:t>
        <a:bodyPr/>
        <a:lstStyle/>
        <a:p>
          <a:r>
            <a:rPr lang="en-US" sz="2000" dirty="0">
              <a:latin typeface="Arial" panose="020B0604020202020204" pitchFamily="34" charset="0"/>
              <a:cs typeface="Arial" panose="020B0604020202020204" pitchFamily="34" charset="0"/>
            </a:rPr>
            <a:t>Step 3</a:t>
          </a:r>
        </a:p>
      </dgm:t>
    </dgm:pt>
    <dgm:pt modelId="{0D42FD65-EF6B-46E2-A2BB-94D53EC2086B}" type="parTrans" cxnId="{40A98DB8-7EEB-4A5A-84DC-0CFAAF50E3AB}">
      <dgm:prSet/>
      <dgm:spPr/>
      <dgm:t>
        <a:bodyPr/>
        <a:lstStyle/>
        <a:p>
          <a:endParaRPr lang="en-US"/>
        </a:p>
      </dgm:t>
    </dgm:pt>
    <dgm:pt modelId="{74CCF27F-E49B-4C88-9B2B-24C928875E85}" type="sibTrans" cxnId="{40A98DB8-7EEB-4A5A-84DC-0CFAAF50E3AB}">
      <dgm:prSet/>
      <dgm:spPr/>
      <dgm:t>
        <a:bodyPr/>
        <a:lstStyle/>
        <a:p>
          <a:endParaRPr lang="en-US" sz="2000">
            <a:latin typeface="Arial" panose="020B0604020202020204" pitchFamily="34" charset="0"/>
            <a:cs typeface="Arial" panose="020B0604020202020204" pitchFamily="34" charset="0"/>
          </a:endParaRPr>
        </a:p>
      </dgm:t>
    </dgm:pt>
    <dgm:pt modelId="{24BD57A4-6D67-4C68-9E5E-37001DB812CD}">
      <dgm:prSet phldrT="[Text]" custT="1"/>
      <dgm:spPr/>
      <dgm:t>
        <a:bodyPr/>
        <a:lstStyle/>
        <a:p>
          <a:pPr algn="ctr">
            <a:buNone/>
          </a:pPr>
          <a:r>
            <a:rPr lang="en-US" sz="2000" b="0" dirty="0">
              <a:latin typeface="Arial" panose="020B0604020202020204" pitchFamily="34" charset="0"/>
              <a:cs typeface="Arial" panose="020B0604020202020204" pitchFamily="34" charset="0"/>
            </a:rPr>
            <a:t>Comparison of calculated ratio</a:t>
          </a:r>
        </a:p>
      </dgm:t>
    </dgm:pt>
    <dgm:pt modelId="{11CD2814-80A1-44C6-AD4F-D54F2C23C7BA}" type="parTrans" cxnId="{1F87E3F3-138B-42F8-BFF4-563C4AC315C2}">
      <dgm:prSet/>
      <dgm:spPr/>
      <dgm:t>
        <a:bodyPr/>
        <a:lstStyle/>
        <a:p>
          <a:endParaRPr lang="en-US"/>
        </a:p>
      </dgm:t>
    </dgm:pt>
    <dgm:pt modelId="{BF561860-B1FD-4058-9F37-B430BCC726F9}" type="sibTrans" cxnId="{1F87E3F3-138B-42F8-BFF4-563C4AC315C2}">
      <dgm:prSet/>
      <dgm:spPr/>
      <dgm:t>
        <a:bodyPr/>
        <a:lstStyle/>
        <a:p>
          <a:endParaRPr lang="en-US"/>
        </a:p>
      </dgm:t>
    </dgm:pt>
    <dgm:pt modelId="{BC00D40B-306C-4D49-B7F8-57745577749A}">
      <dgm:prSet custT="1">
        <dgm:style>
          <a:lnRef idx="1">
            <a:schemeClr val="accent4"/>
          </a:lnRef>
          <a:fillRef idx="2">
            <a:schemeClr val="accent4"/>
          </a:fillRef>
          <a:effectRef idx="1">
            <a:schemeClr val="accent4"/>
          </a:effectRef>
          <a:fontRef idx="minor">
            <a:schemeClr val="dk1"/>
          </a:fontRef>
        </dgm:style>
      </dgm:prSet>
      <dgm:spPr/>
      <dgm:t>
        <a:bodyPr/>
        <a:lstStyle/>
        <a:p>
          <a:r>
            <a:rPr lang="en-US" sz="2000" dirty="0">
              <a:latin typeface="Arial" panose="020B0604020202020204" pitchFamily="34" charset="0"/>
              <a:cs typeface="Arial" panose="020B0604020202020204" pitchFamily="34" charset="0"/>
            </a:rPr>
            <a:t>Step 4</a:t>
          </a:r>
        </a:p>
      </dgm:t>
    </dgm:pt>
    <dgm:pt modelId="{EAD8113F-553D-4275-8964-5C1F298E2F4F}" type="parTrans" cxnId="{F0FD8277-5932-4E9B-9E93-71588006A548}">
      <dgm:prSet/>
      <dgm:spPr/>
      <dgm:t>
        <a:bodyPr/>
        <a:lstStyle/>
        <a:p>
          <a:endParaRPr lang="en-US"/>
        </a:p>
      </dgm:t>
    </dgm:pt>
    <dgm:pt modelId="{051F896B-FFA8-4870-8D13-627F57896294}" type="sibTrans" cxnId="{F0FD8277-5932-4E9B-9E93-71588006A548}">
      <dgm:prSet/>
      <dgm:spPr/>
      <dgm:t>
        <a:bodyPr/>
        <a:lstStyle/>
        <a:p>
          <a:endParaRPr lang="en-US"/>
        </a:p>
      </dgm:t>
    </dgm:pt>
    <dgm:pt modelId="{A7FCD7C4-1E5E-48FF-9678-D3158FBCBBCB}">
      <dgm:prSet custT="1"/>
      <dgm:spPr/>
      <dgm:t>
        <a:bodyPr/>
        <a:lstStyle/>
        <a:p>
          <a:pPr algn="ctr">
            <a:buNone/>
          </a:pPr>
          <a:r>
            <a:rPr lang="en-US" sz="2000" b="0" dirty="0">
              <a:latin typeface="Arial" panose="020B0604020202020204" pitchFamily="34" charset="0"/>
              <a:cs typeface="Arial" panose="020B0604020202020204" pitchFamily="34" charset="0"/>
            </a:rPr>
            <a:t>Analysis and interpretation of the ratios</a:t>
          </a:r>
        </a:p>
      </dgm:t>
    </dgm:pt>
    <dgm:pt modelId="{893922E2-CB95-4ED3-89BE-F229C022D946}" type="parTrans" cxnId="{3BE6B39A-15E2-418C-AB92-49D81AEBAA7E}">
      <dgm:prSet/>
      <dgm:spPr/>
      <dgm:t>
        <a:bodyPr/>
        <a:lstStyle/>
        <a:p>
          <a:endParaRPr lang="en-US"/>
        </a:p>
      </dgm:t>
    </dgm:pt>
    <dgm:pt modelId="{CA0EBA2F-3199-43F0-9E73-641B4F9DE718}" type="sibTrans" cxnId="{3BE6B39A-15E2-418C-AB92-49D81AEBAA7E}">
      <dgm:prSet/>
      <dgm:spPr/>
      <dgm:t>
        <a:bodyPr/>
        <a:lstStyle/>
        <a:p>
          <a:endParaRPr lang="en-US"/>
        </a:p>
      </dgm:t>
    </dgm:pt>
    <dgm:pt modelId="{0166CA8E-611F-4640-B8F0-363AC025DA51}" type="pres">
      <dgm:prSet presAssocID="{6E2A9B89-FA0F-46FC-B36D-7695EA574823}" presName="Name0" presStyleCnt="0">
        <dgm:presLayoutVars>
          <dgm:dir/>
          <dgm:animLvl val="lvl"/>
          <dgm:resizeHandles val="exact"/>
        </dgm:presLayoutVars>
      </dgm:prSet>
      <dgm:spPr/>
    </dgm:pt>
    <dgm:pt modelId="{59136A95-722B-4E68-8196-20711C034837}" type="pres">
      <dgm:prSet presAssocID="{6E2A9B89-FA0F-46FC-B36D-7695EA574823}" presName="tSp" presStyleCnt="0"/>
      <dgm:spPr/>
    </dgm:pt>
    <dgm:pt modelId="{FF17939C-C9F2-45AE-A129-51F95757540F}" type="pres">
      <dgm:prSet presAssocID="{6E2A9B89-FA0F-46FC-B36D-7695EA574823}" presName="bSp" presStyleCnt="0"/>
      <dgm:spPr/>
    </dgm:pt>
    <dgm:pt modelId="{4D9DD061-1200-4610-BA14-580A3F6D42E7}" type="pres">
      <dgm:prSet presAssocID="{6E2A9B89-FA0F-46FC-B36D-7695EA574823}" presName="process" presStyleCnt="0"/>
      <dgm:spPr/>
    </dgm:pt>
    <dgm:pt modelId="{675080DB-C79A-4FF6-8310-FFEC431BCDEF}" type="pres">
      <dgm:prSet presAssocID="{E645E6A5-13B0-4C12-B5EC-A1A488394F1D}" presName="composite1" presStyleCnt="0"/>
      <dgm:spPr/>
    </dgm:pt>
    <dgm:pt modelId="{334CBE28-A4CA-45E0-945C-D25EACE3BFC9}" type="pres">
      <dgm:prSet presAssocID="{E645E6A5-13B0-4C12-B5EC-A1A488394F1D}" presName="dummyNode1" presStyleLbl="node1" presStyleIdx="0" presStyleCnt="4"/>
      <dgm:spPr/>
    </dgm:pt>
    <dgm:pt modelId="{879F2F1C-5211-4AC9-8B64-1D325167CABE}" type="pres">
      <dgm:prSet presAssocID="{E645E6A5-13B0-4C12-B5EC-A1A488394F1D}" presName="childNode1" presStyleLbl="bgAcc1" presStyleIdx="0" presStyleCnt="4">
        <dgm:presLayoutVars>
          <dgm:bulletEnabled val="1"/>
        </dgm:presLayoutVars>
      </dgm:prSet>
      <dgm:spPr/>
    </dgm:pt>
    <dgm:pt modelId="{88C530D2-67FE-4360-B4E3-840AEBE51F2F}" type="pres">
      <dgm:prSet presAssocID="{E645E6A5-13B0-4C12-B5EC-A1A488394F1D}" presName="childNode1tx" presStyleLbl="bgAcc1" presStyleIdx="0" presStyleCnt="4">
        <dgm:presLayoutVars>
          <dgm:bulletEnabled val="1"/>
        </dgm:presLayoutVars>
      </dgm:prSet>
      <dgm:spPr/>
    </dgm:pt>
    <dgm:pt modelId="{F7EEE454-261D-41E5-ACA5-5E00F42A29E7}" type="pres">
      <dgm:prSet presAssocID="{E645E6A5-13B0-4C12-B5EC-A1A488394F1D}" presName="parentNode1" presStyleLbl="node1" presStyleIdx="0" presStyleCnt="4">
        <dgm:presLayoutVars>
          <dgm:chMax val="1"/>
          <dgm:bulletEnabled val="1"/>
        </dgm:presLayoutVars>
      </dgm:prSet>
      <dgm:spPr/>
    </dgm:pt>
    <dgm:pt modelId="{A0F0F33D-2D55-4E08-A673-4ADA1A10348B}" type="pres">
      <dgm:prSet presAssocID="{E645E6A5-13B0-4C12-B5EC-A1A488394F1D}" presName="connSite1" presStyleCnt="0"/>
      <dgm:spPr/>
    </dgm:pt>
    <dgm:pt modelId="{016F13D8-DC37-4338-A38A-A28D05CEAC76}" type="pres">
      <dgm:prSet presAssocID="{181C33B7-A57D-4A39-A6EF-94054AE9E238}" presName="Name9" presStyleLbl="sibTrans2D1" presStyleIdx="0" presStyleCnt="3"/>
      <dgm:spPr/>
    </dgm:pt>
    <dgm:pt modelId="{5280D803-D803-4318-9658-9E80FB4BA8C7}" type="pres">
      <dgm:prSet presAssocID="{54AAB622-5839-4CA2-A5B5-80495F2275FF}" presName="composite2" presStyleCnt="0"/>
      <dgm:spPr/>
    </dgm:pt>
    <dgm:pt modelId="{38713032-0108-4CE0-8F77-0B8CD6239033}" type="pres">
      <dgm:prSet presAssocID="{54AAB622-5839-4CA2-A5B5-80495F2275FF}" presName="dummyNode2" presStyleLbl="node1" presStyleIdx="0" presStyleCnt="4"/>
      <dgm:spPr/>
    </dgm:pt>
    <dgm:pt modelId="{D417F2D0-0BB9-4C51-98DB-66F70124319D}" type="pres">
      <dgm:prSet presAssocID="{54AAB622-5839-4CA2-A5B5-80495F2275FF}" presName="childNode2" presStyleLbl="bgAcc1" presStyleIdx="1" presStyleCnt="4" custScaleX="105813" custScaleY="97517">
        <dgm:presLayoutVars>
          <dgm:bulletEnabled val="1"/>
        </dgm:presLayoutVars>
      </dgm:prSet>
      <dgm:spPr/>
    </dgm:pt>
    <dgm:pt modelId="{F9CF22BD-1573-4A0D-92F6-81445A00D372}" type="pres">
      <dgm:prSet presAssocID="{54AAB622-5839-4CA2-A5B5-80495F2275FF}" presName="childNode2tx" presStyleLbl="bgAcc1" presStyleIdx="1" presStyleCnt="4">
        <dgm:presLayoutVars>
          <dgm:bulletEnabled val="1"/>
        </dgm:presLayoutVars>
      </dgm:prSet>
      <dgm:spPr/>
    </dgm:pt>
    <dgm:pt modelId="{532DFD0C-524C-492B-AA66-4D6186693DB5}" type="pres">
      <dgm:prSet presAssocID="{54AAB622-5839-4CA2-A5B5-80495F2275FF}" presName="parentNode2" presStyleLbl="node1" presStyleIdx="1" presStyleCnt="4">
        <dgm:presLayoutVars>
          <dgm:chMax val="0"/>
          <dgm:bulletEnabled val="1"/>
        </dgm:presLayoutVars>
      </dgm:prSet>
      <dgm:spPr/>
    </dgm:pt>
    <dgm:pt modelId="{10652561-6E03-4C83-9572-C3231FBACE0C}" type="pres">
      <dgm:prSet presAssocID="{54AAB622-5839-4CA2-A5B5-80495F2275FF}" presName="connSite2" presStyleCnt="0"/>
      <dgm:spPr/>
    </dgm:pt>
    <dgm:pt modelId="{AD7BC10D-3057-4F94-9103-E35F7516F8D6}" type="pres">
      <dgm:prSet presAssocID="{DAB71033-3E50-4D8E-9B0C-6B18501036CC}" presName="Name18" presStyleLbl="sibTrans2D1" presStyleIdx="1" presStyleCnt="3" custLinFactNeighborX="4102" custLinFactNeighborY="-1609"/>
      <dgm:spPr/>
    </dgm:pt>
    <dgm:pt modelId="{5619FD2F-9C49-4876-9062-C2EF6857E9B2}" type="pres">
      <dgm:prSet presAssocID="{C6E9613C-5611-4C46-A8A4-AABBB0C54C28}" presName="composite1" presStyleCnt="0"/>
      <dgm:spPr/>
    </dgm:pt>
    <dgm:pt modelId="{2B0BA7A0-2A46-498C-8CBD-A73D527D14E0}" type="pres">
      <dgm:prSet presAssocID="{C6E9613C-5611-4C46-A8A4-AABBB0C54C28}" presName="dummyNode1" presStyleLbl="node1" presStyleIdx="1" presStyleCnt="4"/>
      <dgm:spPr/>
    </dgm:pt>
    <dgm:pt modelId="{DDDFB4DC-1637-4284-B345-97EE0B95C7A4}" type="pres">
      <dgm:prSet presAssocID="{C6E9613C-5611-4C46-A8A4-AABBB0C54C28}" presName="childNode1" presStyleLbl="bgAcc1" presStyleIdx="2" presStyleCnt="4">
        <dgm:presLayoutVars>
          <dgm:bulletEnabled val="1"/>
        </dgm:presLayoutVars>
      </dgm:prSet>
      <dgm:spPr/>
    </dgm:pt>
    <dgm:pt modelId="{2142A25D-EB61-4DF5-A950-FD97ED07B419}" type="pres">
      <dgm:prSet presAssocID="{C6E9613C-5611-4C46-A8A4-AABBB0C54C28}" presName="childNode1tx" presStyleLbl="bgAcc1" presStyleIdx="2" presStyleCnt="4">
        <dgm:presLayoutVars>
          <dgm:bulletEnabled val="1"/>
        </dgm:presLayoutVars>
      </dgm:prSet>
      <dgm:spPr/>
    </dgm:pt>
    <dgm:pt modelId="{C79656E7-AEA8-4723-AEA4-6B5CBC2EC195}" type="pres">
      <dgm:prSet presAssocID="{C6E9613C-5611-4C46-A8A4-AABBB0C54C28}" presName="parentNode1" presStyleLbl="node1" presStyleIdx="2" presStyleCnt="4" custLinFactNeighborX="4276" custLinFactNeighborY="33536">
        <dgm:presLayoutVars>
          <dgm:chMax val="1"/>
          <dgm:bulletEnabled val="1"/>
        </dgm:presLayoutVars>
      </dgm:prSet>
      <dgm:spPr/>
    </dgm:pt>
    <dgm:pt modelId="{598C1121-827D-4B52-8CB4-16EC2E5F1DFC}" type="pres">
      <dgm:prSet presAssocID="{C6E9613C-5611-4C46-A8A4-AABBB0C54C28}" presName="connSite1" presStyleCnt="0"/>
      <dgm:spPr/>
    </dgm:pt>
    <dgm:pt modelId="{6AF1EF21-4E4E-4397-BA95-72A9EE6A2962}" type="pres">
      <dgm:prSet presAssocID="{74CCF27F-E49B-4C88-9B2B-24C928875E85}" presName="Name9" presStyleLbl="sibTrans2D1" presStyleIdx="2" presStyleCnt="3" custLinFactNeighborX="14975" custLinFactNeighborY="-3249"/>
      <dgm:spPr/>
    </dgm:pt>
    <dgm:pt modelId="{CDEB311C-8BCD-447D-8DEB-E10972FB350B}" type="pres">
      <dgm:prSet presAssocID="{BC00D40B-306C-4D49-B7F8-57745577749A}" presName="composite2" presStyleCnt="0"/>
      <dgm:spPr/>
    </dgm:pt>
    <dgm:pt modelId="{DF369A1B-BCA8-407B-83B3-54A81D8E31A2}" type="pres">
      <dgm:prSet presAssocID="{BC00D40B-306C-4D49-B7F8-57745577749A}" presName="dummyNode2" presStyleLbl="node1" presStyleIdx="2" presStyleCnt="4"/>
      <dgm:spPr/>
    </dgm:pt>
    <dgm:pt modelId="{DA667943-240D-4CAD-90C2-AE6E58A0D4E3}" type="pres">
      <dgm:prSet presAssocID="{BC00D40B-306C-4D49-B7F8-57745577749A}" presName="childNode2" presStyleLbl="bgAcc1" presStyleIdx="3" presStyleCnt="4" custScaleX="113967" custScaleY="93115" custLinFactNeighborX="303" custLinFactNeighborY="4901">
        <dgm:presLayoutVars>
          <dgm:bulletEnabled val="1"/>
        </dgm:presLayoutVars>
      </dgm:prSet>
      <dgm:spPr/>
    </dgm:pt>
    <dgm:pt modelId="{8822911C-8968-4ABB-A6FB-445B0602AE47}" type="pres">
      <dgm:prSet presAssocID="{BC00D40B-306C-4D49-B7F8-57745577749A}" presName="childNode2tx" presStyleLbl="bgAcc1" presStyleIdx="3" presStyleCnt="4">
        <dgm:presLayoutVars>
          <dgm:bulletEnabled val="1"/>
        </dgm:presLayoutVars>
      </dgm:prSet>
      <dgm:spPr/>
    </dgm:pt>
    <dgm:pt modelId="{6A60B9F2-C234-468A-A9A4-0FF127578DAA}" type="pres">
      <dgm:prSet presAssocID="{BC00D40B-306C-4D49-B7F8-57745577749A}" presName="parentNode2" presStyleLbl="node1" presStyleIdx="3" presStyleCnt="4">
        <dgm:presLayoutVars>
          <dgm:chMax val="0"/>
          <dgm:bulletEnabled val="1"/>
        </dgm:presLayoutVars>
      </dgm:prSet>
      <dgm:spPr/>
    </dgm:pt>
    <dgm:pt modelId="{60FCE738-EA89-4852-9936-186F02A9143A}" type="pres">
      <dgm:prSet presAssocID="{BC00D40B-306C-4D49-B7F8-57745577749A}" presName="connSite2" presStyleCnt="0"/>
      <dgm:spPr/>
    </dgm:pt>
  </dgm:ptLst>
  <dgm:cxnLst>
    <dgm:cxn modelId="{DE3B4103-35D5-44EA-9C5A-F0F8A04CBCC6}" type="presOf" srcId="{24BD57A4-6D67-4C68-9E5E-37001DB812CD}" destId="{DDDFB4DC-1637-4284-B345-97EE0B95C7A4}" srcOrd="0" destOrd="0" presId="urn:microsoft.com/office/officeart/2005/8/layout/hProcess4"/>
    <dgm:cxn modelId="{A8149604-8582-4EC4-9AF3-0E099153764F}" type="presOf" srcId="{54AAB622-5839-4CA2-A5B5-80495F2275FF}" destId="{532DFD0C-524C-492B-AA66-4D6186693DB5}" srcOrd="0" destOrd="0" presId="urn:microsoft.com/office/officeart/2005/8/layout/hProcess4"/>
    <dgm:cxn modelId="{CD992E12-CDB5-4344-9359-23B2ECF50D6E}" type="presOf" srcId="{181C33B7-A57D-4A39-A6EF-94054AE9E238}" destId="{016F13D8-DC37-4338-A38A-A28D05CEAC76}" srcOrd="0" destOrd="0" presId="urn:microsoft.com/office/officeart/2005/8/layout/hProcess4"/>
    <dgm:cxn modelId="{BBDCA128-1957-4F05-9074-03A0E059B1BA}" type="presOf" srcId="{FE22ABA5-E8D6-460C-98EA-B937F0DAB4A4}" destId="{D417F2D0-0BB9-4C51-98DB-66F70124319D}" srcOrd="0" destOrd="0" presId="urn:microsoft.com/office/officeart/2005/8/layout/hProcess4"/>
    <dgm:cxn modelId="{132E9534-5460-4CCD-B13E-99A72863CE39}" type="presOf" srcId="{A031EB19-C127-4D59-B7C6-F2140A0E9355}" destId="{88C530D2-67FE-4360-B4E3-840AEBE51F2F}" srcOrd="1" destOrd="0" presId="urn:microsoft.com/office/officeart/2005/8/layout/hProcess4"/>
    <dgm:cxn modelId="{8FC03A39-EBAB-4898-B11B-5AFA825E8ACF}" type="presOf" srcId="{24BD57A4-6D67-4C68-9E5E-37001DB812CD}" destId="{2142A25D-EB61-4DF5-A950-FD97ED07B419}" srcOrd="1" destOrd="0" presId="urn:microsoft.com/office/officeart/2005/8/layout/hProcess4"/>
    <dgm:cxn modelId="{2DD0A039-B30A-4B04-81CF-8E7B6CE35A03}" type="presOf" srcId="{A031EB19-C127-4D59-B7C6-F2140A0E9355}" destId="{879F2F1C-5211-4AC9-8B64-1D325167CABE}" srcOrd="0" destOrd="0" presId="urn:microsoft.com/office/officeart/2005/8/layout/hProcess4"/>
    <dgm:cxn modelId="{2F905445-D71E-466D-908B-918899CE45BD}" type="presOf" srcId="{6E2A9B89-FA0F-46FC-B36D-7695EA574823}" destId="{0166CA8E-611F-4640-B8F0-363AC025DA51}" srcOrd="0" destOrd="0" presId="urn:microsoft.com/office/officeart/2005/8/layout/hProcess4"/>
    <dgm:cxn modelId="{F6E90F69-807A-482E-ADC0-9C43F10B052F}" type="presOf" srcId="{C6E9613C-5611-4C46-A8A4-AABBB0C54C28}" destId="{C79656E7-AEA8-4723-AEA4-6B5CBC2EC195}" srcOrd="0" destOrd="0" presId="urn:microsoft.com/office/officeart/2005/8/layout/hProcess4"/>
    <dgm:cxn modelId="{F86CD56A-2CDB-48DE-A145-D9242AF1CACE}" srcId="{6E2A9B89-FA0F-46FC-B36D-7695EA574823}" destId="{E645E6A5-13B0-4C12-B5EC-A1A488394F1D}" srcOrd="0" destOrd="0" parTransId="{D384DA32-38B9-42E6-AF34-50762909E1D4}" sibTransId="{181C33B7-A57D-4A39-A6EF-94054AE9E238}"/>
    <dgm:cxn modelId="{CFC33052-05E3-4AEB-8CA0-75F155CE9468}" type="presOf" srcId="{DAB71033-3E50-4D8E-9B0C-6B18501036CC}" destId="{AD7BC10D-3057-4F94-9103-E35F7516F8D6}" srcOrd="0" destOrd="0" presId="urn:microsoft.com/office/officeart/2005/8/layout/hProcess4"/>
    <dgm:cxn modelId="{96F75772-AC3C-45BF-831A-A5237C5F2B2C}" srcId="{54AAB622-5839-4CA2-A5B5-80495F2275FF}" destId="{FE22ABA5-E8D6-460C-98EA-B937F0DAB4A4}" srcOrd="0" destOrd="0" parTransId="{C9BF5F80-89EE-4483-BBED-4C97899AE46D}" sibTransId="{B29BEC3C-18C9-42B4-B126-C8CC0902CBE8}"/>
    <dgm:cxn modelId="{7C0ABC56-E7CB-461D-A1C8-875FD9E32AB5}" type="presOf" srcId="{A7FCD7C4-1E5E-48FF-9678-D3158FBCBBCB}" destId="{DA667943-240D-4CAD-90C2-AE6E58A0D4E3}" srcOrd="0" destOrd="0" presId="urn:microsoft.com/office/officeart/2005/8/layout/hProcess4"/>
    <dgm:cxn modelId="{F0FD8277-5932-4E9B-9E93-71588006A548}" srcId="{6E2A9B89-FA0F-46FC-B36D-7695EA574823}" destId="{BC00D40B-306C-4D49-B7F8-57745577749A}" srcOrd="3" destOrd="0" parTransId="{EAD8113F-553D-4275-8964-5C1F298E2F4F}" sibTransId="{051F896B-FFA8-4870-8D13-627F57896294}"/>
    <dgm:cxn modelId="{B2D9BD8B-5DEA-4B8D-B626-442077224D19}" type="presOf" srcId="{BC00D40B-306C-4D49-B7F8-57745577749A}" destId="{6A60B9F2-C234-468A-A9A4-0FF127578DAA}" srcOrd="0" destOrd="0" presId="urn:microsoft.com/office/officeart/2005/8/layout/hProcess4"/>
    <dgm:cxn modelId="{9A49FA8F-BCF8-4108-91F3-C877899337D0}" type="presOf" srcId="{E645E6A5-13B0-4C12-B5EC-A1A488394F1D}" destId="{F7EEE454-261D-41E5-ACA5-5E00F42A29E7}" srcOrd="0" destOrd="0" presId="urn:microsoft.com/office/officeart/2005/8/layout/hProcess4"/>
    <dgm:cxn modelId="{3BE6B39A-15E2-418C-AB92-49D81AEBAA7E}" srcId="{BC00D40B-306C-4D49-B7F8-57745577749A}" destId="{A7FCD7C4-1E5E-48FF-9678-D3158FBCBBCB}" srcOrd="0" destOrd="0" parTransId="{893922E2-CB95-4ED3-89BE-F229C022D946}" sibTransId="{CA0EBA2F-3199-43F0-9E73-641B4F9DE718}"/>
    <dgm:cxn modelId="{78D690B6-D621-47F5-A03C-1BBFB61FB704}" srcId="{6E2A9B89-FA0F-46FC-B36D-7695EA574823}" destId="{54AAB622-5839-4CA2-A5B5-80495F2275FF}" srcOrd="1" destOrd="0" parTransId="{C8F52525-D724-4456-8E83-3992170FC8E1}" sibTransId="{DAB71033-3E50-4D8E-9B0C-6B18501036CC}"/>
    <dgm:cxn modelId="{EC0008B7-2585-461D-935E-6AABD4BBB114}" type="presOf" srcId="{FE22ABA5-E8D6-460C-98EA-B937F0DAB4A4}" destId="{F9CF22BD-1573-4A0D-92F6-81445A00D372}" srcOrd="1" destOrd="0" presId="urn:microsoft.com/office/officeart/2005/8/layout/hProcess4"/>
    <dgm:cxn modelId="{40A98DB8-7EEB-4A5A-84DC-0CFAAF50E3AB}" srcId="{6E2A9B89-FA0F-46FC-B36D-7695EA574823}" destId="{C6E9613C-5611-4C46-A8A4-AABBB0C54C28}" srcOrd="2" destOrd="0" parTransId="{0D42FD65-EF6B-46E2-A2BB-94D53EC2086B}" sibTransId="{74CCF27F-E49B-4C88-9B2B-24C928875E85}"/>
    <dgm:cxn modelId="{E1A4F0DE-43D5-4EB5-B88E-FF4AACCED7EB}" srcId="{E645E6A5-13B0-4C12-B5EC-A1A488394F1D}" destId="{A031EB19-C127-4D59-B7C6-F2140A0E9355}" srcOrd="0" destOrd="0" parTransId="{C1084CDA-1186-4520-B36B-D94F21693FB8}" sibTransId="{3864000F-B243-46B4-A5F9-DB18520CB1FD}"/>
    <dgm:cxn modelId="{CFCB9AE5-336E-4004-B979-F96F71932414}" type="presOf" srcId="{74CCF27F-E49B-4C88-9B2B-24C928875E85}" destId="{6AF1EF21-4E4E-4397-BA95-72A9EE6A2962}" srcOrd="0" destOrd="0" presId="urn:microsoft.com/office/officeart/2005/8/layout/hProcess4"/>
    <dgm:cxn modelId="{3755DDEB-FD04-451B-89E3-520AEC6EA02D}" type="presOf" srcId="{A7FCD7C4-1E5E-48FF-9678-D3158FBCBBCB}" destId="{8822911C-8968-4ABB-A6FB-445B0602AE47}" srcOrd="1" destOrd="0" presId="urn:microsoft.com/office/officeart/2005/8/layout/hProcess4"/>
    <dgm:cxn modelId="{1F87E3F3-138B-42F8-BFF4-563C4AC315C2}" srcId="{C6E9613C-5611-4C46-A8A4-AABBB0C54C28}" destId="{24BD57A4-6D67-4C68-9E5E-37001DB812CD}" srcOrd="0" destOrd="0" parTransId="{11CD2814-80A1-44C6-AD4F-D54F2C23C7BA}" sibTransId="{BF561860-B1FD-4058-9F37-B430BCC726F9}"/>
    <dgm:cxn modelId="{F2B9D1B7-9E5B-4B00-8300-200736C46599}" type="presParOf" srcId="{0166CA8E-611F-4640-B8F0-363AC025DA51}" destId="{59136A95-722B-4E68-8196-20711C034837}" srcOrd="0" destOrd="0" presId="urn:microsoft.com/office/officeart/2005/8/layout/hProcess4"/>
    <dgm:cxn modelId="{FA10CCBB-D457-497B-B763-DFD17185974D}" type="presParOf" srcId="{0166CA8E-611F-4640-B8F0-363AC025DA51}" destId="{FF17939C-C9F2-45AE-A129-51F95757540F}" srcOrd="1" destOrd="0" presId="urn:microsoft.com/office/officeart/2005/8/layout/hProcess4"/>
    <dgm:cxn modelId="{08C1A65E-EBA2-48DB-9C7D-6DE254171165}" type="presParOf" srcId="{0166CA8E-611F-4640-B8F0-363AC025DA51}" destId="{4D9DD061-1200-4610-BA14-580A3F6D42E7}" srcOrd="2" destOrd="0" presId="urn:microsoft.com/office/officeart/2005/8/layout/hProcess4"/>
    <dgm:cxn modelId="{1BF900B0-F848-4C40-90F9-995754DA87D2}" type="presParOf" srcId="{4D9DD061-1200-4610-BA14-580A3F6D42E7}" destId="{675080DB-C79A-4FF6-8310-FFEC431BCDEF}" srcOrd="0" destOrd="0" presId="urn:microsoft.com/office/officeart/2005/8/layout/hProcess4"/>
    <dgm:cxn modelId="{D1AB0561-1CEC-45C7-832B-31F9A1E15A20}" type="presParOf" srcId="{675080DB-C79A-4FF6-8310-FFEC431BCDEF}" destId="{334CBE28-A4CA-45E0-945C-D25EACE3BFC9}" srcOrd="0" destOrd="0" presId="urn:microsoft.com/office/officeart/2005/8/layout/hProcess4"/>
    <dgm:cxn modelId="{84C82E3B-5E7E-4F84-A020-E412A96BF01A}" type="presParOf" srcId="{675080DB-C79A-4FF6-8310-FFEC431BCDEF}" destId="{879F2F1C-5211-4AC9-8B64-1D325167CABE}" srcOrd="1" destOrd="0" presId="urn:microsoft.com/office/officeart/2005/8/layout/hProcess4"/>
    <dgm:cxn modelId="{ED45120E-7F51-44E1-807A-1618C68D921C}" type="presParOf" srcId="{675080DB-C79A-4FF6-8310-FFEC431BCDEF}" destId="{88C530D2-67FE-4360-B4E3-840AEBE51F2F}" srcOrd="2" destOrd="0" presId="urn:microsoft.com/office/officeart/2005/8/layout/hProcess4"/>
    <dgm:cxn modelId="{14F0C6C5-5A33-4EFF-926C-ECBA485623ED}" type="presParOf" srcId="{675080DB-C79A-4FF6-8310-FFEC431BCDEF}" destId="{F7EEE454-261D-41E5-ACA5-5E00F42A29E7}" srcOrd="3" destOrd="0" presId="urn:microsoft.com/office/officeart/2005/8/layout/hProcess4"/>
    <dgm:cxn modelId="{0E1B795C-CBB9-4452-9415-D8F62FD6430C}" type="presParOf" srcId="{675080DB-C79A-4FF6-8310-FFEC431BCDEF}" destId="{A0F0F33D-2D55-4E08-A673-4ADA1A10348B}" srcOrd="4" destOrd="0" presId="urn:microsoft.com/office/officeart/2005/8/layout/hProcess4"/>
    <dgm:cxn modelId="{1C672C36-EC08-4C0F-A92A-6D308D628BA2}" type="presParOf" srcId="{4D9DD061-1200-4610-BA14-580A3F6D42E7}" destId="{016F13D8-DC37-4338-A38A-A28D05CEAC76}" srcOrd="1" destOrd="0" presId="urn:microsoft.com/office/officeart/2005/8/layout/hProcess4"/>
    <dgm:cxn modelId="{1B544101-C799-4D8B-BFB9-052CF469E656}" type="presParOf" srcId="{4D9DD061-1200-4610-BA14-580A3F6D42E7}" destId="{5280D803-D803-4318-9658-9E80FB4BA8C7}" srcOrd="2" destOrd="0" presId="urn:microsoft.com/office/officeart/2005/8/layout/hProcess4"/>
    <dgm:cxn modelId="{8FDE18E0-FDF4-44A8-B1B3-856762E9888A}" type="presParOf" srcId="{5280D803-D803-4318-9658-9E80FB4BA8C7}" destId="{38713032-0108-4CE0-8F77-0B8CD6239033}" srcOrd="0" destOrd="0" presId="urn:microsoft.com/office/officeart/2005/8/layout/hProcess4"/>
    <dgm:cxn modelId="{9CEF6E42-A272-4D29-848E-7DB42BCC4430}" type="presParOf" srcId="{5280D803-D803-4318-9658-9E80FB4BA8C7}" destId="{D417F2D0-0BB9-4C51-98DB-66F70124319D}" srcOrd="1" destOrd="0" presId="urn:microsoft.com/office/officeart/2005/8/layout/hProcess4"/>
    <dgm:cxn modelId="{87B03645-68DA-4E2D-8111-F9E1AF89E7C6}" type="presParOf" srcId="{5280D803-D803-4318-9658-9E80FB4BA8C7}" destId="{F9CF22BD-1573-4A0D-92F6-81445A00D372}" srcOrd="2" destOrd="0" presId="urn:microsoft.com/office/officeart/2005/8/layout/hProcess4"/>
    <dgm:cxn modelId="{DDD53EB9-5681-4D3F-B1C3-9A3D42A7F907}" type="presParOf" srcId="{5280D803-D803-4318-9658-9E80FB4BA8C7}" destId="{532DFD0C-524C-492B-AA66-4D6186693DB5}" srcOrd="3" destOrd="0" presId="urn:microsoft.com/office/officeart/2005/8/layout/hProcess4"/>
    <dgm:cxn modelId="{A4A8C129-1CED-4FA2-9B80-26B5ACED2E04}" type="presParOf" srcId="{5280D803-D803-4318-9658-9E80FB4BA8C7}" destId="{10652561-6E03-4C83-9572-C3231FBACE0C}" srcOrd="4" destOrd="0" presId="urn:microsoft.com/office/officeart/2005/8/layout/hProcess4"/>
    <dgm:cxn modelId="{A07F0615-FFF3-429C-B5BD-8D679662B0C9}" type="presParOf" srcId="{4D9DD061-1200-4610-BA14-580A3F6D42E7}" destId="{AD7BC10D-3057-4F94-9103-E35F7516F8D6}" srcOrd="3" destOrd="0" presId="urn:microsoft.com/office/officeart/2005/8/layout/hProcess4"/>
    <dgm:cxn modelId="{991EF79B-68FC-4B57-AD01-0B97D67E5ED0}" type="presParOf" srcId="{4D9DD061-1200-4610-BA14-580A3F6D42E7}" destId="{5619FD2F-9C49-4876-9062-C2EF6857E9B2}" srcOrd="4" destOrd="0" presId="urn:microsoft.com/office/officeart/2005/8/layout/hProcess4"/>
    <dgm:cxn modelId="{7E0BCA16-3BBA-408B-AE19-A1B661AFBC0D}" type="presParOf" srcId="{5619FD2F-9C49-4876-9062-C2EF6857E9B2}" destId="{2B0BA7A0-2A46-498C-8CBD-A73D527D14E0}" srcOrd="0" destOrd="0" presId="urn:microsoft.com/office/officeart/2005/8/layout/hProcess4"/>
    <dgm:cxn modelId="{E3F3D20B-ECC1-44E7-9CD0-B9C504A8910C}" type="presParOf" srcId="{5619FD2F-9C49-4876-9062-C2EF6857E9B2}" destId="{DDDFB4DC-1637-4284-B345-97EE0B95C7A4}" srcOrd="1" destOrd="0" presId="urn:microsoft.com/office/officeart/2005/8/layout/hProcess4"/>
    <dgm:cxn modelId="{27ADF66B-7714-46F5-A9AE-8CE48F1A30F5}" type="presParOf" srcId="{5619FD2F-9C49-4876-9062-C2EF6857E9B2}" destId="{2142A25D-EB61-4DF5-A950-FD97ED07B419}" srcOrd="2" destOrd="0" presId="urn:microsoft.com/office/officeart/2005/8/layout/hProcess4"/>
    <dgm:cxn modelId="{BB672EB7-FFB0-477D-A535-DF324740845A}" type="presParOf" srcId="{5619FD2F-9C49-4876-9062-C2EF6857E9B2}" destId="{C79656E7-AEA8-4723-AEA4-6B5CBC2EC195}" srcOrd="3" destOrd="0" presId="urn:microsoft.com/office/officeart/2005/8/layout/hProcess4"/>
    <dgm:cxn modelId="{C2BEC41C-9D93-486B-8FC9-44037B01D909}" type="presParOf" srcId="{5619FD2F-9C49-4876-9062-C2EF6857E9B2}" destId="{598C1121-827D-4B52-8CB4-16EC2E5F1DFC}" srcOrd="4" destOrd="0" presId="urn:microsoft.com/office/officeart/2005/8/layout/hProcess4"/>
    <dgm:cxn modelId="{A472862B-75E5-4F9E-9FAD-912D8FCA2D12}" type="presParOf" srcId="{4D9DD061-1200-4610-BA14-580A3F6D42E7}" destId="{6AF1EF21-4E4E-4397-BA95-72A9EE6A2962}" srcOrd="5" destOrd="0" presId="urn:microsoft.com/office/officeart/2005/8/layout/hProcess4"/>
    <dgm:cxn modelId="{3FA9558E-3CFB-4FB5-8998-2CEFC3780E6C}" type="presParOf" srcId="{4D9DD061-1200-4610-BA14-580A3F6D42E7}" destId="{CDEB311C-8BCD-447D-8DEB-E10972FB350B}" srcOrd="6" destOrd="0" presId="urn:microsoft.com/office/officeart/2005/8/layout/hProcess4"/>
    <dgm:cxn modelId="{163CD3F9-58ED-4206-9BA8-092185F5022F}" type="presParOf" srcId="{CDEB311C-8BCD-447D-8DEB-E10972FB350B}" destId="{DF369A1B-BCA8-407B-83B3-54A81D8E31A2}" srcOrd="0" destOrd="0" presId="urn:microsoft.com/office/officeart/2005/8/layout/hProcess4"/>
    <dgm:cxn modelId="{C695CB1C-D293-423D-B17E-05745679D663}" type="presParOf" srcId="{CDEB311C-8BCD-447D-8DEB-E10972FB350B}" destId="{DA667943-240D-4CAD-90C2-AE6E58A0D4E3}" srcOrd="1" destOrd="0" presId="urn:microsoft.com/office/officeart/2005/8/layout/hProcess4"/>
    <dgm:cxn modelId="{ADEDEFD6-FE40-41DB-972B-DF82F22CE956}" type="presParOf" srcId="{CDEB311C-8BCD-447D-8DEB-E10972FB350B}" destId="{8822911C-8968-4ABB-A6FB-445B0602AE47}" srcOrd="2" destOrd="0" presId="urn:microsoft.com/office/officeart/2005/8/layout/hProcess4"/>
    <dgm:cxn modelId="{1D7873EC-07BE-4743-B5CC-45F8733A0AFB}" type="presParOf" srcId="{CDEB311C-8BCD-447D-8DEB-E10972FB350B}" destId="{6A60B9F2-C234-468A-A9A4-0FF127578DAA}" srcOrd="3" destOrd="0" presId="urn:microsoft.com/office/officeart/2005/8/layout/hProcess4"/>
    <dgm:cxn modelId="{66E5F63A-C721-433E-94DF-E4681DCC09A1}" type="presParOf" srcId="{CDEB311C-8BCD-447D-8DEB-E10972FB350B}" destId="{60FCE738-EA89-4852-9936-186F02A9143A}"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9F2F1C-5211-4AC9-8B64-1D325167CABE}">
      <dsp:nvSpPr>
        <dsp:cNvPr id="0" name=""/>
        <dsp:cNvSpPr/>
      </dsp:nvSpPr>
      <dsp:spPr>
        <a:xfrm>
          <a:off x="5959" y="1786060"/>
          <a:ext cx="2043765" cy="168567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ctr" defTabSz="889000">
            <a:lnSpc>
              <a:spcPct val="90000"/>
            </a:lnSpc>
            <a:spcBef>
              <a:spcPct val="0"/>
            </a:spcBef>
            <a:spcAft>
              <a:spcPct val="15000"/>
            </a:spcAft>
            <a:buNone/>
          </a:pPr>
          <a:r>
            <a:rPr lang="en-US" sz="2000" b="0" kern="1200" dirty="0">
              <a:latin typeface="Arial" panose="020B0604020202020204" pitchFamily="34" charset="0"/>
              <a:cs typeface="Arial" panose="020B0604020202020204" pitchFamily="34" charset="0"/>
            </a:rPr>
            <a:t>Selection of relevant information</a:t>
          </a:r>
        </a:p>
      </dsp:txBody>
      <dsp:txXfrm>
        <a:off x="44751" y="1824852"/>
        <a:ext cx="1966181" cy="1246878"/>
      </dsp:txXfrm>
    </dsp:sp>
    <dsp:sp modelId="{016F13D8-DC37-4338-A38A-A28D05CEAC76}">
      <dsp:nvSpPr>
        <dsp:cNvPr id="0" name=""/>
        <dsp:cNvSpPr/>
      </dsp:nvSpPr>
      <dsp:spPr>
        <a:xfrm>
          <a:off x="1150351" y="2137761"/>
          <a:ext cx="2320141" cy="2320141"/>
        </a:xfrm>
        <a:prstGeom prst="leftCircularArrow">
          <a:avLst>
            <a:gd name="adj1" fmla="val 3053"/>
            <a:gd name="adj2" fmla="val 374768"/>
            <a:gd name="adj3" fmla="val 2149733"/>
            <a:gd name="adj4" fmla="val 9023944"/>
            <a:gd name="adj5" fmla="val 356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7EEE454-261D-41E5-ACA5-5E00F42A29E7}">
      <dsp:nvSpPr>
        <dsp:cNvPr id="0" name=""/>
        <dsp:cNvSpPr/>
      </dsp:nvSpPr>
      <dsp:spPr>
        <a:xfrm>
          <a:off x="460129" y="3110522"/>
          <a:ext cx="1816680" cy="722434"/>
        </a:xfrm>
        <a:prstGeom prst="roundRect">
          <a:avLst>
            <a:gd name="adj" fmla="val 10000"/>
          </a:avLst>
        </a:prstGeom>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6350" cap="flat" cmpd="sng" algn="ctr">
          <a:solidFill>
            <a:schemeClr val="accent3"/>
          </a:solidFill>
          <a:prstDash val="solid"/>
          <a:miter lim="800000"/>
        </a:ln>
        <a:effectLst/>
      </dsp:spPr>
      <dsp:style>
        <a:lnRef idx="1">
          <a:schemeClr val="accent3"/>
        </a:lnRef>
        <a:fillRef idx="2">
          <a:schemeClr val="accent3"/>
        </a:fillRef>
        <a:effectRef idx="1">
          <a:schemeClr val="accent3"/>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Step 1</a:t>
          </a:r>
        </a:p>
      </dsp:txBody>
      <dsp:txXfrm>
        <a:off x="481288" y="3131681"/>
        <a:ext cx="1774362" cy="680116"/>
      </dsp:txXfrm>
    </dsp:sp>
    <dsp:sp modelId="{D417F2D0-0BB9-4C51-98DB-66F70124319D}">
      <dsp:nvSpPr>
        <dsp:cNvPr id="0" name=""/>
        <dsp:cNvSpPr/>
      </dsp:nvSpPr>
      <dsp:spPr>
        <a:xfrm>
          <a:off x="2614075" y="1806987"/>
          <a:ext cx="2162570" cy="16438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ctr" defTabSz="889000">
            <a:lnSpc>
              <a:spcPct val="90000"/>
            </a:lnSpc>
            <a:spcBef>
              <a:spcPct val="0"/>
            </a:spcBef>
            <a:spcAft>
              <a:spcPct val="15000"/>
            </a:spcAft>
            <a:buNone/>
          </a:pPr>
          <a:r>
            <a:rPr lang="en-US" sz="2000" b="0" kern="1200" dirty="0">
              <a:latin typeface="Arial" panose="020B0604020202020204" pitchFamily="34" charset="0"/>
              <a:cs typeface="Arial" panose="020B0604020202020204" pitchFamily="34" charset="0"/>
            </a:rPr>
            <a:t>Calculation of appropriate ratios from the data</a:t>
          </a:r>
        </a:p>
      </dsp:txBody>
      <dsp:txXfrm>
        <a:off x="2651904" y="2197064"/>
        <a:ext cx="2086912" cy="1215918"/>
      </dsp:txXfrm>
    </dsp:sp>
    <dsp:sp modelId="{AD7BC10D-3057-4F94-9103-E35F7516F8D6}">
      <dsp:nvSpPr>
        <dsp:cNvPr id="0" name=""/>
        <dsp:cNvSpPr/>
      </dsp:nvSpPr>
      <dsp:spPr>
        <a:xfrm>
          <a:off x="3908460" y="710508"/>
          <a:ext cx="2512977" cy="2512977"/>
        </a:xfrm>
        <a:prstGeom prst="circularArrow">
          <a:avLst>
            <a:gd name="adj1" fmla="val 2818"/>
            <a:gd name="adj2" fmla="val 344113"/>
            <a:gd name="adj3" fmla="val 19480376"/>
            <a:gd name="adj4" fmla="val 12575511"/>
            <a:gd name="adj5" fmla="val 328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32DFD0C-524C-492B-AA66-4D6186693DB5}">
      <dsp:nvSpPr>
        <dsp:cNvPr id="0" name=""/>
        <dsp:cNvSpPr/>
      </dsp:nvSpPr>
      <dsp:spPr>
        <a:xfrm>
          <a:off x="3127647" y="1424843"/>
          <a:ext cx="1816680" cy="722434"/>
        </a:xfrm>
        <a:prstGeom prst="roundRect">
          <a:avLst>
            <a:gd name="adj" fmla="val 10000"/>
          </a:avLst>
        </a:prstGeom>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6350" cap="flat" cmpd="sng" algn="ctr">
          <a:solidFill>
            <a:schemeClr val="accent5"/>
          </a:solidFill>
          <a:prstDash val="solid"/>
          <a:miter lim="800000"/>
        </a:ln>
        <a:effectLst/>
      </dsp:spPr>
      <dsp:style>
        <a:lnRef idx="1">
          <a:schemeClr val="accent5"/>
        </a:lnRef>
        <a:fillRef idx="2">
          <a:schemeClr val="accent5"/>
        </a:fillRef>
        <a:effectRef idx="1">
          <a:schemeClr val="accent5"/>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Step 2</a:t>
          </a:r>
        </a:p>
      </dsp:txBody>
      <dsp:txXfrm>
        <a:off x="3148806" y="1446002"/>
        <a:ext cx="1774362" cy="680116"/>
      </dsp:txXfrm>
    </dsp:sp>
    <dsp:sp modelId="{DDDFB4DC-1637-4284-B345-97EE0B95C7A4}">
      <dsp:nvSpPr>
        <dsp:cNvPr id="0" name=""/>
        <dsp:cNvSpPr/>
      </dsp:nvSpPr>
      <dsp:spPr>
        <a:xfrm>
          <a:off x="5281594" y="1786060"/>
          <a:ext cx="2043765" cy="168567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ctr" defTabSz="889000">
            <a:lnSpc>
              <a:spcPct val="90000"/>
            </a:lnSpc>
            <a:spcBef>
              <a:spcPct val="0"/>
            </a:spcBef>
            <a:spcAft>
              <a:spcPct val="15000"/>
            </a:spcAft>
            <a:buNone/>
          </a:pPr>
          <a:r>
            <a:rPr lang="en-US" sz="2000" b="0" kern="1200" dirty="0">
              <a:latin typeface="Arial" panose="020B0604020202020204" pitchFamily="34" charset="0"/>
              <a:cs typeface="Arial" panose="020B0604020202020204" pitchFamily="34" charset="0"/>
            </a:rPr>
            <a:t>Comparison of calculated ratio</a:t>
          </a:r>
        </a:p>
      </dsp:txBody>
      <dsp:txXfrm>
        <a:off x="5320386" y="1824852"/>
        <a:ext cx="1966181" cy="1246878"/>
      </dsp:txXfrm>
    </dsp:sp>
    <dsp:sp modelId="{6AF1EF21-4E4E-4397-BA95-72A9EE6A2962}">
      <dsp:nvSpPr>
        <dsp:cNvPr id="0" name=""/>
        <dsp:cNvSpPr/>
      </dsp:nvSpPr>
      <dsp:spPr>
        <a:xfrm>
          <a:off x="6804042" y="2209800"/>
          <a:ext cx="2341550" cy="2341550"/>
        </a:xfrm>
        <a:prstGeom prst="leftCircularArrow">
          <a:avLst>
            <a:gd name="adj1" fmla="val 3025"/>
            <a:gd name="adj2" fmla="val 371098"/>
            <a:gd name="adj3" fmla="val 1856295"/>
            <a:gd name="adj4" fmla="val 8734175"/>
            <a:gd name="adj5" fmla="val 352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79656E7-AEA8-4723-AEA4-6B5CBC2EC195}">
      <dsp:nvSpPr>
        <dsp:cNvPr id="0" name=""/>
        <dsp:cNvSpPr/>
      </dsp:nvSpPr>
      <dsp:spPr>
        <a:xfrm>
          <a:off x="5813445" y="3352798"/>
          <a:ext cx="1816680" cy="722434"/>
        </a:xfrm>
        <a:prstGeom prst="roundRect">
          <a:avLst>
            <a:gd name="adj" fmla="val 10000"/>
          </a:avLst>
        </a:prstGeom>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6350" cap="flat" cmpd="sng" algn="ctr">
          <a:solidFill>
            <a:schemeClr val="accent2"/>
          </a:solidFill>
          <a:prstDash val="solid"/>
          <a:miter lim="800000"/>
        </a:ln>
        <a:effectLst/>
      </dsp:spPr>
      <dsp:style>
        <a:lnRef idx="1">
          <a:schemeClr val="accent2"/>
        </a:lnRef>
        <a:fillRef idx="2">
          <a:schemeClr val="accent2"/>
        </a:fillRef>
        <a:effectRef idx="1">
          <a:schemeClr val="accent2"/>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Step 3</a:t>
          </a:r>
        </a:p>
      </dsp:txBody>
      <dsp:txXfrm>
        <a:off x="5834604" y="3373957"/>
        <a:ext cx="1774362" cy="680116"/>
      </dsp:txXfrm>
    </dsp:sp>
    <dsp:sp modelId="{DA667943-240D-4CAD-90C2-AE6E58A0D4E3}">
      <dsp:nvSpPr>
        <dsp:cNvPr id="0" name=""/>
        <dsp:cNvSpPr/>
      </dsp:nvSpPr>
      <dsp:spPr>
        <a:xfrm>
          <a:off x="7895903" y="1926704"/>
          <a:ext cx="2329218" cy="15696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228600" lvl="1" indent="-228600" algn="ctr" defTabSz="889000">
            <a:lnSpc>
              <a:spcPct val="90000"/>
            </a:lnSpc>
            <a:spcBef>
              <a:spcPct val="0"/>
            </a:spcBef>
            <a:spcAft>
              <a:spcPct val="15000"/>
            </a:spcAft>
            <a:buNone/>
          </a:pPr>
          <a:r>
            <a:rPr lang="en-US" sz="2000" b="0" kern="1200" dirty="0">
              <a:latin typeface="Arial" panose="020B0604020202020204" pitchFamily="34" charset="0"/>
              <a:cs typeface="Arial" panose="020B0604020202020204" pitchFamily="34" charset="0"/>
            </a:rPr>
            <a:t>Analysis and interpretation of the ratios</a:t>
          </a:r>
        </a:p>
      </dsp:txBody>
      <dsp:txXfrm>
        <a:off x="7932024" y="2299173"/>
        <a:ext cx="2256976" cy="1161031"/>
      </dsp:txXfrm>
    </dsp:sp>
    <dsp:sp modelId="{6A60B9F2-C234-468A-A9A4-0FF127578DAA}">
      <dsp:nvSpPr>
        <dsp:cNvPr id="0" name=""/>
        <dsp:cNvSpPr/>
      </dsp:nvSpPr>
      <dsp:spPr>
        <a:xfrm>
          <a:off x="8486607" y="1424843"/>
          <a:ext cx="1816680" cy="722434"/>
        </a:xfrm>
        <a:prstGeom prst="roundRect">
          <a:avLst>
            <a:gd name="adj" fmla="val 10000"/>
          </a:avLst>
        </a:prstGeom>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6350" cap="flat" cmpd="sng" algn="ctr">
          <a:solidFill>
            <a:schemeClr val="accent4"/>
          </a:solidFill>
          <a:prstDash val="solid"/>
          <a:miter lim="800000"/>
        </a:ln>
        <a:effectLst/>
      </dsp:spPr>
      <dsp:style>
        <a:lnRef idx="1">
          <a:schemeClr val="accent4"/>
        </a:lnRef>
        <a:fillRef idx="2">
          <a:schemeClr val="accent4"/>
        </a:fillRef>
        <a:effectRef idx="1">
          <a:schemeClr val="accent4"/>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Arial" panose="020B0604020202020204" pitchFamily="34" charset="0"/>
              <a:cs typeface="Arial" panose="020B0604020202020204" pitchFamily="34" charset="0"/>
            </a:rPr>
            <a:t>Step 4</a:t>
          </a:r>
        </a:p>
      </dsp:txBody>
      <dsp:txXfrm>
        <a:off x="8507766" y="1446002"/>
        <a:ext cx="1774362" cy="68011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5812A7-2DB0-4800-A4C0-62338CE3C599}" type="datetimeFigureOut">
              <a:rPr lang="en-US" smtClean="0"/>
              <a:t>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713D4D-DEE3-4C26-A5DA-F8A062A1384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713D4D-DEE3-4C26-A5DA-F8A062A13846}" type="slidenum">
              <a:rPr lang="en-US" smtClean="0"/>
              <a:t>9</a:t>
            </a:fld>
            <a:endParaRPr lang="en-US"/>
          </a:p>
        </p:txBody>
      </p:sp>
    </p:spTree>
    <p:extLst>
      <p:ext uri="{BB962C8B-B14F-4D97-AF65-F5344CB8AC3E}">
        <p14:creationId xmlns:p14="http://schemas.microsoft.com/office/powerpoint/2010/main" val="4271391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A713D4D-DEE3-4C26-A5DA-F8A062A13846}" type="slidenum">
              <a:rPr lang="en-US" smtClean="0"/>
              <a:t>19</a:t>
            </a:fld>
            <a:endParaRPr lang="en-US"/>
          </a:p>
        </p:txBody>
      </p:sp>
    </p:spTree>
    <p:extLst>
      <p:ext uri="{BB962C8B-B14F-4D97-AF65-F5344CB8AC3E}">
        <p14:creationId xmlns:p14="http://schemas.microsoft.com/office/powerpoint/2010/main" val="389707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E10CD-A0F0-09CD-BBE6-8D15328E2E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3783B2-531C-CDE2-6952-C252D10477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7D58DC-6E5F-1542-A43C-2B91A57635EA}"/>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a:extLst>
              <a:ext uri="{FF2B5EF4-FFF2-40B4-BE49-F238E27FC236}">
                <a16:creationId xmlns:a16="http://schemas.microsoft.com/office/drawing/2014/main" id="{092C97FC-3831-7D25-7F8A-0258B905E2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969787-7EDE-FD60-E3C1-94829A62720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28385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E9F9-5BD0-96B0-7CCE-769A2A2961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456D7C-9240-99BA-B2D9-A58DA37DC8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6F8AFF-7195-2DDD-C6E4-2E832E92AC97}"/>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a:extLst>
              <a:ext uri="{FF2B5EF4-FFF2-40B4-BE49-F238E27FC236}">
                <a16:creationId xmlns:a16="http://schemas.microsoft.com/office/drawing/2014/main" id="{46535CAC-9A6E-E3BD-071F-B9BBC493C3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6475F1-1524-C633-F996-83A54C22813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59252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E7463-C703-7C83-F481-1F171FBA9E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A36398-278B-0F26-46A0-95420D8CC1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458462-9FFE-F8F6-EA9F-591033F3E8C0}"/>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a:extLst>
              <a:ext uri="{FF2B5EF4-FFF2-40B4-BE49-F238E27FC236}">
                <a16:creationId xmlns:a16="http://schemas.microsoft.com/office/drawing/2014/main" id="{09A7C924-A29B-9DF0-F868-B031355702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CF76B4-7422-96F0-DFC8-D253C4D8ABF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1762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264E2-87CF-C6A9-6D22-21D65F99BF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5723030-C431-D324-6B64-ABE6FB98F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C2BC34-48F4-64AE-5FA5-AEE5DFB806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D09FFF-5147-EDBC-06F4-00D91C30A990}"/>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6" name="Footer Placeholder 5">
            <a:extLst>
              <a:ext uri="{FF2B5EF4-FFF2-40B4-BE49-F238E27FC236}">
                <a16:creationId xmlns:a16="http://schemas.microsoft.com/office/drawing/2014/main" id="{D9ADB33B-DA34-5D13-C42E-4BD5B3D774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1B73-74C6-C1C4-FC05-8234EDFBD61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92260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26A89-BF0D-7430-91CA-747F7C2166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3FBAAD-BD01-55C3-A235-3DE3049EC2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F3780C-C28E-071E-1B4A-3CA931C6CC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0211E7E-6EC7-CFC8-B292-40455F4354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B37407-9096-86EA-F62B-5AF86FA932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04419E2-5D13-EEEB-F5B3-847DCDD3453A}"/>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8" name="Footer Placeholder 7">
            <a:extLst>
              <a:ext uri="{FF2B5EF4-FFF2-40B4-BE49-F238E27FC236}">
                <a16:creationId xmlns:a16="http://schemas.microsoft.com/office/drawing/2014/main" id="{09438642-616F-E4CD-69E4-7AAA6C4B7B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B6FDD8-800E-D321-AD32-14759278587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37078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66973-3FF6-660F-4B74-9F301B0CA7D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0CAE959-4ED9-3441-FC1B-CB0156585C63}"/>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4" name="Footer Placeholder 3">
            <a:extLst>
              <a:ext uri="{FF2B5EF4-FFF2-40B4-BE49-F238E27FC236}">
                <a16:creationId xmlns:a16="http://schemas.microsoft.com/office/drawing/2014/main" id="{714624C2-DA63-3CF5-8593-6410615098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2758DC-B137-653D-B384-3AAE3EFD2AFF}"/>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8509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DFCC27-F82D-D1CE-8D8A-1A61E80125BA}"/>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3" name="Footer Placeholder 2">
            <a:extLst>
              <a:ext uri="{FF2B5EF4-FFF2-40B4-BE49-F238E27FC236}">
                <a16:creationId xmlns:a16="http://schemas.microsoft.com/office/drawing/2014/main" id="{220D78C5-01D5-DB3E-064C-4B9306C6F2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C69BA7-0F1C-2E72-BA03-1AB9DD1B4A8B}"/>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0274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B5C3B-1B07-3630-9F64-40C15BA0A5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DBC3DB-BEE1-32ED-635C-1F5F4553A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4065A6-B998-1C39-DA15-1791408280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2054EE-623B-CF4E-27BF-E4F28D7450A3}"/>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6" name="Footer Placeholder 5">
            <a:extLst>
              <a:ext uri="{FF2B5EF4-FFF2-40B4-BE49-F238E27FC236}">
                <a16:creationId xmlns:a16="http://schemas.microsoft.com/office/drawing/2014/main" id="{66DC2D1A-A6DE-CC3E-FCCD-AAC339C4CA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DEB9BD-46D3-134D-C3BA-622E110E83CD}"/>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2715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4C86D-63EE-0EE0-3A4C-D8EAF50D2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B85B702-F0EE-B99A-7A25-CBCE0F077B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12F97A-26E7-46B6-6C00-84A6493E69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6B1FB1-65B9-B799-FCF5-D8F3FADD0FE5}"/>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6" name="Footer Placeholder 5">
            <a:extLst>
              <a:ext uri="{FF2B5EF4-FFF2-40B4-BE49-F238E27FC236}">
                <a16:creationId xmlns:a16="http://schemas.microsoft.com/office/drawing/2014/main" id="{4BEB8E7F-9C69-61A4-D1B8-2306C3294D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420F87-3D4A-282E-D1D0-9F4C108B3508}"/>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51185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02F3A-2D15-A9C1-2C21-1EC89EF9440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C5E360-0AA0-37C7-EF1C-61453E85A6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1B38BC-DBCF-5F7F-CC6C-96AB8DCD520C}"/>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a:extLst>
              <a:ext uri="{FF2B5EF4-FFF2-40B4-BE49-F238E27FC236}">
                <a16:creationId xmlns:a16="http://schemas.microsoft.com/office/drawing/2014/main" id="{CF18BC9B-1978-64FE-3CA7-BC9A6C78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628A51-331A-0747-ED55-E8DE41F8A8A3}"/>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2047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C45994-8980-647E-96D8-EBCAE473DE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A471C7-7D50-10A6-01E7-A63913B2CD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0380BA-CC99-792A-A7C9-044813B84BA5}"/>
              </a:ext>
            </a:extLst>
          </p:cNvPr>
          <p:cNvSpPr>
            <a:spLocks noGrp="1"/>
          </p:cNvSpPr>
          <p:nvPr>
            <p:ph type="dt" sz="half" idx="10"/>
          </p:nvPr>
        </p:nvSpPr>
        <p:spPr/>
        <p:txBody>
          <a:bodyPr/>
          <a:lstStyle/>
          <a:p>
            <a:fld id="{1D8BD707-D9CF-40AE-B4C6-C98DA3205C09}" type="datetimeFigureOut">
              <a:rPr lang="en-US" smtClean="0"/>
              <a:pPr/>
              <a:t>2/3/2026</a:t>
            </a:fld>
            <a:endParaRPr lang="en-US"/>
          </a:p>
        </p:txBody>
      </p:sp>
      <p:sp>
        <p:nvSpPr>
          <p:cNvPr id="5" name="Footer Placeholder 4">
            <a:extLst>
              <a:ext uri="{FF2B5EF4-FFF2-40B4-BE49-F238E27FC236}">
                <a16:creationId xmlns:a16="http://schemas.microsoft.com/office/drawing/2014/main" id="{8B8D7CA8-573C-65A3-AE67-9F945F0FDC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74A430-28A1-E712-6DEA-39F66D949B0C}"/>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1189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781D37-64A1-8A98-531B-F5EF21E8A5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F5D2F2-B811-EA45-86FE-D4332858F2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6382D5-169D-B173-CEFC-E1C1AEA8A6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2/3/2026</a:t>
            </a:fld>
            <a:endParaRPr lang="en-US"/>
          </a:p>
        </p:txBody>
      </p:sp>
      <p:sp>
        <p:nvSpPr>
          <p:cNvPr id="5" name="Footer Placeholder 4">
            <a:extLst>
              <a:ext uri="{FF2B5EF4-FFF2-40B4-BE49-F238E27FC236}">
                <a16:creationId xmlns:a16="http://schemas.microsoft.com/office/drawing/2014/main" id="{2D3F8FE4-4BA6-B9F0-D929-A503F58C1F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7B83DF-99E1-9B8D-6A08-5367ABB83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0178906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f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8.jp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f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0.jpg"/></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fi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0F455-BC79-E0BD-A932-4AAC82BBBCCD}"/>
              </a:ext>
            </a:extLst>
          </p:cNvPr>
          <p:cNvSpPr>
            <a:spLocks noGrp="1"/>
          </p:cNvSpPr>
          <p:nvPr>
            <p:ph type="ctrTitle"/>
          </p:nvPr>
        </p:nvSpPr>
        <p:spPr>
          <a:xfrm>
            <a:off x="1155070" y="-606818"/>
            <a:ext cx="9284330" cy="2037575"/>
          </a:xfrm>
        </p:spPr>
        <p:txBody>
          <a:bodyPr>
            <a:normAutofit/>
          </a:bodyPr>
          <a:lstStyle/>
          <a:p>
            <a:pPr>
              <a:lnSpc>
                <a:spcPct val="150000"/>
              </a:lnSpc>
            </a:pPr>
            <a:r>
              <a:rPr lang="en-US" sz="3000" b="1" dirty="0">
                <a:latin typeface="Arial" panose="020B0604020202020204" pitchFamily="34" charset="0"/>
                <a:cs typeface="Arial" panose="020B0604020202020204" pitchFamily="34" charset="0"/>
              </a:rPr>
              <a:t>RATIO ANALYSIS </a:t>
            </a:r>
            <a:endParaRPr lang="en-IN" sz="30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6348BDD4-5999-D88C-CDA9-369D927A8A04}"/>
              </a:ext>
            </a:extLst>
          </p:cNvPr>
          <p:cNvSpPr>
            <a:spLocks noGrp="1"/>
          </p:cNvSpPr>
          <p:nvPr>
            <p:ph type="subTitle" idx="1"/>
          </p:nvPr>
        </p:nvSpPr>
        <p:spPr>
          <a:xfrm>
            <a:off x="1155069" y="3722877"/>
            <a:ext cx="9144000" cy="2864545"/>
          </a:xfrm>
        </p:spPr>
        <p:txBody>
          <a:bodyPr>
            <a:normAutofit/>
          </a:bodyPr>
          <a:lstStyle/>
          <a:p>
            <a:r>
              <a:rPr lang="en-IN" dirty="0"/>
              <a:t> </a:t>
            </a:r>
            <a:r>
              <a:rPr lang="en-IN" dirty="0">
                <a:latin typeface="Arial" panose="020B0604020202020204" pitchFamily="34" charset="0"/>
                <a:cs typeface="Arial" panose="020B0604020202020204" pitchFamily="34" charset="0"/>
              </a:rPr>
              <a:t>Financial Management(HS4L003)</a:t>
            </a:r>
          </a:p>
          <a:p>
            <a:r>
              <a:rPr lang="en-IN" dirty="0">
                <a:latin typeface="Arial" panose="020B0604020202020204" pitchFamily="34" charset="0"/>
                <a:cs typeface="Arial" panose="020B0604020202020204" pitchFamily="34" charset="0"/>
              </a:rPr>
              <a:t>Dr. Naresh Chandra Sahu</a:t>
            </a:r>
          </a:p>
          <a:p>
            <a:r>
              <a:rPr lang="en-IN" dirty="0">
                <a:latin typeface="Arial" panose="020B0604020202020204" pitchFamily="34" charset="0"/>
                <a:cs typeface="Arial" panose="020B0604020202020204" pitchFamily="34" charset="0"/>
              </a:rPr>
              <a:t>Associate Professor (Economics)</a:t>
            </a:r>
          </a:p>
          <a:p>
            <a:pPr>
              <a:defRPr/>
            </a:pPr>
            <a:endParaRPr lang="en-US" b="1" dirty="0">
              <a:solidFill>
                <a:prstClr val="black"/>
              </a:solidFill>
              <a:latin typeface="Arial" panose="020B0604020202020204" pitchFamily="34" charset="0"/>
              <a:cs typeface="Arial" panose="020B0604020202020204" pitchFamily="34" charset="0"/>
            </a:endParaRPr>
          </a:p>
          <a:p>
            <a:pPr>
              <a:defRPr/>
            </a:pPr>
            <a:r>
              <a:rPr lang="en-US" b="1" dirty="0">
                <a:solidFill>
                  <a:prstClr val="black"/>
                </a:solidFill>
                <a:latin typeface="Arial" panose="020B0604020202020204" pitchFamily="34" charset="0"/>
                <a:cs typeface="Arial" panose="020B0604020202020204" pitchFamily="34" charset="0"/>
              </a:rPr>
              <a:t>School of Humanities, Social Sciences &amp; Management</a:t>
            </a:r>
          </a:p>
          <a:p>
            <a:pPr>
              <a:defRPr/>
            </a:pPr>
            <a:r>
              <a:rPr lang="en-US" dirty="0">
                <a:solidFill>
                  <a:prstClr val="black"/>
                </a:solidFill>
                <a:latin typeface="Arial" panose="020B0604020202020204" pitchFamily="34" charset="0"/>
                <a:cs typeface="Arial" panose="020B0604020202020204" pitchFamily="34" charset="0"/>
              </a:rPr>
              <a:t>Indian Institute of Technology, Bhubaneswar</a:t>
            </a:r>
          </a:p>
          <a:p>
            <a:endParaRPr lang="en-IN" dirty="0"/>
          </a:p>
          <a:p>
            <a:endParaRPr lang="en-IN" dirty="0"/>
          </a:p>
          <a:p>
            <a:endParaRPr lang="en-IN" dirty="0"/>
          </a:p>
        </p:txBody>
      </p:sp>
      <p:sp>
        <p:nvSpPr>
          <p:cNvPr id="4" name="Subtitle 2">
            <a:extLst>
              <a:ext uri="{FF2B5EF4-FFF2-40B4-BE49-F238E27FC236}">
                <a16:creationId xmlns:a16="http://schemas.microsoft.com/office/drawing/2014/main" id="{E611643E-496F-6C24-52CF-26048AD81153}"/>
              </a:ext>
            </a:extLst>
          </p:cNvPr>
          <p:cNvSpPr txBox="1">
            <a:spLocks/>
          </p:cNvSpPr>
          <p:nvPr/>
        </p:nvSpPr>
        <p:spPr>
          <a:xfrm>
            <a:off x="1524000" y="5116313"/>
            <a:ext cx="9144000" cy="93279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dirty="0"/>
          </a:p>
        </p:txBody>
      </p:sp>
      <p:sp>
        <p:nvSpPr>
          <p:cNvPr id="6" name="Slide Number Placeholder 5">
            <a:extLst>
              <a:ext uri="{FF2B5EF4-FFF2-40B4-BE49-F238E27FC236}">
                <a16:creationId xmlns:a16="http://schemas.microsoft.com/office/drawing/2014/main" id="{FEE30A92-D783-6F7E-FFC5-F3C3B0CA929A}"/>
              </a:ext>
            </a:extLst>
          </p:cNvPr>
          <p:cNvSpPr>
            <a:spLocks noGrp="1"/>
          </p:cNvSpPr>
          <p:nvPr>
            <p:ph type="sldNum" sz="quarter" idx="12"/>
          </p:nvPr>
        </p:nvSpPr>
        <p:spPr/>
        <p:txBody>
          <a:bodyPr/>
          <a:lstStyle/>
          <a:p>
            <a:fld id="{A1DCFAE8-8E9E-42B1-9A81-DFF72612FDA6}" type="slidenum">
              <a:rPr lang="en-IN" smtClean="0"/>
              <a:t>1</a:t>
            </a:fld>
            <a:endParaRPr lang="en-IN"/>
          </a:p>
        </p:txBody>
      </p:sp>
      <p:pic>
        <p:nvPicPr>
          <p:cNvPr id="8" name="Picture 7">
            <a:extLst>
              <a:ext uri="{FF2B5EF4-FFF2-40B4-BE49-F238E27FC236}">
                <a16:creationId xmlns:a16="http://schemas.microsoft.com/office/drawing/2014/main" id="{49192813-3586-95C9-052B-177472216E6A}"/>
              </a:ext>
            </a:extLst>
          </p:cNvPr>
          <p:cNvPicPr>
            <a:picLocks noChangeAspect="1"/>
          </p:cNvPicPr>
          <p:nvPr/>
        </p:nvPicPr>
        <p:blipFill>
          <a:blip r:embed="rId2"/>
          <a:stretch>
            <a:fillRect/>
          </a:stretch>
        </p:blipFill>
        <p:spPr>
          <a:xfrm>
            <a:off x="4495800" y="1666252"/>
            <a:ext cx="2139370" cy="2037575"/>
          </a:xfrm>
          <a:prstGeom prst="rect">
            <a:avLst/>
          </a:prstGeom>
        </p:spPr>
      </p:pic>
    </p:spTree>
    <p:extLst>
      <p:ext uri="{BB962C8B-B14F-4D97-AF65-F5344CB8AC3E}">
        <p14:creationId xmlns:p14="http://schemas.microsoft.com/office/powerpoint/2010/main" val="410115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62BEF468-69EA-7776-A688-AED22F0882E1}"/>
              </a:ext>
            </a:extLst>
          </p:cNvPr>
          <p:cNvSpPr>
            <a:spLocks noChangeArrowheads="1"/>
          </p:cNvSpPr>
          <p:nvPr/>
        </p:nvSpPr>
        <p:spPr bwMode="auto">
          <a:xfrm>
            <a:off x="644768" y="933206"/>
            <a:ext cx="7203831" cy="4305730"/>
          </a:xfrm>
          <a:prstGeom prst="rect">
            <a:avLst/>
          </a:prstGeom>
          <a:noFill/>
          <a:ln w="9525">
            <a:noFill/>
            <a:miter lim="800000"/>
            <a:headEnd/>
            <a:tailEnd/>
          </a:ln>
        </p:spPr>
        <p:txBody>
          <a:bodyPr wrap="square">
            <a:spAutoFit/>
          </a:bodyPr>
          <a:lstStyle/>
          <a:p>
            <a:pPr marL="457200" indent="-457200" algn="just">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Meaning, objectives, and limitations of accounting ratios</a:t>
            </a:r>
          </a:p>
          <a:p>
            <a:pPr marL="457200" indent="-457200" algn="just">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Identify the various types of ratios commonly used </a:t>
            </a:r>
          </a:p>
          <a:p>
            <a:pPr marL="457200" indent="-457200" algn="just">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Calculate various ratios to assess the solvency, liquidity, efficiency, and profitability of the firm</a:t>
            </a:r>
          </a:p>
          <a:p>
            <a:pPr marL="457200" indent="-457200">
              <a:lnSpc>
                <a:spcPct val="2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Interpret the various ratios calculated for intra-firm and inter-firm comparisons.</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6A8995D-B78A-2566-54F7-044D77375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1676" y="1676400"/>
            <a:ext cx="4114800" cy="3004128"/>
          </a:xfrm>
          <a:prstGeom prst="rect">
            <a:avLst/>
          </a:prstGeom>
        </p:spPr>
      </p:pic>
      <p:sp>
        <p:nvSpPr>
          <p:cNvPr id="2" name="Rectangle 1">
            <a:extLst>
              <a:ext uri="{FF2B5EF4-FFF2-40B4-BE49-F238E27FC236}">
                <a16:creationId xmlns:a16="http://schemas.microsoft.com/office/drawing/2014/main" id="{93D5FA44-4702-384F-0E1C-AB7CCBC1D682}"/>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latin typeface="Arial" panose="020B0604020202020204" pitchFamily="34" charset="0"/>
                <a:cs typeface="Arial" panose="020B0604020202020204" pitchFamily="34" charset="0"/>
              </a:rPr>
              <a:t>Learning Outcomes  </a:t>
            </a:r>
          </a:p>
        </p:txBody>
      </p:sp>
      <p:pic>
        <p:nvPicPr>
          <p:cNvPr id="7" name="Picture 6">
            <a:extLst>
              <a:ext uri="{FF2B5EF4-FFF2-40B4-BE49-F238E27FC236}">
                <a16:creationId xmlns:a16="http://schemas.microsoft.com/office/drawing/2014/main" id="{449F18A8-D14A-BEC6-1A96-E0845793EDF3}"/>
              </a:ext>
            </a:extLst>
          </p:cNvPr>
          <p:cNvPicPr>
            <a:picLocks noChangeAspect="1"/>
          </p:cNvPicPr>
          <p:nvPr/>
        </p:nvPicPr>
        <p:blipFill>
          <a:blip r:embed="rId3"/>
          <a:stretch>
            <a:fillRect/>
          </a:stretch>
        </p:blipFill>
        <p:spPr>
          <a:xfrm>
            <a:off x="11122800" y="45904"/>
            <a:ext cx="966091" cy="8873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62BEF468-69EA-7776-A688-AED22F0882E1}"/>
              </a:ext>
            </a:extLst>
          </p:cNvPr>
          <p:cNvSpPr>
            <a:spLocks noChangeArrowheads="1"/>
          </p:cNvSpPr>
          <p:nvPr/>
        </p:nvSpPr>
        <p:spPr bwMode="auto">
          <a:xfrm>
            <a:off x="533400" y="1501487"/>
            <a:ext cx="6222588" cy="4708981"/>
          </a:xfrm>
          <a:prstGeom prst="rect">
            <a:avLst/>
          </a:prstGeom>
          <a:noFill/>
          <a:ln w="9525">
            <a:noFill/>
            <a:miter lim="800000"/>
            <a:headEnd/>
            <a:tailEnd/>
          </a:ln>
        </p:spPr>
        <p:txBody>
          <a:bodyPr wrap="square">
            <a:spAutoFit/>
          </a:bodyPr>
          <a:lstStyle/>
          <a:p>
            <a:pPr>
              <a:lnSpc>
                <a:spcPct val="150000"/>
              </a:lnSpc>
            </a:pPr>
            <a:r>
              <a:rPr lang="en-US" altLang="en-US" sz="2000" dirty="0">
                <a:latin typeface="Arial" panose="020B0604020202020204" pitchFamily="34" charset="0"/>
                <a:cs typeface="Arial" panose="020B0604020202020204" pitchFamily="34" charset="0"/>
              </a:rPr>
              <a:t>Ratio is a relationship between two or more items.</a:t>
            </a:r>
          </a:p>
          <a:p>
            <a:pPr>
              <a:lnSpc>
                <a:spcPct val="150000"/>
              </a:lnSpc>
            </a:pPr>
            <a:r>
              <a:rPr lang="en-US" altLang="en-US" sz="2000" dirty="0">
                <a:latin typeface="Arial" panose="020B0604020202020204" pitchFamily="34" charset="0"/>
                <a:cs typeface="Arial" panose="020B0604020202020204" pitchFamily="34" charset="0"/>
              </a:rPr>
              <a:t>It is:- </a:t>
            </a:r>
          </a:p>
          <a:p>
            <a:pPr>
              <a:lnSpc>
                <a:spcPct val="150000"/>
              </a:lnSpc>
            </a:pPr>
            <a:r>
              <a:rPr lang="en-US" sz="2000" dirty="0">
                <a:latin typeface="Arial" panose="020B0604020202020204" pitchFamily="34" charset="0"/>
                <a:cs typeface="Arial" panose="020B0604020202020204" pitchFamily="34" charset="0"/>
              </a:rPr>
              <a:t>1. Mathematical relationship between two items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2. Expressed in quantitative form</a:t>
            </a:r>
            <a:br>
              <a:rPr lang="en-US" sz="2000" dirty="0">
                <a:latin typeface="Arial" panose="020B0604020202020204" pitchFamily="34" charset="0"/>
                <a:cs typeface="Arial" panose="020B0604020202020204" pitchFamily="34" charset="0"/>
              </a:rPr>
            </a:br>
            <a:r>
              <a:rPr lang="en-US" sz="2000" b="1" dirty="0">
                <a:latin typeface="Arial" panose="020B0604020202020204" pitchFamily="34" charset="0"/>
                <a:cs typeface="Arial" panose="020B0604020202020204" pitchFamily="34" charset="0"/>
              </a:rPr>
              <a:t>Defined as: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“relationships expressed in quantitative terms, between figures which have cause and effect relationships or which are connected in some manner or other.”</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4" name="Title 1">
            <a:extLst>
              <a:ext uri="{FF2B5EF4-FFF2-40B4-BE49-F238E27FC236}">
                <a16:creationId xmlns:a16="http://schemas.microsoft.com/office/drawing/2014/main" id="{049F78FB-D224-E60E-B9E9-AD32FE8ABFDB}"/>
              </a:ext>
            </a:extLst>
          </p:cNvPr>
          <p:cNvSpPr txBox="1">
            <a:spLocks/>
          </p:cNvSpPr>
          <p:nvPr/>
        </p:nvSpPr>
        <p:spPr>
          <a:xfrm>
            <a:off x="685800" y="434686"/>
            <a:ext cx="10972800" cy="1066800"/>
          </a:xfrm>
          <a:prstGeom prst="rect">
            <a:avLst/>
          </a:prstGeom>
        </p:spPr>
        <p:txBody>
          <a:bodyPr vert="horz" anchor="ctr">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defRPr/>
            </a:pPr>
            <a:r>
              <a:rPr lang="en-US" sz="2800" b="1" dirty="0">
                <a:latin typeface="Arial" panose="020B0604020202020204" pitchFamily="34" charset="0"/>
                <a:cs typeface="Arial" panose="020B0604020202020204" pitchFamily="34" charset="0"/>
              </a:rPr>
              <a:t>What is Ratio? </a:t>
            </a:r>
          </a:p>
        </p:txBody>
      </p:sp>
      <p:pic>
        <p:nvPicPr>
          <p:cNvPr id="7" name="Picture 6">
            <a:extLst>
              <a:ext uri="{FF2B5EF4-FFF2-40B4-BE49-F238E27FC236}">
                <a16:creationId xmlns:a16="http://schemas.microsoft.com/office/drawing/2014/main" id="{7B60C824-DA6B-5770-8F15-8F49CD4A90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55988" y="1600200"/>
            <a:ext cx="4849857" cy="3429000"/>
          </a:xfrm>
          <a:prstGeom prst="rect">
            <a:avLst/>
          </a:prstGeom>
        </p:spPr>
      </p:pic>
      <p:pic>
        <p:nvPicPr>
          <p:cNvPr id="2" name="Picture 1">
            <a:extLst>
              <a:ext uri="{FF2B5EF4-FFF2-40B4-BE49-F238E27FC236}">
                <a16:creationId xmlns:a16="http://schemas.microsoft.com/office/drawing/2014/main" id="{7FD8C7EB-E668-244A-5AF6-30D7D45DF3A3}"/>
              </a:ext>
            </a:extLst>
          </p:cNvPr>
          <p:cNvPicPr>
            <a:picLocks noChangeAspect="1"/>
          </p:cNvPicPr>
          <p:nvPr/>
        </p:nvPicPr>
        <p:blipFill>
          <a:blip r:embed="rId3"/>
          <a:stretch>
            <a:fillRect/>
          </a:stretch>
        </p:blipFill>
        <p:spPr>
          <a:xfrm>
            <a:off x="11122800" y="45904"/>
            <a:ext cx="966091" cy="887302"/>
          </a:xfrm>
          <a:prstGeom prst="rect">
            <a:avLst/>
          </a:prstGeom>
        </p:spPr>
      </p:pic>
    </p:spTree>
    <p:extLst>
      <p:ext uri="{BB962C8B-B14F-4D97-AF65-F5344CB8AC3E}">
        <p14:creationId xmlns:p14="http://schemas.microsoft.com/office/powerpoint/2010/main" val="2175575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8EF8F2-30EC-9DB3-4BAD-523429CD6F92}"/>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Objectives of Ratio Analysis</a:t>
            </a:r>
            <a:endParaRPr lang="en-IN" sz="2800" b="1"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4A97D83A-5587-D897-3E63-F31D4B74A890}"/>
              </a:ext>
            </a:extLst>
          </p:cNvPr>
          <p:cNvPicPr>
            <a:picLocks noChangeAspect="1"/>
          </p:cNvPicPr>
          <p:nvPr/>
        </p:nvPicPr>
        <p:blipFill>
          <a:blip r:embed="rId2"/>
          <a:stretch>
            <a:fillRect/>
          </a:stretch>
        </p:blipFill>
        <p:spPr>
          <a:xfrm>
            <a:off x="11122800" y="45904"/>
            <a:ext cx="966091" cy="887302"/>
          </a:xfrm>
          <a:prstGeom prst="rect">
            <a:avLst/>
          </a:prstGeom>
        </p:spPr>
      </p:pic>
      <p:sp>
        <p:nvSpPr>
          <p:cNvPr id="4" name="Rectangle 2">
            <a:extLst>
              <a:ext uri="{FF2B5EF4-FFF2-40B4-BE49-F238E27FC236}">
                <a16:creationId xmlns:a16="http://schemas.microsoft.com/office/drawing/2014/main" id="{88554BC3-950B-7DE8-0523-B2822B87E5A7}"/>
              </a:ext>
            </a:extLst>
          </p:cNvPr>
          <p:cNvSpPr>
            <a:spLocks noChangeArrowheads="1"/>
          </p:cNvSpPr>
          <p:nvPr/>
        </p:nvSpPr>
        <p:spPr bwMode="auto">
          <a:xfrm>
            <a:off x="679938" y="1295400"/>
            <a:ext cx="10442862" cy="3690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Measure profitability (Is the company earning enough profit?)</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Check liquidity (Can it pay short-term obligations?)</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Assess solvency (Is it safe for long-term creditors?)</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Understand operational efficiency (How well assets are used?)</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Compare the performance with past years, competitors, and industry standards</a:t>
            </a:r>
          </a:p>
          <a:p>
            <a:pPr marL="342900" marR="0" lvl="0" indent="-34290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Aid in decision-making for investors, creditors, and management</a:t>
            </a:r>
          </a:p>
        </p:txBody>
      </p:sp>
    </p:spTree>
    <p:extLst>
      <p:ext uri="{BB962C8B-B14F-4D97-AF65-F5344CB8AC3E}">
        <p14:creationId xmlns:p14="http://schemas.microsoft.com/office/powerpoint/2010/main" val="3246016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5DE537-43CF-9151-E4E1-36B8270255E5}"/>
              </a:ext>
            </a:extLst>
          </p:cNvPr>
          <p:cNvSpPr>
            <a:spLocks noGrp="1"/>
          </p:cNvSpPr>
          <p:nvPr>
            <p:ph idx="1"/>
          </p:nvPr>
        </p:nvSpPr>
        <p:spPr>
          <a:xfrm>
            <a:off x="672850" y="1253331"/>
            <a:ext cx="10515600" cy="4351338"/>
          </a:xfrm>
        </p:spPr>
        <p:txBody>
          <a:bodyPr>
            <a:normAutofit/>
          </a:bodyPr>
          <a:lstStyle/>
          <a:p>
            <a:pPr marL="274320" indent="-274320" algn="just" eaLnBrk="1" fontAlgn="auto" hangingPunct="1">
              <a:lnSpc>
                <a:spcPct val="200000"/>
              </a:lnSpc>
              <a:spcAft>
                <a:spcPts val="0"/>
              </a:spcAft>
              <a:buFont typeface="Wingdings 2"/>
              <a:buChar char=""/>
              <a:defRPr/>
            </a:pPr>
            <a:r>
              <a:rPr lang="en-US" sz="2000" b="1" dirty="0">
                <a:solidFill>
                  <a:schemeClr val="accent1"/>
                </a:solidFill>
                <a:latin typeface="Arial" panose="020B0604020202020204" pitchFamily="34" charset="0"/>
                <a:cs typeface="Arial" panose="020B0604020202020204" pitchFamily="34" charset="0"/>
              </a:rPr>
              <a:t>As a Percentage, </a:t>
            </a:r>
            <a:r>
              <a:rPr lang="en-US" sz="2000" dirty="0">
                <a:latin typeface="Arial" panose="020B0604020202020204" pitchFamily="34" charset="0"/>
                <a:cs typeface="Arial" panose="020B0604020202020204" pitchFamily="34" charset="0"/>
              </a:rPr>
              <a:t>such as 25% or 50%. For example, if net profit is Rs. 25,000/- and the sales are Rs. 1,00,000/-, then the net profit can be said to be 25% of the sales.</a:t>
            </a:r>
          </a:p>
          <a:p>
            <a:pPr marL="274320" indent="-274320" algn="just" eaLnBrk="1" fontAlgn="auto" hangingPunct="1">
              <a:lnSpc>
                <a:spcPct val="200000"/>
              </a:lnSpc>
              <a:spcAft>
                <a:spcPts val="0"/>
              </a:spcAft>
              <a:buFont typeface="Wingdings 2"/>
              <a:buChar char=""/>
              <a:defRPr/>
            </a:pPr>
            <a:r>
              <a:rPr lang="en-US" sz="2000" b="1" dirty="0">
                <a:solidFill>
                  <a:schemeClr val="accent1"/>
                </a:solidFill>
                <a:latin typeface="Arial" panose="020B0604020202020204" pitchFamily="34" charset="0"/>
                <a:cs typeface="Arial" panose="020B0604020202020204" pitchFamily="34" charset="0"/>
              </a:rPr>
              <a:t>As Proportion    </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above figures may be expressed in terms of the relationship between net profit to sales as 1 : 4. </a:t>
            </a:r>
          </a:p>
          <a:p>
            <a:pPr marL="274320" indent="-274320" algn="just">
              <a:lnSpc>
                <a:spcPct val="200000"/>
              </a:lnSpc>
              <a:buFont typeface="Wingdings 2"/>
              <a:buChar char=""/>
              <a:defRPr/>
            </a:pPr>
            <a:r>
              <a:rPr lang="en-US" sz="2000" b="1" dirty="0">
                <a:solidFill>
                  <a:schemeClr val="accent1"/>
                </a:solidFill>
                <a:latin typeface="Arial" panose="020B0604020202020204" pitchFamily="34" charset="0"/>
                <a:cs typeface="Arial" panose="020B0604020202020204" pitchFamily="34" charset="0"/>
              </a:rPr>
              <a:t>As Pure Number /Times </a:t>
            </a:r>
            <a:r>
              <a:rPr lang="en-US" sz="2000" dirty="0">
                <a:latin typeface="Arial" panose="020B0604020202020204" pitchFamily="34" charset="0"/>
                <a:cs typeface="Arial" panose="020B0604020202020204" pitchFamily="34" charset="0"/>
              </a:rPr>
              <a:t>me can also be expressed in an alternative way, such as the sale is 4 times the net profit or profit is 1/4</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of the sales.</a:t>
            </a:r>
            <a:endParaRPr lang="en-US" sz="2000" b="1"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6B781F4-2189-D599-95B7-CCD04286BEE8}"/>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How a Ratio is expressed</a:t>
            </a:r>
            <a:r>
              <a:rPr lang="en-US" sz="2800" dirty="0">
                <a:solidFill>
                  <a:schemeClr val="tx1"/>
                </a:solidFill>
                <a:latin typeface="Arial" panose="020B0604020202020204" pitchFamily="34" charset="0"/>
                <a:cs typeface="Arial" panose="020B0604020202020204" pitchFamily="34" charset="0"/>
              </a:rPr>
              <a:t>?</a:t>
            </a:r>
            <a:endParaRPr lang="en-IN" sz="2800" b="1" dirty="0">
              <a:solidFill>
                <a:schemeClr val="tx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B245AB3-A5A8-DF9A-5D45-88E4973D697F}"/>
              </a:ext>
            </a:extLst>
          </p:cNvPr>
          <p:cNvPicPr>
            <a:picLocks noChangeAspect="1"/>
          </p:cNvPicPr>
          <p:nvPr/>
        </p:nvPicPr>
        <p:blipFill>
          <a:blip r:embed="rId2"/>
          <a:stretch>
            <a:fillRect/>
          </a:stretch>
        </p:blipFill>
        <p:spPr>
          <a:xfrm>
            <a:off x="11122800" y="45904"/>
            <a:ext cx="966091" cy="88730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br>
              <a:rPr lang="en-US" dirty="0"/>
            </a:br>
            <a:endParaRPr lang="en-US" dirty="0"/>
          </a:p>
        </p:txBody>
      </p:sp>
      <p:graphicFrame>
        <p:nvGraphicFramePr>
          <p:cNvPr id="4" name="Diagram 3"/>
          <p:cNvGraphicFramePr/>
          <p:nvPr>
            <p:extLst>
              <p:ext uri="{D42A27DB-BD31-4B8C-83A1-F6EECF244321}">
                <p14:modId xmlns:p14="http://schemas.microsoft.com/office/powerpoint/2010/main" val="2483460043"/>
              </p:ext>
            </p:extLst>
          </p:nvPr>
        </p:nvGraphicFramePr>
        <p:xfrm>
          <a:off x="1044552" y="1143000"/>
          <a:ext cx="10309247"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F75B60CF-F85C-9E02-AD3E-59D824997A8B}"/>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Steps in Ratio Analysis</a:t>
            </a:r>
            <a:endParaRPr lang="en-IN" sz="2800" b="1"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E1FBC4E9-45BD-4217-164B-35962645220B}"/>
              </a:ext>
            </a:extLst>
          </p:cNvPr>
          <p:cNvPicPr>
            <a:picLocks noChangeAspect="1"/>
          </p:cNvPicPr>
          <p:nvPr/>
        </p:nvPicPr>
        <p:blipFill>
          <a:blip r:embed="rId7"/>
          <a:stretch>
            <a:fillRect/>
          </a:stretch>
        </p:blipFill>
        <p:spPr>
          <a:xfrm>
            <a:off x="11122800" y="45904"/>
            <a:ext cx="966091" cy="8873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custDataLst>
              <p:tags r:id="rId1"/>
            </p:custDataLst>
            <p:extLst>
              <p:ext uri="{D42A27DB-BD31-4B8C-83A1-F6EECF244321}">
                <p14:modId xmlns:p14="http://schemas.microsoft.com/office/powerpoint/2010/main" val="840096264"/>
              </p:ext>
            </p:extLst>
          </p:nvPr>
        </p:nvGraphicFramePr>
        <p:xfrm>
          <a:off x="914400" y="1065989"/>
          <a:ext cx="10093569" cy="5920740"/>
        </p:xfrm>
        <a:graphic>
          <a:graphicData uri="http://schemas.openxmlformats.org/drawingml/2006/table">
            <a:tbl>
              <a:tblPr firstRow="1" bandRow="1">
                <a:tableStyleId>{9D7B26C5-4107-4FEC-AEDC-1716B250A1EF}</a:tableStyleId>
              </a:tblPr>
              <a:tblGrid>
                <a:gridCol w="3113974">
                  <a:extLst>
                    <a:ext uri="{9D8B030D-6E8A-4147-A177-3AD203B41FA5}">
                      <a16:colId xmlns:a16="http://schemas.microsoft.com/office/drawing/2014/main" val="20000"/>
                    </a:ext>
                  </a:extLst>
                </a:gridCol>
                <a:gridCol w="3615072">
                  <a:extLst>
                    <a:ext uri="{9D8B030D-6E8A-4147-A177-3AD203B41FA5}">
                      <a16:colId xmlns:a16="http://schemas.microsoft.com/office/drawing/2014/main" val="20001"/>
                    </a:ext>
                  </a:extLst>
                </a:gridCol>
                <a:gridCol w="3364523">
                  <a:extLst>
                    <a:ext uri="{9D8B030D-6E8A-4147-A177-3AD203B41FA5}">
                      <a16:colId xmlns:a16="http://schemas.microsoft.com/office/drawing/2014/main" val="20002"/>
                    </a:ext>
                  </a:extLst>
                </a:gridCol>
              </a:tblGrid>
              <a:tr h="1349105">
                <a:tc>
                  <a:txBody>
                    <a:bodyPr/>
                    <a:lstStyle/>
                    <a:p>
                      <a:pPr algn="ctr">
                        <a:lnSpc>
                          <a:spcPct val="150000"/>
                        </a:lnSpc>
                      </a:pPr>
                      <a:r>
                        <a:rPr lang="en-US" sz="1900" dirty="0">
                          <a:latin typeface="Arial" panose="020B0604020202020204" pitchFamily="34" charset="0"/>
                          <a:cs typeface="Arial" panose="020B0604020202020204" pitchFamily="34" charset="0"/>
                        </a:rPr>
                        <a:t>Balance Sheet Ratio</a:t>
                      </a:r>
                    </a:p>
                  </a:txBody>
                  <a:tcPr marL="80433" marR="80433">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1900" dirty="0">
                          <a:latin typeface="Arial" panose="020B0604020202020204" pitchFamily="34" charset="0"/>
                          <a:cs typeface="Arial" panose="020B0604020202020204" pitchFamily="34" charset="0"/>
                        </a:rPr>
                        <a:t>P&amp;L Ratio or Income/Revenue</a:t>
                      </a:r>
                      <a:r>
                        <a:rPr lang="en-US" sz="1900" baseline="0" dirty="0">
                          <a:latin typeface="Arial" panose="020B0604020202020204" pitchFamily="34" charset="0"/>
                          <a:cs typeface="Arial" panose="020B0604020202020204" pitchFamily="34" charset="0"/>
                        </a:rPr>
                        <a:t>  Statement Ratio</a:t>
                      </a:r>
                      <a:endParaRPr lang="en-US" sz="1900" dirty="0">
                        <a:latin typeface="Arial" panose="020B0604020202020204" pitchFamily="34" charset="0"/>
                        <a:cs typeface="Arial" panose="020B0604020202020204" pitchFamily="34" charset="0"/>
                      </a:endParaRPr>
                    </a:p>
                  </a:txBody>
                  <a:tcPr marL="80433" marR="80433">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lnSpc>
                          <a:spcPct val="150000"/>
                        </a:lnSpc>
                      </a:pPr>
                      <a:r>
                        <a:rPr lang="en-US" sz="1900" dirty="0">
                          <a:latin typeface="Arial" panose="020B0604020202020204" pitchFamily="34" charset="0"/>
                          <a:cs typeface="Arial" panose="020B0604020202020204" pitchFamily="34" charset="0"/>
                        </a:rPr>
                        <a:t>Composite Ratio</a:t>
                      </a:r>
                    </a:p>
                    <a:p>
                      <a:pPr algn="ctr">
                        <a:lnSpc>
                          <a:spcPct val="150000"/>
                        </a:lnSpc>
                      </a:pPr>
                      <a:r>
                        <a:rPr lang="en-US" sz="1900" dirty="0">
                          <a:latin typeface="Arial" panose="020B0604020202020204" pitchFamily="34" charset="0"/>
                          <a:cs typeface="Arial" panose="020B0604020202020204" pitchFamily="34" charset="0"/>
                        </a:rPr>
                        <a:t>(Balance</a:t>
                      </a:r>
                      <a:r>
                        <a:rPr lang="en-US" sz="1900" baseline="0" dirty="0">
                          <a:latin typeface="Arial" panose="020B0604020202020204" pitchFamily="34" charset="0"/>
                          <a:cs typeface="Arial" panose="020B0604020202020204" pitchFamily="34" charset="0"/>
                        </a:rPr>
                        <a:t> Sheet and Profit &amp; Loss Ratio)</a:t>
                      </a:r>
                      <a:endParaRPr lang="en-US" sz="1900" dirty="0">
                        <a:latin typeface="Arial" panose="020B0604020202020204" pitchFamily="34" charset="0"/>
                        <a:cs typeface="Arial" panose="020B0604020202020204" pitchFamily="34" charset="0"/>
                      </a:endParaRPr>
                    </a:p>
                  </a:txBody>
                  <a:tcPr marL="80433" marR="80433">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76565">
                <a:tc>
                  <a:txBody>
                    <a:bodyPr/>
                    <a:lstStyle/>
                    <a:p>
                      <a:pPr algn="l">
                        <a:lnSpc>
                          <a:spcPct val="150000"/>
                        </a:lnSpc>
                      </a:pPr>
                      <a:r>
                        <a:rPr lang="en-US" sz="1900" dirty="0">
                          <a:latin typeface="Arial" panose="020B0604020202020204" pitchFamily="34" charset="0"/>
                          <a:cs typeface="Arial" panose="020B0604020202020204" pitchFamily="34" charset="0"/>
                        </a:rPr>
                        <a:t>Financial Ratio</a:t>
                      </a:r>
                    </a:p>
                  </a:txBody>
                  <a:tcPr marL="80433" marR="80433">
                    <a:lnL>
                      <a:noFill/>
                    </a:lnL>
                    <a:lnR>
                      <a:noFill/>
                    </a:lnR>
                    <a:lnT w="12700" cmpd="sng">
                      <a:noFill/>
                    </a:lnT>
                    <a:lnB>
                      <a:noFill/>
                    </a:lnB>
                    <a:lnTlToBr w="12700" cmpd="sng">
                      <a:noFill/>
                      <a:prstDash val="solid"/>
                    </a:lnTlToBr>
                    <a:lnBlToTr w="12700" cmpd="sng">
                      <a:noFill/>
                      <a:prstDash val="solid"/>
                    </a:lnBlToTr>
                  </a:tcPr>
                </a:tc>
                <a:tc>
                  <a:txBody>
                    <a:bodyPr/>
                    <a:lstStyle/>
                    <a:p>
                      <a:pPr algn="l">
                        <a:lnSpc>
                          <a:spcPct val="150000"/>
                        </a:lnSpc>
                      </a:pPr>
                      <a:r>
                        <a:rPr lang="en-US" sz="1900" dirty="0">
                          <a:latin typeface="Arial" panose="020B0604020202020204" pitchFamily="34" charset="0"/>
                          <a:cs typeface="Arial" panose="020B0604020202020204" pitchFamily="34" charset="0"/>
                        </a:rPr>
                        <a:t>Operating</a:t>
                      </a:r>
                      <a:r>
                        <a:rPr lang="en-US" sz="1900" baseline="0" dirty="0">
                          <a:latin typeface="Arial" panose="020B0604020202020204" pitchFamily="34" charset="0"/>
                          <a:cs typeface="Arial" panose="020B0604020202020204" pitchFamily="34" charset="0"/>
                        </a:rPr>
                        <a:t> Ratio</a:t>
                      </a:r>
                      <a:endParaRPr lang="en-US" sz="1900" dirty="0">
                        <a:latin typeface="Arial" panose="020B0604020202020204" pitchFamily="34" charset="0"/>
                        <a:cs typeface="Arial" panose="020B0604020202020204" pitchFamily="34" charset="0"/>
                      </a:endParaRPr>
                    </a:p>
                  </a:txBody>
                  <a:tcPr marL="80433" marR="80433">
                    <a:lnL>
                      <a:noFill/>
                    </a:lnL>
                    <a:lnR>
                      <a:noFill/>
                    </a:lnR>
                    <a:lnT w="12700" cmpd="sng">
                      <a:noFill/>
                    </a:lnT>
                    <a:lnB>
                      <a:noFill/>
                    </a:lnB>
                    <a:lnTlToBr w="12700" cmpd="sng">
                      <a:noFill/>
                      <a:prstDash val="solid"/>
                    </a:lnTlToBr>
                    <a:lnBlToTr w="12700" cmpd="sng">
                      <a:noFill/>
                      <a:prstDash val="solid"/>
                    </a:lnBlToTr>
                  </a:tcPr>
                </a:tc>
                <a:tc>
                  <a:txBody>
                    <a:bodyPr/>
                    <a:lstStyle/>
                    <a:p>
                      <a:pPr algn="ctr">
                        <a:lnSpc>
                          <a:spcPct val="150000"/>
                        </a:lnSpc>
                      </a:pPr>
                      <a:r>
                        <a:rPr lang="en-US" sz="1900" dirty="0">
                          <a:latin typeface="Arial" panose="020B0604020202020204" pitchFamily="34" charset="0"/>
                          <a:cs typeface="Arial" panose="020B0604020202020204" pitchFamily="34" charset="0"/>
                        </a:rPr>
                        <a:t>Composite Ratio</a:t>
                      </a:r>
                    </a:p>
                  </a:txBody>
                  <a:tcPr marL="80433" marR="80433">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509142">
                <a:tc>
                  <a:txBody>
                    <a:bodyPr/>
                    <a:lstStyle/>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Current Ratio</a:t>
                      </a:r>
                    </a:p>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Quick Asset Ratio</a:t>
                      </a:r>
                    </a:p>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Proprietary</a:t>
                      </a:r>
                      <a:r>
                        <a:rPr lang="en-US" sz="1900" baseline="0" dirty="0">
                          <a:latin typeface="Arial" panose="020B0604020202020204" pitchFamily="34" charset="0"/>
                          <a:cs typeface="Arial" panose="020B0604020202020204" pitchFamily="34" charset="0"/>
                        </a:rPr>
                        <a:t> Ratio</a:t>
                      </a:r>
                      <a:endParaRPr lang="en-US" sz="1900" dirty="0">
                        <a:latin typeface="Arial" panose="020B0604020202020204" pitchFamily="34" charset="0"/>
                        <a:cs typeface="Arial" panose="020B0604020202020204" pitchFamily="34" charset="0"/>
                      </a:endParaRPr>
                    </a:p>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Debt Equity Ratio</a:t>
                      </a:r>
                    </a:p>
                  </a:txBody>
                  <a:tcPr marL="80433" marR="80433">
                    <a:lnL>
                      <a:noFill/>
                    </a:lnL>
                    <a:lnR>
                      <a:noFill/>
                    </a:lnR>
                    <a:lnT>
                      <a:noFill/>
                    </a:lnT>
                    <a:lnB w="12700" cmpd="sng">
                      <a:noFill/>
                    </a:lnB>
                    <a:lnTlToBr w="12700" cmpd="sng">
                      <a:noFill/>
                      <a:prstDash val="solid"/>
                    </a:lnTlToBr>
                    <a:lnBlToTr w="12700" cmpd="sng">
                      <a:noFill/>
                      <a:prstDash val="solid"/>
                    </a:lnBlToTr>
                  </a:tcPr>
                </a:tc>
                <a:tc>
                  <a:txBody>
                    <a:bodyPr/>
                    <a:lstStyle/>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Gross Profit Ratio</a:t>
                      </a:r>
                    </a:p>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Operating Ratio</a:t>
                      </a:r>
                    </a:p>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Expense Ratio</a:t>
                      </a:r>
                    </a:p>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Net Profit Ratio</a:t>
                      </a:r>
                    </a:p>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Stock Turnover Ratio</a:t>
                      </a:r>
                    </a:p>
                  </a:txBody>
                  <a:tcPr marL="80433" marR="80433">
                    <a:lnL>
                      <a:noFill/>
                    </a:lnL>
                    <a:lnR>
                      <a:noFill/>
                    </a:lnR>
                    <a:lnT>
                      <a:noFill/>
                    </a:lnT>
                    <a:lnB w="12700" cmpd="sng">
                      <a:noFill/>
                    </a:lnB>
                    <a:lnTlToBr w="12700" cmpd="sng">
                      <a:noFill/>
                      <a:prstDash val="solid"/>
                    </a:lnTlToBr>
                    <a:lnBlToTr w="12700" cmpd="sng">
                      <a:noFill/>
                      <a:prstDash val="solid"/>
                    </a:lnBlToTr>
                  </a:tcPr>
                </a:tc>
                <a:tc>
                  <a:txBody>
                    <a:bodyPr/>
                    <a:lstStyle/>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Fixed Asset Turnover Ratio</a:t>
                      </a:r>
                    </a:p>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Return on Total Resources</a:t>
                      </a:r>
                      <a:r>
                        <a:rPr lang="en-US" sz="1900" baseline="0" dirty="0">
                          <a:latin typeface="Arial" panose="020B0604020202020204" pitchFamily="34" charset="0"/>
                          <a:cs typeface="Arial" panose="020B0604020202020204" pitchFamily="34" charset="0"/>
                        </a:rPr>
                        <a:t> Ratio</a:t>
                      </a:r>
                    </a:p>
                    <a:p>
                      <a:pPr marL="342900" indent="-342900" algn="l">
                        <a:lnSpc>
                          <a:spcPct val="150000"/>
                        </a:lnSpc>
                        <a:buFont typeface="Arial" panose="020B0604020202020204" pitchFamily="34" charset="0"/>
                        <a:buChar char="•"/>
                      </a:pPr>
                      <a:r>
                        <a:rPr lang="en-US" sz="1900" baseline="0" dirty="0">
                          <a:latin typeface="Arial" panose="020B0604020202020204" pitchFamily="34" charset="0"/>
                          <a:cs typeface="Arial" panose="020B0604020202020204" pitchFamily="34" charset="0"/>
                        </a:rPr>
                        <a:t>Return on Own Funds Ratio</a:t>
                      </a:r>
                    </a:p>
                    <a:p>
                      <a:pPr marL="342900" indent="-342900" algn="l">
                        <a:lnSpc>
                          <a:spcPct val="150000"/>
                        </a:lnSpc>
                        <a:buFont typeface="Arial" panose="020B0604020202020204" pitchFamily="34" charset="0"/>
                        <a:buChar char="•"/>
                      </a:pPr>
                      <a:r>
                        <a:rPr lang="en-US" sz="1900" baseline="0" dirty="0">
                          <a:latin typeface="Arial" panose="020B0604020202020204" pitchFamily="34" charset="0"/>
                          <a:cs typeface="Arial" panose="020B0604020202020204" pitchFamily="34" charset="0"/>
                        </a:rPr>
                        <a:t>Earning per Share Ratio, </a:t>
                      </a:r>
                    </a:p>
                    <a:p>
                      <a:pPr marL="342900" indent="-342900" algn="l">
                        <a:lnSpc>
                          <a:spcPct val="150000"/>
                        </a:lnSpc>
                        <a:buFont typeface="Arial" panose="020B0604020202020204" pitchFamily="34" charset="0"/>
                        <a:buChar char="•"/>
                      </a:pPr>
                      <a:r>
                        <a:rPr lang="en-US" sz="1900" dirty="0">
                          <a:latin typeface="Arial" panose="020B0604020202020204" pitchFamily="34" charset="0"/>
                          <a:cs typeface="Arial" panose="020B0604020202020204" pitchFamily="34" charset="0"/>
                        </a:rPr>
                        <a:t>Debtors’ Turnover Ratio, </a:t>
                      </a:r>
                    </a:p>
                    <a:p>
                      <a:pPr algn="ctr">
                        <a:lnSpc>
                          <a:spcPct val="150000"/>
                        </a:lnSpc>
                      </a:pPr>
                      <a:endParaRPr lang="en-US" sz="1900" dirty="0">
                        <a:latin typeface="Arial" panose="020B0604020202020204" pitchFamily="34" charset="0"/>
                        <a:cs typeface="Arial" panose="020B0604020202020204" pitchFamily="34" charset="0"/>
                      </a:endParaRPr>
                    </a:p>
                  </a:txBody>
                  <a:tcPr marL="80433" marR="80433">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5" name="Rectangle 4">
            <a:extLst>
              <a:ext uri="{FF2B5EF4-FFF2-40B4-BE49-F238E27FC236}">
                <a16:creationId xmlns:a16="http://schemas.microsoft.com/office/drawing/2014/main" id="{886DDAA2-16F8-C6A3-784A-287B97C75DC4}"/>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Traditional Classification of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694DA31-E815-11D7-048D-635554B68BEE}"/>
              </a:ext>
            </a:extLst>
          </p:cNvPr>
          <p:cNvPicPr>
            <a:picLocks noChangeAspect="1"/>
          </p:cNvPicPr>
          <p:nvPr/>
        </p:nvPicPr>
        <p:blipFill>
          <a:blip r:embed="rId3"/>
          <a:stretch>
            <a:fillRect/>
          </a:stretch>
        </p:blipFill>
        <p:spPr>
          <a:xfrm>
            <a:off x="11122800" y="45904"/>
            <a:ext cx="966091" cy="88730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39C80-647B-2B59-4F92-E3DACD8AD26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4FF32C3-8FA8-1E8A-1874-A94D2C742981}"/>
              </a:ext>
            </a:extLst>
          </p:cNvPr>
          <p:cNvSpPr/>
          <p:nvPr/>
        </p:nvSpPr>
        <p:spPr>
          <a:xfrm>
            <a:off x="679938" y="136525"/>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Functional Classification of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7074F07-70EF-8578-2DA1-AE322FAF95B9}"/>
              </a:ext>
            </a:extLst>
          </p:cNvPr>
          <p:cNvPicPr>
            <a:picLocks noChangeAspect="1"/>
          </p:cNvPicPr>
          <p:nvPr/>
        </p:nvPicPr>
        <p:blipFill>
          <a:blip r:embed="rId2"/>
          <a:stretch>
            <a:fillRect/>
          </a:stretch>
        </p:blipFill>
        <p:spPr>
          <a:xfrm>
            <a:off x="11122800" y="45904"/>
            <a:ext cx="966091" cy="887302"/>
          </a:xfrm>
          <a:prstGeom prst="rect">
            <a:avLst/>
          </a:prstGeom>
        </p:spPr>
      </p:pic>
      <p:pic>
        <p:nvPicPr>
          <p:cNvPr id="9" name="Picture 2" descr="Liquidity Ratio: Over 1,169 Royalty-Free Licensable Stock Illustrations &amp;  Drawings | Shutterstock">
            <a:extLst>
              <a:ext uri="{FF2B5EF4-FFF2-40B4-BE49-F238E27FC236}">
                <a16:creationId xmlns:a16="http://schemas.microsoft.com/office/drawing/2014/main" id="{961A85D9-FD00-3BFF-78D5-9A6ADCDF43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938" y="1143000"/>
            <a:ext cx="3206262" cy="22098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Solvency Ratios – Definitions, Types, Formulas – 365 ...">
            <a:extLst>
              <a:ext uri="{FF2B5EF4-FFF2-40B4-BE49-F238E27FC236}">
                <a16:creationId xmlns:a16="http://schemas.microsoft.com/office/drawing/2014/main" id="{2453F76A-C01C-9A28-2A16-5F899929C9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6678" y="1143000"/>
            <a:ext cx="2819402" cy="20574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ctivity Ratios - Definition, Formula, Calculations">
            <a:extLst>
              <a:ext uri="{FF2B5EF4-FFF2-40B4-BE49-F238E27FC236}">
                <a16:creationId xmlns:a16="http://schemas.microsoft.com/office/drawing/2014/main" id="{4827452D-4607-CDC1-6BE7-9E86B2A70C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06558" y="1143000"/>
            <a:ext cx="2477965" cy="20574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rofitability Ratios: Over 2,212 Royalty-Free Licensable Stock  Illustrations &amp; Drawings | Shutterstock">
            <a:extLst>
              <a:ext uri="{FF2B5EF4-FFF2-40B4-BE49-F238E27FC236}">
                <a16:creationId xmlns:a16="http://schemas.microsoft.com/office/drawing/2014/main" id="{CCA0C376-F939-376F-ACCE-FB54D4C128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3810000"/>
            <a:ext cx="2819402" cy="23622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Valuation Ratios - YouTube">
            <a:extLst>
              <a:ext uri="{FF2B5EF4-FFF2-40B4-BE49-F238E27FC236}">
                <a16:creationId xmlns:a16="http://schemas.microsoft.com/office/drawing/2014/main" id="{78929F0B-D1F6-E1B6-4A2D-0B2196C968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3810000"/>
            <a:ext cx="28575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7238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44929"/>
            <a:ext cx="8305799" cy="4800600"/>
          </a:xfrm>
        </p:spPr>
        <p:txBody>
          <a:bodyPr>
            <a:noAutofit/>
          </a:bodyPr>
          <a:lstStyle/>
          <a:p>
            <a:pPr algn="just">
              <a:lnSpc>
                <a:spcPct val="150000"/>
              </a:lnSpc>
            </a:pPr>
            <a:r>
              <a:rPr lang="en-US" sz="2000" dirty="0">
                <a:latin typeface="Arial" panose="020B0604020202020204" pitchFamily="34" charset="0"/>
                <a:cs typeface="Arial" panose="020B0604020202020204" pitchFamily="34" charset="0"/>
              </a:rPr>
              <a:t>Liquidity is the ease with which assets may be converted into cash without loss in value of assets.</a:t>
            </a:r>
          </a:p>
          <a:p>
            <a:pPr algn="just">
              <a:lnSpc>
                <a:spcPct val="150000"/>
              </a:lnSpc>
            </a:pPr>
            <a:r>
              <a:rPr lang="en-US" sz="2000" dirty="0">
                <a:latin typeface="Arial" panose="020B0604020202020204" pitchFamily="34" charset="0"/>
                <a:cs typeface="Arial" panose="020B0604020202020204" pitchFamily="34" charset="0"/>
              </a:rPr>
              <a:t>"Liquidity" refers to the ability of the firm to meet its current liabilities. The liquidity ratios, therefore, are also called 'Short-term Solvency Ratios.</a:t>
            </a:r>
          </a:p>
          <a:p>
            <a:pPr algn="just">
              <a:lnSpc>
                <a:spcPct val="150000"/>
              </a:lnSpc>
            </a:pPr>
            <a:r>
              <a:rPr lang="en-US" sz="2000" dirty="0">
                <a:latin typeface="Arial" panose="020B0604020202020204" pitchFamily="34" charset="0"/>
                <a:cs typeface="Arial" panose="020B0604020202020204" pitchFamily="34" charset="0"/>
              </a:rPr>
              <a:t>These ratios are used to assess the short-term financial position of the concern. They indicate the firm's ability to meet its current obligations out of current resources. </a:t>
            </a:r>
          </a:p>
          <a:p>
            <a:pPr algn="just">
              <a:lnSpc>
                <a:spcPct val="150000"/>
              </a:lnSpc>
            </a:pPr>
            <a:r>
              <a:rPr lang="en-US" sz="2000" dirty="0">
                <a:latin typeface="Arial" panose="020B0604020202020204" pitchFamily="34" charset="0"/>
                <a:cs typeface="Arial" panose="020B0604020202020204" pitchFamily="34" charset="0"/>
              </a:rPr>
              <a:t>Liquidity ratios include two ratios: - </a:t>
            </a:r>
          </a:p>
          <a:p>
            <a:pPr marL="514350" indent="-514350" algn="just">
              <a:lnSpc>
                <a:spcPct val="150000"/>
              </a:lnSpc>
              <a:buAutoNum type="arabicPeriod"/>
            </a:pPr>
            <a:r>
              <a:rPr lang="en-US" sz="2000" dirty="0">
                <a:latin typeface="Arial" panose="020B0604020202020204" pitchFamily="34" charset="0"/>
                <a:cs typeface="Arial" panose="020B0604020202020204" pitchFamily="34" charset="0"/>
              </a:rPr>
              <a:t>Current Ratio </a:t>
            </a:r>
          </a:p>
          <a:p>
            <a:pPr marL="514350" indent="-514350" algn="just">
              <a:lnSpc>
                <a:spcPct val="150000"/>
              </a:lnSpc>
              <a:buAutoNum type="arabicPeriod"/>
            </a:pPr>
            <a:r>
              <a:rPr lang="en-US" sz="2000" dirty="0">
                <a:latin typeface="Arial" panose="020B0604020202020204" pitchFamily="34" charset="0"/>
                <a:cs typeface="Arial" panose="020B0604020202020204" pitchFamily="34" charset="0"/>
              </a:rPr>
              <a:t>Quick Ratio</a:t>
            </a:r>
          </a:p>
        </p:txBody>
      </p:sp>
      <p:pic>
        <p:nvPicPr>
          <p:cNvPr id="6" name="Picture 5">
            <a:extLst>
              <a:ext uri="{FF2B5EF4-FFF2-40B4-BE49-F238E27FC236}">
                <a16:creationId xmlns:a16="http://schemas.microsoft.com/office/drawing/2014/main" id="{A074711D-6DB8-0C82-A3EA-CEBE3517174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762998" y="2057400"/>
            <a:ext cx="3319463" cy="3055768"/>
          </a:xfrm>
          <a:prstGeom prst="rect">
            <a:avLst/>
          </a:prstGeom>
        </p:spPr>
      </p:pic>
      <p:sp>
        <p:nvSpPr>
          <p:cNvPr id="21" name="Rectangle 20">
            <a:extLst>
              <a:ext uri="{FF2B5EF4-FFF2-40B4-BE49-F238E27FC236}">
                <a16:creationId xmlns:a16="http://schemas.microsoft.com/office/drawing/2014/main" id="{7EFD5A2A-B1FC-1581-4076-D0EF053C4B6B}"/>
              </a:ext>
            </a:extLst>
          </p:cNvPr>
          <p:cNvSpPr/>
          <p:nvPr/>
        </p:nvSpPr>
        <p:spPr>
          <a:xfrm>
            <a:off x="679938" y="15240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Liquidity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22" name="Picture 21">
            <a:extLst>
              <a:ext uri="{FF2B5EF4-FFF2-40B4-BE49-F238E27FC236}">
                <a16:creationId xmlns:a16="http://schemas.microsoft.com/office/drawing/2014/main" id="{F846821D-1659-1BF4-E3DB-46DB9A10DFC9}"/>
              </a:ext>
            </a:extLst>
          </p:cNvPr>
          <p:cNvPicPr>
            <a:picLocks noChangeAspect="1"/>
          </p:cNvPicPr>
          <p:nvPr/>
        </p:nvPicPr>
        <p:blipFill>
          <a:blip r:embed="rId4"/>
          <a:stretch>
            <a:fillRect/>
          </a:stretch>
        </p:blipFill>
        <p:spPr>
          <a:xfrm>
            <a:off x="11122800" y="45904"/>
            <a:ext cx="966091" cy="8873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7169" y="709245"/>
            <a:ext cx="8915400" cy="4800600"/>
          </a:xfrm>
        </p:spPr>
        <p:txBody>
          <a:bodyPr>
            <a:noAutofit/>
          </a:bodyPr>
          <a:lstStyle/>
          <a:p>
            <a:pPr marL="619125" indent="-619125" algn="just">
              <a:lnSpc>
                <a:spcPct val="200000"/>
              </a:lnSpc>
              <a:buSzPct val="85000"/>
              <a:buNone/>
            </a:pPr>
            <a:r>
              <a:rPr lang="en-US" altLang="en-US" sz="2000" b="1" dirty="0">
                <a:latin typeface="Arial" panose="020B0604020202020204" pitchFamily="34" charset="0"/>
                <a:cs typeface="Arial" panose="020B0604020202020204" pitchFamily="34" charset="0"/>
              </a:rPr>
              <a:t>Current Ratio</a:t>
            </a:r>
            <a:endParaRPr lang="en-US" altLang="en-US" sz="2000" dirty="0">
              <a:latin typeface="Arial" panose="020B0604020202020204" pitchFamily="34" charset="0"/>
              <a:cs typeface="Arial" panose="020B0604020202020204" pitchFamily="34" charset="0"/>
            </a:endParaRPr>
          </a:p>
          <a:p>
            <a:pPr marL="619125" indent="-619125" algn="just">
              <a:lnSpc>
                <a:spcPct val="200000"/>
              </a:lnSpc>
              <a:buSzPct val="85000"/>
            </a:pPr>
            <a:r>
              <a:rPr lang="en-US" altLang="en-US" sz="2000" dirty="0">
                <a:latin typeface="Arial" panose="020B0604020202020204" pitchFamily="34" charset="0"/>
                <a:cs typeface="Arial" panose="020B0604020202020204" pitchFamily="34" charset="0"/>
              </a:rPr>
              <a:t>The main question this ratio addresses is: Does the business have enough current assets to meet its current debts?</a:t>
            </a:r>
          </a:p>
          <a:p>
            <a:pPr marL="619125" indent="-619125" algn="just">
              <a:lnSpc>
                <a:spcPct val="200000"/>
              </a:lnSpc>
              <a:buSzPct val="85000"/>
            </a:pPr>
            <a:r>
              <a:rPr lang="en-US" altLang="en-US" sz="2000" dirty="0">
                <a:latin typeface="Arial" panose="020B0604020202020204" pitchFamily="34" charset="0"/>
                <a:cs typeface="Arial" panose="020B0604020202020204" pitchFamily="34" charset="0"/>
              </a:rPr>
              <a:t>A generally acceptable current ratio is 2:1.</a:t>
            </a:r>
          </a:p>
          <a:p>
            <a:pPr marL="619125" indent="-619125" algn="just">
              <a:lnSpc>
                <a:spcPct val="200000"/>
              </a:lnSpc>
              <a:buSzPct val="85000"/>
            </a:pPr>
            <a:r>
              <a:rPr lang="en-US" altLang="en-US" sz="2000" dirty="0">
                <a:latin typeface="Arial" panose="020B0604020202020204" pitchFamily="34" charset="0"/>
                <a:cs typeface="Arial" panose="020B0604020202020204" pitchFamily="34" charset="0"/>
              </a:rPr>
              <a:t>The ideal Current Ratio preferred  by Banks is   1.33: 1</a:t>
            </a:r>
          </a:p>
          <a:p>
            <a:pPr marL="619125" indent="-619125" algn="just">
              <a:lnSpc>
                <a:spcPct val="200000"/>
              </a:lnSpc>
              <a:buSzPct val="85000"/>
            </a:pPr>
            <a:r>
              <a:rPr lang="en-US" altLang="en-US" sz="2000" dirty="0">
                <a:latin typeface="Arial" panose="020B0604020202020204" pitchFamily="34" charset="0"/>
                <a:cs typeface="Arial" panose="020B0604020202020204" pitchFamily="34" charset="0"/>
              </a:rPr>
              <a:t>But whether or not a specific ratio is satisfactory depends on the nature of the business and the characteristics of its  CA and CL.</a:t>
            </a:r>
          </a:p>
          <a:p>
            <a:pPr marL="619125" indent="-619125" algn="just">
              <a:buSzPct val="85000"/>
            </a:pPr>
            <a:endParaRPr lang="en-US" altLang="en-US" sz="2400" dirty="0"/>
          </a:p>
          <a:p>
            <a:pPr marL="619125" indent="-619125" algn="just" eaLnBrk="1" hangingPunct="1">
              <a:lnSpc>
                <a:spcPct val="90000"/>
              </a:lnSpc>
              <a:buSzPct val="85000"/>
              <a:buNone/>
            </a:pPr>
            <a:endParaRPr lang="en-US" altLang="en-US" sz="2400" dirty="0"/>
          </a:p>
        </p:txBody>
      </p:sp>
      <p:pic>
        <p:nvPicPr>
          <p:cNvPr id="5" name="Picture 4">
            <a:extLst>
              <a:ext uri="{FF2B5EF4-FFF2-40B4-BE49-F238E27FC236}">
                <a16:creationId xmlns:a16="http://schemas.microsoft.com/office/drawing/2014/main" id="{9BBD83C4-E8EC-486E-30E6-6AA3FDB887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0275" y="2209800"/>
            <a:ext cx="2066925" cy="2209800"/>
          </a:xfrm>
          <a:prstGeom prst="rect">
            <a:avLst/>
          </a:prstGeom>
        </p:spPr>
      </p:pic>
      <p:sp>
        <p:nvSpPr>
          <p:cNvPr id="6" name="Rectangle 5">
            <a:extLst>
              <a:ext uri="{FF2B5EF4-FFF2-40B4-BE49-F238E27FC236}">
                <a16:creationId xmlns:a16="http://schemas.microsoft.com/office/drawing/2014/main" id="{D2BC9671-C1FF-9966-1588-EEFCD983E1D0}"/>
              </a:ext>
            </a:extLst>
          </p:cNvPr>
          <p:cNvSpPr/>
          <p:nvPr/>
        </p:nvSpPr>
        <p:spPr>
          <a:xfrm>
            <a:off x="762000" y="15240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Liquidity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3709700-7755-74D4-7681-C7D00A5A2668}"/>
              </a:ext>
            </a:extLst>
          </p:cNvPr>
          <p:cNvPicPr>
            <a:picLocks noChangeAspect="1"/>
          </p:cNvPicPr>
          <p:nvPr/>
        </p:nvPicPr>
        <p:blipFill>
          <a:blip r:embed="rId3"/>
          <a:stretch>
            <a:fillRect/>
          </a:stretch>
        </p:blipFill>
        <p:spPr>
          <a:xfrm>
            <a:off x="11122800" y="45904"/>
            <a:ext cx="966091" cy="887302"/>
          </a:xfrm>
          <a:prstGeom prst="rect">
            <a:avLst/>
          </a:prstGeom>
        </p:spPr>
      </p:pic>
    </p:spTree>
    <p:extLst>
      <p:ext uri="{BB962C8B-B14F-4D97-AF65-F5344CB8AC3E}">
        <p14:creationId xmlns:p14="http://schemas.microsoft.com/office/powerpoint/2010/main" val="16925547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73368" y="609600"/>
                <a:ext cx="10249432" cy="5257800"/>
              </a:xfrm>
            </p:spPr>
            <p:txBody>
              <a:bodyPr>
                <a:noAutofit/>
              </a:bodyPr>
              <a:lstStyle/>
              <a:p>
                <a:pPr marL="0" indent="0" algn="just" eaLnBrk="1" hangingPunct="1">
                  <a:lnSpc>
                    <a:spcPct val="150000"/>
                  </a:lnSpc>
                  <a:buSzPct val="85000"/>
                  <a:buNone/>
                </a:pPr>
                <a:r>
                  <a:rPr lang="en-US" altLang="en-US" sz="2000" dirty="0">
                    <a:latin typeface="Arial" panose="020B0604020202020204" pitchFamily="34" charset="0"/>
                    <a:cs typeface="Arial" panose="020B0604020202020204" pitchFamily="34" charset="0"/>
                  </a:rPr>
                  <a:t>         </a:t>
                </a:r>
                <a14:m>
                  <m:oMath xmlns:m="http://schemas.openxmlformats.org/officeDocument/2006/math">
                    <m:r>
                      <a:rPr lang="en-US" altLang="en-US" sz="2000" b="1" i="0" dirty="0" smtClean="0">
                        <a:latin typeface="Cambria Math" panose="02040503050406030204" pitchFamily="18" charset="0"/>
                      </a:rPr>
                      <m:t>𝐅𝐨𝐫</m:t>
                    </m:r>
                    <m:r>
                      <a:rPr lang="en-IN" altLang="en-US" sz="2000" b="1" i="0" dirty="0" smtClean="0">
                        <a:latin typeface="Cambria Math" panose="02040503050406030204" pitchFamily="18" charset="0"/>
                      </a:rPr>
                      <m:t>𝐦𝐮</m:t>
                    </m:r>
                    <m:r>
                      <a:rPr lang="en-US" altLang="en-US" sz="2000" b="1" i="0" dirty="0" smtClean="0">
                        <a:latin typeface="Cambria Math" panose="02040503050406030204" pitchFamily="18" charset="0"/>
                      </a:rPr>
                      <m:t>𝐥𝐚</m:t>
                    </m:r>
                    <m:r>
                      <m:rPr>
                        <m:nor/>
                      </m:rPr>
                      <a:rPr lang="en-US" altLang="en-US" sz="2000" b="0" i="0" dirty="0" smtClean="0">
                        <a:latin typeface="Arial" panose="020B0604020202020204" pitchFamily="34" charset="0"/>
                        <a:cs typeface="Arial" panose="020B0604020202020204" pitchFamily="34" charset="0"/>
                      </a:rPr>
                      <m:t>, </m:t>
                    </m:r>
                    <m:r>
                      <m:rPr>
                        <m:nor/>
                      </m:rPr>
                      <a:rPr lang="en-IN" altLang="en-US" sz="2000" b="0" i="0" dirty="0" smtClean="0">
                        <a:latin typeface="Arial" panose="020B0604020202020204" pitchFamily="34" charset="0"/>
                        <a:cs typeface="Arial" panose="020B0604020202020204" pitchFamily="34" charset="0"/>
                      </a:rPr>
                      <m:t>            </m:t>
                    </m:r>
                    <m:r>
                      <m:rPr>
                        <m:nor/>
                      </m:rPr>
                      <a:rPr lang="en-US" altLang="en-US" sz="2000" dirty="0">
                        <a:latin typeface="Arial" panose="020B0604020202020204" pitchFamily="34" charset="0"/>
                        <a:cs typeface="Arial" panose="020B0604020202020204" pitchFamily="34" charset="0"/>
                      </a:rPr>
                      <m:t>Current</m:t>
                    </m:r>
                    <m:r>
                      <m:rPr>
                        <m:nor/>
                      </m:rPr>
                      <a:rPr lang="en-US" altLang="en-US" sz="2000" dirty="0">
                        <a:latin typeface="Arial" panose="020B0604020202020204" pitchFamily="34" charset="0"/>
                        <a:cs typeface="Arial" panose="020B0604020202020204" pitchFamily="34" charset="0"/>
                      </a:rPr>
                      <m:t> </m:t>
                    </m:r>
                    <m:r>
                      <m:rPr>
                        <m:nor/>
                      </m:rPr>
                      <a:rPr lang="en-US" altLang="en-US" sz="2000" dirty="0">
                        <a:latin typeface="Arial" panose="020B0604020202020204" pitchFamily="34" charset="0"/>
                        <a:cs typeface="Arial" panose="020B0604020202020204" pitchFamily="34" charset="0"/>
                      </a:rPr>
                      <m:t>Ratio</m:t>
                    </m:r>
                    <m:r>
                      <a:rPr lang="en-US" altLang="en-US" sz="2000" b="0" i="1" smtClean="0">
                        <a:latin typeface="Cambria Math" panose="02040503050406030204" pitchFamily="18" charset="0"/>
                      </a:rPr>
                      <m:t>=</m:t>
                    </m:r>
                    <m:f>
                      <m:fPr>
                        <m:ctrlPr>
                          <a:rPr lang="en-US" altLang="en-US" sz="2000" i="1" smtClean="0">
                            <a:latin typeface="Cambria Math" panose="02040503050406030204" pitchFamily="18" charset="0"/>
                          </a:rPr>
                        </m:ctrlPr>
                      </m:fPr>
                      <m:num>
                        <m:r>
                          <m:rPr>
                            <m:nor/>
                          </m:rPr>
                          <a:rPr lang="en-US" altLang="en-US" sz="2000" dirty="0" smtClean="0">
                            <a:latin typeface="Arial" panose="020B0604020202020204" pitchFamily="34" charset="0"/>
                            <a:cs typeface="Arial" panose="020B0604020202020204" pitchFamily="34" charset="0"/>
                          </a:rPr>
                          <m:t>Cu</m:t>
                        </m:r>
                        <m:r>
                          <m:rPr>
                            <m:nor/>
                          </m:rPr>
                          <a:rPr lang="en-US" altLang="en-US" sz="2000" dirty="0">
                            <a:latin typeface="Arial" panose="020B0604020202020204" pitchFamily="34" charset="0"/>
                            <a:cs typeface="Arial" panose="020B0604020202020204" pitchFamily="34" charset="0"/>
                          </a:rPr>
                          <m:t>rrent</m:t>
                        </m:r>
                        <m:r>
                          <m:rPr>
                            <m:nor/>
                          </m:rPr>
                          <a:rPr lang="en-US" altLang="en-US" sz="2000" dirty="0">
                            <a:latin typeface="Arial" panose="020B0604020202020204" pitchFamily="34" charset="0"/>
                            <a:cs typeface="Arial" panose="020B0604020202020204" pitchFamily="34" charset="0"/>
                          </a:rPr>
                          <m:t> </m:t>
                        </m:r>
                        <m:r>
                          <m:rPr>
                            <m:nor/>
                          </m:rPr>
                          <a:rPr lang="en-US" altLang="en-US" sz="2000" dirty="0">
                            <a:latin typeface="Arial" panose="020B0604020202020204" pitchFamily="34" charset="0"/>
                            <a:cs typeface="Arial" panose="020B0604020202020204" pitchFamily="34" charset="0"/>
                          </a:rPr>
                          <m:t>Asset</m:t>
                        </m:r>
                      </m:num>
                      <m:den>
                        <m:r>
                          <m:rPr>
                            <m:nor/>
                          </m:rPr>
                          <a:rPr lang="en-US" altLang="en-US" sz="2000" dirty="0">
                            <a:latin typeface="Arial" panose="020B0604020202020204" pitchFamily="34" charset="0"/>
                            <a:cs typeface="Arial" panose="020B0604020202020204" pitchFamily="34" charset="0"/>
                          </a:rPr>
                          <m:t>Curren</m:t>
                        </m:r>
                        <m:r>
                          <m:rPr>
                            <m:nor/>
                          </m:rPr>
                          <a:rPr lang="en-IN" altLang="en-US" sz="2000" b="0" i="0" dirty="0" smtClean="0">
                            <a:latin typeface="Arial" panose="020B0604020202020204" pitchFamily="34" charset="0"/>
                            <a:cs typeface="Arial" panose="020B0604020202020204" pitchFamily="34" charset="0"/>
                          </a:rPr>
                          <m:t>t</m:t>
                        </m:r>
                        <m:r>
                          <m:rPr>
                            <m:nor/>
                          </m:rPr>
                          <a:rPr lang="en-IN" altLang="en-US" sz="2000" i="0" dirty="0" smtClean="0">
                            <a:latin typeface="Arial" panose="020B0604020202020204" pitchFamily="34" charset="0"/>
                            <a:cs typeface="Arial" panose="020B0604020202020204" pitchFamily="34" charset="0"/>
                          </a:rPr>
                          <m:t> </m:t>
                        </m:r>
                        <m:r>
                          <m:rPr>
                            <m:nor/>
                          </m:rPr>
                          <a:rPr lang="en-IN" altLang="en-US" sz="2000" i="0" dirty="0" smtClean="0">
                            <a:latin typeface="Arial" panose="020B0604020202020204" pitchFamily="34" charset="0"/>
                            <a:cs typeface="Arial" panose="020B0604020202020204" pitchFamily="34" charset="0"/>
                          </a:rPr>
                          <m:t>L</m:t>
                        </m:r>
                        <m:r>
                          <m:rPr>
                            <m:nor/>
                          </m:rPr>
                          <a:rPr lang="en-US" altLang="en-US" sz="2000" dirty="0">
                            <a:latin typeface="Arial" panose="020B0604020202020204" pitchFamily="34" charset="0"/>
                            <a:cs typeface="Arial" panose="020B0604020202020204" pitchFamily="34" charset="0"/>
                          </a:rPr>
                          <m:t>iabilities</m:t>
                        </m:r>
                      </m:den>
                    </m:f>
                  </m:oMath>
                </a14:m>
                <a:endParaRPr lang="en-US" altLang="en-US" sz="2000" dirty="0">
                  <a:latin typeface="Arial" panose="020B0604020202020204" pitchFamily="34" charset="0"/>
                  <a:cs typeface="Arial" panose="020B0604020202020204" pitchFamily="34" charset="0"/>
                </a:endParaRPr>
              </a:p>
              <a:p>
                <a:pPr marL="619125" indent="-619125" algn="just" eaLnBrk="1" hangingPunct="1">
                  <a:lnSpc>
                    <a:spcPct val="150000"/>
                  </a:lnSpc>
                  <a:buSzPct val="85000"/>
                  <a:buNone/>
                </a:pPr>
                <a:r>
                  <a:rPr lang="en-US" altLang="en-US" sz="2000" dirty="0">
                    <a:latin typeface="Arial" panose="020B0604020202020204" pitchFamily="34" charset="0"/>
                    <a:cs typeface="Arial" panose="020B0604020202020204" pitchFamily="34" charset="0"/>
                  </a:rPr>
                  <a:t>Current Asset (CA)= Inventories + Sundry Debtors + Cash &amp; Bank balances + Receivables / Accruals + Loans &amp; Advances + Disposable Investments </a:t>
                </a:r>
              </a:p>
              <a:p>
                <a:pPr marL="619125" indent="-619125" algn="just" eaLnBrk="1" hangingPunct="1">
                  <a:lnSpc>
                    <a:spcPct val="150000"/>
                  </a:lnSpc>
                  <a:buSzPct val="85000"/>
                  <a:buNone/>
                </a:pPr>
                <a:r>
                  <a:rPr lang="en-US" altLang="en-US" sz="2000" dirty="0">
                    <a:latin typeface="Arial" panose="020B0604020202020204" pitchFamily="34" charset="0"/>
                    <a:cs typeface="Arial" panose="020B0604020202020204" pitchFamily="34" charset="0"/>
                  </a:rPr>
                  <a:t>Current Liabilities (CL) = Creditors + Short term Loans + Bank Overdraft + Cash Credit +Outstanding Expenses + Provision for Taxation + Proposed Dividend + Unclaimed Dividend</a:t>
                </a:r>
              </a:p>
              <a:p>
                <a:pPr marL="514350" indent="-514350" algn="just" eaLnBrk="1" hangingPunct="1">
                  <a:lnSpc>
                    <a:spcPct val="150000"/>
                  </a:lnSpc>
                  <a:buNone/>
                </a:pPr>
                <a:r>
                  <a:rPr lang="en-US" altLang="en-US" sz="2000" dirty="0">
                    <a:latin typeface="Arial" panose="020B0604020202020204" pitchFamily="34" charset="0"/>
                    <a:cs typeface="Arial" panose="020B0604020202020204" pitchFamily="34" charset="0"/>
                  </a:rPr>
                  <a:t>Example</a:t>
                </a:r>
              </a:p>
              <a:p>
                <a:pPr marL="514350" indent="-514350" algn="just" eaLnBrk="1" hangingPunct="1">
                  <a:lnSpc>
                    <a:spcPct val="150000"/>
                  </a:lnSpc>
                  <a:buNone/>
                </a:pPr>
                <a:r>
                  <a:rPr lang="en-US" altLang="en-US" sz="2000" dirty="0">
                    <a:latin typeface="Arial" panose="020B0604020202020204" pitchFamily="34" charset="0"/>
                    <a:cs typeface="Arial" panose="020B0604020202020204" pitchFamily="34" charset="0"/>
                  </a:rPr>
                  <a:t>	If the Current Assets and Current Liabilities of a concern are Rs. 4,00,000 and Rs. 2,00,000 respectively, </a:t>
                </a:r>
              </a:p>
              <a:p>
                <a:pPr marL="514350" indent="-514350" algn="just" eaLnBrk="1" hangingPunct="1">
                  <a:lnSpc>
                    <a:spcPct val="150000"/>
                  </a:lnSpc>
                  <a:buNone/>
                </a:pPr>
                <a:r>
                  <a:rPr lang="en-US" altLang="en-US" sz="2000" dirty="0">
                    <a:latin typeface="Arial" panose="020B0604020202020204" pitchFamily="34" charset="0"/>
                    <a:cs typeface="Arial" panose="020B0604020202020204" pitchFamily="34" charset="0"/>
                  </a:rPr>
                  <a:t>	 the Current Ratio will be =Rs.4,00,000/Rs.2,00,000  = 2 : 1</a:t>
                </a:r>
              </a:p>
              <a:p>
                <a:pPr marL="514350" indent="-514350" algn="just" eaLnBrk="1" hangingPunct="1">
                  <a:lnSpc>
                    <a:spcPct val="150000"/>
                  </a:lnSpc>
                  <a:buNone/>
                </a:pPr>
                <a:r>
                  <a:rPr lang="en-US" altLang="en-US" sz="2000" b="1" dirty="0">
                    <a:solidFill>
                      <a:srgbClr val="FF0000"/>
                    </a:solidFill>
                    <a:latin typeface="Arial" panose="020B0604020202020204" pitchFamily="34" charset="0"/>
                    <a:cs typeface="Arial" panose="020B0604020202020204" pitchFamily="34" charset="0"/>
                  </a:rPr>
                  <a:t>        </a:t>
                </a:r>
              </a:p>
              <a:p>
                <a:pPr marL="619125" indent="-619125" algn="just" eaLnBrk="1" hangingPunct="1">
                  <a:lnSpc>
                    <a:spcPct val="150000"/>
                  </a:lnSpc>
                  <a:buSzPct val="85000"/>
                  <a:buNone/>
                </a:pP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73368" y="609600"/>
                <a:ext cx="10249432" cy="5257800"/>
              </a:xfrm>
              <a:blipFill>
                <a:blip r:embed="rId2"/>
                <a:stretch>
                  <a:fillRect l="-595" r="-595" b="-7648"/>
                </a:stretch>
              </a:blipFill>
            </p:spPr>
            <p:txBody>
              <a:bodyPr/>
              <a:lstStyle/>
              <a:p>
                <a:r>
                  <a:rPr lang="en-IN">
                    <a:noFill/>
                  </a:rPr>
                  <a:t> </a:t>
                </a:r>
              </a:p>
            </p:txBody>
          </p:sp>
        </mc:Fallback>
      </mc:AlternateContent>
      <p:sp>
        <p:nvSpPr>
          <p:cNvPr id="6" name="Rectangle 5">
            <a:extLst>
              <a:ext uri="{FF2B5EF4-FFF2-40B4-BE49-F238E27FC236}">
                <a16:creationId xmlns:a16="http://schemas.microsoft.com/office/drawing/2014/main" id="{8BDBB4B4-6E45-662E-8CDD-CA20EEEED6BF}"/>
              </a:ext>
            </a:extLst>
          </p:cNvPr>
          <p:cNvSpPr/>
          <p:nvPr/>
        </p:nvSpPr>
        <p:spPr>
          <a:xfrm>
            <a:off x="873369"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Liquidity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72276B41-0979-4FAD-6011-BC2F92A28B38}"/>
              </a:ext>
            </a:extLst>
          </p:cNvPr>
          <p:cNvPicPr>
            <a:picLocks noChangeAspect="1"/>
          </p:cNvPicPr>
          <p:nvPr/>
        </p:nvPicPr>
        <p:blipFill>
          <a:blip r:embed="rId3"/>
          <a:stretch>
            <a:fillRect/>
          </a:stretch>
        </p:blipFill>
        <p:spPr>
          <a:xfrm>
            <a:off x="11122800" y="45904"/>
            <a:ext cx="966091" cy="887302"/>
          </a:xfrm>
          <a:prstGeom prst="rect">
            <a:avLst/>
          </a:prstGeom>
        </p:spPr>
      </p:pic>
    </p:spTree>
    <p:extLst>
      <p:ext uri="{BB962C8B-B14F-4D97-AF65-F5344CB8AC3E}">
        <p14:creationId xmlns:p14="http://schemas.microsoft.com/office/powerpoint/2010/main" val="313048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938" y="652379"/>
            <a:ext cx="6101862" cy="5105400"/>
          </a:xfrm>
        </p:spPr>
        <p:txBody>
          <a:bodyPr>
            <a:noAutofit/>
          </a:bodyPr>
          <a:lstStyle/>
          <a:p>
            <a:pPr marL="619125" indent="-619125" algn="just" eaLnBrk="1" hangingPunct="1">
              <a:lnSpc>
                <a:spcPct val="150000"/>
              </a:lnSpc>
              <a:buSzPct val="85000"/>
              <a:buFont typeface="Wingdings" panose="05000000000000000000" pitchFamily="2" charset="2"/>
              <a:buAutoNum type="romanLcPeriod"/>
            </a:pPr>
            <a:endParaRPr lang="en-US" altLang="en-US" sz="2000" dirty="0">
              <a:latin typeface="Arial" panose="020B0604020202020204" pitchFamily="34" charset="0"/>
              <a:cs typeface="Arial" panose="020B0604020202020204" pitchFamily="34" charset="0"/>
            </a:endParaRPr>
          </a:p>
          <a:p>
            <a:pPr marL="619125" indent="-619125" algn="just">
              <a:lnSpc>
                <a:spcPct val="150000"/>
              </a:lnSpc>
              <a:buSzPct val="85000"/>
              <a:buNone/>
            </a:pPr>
            <a:r>
              <a:rPr lang="en-US" altLang="en-US" sz="2000" b="1" dirty="0">
                <a:latin typeface="Arial" panose="020B0604020202020204" pitchFamily="34" charset="0"/>
                <a:cs typeface="Arial" panose="020B0604020202020204" pitchFamily="34" charset="0"/>
              </a:rPr>
              <a:t>Quick Ratio</a:t>
            </a:r>
          </a:p>
          <a:p>
            <a:pPr algn="just">
              <a:lnSpc>
                <a:spcPct val="150000"/>
              </a:lnSpc>
              <a:buSzPct val="85000"/>
            </a:pPr>
            <a:r>
              <a:rPr lang="en-US" altLang="en-US" sz="2000" dirty="0">
                <a:latin typeface="Arial" panose="020B0604020202020204" pitchFamily="34" charset="0"/>
                <a:cs typeface="Arial" panose="020B0604020202020204" pitchFamily="34" charset="0"/>
              </a:rPr>
              <a:t>The quick ratio is a much more conservative measure than the current ratio.</a:t>
            </a:r>
          </a:p>
          <a:p>
            <a:pPr algn="just">
              <a:lnSpc>
                <a:spcPct val="150000"/>
              </a:lnSpc>
              <a:buSzPct val="85000"/>
            </a:pPr>
            <a:r>
              <a:rPr lang="en-US" altLang="en-US" sz="2000" dirty="0">
                <a:latin typeface="Arial" panose="020B0604020202020204" pitchFamily="34" charset="0"/>
                <a:cs typeface="Arial" panose="020B0604020202020204" pitchFamily="34" charset="0"/>
              </a:rPr>
              <a:t>This ratio measures the immediate solvency of the company. </a:t>
            </a:r>
          </a:p>
          <a:p>
            <a:pPr algn="just">
              <a:lnSpc>
                <a:spcPct val="150000"/>
              </a:lnSpc>
              <a:buSzPct val="85000"/>
            </a:pPr>
            <a:r>
              <a:rPr lang="en-US" altLang="en-US" sz="2000" dirty="0">
                <a:latin typeface="Arial" panose="020B0604020202020204" pitchFamily="34" charset="0"/>
                <a:cs typeface="Arial" panose="020B0604020202020204" pitchFamily="34" charset="0"/>
              </a:rPr>
              <a:t>The ideal liquid ratio is 1:1. This is irrespective of the nature of the business.</a:t>
            </a:r>
          </a:p>
          <a:p>
            <a:pPr marL="619125" indent="-619125" algn="just">
              <a:lnSpc>
                <a:spcPct val="150000"/>
              </a:lnSpc>
              <a:buSzPct val="85000"/>
            </a:pPr>
            <a:endParaRPr lang="en-US" altLang="en-US" sz="2000" dirty="0">
              <a:latin typeface="Arial" panose="020B0604020202020204" pitchFamily="34" charset="0"/>
              <a:cs typeface="Arial" panose="020B0604020202020204" pitchFamily="34" charset="0"/>
            </a:endParaRPr>
          </a:p>
          <a:p>
            <a:pPr marL="619125" indent="-619125" algn="just" eaLnBrk="1" hangingPunct="1">
              <a:lnSpc>
                <a:spcPct val="150000"/>
              </a:lnSpc>
              <a:buSzPct val="85000"/>
              <a:buNone/>
            </a:pPr>
            <a:endParaRPr lang="en-US" altLang="en-US" sz="20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BE20A59-CB9B-2A72-A5F5-D87F65CC5C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0511" y="1227282"/>
            <a:ext cx="4642253" cy="5576506"/>
          </a:xfrm>
          <a:prstGeom prst="rect">
            <a:avLst/>
          </a:prstGeom>
        </p:spPr>
      </p:pic>
      <p:sp>
        <p:nvSpPr>
          <p:cNvPr id="5" name="Rectangle 4">
            <a:extLst>
              <a:ext uri="{FF2B5EF4-FFF2-40B4-BE49-F238E27FC236}">
                <a16:creationId xmlns:a16="http://schemas.microsoft.com/office/drawing/2014/main" id="{73816498-8536-B8A1-9D9E-F3DC2DAA8DCD}"/>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Liquidity Ratios</a:t>
            </a:r>
            <a:r>
              <a:rPr lang="en-IN" sz="2800" b="1" dirty="0">
                <a:solidFill>
                  <a:schemeClr val="tx1"/>
                </a:solidFill>
                <a:latin typeface="Arial" panose="020B0604020202020204" pitchFamily="34" charset="0"/>
                <a:cs typeface="Arial" panose="020B0604020202020204" pitchFamily="34" charset="0"/>
              </a:rPr>
              <a:t>  </a:t>
            </a:r>
          </a:p>
        </p:txBody>
      </p:sp>
      <p:pic>
        <p:nvPicPr>
          <p:cNvPr id="6" name="Picture 5">
            <a:extLst>
              <a:ext uri="{FF2B5EF4-FFF2-40B4-BE49-F238E27FC236}">
                <a16:creationId xmlns:a16="http://schemas.microsoft.com/office/drawing/2014/main" id="{84CCBD7D-2930-198A-D205-D84A0606F6F0}"/>
              </a:ext>
            </a:extLst>
          </p:cNvPr>
          <p:cNvPicPr>
            <a:picLocks noChangeAspect="1"/>
          </p:cNvPicPr>
          <p:nvPr/>
        </p:nvPicPr>
        <p:blipFill>
          <a:blip r:embed="rId3"/>
          <a:stretch>
            <a:fillRect/>
          </a:stretch>
        </p:blipFill>
        <p:spPr>
          <a:xfrm>
            <a:off x="11122800" y="45904"/>
            <a:ext cx="966091" cy="887302"/>
          </a:xfrm>
          <a:prstGeom prst="rect">
            <a:avLst/>
          </a:prstGeom>
        </p:spPr>
      </p:pic>
    </p:spTree>
    <p:extLst>
      <p:ext uri="{BB962C8B-B14F-4D97-AF65-F5344CB8AC3E}">
        <p14:creationId xmlns:p14="http://schemas.microsoft.com/office/powerpoint/2010/main" val="559734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00200"/>
            <a:ext cx="10487891" cy="5105400"/>
          </a:xfrm>
        </p:spPr>
        <p:txBody>
          <a:bodyPr>
            <a:noAutofit/>
          </a:bodyPr>
          <a:lstStyle/>
          <a:p>
            <a:pPr marL="619125" indent="-619125" algn="just" eaLnBrk="1" hangingPunct="1">
              <a:lnSpc>
                <a:spcPct val="90000"/>
              </a:lnSpc>
              <a:buSzPct val="85000"/>
              <a:buFont typeface="Wingdings" panose="05000000000000000000" pitchFamily="2" charset="2"/>
              <a:buAutoNum type="romanLcPeriod"/>
            </a:pPr>
            <a:endParaRPr lang="en-US" altLang="en-US" sz="2400" dirty="0"/>
          </a:p>
          <a:p>
            <a:pPr marL="619125" indent="-619125" algn="just" eaLnBrk="1" hangingPunct="1">
              <a:lnSpc>
                <a:spcPct val="90000"/>
              </a:lnSpc>
              <a:buSzPct val="85000"/>
              <a:buNone/>
            </a:pPr>
            <a:endParaRPr lang="en-US" altLang="en-US" sz="2400" dirty="0"/>
          </a:p>
        </p:txBody>
      </p:sp>
      <p:sp>
        <p:nvSpPr>
          <p:cNvPr id="5" name="TextBox 2">
            <a:extLst>
              <a:ext uri="{FF2B5EF4-FFF2-40B4-BE49-F238E27FC236}">
                <a16:creationId xmlns:a16="http://schemas.microsoft.com/office/drawing/2014/main" id="{9BFF6828-3D55-1B2B-0034-0D369BB4103D}"/>
              </a:ext>
            </a:extLst>
          </p:cNvPr>
          <p:cNvSpPr txBox="1">
            <a:spLocks noChangeArrowheads="1"/>
          </p:cNvSpPr>
          <p:nvPr/>
        </p:nvSpPr>
        <p:spPr bwMode="auto">
          <a:xfrm>
            <a:off x="600007" y="820208"/>
            <a:ext cx="10487891" cy="649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50000"/>
              </a:lnSpc>
            </a:pPr>
            <a:r>
              <a:rPr lang="en-US" altLang="en-US" sz="2000" b="1" dirty="0">
                <a:cs typeface="Arial" panose="020B0604020202020204" pitchFamily="34" charset="0"/>
              </a:rPr>
              <a:t>ACID TEST or QUICK RATIO </a:t>
            </a:r>
            <a:r>
              <a:rPr lang="en-US" altLang="en-US" sz="2000" dirty="0">
                <a:cs typeface="Arial" panose="020B0604020202020204" pitchFamily="34" charset="0"/>
              </a:rPr>
              <a:t>: It is the ratio between Quick Current Assets and Current Liabilities. The should be at least equal to 1.</a:t>
            </a:r>
          </a:p>
          <a:p>
            <a:pPr algn="just" eaLnBrk="1" hangingPunct="1">
              <a:lnSpc>
                <a:spcPct val="150000"/>
              </a:lnSpc>
            </a:pPr>
            <a:r>
              <a:rPr lang="en-US" altLang="en-US" sz="2000" b="1" dirty="0">
                <a:cs typeface="Arial" panose="020B0604020202020204" pitchFamily="34" charset="0"/>
              </a:rPr>
              <a:t>Quick Current Assets  </a:t>
            </a:r>
            <a:r>
              <a:rPr lang="en-US" altLang="en-US" sz="2000" dirty="0">
                <a:cs typeface="Arial" panose="020B0604020202020204" pitchFamily="34" charset="0"/>
              </a:rPr>
              <a:t>:  Cash/Bank Balances + Receivables up to 6 months + Quickly realizable securities such as Govt. Securities or quickly marketable/quoted shares and Bank Fixed Deposits</a:t>
            </a:r>
          </a:p>
          <a:p>
            <a:pPr algn="just" eaLnBrk="1" hangingPunct="1">
              <a:lnSpc>
                <a:spcPct val="150000"/>
              </a:lnSpc>
            </a:pPr>
            <a:r>
              <a:rPr lang="en-US" altLang="en-US" sz="2000" b="1" dirty="0">
                <a:cs typeface="Arial" panose="020B0604020202020204" pitchFamily="34" charset="0"/>
              </a:rPr>
              <a:t>Acid Test or Quick Ratio  </a:t>
            </a:r>
            <a:r>
              <a:rPr lang="en-US" altLang="en-US" sz="2000" dirty="0">
                <a:cs typeface="Arial" panose="020B0604020202020204" pitchFamily="34" charset="0"/>
              </a:rPr>
              <a:t>= Quick Current Assets/Current Liabilities</a:t>
            </a:r>
          </a:p>
          <a:p>
            <a:pPr algn="just" eaLnBrk="1" hangingPunct="1">
              <a:lnSpc>
                <a:spcPct val="150000"/>
              </a:lnSpc>
            </a:pPr>
            <a:r>
              <a:rPr lang="en-US" altLang="en-US" sz="2000" u="sng" dirty="0">
                <a:cs typeface="Arial" panose="020B0604020202020204" pitchFamily="34" charset="0"/>
              </a:rPr>
              <a:t>Example :     </a:t>
            </a:r>
          </a:p>
          <a:p>
            <a:pPr algn="just" eaLnBrk="1" hangingPunct="1">
              <a:lnSpc>
                <a:spcPct val="150000"/>
              </a:lnSpc>
            </a:pPr>
            <a:r>
              <a:rPr lang="en-US" altLang="en-US" sz="2000" dirty="0">
                <a:cs typeface="Arial" panose="020B0604020202020204" pitchFamily="34" charset="0"/>
              </a:rPr>
              <a:t>Cash 		   50,000</a:t>
            </a:r>
          </a:p>
          <a:p>
            <a:pPr algn="just" eaLnBrk="1" hangingPunct="1">
              <a:lnSpc>
                <a:spcPct val="150000"/>
              </a:lnSpc>
            </a:pPr>
            <a:r>
              <a:rPr lang="en-US" altLang="en-US" sz="2000" dirty="0">
                <a:cs typeface="Arial" panose="020B0604020202020204" pitchFamily="34" charset="0"/>
              </a:rPr>
              <a:t>Debtors	                1,00,000</a:t>
            </a:r>
          </a:p>
          <a:p>
            <a:pPr algn="just" eaLnBrk="1" hangingPunct="1">
              <a:lnSpc>
                <a:spcPct val="150000"/>
              </a:lnSpc>
            </a:pPr>
            <a:r>
              <a:rPr lang="en-US" altLang="en-US" sz="2000" u="sng" dirty="0">
                <a:cs typeface="Arial" panose="020B0604020202020204" pitchFamily="34" charset="0"/>
              </a:rPr>
              <a:t>Inventories	   1,50,000      Current Liabilities    1,00,000</a:t>
            </a:r>
          </a:p>
          <a:p>
            <a:pPr algn="just" eaLnBrk="1" hangingPunct="1">
              <a:lnSpc>
                <a:spcPct val="150000"/>
              </a:lnSpc>
            </a:pPr>
            <a:r>
              <a:rPr lang="en-US" altLang="en-US" sz="2000" dirty="0">
                <a:cs typeface="Arial" panose="020B0604020202020204" pitchFamily="34" charset="0"/>
              </a:rPr>
              <a:t>Total Current Assets   3,00,000</a:t>
            </a:r>
          </a:p>
          <a:p>
            <a:pPr algn="just" eaLnBrk="1" hangingPunct="1">
              <a:lnSpc>
                <a:spcPct val="150000"/>
              </a:lnSpc>
            </a:pPr>
            <a:r>
              <a:rPr lang="en-US" altLang="en-US" sz="2000" dirty="0">
                <a:solidFill>
                  <a:srgbClr val="7030A0"/>
                </a:solidFill>
                <a:cs typeface="Arial" panose="020B0604020202020204" pitchFamily="34" charset="0"/>
              </a:rPr>
              <a:t>Current Ratio   = &gt;             3,00,000/1,00,000       =  3 : 1</a:t>
            </a:r>
          </a:p>
          <a:p>
            <a:pPr algn="just" eaLnBrk="1" hangingPunct="1">
              <a:lnSpc>
                <a:spcPct val="150000"/>
              </a:lnSpc>
            </a:pPr>
            <a:r>
              <a:rPr lang="en-US" altLang="en-US" sz="2000" dirty="0">
                <a:solidFill>
                  <a:srgbClr val="7030A0"/>
                </a:solidFill>
                <a:cs typeface="Arial" panose="020B0604020202020204" pitchFamily="34" charset="0"/>
              </a:rPr>
              <a:t>Quick Ratio       = &gt;             1,50,000/1,00,000       = 1.5 : 1</a:t>
            </a:r>
          </a:p>
          <a:p>
            <a:pPr algn="just" eaLnBrk="1" hangingPunct="1">
              <a:lnSpc>
                <a:spcPct val="150000"/>
              </a:lnSpc>
            </a:pPr>
            <a:endParaRPr lang="en-US" altLang="en-US" sz="2000" dirty="0">
              <a:cs typeface="Arial" panose="020B0604020202020204" pitchFamily="34" charset="0"/>
            </a:endParaRPr>
          </a:p>
        </p:txBody>
      </p:sp>
      <p:pic>
        <p:nvPicPr>
          <p:cNvPr id="7" name="Picture 6">
            <a:extLst>
              <a:ext uri="{FF2B5EF4-FFF2-40B4-BE49-F238E27FC236}">
                <a16:creationId xmlns:a16="http://schemas.microsoft.com/office/drawing/2014/main" id="{29C0A230-9A67-6B5A-0C0A-0516AA4BED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83782" y="3567007"/>
            <a:ext cx="3276600" cy="3117811"/>
          </a:xfrm>
          <a:prstGeom prst="rect">
            <a:avLst/>
          </a:prstGeom>
        </p:spPr>
      </p:pic>
      <p:sp>
        <p:nvSpPr>
          <p:cNvPr id="6" name="Rectangle 5">
            <a:extLst>
              <a:ext uri="{FF2B5EF4-FFF2-40B4-BE49-F238E27FC236}">
                <a16:creationId xmlns:a16="http://schemas.microsoft.com/office/drawing/2014/main" id="{019F35DC-216D-D108-A264-6D99E9A0E0A0}"/>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Liquidity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020F88E7-CFE1-8138-C32E-E5690CE98D91}"/>
              </a:ext>
            </a:extLst>
          </p:cNvPr>
          <p:cNvPicPr>
            <a:picLocks noChangeAspect="1"/>
          </p:cNvPicPr>
          <p:nvPr/>
        </p:nvPicPr>
        <p:blipFill>
          <a:blip r:embed="rId3"/>
          <a:stretch>
            <a:fillRect/>
          </a:stretch>
        </p:blipFill>
        <p:spPr>
          <a:xfrm>
            <a:off x="11122800" y="45904"/>
            <a:ext cx="966091" cy="887302"/>
          </a:xfrm>
          <a:prstGeom prst="rect">
            <a:avLst/>
          </a:prstGeom>
        </p:spPr>
      </p:pic>
    </p:spTree>
    <p:extLst>
      <p:ext uri="{BB962C8B-B14F-4D97-AF65-F5344CB8AC3E}">
        <p14:creationId xmlns:p14="http://schemas.microsoft.com/office/powerpoint/2010/main" val="404538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1219200"/>
                <a:ext cx="7625862" cy="5105400"/>
              </a:xfrm>
            </p:spPr>
            <p:txBody>
              <a:bodyPr>
                <a:noAutofit/>
              </a:bodyPr>
              <a:lstStyle/>
              <a:p>
                <a:pPr marL="0" indent="0" algn="just">
                  <a:lnSpc>
                    <a:spcPct val="150000"/>
                  </a:lnSpc>
                  <a:buSzPct val="85000"/>
                  <a:buNone/>
                </a:pPr>
                <a14:m>
                  <m:oMathPara xmlns:m="http://schemas.openxmlformats.org/officeDocument/2006/math">
                    <m:oMathParaPr>
                      <m:jc m:val="centerGroup"/>
                    </m:oMathParaPr>
                    <m:oMath xmlns:m="http://schemas.openxmlformats.org/officeDocument/2006/math">
                      <m:r>
                        <m:rPr>
                          <m:nor/>
                        </m:rPr>
                        <a:rPr lang="en-US" altLang="en-US" sz="2000" b="1" dirty="0">
                          <a:latin typeface="Arial" panose="020B0604020202020204" pitchFamily="34" charset="0"/>
                          <a:cs typeface="Arial" panose="020B0604020202020204" pitchFamily="34" charset="0"/>
                        </a:rPr>
                        <m:t>C</m:t>
                      </m:r>
                      <m:r>
                        <m:rPr>
                          <m:nor/>
                        </m:rPr>
                        <a:rPr lang="en-US" altLang="en-US" sz="2000" b="1" i="0" dirty="0" smtClean="0">
                          <a:latin typeface="Arial" panose="020B0604020202020204" pitchFamily="34" charset="0"/>
                          <a:cs typeface="Arial" panose="020B0604020202020204" pitchFamily="34" charset="0"/>
                        </a:rPr>
                        <m:t>ash</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b="1" i="1" smtClean="0">
                          <a:latin typeface="Cambria Math" panose="02040503050406030204" pitchFamily="18" charset="0"/>
                        </a:rPr>
                        <m:t>=</m:t>
                      </m:r>
                      <m:f>
                        <m:fPr>
                          <m:ctrlPr>
                            <a:rPr lang="en-US" altLang="en-US" sz="2000" b="1" i="1" smtClean="0">
                              <a:latin typeface="Cambria Math" panose="02040503050406030204" pitchFamily="18" charset="0"/>
                            </a:rPr>
                          </m:ctrlPr>
                        </m:fPr>
                        <m:num>
                          <m:r>
                            <m:rPr>
                              <m:nor/>
                            </m:rPr>
                            <a:rPr lang="en-US" altLang="en-US" sz="2000" b="1" i="0" smtClean="0">
                              <a:latin typeface="Arial" panose="020B0604020202020204" pitchFamily="34" charset="0"/>
                              <a:cs typeface="Arial" panose="020B0604020202020204" pitchFamily="34" charset="0"/>
                            </a:rPr>
                            <m:t>Cash</m:t>
                          </m:r>
                          <m:r>
                            <m:rPr>
                              <m:nor/>
                            </m:rPr>
                            <a:rPr lang="en-US" altLang="en-US" sz="2000" b="1" i="0" smtClean="0">
                              <a:latin typeface="Arial" panose="020B0604020202020204" pitchFamily="34" charset="0"/>
                              <a:cs typeface="Arial" panose="020B0604020202020204" pitchFamily="34" charset="0"/>
                            </a:rPr>
                            <m:t> </m:t>
                          </m:r>
                          <m:r>
                            <m:rPr>
                              <m:nor/>
                            </m:rPr>
                            <a:rPr lang="en-US" altLang="en-US" sz="2000" b="1" i="0" smtClean="0">
                              <a:latin typeface="Arial" panose="020B0604020202020204" pitchFamily="34" charset="0"/>
                              <a:cs typeface="Arial" panose="020B0604020202020204" pitchFamily="34" charset="0"/>
                            </a:rPr>
                            <m:t>and</m:t>
                          </m:r>
                          <m:r>
                            <m:rPr>
                              <m:nor/>
                            </m:rPr>
                            <a:rPr lang="en-US" altLang="en-US" sz="2000" b="1" i="0" smtClean="0">
                              <a:latin typeface="Arial" panose="020B0604020202020204" pitchFamily="34" charset="0"/>
                              <a:cs typeface="Arial" panose="020B0604020202020204" pitchFamily="34" charset="0"/>
                            </a:rPr>
                            <m:t> </m:t>
                          </m:r>
                          <m:r>
                            <m:rPr>
                              <m:nor/>
                            </m:rPr>
                            <a:rPr lang="en-US" altLang="en-US" sz="2000" b="1" i="0" smtClean="0">
                              <a:latin typeface="Arial" panose="020B0604020202020204" pitchFamily="34" charset="0"/>
                              <a:cs typeface="Arial" panose="020B0604020202020204" pitchFamily="34" charset="0"/>
                            </a:rPr>
                            <m:t>Cash</m:t>
                          </m:r>
                          <m:r>
                            <m:rPr>
                              <m:nor/>
                            </m:rPr>
                            <a:rPr lang="en-US" altLang="en-US" sz="2000" b="1" i="0" smtClean="0">
                              <a:latin typeface="Arial" panose="020B0604020202020204" pitchFamily="34" charset="0"/>
                              <a:cs typeface="Arial" panose="020B0604020202020204" pitchFamily="34" charset="0"/>
                            </a:rPr>
                            <m:t> </m:t>
                          </m:r>
                          <m:r>
                            <m:rPr>
                              <m:nor/>
                            </m:rPr>
                            <a:rPr lang="en-US" altLang="en-US" sz="2000" b="1" i="0" smtClean="0">
                              <a:latin typeface="Arial" panose="020B0604020202020204" pitchFamily="34" charset="0"/>
                              <a:cs typeface="Arial" panose="020B0604020202020204" pitchFamily="34" charset="0"/>
                            </a:rPr>
                            <m:t>equivalents</m:t>
                          </m:r>
                        </m:num>
                        <m:den>
                          <m:r>
                            <m:rPr>
                              <m:nor/>
                            </m:rPr>
                            <a:rPr lang="en-US" altLang="en-US" sz="2000" b="1" dirty="0">
                              <a:latin typeface="Arial" panose="020B0604020202020204" pitchFamily="34" charset="0"/>
                              <a:cs typeface="Arial" panose="020B0604020202020204" pitchFamily="34" charset="0"/>
                            </a:rPr>
                            <m:t>Current</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Liabilities</m:t>
                          </m:r>
                        </m:den>
                      </m:f>
                    </m:oMath>
                  </m:oMathPara>
                </a14:m>
                <a:endParaRPr lang="en-US" altLang="en-US" sz="2000" b="1" dirty="0">
                  <a:latin typeface="Arial" panose="020B0604020202020204" pitchFamily="34" charset="0"/>
                  <a:cs typeface="Arial" panose="020B0604020202020204" pitchFamily="34" charset="0"/>
                </a:endParaRPr>
              </a:p>
              <a:p>
                <a:pPr marL="619125" indent="-619125" algn="just" eaLnBrk="1" hangingPunct="1">
                  <a:lnSpc>
                    <a:spcPct val="150000"/>
                  </a:lnSpc>
                  <a:buSzPct val="85000"/>
                  <a:buNone/>
                </a:pPr>
                <a:r>
                  <a:rPr lang="en-US" altLang="en-US" sz="2000" dirty="0">
                    <a:latin typeface="Arial" panose="020B0604020202020204" pitchFamily="34" charset="0"/>
                    <a:cs typeface="Arial" panose="020B0604020202020204" pitchFamily="34" charset="0"/>
                  </a:rPr>
                  <a:t>	</a:t>
                </a:r>
              </a:p>
              <a:p>
                <a:pPr marL="619125" indent="-619125" algn="just" eaLnBrk="1" hangingPunct="1">
                  <a:lnSpc>
                    <a:spcPct val="150000"/>
                  </a:lnSpc>
                  <a:buSzPct val="85000"/>
                  <a:buNone/>
                </a:pPr>
                <a:r>
                  <a:rPr lang="en-US" sz="2000" dirty="0">
                    <a:latin typeface="Arial" panose="020B0604020202020204" pitchFamily="34" charset="0"/>
                    <a:cs typeface="Arial" panose="020B0604020202020204" pitchFamily="34" charset="0"/>
                  </a:rPr>
                  <a:t>The cash ratio measures a company’s ability to pay off short-term liabilities with cash and cash equivalents</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1219200"/>
                <a:ext cx="7625862" cy="5105400"/>
              </a:xfrm>
              <a:blipFill>
                <a:blip r:embed="rId2"/>
                <a:stretch>
                  <a:fillRect l="-879" r="-799"/>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4ABDB298-FE7D-5371-33E5-82D5A15CC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1" y="1537855"/>
            <a:ext cx="3657600" cy="3468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a:extLst>
              <a:ext uri="{FF2B5EF4-FFF2-40B4-BE49-F238E27FC236}">
                <a16:creationId xmlns:a16="http://schemas.microsoft.com/office/drawing/2014/main" id="{28F432FD-2680-F861-DBC9-CD001F804E00}"/>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Liquidity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6A94F07-5B96-BE3A-7B77-C180C8B13A03}"/>
              </a:ext>
            </a:extLst>
          </p:cNvPr>
          <p:cNvPicPr>
            <a:picLocks noChangeAspect="1"/>
          </p:cNvPicPr>
          <p:nvPr/>
        </p:nvPicPr>
        <p:blipFill>
          <a:blip r:embed="rId4"/>
          <a:stretch>
            <a:fillRect/>
          </a:stretch>
        </p:blipFill>
        <p:spPr>
          <a:xfrm>
            <a:off x="11122800" y="45904"/>
            <a:ext cx="966091" cy="887302"/>
          </a:xfrm>
          <a:prstGeom prst="rect">
            <a:avLst/>
          </a:prstGeom>
        </p:spPr>
      </p:pic>
    </p:spTree>
    <p:extLst>
      <p:ext uri="{BB962C8B-B14F-4D97-AF65-F5344CB8AC3E}">
        <p14:creationId xmlns:p14="http://schemas.microsoft.com/office/powerpoint/2010/main" val="1432983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a:extLst>
              <a:ext uri="{FF2B5EF4-FFF2-40B4-BE49-F238E27FC236}">
                <a16:creationId xmlns:a16="http://schemas.microsoft.com/office/drawing/2014/main" id="{14873E15-722A-41F4-8180-C5C38D0C6F84}"/>
              </a:ext>
            </a:extLst>
          </p:cNvPr>
          <p:cNvSpPr>
            <a:spLocks noChangeAspect="1" noChangeArrowheads="1"/>
          </p:cNvSpPr>
          <p:nvPr/>
        </p:nvSpPr>
        <p:spPr bwMode="auto">
          <a:xfrm>
            <a:off x="5791200" y="31623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0DE9F8FA-BE1E-4491-8F96-E7C9CE9D79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3700" y="762000"/>
            <a:ext cx="6324600" cy="5105400"/>
          </a:xfrm>
          <a:prstGeom prst="rect">
            <a:avLst/>
          </a:prstGeom>
        </p:spPr>
      </p:pic>
    </p:spTree>
    <p:extLst>
      <p:ext uri="{BB962C8B-B14F-4D97-AF65-F5344CB8AC3E}">
        <p14:creationId xmlns:p14="http://schemas.microsoft.com/office/powerpoint/2010/main" val="716343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5269" y="838200"/>
            <a:ext cx="10521462" cy="5467594"/>
          </a:xfrm>
        </p:spPr>
        <p:txBody>
          <a:bodyPr>
            <a:normAutofit/>
          </a:bodyPr>
          <a:lstStyle/>
          <a:p>
            <a:pPr marL="0" indent="0">
              <a:lnSpc>
                <a:spcPct val="150000"/>
              </a:lnSpc>
              <a:buNone/>
            </a:pPr>
            <a:r>
              <a:rPr lang="en-US" sz="2000" b="1" dirty="0">
                <a:latin typeface="Arial" panose="020B0604020202020204" pitchFamily="34" charset="0"/>
                <a:cs typeface="Arial" panose="020B0604020202020204" pitchFamily="34" charset="0"/>
              </a:rPr>
              <a:t>Answer:</a:t>
            </a:r>
          </a:p>
          <a:p>
            <a:pPr>
              <a:lnSpc>
                <a:spcPct val="150000"/>
              </a:lnSpc>
            </a:pPr>
            <a:r>
              <a:rPr lang="en-US" sz="2000" dirty="0">
                <a:latin typeface="Arial" panose="020B0604020202020204" pitchFamily="34" charset="0"/>
                <a:cs typeface="Arial" panose="020B0604020202020204" pitchFamily="34" charset="0"/>
              </a:rPr>
              <a:t>Liquidity ratios measure a company’s ability to meet its short-term obligations using its current assets (like cash, receivables, and inventory).</a:t>
            </a:r>
          </a:p>
          <a:p>
            <a:pPr>
              <a:lnSpc>
                <a:spcPct val="150000"/>
              </a:lnSpc>
            </a:pPr>
            <a:r>
              <a:rPr lang="en-US" sz="2000" dirty="0">
                <a:latin typeface="Arial" panose="020B0604020202020204" pitchFamily="34" charset="0"/>
                <a:cs typeface="Arial" panose="020B0604020202020204" pitchFamily="34" charset="0"/>
              </a:rPr>
              <a:t>Inventory is not as liquid as cash, because you can’t instantly use it to pay bills—it needs to be sold first</a:t>
            </a:r>
          </a:p>
          <a:p>
            <a:pPr>
              <a:lnSpc>
                <a:spcPct val="150000"/>
              </a:lnSpc>
            </a:pPr>
            <a:r>
              <a:rPr lang="en-US" sz="2000" dirty="0">
                <a:latin typeface="Arial" panose="020B0604020202020204" pitchFamily="34" charset="0"/>
                <a:cs typeface="Arial" panose="020B0604020202020204" pitchFamily="34" charset="0"/>
              </a:rPr>
              <a:t> While inventory is counted as a current asset in the current ratio, it doesn’t immediately give cash like the quick ratio or cash ratio.</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7083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938" y="933206"/>
            <a:ext cx="7239000" cy="5467594"/>
          </a:xfrm>
        </p:spPr>
        <p:txBody>
          <a:bodyPr>
            <a:normAutofit/>
          </a:bodyPr>
          <a:lstStyle/>
          <a:p>
            <a:pPr>
              <a:lnSpc>
                <a:spcPct val="150000"/>
              </a:lnSpc>
            </a:pPr>
            <a:r>
              <a:rPr lang="en-US" sz="2000" dirty="0">
                <a:latin typeface="Arial" panose="020B0604020202020204" pitchFamily="34" charset="0"/>
                <a:cs typeface="Arial" panose="020B0604020202020204" pitchFamily="34" charset="0"/>
              </a:rPr>
              <a:t>These ratios are calculated to assess the ability of the firms to meet its long-term liabilities as and when they become due.</a:t>
            </a:r>
          </a:p>
          <a:p>
            <a:pPr>
              <a:lnSpc>
                <a:spcPct val="150000"/>
              </a:lnSpc>
            </a:pPr>
            <a:r>
              <a:rPr lang="en-US" sz="2000" dirty="0">
                <a:latin typeface="Arial" panose="020B0604020202020204" pitchFamily="34" charset="0"/>
                <a:cs typeface="Arial" panose="020B0604020202020204" pitchFamily="34" charset="0"/>
              </a:rPr>
              <a:t>Long term creditors including debenture holders are primarily interested to know whether the company has ability to pay regularly interest due to them and to repay the principal amount when it becomes due. </a:t>
            </a:r>
          </a:p>
          <a:p>
            <a:pPr>
              <a:lnSpc>
                <a:spcPct val="150000"/>
              </a:lnSpc>
            </a:pPr>
            <a:r>
              <a:rPr lang="en-US" sz="2000" dirty="0">
                <a:latin typeface="Arial" panose="020B0604020202020204" pitchFamily="34" charset="0"/>
                <a:cs typeface="Arial" panose="020B0604020202020204" pitchFamily="34" charset="0"/>
              </a:rPr>
              <a:t>Solvency ratios disclose the firm’s ability to meet the interest costs regularly and long-term indebtedness at maturity. </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2826B6B-3C90-06F9-0C7B-B68885EA4D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71509" y="2057400"/>
            <a:ext cx="4470400" cy="3352800"/>
          </a:xfrm>
          <a:prstGeom prst="rect">
            <a:avLst/>
          </a:prstGeom>
        </p:spPr>
      </p:pic>
      <p:sp>
        <p:nvSpPr>
          <p:cNvPr id="5" name="Rectangle 4">
            <a:extLst>
              <a:ext uri="{FF2B5EF4-FFF2-40B4-BE49-F238E27FC236}">
                <a16:creationId xmlns:a16="http://schemas.microsoft.com/office/drawing/2014/main" id="{9CE8FF25-7621-1EA6-5671-A5248BDD8769}"/>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Solvency Ratios</a:t>
            </a:r>
            <a:r>
              <a:rPr lang="en-IN" sz="2800" b="1" dirty="0">
                <a:solidFill>
                  <a:schemeClr val="tx1"/>
                </a:solidFill>
                <a:latin typeface="Arial" panose="020B0604020202020204" pitchFamily="34" charset="0"/>
                <a:cs typeface="Arial" panose="020B0604020202020204" pitchFamily="34" charset="0"/>
              </a:rPr>
              <a:t>  </a:t>
            </a:r>
          </a:p>
        </p:txBody>
      </p:sp>
      <p:pic>
        <p:nvPicPr>
          <p:cNvPr id="7" name="Picture 6">
            <a:extLst>
              <a:ext uri="{FF2B5EF4-FFF2-40B4-BE49-F238E27FC236}">
                <a16:creationId xmlns:a16="http://schemas.microsoft.com/office/drawing/2014/main" id="{33754065-9747-B39B-F14C-DCD2B467C4B4}"/>
              </a:ext>
            </a:extLst>
          </p:cNvPr>
          <p:cNvPicPr>
            <a:picLocks noChangeAspect="1"/>
          </p:cNvPicPr>
          <p:nvPr/>
        </p:nvPicPr>
        <p:blipFill>
          <a:blip r:embed="rId3"/>
          <a:stretch>
            <a:fillRect/>
          </a:stretch>
        </p:blipFill>
        <p:spPr>
          <a:xfrm>
            <a:off x="11122800" y="45904"/>
            <a:ext cx="966091" cy="88730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219200"/>
            <a:ext cx="7315200" cy="3992564"/>
          </a:xfrm>
        </p:spPr>
        <p:txBody>
          <a:bodyPr>
            <a:normAutofit/>
          </a:bodyPr>
          <a:lstStyle/>
          <a:p>
            <a:pPr marL="0" indent="0">
              <a:lnSpc>
                <a:spcPct val="150000"/>
              </a:lnSpc>
              <a:buNone/>
            </a:pPr>
            <a:r>
              <a:rPr lang="en-US" sz="2000" dirty="0">
                <a:latin typeface="Arial" panose="020B0604020202020204" pitchFamily="34" charset="0"/>
                <a:cs typeface="Arial" panose="020B0604020202020204" pitchFamily="34" charset="0"/>
              </a:rPr>
              <a:t>Solvency ratios include the following ratios:- </a:t>
            </a:r>
          </a:p>
          <a:p>
            <a:pPr marL="624078" indent="-514350">
              <a:lnSpc>
                <a:spcPct val="150000"/>
              </a:lnSpc>
              <a:buAutoNum type="arabicPeriod"/>
            </a:pPr>
            <a:r>
              <a:rPr lang="en-US" sz="2000" dirty="0">
                <a:latin typeface="Arial" panose="020B0604020202020204" pitchFamily="34" charset="0"/>
                <a:cs typeface="Arial" panose="020B0604020202020204" pitchFamily="34" charset="0"/>
              </a:rPr>
              <a:t>Debt-Equity Ratio </a:t>
            </a:r>
          </a:p>
          <a:p>
            <a:pPr marL="624078" indent="-514350">
              <a:lnSpc>
                <a:spcPct val="150000"/>
              </a:lnSpc>
              <a:buAutoNum type="arabicPeriod"/>
            </a:pPr>
            <a:r>
              <a:rPr lang="en-US" sz="2000" dirty="0">
                <a:latin typeface="Arial" panose="020B0604020202020204" pitchFamily="34" charset="0"/>
                <a:cs typeface="Arial" panose="020B0604020202020204" pitchFamily="34" charset="0"/>
              </a:rPr>
              <a:t>Capital Gearing Ratio</a:t>
            </a:r>
          </a:p>
          <a:p>
            <a:pPr marL="624078" indent="-514350">
              <a:lnSpc>
                <a:spcPct val="150000"/>
              </a:lnSpc>
              <a:buAutoNum type="arabicPeriod"/>
            </a:pPr>
            <a:r>
              <a:rPr lang="en-US" sz="2000" dirty="0">
                <a:latin typeface="Arial" panose="020B0604020202020204" pitchFamily="34" charset="0"/>
                <a:cs typeface="Arial" panose="020B0604020202020204" pitchFamily="34" charset="0"/>
              </a:rPr>
              <a:t>Proprietary Ratio</a:t>
            </a:r>
          </a:p>
          <a:p>
            <a:pPr marL="624078" indent="-514350">
              <a:lnSpc>
                <a:spcPct val="150000"/>
              </a:lnSpc>
              <a:buAutoNum type="arabicPeriod"/>
            </a:pPr>
            <a:r>
              <a:rPr lang="en-US" sz="2000" dirty="0">
                <a:latin typeface="Arial" panose="020B0604020202020204" pitchFamily="34" charset="0"/>
                <a:cs typeface="Arial" panose="020B0604020202020204" pitchFamily="34" charset="0"/>
              </a:rPr>
              <a:t>Interest Coverage Ratio</a:t>
            </a:r>
          </a:p>
          <a:p>
            <a:pPr marL="624078" indent="-514350">
              <a:lnSpc>
                <a:spcPct val="150000"/>
              </a:lnSpc>
              <a:buAutoNum type="arabicPeriod"/>
            </a:pPr>
            <a:r>
              <a:rPr lang="en-US" sz="2000" dirty="0">
                <a:latin typeface="Arial" panose="020B0604020202020204" pitchFamily="34" charset="0"/>
                <a:cs typeface="Arial" panose="020B0604020202020204" pitchFamily="34" charset="0"/>
              </a:rPr>
              <a:t>Debt Service Coverage Ratio</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B4DB705-B953-DCD1-CD83-C37FE123E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7200" y="3078164"/>
            <a:ext cx="3697035" cy="3429000"/>
          </a:xfrm>
          <a:prstGeom prst="rect">
            <a:avLst/>
          </a:prstGeom>
        </p:spPr>
      </p:pic>
      <p:sp>
        <p:nvSpPr>
          <p:cNvPr id="5" name="Rectangle 4">
            <a:extLst>
              <a:ext uri="{FF2B5EF4-FFF2-40B4-BE49-F238E27FC236}">
                <a16:creationId xmlns:a16="http://schemas.microsoft.com/office/drawing/2014/main" id="{C262E726-6FF5-CC66-3F62-58D46BC7C9C4}"/>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Solvency Ratios</a:t>
            </a:r>
            <a:r>
              <a:rPr lang="en-IN" sz="2800" b="1" dirty="0">
                <a:solidFill>
                  <a:schemeClr val="tx1"/>
                </a:solidFill>
                <a:latin typeface="Arial" panose="020B0604020202020204" pitchFamily="34" charset="0"/>
                <a:cs typeface="Arial" panose="020B0604020202020204" pitchFamily="34" charset="0"/>
              </a:rPr>
              <a:t> </a:t>
            </a:r>
          </a:p>
        </p:txBody>
      </p:sp>
      <p:pic>
        <p:nvPicPr>
          <p:cNvPr id="7" name="Picture 6">
            <a:extLst>
              <a:ext uri="{FF2B5EF4-FFF2-40B4-BE49-F238E27FC236}">
                <a16:creationId xmlns:a16="http://schemas.microsoft.com/office/drawing/2014/main" id="{B914190A-FA61-61FC-FAC9-BFC99784EF5C}"/>
              </a:ext>
            </a:extLst>
          </p:cNvPr>
          <p:cNvPicPr>
            <a:picLocks noChangeAspect="1"/>
          </p:cNvPicPr>
          <p:nvPr/>
        </p:nvPicPr>
        <p:blipFill>
          <a:blip r:embed="rId3"/>
          <a:stretch>
            <a:fillRect/>
          </a:stretch>
        </p:blipFill>
        <p:spPr>
          <a:xfrm>
            <a:off x="11122800" y="45904"/>
            <a:ext cx="966091" cy="887302"/>
          </a:xfrm>
          <a:prstGeom prst="rect">
            <a:avLst/>
          </a:prstGeom>
        </p:spPr>
      </p:pic>
    </p:spTree>
    <p:extLst>
      <p:ext uri="{BB962C8B-B14F-4D97-AF65-F5344CB8AC3E}">
        <p14:creationId xmlns:p14="http://schemas.microsoft.com/office/powerpoint/2010/main" val="2642724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767862"/>
                <a:ext cx="8382000" cy="4876800"/>
              </a:xfrm>
            </p:spPr>
            <p:txBody>
              <a:bodyPr>
                <a:noAutofit/>
              </a:bodyPr>
              <a:lstStyle/>
              <a:p>
                <a:pPr marL="0" indent="0" algn="just">
                  <a:lnSpc>
                    <a:spcPct val="150000"/>
                  </a:lnSpc>
                  <a:buSzPct val="85000"/>
                  <a:buNone/>
                </a:pPr>
                <a:r>
                  <a:rPr lang="en-US" altLang="en-US" sz="2000" b="1" dirty="0">
                    <a:cs typeface="Arial" panose="020B0604020202020204" pitchFamily="34" charset="0"/>
                  </a:rPr>
                  <a:t>1.</a:t>
                </a:r>
                <a14:m>
                  <m:oMath xmlns:m="http://schemas.openxmlformats.org/officeDocument/2006/math">
                    <m:r>
                      <a:rPr lang="en-IN" altLang="en-US" sz="2000" b="1" i="0" dirty="0" smtClean="0">
                        <a:latin typeface="Cambria Math" panose="02040503050406030204" pitchFamily="18" charset="0"/>
                        <a:cs typeface="Arial" panose="020B0604020202020204" pitchFamily="34" charset="0"/>
                      </a:rPr>
                      <m:t>  </m:t>
                    </m:r>
                    <m:r>
                      <m:rPr>
                        <m:nor/>
                      </m:rPr>
                      <a:rPr lang="en-US" altLang="en-US" sz="2000" b="1" dirty="0" smtClean="0">
                        <a:latin typeface="Arial" panose="020B0604020202020204" pitchFamily="34" charset="0"/>
                        <a:cs typeface="Arial" panose="020B0604020202020204" pitchFamily="34" charset="0"/>
                      </a:rPr>
                      <m:t>Debt</m:t>
                    </m:r>
                    <m:r>
                      <m:rPr>
                        <m:nor/>
                      </m:rPr>
                      <a:rPr lang="en-US" altLang="en-US" sz="2000" b="1" dirty="0" smtClean="0">
                        <a:latin typeface="Arial" panose="020B0604020202020204" pitchFamily="34" charset="0"/>
                        <a:cs typeface="Arial" panose="020B0604020202020204" pitchFamily="34" charset="0"/>
                      </a:rPr>
                      <m:t>−</m:t>
                    </m:r>
                    <m:r>
                      <m:rPr>
                        <m:nor/>
                      </m:rPr>
                      <a:rPr lang="en-US" altLang="en-US" sz="2000" b="1" dirty="0" smtClean="0">
                        <a:latin typeface="Arial" panose="020B0604020202020204" pitchFamily="34" charset="0"/>
                        <a:cs typeface="Arial" panose="020B0604020202020204" pitchFamily="34" charset="0"/>
                      </a:rPr>
                      <m:t>Equity</m:t>
                    </m:r>
                    <m:r>
                      <m:rPr>
                        <m:nor/>
                      </m:rPr>
                      <a:rPr lang="en-US" altLang="en-US" sz="2000" b="1" dirty="0" smtClean="0">
                        <a:latin typeface="Arial" panose="020B0604020202020204" pitchFamily="34" charset="0"/>
                        <a:cs typeface="Arial" panose="020B0604020202020204" pitchFamily="34" charset="0"/>
                      </a:rPr>
                      <m:t> </m:t>
                    </m:r>
                    <m:r>
                      <m:rPr>
                        <m:nor/>
                      </m:rPr>
                      <a:rPr lang="en-US" altLang="en-US" sz="2000" b="1" dirty="0" smtClean="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dirty="0">
                            <a:latin typeface="Arial" panose="020B0604020202020204" pitchFamily="34" charset="0"/>
                            <a:cs typeface="Arial" panose="020B0604020202020204" pitchFamily="34" charset="0"/>
                          </a:rPr>
                          <m:t>Long</m:t>
                        </m:r>
                        <m:r>
                          <m:rPr>
                            <m:nor/>
                          </m:rPr>
                          <a:rPr lang="en-US" altLang="en-US" sz="2000" dirty="0">
                            <a:latin typeface="Arial" panose="020B0604020202020204" pitchFamily="34" charset="0"/>
                            <a:cs typeface="Arial" panose="020B0604020202020204" pitchFamily="34" charset="0"/>
                          </a:rPr>
                          <m:t> </m:t>
                        </m:r>
                        <m:r>
                          <m:rPr>
                            <m:nor/>
                          </m:rPr>
                          <a:rPr lang="en-US" altLang="en-US" sz="2000" dirty="0">
                            <a:latin typeface="Arial" panose="020B0604020202020204" pitchFamily="34" charset="0"/>
                            <a:cs typeface="Arial" panose="020B0604020202020204" pitchFamily="34" charset="0"/>
                          </a:rPr>
                          <m:t>term</m:t>
                        </m:r>
                        <m:r>
                          <m:rPr>
                            <m:nor/>
                          </m:rPr>
                          <a:rPr lang="en-US" altLang="en-US" sz="2000" dirty="0">
                            <a:latin typeface="Arial" panose="020B0604020202020204" pitchFamily="34" charset="0"/>
                            <a:cs typeface="Arial" panose="020B0604020202020204" pitchFamily="34" charset="0"/>
                          </a:rPr>
                          <m:t> </m:t>
                        </m:r>
                        <m:r>
                          <m:rPr>
                            <m:nor/>
                          </m:rPr>
                          <a:rPr lang="en-US" altLang="en-US" sz="2000" dirty="0">
                            <a:latin typeface="Arial" panose="020B0604020202020204" pitchFamily="34" charset="0"/>
                            <a:cs typeface="Arial" panose="020B0604020202020204" pitchFamily="34" charset="0"/>
                          </a:rPr>
                          <m:t>Debts</m:t>
                        </m:r>
                        <m:r>
                          <m:rPr>
                            <m:nor/>
                          </m:rPr>
                          <a:rPr lang="en-US" altLang="en-US" sz="2000" dirty="0">
                            <a:latin typeface="Arial" panose="020B0604020202020204" pitchFamily="34" charset="0"/>
                            <a:cs typeface="Arial" panose="020B0604020202020204" pitchFamily="34" charset="0"/>
                          </a:rPr>
                          <m:t> </m:t>
                        </m:r>
                      </m:num>
                      <m:den>
                        <m:sSup>
                          <m:sSupPr>
                            <m:ctrlPr>
                              <a:rPr lang="en-US" altLang="en-US" sz="2000" i="1" dirty="0">
                                <a:latin typeface="Cambria Math" panose="02040503050406030204" pitchFamily="18" charset="0"/>
                              </a:rPr>
                            </m:ctrlPr>
                          </m:sSupPr>
                          <m:e>
                            <m:r>
                              <m:rPr>
                                <m:nor/>
                              </m:rPr>
                              <a:rPr lang="en-US" altLang="en-US" sz="2000" dirty="0">
                                <a:latin typeface="Arial" panose="020B0604020202020204" pitchFamily="34" charset="0"/>
                                <a:cs typeface="Arial" panose="020B0604020202020204" pitchFamily="34" charset="0"/>
                              </a:rPr>
                              <m:t>Shareholder</m:t>
                            </m:r>
                            <m:r>
                              <m:rPr>
                                <m:nor/>
                              </m:rPr>
                              <a:rPr lang="en-US" altLang="en-US" sz="2000" dirty="0">
                                <a:latin typeface="Arial" panose="020B0604020202020204" pitchFamily="34" charset="0"/>
                                <a:cs typeface="Arial" panose="020B0604020202020204" pitchFamily="34" charset="0"/>
                              </a:rPr>
                              <m:t>′</m:t>
                            </m:r>
                            <m:r>
                              <m:rPr>
                                <m:nor/>
                              </m:rPr>
                              <a:rPr lang="en-US" altLang="en-US" sz="2000" dirty="0">
                                <a:latin typeface="Arial" panose="020B0604020202020204" pitchFamily="34" charset="0"/>
                                <a:cs typeface="Arial" panose="020B0604020202020204" pitchFamily="34" charset="0"/>
                              </a:rPr>
                              <m:t>s</m:t>
                            </m:r>
                            <m:r>
                              <m:rPr>
                                <m:nor/>
                              </m:rPr>
                              <a:rPr lang="en-US" altLang="en-US" sz="2000" dirty="0">
                                <a:latin typeface="Arial" panose="020B0604020202020204" pitchFamily="34" charset="0"/>
                                <a:cs typeface="Arial" panose="020B0604020202020204" pitchFamily="34" charset="0"/>
                              </a:rPr>
                              <m:t> </m:t>
                            </m:r>
                            <m:r>
                              <m:rPr>
                                <m:nor/>
                              </m:rPr>
                              <a:rPr lang="en-US" altLang="en-US" sz="2000" dirty="0">
                                <a:latin typeface="Arial" panose="020B0604020202020204" pitchFamily="34" charset="0"/>
                                <a:cs typeface="Arial" panose="020B0604020202020204" pitchFamily="34" charset="0"/>
                              </a:rPr>
                              <m:t>Fund</m:t>
                            </m:r>
                            <m:r>
                              <m:rPr>
                                <m:nor/>
                              </m:rPr>
                              <a:rPr lang="en-US" altLang="en-US" sz="2000" b="0" i="0" dirty="0" smtClean="0">
                                <a:latin typeface="Arial" panose="020B0604020202020204" pitchFamily="34" charset="0"/>
                                <a:cs typeface="Arial" panose="020B0604020202020204" pitchFamily="34" charset="0"/>
                              </a:rPr>
                              <m:t> / </m:t>
                            </m:r>
                            <m:r>
                              <m:rPr>
                                <m:nor/>
                              </m:rPr>
                              <a:rPr lang="en-US" altLang="en-US" sz="2000" b="0" i="0" dirty="0" smtClean="0">
                                <a:latin typeface="Arial" panose="020B0604020202020204" pitchFamily="34" charset="0"/>
                                <a:cs typeface="Arial" panose="020B0604020202020204" pitchFamily="34" charset="0"/>
                              </a:rPr>
                              <m:t>Net</m:t>
                            </m:r>
                            <m:r>
                              <m:rPr>
                                <m:nor/>
                              </m:rPr>
                              <a:rPr lang="en-US" altLang="en-US" sz="2000" b="0" i="0" dirty="0" smtClean="0">
                                <a:latin typeface="Arial" panose="020B0604020202020204" pitchFamily="34" charset="0"/>
                                <a:cs typeface="Arial" panose="020B0604020202020204" pitchFamily="34" charset="0"/>
                              </a:rPr>
                              <m:t> </m:t>
                            </m:r>
                            <m:r>
                              <m:rPr>
                                <m:nor/>
                              </m:rPr>
                              <a:rPr lang="en-US" altLang="en-US" sz="2000" b="0" i="0" dirty="0" smtClean="0">
                                <a:latin typeface="Arial" panose="020B0604020202020204" pitchFamily="34" charset="0"/>
                                <a:cs typeface="Arial" panose="020B0604020202020204" pitchFamily="34" charset="0"/>
                              </a:rPr>
                              <m:t>worth</m:t>
                            </m:r>
                          </m:e>
                          <m:sup>
                            <m:r>
                              <a:rPr lang="en-US" altLang="en-US" sz="2000" dirty="0">
                                <a:latin typeface="Cambria Math" panose="02040503050406030204" pitchFamily="18" charset="0"/>
                              </a:rPr>
                              <m:t> </m:t>
                            </m:r>
                          </m:sup>
                        </m:sSup>
                      </m:den>
                    </m:f>
                  </m:oMath>
                </a14:m>
                <a:endParaRPr lang="en-US" sz="2000" dirty="0">
                  <a:latin typeface="Arial" panose="020B0604020202020204" pitchFamily="34" charset="0"/>
                  <a:cs typeface="Arial" panose="020B0604020202020204" pitchFamily="34" charset="0"/>
                </a:endParaRPr>
              </a:p>
              <a:p>
                <a:pPr algn="just">
                  <a:lnSpc>
                    <a:spcPct val="150000"/>
                  </a:lnSpc>
                  <a:buSzPct val="85000"/>
                </a:pPr>
                <a:r>
                  <a:rPr lang="en-US" sz="2000" dirty="0">
                    <a:latin typeface="Arial" panose="020B0604020202020204" pitchFamily="34" charset="0"/>
                    <a:cs typeface="Arial" panose="020B0604020202020204" pitchFamily="34" charset="0"/>
                  </a:rPr>
                  <a:t> ratio measures the degree of indebtedness of an enterprise and gives    an idea to the long-term lender regarding extent of security of the debt.</a:t>
                </a:r>
              </a:p>
              <a:p>
                <a:pPr algn="just">
                  <a:lnSpc>
                    <a:spcPct val="150000"/>
                  </a:lnSpc>
                  <a:buSzPct val="85000"/>
                </a:pPr>
                <a:r>
                  <a:rPr lang="en-US" sz="2000" dirty="0">
                    <a:latin typeface="Arial" panose="020B0604020202020204" pitchFamily="34" charset="0"/>
                    <a:cs typeface="Arial" panose="020B0604020202020204" pitchFamily="34" charset="0"/>
                  </a:rPr>
                  <a:t>A low debt equity ratio reflects more security. </a:t>
                </a:r>
              </a:p>
              <a:p>
                <a:pPr algn="just">
                  <a:lnSpc>
                    <a:spcPct val="150000"/>
                  </a:lnSpc>
                  <a:buSzPct val="85000"/>
                </a:pPr>
                <a:r>
                  <a:rPr lang="en-US" sz="2000" dirty="0">
                    <a:latin typeface="Arial" panose="020B0604020202020204" pitchFamily="34" charset="0"/>
                    <a:cs typeface="Arial" panose="020B0604020202020204" pitchFamily="34" charset="0"/>
                  </a:rPr>
                  <a:t>A high ratio, on the other hand, is considered risky as it may put the firm into difficulty in meeting its obligations to outsiders. </a:t>
                </a:r>
              </a:p>
              <a:p>
                <a:pPr algn="just">
                  <a:lnSpc>
                    <a:spcPct val="150000"/>
                  </a:lnSpc>
                  <a:buSzPct val="85000"/>
                </a:pPr>
                <a:r>
                  <a:rPr lang="en-US" sz="2000" dirty="0">
                    <a:latin typeface="Arial" panose="020B0604020202020204" pitchFamily="34" charset="0"/>
                    <a:cs typeface="Arial" panose="020B0604020202020204" pitchFamily="34" charset="0"/>
                  </a:rPr>
                  <a:t>However, from the perspective of the owners, greater use of debt (trading on equity) may help in ensuring higher returns for them if the rate of earnings on capital employed is higher than the rate of interest payable.</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767862"/>
                <a:ext cx="8382000" cy="4876800"/>
              </a:xfrm>
              <a:blipFill>
                <a:blip r:embed="rId3"/>
                <a:stretch>
                  <a:fillRect l="-727" r="-727" b="-13500"/>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E8230D0F-1988-3D7E-1C2F-F3E3788D04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3000" y="2209800"/>
            <a:ext cx="3429000" cy="3429000"/>
          </a:xfrm>
          <a:prstGeom prst="rect">
            <a:avLst/>
          </a:prstGeom>
        </p:spPr>
      </p:pic>
      <p:sp>
        <p:nvSpPr>
          <p:cNvPr id="5" name="Rectangle 4">
            <a:extLst>
              <a:ext uri="{FF2B5EF4-FFF2-40B4-BE49-F238E27FC236}">
                <a16:creationId xmlns:a16="http://schemas.microsoft.com/office/drawing/2014/main" id="{B9888821-5D80-32E7-8836-88C25EA4AB58}"/>
              </a:ext>
            </a:extLst>
          </p:cNvPr>
          <p:cNvSpPr/>
          <p:nvPr/>
        </p:nvSpPr>
        <p:spPr>
          <a:xfrm>
            <a:off x="609600" y="140678"/>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Solvency Ratios</a:t>
            </a:r>
            <a:r>
              <a:rPr lang="en-IN" sz="2800" b="1" dirty="0">
                <a:solidFill>
                  <a:schemeClr val="tx1"/>
                </a:solidFill>
                <a:latin typeface="Arial" panose="020B0604020202020204" pitchFamily="34" charset="0"/>
                <a:cs typeface="Arial" panose="020B0604020202020204" pitchFamily="34" charset="0"/>
              </a:rPr>
              <a:t>  </a:t>
            </a:r>
          </a:p>
        </p:txBody>
      </p:sp>
      <p:pic>
        <p:nvPicPr>
          <p:cNvPr id="7" name="Picture 6">
            <a:extLst>
              <a:ext uri="{FF2B5EF4-FFF2-40B4-BE49-F238E27FC236}">
                <a16:creationId xmlns:a16="http://schemas.microsoft.com/office/drawing/2014/main" id="{5B0A1C9C-E19B-D51C-38B9-DA2B94526929}"/>
              </a:ext>
            </a:extLst>
          </p:cNvPr>
          <p:cNvPicPr>
            <a:picLocks noChangeAspect="1"/>
          </p:cNvPicPr>
          <p:nvPr/>
        </p:nvPicPr>
        <p:blipFill>
          <a:blip r:embed="rId5"/>
          <a:stretch>
            <a:fillRect/>
          </a:stretch>
        </p:blipFill>
        <p:spPr>
          <a:xfrm>
            <a:off x="11122800" y="45904"/>
            <a:ext cx="966091" cy="887302"/>
          </a:xfrm>
          <a:prstGeom prst="rect">
            <a:avLst/>
          </a:prstGeom>
        </p:spPr>
      </p:pic>
    </p:spTree>
    <p:extLst>
      <p:ext uri="{BB962C8B-B14F-4D97-AF65-F5344CB8AC3E}">
        <p14:creationId xmlns:p14="http://schemas.microsoft.com/office/powerpoint/2010/main" val="3005486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A190D17-08CB-B44F-604D-9A03F3567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2800" y="3352800"/>
            <a:ext cx="5024582" cy="3505200"/>
          </a:xfrm>
          <a:prstGeom prst="rect">
            <a:avLst/>
          </a:prstGeom>
        </p:spPr>
      </p:pic>
      <p:sp>
        <p:nvSpPr>
          <p:cNvPr id="5" name="TextBox 1">
            <a:extLst>
              <a:ext uri="{FF2B5EF4-FFF2-40B4-BE49-F238E27FC236}">
                <a16:creationId xmlns:a16="http://schemas.microsoft.com/office/drawing/2014/main" id="{5B880981-7C95-50E3-C585-02966FEAE696}"/>
              </a:ext>
            </a:extLst>
          </p:cNvPr>
          <p:cNvSpPr txBox="1">
            <a:spLocks noGrp="1" noChangeArrowheads="1"/>
          </p:cNvSpPr>
          <p:nvPr>
            <p:ph idx="1"/>
          </p:nvPr>
        </p:nvSpPr>
        <p:spPr bwMode="auto">
          <a:xfrm>
            <a:off x="304800" y="691189"/>
            <a:ext cx="11582400" cy="6853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indent="0" algn="just" eaLnBrk="1" hangingPunct="1">
              <a:buNone/>
            </a:pPr>
            <a:endParaRPr lang="en-US" altLang="en-US" sz="2000" dirty="0">
              <a:cs typeface="Arial" panose="020B0604020202020204" pitchFamily="34" charset="0"/>
            </a:endParaRPr>
          </a:p>
          <a:p>
            <a:pPr marL="0" indent="0" algn="just" eaLnBrk="1" hangingPunct="1">
              <a:buNone/>
            </a:pPr>
            <a:r>
              <a:rPr lang="en-US" altLang="en-US" sz="2000" dirty="0">
                <a:solidFill>
                  <a:srgbClr val="FF0000"/>
                </a:solidFill>
                <a:cs typeface="Arial" panose="020B0604020202020204" pitchFamily="34" charset="0"/>
              </a:rPr>
              <a:t>              Long Term Outside Liabilities / Net Worth</a:t>
            </a:r>
          </a:p>
          <a:p>
            <a:pPr marL="0" indent="0" algn="just" eaLnBrk="1" hangingPunct="1">
              <a:buNone/>
            </a:pPr>
            <a:r>
              <a:rPr lang="en-US" altLang="en-US" sz="2000" dirty="0">
                <a:cs typeface="Arial" panose="020B0604020202020204" pitchFamily="34" charset="0"/>
              </a:rPr>
              <a:t>			</a:t>
            </a:r>
          </a:p>
          <a:p>
            <a:pPr marL="0" indent="0" algn="just" eaLnBrk="1" hangingPunct="1">
              <a:buNone/>
            </a:pPr>
            <a:r>
              <a:rPr lang="en-US" altLang="en-US" sz="2000" dirty="0">
                <a:cs typeface="Arial" panose="020B0604020202020204" pitchFamily="34" charset="0"/>
              </a:rPr>
              <a:t>         Liabilities of Long-Term Nature</a:t>
            </a:r>
          </a:p>
          <a:p>
            <a:pPr marL="0" indent="0" algn="just" eaLnBrk="1" hangingPunct="1">
              <a:buNone/>
            </a:pPr>
            <a:endParaRPr lang="en-US" altLang="en-US" sz="2000" dirty="0">
              <a:cs typeface="Arial" panose="020B0604020202020204" pitchFamily="34" charset="0"/>
            </a:endParaRPr>
          </a:p>
          <a:p>
            <a:pPr marL="0" indent="0" algn="just" eaLnBrk="1" hangingPunct="1">
              <a:buNone/>
            </a:pPr>
            <a:r>
              <a:rPr lang="en-US" altLang="en-US" sz="2000" dirty="0">
                <a:cs typeface="Arial" panose="020B0604020202020204" pitchFamily="34" charset="0"/>
              </a:rPr>
              <a:t>	Total of Capital and Reserves &amp; Surplus Less Intangible Assets</a:t>
            </a:r>
          </a:p>
          <a:p>
            <a:pPr marL="0" indent="0" algn="just" eaLnBrk="1" hangingPunct="1">
              <a:buNone/>
            </a:pPr>
            <a:r>
              <a:rPr lang="en-US" altLang="en-US" sz="2000" dirty="0">
                <a:cs typeface="Arial" panose="020B0604020202020204" pitchFamily="34" charset="0"/>
              </a:rPr>
              <a:t>      </a:t>
            </a:r>
          </a:p>
          <a:p>
            <a:pPr marL="0" indent="0" algn="just" eaLnBrk="1" hangingPunct="1">
              <a:buNone/>
            </a:pPr>
            <a:r>
              <a:rPr lang="en-US" altLang="en-US" sz="2000" dirty="0">
                <a:cs typeface="Arial" panose="020B0604020202020204" pitchFamily="34" charset="0"/>
              </a:rPr>
              <a:t>        For instance, if the Firm is having the following :</a:t>
            </a:r>
          </a:p>
          <a:p>
            <a:pPr marL="0" indent="0" algn="just" eaLnBrk="1" hangingPunct="1">
              <a:buNone/>
            </a:pPr>
            <a:endParaRPr lang="en-US" altLang="en-US" sz="2000" dirty="0">
              <a:cs typeface="Arial" panose="020B0604020202020204" pitchFamily="34" charset="0"/>
            </a:endParaRPr>
          </a:p>
          <a:p>
            <a:pPr marL="0" indent="0" eaLnBrk="1" hangingPunct="1">
              <a:buNone/>
            </a:pPr>
            <a:r>
              <a:rPr lang="en-US" altLang="en-US" sz="2000" dirty="0">
                <a:cs typeface="Arial" panose="020B0604020202020204" pitchFamily="34" charset="0"/>
              </a:rPr>
              <a:t>	Capital                              = Rs. 200 Lacs        </a:t>
            </a:r>
          </a:p>
          <a:p>
            <a:pPr marL="0" indent="0" eaLnBrk="1" hangingPunct="1">
              <a:buNone/>
            </a:pPr>
            <a:r>
              <a:rPr lang="en-US" altLang="en-US" sz="2000" dirty="0">
                <a:cs typeface="Arial" panose="020B0604020202020204" pitchFamily="34" charset="0"/>
              </a:rPr>
              <a:t>        Free Reserves &amp; Surplus      = Rs. 300 Lacs</a:t>
            </a:r>
          </a:p>
          <a:p>
            <a:pPr marL="0" indent="0" eaLnBrk="1" hangingPunct="1">
              <a:buNone/>
            </a:pPr>
            <a:r>
              <a:rPr lang="en-US" altLang="en-US" sz="2000" dirty="0">
                <a:cs typeface="Arial" panose="020B0604020202020204" pitchFamily="34" charset="0"/>
              </a:rPr>
              <a:t>        Long Term Loans/Liabilities   = Rs. 800 Lacs</a:t>
            </a:r>
          </a:p>
          <a:p>
            <a:pPr marL="0" indent="0" algn="just" eaLnBrk="1" hangingPunct="1">
              <a:buNone/>
            </a:pPr>
            <a:endParaRPr lang="en-US" altLang="en-US" sz="2000" dirty="0">
              <a:cs typeface="Arial" panose="020B0604020202020204" pitchFamily="34" charset="0"/>
            </a:endParaRPr>
          </a:p>
          <a:p>
            <a:pPr marL="0" indent="0" algn="just" eaLnBrk="1" hangingPunct="1">
              <a:buNone/>
            </a:pPr>
            <a:r>
              <a:rPr lang="en-US" altLang="en-US" sz="2000" dirty="0">
                <a:cs typeface="Arial" panose="020B0604020202020204" pitchFamily="34" charset="0"/>
              </a:rPr>
              <a:t>        Debt Equity Ratio  will be     =&gt;   800/500   i.e. 1.6 : 1</a:t>
            </a:r>
          </a:p>
          <a:p>
            <a:pPr marL="0" indent="0" algn="just" eaLnBrk="1" hangingPunct="1">
              <a:buNone/>
            </a:pPr>
            <a:endParaRPr lang="en-US" altLang="en-US" sz="2000" dirty="0">
              <a:cs typeface="Arial" panose="020B0604020202020204" pitchFamily="34" charset="0"/>
            </a:endParaRPr>
          </a:p>
          <a:p>
            <a:pPr marL="0" indent="0" algn="just" eaLnBrk="1" hangingPunct="1">
              <a:buNone/>
            </a:pPr>
            <a:r>
              <a:rPr lang="en-US" altLang="en-US" sz="2000" i="1" dirty="0">
                <a:cs typeface="Arial" panose="020B0604020202020204" pitchFamily="34" charset="0"/>
              </a:rPr>
              <a:t>        </a:t>
            </a:r>
            <a:endParaRPr lang="en-US" altLang="en-US" sz="2000" dirty="0">
              <a:cs typeface="Arial" panose="020B0604020202020204" pitchFamily="34" charset="0"/>
            </a:endParaRPr>
          </a:p>
          <a:p>
            <a:pPr marL="0" indent="0" algn="just" eaLnBrk="1" hangingPunct="1">
              <a:buNone/>
            </a:pPr>
            <a:endParaRPr lang="en-US" altLang="en-US" sz="2000" dirty="0">
              <a:cs typeface="Arial" panose="020B0604020202020204" pitchFamily="34" charset="0"/>
            </a:endParaRPr>
          </a:p>
        </p:txBody>
      </p:sp>
      <p:sp>
        <p:nvSpPr>
          <p:cNvPr id="7" name="Arrow: Down 6">
            <a:extLst>
              <a:ext uri="{FF2B5EF4-FFF2-40B4-BE49-F238E27FC236}">
                <a16:creationId xmlns:a16="http://schemas.microsoft.com/office/drawing/2014/main" id="{034F54CD-97A3-DA42-8534-DF333D0F10FF}"/>
              </a:ext>
            </a:extLst>
          </p:cNvPr>
          <p:cNvSpPr/>
          <p:nvPr/>
        </p:nvSpPr>
        <p:spPr>
          <a:xfrm>
            <a:off x="2971800" y="1450581"/>
            <a:ext cx="2286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03950529-3139-437D-8232-47FB3B4B5F89}"/>
              </a:ext>
            </a:extLst>
          </p:cNvPr>
          <p:cNvSpPr/>
          <p:nvPr/>
        </p:nvSpPr>
        <p:spPr>
          <a:xfrm>
            <a:off x="5410200" y="1605762"/>
            <a:ext cx="228600" cy="1066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C262CC9-E764-A994-D6C0-DD0F02F92CDB}"/>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Solvency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1F5E4914-6CEB-09D6-2085-19B9BB9FC1F1}"/>
              </a:ext>
            </a:extLst>
          </p:cNvPr>
          <p:cNvPicPr>
            <a:picLocks noChangeAspect="1"/>
          </p:cNvPicPr>
          <p:nvPr/>
        </p:nvPicPr>
        <p:blipFill>
          <a:blip r:embed="rId3"/>
          <a:stretch>
            <a:fillRect/>
          </a:stretch>
        </p:blipFill>
        <p:spPr>
          <a:xfrm>
            <a:off x="11122800" y="45904"/>
            <a:ext cx="966091" cy="887302"/>
          </a:xfrm>
          <a:prstGeom prst="rect">
            <a:avLst/>
          </a:prstGeom>
        </p:spPr>
      </p:pic>
    </p:spTree>
    <p:extLst>
      <p:ext uri="{BB962C8B-B14F-4D97-AF65-F5344CB8AC3E}">
        <p14:creationId xmlns:p14="http://schemas.microsoft.com/office/powerpoint/2010/main" val="99849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714635"/>
                <a:ext cx="7620000" cy="4724400"/>
              </a:xfrm>
            </p:spPr>
            <p:txBody>
              <a:bodyPr>
                <a:noAutofit/>
              </a:bodyPr>
              <a:lstStyle/>
              <a:p>
                <a:pPr marL="0" indent="0" algn="just">
                  <a:lnSpc>
                    <a:spcPct val="150000"/>
                  </a:lnSpc>
                  <a:buSzPct val="85000"/>
                  <a:buNone/>
                </a:pPr>
                <a:r>
                  <a:rPr lang="en-US" altLang="en-US" sz="2000" b="1" dirty="0">
                    <a:latin typeface="Arial" panose="020B0604020202020204" pitchFamily="34" charset="0"/>
                    <a:cs typeface="Arial" panose="020B0604020202020204" pitchFamily="34" charset="0"/>
                  </a:rPr>
                  <a:t>2.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Capital</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Gearing</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b="1">
                        <a:latin typeface="Cambria Math" panose="02040503050406030204" pitchFamily="18" charset="0"/>
                      </a:rPr>
                      <m:t>=</m:t>
                    </m:r>
                    <m:f>
                      <m:fPr>
                        <m:ctrlPr>
                          <a:rPr lang="en-US" altLang="en-US" sz="2000" b="1" i="1" smtClean="0">
                            <a:latin typeface="Cambria Math" panose="02040503050406030204" pitchFamily="18" charset="0"/>
                          </a:rPr>
                        </m:ctrlPr>
                      </m:fPr>
                      <m:num>
                        <m:r>
                          <m:rPr>
                            <m:nor/>
                          </m:rPr>
                          <a:rPr lang="en-US" altLang="en-US" sz="2000" b="1" dirty="0">
                            <a:latin typeface="Arial" panose="020B0604020202020204" pitchFamily="34" charset="0"/>
                            <a:cs typeface="Arial" panose="020B0604020202020204" pitchFamily="34" charset="0"/>
                          </a:rPr>
                          <m:t>Equity</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Shareholder</m:t>
                        </m:r>
                        <m:r>
                          <m:rPr>
                            <m:nor/>
                          </m:rPr>
                          <a:rPr lang="en-US" altLang="en-US" sz="2000" b="1" dirty="0">
                            <a:latin typeface="Arial" panose="020B0604020202020204" pitchFamily="34" charset="0"/>
                            <a:cs typeface="Arial" panose="020B0604020202020204" pitchFamily="34" charset="0"/>
                          </a:rPr>
                          <m:t>′</m:t>
                        </m:r>
                        <m:r>
                          <m:rPr>
                            <m:nor/>
                          </m:rPr>
                          <a:rPr lang="en-US" altLang="en-US" sz="2000" b="1" dirty="0">
                            <a:latin typeface="Arial" panose="020B0604020202020204" pitchFamily="34" charset="0"/>
                            <a:cs typeface="Arial" panose="020B0604020202020204" pitchFamily="34" charset="0"/>
                          </a:rPr>
                          <m:t>s</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Fund</m:t>
                        </m:r>
                        <m:r>
                          <m:rPr>
                            <m:nor/>
                          </m:rPr>
                          <a:rPr lang="en-US" altLang="en-US" sz="2000" b="1" dirty="0">
                            <a:latin typeface="Arial" panose="020B0604020202020204" pitchFamily="34" charset="0"/>
                            <a:cs typeface="Arial" panose="020B0604020202020204" pitchFamily="34" charset="0"/>
                          </a:rPr>
                          <m:t> </m:t>
                        </m:r>
                      </m:num>
                      <m:den>
                        <m:sSup>
                          <m:sSupPr>
                            <m:ctrlPr>
                              <a:rPr lang="en-US" altLang="en-US" sz="2000" b="1" i="1" dirty="0" smtClean="0">
                                <a:latin typeface="Cambria Math" panose="02040503050406030204" pitchFamily="18" charset="0"/>
                              </a:rPr>
                            </m:ctrlPr>
                          </m:sSupPr>
                          <m:e>
                            <m:eqArr>
                              <m:eqArrPr>
                                <m:ctrlPr>
                                  <a:rPr lang="en-US" altLang="en-US" sz="2000" b="1" i="1" smtClean="0">
                                    <a:latin typeface="Cambria Math" panose="02040503050406030204" pitchFamily="18" charset="0"/>
                                    <a:cs typeface="Arial" panose="020B0604020202020204" pitchFamily="34" charset="0"/>
                                  </a:rPr>
                                </m:ctrlPr>
                              </m:eqArrPr>
                              <m:e/>
                              <m:e>
                                <m:r>
                                  <m:rPr>
                                    <m:nor/>
                                  </m:rPr>
                                  <a:rPr lang="en-US" altLang="en-US" sz="2000" b="1">
                                    <a:latin typeface="Arial" panose="020B0604020202020204" pitchFamily="34" charset="0"/>
                                    <a:cs typeface="Arial" panose="020B0604020202020204" pitchFamily="34" charset="0"/>
                                  </a:rPr>
                                  <m:t>Fixe</m:t>
                                </m:r>
                                <m:r>
                                  <m:rPr>
                                    <m:nor/>
                                  </m:rPr>
                                  <a:rPr lang="en-IN" altLang="en-US" sz="2000" b="1" i="0" smtClean="0">
                                    <a:latin typeface="Arial" panose="020B0604020202020204" pitchFamily="34" charset="0"/>
                                    <a:cs typeface="Arial" panose="020B0604020202020204" pitchFamily="34" charset="0"/>
                                  </a:rPr>
                                  <m:t>d</m:t>
                                </m:r>
                                <m:r>
                                  <m:rPr>
                                    <m:nor/>
                                  </m:rPr>
                                  <a:rPr lang="en-IN" altLang="en-US" sz="2000" b="1" i="0" smtClean="0">
                                    <a:latin typeface="Arial" panose="020B0604020202020204" pitchFamily="34" charset="0"/>
                                    <a:cs typeface="Arial" panose="020B0604020202020204" pitchFamily="34" charset="0"/>
                                  </a:rPr>
                                  <m:t> </m:t>
                                </m:r>
                                <m:r>
                                  <m:rPr>
                                    <m:nor/>
                                  </m:rPr>
                                  <a:rPr lang="en-IN" altLang="en-US" sz="2000" b="1" i="0" smtClean="0">
                                    <a:latin typeface="Arial" panose="020B0604020202020204" pitchFamily="34" charset="0"/>
                                    <a:cs typeface="Arial" panose="020B0604020202020204" pitchFamily="34" charset="0"/>
                                  </a:rPr>
                                  <m:t>Interest</m:t>
                                </m:r>
                                <m:r>
                                  <m:rPr>
                                    <m:nor/>
                                  </m:rPr>
                                  <a:rPr lang="en-IN" altLang="en-US" sz="2000" b="1" i="0" smtClean="0">
                                    <a:latin typeface="Arial" panose="020B0604020202020204" pitchFamily="34" charset="0"/>
                                    <a:cs typeface="Arial" panose="020B0604020202020204" pitchFamily="34" charset="0"/>
                                  </a:rPr>
                                  <m:t> </m:t>
                                </m:r>
                                <m:r>
                                  <m:rPr>
                                    <m:nor/>
                                  </m:rPr>
                                  <a:rPr lang="en-IN" altLang="en-US" sz="2000" b="1" i="0" smtClean="0">
                                    <a:latin typeface="Arial" panose="020B0604020202020204" pitchFamily="34" charset="0"/>
                                    <a:cs typeface="Arial" panose="020B0604020202020204" pitchFamily="34" charset="0"/>
                                  </a:rPr>
                                  <m:t>Bearing</m:t>
                                </m:r>
                                <m:r>
                                  <m:rPr>
                                    <m:nor/>
                                  </m:rPr>
                                  <a:rPr lang="en-IN" altLang="en-US" sz="2000" b="1" i="0" smtClean="0">
                                    <a:latin typeface="Arial" panose="020B0604020202020204" pitchFamily="34" charset="0"/>
                                    <a:cs typeface="Arial" panose="020B0604020202020204" pitchFamily="34" charset="0"/>
                                  </a:rPr>
                                  <m:t> </m:t>
                                </m:r>
                                <m:r>
                                  <m:rPr>
                                    <m:nor/>
                                  </m:rPr>
                                  <a:rPr lang="en-IN" altLang="en-US" sz="2000" b="1" i="0" smtClean="0">
                                    <a:latin typeface="Arial" panose="020B0604020202020204" pitchFamily="34" charset="0"/>
                                    <a:cs typeface="Arial" panose="020B0604020202020204" pitchFamily="34" charset="0"/>
                                  </a:rPr>
                                  <m:t>F</m:t>
                                </m:r>
                                <m:r>
                                  <m:rPr>
                                    <m:nor/>
                                  </m:rPr>
                                  <a:rPr lang="en-US" altLang="en-US" sz="2000" b="1">
                                    <a:latin typeface="Arial" panose="020B0604020202020204" pitchFamily="34" charset="0"/>
                                    <a:cs typeface="Arial" panose="020B0604020202020204" pitchFamily="34" charset="0"/>
                                  </a:rPr>
                                  <m:t>unds</m:t>
                                </m:r>
                              </m:e>
                            </m:eqArr>
                          </m:e>
                          <m:sup>
                            <m:r>
                              <a:rPr lang="en-US" altLang="en-US" sz="2000" b="1" dirty="0">
                                <a:latin typeface="Cambria Math" panose="02040503050406030204" pitchFamily="18" charset="0"/>
                              </a:rPr>
                              <m:t> </m:t>
                            </m:r>
                          </m:sup>
                        </m:sSup>
                      </m:den>
                    </m:f>
                  </m:oMath>
                </a14:m>
                <a:endParaRPr lang="en-US" altLang="en-US" sz="2000" b="1" dirty="0">
                  <a:latin typeface="Arial" panose="020B0604020202020204" pitchFamily="34" charset="0"/>
                  <a:cs typeface="Arial" panose="020B0604020202020204" pitchFamily="34" charset="0"/>
                </a:endParaRPr>
              </a:p>
              <a:p>
                <a:pPr marL="619125" indent="-619125" algn="just" eaLnBrk="1" hangingPunct="1">
                  <a:lnSpc>
                    <a:spcPct val="150000"/>
                  </a:lnSpc>
                  <a:buSzPct val="85000"/>
                  <a:buNone/>
                </a:pPr>
                <a:r>
                  <a:rPr lang="en-US" altLang="en-US" sz="2000" dirty="0">
                    <a:latin typeface="Arial" panose="020B0604020202020204" pitchFamily="34" charset="0"/>
                    <a:cs typeface="Arial" panose="020B0604020202020204" pitchFamily="34" charset="0"/>
                  </a:rPr>
                  <a:t>	Where,</a:t>
                </a:r>
              </a:p>
              <a:p>
                <a:pPr marL="619125" indent="-619125" algn="just">
                  <a:lnSpc>
                    <a:spcPct val="150000"/>
                  </a:lnSpc>
                  <a:buSzPct val="85000"/>
                  <a:buNone/>
                </a:pPr>
                <a:r>
                  <a:rPr lang="en-US" altLang="en-US" sz="2000" dirty="0">
                    <a:latin typeface="Arial" panose="020B0604020202020204" pitchFamily="34" charset="0"/>
                    <a:cs typeface="Arial" panose="020B0604020202020204" pitchFamily="34" charset="0"/>
                  </a:rPr>
                  <a:t>	Fixed interest-bearing funds include debentures, long-term loans, and preference share capital. </a:t>
                </a:r>
              </a:p>
              <a:p>
                <a:pPr algn="just">
                  <a:lnSpc>
                    <a:spcPct val="150000"/>
                  </a:lnSpc>
                  <a:buSzPct val="85000"/>
                </a:pPr>
                <a:r>
                  <a:rPr lang="en-US" sz="2000" dirty="0">
                    <a:latin typeface="Arial" panose="020B0604020202020204" pitchFamily="34" charset="0"/>
                    <a:cs typeface="Arial" panose="020B0604020202020204" pitchFamily="34" charset="0"/>
                  </a:rPr>
                  <a:t>The term “capital gearing” refers to the proportion of the relationship between equity share capital, including reserves and surpluses, to preference share capital and other fixed interest-bearing funds or loans. 	</a:t>
                </a:r>
              </a:p>
              <a:p>
                <a:pPr algn="just">
                  <a:lnSpc>
                    <a:spcPct val="150000"/>
                  </a:lnSpc>
                  <a:buSzPct val="85000"/>
                </a:pPr>
                <a:r>
                  <a:rPr lang="en-US" sz="2000" dirty="0">
                    <a:latin typeface="Arial" panose="020B0604020202020204" pitchFamily="34" charset="0"/>
                    <a:cs typeface="Arial" panose="020B0604020202020204" pitchFamily="34" charset="0"/>
                  </a:rPr>
                  <a:t>This ratio measures the degree of vulnerability of earnings available for equity shareholders. </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714635"/>
                <a:ext cx="7620000" cy="4724400"/>
              </a:xfrm>
              <a:blipFill>
                <a:blip r:embed="rId2"/>
                <a:stretch>
                  <a:fillRect l="-880" r="-800" b="-25290"/>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B5DF02F5-4842-FD44-46FD-73DACECDC3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8200" y="2362200"/>
            <a:ext cx="3581400" cy="3088900"/>
          </a:xfrm>
          <a:prstGeom prst="rect">
            <a:avLst/>
          </a:prstGeom>
        </p:spPr>
      </p:pic>
      <p:sp>
        <p:nvSpPr>
          <p:cNvPr id="5" name="Rectangle 4">
            <a:extLst>
              <a:ext uri="{FF2B5EF4-FFF2-40B4-BE49-F238E27FC236}">
                <a16:creationId xmlns:a16="http://schemas.microsoft.com/office/drawing/2014/main" id="{81AB17CA-EBE4-1E39-373A-830CDEA80259}"/>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Solvency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40A0F049-E44F-51E3-51B4-CE639A7F519D}"/>
              </a:ext>
            </a:extLst>
          </p:cNvPr>
          <p:cNvPicPr>
            <a:picLocks noChangeAspect="1"/>
          </p:cNvPicPr>
          <p:nvPr/>
        </p:nvPicPr>
        <p:blipFill>
          <a:blip r:embed="rId4"/>
          <a:stretch>
            <a:fillRect/>
          </a:stretch>
        </p:blipFill>
        <p:spPr>
          <a:xfrm>
            <a:off x="11122800" y="45904"/>
            <a:ext cx="966091" cy="887302"/>
          </a:xfrm>
          <a:prstGeom prst="rect">
            <a:avLst/>
          </a:prstGeom>
        </p:spPr>
      </p:pic>
    </p:spTree>
    <p:extLst>
      <p:ext uri="{BB962C8B-B14F-4D97-AF65-F5344CB8AC3E}">
        <p14:creationId xmlns:p14="http://schemas.microsoft.com/office/powerpoint/2010/main" val="1478185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1999" y="921483"/>
                <a:ext cx="10245969" cy="4495800"/>
              </a:xfrm>
            </p:spPr>
            <p:txBody>
              <a:bodyPr>
                <a:noAutofit/>
              </a:bodyPr>
              <a:lstStyle/>
              <a:p>
                <a:pPr marL="0" indent="0" algn="just">
                  <a:lnSpc>
                    <a:spcPct val="150000"/>
                  </a:lnSpc>
                  <a:buSzPct val="85000"/>
                  <a:buNone/>
                </a:pPr>
                <a:r>
                  <a:rPr lang="en-US" altLang="en-US" sz="2000" b="1" dirty="0">
                    <a:latin typeface="Arial" panose="020B0604020202020204" pitchFamily="34" charset="0"/>
                    <a:cs typeface="Arial" panose="020B0604020202020204" pitchFamily="34" charset="0"/>
                  </a:rPr>
                  <a:t>3.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Proprietary</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a:latin typeface="Arial" panose="020B0604020202020204" pitchFamily="34" charset="0"/>
                            <a:cs typeface="Arial" panose="020B0604020202020204" pitchFamily="34" charset="0"/>
                          </a:rPr>
                          <m:t>Shareholder</m:t>
                        </m:r>
                        <m:r>
                          <m:rPr>
                            <m:nor/>
                          </m:rPr>
                          <a:rPr lang="en-US" altLang="en-US" sz="2000">
                            <a:latin typeface="Arial" panose="020B0604020202020204" pitchFamily="34" charset="0"/>
                            <a:cs typeface="Arial" panose="020B0604020202020204" pitchFamily="34" charset="0"/>
                          </a:rPr>
                          <m:t>′</m:t>
                        </m:r>
                        <m:r>
                          <m:rPr>
                            <m:nor/>
                          </m:rPr>
                          <a:rPr lang="en-US" altLang="en-US" sz="2000">
                            <a:latin typeface="Arial" panose="020B0604020202020204" pitchFamily="34" charset="0"/>
                            <a:cs typeface="Arial" panose="020B0604020202020204" pitchFamily="34" charset="0"/>
                          </a:rPr>
                          <m:t>s</m:t>
                        </m:r>
                        <m:r>
                          <m:rPr>
                            <m:nor/>
                          </m:rPr>
                          <a:rPr lang="en-US" altLang="en-US" sz="2000">
                            <a:latin typeface="Arial" panose="020B0604020202020204" pitchFamily="34" charset="0"/>
                            <a:cs typeface="Arial" panose="020B0604020202020204" pitchFamily="34" charset="0"/>
                          </a:rPr>
                          <m:t> </m:t>
                        </m:r>
                        <m:r>
                          <m:rPr>
                            <m:nor/>
                          </m:rPr>
                          <a:rPr lang="en-US" altLang="en-US" sz="2000">
                            <a:latin typeface="Arial" panose="020B0604020202020204" pitchFamily="34" charset="0"/>
                            <a:cs typeface="Arial" panose="020B0604020202020204" pitchFamily="34" charset="0"/>
                          </a:rPr>
                          <m:t>Fund</m:t>
                        </m:r>
                        <m:r>
                          <m:rPr>
                            <m:nor/>
                          </m:rPr>
                          <a:rPr lang="en-US" altLang="en-US" sz="2000" dirty="0">
                            <a:latin typeface="Arial" panose="020B0604020202020204" pitchFamily="34" charset="0"/>
                            <a:cs typeface="Arial" panose="020B0604020202020204" pitchFamily="34" charset="0"/>
                          </a:rPr>
                          <m:t> </m:t>
                        </m:r>
                      </m:num>
                      <m:den>
                        <m:sSup>
                          <m:sSupPr>
                            <m:ctrlPr>
                              <a:rPr lang="en-US" altLang="en-US" sz="2000" i="1" dirty="0">
                                <a:latin typeface="Cambria Math" panose="02040503050406030204" pitchFamily="18" charset="0"/>
                              </a:rPr>
                            </m:ctrlPr>
                          </m:sSupPr>
                          <m:e>
                            <m:r>
                              <m:rPr>
                                <m:nor/>
                              </m:rPr>
                              <a:rPr lang="en-US" altLang="en-US" sz="2000">
                                <a:latin typeface="Arial" panose="020B0604020202020204" pitchFamily="34" charset="0"/>
                                <a:cs typeface="Arial" panose="020B0604020202020204" pitchFamily="34" charset="0"/>
                              </a:rPr>
                              <m:t>Total</m:t>
                            </m:r>
                            <m:r>
                              <m:rPr>
                                <m:nor/>
                              </m:rPr>
                              <a:rPr lang="en-US" altLang="en-US" sz="2000">
                                <a:latin typeface="Arial" panose="020B0604020202020204" pitchFamily="34" charset="0"/>
                                <a:cs typeface="Arial" panose="020B0604020202020204" pitchFamily="34" charset="0"/>
                              </a:rPr>
                              <m:t> </m:t>
                            </m:r>
                            <m:r>
                              <m:rPr>
                                <m:nor/>
                              </m:rPr>
                              <a:rPr lang="en-US" altLang="en-US" sz="2000">
                                <a:latin typeface="Arial" panose="020B0604020202020204" pitchFamily="34" charset="0"/>
                                <a:cs typeface="Arial" panose="020B0604020202020204" pitchFamily="34" charset="0"/>
                              </a:rPr>
                              <m:t>capital</m:t>
                            </m:r>
                            <m:r>
                              <m:rPr>
                                <m:nor/>
                              </m:rPr>
                              <a:rPr lang="en-US" altLang="en-US" sz="2000">
                                <a:latin typeface="Arial" panose="020B0604020202020204" pitchFamily="34" charset="0"/>
                                <a:cs typeface="Arial" panose="020B0604020202020204" pitchFamily="34" charset="0"/>
                              </a:rPr>
                              <m:t> </m:t>
                            </m:r>
                            <m:r>
                              <m:rPr>
                                <m:nor/>
                              </m:rPr>
                              <a:rPr lang="en-US" altLang="en-US" sz="2000">
                                <a:latin typeface="Arial" panose="020B0604020202020204" pitchFamily="34" charset="0"/>
                                <a:cs typeface="Arial" panose="020B0604020202020204" pitchFamily="34" charset="0"/>
                              </a:rPr>
                              <m:t>employed</m:t>
                            </m:r>
                            <m:r>
                              <m:rPr>
                                <m:nor/>
                              </m:rPr>
                              <a:rPr lang="en-US" altLang="en-US" sz="2000">
                                <a:latin typeface="Arial" panose="020B0604020202020204" pitchFamily="34" charset="0"/>
                                <a:cs typeface="Arial" panose="020B0604020202020204" pitchFamily="34" charset="0"/>
                              </a:rPr>
                              <m:t> </m:t>
                            </m:r>
                            <m:r>
                              <m:rPr>
                                <m:nor/>
                              </m:rPr>
                              <a:rPr lang="en-US" altLang="en-US" sz="2000">
                                <a:latin typeface="Arial" panose="020B0604020202020204" pitchFamily="34" charset="0"/>
                                <a:cs typeface="Arial" panose="020B0604020202020204" pitchFamily="34" charset="0"/>
                              </a:rPr>
                              <m:t>or</m:t>
                            </m:r>
                            <m:r>
                              <m:rPr>
                                <m:nor/>
                              </m:rPr>
                              <a:rPr lang="en-US" altLang="en-US" sz="2000">
                                <a:latin typeface="Arial" panose="020B0604020202020204" pitchFamily="34" charset="0"/>
                                <a:cs typeface="Arial" panose="020B0604020202020204" pitchFamily="34" charset="0"/>
                              </a:rPr>
                              <m:t> </m:t>
                            </m:r>
                            <m:r>
                              <m:rPr>
                                <m:nor/>
                              </m:rPr>
                              <a:rPr lang="en-US" altLang="en-US" sz="2000">
                                <a:latin typeface="Arial" panose="020B0604020202020204" pitchFamily="34" charset="0"/>
                                <a:cs typeface="Arial" panose="020B0604020202020204" pitchFamily="34" charset="0"/>
                              </a:rPr>
                              <m:t>net</m:t>
                            </m:r>
                            <m:r>
                              <m:rPr>
                                <m:nor/>
                              </m:rPr>
                              <a:rPr lang="en-US" altLang="en-US" sz="2000">
                                <a:latin typeface="Arial" panose="020B0604020202020204" pitchFamily="34" charset="0"/>
                                <a:cs typeface="Arial" panose="020B0604020202020204" pitchFamily="34" charset="0"/>
                              </a:rPr>
                              <m:t> </m:t>
                            </m:r>
                            <m:r>
                              <m:rPr>
                                <m:nor/>
                              </m:rPr>
                              <a:rPr lang="en-US" altLang="en-US" sz="2000">
                                <a:latin typeface="Arial" panose="020B0604020202020204" pitchFamily="34" charset="0"/>
                                <a:cs typeface="Arial" panose="020B0604020202020204" pitchFamily="34" charset="0"/>
                              </a:rPr>
                              <m:t>assets</m:t>
                            </m:r>
                          </m:e>
                          <m:sup>
                            <m:r>
                              <a:rPr lang="en-US" altLang="en-US" sz="2000" dirty="0">
                                <a:latin typeface="Cambria Math" panose="02040503050406030204" pitchFamily="18" charset="0"/>
                              </a:rPr>
                              <m:t> </m:t>
                            </m:r>
                          </m:sup>
                        </m:sSup>
                      </m:den>
                    </m:f>
                  </m:oMath>
                </a14:m>
                <a:endParaRPr lang="en-US" altLang="en-US" sz="2000" dirty="0">
                  <a:latin typeface="Arial" panose="020B0604020202020204" pitchFamily="34" charset="0"/>
                  <a:cs typeface="Arial" panose="020B0604020202020204" pitchFamily="34" charset="0"/>
                </a:endParaRPr>
              </a:p>
              <a:p>
                <a:pPr marL="619125" indent="-619125" algn="just" eaLnBrk="1" hangingPunct="1">
                  <a:lnSpc>
                    <a:spcPct val="150000"/>
                  </a:lnSpc>
                  <a:buSzPct val="85000"/>
                  <a:buNone/>
                </a:pPr>
                <a:r>
                  <a:rPr lang="en-US" altLang="en-US" sz="2000" dirty="0">
                    <a:latin typeface="Arial" panose="020B0604020202020204" pitchFamily="34" charset="0"/>
                    <a:cs typeface="Arial" panose="020B0604020202020204" pitchFamily="34" charset="0"/>
                  </a:rPr>
                  <a:t>	</a:t>
                </a:r>
              </a:p>
              <a:p>
                <a:pPr algn="just">
                  <a:lnSpc>
                    <a:spcPct val="150000"/>
                  </a:lnSpc>
                  <a:buSzPct val="85000"/>
                </a:pPr>
                <a:r>
                  <a:rPr lang="en-US" sz="2000" dirty="0">
                    <a:latin typeface="Arial" panose="020B0604020202020204" pitchFamily="34" charset="0"/>
                    <a:cs typeface="Arial" panose="020B0604020202020204" pitchFamily="34" charset="0"/>
                  </a:rPr>
                  <a:t> A higher proportion of shareholders’ funds in financing the assets is a positive feature as it provides security to creditors. </a:t>
                </a:r>
              </a:p>
              <a:p>
                <a:pPr algn="just">
                  <a:lnSpc>
                    <a:spcPct val="150000"/>
                  </a:lnSpc>
                  <a:buSzPct val="85000"/>
                </a:pPr>
                <a:r>
                  <a:rPr lang="en-US" sz="2000" dirty="0">
                    <a:latin typeface="Arial" panose="020B0604020202020204" pitchFamily="34" charset="0"/>
                    <a:cs typeface="Arial" panose="020B0604020202020204" pitchFamily="34" charset="0"/>
                  </a:rPr>
                  <a:t>This ratio can also be computed in relation to total assets instead of net assets (capital employed).</a:t>
                </a:r>
              </a:p>
              <a:p>
                <a:pPr algn="just">
                  <a:lnSpc>
                    <a:spcPct val="150000"/>
                  </a:lnSpc>
                  <a:buSzPct val="85000"/>
                </a:pPr>
                <a:r>
                  <a:rPr lang="en-US" altLang="en-US" sz="2000" dirty="0">
                    <a:latin typeface="Arial" panose="020B0604020202020204" pitchFamily="34" charset="0"/>
                    <a:cs typeface="Arial" panose="020B0604020202020204" pitchFamily="34" charset="0"/>
                  </a:rPr>
                  <a:t>The ratio will be 100% when there is no Borrowing for purchasing of Assets.</a:t>
                </a:r>
              </a:p>
              <a:p>
                <a:pPr marL="619125" indent="-619125" algn="just">
                  <a:lnSpc>
                    <a:spcPct val="150000"/>
                  </a:lnSpc>
                  <a:buSzPct val="85000"/>
                </a:pP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1999" y="921483"/>
                <a:ext cx="10245969" cy="4495800"/>
              </a:xfrm>
              <a:blipFill>
                <a:blip r:embed="rId2"/>
                <a:stretch>
                  <a:fillRect l="-595" r="-595"/>
                </a:stretch>
              </a:blipFill>
            </p:spPr>
            <p:txBody>
              <a:bodyPr/>
              <a:lstStyle/>
              <a:p>
                <a:r>
                  <a:rPr lang="en-IN">
                    <a:noFill/>
                  </a:rPr>
                  <a:t> </a:t>
                </a:r>
              </a:p>
            </p:txBody>
          </p:sp>
        </mc:Fallback>
      </mc:AlternateContent>
      <p:sp>
        <p:nvSpPr>
          <p:cNvPr id="5" name="Rectangle 4">
            <a:extLst>
              <a:ext uri="{FF2B5EF4-FFF2-40B4-BE49-F238E27FC236}">
                <a16:creationId xmlns:a16="http://schemas.microsoft.com/office/drawing/2014/main" id="{BE1A41B2-4FE1-CE67-2CBE-9DA2F8A9A46C}"/>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Solvency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AA221E1-8F7F-DAC9-D5D8-ABFEB5544136}"/>
              </a:ext>
            </a:extLst>
          </p:cNvPr>
          <p:cNvPicPr>
            <a:picLocks noChangeAspect="1"/>
          </p:cNvPicPr>
          <p:nvPr/>
        </p:nvPicPr>
        <p:blipFill>
          <a:blip r:embed="rId3"/>
          <a:stretch>
            <a:fillRect/>
          </a:stretch>
        </p:blipFill>
        <p:spPr>
          <a:xfrm>
            <a:off x="11122800" y="45904"/>
            <a:ext cx="966091" cy="887302"/>
          </a:xfrm>
          <a:prstGeom prst="rect">
            <a:avLst/>
          </a:prstGeom>
        </p:spPr>
      </p:pic>
    </p:spTree>
    <p:extLst>
      <p:ext uri="{BB962C8B-B14F-4D97-AF65-F5344CB8AC3E}">
        <p14:creationId xmlns:p14="http://schemas.microsoft.com/office/powerpoint/2010/main" val="3724874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74431" y="714635"/>
                <a:ext cx="6934200" cy="5105400"/>
              </a:xfrm>
            </p:spPr>
            <p:txBody>
              <a:bodyPr>
                <a:noAutofit/>
              </a:bodyPr>
              <a:lstStyle/>
              <a:p>
                <a:pPr marL="0" indent="0">
                  <a:lnSpc>
                    <a:spcPct val="150000"/>
                  </a:lnSpc>
                  <a:buSzPct val="85000"/>
                  <a:buNone/>
                </a:pPr>
                <a:r>
                  <a:rPr lang="en-IN" altLang="en-US" sz="2000" b="1" dirty="0">
                    <a:cs typeface="Arial" panose="020B0604020202020204" pitchFamily="34" charset="0"/>
                  </a:rPr>
                  <a:t> </a:t>
                </a:r>
                <a14:m>
                  <m:oMath xmlns:m="http://schemas.openxmlformats.org/officeDocument/2006/math">
                    <m:r>
                      <m:rPr>
                        <m:nor/>
                      </m:rPr>
                      <a:rPr lang="en-IN" altLang="en-US" sz="2000" b="1" i="0" dirty="0" smtClean="0">
                        <a:latin typeface="Arial" panose="020B0604020202020204" pitchFamily="34" charset="0"/>
                        <a:cs typeface="Arial" panose="020B0604020202020204" pitchFamily="34" charset="0"/>
                      </a:rPr>
                      <m:t>      4. </m:t>
                    </m:r>
                    <m:r>
                      <m:rPr>
                        <m:nor/>
                      </m:rPr>
                      <a:rPr lang="en-US" altLang="en-US" sz="2000" b="1" i="0" dirty="0" smtClean="0">
                        <a:latin typeface="Arial" panose="020B0604020202020204" pitchFamily="34" charset="0"/>
                        <a:cs typeface="Arial" panose="020B0604020202020204" pitchFamily="34" charset="0"/>
                      </a:rPr>
                      <m:t>Interest</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Covera</m:t>
                    </m:r>
                    <m:r>
                      <m:rPr>
                        <m:nor/>
                      </m:rPr>
                      <a:rPr lang="en-US" altLang="en-US" sz="2000" b="1" dirty="0" smtClean="0">
                        <a:latin typeface="Arial" panose="020B0604020202020204" pitchFamily="34" charset="0"/>
                        <a:cs typeface="Arial" panose="020B0604020202020204" pitchFamily="34" charset="0"/>
                      </a:rPr>
                      <m:t>ge</m:t>
                    </m:r>
                    <m:r>
                      <m:rPr>
                        <m:nor/>
                      </m:rPr>
                      <a:rPr lang="en-US" altLang="en-US" sz="2000" b="1" dirty="0" smtClean="0">
                        <a:latin typeface="Arial" panose="020B0604020202020204" pitchFamily="34" charset="0"/>
                        <a:cs typeface="Arial" panose="020B0604020202020204" pitchFamily="34" charset="0"/>
                      </a:rPr>
                      <m:t> </m:t>
                    </m:r>
                    <m:r>
                      <m:rPr>
                        <m:nor/>
                      </m:rPr>
                      <a:rPr lang="en-US" altLang="en-US" sz="2000" b="1" dirty="0" smtClean="0">
                        <a:latin typeface="Arial" panose="020B0604020202020204" pitchFamily="34" charset="0"/>
                        <a:cs typeface="Arial" panose="020B0604020202020204" pitchFamily="34" charset="0"/>
                      </a:rPr>
                      <m:t>ratios</m:t>
                    </m:r>
                    <m:r>
                      <a:rPr lang="en-US" altLang="en-US" sz="2000" i="1" smtClean="0">
                        <a:latin typeface="Cambria Math" panose="02040503050406030204" pitchFamily="18" charset="0"/>
                      </a:rPr>
                      <m:t>=</m:t>
                    </m:r>
                    <m:f>
                      <m:fPr>
                        <m:ctrlPr>
                          <a:rPr lang="en-US" altLang="en-US" sz="2000" i="1" smtClean="0">
                            <a:latin typeface="Cambria Math" panose="02040503050406030204" pitchFamily="18" charset="0"/>
                          </a:rPr>
                        </m:ctrlPr>
                      </m:fPr>
                      <m:num>
                        <m:r>
                          <m:rPr>
                            <m:nor/>
                          </m:rPr>
                          <a:rPr lang="en-US" altLang="en-US" sz="2000" dirty="0">
                            <a:latin typeface="Arial" panose="020B0604020202020204" pitchFamily="34" charset="0"/>
                            <a:cs typeface="Arial" panose="020B0604020202020204" pitchFamily="34" charset="0"/>
                          </a:rPr>
                          <m:t>EBIT</m:t>
                        </m:r>
                      </m:num>
                      <m:den>
                        <m:r>
                          <m:rPr>
                            <m:nor/>
                          </m:rPr>
                          <a:rPr lang="en-US" altLang="en-US" sz="2000" dirty="0">
                            <a:latin typeface="Arial" panose="020B0604020202020204" pitchFamily="34" charset="0"/>
                            <a:cs typeface="Arial" panose="020B0604020202020204" pitchFamily="34" charset="0"/>
                          </a:rPr>
                          <m:t>Interest</m:t>
                        </m:r>
                        <m:r>
                          <m:rPr>
                            <m:nor/>
                          </m:rPr>
                          <a:rPr lang="en-US" altLang="en-US" sz="2000" dirty="0">
                            <a:latin typeface="Arial" panose="020B0604020202020204" pitchFamily="34" charset="0"/>
                            <a:cs typeface="Arial" panose="020B0604020202020204" pitchFamily="34" charset="0"/>
                          </a:rPr>
                          <m:t> </m:t>
                        </m:r>
                      </m:den>
                    </m:f>
                  </m:oMath>
                </a14:m>
                <a:endParaRPr lang="en-US" altLang="en-US" sz="2000" dirty="0">
                  <a:latin typeface="Arial" panose="020B0604020202020204" pitchFamily="34" charset="0"/>
                  <a:cs typeface="Arial" panose="020B0604020202020204" pitchFamily="34" charset="0"/>
                </a:endParaRPr>
              </a:p>
              <a:p>
                <a:pPr algn="just">
                  <a:lnSpc>
                    <a:spcPct val="150000"/>
                  </a:lnSpc>
                  <a:buSzPct val="85000"/>
                </a:pPr>
                <a:r>
                  <a:rPr lang="en-US" altLang="en-US" sz="2000" dirty="0">
                    <a:latin typeface="Arial" panose="020B0604020202020204" pitchFamily="34" charset="0"/>
                    <a:cs typeface="Arial" panose="020B0604020202020204" pitchFamily="34" charset="0"/>
                  </a:rPr>
                  <a:t>This ratio indicates the extent to which earnings may fall without causing any embarrassment to the company regarding the payment of interest charges.</a:t>
                </a:r>
              </a:p>
              <a:p>
                <a:pPr algn="just">
                  <a:lnSpc>
                    <a:spcPct val="150000"/>
                  </a:lnSpc>
                  <a:buSzPct val="85000"/>
                </a:pPr>
                <a:r>
                  <a:rPr lang="en-US" altLang="en-US" sz="2000" dirty="0">
                    <a:latin typeface="Arial" panose="020B0604020202020204" pitchFamily="34" charset="0"/>
                    <a:cs typeface="Arial" panose="020B0604020202020204" pitchFamily="34" charset="0"/>
                  </a:rPr>
                  <a:t>A high ratio means that an enterprise can easily meet its interest obligation even if EBIT suffers a considerable decline. </a:t>
                </a:r>
              </a:p>
              <a:p>
                <a:pPr algn="just">
                  <a:lnSpc>
                    <a:spcPct val="150000"/>
                  </a:lnSpc>
                  <a:buSzPct val="85000"/>
                </a:pPr>
                <a:r>
                  <a:rPr lang="en-US" altLang="en-US" sz="2000" dirty="0">
                    <a:latin typeface="Arial" panose="020B0604020202020204" pitchFamily="34" charset="0"/>
                    <a:cs typeface="Arial" panose="020B0604020202020204" pitchFamily="34" charset="0"/>
                  </a:rPr>
                  <a:t>A lower ratio indicates excessive use of debt or inefficient operations. </a:t>
                </a:r>
              </a:p>
              <a:p>
                <a:pPr marL="619125" indent="-619125" algn="just" eaLnBrk="1" hangingPunct="1">
                  <a:lnSpc>
                    <a:spcPct val="150000"/>
                  </a:lnSpc>
                  <a:buSzPct val="85000"/>
                  <a:buNone/>
                </a:pPr>
                <a:endParaRPr lang="en-US" altLang="en-US" sz="2000" dirty="0">
                  <a:latin typeface="Arial" panose="020B0604020202020204" pitchFamily="34" charset="0"/>
                  <a:cs typeface="Arial" panose="020B0604020202020204" pitchFamily="34" charset="0"/>
                </a:endParaRPr>
              </a:p>
              <a:p>
                <a:pPr marL="619125" indent="-619125" algn="just">
                  <a:lnSpc>
                    <a:spcPct val="150000"/>
                  </a:lnSpc>
                  <a:buSzPct val="85000"/>
                  <a:buNone/>
                </a:pPr>
                <a:endParaRPr lang="en-US" altLang="en-US" sz="2000" dirty="0">
                  <a:latin typeface="Arial" panose="020B0604020202020204" pitchFamily="34" charset="0"/>
                  <a:cs typeface="Arial" panose="020B0604020202020204" pitchFamily="34" charset="0"/>
                </a:endParaRPr>
              </a:p>
              <a:p>
                <a:pPr marL="619125" indent="-619125" algn="just">
                  <a:lnSpc>
                    <a:spcPct val="150000"/>
                  </a:lnSpc>
                  <a:buSzPct val="85000"/>
                  <a:buNone/>
                </a:pPr>
                <a:r>
                  <a:rPr lang="en-US" altLang="en-US" sz="2000" dirty="0">
                    <a:latin typeface="Arial" panose="020B0604020202020204" pitchFamily="34" charset="0"/>
                    <a:cs typeface="Arial" panose="020B0604020202020204" pitchFamily="34"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74431" y="714635"/>
                <a:ext cx="6934200" cy="5105400"/>
              </a:xfrm>
              <a:blipFill>
                <a:blip r:embed="rId2"/>
                <a:stretch>
                  <a:fillRect l="-439" r="-879"/>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B8802EAE-5E93-0904-F23B-ABFA05080D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800" y="2519363"/>
            <a:ext cx="4648200" cy="2738437"/>
          </a:xfrm>
          <a:prstGeom prst="rect">
            <a:avLst/>
          </a:prstGeom>
        </p:spPr>
      </p:pic>
      <p:sp>
        <p:nvSpPr>
          <p:cNvPr id="5" name="Rectangle 4">
            <a:extLst>
              <a:ext uri="{FF2B5EF4-FFF2-40B4-BE49-F238E27FC236}">
                <a16:creationId xmlns:a16="http://schemas.microsoft.com/office/drawing/2014/main" id="{4A7F846F-C2BC-85D3-5CA4-3E3E8907391A}"/>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Solvency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206B052-7F24-27C6-D486-BA4F760DAE9E}"/>
              </a:ext>
            </a:extLst>
          </p:cNvPr>
          <p:cNvPicPr>
            <a:picLocks noChangeAspect="1"/>
          </p:cNvPicPr>
          <p:nvPr/>
        </p:nvPicPr>
        <p:blipFill>
          <a:blip r:embed="rId4"/>
          <a:stretch>
            <a:fillRect/>
          </a:stretch>
        </p:blipFill>
        <p:spPr>
          <a:xfrm>
            <a:off x="11122800" y="45904"/>
            <a:ext cx="966091" cy="887302"/>
          </a:xfrm>
          <a:prstGeom prst="rect">
            <a:avLst/>
          </a:prstGeom>
        </p:spPr>
      </p:pic>
    </p:spTree>
    <p:extLst>
      <p:ext uri="{BB962C8B-B14F-4D97-AF65-F5344CB8AC3E}">
        <p14:creationId xmlns:p14="http://schemas.microsoft.com/office/powerpoint/2010/main" val="2350988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1219200"/>
                <a:ext cx="8311662" cy="4648200"/>
              </a:xfrm>
            </p:spPr>
            <p:txBody>
              <a:bodyPr>
                <a:noAutofit/>
              </a:bodyPr>
              <a:lstStyle/>
              <a:p>
                <a:pPr marL="0" indent="0" algn="just">
                  <a:lnSpc>
                    <a:spcPct val="150000"/>
                  </a:lnSpc>
                  <a:buSzPct val="85000"/>
                  <a:buNone/>
                </a:pPr>
                <a14:m>
                  <m:oMathPara xmlns:m="http://schemas.openxmlformats.org/officeDocument/2006/math">
                    <m:oMathParaPr>
                      <m:jc m:val="left"/>
                    </m:oMathParaPr>
                    <m:oMath xmlns:m="http://schemas.openxmlformats.org/officeDocument/2006/math">
                      <m:r>
                        <m:rPr>
                          <m:nor/>
                        </m:rPr>
                        <a:rPr lang="en-IN" altLang="en-US" sz="2000" b="1" i="0" dirty="0" smtClean="0">
                          <a:latin typeface="Arial" panose="020B0604020202020204" pitchFamily="34" charset="0"/>
                          <a:cs typeface="Arial" panose="020B0604020202020204" pitchFamily="34" charset="0"/>
                        </a:rPr>
                        <m:t>5. </m:t>
                      </m:r>
                      <m:r>
                        <m:rPr>
                          <m:nor/>
                        </m:rPr>
                        <a:rPr lang="en-US" altLang="en-US" sz="2000" b="1" dirty="0">
                          <a:latin typeface="Arial" panose="020B0604020202020204" pitchFamily="34" charset="0"/>
                          <a:cs typeface="Arial" panose="020B0604020202020204" pitchFamily="34" charset="0"/>
                        </a:rPr>
                        <m:t>Debt</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Service</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Coverage</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i="1" smtClean="0">
                          <a:latin typeface="Cambria Math" panose="02040503050406030204" pitchFamily="18" charset="0"/>
                        </a:rPr>
                        <m:t>=</m:t>
                      </m:r>
                      <m:f>
                        <m:fPr>
                          <m:ctrlPr>
                            <a:rPr lang="en-US" altLang="en-US" sz="2000" i="1" smtClean="0">
                              <a:latin typeface="Cambria Math" panose="02040503050406030204" pitchFamily="18" charset="0"/>
                            </a:rPr>
                          </m:ctrlPr>
                        </m:fPr>
                        <m:num>
                          <m:r>
                            <m:rPr>
                              <m:nor/>
                            </m:rPr>
                            <a:rPr lang="en-US" altLang="en-US" sz="2000" dirty="0">
                              <a:latin typeface="Arial" panose="020B0604020202020204" pitchFamily="34" charset="0"/>
                              <a:cs typeface="Arial" panose="020B0604020202020204" pitchFamily="34" charset="0"/>
                            </a:rPr>
                            <m:t>Earnings</m:t>
                          </m:r>
                          <m:r>
                            <m:rPr>
                              <m:nor/>
                            </m:rPr>
                            <a:rPr lang="en-US" altLang="en-US" sz="2000" dirty="0">
                              <a:latin typeface="Arial" panose="020B0604020202020204" pitchFamily="34" charset="0"/>
                              <a:cs typeface="Arial" panose="020B0604020202020204" pitchFamily="34" charset="0"/>
                            </a:rPr>
                            <m:t> </m:t>
                          </m:r>
                          <m:r>
                            <m:rPr>
                              <m:nor/>
                            </m:rPr>
                            <a:rPr lang="en-US" altLang="en-US" sz="2000" b="0" i="0" dirty="0" smtClean="0">
                              <a:latin typeface="Arial" panose="020B0604020202020204" pitchFamily="34" charset="0"/>
                              <a:cs typeface="Arial" panose="020B0604020202020204" pitchFamily="34" charset="0"/>
                            </a:rPr>
                            <m:t>Before</m:t>
                          </m:r>
                          <m:r>
                            <m:rPr>
                              <m:nor/>
                            </m:rPr>
                            <a:rPr lang="en-US" altLang="en-US" sz="2000" b="0" i="0" dirty="0" smtClean="0">
                              <a:latin typeface="Arial" panose="020B0604020202020204" pitchFamily="34" charset="0"/>
                              <a:cs typeface="Arial" panose="020B0604020202020204" pitchFamily="34" charset="0"/>
                            </a:rPr>
                            <m:t> </m:t>
                          </m:r>
                          <m:r>
                            <m:rPr>
                              <m:nor/>
                            </m:rPr>
                            <a:rPr lang="en-US" altLang="en-US" sz="2000" b="0" i="0" dirty="0" smtClean="0">
                              <a:latin typeface="Arial" panose="020B0604020202020204" pitchFamily="34" charset="0"/>
                              <a:cs typeface="Arial" panose="020B0604020202020204" pitchFamily="34" charset="0"/>
                            </a:rPr>
                            <m:t>Interest</m:t>
                          </m:r>
                          <m:r>
                            <m:rPr>
                              <m:nor/>
                            </m:rPr>
                            <a:rPr lang="en-US" altLang="en-US" sz="2000" b="0" i="0" dirty="0" smtClean="0">
                              <a:latin typeface="Arial" panose="020B0604020202020204" pitchFamily="34" charset="0"/>
                              <a:cs typeface="Arial" panose="020B0604020202020204" pitchFamily="34" charset="0"/>
                            </a:rPr>
                            <m:t> </m:t>
                          </m:r>
                          <m:r>
                            <m:rPr>
                              <m:nor/>
                            </m:rPr>
                            <a:rPr lang="en-US" altLang="en-US" sz="2000" b="0" i="0" dirty="0" smtClean="0">
                              <a:latin typeface="Arial" panose="020B0604020202020204" pitchFamily="34" charset="0"/>
                              <a:cs typeface="Arial" panose="020B0604020202020204" pitchFamily="34" charset="0"/>
                            </a:rPr>
                            <m:t>and</m:t>
                          </m:r>
                          <m:r>
                            <m:rPr>
                              <m:nor/>
                            </m:rPr>
                            <a:rPr lang="en-US" altLang="en-US" sz="2000" b="0" i="0" dirty="0" smtClean="0">
                              <a:latin typeface="Arial" panose="020B0604020202020204" pitchFamily="34" charset="0"/>
                              <a:cs typeface="Arial" panose="020B0604020202020204" pitchFamily="34" charset="0"/>
                            </a:rPr>
                            <m:t> </m:t>
                          </m:r>
                          <m:r>
                            <m:rPr>
                              <m:nor/>
                            </m:rPr>
                            <a:rPr lang="en-US" altLang="en-US" sz="2000" b="0" i="0" dirty="0" smtClean="0">
                              <a:latin typeface="Arial" panose="020B0604020202020204" pitchFamily="34" charset="0"/>
                              <a:cs typeface="Arial" panose="020B0604020202020204" pitchFamily="34" charset="0"/>
                            </a:rPr>
                            <m:t>Taxes</m:t>
                          </m:r>
                        </m:num>
                        <m:den>
                          <m:r>
                            <m:rPr>
                              <m:nor/>
                            </m:rPr>
                            <a:rPr lang="en-US" altLang="en-US" sz="2000" dirty="0">
                              <a:latin typeface="Arial" panose="020B0604020202020204" pitchFamily="34" charset="0"/>
                              <a:cs typeface="Arial" panose="020B0604020202020204" pitchFamily="34" charset="0"/>
                            </a:rPr>
                            <m:t>Interest</m:t>
                          </m:r>
                          <m:r>
                            <m:rPr>
                              <m:nor/>
                            </m:rPr>
                            <a:rPr lang="en-US" altLang="en-US" sz="2000" dirty="0">
                              <a:latin typeface="Arial" panose="020B0604020202020204" pitchFamily="34" charset="0"/>
                              <a:cs typeface="Arial" panose="020B0604020202020204" pitchFamily="34" charset="0"/>
                            </a:rPr>
                            <m:t> + </m:t>
                          </m:r>
                          <m:r>
                            <m:rPr>
                              <m:nor/>
                            </m:rPr>
                            <a:rPr lang="en-US" altLang="en-US" sz="2000" dirty="0">
                              <a:latin typeface="Arial" panose="020B0604020202020204" pitchFamily="34" charset="0"/>
                              <a:cs typeface="Arial" panose="020B0604020202020204" pitchFamily="34" charset="0"/>
                            </a:rPr>
                            <m:t>Installments</m:t>
                          </m:r>
                        </m:den>
                      </m:f>
                    </m:oMath>
                  </m:oMathPara>
                </a14:m>
                <a:endParaRPr lang="en-US" altLang="en-US" sz="2000" dirty="0">
                  <a:latin typeface="Arial" panose="020B0604020202020204" pitchFamily="34" charset="0"/>
                  <a:cs typeface="Arial" panose="020B0604020202020204" pitchFamily="34" charset="0"/>
                </a:endParaRPr>
              </a:p>
              <a:p>
                <a:pPr algn="just">
                  <a:lnSpc>
                    <a:spcPct val="150000"/>
                  </a:lnSpc>
                  <a:buSzPct val="85000"/>
                </a:pPr>
                <a:r>
                  <a:rPr lang="en-US" altLang="en-US" sz="2000" dirty="0">
                    <a:latin typeface="Arial" panose="020B0604020202020204" pitchFamily="34" charset="0"/>
                    <a:cs typeface="Arial" panose="020B0604020202020204" pitchFamily="34" charset="0"/>
                  </a:rPr>
                  <a:t>It indicates whether the business is earning sufficient profits to pay not only the interest charges, but also the installments due to the ‘principal’ amount. </a:t>
                </a:r>
              </a:p>
              <a:p>
                <a:pPr algn="just">
                  <a:lnSpc>
                    <a:spcPct val="150000"/>
                  </a:lnSpc>
                  <a:buSzPct val="85000"/>
                </a:pPr>
                <a:r>
                  <a:rPr lang="en-US" altLang="en-US" sz="2000" dirty="0">
                    <a:latin typeface="Arial" panose="020B0604020202020204" pitchFamily="34" charset="0"/>
                    <a:cs typeface="Arial" panose="020B0604020202020204" pitchFamily="34" charset="0"/>
                  </a:rPr>
                  <a:t>This ratio is widely used by banks for analyzing profitability of a project before financing it.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1219200"/>
                <a:ext cx="8311662" cy="4648200"/>
              </a:xfrm>
              <a:blipFill>
                <a:blip r:embed="rId2"/>
                <a:stretch>
                  <a:fillRect l="-367" r="-734"/>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4CD4499D-3879-F728-2560-271491630A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0646" y="4210050"/>
            <a:ext cx="4138245" cy="2602046"/>
          </a:xfrm>
          <a:prstGeom prst="rect">
            <a:avLst/>
          </a:prstGeom>
        </p:spPr>
      </p:pic>
      <p:pic>
        <p:nvPicPr>
          <p:cNvPr id="7" name="Picture 6">
            <a:extLst>
              <a:ext uri="{FF2B5EF4-FFF2-40B4-BE49-F238E27FC236}">
                <a16:creationId xmlns:a16="http://schemas.microsoft.com/office/drawing/2014/main" id="{D99DC4D2-A09D-8547-4A31-801437482DCC}"/>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1A116F68-01DA-6E66-1E1A-7A122814F4C8}"/>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Solvency Ratios</a:t>
            </a:r>
            <a:endParaRPr lang="en-IN"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4532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8968A2-B806-4B6C-B2B7-071063EBA7EE}"/>
              </a:ext>
            </a:extLst>
          </p:cNvPr>
          <p:cNvPicPr>
            <a:picLocks noChangeAspect="1"/>
          </p:cNvPicPr>
          <p:nvPr/>
        </p:nvPicPr>
        <p:blipFill>
          <a:blip r:embed="rId2"/>
          <a:stretch>
            <a:fillRect/>
          </a:stretch>
        </p:blipFill>
        <p:spPr>
          <a:xfrm>
            <a:off x="2971800" y="533400"/>
            <a:ext cx="6096000" cy="5410200"/>
          </a:xfrm>
          <a:prstGeom prst="rect">
            <a:avLst/>
          </a:prstGeom>
        </p:spPr>
      </p:pic>
    </p:spTree>
    <p:extLst>
      <p:ext uri="{BB962C8B-B14F-4D97-AF65-F5344CB8AC3E}">
        <p14:creationId xmlns:p14="http://schemas.microsoft.com/office/powerpoint/2010/main" val="1038882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7522" y="627185"/>
            <a:ext cx="7848600" cy="4678363"/>
          </a:xfrm>
        </p:spPr>
        <p:txBody>
          <a:bodyPr>
            <a:noAutofit/>
          </a:bodyPr>
          <a:lstStyle/>
          <a:p>
            <a:pPr algn="just">
              <a:lnSpc>
                <a:spcPct val="150000"/>
              </a:lnSpc>
            </a:pPr>
            <a:endParaRPr lang="en-US" sz="2000" dirty="0">
              <a:latin typeface="Arial" panose="020B0604020202020204" pitchFamily="34" charset="0"/>
              <a:cs typeface="Arial" panose="020B0604020202020204" pitchFamily="34" charset="0"/>
            </a:endParaRPr>
          </a:p>
          <a:p>
            <a:pPr algn="just">
              <a:lnSpc>
                <a:spcPct val="150000"/>
              </a:lnSpc>
            </a:pPr>
            <a:r>
              <a:rPr lang="en-US" sz="2000" dirty="0">
                <a:latin typeface="Arial" panose="020B0604020202020204" pitchFamily="34" charset="0"/>
                <a:cs typeface="Arial" panose="020B0604020202020204" pitchFamily="34" charset="0"/>
              </a:rPr>
              <a:t>These ratios are calculated based on </a:t>
            </a:r>
            <a:r>
              <a:rPr lang="en-US" sz="2000" b="1" dirty="0">
                <a:latin typeface="Arial" panose="020B0604020202020204" pitchFamily="34" charset="0"/>
                <a:cs typeface="Arial" panose="020B0604020202020204" pitchFamily="34" charset="0"/>
              </a:rPr>
              <a:t>'cost of sales' </a:t>
            </a:r>
            <a:r>
              <a:rPr lang="en-US" sz="2000" dirty="0">
                <a:latin typeface="Arial" panose="020B0604020202020204" pitchFamily="34" charset="0"/>
                <a:cs typeface="Arial" panose="020B0604020202020204" pitchFamily="34" charset="0"/>
              </a:rPr>
              <a:t>or ‘</a:t>
            </a:r>
            <a:r>
              <a:rPr lang="en-US" sz="2000" b="1" dirty="0">
                <a:latin typeface="Arial" panose="020B0604020202020204" pitchFamily="34" charset="0"/>
                <a:cs typeface="Arial" panose="020B0604020202020204" pitchFamily="34" charset="0"/>
              </a:rPr>
              <a:t>sales</a:t>
            </a:r>
            <a:r>
              <a:rPr lang="en-US" sz="2000" dirty="0">
                <a:latin typeface="Arial" panose="020B0604020202020204" pitchFamily="34" charset="0"/>
                <a:cs typeface="Arial" panose="020B0604020202020204" pitchFamily="34" charset="0"/>
              </a:rPr>
              <a:t>’; therefore, these ratios are also called 'Turnover Ratios’.</a:t>
            </a:r>
          </a:p>
          <a:p>
            <a:pPr algn="just">
              <a:lnSpc>
                <a:spcPct val="150000"/>
              </a:lnSpc>
            </a:pPr>
            <a:r>
              <a:rPr lang="en-US" sz="2000" dirty="0">
                <a:latin typeface="Arial" panose="020B0604020202020204" pitchFamily="34" charset="0"/>
                <a:cs typeface="Arial" panose="020B0604020202020204" pitchFamily="34" charset="0"/>
              </a:rPr>
              <a:t>Turnover indicates the speed or number of times the capital employed has been rotated in the process of doing business. </a:t>
            </a:r>
          </a:p>
          <a:p>
            <a:pPr algn="just">
              <a:lnSpc>
                <a:spcPct val="150000"/>
              </a:lnSpc>
            </a:pPr>
            <a:r>
              <a:rPr lang="en-US" sz="2000" dirty="0">
                <a:latin typeface="Arial" panose="020B0604020202020204" pitchFamily="34" charset="0"/>
                <a:cs typeface="Arial" panose="020B0604020202020204" pitchFamily="34" charset="0"/>
              </a:rPr>
              <a:t>In other words, these ratios indicate how efficiently the capital is being used to obtain sales; how efficiently the fixed assets are being used to obtain sales; and how efficiently the working capital and stock are being used to obtain sales. </a:t>
            </a:r>
          </a:p>
          <a:p>
            <a:pPr algn="just">
              <a:lnSpc>
                <a:spcPct val="150000"/>
              </a:lnSpc>
            </a:pPr>
            <a:r>
              <a:rPr lang="en-US" sz="2000" dirty="0">
                <a:latin typeface="Arial" panose="020B0604020202020204" pitchFamily="34" charset="0"/>
                <a:cs typeface="Arial" panose="020B0604020202020204" pitchFamily="34" charset="0"/>
              </a:rPr>
              <a:t>Higher turnover ratios indicate the better use of capital or resources and, in turn, lead to higher profitability. </a:t>
            </a:r>
          </a:p>
          <a:p>
            <a:pPr>
              <a:lnSpc>
                <a:spcPct val="150000"/>
              </a:lnSpc>
              <a:buNone/>
            </a:pP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8D10DBC-6762-37CE-DAFF-DCF985EAD8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9200" y="1319703"/>
            <a:ext cx="2971800" cy="3417947"/>
          </a:xfrm>
          <a:prstGeom prst="rect">
            <a:avLst/>
          </a:prstGeom>
        </p:spPr>
      </p:pic>
      <p:sp>
        <p:nvSpPr>
          <p:cNvPr id="5" name="Rectangle 4">
            <a:extLst>
              <a:ext uri="{FF2B5EF4-FFF2-40B4-BE49-F238E27FC236}">
                <a16:creationId xmlns:a16="http://schemas.microsoft.com/office/drawing/2014/main" id="{D66F8370-E132-93BE-678C-88B98FCD41F2}"/>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Activity Ratios</a:t>
            </a:r>
            <a:r>
              <a:rPr lang="en-IN" sz="2800" b="1" dirty="0">
                <a:solidFill>
                  <a:schemeClr val="tx1"/>
                </a:solidFill>
                <a:latin typeface="Arial" panose="020B0604020202020204" pitchFamily="34" charset="0"/>
                <a:cs typeface="Arial" panose="020B0604020202020204" pitchFamily="34" charset="0"/>
              </a:rPr>
              <a:t>  </a:t>
            </a:r>
          </a:p>
        </p:txBody>
      </p:sp>
      <p:pic>
        <p:nvPicPr>
          <p:cNvPr id="7" name="Picture 6">
            <a:extLst>
              <a:ext uri="{FF2B5EF4-FFF2-40B4-BE49-F238E27FC236}">
                <a16:creationId xmlns:a16="http://schemas.microsoft.com/office/drawing/2014/main" id="{71DC888D-93C7-3716-221B-52879F9100E4}"/>
              </a:ext>
            </a:extLst>
          </p:cNvPr>
          <p:cNvPicPr>
            <a:picLocks noChangeAspect="1"/>
          </p:cNvPicPr>
          <p:nvPr/>
        </p:nvPicPr>
        <p:blipFill>
          <a:blip r:embed="rId3"/>
          <a:stretch>
            <a:fillRect/>
          </a:stretch>
        </p:blipFill>
        <p:spPr>
          <a:xfrm>
            <a:off x="11122800" y="45904"/>
            <a:ext cx="966091" cy="88730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5269" y="838200"/>
            <a:ext cx="10521462" cy="5467594"/>
          </a:xfrm>
        </p:spPr>
        <p:txBody>
          <a:bodyPr>
            <a:normAutofit/>
          </a:bodyPr>
          <a:lstStyle/>
          <a:p>
            <a:pPr marL="0" indent="0">
              <a:lnSpc>
                <a:spcPct val="150000"/>
              </a:lnSpc>
              <a:buNone/>
            </a:pPr>
            <a:r>
              <a:rPr lang="en-US" sz="2000" b="1" dirty="0">
                <a:latin typeface="Arial" panose="020B0604020202020204" pitchFamily="34" charset="0"/>
                <a:cs typeface="Arial" panose="020B0604020202020204" pitchFamily="34" charset="0"/>
              </a:rPr>
              <a:t>Answer:</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Arial" panose="020B0604020202020204" pitchFamily="34" charset="0"/>
              </a:rPr>
              <a:t>Solvency ratios measure a company’s long-term ability to meet its debt obligations.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000" i="0" u="none" strike="noStrike" cap="none" normalizeH="0" baseline="0" dirty="0">
                <a:ln>
                  <a:noFill/>
                </a:ln>
                <a:solidFill>
                  <a:schemeClr val="tx1"/>
                </a:solidFill>
                <a:effectLst/>
                <a:latin typeface="Arial" panose="020B0604020202020204" pitchFamily="34" charset="0"/>
              </a:rPr>
              <a:t>Common solvency ratios include:</a:t>
            </a:r>
          </a:p>
          <a:p>
            <a:pPr algn="just">
              <a:lnSpc>
                <a:spcPct val="150000"/>
              </a:lnSpc>
              <a:buFont typeface="Wingdings" panose="05000000000000000000" pitchFamily="2" charset="2"/>
              <a:buChar char="§"/>
            </a:pPr>
            <a:r>
              <a:rPr kumimoji="0" lang="en-US" altLang="en-US" sz="2000" i="0" u="none" strike="noStrike" cap="none" normalizeH="0" baseline="0" dirty="0">
                <a:ln>
                  <a:noFill/>
                </a:ln>
                <a:solidFill>
                  <a:schemeClr val="tx1"/>
                </a:solidFill>
                <a:effectLst/>
                <a:latin typeface="Arial" panose="020B0604020202020204" pitchFamily="34" charset="0"/>
              </a:rPr>
              <a:t>Debt-to-Equity Ratio → How much debt the company has compared to its equity. Interest Coverage Ratio → How easily the company can pay interest on its debt.</a:t>
            </a:r>
          </a:p>
          <a:p>
            <a:pPr algn="just">
              <a:lnSpc>
                <a:spcPct val="150000"/>
              </a:lnSpc>
              <a:buFont typeface="Wingdings" panose="05000000000000000000" pitchFamily="2" charset="2"/>
              <a:buChar char="§"/>
            </a:pPr>
            <a:r>
              <a:rPr kumimoji="0" lang="en-US" altLang="en-US" sz="2000" i="0" u="none" strike="noStrike" cap="none" normalizeH="0" baseline="0" dirty="0">
                <a:ln>
                  <a:noFill/>
                </a:ln>
                <a:solidFill>
                  <a:schemeClr val="tx1"/>
                </a:solidFill>
                <a:effectLst/>
                <a:latin typeface="Arial" panose="020B0604020202020204" pitchFamily="34" charset="0"/>
              </a:rPr>
              <a:t> A ratio usually means the company is financially stable and can pay its long-term debts.</a:t>
            </a:r>
            <a:br>
              <a:rPr lang="en-US" sz="2000" dirty="0">
                <a:latin typeface="Arial" panose="020B0604020202020204" pitchFamily="34" charset="0"/>
                <a:cs typeface="Arial" panose="020B0604020202020204" pitchFamily="34" charset="0"/>
              </a:rPr>
            </a:br>
            <a:r>
              <a:rPr kumimoji="0" lang="en-US" altLang="en-US" sz="2000" i="0" u="none" strike="noStrike" cap="none" normalizeH="0" baseline="0" dirty="0">
                <a:ln>
                  <a:noFill/>
                </a:ln>
                <a:solidFill>
                  <a:schemeClr val="tx1"/>
                </a:solidFill>
                <a:effectLst/>
                <a:latin typeface="Arial" panose="020B0604020202020204" pitchFamily="34" charset="0"/>
              </a:rPr>
              <a:t>A low solvency ratio or very high debt levels might indicate financial risk or potential trouble, but it does not automatically mean bankruptcy is imminent — it just signals caution.</a:t>
            </a:r>
          </a:p>
          <a:p>
            <a:pPr>
              <a:lnSpc>
                <a:spcPct val="150000"/>
              </a:lnSpc>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4854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938" y="1154723"/>
            <a:ext cx="9144000" cy="3840164"/>
          </a:xfrm>
        </p:spPr>
        <p:txBody>
          <a:bodyPr>
            <a:noAutofit/>
          </a:bodyPr>
          <a:lstStyle/>
          <a:p>
            <a:pPr algn="just">
              <a:lnSpc>
                <a:spcPct val="150000"/>
              </a:lnSpc>
              <a:buNone/>
            </a:pPr>
            <a:r>
              <a:rPr lang="en-US" sz="2000" b="1" i="1" dirty="0">
                <a:latin typeface="Arial" panose="020B0604020202020204" pitchFamily="34" charset="0"/>
                <a:cs typeface="Arial" panose="020B0604020202020204" pitchFamily="34" charset="0"/>
              </a:rPr>
              <a:t>Activity ratios include the following:</a:t>
            </a:r>
          </a:p>
          <a:p>
            <a:pPr marL="457200" indent="-457200" algn="just">
              <a:lnSpc>
                <a:spcPct val="150000"/>
              </a:lnSpc>
              <a:buFont typeface="+mj-lt"/>
              <a:buAutoNum type="arabicPeriod"/>
            </a:pPr>
            <a:r>
              <a:rPr lang="en-US" sz="2000" dirty="0">
                <a:latin typeface="Arial" panose="020B0604020202020204" pitchFamily="34" charset="0"/>
                <a:cs typeface="Arial" panose="020B0604020202020204" pitchFamily="34" charset="0"/>
              </a:rPr>
              <a:t>Inventory Turnover Ratio </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Accounts receivables Turnover Ratio </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Accounts Payable Turnover Ratio</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Average payment Period</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Assets Turnover Ratio</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Working capital Turnover Ratio </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Investment Turnover Ratio</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0E3B78D-F6C7-40BD-06D0-060B966943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2043618"/>
            <a:ext cx="5410200" cy="3733800"/>
          </a:xfrm>
          <a:prstGeom prst="rect">
            <a:avLst/>
          </a:prstGeom>
        </p:spPr>
      </p:pic>
      <p:pic>
        <p:nvPicPr>
          <p:cNvPr id="8" name="Picture 7">
            <a:extLst>
              <a:ext uri="{FF2B5EF4-FFF2-40B4-BE49-F238E27FC236}">
                <a16:creationId xmlns:a16="http://schemas.microsoft.com/office/drawing/2014/main" id="{34907334-7A39-CE85-ADC1-1C7B0D1B0A52}"/>
              </a:ext>
            </a:extLst>
          </p:cNvPr>
          <p:cNvPicPr>
            <a:picLocks noChangeAspect="1"/>
          </p:cNvPicPr>
          <p:nvPr/>
        </p:nvPicPr>
        <p:blipFill>
          <a:blip r:embed="rId3"/>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4F22BBFA-E389-2C10-37B1-AA251DB07338}"/>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Activity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322089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1143000"/>
                <a:ext cx="7092462" cy="5105400"/>
              </a:xfrm>
            </p:spPr>
            <p:txBody>
              <a:bodyPr>
                <a:noAutofit/>
              </a:bodyPr>
              <a:lstStyle/>
              <a:p>
                <a:pPr marL="619125" indent="-619125" algn="just" eaLnBrk="1" hangingPunct="1">
                  <a:lnSpc>
                    <a:spcPct val="90000"/>
                  </a:lnSpc>
                  <a:buSzPct val="85000"/>
                  <a:buFont typeface="Wingdings" panose="05000000000000000000" pitchFamily="2" charset="2"/>
                  <a:buAutoNum type="romanLcPeriod"/>
                </a:pPr>
                <a:endParaRPr lang="en-US" altLang="en-US" sz="2000" dirty="0">
                  <a:latin typeface="Arial" panose="020B0604020202020204" pitchFamily="34" charset="0"/>
                  <a:cs typeface="Arial" panose="020B0604020202020204" pitchFamily="34" charset="0"/>
                </a:endParaRPr>
              </a:p>
              <a:p>
                <a:pPr marL="0" indent="0" algn="just">
                  <a:lnSpc>
                    <a:spcPct val="90000"/>
                  </a:lnSpc>
                  <a:buSzPct val="85000"/>
                  <a:buNone/>
                </a:pPr>
                <a14:m>
                  <m:oMathPara xmlns:m="http://schemas.openxmlformats.org/officeDocument/2006/math">
                    <m:oMathParaPr>
                      <m:jc m:val="left"/>
                    </m:oMathParaPr>
                    <m:oMath xmlns:m="http://schemas.openxmlformats.org/officeDocument/2006/math">
                      <m:r>
                        <m:rPr>
                          <m:nor/>
                        </m:rPr>
                        <a:rPr lang="en-IN" altLang="en-US" sz="2000" b="1" i="0" dirty="0" smtClean="0">
                          <a:latin typeface="Arial" panose="020B0604020202020204" pitchFamily="34" charset="0"/>
                          <a:cs typeface="Arial" panose="020B0604020202020204" pitchFamily="34" charset="0"/>
                        </a:rPr>
                        <m:t>1. </m:t>
                      </m:r>
                      <m:r>
                        <m:rPr>
                          <m:nor/>
                        </m:rPr>
                        <a:rPr lang="en-US" altLang="en-US" sz="2000" b="1" dirty="0">
                          <a:latin typeface="Arial" panose="020B0604020202020204" pitchFamily="34" charset="0"/>
                          <a:cs typeface="Arial" panose="020B0604020202020204" pitchFamily="34" charset="0"/>
                        </a:rPr>
                        <m:t>Inventory</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Turnover</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Cost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of</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Goods</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Sold</m:t>
                          </m:r>
                        </m:num>
                        <m:den>
                          <m:r>
                            <m:rPr>
                              <m:nor/>
                            </m:rPr>
                            <a:rPr lang="en-US" altLang="en-US" sz="2000">
                              <a:latin typeface="Arial" panose="020B0604020202020204" pitchFamily="34" charset="0"/>
                              <a:cs typeface="Arial" panose="020B0604020202020204" pitchFamily="34" charset="0"/>
                            </a:rPr>
                            <m:t>Average</m:t>
                          </m:r>
                          <m:r>
                            <m:rPr>
                              <m:nor/>
                            </m:rPr>
                            <a:rPr lang="en-US" altLang="en-US" sz="2000">
                              <a:latin typeface="Arial" panose="020B0604020202020204" pitchFamily="34" charset="0"/>
                              <a:cs typeface="Arial" panose="020B0604020202020204" pitchFamily="34" charset="0"/>
                            </a:rPr>
                            <m:t> </m:t>
                          </m:r>
                          <m:r>
                            <m:rPr>
                              <m:nor/>
                            </m:rPr>
                            <a:rPr lang="en-US" altLang="en-US" sz="2000">
                              <a:latin typeface="Arial" panose="020B0604020202020204" pitchFamily="34" charset="0"/>
                              <a:cs typeface="Arial" panose="020B0604020202020204" pitchFamily="34" charset="0"/>
                            </a:rPr>
                            <m:t>Inventory</m:t>
                          </m:r>
                        </m:den>
                      </m:f>
                    </m:oMath>
                  </m:oMathPara>
                </a14:m>
                <a:endParaRPr lang="en-US" altLang="en-US" sz="2000" dirty="0">
                  <a:latin typeface="Arial" panose="020B0604020202020204" pitchFamily="34" charset="0"/>
                  <a:cs typeface="Arial" panose="020B0604020202020204" pitchFamily="34" charset="0"/>
                </a:endParaRPr>
              </a:p>
              <a:p>
                <a:pPr marL="619125" indent="-619125" algn="just" eaLnBrk="1" hangingPunct="1">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a:t>
                </a:r>
              </a:p>
              <a:p>
                <a:pPr marL="619125" indent="-619125" algn="just" eaLnBrk="1" hangingPunct="1">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Where, </a:t>
                </a:r>
              </a:p>
              <a:p>
                <a:pPr marL="619125" indent="-619125" algn="just" eaLnBrk="1" hangingPunct="1">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Average Inventory =  (Opening Stock + Closing Stock) </a:t>
                </a:r>
              </a:p>
              <a:p>
                <a:pPr marL="619125" indent="-619125" algn="just" eaLnBrk="1" hangingPunct="1">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2                                                   </a:t>
                </a:r>
                <a:endParaRPr lang="en-US" sz="2000" dirty="0">
                  <a:latin typeface="Arial" panose="020B0604020202020204" pitchFamily="34" charset="0"/>
                  <a:cs typeface="Arial" panose="020B0604020202020204" pitchFamily="34" charset="0"/>
                </a:endParaRPr>
              </a:p>
              <a:p>
                <a:pPr marL="619125" indent="-619125" algn="just">
                  <a:lnSpc>
                    <a:spcPct val="90000"/>
                  </a:lnSpc>
                  <a:buSzPct val="85000"/>
                </a:pPr>
                <a:r>
                  <a:rPr lang="en-US" sz="2000" dirty="0">
                    <a:latin typeface="Arial" panose="020B0604020202020204" pitchFamily="34" charset="0"/>
                    <a:cs typeface="Arial" panose="020B0604020202020204" pitchFamily="34" charset="0"/>
                  </a:rPr>
                  <a:t>The inventory turnover ratio measures how many times a company’s inventory is sold and replaced over a given period</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1143000"/>
                <a:ext cx="7092462" cy="5105400"/>
              </a:xfrm>
              <a:blipFill>
                <a:blip r:embed="rId2"/>
                <a:stretch>
                  <a:fillRect l="-430" r="-860"/>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8320C9D6-BC58-479F-50AE-4E3454D672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4800" y="1752600"/>
            <a:ext cx="4267200" cy="3886200"/>
          </a:xfrm>
          <a:prstGeom prst="rect">
            <a:avLst/>
          </a:prstGeom>
        </p:spPr>
      </p:pic>
      <p:pic>
        <p:nvPicPr>
          <p:cNvPr id="7" name="Picture 6">
            <a:extLst>
              <a:ext uri="{FF2B5EF4-FFF2-40B4-BE49-F238E27FC236}">
                <a16:creationId xmlns:a16="http://schemas.microsoft.com/office/drawing/2014/main" id="{8304E5A6-95B0-EB8A-C20E-AAE03BB65264}"/>
              </a:ext>
            </a:extLst>
          </p:cNvPr>
          <p:cNvPicPr>
            <a:picLocks noChangeAspect="1"/>
          </p:cNvPicPr>
          <p:nvPr/>
        </p:nvPicPr>
        <p:blipFill>
          <a:blip r:embed="rId4"/>
          <a:stretch>
            <a:fillRect/>
          </a:stretch>
        </p:blipFill>
        <p:spPr>
          <a:xfrm>
            <a:off x="11122800" y="45904"/>
            <a:ext cx="966091" cy="887302"/>
          </a:xfrm>
          <a:prstGeom prst="rect">
            <a:avLst/>
          </a:prstGeom>
        </p:spPr>
      </p:pic>
      <p:sp>
        <p:nvSpPr>
          <p:cNvPr id="4" name="Rectangle 3">
            <a:extLst>
              <a:ext uri="{FF2B5EF4-FFF2-40B4-BE49-F238E27FC236}">
                <a16:creationId xmlns:a16="http://schemas.microsoft.com/office/drawing/2014/main" id="{07E073CB-573F-F65D-CCF3-B6B4365B7094}"/>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Activity Ratios</a:t>
            </a:r>
            <a:r>
              <a:rPr lang="en-IN" sz="2800" b="1" dirty="0">
                <a:solidFill>
                  <a:schemeClr val="tx1"/>
                </a:solidFill>
                <a:latin typeface="Arial" panose="020B0604020202020204" pitchFamily="34" charset="0"/>
                <a:cs typeface="Arial" panose="020B0604020202020204" pitchFamily="34" charset="0"/>
              </a:rPr>
              <a:t>  </a:t>
            </a:r>
          </a:p>
        </p:txBody>
      </p:sp>
      <p:cxnSp>
        <p:nvCxnSpPr>
          <p:cNvPr id="5" name="Straight Connector 4">
            <a:extLst>
              <a:ext uri="{FF2B5EF4-FFF2-40B4-BE49-F238E27FC236}">
                <a16:creationId xmlns:a16="http://schemas.microsoft.com/office/drawing/2014/main" id="{010549B9-E0FA-1F7C-2884-522DAA92BE95}"/>
              </a:ext>
            </a:extLst>
          </p:cNvPr>
          <p:cNvCxnSpPr/>
          <p:nvPr/>
        </p:nvCxnSpPr>
        <p:spPr>
          <a:xfrm>
            <a:off x="4038600" y="3276600"/>
            <a:ext cx="35052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2062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933206"/>
                <a:ext cx="9073662" cy="5486400"/>
              </a:xfrm>
            </p:spPr>
            <p:txBody>
              <a:bodyPr>
                <a:noAutofit/>
              </a:bodyPr>
              <a:lstStyle/>
              <a:p>
                <a:pPr marL="0" indent="0" algn="just">
                  <a:lnSpc>
                    <a:spcPct val="150000"/>
                  </a:lnSpc>
                  <a:buSzPct val="85000"/>
                  <a:buNone/>
                </a:pPr>
                <a14:m>
                  <m:oMathPara xmlns:m="http://schemas.openxmlformats.org/officeDocument/2006/math">
                    <m:oMathParaPr>
                      <m:jc m:val="left"/>
                    </m:oMathParaPr>
                    <m:oMath xmlns:m="http://schemas.openxmlformats.org/officeDocument/2006/math">
                      <m:r>
                        <m:rPr>
                          <m:nor/>
                        </m:rPr>
                        <a:rPr lang="en-IN" altLang="en-US" sz="2000" b="1" i="0" dirty="0" smtClean="0">
                          <a:latin typeface="Arial" panose="020B0604020202020204" pitchFamily="34" charset="0"/>
                          <a:cs typeface="Arial" panose="020B0604020202020204" pitchFamily="34" charset="0"/>
                        </a:rPr>
                        <m:t>2. </m:t>
                      </m:r>
                      <m:r>
                        <m:rPr>
                          <m:nor/>
                        </m:rPr>
                        <a:rPr lang="en-US" altLang="en-US" sz="2000" b="1" dirty="0">
                          <a:latin typeface="Arial" panose="020B0604020202020204" pitchFamily="34" charset="0"/>
                          <a:cs typeface="Arial" panose="020B0604020202020204" pitchFamily="34" charset="0"/>
                        </a:rPr>
                        <m:t>R</m:t>
                      </m:r>
                      <m:r>
                        <m:rPr>
                          <m:nor/>
                        </m:rPr>
                        <a:rPr lang="en-US" altLang="en-US" sz="2000" b="1" i="0" dirty="0" smtClean="0">
                          <a:latin typeface="Arial" panose="020B0604020202020204" pitchFamily="34" charset="0"/>
                          <a:cs typeface="Arial" panose="020B0604020202020204" pitchFamily="34" charset="0"/>
                        </a:rPr>
                        <m:t>eceivables</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Turnover</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Net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Credit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sales</m:t>
                          </m:r>
                        </m:num>
                        <m:den>
                          <m:r>
                            <m:rPr>
                              <m:nor/>
                            </m:rPr>
                            <a:rPr lang="en-US" altLang="en-US" sz="2000">
                              <a:latin typeface="Arial" panose="020B0604020202020204" pitchFamily="34" charset="0"/>
                              <a:cs typeface="Arial" panose="020B0604020202020204" pitchFamily="34" charset="0"/>
                            </a:rPr>
                            <m:t>Avera</m:t>
                          </m:r>
                          <m:r>
                            <m:rPr>
                              <m:nor/>
                            </m:rPr>
                            <a:rPr lang="en-US" altLang="en-US" sz="2000" b="0" i="0" smtClean="0">
                              <a:latin typeface="Arial" panose="020B0604020202020204" pitchFamily="34" charset="0"/>
                              <a:cs typeface="Arial" panose="020B0604020202020204" pitchFamily="34" charset="0"/>
                            </a:rPr>
                            <m:t>ge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Accounts</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Receivables</m:t>
                          </m:r>
                        </m:den>
                      </m:f>
                    </m:oMath>
                  </m:oMathPara>
                </a14:m>
                <a:endParaRPr lang="en-US" altLang="en-US" sz="2000" dirty="0">
                  <a:latin typeface="Arial" panose="020B0604020202020204" pitchFamily="34" charset="0"/>
                  <a:cs typeface="Arial" panose="020B0604020202020204" pitchFamily="34" charset="0"/>
                </a:endParaRPr>
              </a:p>
              <a:p>
                <a:pPr marL="0" indent="0" algn="just">
                  <a:lnSpc>
                    <a:spcPct val="150000"/>
                  </a:lnSpc>
                  <a:buSzPct val="85000"/>
                  <a:buNone/>
                </a:pPr>
                <a:r>
                  <a:rPr lang="en-US" altLang="en-US" sz="2000" dirty="0">
                    <a:latin typeface="Arial" panose="020B0604020202020204" pitchFamily="34" charset="0"/>
                    <a:cs typeface="Arial" panose="020B0604020202020204" pitchFamily="34" charset="0"/>
                  </a:rPr>
                  <a:t>Where,</a:t>
                </a:r>
              </a:p>
              <a:p>
                <a:pPr marL="619125" indent="-619125" algn="just"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Net Credit sales= Total sales – sales return</a:t>
                </a:r>
              </a:p>
              <a:p>
                <a:pPr marL="619125" indent="-619125"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Average accounts receivables =  (Opening receivables + Closing receivables) / 2 </a:t>
                </a:r>
              </a:p>
              <a:p>
                <a:pPr>
                  <a:lnSpc>
                    <a:spcPct val="150000"/>
                  </a:lnSpc>
                  <a:buSzPct val="85000"/>
                </a:pPr>
                <a:r>
                  <a:rPr lang="en-US" sz="2000" dirty="0">
                    <a:latin typeface="Arial" panose="020B0604020202020204" pitchFamily="34" charset="0"/>
                    <a:cs typeface="Arial" panose="020B0604020202020204" pitchFamily="34" charset="0"/>
                  </a:rPr>
                  <a:t>The Receivables Turnover Ratio measures how many times, during a period, a company collects its average accounts receivable in cash</a:t>
                </a:r>
                <a:r>
                  <a:rPr lang="en-US" sz="2000" dirty="0"/>
                  <a:t>.</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933206"/>
                <a:ext cx="9073662" cy="5486400"/>
              </a:xfrm>
              <a:blipFill>
                <a:blip r:embed="rId2"/>
                <a:stretch>
                  <a:fillRect l="-739" r="-1075"/>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71CF43E0-319D-CF8B-5560-592A80169C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63467" y="4760086"/>
            <a:ext cx="3928533" cy="2052010"/>
          </a:xfrm>
          <a:prstGeom prst="rect">
            <a:avLst/>
          </a:prstGeom>
        </p:spPr>
      </p:pic>
      <p:pic>
        <p:nvPicPr>
          <p:cNvPr id="7" name="Picture 6">
            <a:extLst>
              <a:ext uri="{FF2B5EF4-FFF2-40B4-BE49-F238E27FC236}">
                <a16:creationId xmlns:a16="http://schemas.microsoft.com/office/drawing/2014/main" id="{69A5F1E9-CE48-BA95-5A7D-D6636BC3D801}"/>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7D3D7E47-A95D-12E1-CA82-DD907BDBCEB5}"/>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Activity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340967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436212"/>
                <a:ext cx="7815831" cy="5638800"/>
              </a:xfrm>
            </p:spPr>
            <p:txBody>
              <a:bodyPr>
                <a:noAutofit/>
              </a:bodyPr>
              <a:lstStyle/>
              <a:p>
                <a:pPr marL="619125" indent="-619125" algn="just" eaLnBrk="1" hangingPunct="1">
                  <a:lnSpc>
                    <a:spcPct val="150000"/>
                  </a:lnSpc>
                  <a:buSzPct val="85000"/>
                  <a:buFont typeface="Wingdings" panose="05000000000000000000" pitchFamily="2" charset="2"/>
                  <a:buAutoNum type="romanLcPeriod"/>
                </a:pPr>
                <a:endParaRPr lang="en-US" altLang="en-US" sz="2000" dirty="0">
                  <a:latin typeface="Arial" panose="020B0604020202020204" pitchFamily="34" charset="0"/>
                  <a:cs typeface="Arial" panose="020B0604020202020204" pitchFamily="34" charset="0"/>
                </a:endParaRPr>
              </a:p>
              <a:p>
                <a:pPr marL="0" indent="0" algn="just">
                  <a:lnSpc>
                    <a:spcPct val="150000"/>
                  </a:lnSpc>
                  <a:buSzPct val="85000"/>
                  <a:buNone/>
                </a:pPr>
                <a:r>
                  <a:rPr lang="en-US" altLang="en-US" sz="2000" b="1" dirty="0">
                    <a:latin typeface="Arial" panose="020B0604020202020204" pitchFamily="34" charset="0"/>
                    <a:cs typeface="Arial" panose="020B0604020202020204" pitchFamily="34" charset="0"/>
                  </a:rPr>
                  <a:t>3. Pay</a:t>
                </a:r>
                <a14:m>
                  <m:oMath xmlns:m="http://schemas.openxmlformats.org/officeDocument/2006/math">
                    <m:r>
                      <m:rPr>
                        <m:nor/>
                      </m:rPr>
                      <a:rPr lang="en-US" altLang="en-US" sz="2000" b="1" i="0" dirty="0" smtClean="0">
                        <a:latin typeface="Arial" panose="020B0604020202020204" pitchFamily="34" charset="0"/>
                        <a:cs typeface="Arial" panose="020B0604020202020204" pitchFamily="34" charset="0"/>
                      </a:rPr>
                      <m:t>ables</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Turnover</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Net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Credit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Purchase</m:t>
                        </m:r>
                        <m:r>
                          <m:rPr>
                            <m:nor/>
                          </m:rPr>
                          <a:rPr lang="en-US" altLang="en-US" sz="2000" b="0" i="0" smtClean="0">
                            <a:latin typeface="Arial" panose="020B0604020202020204" pitchFamily="34" charset="0"/>
                            <a:cs typeface="Arial" panose="020B0604020202020204" pitchFamily="34" charset="0"/>
                          </a:rPr>
                          <m:t> </m:t>
                        </m:r>
                      </m:num>
                      <m:den>
                        <m:r>
                          <m:rPr>
                            <m:nor/>
                          </m:rPr>
                          <a:rPr lang="en-US" altLang="en-US" sz="2000">
                            <a:latin typeface="Arial" panose="020B0604020202020204" pitchFamily="34" charset="0"/>
                            <a:cs typeface="Arial" panose="020B0604020202020204" pitchFamily="34" charset="0"/>
                          </a:rPr>
                          <m:t>Avera</m:t>
                        </m:r>
                        <m:r>
                          <m:rPr>
                            <m:nor/>
                          </m:rPr>
                          <a:rPr lang="en-US" altLang="en-US" sz="2000" b="0" i="0" smtClean="0">
                            <a:latin typeface="Arial" panose="020B0604020202020204" pitchFamily="34" charset="0"/>
                            <a:cs typeface="Arial" panose="020B0604020202020204" pitchFamily="34" charset="0"/>
                          </a:rPr>
                          <m:t>ge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Accounts</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Payables</m:t>
                        </m:r>
                      </m:den>
                    </m:f>
                  </m:oMath>
                </a14:m>
                <a:endParaRPr lang="en-US" altLang="en-US" sz="2000" dirty="0">
                  <a:latin typeface="Arial" panose="020B0604020202020204" pitchFamily="34" charset="0"/>
                  <a:cs typeface="Arial" panose="020B0604020202020204" pitchFamily="34" charset="0"/>
                </a:endParaRPr>
              </a:p>
              <a:p>
                <a:pPr marL="619125" indent="-619125" algn="just"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Where,</a:t>
                </a:r>
              </a:p>
              <a:p>
                <a:pPr marL="619125" indent="-619125" algn="just"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Net Credit Purchase = Total Purchase – Purchase return</a:t>
                </a:r>
              </a:p>
              <a:p>
                <a:pPr marL="619125" indent="-619125"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Average accounts payables  =  (Opening Payables + Closing Payables) / 2 </a:t>
                </a:r>
              </a:p>
              <a:p>
                <a:pPr>
                  <a:lnSpc>
                    <a:spcPct val="150000"/>
                  </a:lnSpc>
                  <a:buSzPct val="85000"/>
                </a:pPr>
                <a:r>
                  <a:rPr lang="en-US" sz="2000" dirty="0">
                    <a:latin typeface="Arial" panose="020B0604020202020204" pitchFamily="34" charset="0"/>
                    <a:cs typeface="Arial" panose="020B0604020202020204" pitchFamily="34" charset="0"/>
                  </a:rPr>
                  <a:t>The accounts payable turnover ratio is a short-term liquidity measure used to quantify the rate at which a company pays off its suppliers. </a:t>
                </a:r>
              </a:p>
              <a:p>
                <a:pPr>
                  <a:lnSpc>
                    <a:spcPct val="150000"/>
                  </a:lnSpc>
                  <a:buSzPct val="85000"/>
                </a:pPr>
                <a:r>
                  <a:rPr lang="en-US" sz="2000" dirty="0">
                    <a:latin typeface="Arial" panose="020B0604020202020204" pitchFamily="34" charset="0"/>
                    <a:cs typeface="Arial" panose="020B0604020202020204" pitchFamily="34" charset="0"/>
                  </a:rPr>
                  <a:t>Accounts payable turnover shows how many times a company pays off its accounts payable during a period. </a:t>
                </a:r>
                <a:r>
                  <a:rPr lang="en-US" altLang="en-US" sz="2000" dirty="0">
                    <a:latin typeface="Arial" panose="020B0604020202020204" pitchFamily="34" charset="0"/>
                    <a:cs typeface="Arial" panose="020B0604020202020204" pitchFamily="34"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436212"/>
                <a:ext cx="7815831" cy="5638800"/>
              </a:xfrm>
              <a:blipFill>
                <a:blip r:embed="rId2"/>
                <a:stretch>
                  <a:fillRect l="-858" b="-12108"/>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380FDC87-557F-8635-7830-89E84233B21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610600" y="800100"/>
            <a:ext cx="3352800" cy="3500987"/>
          </a:xfrm>
          <a:prstGeom prst="rect">
            <a:avLst/>
          </a:prstGeom>
        </p:spPr>
      </p:pic>
      <p:pic>
        <p:nvPicPr>
          <p:cNvPr id="6" name="Picture 5">
            <a:extLst>
              <a:ext uri="{FF2B5EF4-FFF2-40B4-BE49-F238E27FC236}">
                <a16:creationId xmlns:a16="http://schemas.microsoft.com/office/drawing/2014/main" id="{71C1094C-6DC6-9C50-A1E2-82245FD37EEF}"/>
              </a:ext>
            </a:extLst>
          </p:cNvPr>
          <p:cNvPicPr>
            <a:picLocks noChangeAspect="1"/>
          </p:cNvPicPr>
          <p:nvPr/>
        </p:nvPicPr>
        <p:blipFill>
          <a:blip r:embed="rId4"/>
          <a:stretch>
            <a:fillRect/>
          </a:stretch>
        </p:blipFill>
        <p:spPr>
          <a:xfrm>
            <a:off x="11122800" y="45904"/>
            <a:ext cx="966091" cy="887302"/>
          </a:xfrm>
          <a:prstGeom prst="rect">
            <a:avLst/>
          </a:prstGeom>
        </p:spPr>
      </p:pic>
      <p:sp>
        <p:nvSpPr>
          <p:cNvPr id="8" name="Rectangle 7">
            <a:extLst>
              <a:ext uri="{FF2B5EF4-FFF2-40B4-BE49-F238E27FC236}">
                <a16:creationId xmlns:a16="http://schemas.microsoft.com/office/drawing/2014/main" id="{A706E539-C2B9-CFE7-0626-CC6108D0E320}"/>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Activity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841671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5799" y="188319"/>
                <a:ext cx="8610600" cy="4953000"/>
              </a:xfrm>
            </p:spPr>
            <p:txBody>
              <a:bodyPr>
                <a:noAutofit/>
              </a:bodyPr>
              <a:lstStyle/>
              <a:p>
                <a:pPr marL="619125" indent="-619125" algn="just" eaLnBrk="1" hangingPunct="1">
                  <a:lnSpc>
                    <a:spcPct val="150000"/>
                  </a:lnSpc>
                  <a:buSzPct val="85000"/>
                  <a:buFont typeface="Wingdings" panose="05000000000000000000" pitchFamily="2" charset="2"/>
                  <a:buAutoNum type="romanLcPeriod"/>
                </a:pPr>
                <a:endParaRPr lang="en-US" altLang="en-US" sz="2000" dirty="0">
                  <a:latin typeface="Arial" panose="020B0604020202020204" pitchFamily="34" charset="0"/>
                  <a:cs typeface="Arial" panose="020B0604020202020204" pitchFamily="34" charset="0"/>
                </a:endParaRPr>
              </a:p>
              <a:p>
                <a:pPr marL="619125" indent="-619125" eaLnBrk="1" hangingPunct="1">
                  <a:lnSpc>
                    <a:spcPct val="150000"/>
                  </a:lnSpc>
                  <a:buSzPct val="85000"/>
                  <a:buNone/>
                </a:pPr>
                <a:r>
                  <a:rPr lang="en-US" altLang="en-US" sz="2000" dirty="0">
                    <a:latin typeface="Arial" panose="020B0604020202020204" pitchFamily="34" charset="0"/>
                    <a:cs typeface="Arial" panose="020B0604020202020204" pitchFamily="34" charset="0"/>
                  </a:rPr>
                  <a:t>	4. </a:t>
                </a:r>
                <a:r>
                  <a:rPr lang="en-US" altLang="en-US" sz="2000" b="1" dirty="0">
                    <a:latin typeface="Arial" panose="020B0604020202020204" pitchFamily="34" charset="0"/>
                    <a:cs typeface="Arial" panose="020B0604020202020204" pitchFamily="34" charset="0"/>
                  </a:rPr>
                  <a:t>Average Payment Period </a:t>
                </a:r>
                <a14:m>
                  <m:oMath xmlns:m="http://schemas.openxmlformats.org/officeDocument/2006/math">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No</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of</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days</m:t>
                        </m:r>
                        <m:r>
                          <m:rPr>
                            <m:nor/>
                          </m:rPr>
                          <a:rPr lang="en-IN" altLang="en-US" sz="2000" b="0" i="0" smtClean="0">
                            <a:latin typeface="Arial" panose="020B0604020202020204" pitchFamily="34" charset="0"/>
                            <a:cs typeface="Arial" panose="020B0604020202020204" pitchFamily="34" charset="0"/>
                          </a:rPr>
                          <m:t> (</m:t>
                        </m:r>
                        <m:r>
                          <m:rPr>
                            <m:nor/>
                          </m:rPr>
                          <a:rPr lang="en-IN" altLang="en-US" sz="2000" b="0" i="0" smtClean="0">
                            <a:latin typeface="Arial" panose="020B0604020202020204" pitchFamily="34" charset="0"/>
                            <a:cs typeface="Arial" panose="020B0604020202020204" pitchFamily="34" charset="0"/>
                          </a:rPr>
                          <m:t>or</m:t>
                        </m:r>
                        <m:r>
                          <m:rPr>
                            <m:nor/>
                          </m:rPr>
                          <a:rPr lang="en-IN"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month</m:t>
                        </m:r>
                        <m:r>
                          <m:rPr>
                            <m:nor/>
                          </m:rPr>
                          <a:rPr lang="en-IN" altLang="en-US" sz="2000" b="0" i="0" smtClean="0">
                            <a:latin typeface="Arial" panose="020B0604020202020204" pitchFamily="34" charset="0"/>
                            <a:cs typeface="Arial" panose="020B0604020202020204" pitchFamily="34" charset="0"/>
                          </a:rPr>
                          <m: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in</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year</m:t>
                        </m:r>
                        <m:r>
                          <m:rPr>
                            <m:nor/>
                          </m:rPr>
                          <a:rPr lang="en-US" altLang="en-US" sz="2000" b="0" i="0" smtClean="0">
                            <a:latin typeface="Arial" panose="020B0604020202020204" pitchFamily="34" charset="0"/>
                            <a:cs typeface="Arial" panose="020B0604020202020204" pitchFamily="34" charset="0"/>
                          </a:rPr>
                          <m:t> </m:t>
                        </m:r>
                      </m:num>
                      <m:den>
                        <m:r>
                          <m:rPr>
                            <m:nor/>
                          </m:rPr>
                          <a:rPr lang="en-US" altLang="en-US" sz="2000" b="0" i="0" smtClean="0">
                            <a:latin typeface="Arial" panose="020B0604020202020204" pitchFamily="34" charset="0"/>
                            <a:cs typeface="Arial" panose="020B0604020202020204" pitchFamily="34" charset="0"/>
                          </a:rPr>
                          <m:t>Payabl</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Turnover</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ratio</m:t>
                        </m:r>
                      </m:den>
                    </m:f>
                  </m:oMath>
                </a14:m>
                <a:r>
                  <a:rPr lang="en-US" altLang="en-US" sz="2000" dirty="0">
                    <a:latin typeface="Arial" panose="020B0604020202020204" pitchFamily="34" charset="0"/>
                    <a:cs typeface="Arial" panose="020B0604020202020204" pitchFamily="34" charset="0"/>
                  </a:rPr>
                  <a:t>	</a:t>
                </a:r>
              </a:p>
              <a:p>
                <a:pPr marL="619125" indent="-619125" algn="just" eaLnBrk="1" hangingPunct="1">
                  <a:lnSpc>
                    <a:spcPct val="150000"/>
                  </a:lnSpc>
                  <a:buSzPct val="85000"/>
                  <a:buNone/>
                </a:pPr>
                <a:r>
                  <a:rPr lang="en-US" sz="2000" dirty="0">
                    <a:latin typeface="Arial" panose="020B0604020202020204" pitchFamily="34" charset="0"/>
                    <a:cs typeface="Arial" panose="020B0604020202020204" pitchFamily="34" charset="0"/>
                  </a:rPr>
                  <a:t>	</a:t>
                </a:r>
              </a:p>
              <a:p>
                <a:pPr marL="619125" indent="-619125" algn="just">
                  <a:lnSpc>
                    <a:spcPct val="150000"/>
                  </a:lnSpc>
                  <a:buSzPct val="85000"/>
                </a:pPr>
                <a:r>
                  <a:rPr lang="en-US" sz="2000" dirty="0">
                    <a:latin typeface="Arial" panose="020B0604020202020204" pitchFamily="34" charset="0"/>
                    <a:cs typeface="Arial" panose="020B0604020202020204" pitchFamily="34" charset="0"/>
                  </a:rPr>
                  <a:t>It shows the average time (in days or months) a company takes to pay its creditors. </a:t>
                </a:r>
              </a:p>
              <a:p>
                <a:pPr marL="619125" indent="-619125" algn="just">
                  <a:lnSpc>
                    <a:spcPct val="150000"/>
                  </a:lnSpc>
                  <a:buSzPct val="85000"/>
                </a:pPr>
                <a:r>
                  <a:rPr lang="en-US" sz="2000" dirty="0">
                    <a:latin typeface="Arial" panose="020B0604020202020204" pitchFamily="34" charset="0"/>
                    <a:cs typeface="Arial" panose="020B0604020202020204" pitchFamily="34" charset="0"/>
                  </a:rPr>
                  <a:t> A higher ratio means credit allowed by the supplier is for a long period, or it may reflect delayed payment to suppliers, which is not a very good policy, as it may affect the reputation of the business.</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5799" y="188319"/>
                <a:ext cx="8610600" cy="4953000"/>
              </a:xfrm>
              <a:blipFill>
                <a:blip r:embed="rId2"/>
                <a:stretch>
                  <a:fillRect l="-354" r="-708"/>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C12CE933-BFF5-379D-2F54-9B626638F1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20200" y="2133600"/>
            <a:ext cx="2819400" cy="2819400"/>
          </a:xfrm>
          <a:prstGeom prst="rect">
            <a:avLst/>
          </a:prstGeom>
        </p:spPr>
      </p:pic>
      <p:pic>
        <p:nvPicPr>
          <p:cNvPr id="7" name="Picture 6">
            <a:extLst>
              <a:ext uri="{FF2B5EF4-FFF2-40B4-BE49-F238E27FC236}">
                <a16:creationId xmlns:a16="http://schemas.microsoft.com/office/drawing/2014/main" id="{487970C9-F97A-AC44-63EC-071FF703E7D3}"/>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F87ACCC5-DD7E-2606-3496-A538CC87D4FD}"/>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Activity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301816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65107" y="424489"/>
                <a:ext cx="8502693" cy="5105400"/>
              </a:xfrm>
            </p:spPr>
            <p:txBody>
              <a:bodyPr>
                <a:noAutofit/>
              </a:bodyPr>
              <a:lstStyle/>
              <a:p>
                <a:pPr marL="619125" indent="-619125" algn="just" eaLnBrk="1" hangingPunct="1">
                  <a:lnSpc>
                    <a:spcPct val="150000"/>
                  </a:lnSpc>
                  <a:buSzPct val="85000"/>
                  <a:buFont typeface="Wingdings" panose="05000000000000000000" pitchFamily="2" charset="2"/>
                  <a:buAutoNum type="romanLcPeriod"/>
                </a:pPr>
                <a:endParaRPr lang="en-US" altLang="en-US" sz="2000" dirty="0">
                  <a:latin typeface="Arial" panose="020B0604020202020204" pitchFamily="34" charset="0"/>
                  <a:cs typeface="Arial" panose="020B0604020202020204" pitchFamily="34" charset="0"/>
                </a:endParaRPr>
              </a:p>
              <a:p>
                <a:pPr marL="0" indent="0">
                  <a:lnSpc>
                    <a:spcPct val="150000"/>
                  </a:lnSpc>
                  <a:buSzPct val="85000"/>
                  <a:buNone/>
                </a:pPr>
                <a14:m>
                  <m:oMathPara xmlns:m="http://schemas.openxmlformats.org/officeDocument/2006/math">
                    <m:oMathParaPr>
                      <m:jc m:val="left"/>
                    </m:oMathParaPr>
                    <m:oMath xmlns:m="http://schemas.openxmlformats.org/officeDocument/2006/math">
                      <m:r>
                        <m:rPr>
                          <m:nor/>
                        </m:rPr>
                        <a:rPr lang="en-IN" altLang="en-US" sz="2000" b="1" i="0" dirty="0" smtClean="0">
                          <a:latin typeface="Arial" panose="020B0604020202020204" pitchFamily="34" charset="0"/>
                          <a:cs typeface="Arial" panose="020B0604020202020204" pitchFamily="34" charset="0"/>
                        </a:rPr>
                        <m:t>5. </m:t>
                      </m:r>
                      <m:r>
                        <m:rPr>
                          <m:nor/>
                        </m:rPr>
                        <a:rPr lang="en-US" altLang="en-US" sz="2000" b="1" dirty="0">
                          <a:latin typeface="Arial" panose="020B0604020202020204" pitchFamily="34" charset="0"/>
                          <a:cs typeface="Arial" panose="020B0604020202020204" pitchFamily="34" charset="0"/>
                        </a:rPr>
                        <m:t>A</m:t>
                      </m:r>
                      <m:r>
                        <m:rPr>
                          <m:nor/>
                        </m:rPr>
                        <a:rPr lang="en-US" altLang="en-US" sz="2000" b="1" i="0" dirty="0" smtClean="0">
                          <a:latin typeface="Arial" panose="020B0604020202020204" pitchFamily="34" charset="0"/>
                          <a:cs typeface="Arial" panose="020B0604020202020204" pitchFamily="34" charset="0"/>
                        </a:rPr>
                        <m:t>ssets</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Turnover</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Net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sales</m:t>
                          </m:r>
                        </m:num>
                        <m:den>
                          <m:r>
                            <m:rPr>
                              <m:nor/>
                            </m:rPr>
                            <a:rPr lang="en-US" altLang="en-US" sz="2000">
                              <a:latin typeface="Arial" panose="020B0604020202020204" pitchFamily="34" charset="0"/>
                              <a:cs typeface="Arial" panose="020B0604020202020204" pitchFamily="34" charset="0"/>
                            </a:rPr>
                            <m:t>Avera</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Total</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Assets</m:t>
                          </m:r>
                        </m:den>
                      </m:f>
                    </m:oMath>
                  </m:oMathPara>
                </a14:m>
                <a:endParaRPr lang="en-US" altLang="en-US" sz="2000" dirty="0">
                  <a:latin typeface="Arial" panose="020B0604020202020204" pitchFamily="34" charset="0"/>
                  <a:cs typeface="Arial" panose="020B0604020202020204" pitchFamily="34" charset="0"/>
                </a:endParaRPr>
              </a:p>
              <a:p>
                <a:pPr marL="619125" indent="-619125">
                  <a:lnSpc>
                    <a:spcPct val="150000"/>
                  </a:lnSpc>
                  <a:buSzPct val="85000"/>
                  <a:buFont typeface="Wingdings" panose="05000000000000000000" pitchFamily="2" charset="2"/>
                  <a:buAutoNum type="romanLcPeriod"/>
                </a:pPr>
                <a:endParaRPr lang="en-US" altLang="en-US" sz="2000" dirty="0">
                  <a:latin typeface="Arial" panose="020B0604020202020204" pitchFamily="34" charset="0"/>
                  <a:cs typeface="Arial" panose="020B0604020202020204" pitchFamily="34" charset="0"/>
                </a:endParaRPr>
              </a:p>
              <a:p>
                <a:pPr marL="619125" indent="-619125" algn="just"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Where,</a:t>
                </a:r>
              </a:p>
              <a:p>
                <a:pPr marL="619125" indent="-619125" algn="just"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Net sales = Total sales – sales return</a:t>
                </a:r>
              </a:p>
              <a:p>
                <a:pPr marL="619125" indent="-619125"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Average Total Assets = (Opening Assets + Closing Assets) / 2. </a:t>
                </a:r>
              </a:p>
              <a:p>
                <a:pPr>
                  <a:lnSpc>
                    <a:spcPct val="150000"/>
                  </a:lnSpc>
                  <a:buSzPct val="85000"/>
                </a:pPr>
                <a:r>
                  <a:rPr lang="en-US" sz="2000" dirty="0">
                    <a:latin typeface="Arial" panose="020B0604020202020204" pitchFamily="34" charset="0"/>
                    <a:cs typeface="Arial" panose="020B0604020202020204" pitchFamily="34" charset="0"/>
                  </a:rPr>
                  <a:t>        The assets turnover ratio indicates how efficiently a company uses its total assets to generate sales; a higher ratio means better utilization of assets, while a lower ratio suggests inefficiency or underutilization.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65107" y="424489"/>
                <a:ext cx="8502693" cy="5105400"/>
              </a:xfrm>
              <a:blipFill>
                <a:blip r:embed="rId2"/>
                <a:stretch>
                  <a:fillRect l="-789" r="-645" b="-4182"/>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14C4C175-3D2D-0BC6-C626-E1EC8602E1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4000" y="1752600"/>
            <a:ext cx="2925618" cy="2895600"/>
          </a:xfrm>
          <a:prstGeom prst="rect">
            <a:avLst/>
          </a:prstGeom>
        </p:spPr>
      </p:pic>
      <p:pic>
        <p:nvPicPr>
          <p:cNvPr id="7" name="Picture 6">
            <a:extLst>
              <a:ext uri="{FF2B5EF4-FFF2-40B4-BE49-F238E27FC236}">
                <a16:creationId xmlns:a16="http://schemas.microsoft.com/office/drawing/2014/main" id="{76A54F72-C4EF-ACC5-D0B1-37F1EBAA95BE}"/>
              </a:ext>
            </a:extLst>
          </p:cNvPr>
          <p:cNvPicPr>
            <a:picLocks noChangeAspect="1"/>
          </p:cNvPicPr>
          <p:nvPr/>
        </p:nvPicPr>
        <p:blipFill>
          <a:blip r:embed="rId4"/>
          <a:stretch>
            <a:fillRect/>
          </a:stretch>
        </p:blipFill>
        <p:spPr>
          <a:xfrm>
            <a:off x="11122800" y="45904"/>
            <a:ext cx="966091" cy="887302"/>
          </a:xfrm>
          <a:prstGeom prst="rect">
            <a:avLst/>
          </a:prstGeom>
        </p:spPr>
      </p:pic>
      <p:sp>
        <p:nvSpPr>
          <p:cNvPr id="4" name="Rectangle 3">
            <a:extLst>
              <a:ext uri="{FF2B5EF4-FFF2-40B4-BE49-F238E27FC236}">
                <a16:creationId xmlns:a16="http://schemas.microsoft.com/office/drawing/2014/main" id="{C55BF77E-F9AB-9BA8-A06A-FB0CDACEF26C}"/>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Activity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923071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1DE0F-2396-4146-B888-83EA107D6AF4}"/>
              </a:ext>
            </a:extLst>
          </p:cNvPr>
          <p:cNvPicPr>
            <a:picLocks noChangeAspect="1"/>
          </p:cNvPicPr>
          <p:nvPr/>
        </p:nvPicPr>
        <p:blipFill>
          <a:blip r:embed="rId2"/>
          <a:stretch>
            <a:fillRect/>
          </a:stretch>
        </p:blipFill>
        <p:spPr>
          <a:xfrm>
            <a:off x="3276600" y="457200"/>
            <a:ext cx="5181600" cy="5715000"/>
          </a:xfrm>
          <a:prstGeom prst="rect">
            <a:avLst/>
          </a:prstGeom>
        </p:spPr>
      </p:pic>
    </p:spTree>
    <p:extLst>
      <p:ext uri="{BB962C8B-B14F-4D97-AF65-F5344CB8AC3E}">
        <p14:creationId xmlns:p14="http://schemas.microsoft.com/office/powerpoint/2010/main" val="34386106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938" y="933206"/>
            <a:ext cx="10328030" cy="4934194"/>
          </a:xfrm>
        </p:spPr>
        <p:txBody>
          <a:bodyPr>
            <a:noAutofit/>
          </a:bodyPr>
          <a:lstStyle/>
          <a:p>
            <a:pPr algn="just">
              <a:lnSpc>
                <a:spcPct val="200000"/>
              </a:lnSpc>
            </a:pPr>
            <a:r>
              <a:rPr lang="en-US" sz="2000" dirty="0">
                <a:latin typeface="Arial" panose="020B0604020202020204" pitchFamily="34" charset="0"/>
                <a:cs typeface="Arial" panose="020B0604020202020204" pitchFamily="34" charset="0"/>
              </a:rPr>
              <a:t>Profitability Ratios measure the ability of a business to earn profits in relation to sales, assets, equity, or capital employed.</a:t>
            </a:r>
          </a:p>
          <a:p>
            <a:pPr algn="just">
              <a:lnSpc>
                <a:spcPct val="200000"/>
              </a:lnSpc>
            </a:pPr>
            <a:r>
              <a:rPr lang="en-US" sz="2000" dirty="0">
                <a:latin typeface="Arial" panose="020B0604020202020204" pitchFamily="34" charset="0"/>
                <a:cs typeface="Arial" panose="020B0604020202020204" pitchFamily="34" charset="0"/>
              </a:rPr>
              <a:t>They indicate the overall efficiency of the business in generating earnings.</a:t>
            </a:r>
          </a:p>
          <a:p>
            <a:pPr algn="just">
              <a:lnSpc>
                <a:spcPct val="200000"/>
              </a:lnSpc>
            </a:pPr>
            <a:r>
              <a:rPr lang="en-US" sz="2000" dirty="0">
                <a:latin typeface="Arial" panose="020B0604020202020204" pitchFamily="34" charset="0"/>
                <a:cs typeface="Arial" panose="020B0604020202020204" pitchFamily="34" charset="0"/>
              </a:rPr>
              <a:t>Higher profitability ratios show better financial health and effective utilization of resources.</a:t>
            </a:r>
          </a:p>
          <a:p>
            <a:pPr>
              <a:lnSpc>
                <a:spcPct val="200000"/>
              </a:lnSpc>
            </a:pPr>
            <a:r>
              <a:rPr lang="en-US" sz="2000" dirty="0">
                <a:latin typeface="Arial" panose="020B0604020202020204" pitchFamily="34" charset="0"/>
                <a:cs typeface="Arial" panose="020B0604020202020204" pitchFamily="34" charset="0"/>
              </a:rPr>
              <a:t>Profitability ratios help in comparing performance over time or against industry standards.</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4F2E6700-760A-0C03-1431-532A68C85D4C}"/>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Profitability Ratios</a:t>
            </a:r>
            <a:r>
              <a:rPr lang="en-IN" sz="2800" b="1" dirty="0">
                <a:solidFill>
                  <a:schemeClr val="tx1"/>
                </a:solidFill>
                <a:latin typeface="Arial" panose="020B0604020202020204" pitchFamily="34" charset="0"/>
                <a:cs typeface="Arial" panose="020B0604020202020204" pitchFamily="34" charset="0"/>
              </a:rPr>
              <a:t>  </a:t>
            </a:r>
          </a:p>
        </p:txBody>
      </p:sp>
      <p:pic>
        <p:nvPicPr>
          <p:cNvPr id="6" name="Picture 5">
            <a:extLst>
              <a:ext uri="{FF2B5EF4-FFF2-40B4-BE49-F238E27FC236}">
                <a16:creationId xmlns:a16="http://schemas.microsoft.com/office/drawing/2014/main" id="{A2B0FFCD-0AFD-169D-C3B0-8D8C1CACDD06}"/>
              </a:ext>
            </a:extLst>
          </p:cNvPr>
          <p:cNvPicPr>
            <a:picLocks noChangeAspect="1"/>
          </p:cNvPicPr>
          <p:nvPr/>
        </p:nvPicPr>
        <p:blipFill>
          <a:blip r:embed="rId2"/>
          <a:stretch>
            <a:fillRect/>
          </a:stretch>
        </p:blipFill>
        <p:spPr>
          <a:xfrm>
            <a:off x="11122800" y="45904"/>
            <a:ext cx="966091" cy="887302"/>
          </a:xfrm>
          <a:prstGeom prst="rect">
            <a:avLst/>
          </a:prstGeom>
        </p:spPr>
      </p:pic>
    </p:spTree>
    <p:extLst>
      <p:ext uri="{BB962C8B-B14F-4D97-AF65-F5344CB8AC3E}">
        <p14:creationId xmlns:p14="http://schemas.microsoft.com/office/powerpoint/2010/main" val="2189104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5107" y="933206"/>
            <a:ext cx="8229600" cy="4449764"/>
          </a:xfrm>
        </p:spPr>
        <p:txBody>
          <a:bodyPr>
            <a:normAutofit lnSpcReduction="10000"/>
          </a:bodyPr>
          <a:lstStyle/>
          <a:p>
            <a:pPr>
              <a:lnSpc>
                <a:spcPct val="150000"/>
              </a:lnSpc>
              <a:buNone/>
            </a:pPr>
            <a:r>
              <a:rPr lang="en-US" sz="2000" dirty="0">
                <a:latin typeface="Arial" panose="020B0604020202020204" pitchFamily="34" charset="0"/>
                <a:cs typeface="Arial" panose="020B0604020202020204" pitchFamily="34" charset="0"/>
              </a:rPr>
              <a:t>	Profitability ratios include the following:</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Gross Profit Ratio </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Operating Ratio</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Operating Profit Ratio </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Net Profit Ratio</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Return on Equity</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Return on Assets</a:t>
            </a:r>
          </a:p>
          <a:p>
            <a:pPr marL="514350" indent="-514350">
              <a:lnSpc>
                <a:spcPct val="150000"/>
              </a:lnSpc>
              <a:buAutoNum type="arabicPeriod"/>
            </a:pPr>
            <a:r>
              <a:rPr lang="en-US" sz="2000" dirty="0">
                <a:latin typeface="Arial" panose="020B0604020202020204" pitchFamily="34" charset="0"/>
                <a:cs typeface="Arial" panose="020B0604020202020204" pitchFamily="34" charset="0"/>
              </a:rPr>
              <a:t>Return on Capital Employed </a:t>
            </a:r>
          </a:p>
        </p:txBody>
      </p:sp>
      <p:pic>
        <p:nvPicPr>
          <p:cNvPr id="6" name="Picture 5">
            <a:extLst>
              <a:ext uri="{FF2B5EF4-FFF2-40B4-BE49-F238E27FC236}">
                <a16:creationId xmlns:a16="http://schemas.microsoft.com/office/drawing/2014/main" id="{5DB6502A-5742-80E2-4F7F-319890B6DF5B}"/>
              </a:ext>
            </a:extLst>
          </p:cNvPr>
          <p:cNvPicPr>
            <a:picLocks noChangeAspect="1"/>
          </p:cNvPicPr>
          <p:nvPr/>
        </p:nvPicPr>
        <p:blipFill>
          <a:blip r:embed="rId2"/>
          <a:stretch>
            <a:fillRect/>
          </a:stretch>
        </p:blipFill>
        <p:spPr>
          <a:xfrm>
            <a:off x="11122800" y="45904"/>
            <a:ext cx="966091" cy="887302"/>
          </a:xfrm>
          <a:prstGeom prst="rect">
            <a:avLst/>
          </a:prstGeom>
        </p:spPr>
      </p:pic>
      <p:sp>
        <p:nvSpPr>
          <p:cNvPr id="8" name="Rectangle 7">
            <a:extLst>
              <a:ext uri="{FF2B5EF4-FFF2-40B4-BE49-F238E27FC236}">
                <a16:creationId xmlns:a16="http://schemas.microsoft.com/office/drawing/2014/main" id="{ECCB000F-F36E-2B80-F11E-6DCB7F28E761}"/>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Profitability Ratios</a:t>
            </a:r>
            <a:r>
              <a:rPr lang="en-IN" sz="2800" b="1" dirty="0">
                <a:solidFill>
                  <a:schemeClr val="tx1"/>
                </a:solidFill>
                <a:latin typeface="Arial" panose="020B0604020202020204" pitchFamily="34" charset="0"/>
                <a:cs typeface="Arial" panose="020B0604020202020204" pitchFamily="34" charset="0"/>
              </a:rPr>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609600"/>
                <a:ext cx="7549662" cy="5105400"/>
              </a:xfrm>
            </p:spPr>
            <p:txBody>
              <a:bodyPr>
                <a:noAutofit/>
              </a:bodyPr>
              <a:lstStyle/>
              <a:p>
                <a:pPr marL="0" indent="0" algn="just">
                  <a:lnSpc>
                    <a:spcPct val="150000"/>
                  </a:lnSpc>
                  <a:buSzPct val="85000"/>
                  <a:buNone/>
                </a:pPr>
                <a:r>
                  <a:rPr lang="en-US" altLang="en-US" sz="2000" b="1" dirty="0">
                    <a:cs typeface="Arial" panose="020B0604020202020204" pitchFamily="34" charset="0"/>
                  </a:rPr>
                  <a:t>1.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G</m:t>
                    </m:r>
                    <m:r>
                      <m:rPr>
                        <m:nor/>
                      </m:rPr>
                      <a:rPr lang="en-US" altLang="en-US" sz="2000" b="1" i="0" dirty="0" smtClean="0">
                        <a:latin typeface="Arial" panose="020B0604020202020204" pitchFamily="34" charset="0"/>
                        <a:cs typeface="Arial" panose="020B0604020202020204" pitchFamily="34" charset="0"/>
                      </a:rPr>
                      <m:t>ross</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Profit</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Gross</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Profit</m:t>
                        </m:r>
                      </m:num>
                      <m:den>
                        <m:r>
                          <m:rPr>
                            <m:nor/>
                          </m:rPr>
                          <a:rPr lang="en-US" altLang="en-US" sz="2000" b="0" i="0" smtClean="0">
                            <a:latin typeface="Arial" panose="020B0604020202020204" pitchFamily="34" charset="0"/>
                            <a:cs typeface="Arial" panose="020B0604020202020204" pitchFamily="34" charset="0"/>
                          </a:rPr>
                          <m:t>Revenue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from</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operations</m:t>
                        </m:r>
                      </m:den>
                    </m:f>
                    <m:r>
                      <a:rPr lang="en-US" altLang="en-US" sz="2000" b="0" i="1" smtClean="0">
                        <a:latin typeface="Cambria Math" panose="02040503050406030204" pitchFamily="18" charset="0"/>
                      </a:rPr>
                      <m:t>∗100</m:t>
                    </m:r>
                  </m:oMath>
                </a14:m>
                <a:endParaRPr lang="en-US" sz="2000" dirty="0">
                  <a:latin typeface="Arial" panose="020B0604020202020204" pitchFamily="34" charset="0"/>
                  <a:cs typeface="Arial" panose="020B0604020202020204" pitchFamily="34" charset="0"/>
                </a:endParaRPr>
              </a:p>
              <a:p>
                <a:pPr algn="just">
                  <a:lnSpc>
                    <a:spcPct val="150000"/>
                  </a:lnSpc>
                  <a:buSzPct val="85000"/>
                </a:pPr>
                <a:r>
                  <a:rPr lang="en-US" sz="2000" dirty="0">
                    <a:latin typeface="Arial" panose="020B0604020202020204" pitchFamily="34" charset="0"/>
                    <a:cs typeface="Arial" panose="020B0604020202020204" pitchFamily="34" charset="0"/>
                  </a:rPr>
                  <a:t>It shows the gross margin earned on products sold.</a:t>
                </a:r>
              </a:p>
              <a:p>
                <a:pPr algn="just">
                  <a:lnSpc>
                    <a:spcPct val="150000"/>
                  </a:lnSpc>
                  <a:buSzPct val="85000"/>
                </a:pPr>
                <a:r>
                  <a:rPr lang="en-US" sz="2000" dirty="0">
                    <a:latin typeface="Arial" panose="020B0604020202020204" pitchFamily="34" charset="0"/>
                    <a:cs typeface="Arial" panose="020B0604020202020204" pitchFamily="34" charset="0"/>
                  </a:rPr>
                  <a:t>It indicates the margin available to cover operating and non-operating expenses.</a:t>
                </a:r>
              </a:p>
              <a:p>
                <a:pPr algn="just">
                  <a:lnSpc>
                    <a:spcPct val="150000"/>
                  </a:lnSpc>
                  <a:buSzPct val="85000"/>
                </a:pPr>
                <a:r>
                  <a:rPr lang="en-US" sz="2000" dirty="0">
                    <a:latin typeface="Arial" panose="020B0604020202020204" pitchFamily="34" charset="0"/>
                    <a:cs typeface="Arial" panose="020B0604020202020204" pitchFamily="34" charset="0"/>
                  </a:rPr>
                  <a:t>Changes in the ratio may result from changes in selling price, cost of goods sold, or both.</a:t>
                </a:r>
              </a:p>
              <a:p>
                <a:pPr algn="just">
                  <a:lnSpc>
                    <a:spcPct val="150000"/>
                  </a:lnSpc>
                  <a:buSzPct val="85000"/>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low ratio</a:t>
                </a:r>
                <a:r>
                  <a:rPr lang="en-US" sz="2000" dirty="0">
                    <a:latin typeface="Arial" panose="020B0604020202020204" pitchFamily="34" charset="0"/>
                    <a:cs typeface="Arial" panose="020B0604020202020204" pitchFamily="34" charset="0"/>
                  </a:rPr>
                  <a:t> may suggest unfavorable purchasing or sales policies.</a:t>
                </a:r>
              </a:p>
              <a:p>
                <a:pPr algn="just">
                  <a:lnSpc>
                    <a:spcPct val="150000"/>
                  </a:lnSpc>
                  <a:buSzPct val="85000"/>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high ratio</a:t>
                </a:r>
                <a:r>
                  <a:rPr lang="en-US" sz="2000" dirty="0">
                    <a:latin typeface="Arial" panose="020B0604020202020204" pitchFamily="34" charset="0"/>
                    <a:cs typeface="Arial" panose="020B0604020202020204" pitchFamily="34" charset="0"/>
                  </a:rPr>
                  <a:t> indicates better efficiency and profitability, which is generally a good sign</a:t>
                </a:r>
                <a:r>
                  <a:rPr lang="en-US" sz="2000" dirty="0"/>
                  <a:t>.</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609600"/>
                <a:ext cx="7549662" cy="5105400"/>
              </a:xfrm>
              <a:blipFill>
                <a:blip r:embed="rId2"/>
                <a:stretch>
                  <a:fillRect l="-889" r="-808" b="-12411"/>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62B22FF8-DF55-860A-CF41-7B1715D684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000" y="2095500"/>
            <a:ext cx="3810000" cy="3352800"/>
          </a:xfrm>
          <a:prstGeom prst="rect">
            <a:avLst/>
          </a:prstGeom>
        </p:spPr>
      </p:pic>
      <p:pic>
        <p:nvPicPr>
          <p:cNvPr id="6" name="Picture 5">
            <a:extLst>
              <a:ext uri="{FF2B5EF4-FFF2-40B4-BE49-F238E27FC236}">
                <a16:creationId xmlns:a16="http://schemas.microsoft.com/office/drawing/2014/main" id="{A7372C49-7F33-753C-6FA4-273C619305DF}"/>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8C3DCCAD-62BB-CE24-E3B5-5D45B4B010EA}"/>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Profitability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20646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876300"/>
                <a:ext cx="10556631" cy="5105400"/>
              </a:xfrm>
            </p:spPr>
            <p:txBody>
              <a:bodyPr>
                <a:noAutofit/>
              </a:bodyPr>
              <a:lstStyle/>
              <a:p>
                <a:pPr marL="0" indent="0" algn="just">
                  <a:lnSpc>
                    <a:spcPct val="150000"/>
                  </a:lnSpc>
                  <a:buSzPct val="85000"/>
                  <a:buNone/>
                </a:pPr>
                <a14:m>
                  <m:oMathPara xmlns:m="http://schemas.openxmlformats.org/officeDocument/2006/math">
                    <m:oMathParaPr>
                      <m:jc m:val="centerGroup"/>
                    </m:oMathParaPr>
                    <m:oMath xmlns:m="http://schemas.openxmlformats.org/officeDocument/2006/math">
                      <m:r>
                        <m:rPr>
                          <m:nor/>
                        </m:rPr>
                        <a:rPr lang="en-IN" altLang="en-US" sz="2000" b="1" i="0" dirty="0" smtClean="0">
                          <a:latin typeface="Arial" panose="020B0604020202020204" pitchFamily="34" charset="0"/>
                          <a:cs typeface="Arial" panose="020B0604020202020204" pitchFamily="34" charset="0"/>
                        </a:rPr>
                        <m:t>2. </m:t>
                      </m:r>
                      <m:r>
                        <m:rPr>
                          <m:nor/>
                        </m:rPr>
                        <a:rPr lang="en-US" altLang="en-US" sz="2000" b="1" dirty="0">
                          <a:latin typeface="Arial" panose="020B0604020202020204" pitchFamily="34" charset="0"/>
                          <a:cs typeface="Arial" panose="020B0604020202020204" pitchFamily="34" charset="0"/>
                        </a:rPr>
                        <m:t>O</m:t>
                      </m:r>
                      <m:r>
                        <m:rPr>
                          <m:nor/>
                        </m:rPr>
                        <a:rPr lang="en-US" altLang="en-US" sz="2000" b="1" i="0" dirty="0" smtClean="0">
                          <a:latin typeface="Arial" panose="020B0604020202020204" pitchFamily="34" charset="0"/>
                          <a:cs typeface="Arial" panose="020B0604020202020204" pitchFamily="34" charset="0"/>
                        </a:rPr>
                        <m:t>perating</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sz="2000">
                              <a:latin typeface="Arial" panose="020B0604020202020204" pitchFamily="34" charset="0"/>
                              <a:cs typeface="Arial" panose="020B0604020202020204" pitchFamily="34" charset="0"/>
                            </a:rPr>
                            <m:t>(</m:t>
                          </m:r>
                          <m:r>
                            <m:rPr>
                              <m:nor/>
                            </m:rPr>
                            <a:rPr lang="en-US" sz="2000">
                              <a:latin typeface="Arial" panose="020B0604020202020204" pitchFamily="34" charset="0"/>
                              <a:cs typeface="Arial" panose="020B0604020202020204" pitchFamily="34" charset="0"/>
                            </a:rPr>
                            <m:t>Cost</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of</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Revenue</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from</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Operations</m:t>
                          </m:r>
                          <m:r>
                            <m:rPr>
                              <m:nor/>
                            </m:rPr>
                            <a:rPr lang="en-US" sz="2000">
                              <a:latin typeface="Arial" panose="020B0604020202020204" pitchFamily="34" charset="0"/>
                              <a:cs typeface="Arial" panose="020B0604020202020204" pitchFamily="34" charset="0"/>
                            </a:rPr>
                            <m:t> + </m:t>
                          </m:r>
                          <m:r>
                            <m:rPr>
                              <m:nor/>
                            </m:rPr>
                            <a:rPr lang="en-US" sz="2000">
                              <a:latin typeface="Arial" panose="020B0604020202020204" pitchFamily="34" charset="0"/>
                              <a:cs typeface="Arial" panose="020B0604020202020204" pitchFamily="34" charset="0"/>
                            </a:rPr>
                            <m:t>Operating</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Expenses</m:t>
                          </m:r>
                          <m:r>
                            <m:rPr>
                              <m:nor/>
                            </m:rPr>
                            <a:rPr lang="en-US" sz="2000">
                              <a:latin typeface="Arial" panose="020B0604020202020204" pitchFamily="34" charset="0"/>
                              <a:cs typeface="Arial" panose="020B0604020202020204" pitchFamily="34" charset="0"/>
                            </a:rPr>
                            <m:t>)</m:t>
                          </m:r>
                        </m:num>
                        <m:den>
                          <m:r>
                            <m:rPr>
                              <m:nor/>
                            </m:rPr>
                            <a:rPr lang="en-US" altLang="en-US" sz="2000" b="0" i="0" smtClean="0">
                              <a:latin typeface="Arial" panose="020B0604020202020204" pitchFamily="34" charset="0"/>
                              <a:cs typeface="Arial" panose="020B0604020202020204" pitchFamily="34" charset="0"/>
                            </a:rPr>
                            <m:t>Revenue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from</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operations</m:t>
                          </m:r>
                        </m:den>
                      </m:f>
                      <m:r>
                        <a:rPr lang="en-US" altLang="en-US" sz="2000" b="0" i="1" smtClean="0">
                          <a:latin typeface="Cambria Math" panose="02040503050406030204" pitchFamily="18" charset="0"/>
                        </a:rPr>
                        <m:t>∗100</m:t>
                      </m:r>
                    </m:oMath>
                  </m:oMathPara>
                </a14:m>
                <a:endParaRPr lang="en-US" altLang="en-US" sz="2000" dirty="0">
                  <a:latin typeface="Arial" panose="020B0604020202020204" pitchFamily="34" charset="0"/>
                  <a:cs typeface="Arial" panose="020B0604020202020204" pitchFamily="34" charset="0"/>
                </a:endParaRPr>
              </a:p>
              <a:p>
                <a:pPr algn="just">
                  <a:lnSpc>
                    <a:spcPct val="150000"/>
                  </a:lnSpc>
                  <a:buSzPct val="85000"/>
                </a:pPr>
                <a:r>
                  <a:rPr lang="en-US" sz="2000" dirty="0">
                    <a:latin typeface="Arial" panose="020B0604020202020204" pitchFamily="34" charset="0"/>
                    <a:cs typeface="Arial" panose="020B0604020202020204" pitchFamily="34" charset="0"/>
                  </a:rPr>
                  <a:t>Operating Expenses include administrative, office, selling, distribution, depreciation, and employee benefit expenses.</a:t>
                </a:r>
              </a:p>
              <a:p>
                <a:pPr algn="just">
                  <a:lnSpc>
                    <a:spcPct val="150000"/>
                  </a:lnSpc>
                  <a:buSzPct val="85000"/>
                </a:pPr>
                <a:r>
                  <a:rPr lang="en-US" sz="2000" dirty="0">
                    <a:latin typeface="Arial" panose="020B0604020202020204" pitchFamily="34" charset="0"/>
                    <a:cs typeface="Arial" panose="020B0604020202020204" pitchFamily="34" charset="0"/>
                  </a:rPr>
                  <a:t>The ratio shows the proportion of revenue consumed by operating costs, excluding non-operating items like interest and taxes.</a:t>
                </a:r>
              </a:p>
              <a:p>
                <a:pPr algn="just">
                  <a:lnSpc>
                    <a:spcPct val="150000"/>
                  </a:lnSpc>
                  <a:buSzPct val="85000"/>
                </a:pPr>
                <a:r>
                  <a:rPr lang="en-US" sz="2000" dirty="0">
                    <a:latin typeface="Arial" panose="020B0604020202020204" pitchFamily="34" charset="0"/>
                    <a:cs typeface="Arial" panose="020B0604020202020204" pitchFamily="34" charset="0"/>
                  </a:rPr>
                  <a:t>A lower ratio indicates better efficiency, as more revenue is left for profit.</a:t>
                </a:r>
              </a:p>
              <a:p>
                <a:pPr algn="just">
                  <a:lnSpc>
                    <a:spcPct val="150000"/>
                  </a:lnSpc>
                  <a:buSzPct val="85000"/>
                </a:pPr>
                <a:r>
                  <a:rPr lang="en-US" sz="2000" dirty="0">
                    <a:latin typeface="Arial" panose="020B0604020202020204" pitchFamily="34" charset="0"/>
                    <a:cs typeface="Arial" panose="020B0604020202020204" pitchFamily="34" charset="0"/>
                  </a:rPr>
                  <a:t>A higher ratio suggests higher operating costs, leaving less margin for profit.</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876300"/>
                <a:ext cx="10556631" cy="5105400"/>
              </a:xfrm>
              <a:blipFill>
                <a:blip r:embed="rId2"/>
                <a:stretch>
                  <a:fillRect l="-289" r="-635"/>
                </a:stretch>
              </a:blipFill>
            </p:spPr>
            <p:txBody>
              <a:bodyPr/>
              <a:lstStyle/>
              <a:p>
                <a:r>
                  <a:rPr lang="en-IN">
                    <a:noFill/>
                  </a:rPr>
                  <a:t> </a:t>
                </a:r>
              </a:p>
            </p:txBody>
          </p:sp>
        </mc:Fallback>
      </mc:AlternateContent>
      <p:pic>
        <p:nvPicPr>
          <p:cNvPr id="6" name="Picture 4">
            <a:extLst>
              <a:ext uri="{FF2B5EF4-FFF2-40B4-BE49-F238E27FC236}">
                <a16:creationId xmlns:a16="http://schemas.microsoft.com/office/drawing/2014/main" id="{A54FDD11-3185-D569-0BC1-78997F0B20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8800" y="5046587"/>
            <a:ext cx="2733964" cy="1818339"/>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BBF672DC-C6F1-33C8-2EF3-A8F0A37E7125}"/>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F62DC441-CD4F-7A52-476E-ABF57ADC2CF3}"/>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Profitability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1579526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09246" y="714635"/>
                <a:ext cx="10210800" cy="5105400"/>
              </a:xfrm>
            </p:spPr>
            <p:txBody>
              <a:bodyPr>
                <a:noAutofit/>
              </a:bodyPr>
              <a:lstStyle/>
              <a:p>
                <a:pPr marL="0" indent="0" algn="just">
                  <a:lnSpc>
                    <a:spcPct val="150000"/>
                  </a:lnSpc>
                  <a:buSzPct val="85000"/>
                  <a:buNone/>
                </a:pPr>
                <a:r>
                  <a:rPr lang="en-US" altLang="en-US" sz="2000" dirty="0">
                    <a:latin typeface="Arial" panose="020B0604020202020204" pitchFamily="34" charset="0"/>
                    <a:cs typeface="Arial" panose="020B0604020202020204" pitchFamily="34" charset="0"/>
                  </a:rPr>
                  <a:t>3.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O</m:t>
                    </m:r>
                    <m:r>
                      <m:rPr>
                        <m:nor/>
                      </m:rPr>
                      <a:rPr lang="en-US" altLang="en-US" sz="2000" b="1" i="0" dirty="0" smtClean="0">
                        <a:latin typeface="Arial" panose="020B0604020202020204" pitchFamily="34" charset="0"/>
                        <a:cs typeface="Arial" panose="020B0604020202020204" pitchFamily="34" charset="0"/>
                      </a:rPr>
                      <m:t>peratg</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Profit</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sz="2000" b="0" i="0" smtClean="0">
                            <a:latin typeface="Arial" panose="020B0604020202020204" pitchFamily="34" charset="0"/>
                            <a:cs typeface="Arial" panose="020B0604020202020204" pitchFamily="34" charset="0"/>
                          </a:rPr>
                          <m:t>Operating</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profit</m:t>
                        </m:r>
                      </m:num>
                      <m:den>
                        <m:r>
                          <m:rPr>
                            <m:nor/>
                          </m:rPr>
                          <a:rPr lang="en-US" altLang="en-US" sz="2000" b="0" i="0" smtClean="0">
                            <a:latin typeface="Arial" panose="020B0604020202020204" pitchFamily="34" charset="0"/>
                            <a:cs typeface="Arial" panose="020B0604020202020204" pitchFamily="34" charset="0"/>
                          </a:rPr>
                          <m:t>Revenue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from</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operations</m:t>
                        </m:r>
                      </m:den>
                    </m:f>
                    <m:r>
                      <a:rPr lang="en-US" altLang="en-US" sz="2000" b="0" i="1" smtClean="0">
                        <a:latin typeface="Cambria Math" panose="02040503050406030204" pitchFamily="18" charset="0"/>
                      </a:rPr>
                      <m:t>∗100</m:t>
                    </m:r>
                  </m:oMath>
                </a14:m>
                <a:endParaRPr lang="en-US" altLang="en-US" sz="2000" dirty="0">
                  <a:latin typeface="Arial" panose="020B0604020202020204" pitchFamily="34" charset="0"/>
                  <a:cs typeface="Arial" panose="020B0604020202020204" pitchFamily="34" charset="0"/>
                </a:endParaRPr>
              </a:p>
              <a:p>
                <a:pPr marL="619125" indent="-619125" algn="just"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Where,</a:t>
                </a:r>
              </a:p>
              <a:p>
                <a:pPr marL="619125" indent="-619125" algn="just">
                  <a:lnSpc>
                    <a:spcPct val="150000"/>
                  </a:lnSpc>
                  <a:buSzPct val="85000"/>
                </a:pPr>
                <a:r>
                  <a:rPr lang="en-US" sz="2000" dirty="0">
                    <a:latin typeface="Arial" panose="020B0604020202020204" pitchFamily="34" charset="0"/>
                    <a:cs typeface="Arial" panose="020B0604020202020204" pitchFamily="34" charset="0"/>
                  </a:rPr>
                  <a:t>Operating Profit = Revenue from operations – Operating Costs</a:t>
                </a:r>
              </a:p>
              <a:p>
                <a:pPr marL="619125" indent="-619125" algn="just">
                  <a:lnSpc>
                    <a:spcPct val="150000"/>
                  </a:lnSpc>
                  <a:buSzPct val="85000"/>
                </a:pPr>
                <a:r>
                  <a:rPr lang="en-US" sz="2000" dirty="0">
                    <a:latin typeface="Arial" panose="020B0604020202020204" pitchFamily="34" charset="0"/>
                    <a:cs typeface="Arial" panose="020B0604020202020204" pitchFamily="34" charset="0"/>
                  </a:rPr>
                  <a:t>Operating Costs include administrative expenses, office expenses, selling and distribution expenses, employee benefit expenses, depreciation, and other operating expenses (but exclude interest and tax).</a:t>
                </a:r>
              </a:p>
              <a:p>
                <a:pPr marL="619125" indent="-619125" algn="just">
                  <a:lnSpc>
                    <a:spcPct val="150000"/>
                  </a:lnSpc>
                  <a:buSzPct val="85000"/>
                </a:pPr>
                <a:r>
                  <a:rPr lang="en-US" sz="2000" dirty="0">
                    <a:latin typeface="Arial" panose="020B0604020202020204" pitchFamily="34" charset="0"/>
                    <a:cs typeface="Arial" panose="020B0604020202020204" pitchFamily="34" charset="0"/>
                  </a:rPr>
                  <a:t>Operating Profit Ratio shows how efficiently a company generates profit from its core operations. It is useful for inter-firm and intra-firm comparisons, and a higher ratio indicates better operational efficiency</a:t>
                </a:r>
                <a:r>
                  <a:rPr lang="en-US" sz="2000" b="1" dirty="0"/>
                  <a:t>.</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09246" y="714635"/>
                <a:ext cx="10210800" cy="5105400"/>
              </a:xfrm>
              <a:blipFill>
                <a:blip r:embed="rId2"/>
                <a:stretch>
                  <a:fillRect l="-597" r="-657" b="-1074"/>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B0E53606-23D3-61D9-DD37-8668968EDD9B}"/>
              </a:ext>
            </a:extLst>
          </p:cNvPr>
          <p:cNvPicPr>
            <a:picLocks noChangeAspect="1"/>
          </p:cNvPicPr>
          <p:nvPr/>
        </p:nvPicPr>
        <p:blipFill>
          <a:blip r:embed="rId3"/>
          <a:stretch>
            <a:fillRect/>
          </a:stretch>
        </p:blipFill>
        <p:spPr>
          <a:xfrm>
            <a:off x="11122800" y="45904"/>
            <a:ext cx="966091" cy="887302"/>
          </a:xfrm>
          <a:prstGeom prst="rect">
            <a:avLst/>
          </a:prstGeom>
        </p:spPr>
      </p:pic>
      <p:sp>
        <p:nvSpPr>
          <p:cNvPr id="8" name="Rectangle 7">
            <a:extLst>
              <a:ext uri="{FF2B5EF4-FFF2-40B4-BE49-F238E27FC236}">
                <a16:creationId xmlns:a16="http://schemas.microsoft.com/office/drawing/2014/main" id="{630FD320-14FA-3971-BAFD-A8D77E4F02EA}"/>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Profitability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98321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44769" y="921483"/>
                <a:ext cx="7848600" cy="5105400"/>
              </a:xfrm>
            </p:spPr>
            <p:txBody>
              <a:bodyPr>
                <a:noAutofit/>
              </a:bodyPr>
              <a:lstStyle/>
              <a:p>
                <a:pPr marL="0" indent="0" algn="just">
                  <a:lnSpc>
                    <a:spcPct val="150000"/>
                  </a:lnSpc>
                  <a:buSzPct val="85000"/>
                  <a:buNone/>
                </a:pPr>
                <a:r>
                  <a:rPr lang="en-US" altLang="en-US" sz="2000" b="1" dirty="0">
                    <a:cs typeface="Arial" panose="020B0604020202020204" pitchFamily="34" charset="0"/>
                  </a:rPr>
                  <a:t>4.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N</m:t>
                    </m:r>
                    <m:r>
                      <m:rPr>
                        <m:nor/>
                      </m:rPr>
                      <a:rPr lang="en-US" altLang="en-US" sz="2000" b="1" i="0" dirty="0" smtClean="0">
                        <a:latin typeface="Arial" panose="020B0604020202020204" pitchFamily="34" charset="0"/>
                        <a:cs typeface="Arial" panose="020B0604020202020204" pitchFamily="34" charset="0"/>
                      </a:rPr>
                      <m:t>et</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Profit</m:t>
                    </m:r>
                    <m:r>
                      <m:rPr>
                        <m:nor/>
                      </m:rPr>
                      <a:rPr lang="en-US" altLang="en-US" sz="2000" b="1" dirty="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Net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Profit</m:t>
                        </m:r>
                      </m:num>
                      <m:den>
                        <m:r>
                          <m:rPr>
                            <m:nor/>
                          </m:rPr>
                          <a:rPr lang="en-US" altLang="en-US" sz="2000" b="0" i="0" smtClean="0">
                            <a:latin typeface="Arial" panose="020B0604020202020204" pitchFamily="34" charset="0"/>
                            <a:cs typeface="Arial" panose="020B0604020202020204" pitchFamily="34" charset="0"/>
                          </a:rPr>
                          <m:t>Revenue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from</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operations</m:t>
                        </m:r>
                      </m:den>
                    </m:f>
                    <m:r>
                      <a:rPr lang="en-US" altLang="en-US" sz="2000" b="0" i="1" smtClean="0">
                        <a:latin typeface="Cambria Math" panose="02040503050406030204" pitchFamily="18" charset="0"/>
                      </a:rPr>
                      <m:t>∗100</m:t>
                    </m:r>
                  </m:oMath>
                </a14:m>
                <a:endParaRPr lang="en-US" altLang="en-US" sz="2000" dirty="0">
                  <a:latin typeface="Arial" panose="020B0604020202020204" pitchFamily="34" charset="0"/>
                  <a:cs typeface="Arial" panose="020B0604020202020204" pitchFamily="34" charset="0"/>
                </a:endParaRPr>
              </a:p>
              <a:p>
                <a:pPr algn="just">
                  <a:lnSpc>
                    <a:spcPct val="150000"/>
                  </a:lnSpc>
                  <a:buSzPct val="85000"/>
                </a:pPr>
                <a:r>
                  <a:rPr lang="en-US" sz="2000" dirty="0">
                    <a:latin typeface="Arial" panose="020B0604020202020204" pitchFamily="34" charset="0"/>
                    <a:cs typeface="Arial" panose="020B0604020202020204" pitchFamily="34" charset="0"/>
                  </a:rPr>
                  <a:t>It is a measure of net profit margin in relation to revenue from operations. </a:t>
                </a:r>
              </a:p>
              <a:p>
                <a:pPr algn="just">
                  <a:lnSpc>
                    <a:spcPct val="150000"/>
                  </a:lnSpc>
                  <a:buSzPct val="85000"/>
                </a:pPr>
                <a:r>
                  <a:rPr lang="en-US" sz="2000" dirty="0">
                    <a:latin typeface="Arial" panose="020B0604020202020204" pitchFamily="34" charset="0"/>
                    <a:cs typeface="Arial" panose="020B0604020202020204" pitchFamily="34" charset="0"/>
                  </a:rPr>
                  <a:t>It reveals overall profitability after considering all operating and non-operating items (interest, tax, etc.).</a:t>
                </a:r>
              </a:p>
              <a:p>
                <a:pPr>
                  <a:lnSpc>
                    <a:spcPct val="150000"/>
                  </a:lnSpc>
                  <a:buSzPct val="85000"/>
                </a:pPr>
                <a:r>
                  <a:rPr lang="en-US" sz="2000" dirty="0">
                    <a:latin typeface="Arial" panose="020B0604020202020204" pitchFamily="34" charset="0"/>
                    <a:cs typeface="Arial" panose="020B0604020202020204" pitchFamily="34" charset="0"/>
                  </a:rPr>
                  <a:t>It reflects the overall efficiency of the business and is highly significant from the investors’ point of view.</a:t>
                </a:r>
              </a:p>
              <a:p>
                <a:pPr>
                  <a:lnSpc>
                    <a:spcPct val="150000"/>
                  </a:lnSpc>
                  <a:buSzPct val="85000"/>
                </a:pPr>
                <a:r>
                  <a:rPr lang="en-US" sz="2000" dirty="0">
                    <a:latin typeface="Arial" panose="020B0604020202020204" pitchFamily="34" charset="0"/>
                    <a:cs typeface="Arial" panose="020B0604020202020204" pitchFamily="34" charset="0"/>
                  </a:rPr>
                  <a:t>Higher Net Profit Ratio = better financial health and attractiveness for investors.</a:t>
                </a:r>
                <a:r>
                  <a:rPr lang="en-US" altLang="en-US" sz="2000" dirty="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44769" y="921483"/>
                <a:ext cx="7848600" cy="5105400"/>
              </a:xfrm>
              <a:blipFill>
                <a:blip r:embed="rId2"/>
                <a:stretch>
                  <a:fillRect l="-855" r="-855" b="-835"/>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66F98FC1-3E75-5DC3-BE0F-890C969285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6800" y="3886200"/>
            <a:ext cx="3505200" cy="2857500"/>
          </a:xfrm>
          <a:prstGeom prst="rect">
            <a:avLst/>
          </a:prstGeom>
        </p:spPr>
      </p:pic>
      <p:pic>
        <p:nvPicPr>
          <p:cNvPr id="6" name="Picture 5">
            <a:extLst>
              <a:ext uri="{FF2B5EF4-FFF2-40B4-BE49-F238E27FC236}">
                <a16:creationId xmlns:a16="http://schemas.microsoft.com/office/drawing/2014/main" id="{06B62A6B-4A00-C0CF-E05F-DA32FF5441F1}"/>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F1AE006C-00D2-5726-DE7A-1CE01A5C00BC}"/>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Profitability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083280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3000" y="1219200"/>
                <a:ext cx="9448800" cy="5105400"/>
              </a:xfrm>
            </p:spPr>
            <p:txBody>
              <a:bodyPr>
                <a:noAutofit/>
              </a:bodyPr>
              <a:lstStyle/>
              <a:p>
                <a:pPr marL="0" indent="0" algn="just">
                  <a:lnSpc>
                    <a:spcPct val="150000"/>
                  </a:lnSpc>
                  <a:buSzPct val="85000"/>
                  <a:buNone/>
                </a:pPr>
                <a:r>
                  <a:rPr lang="en-US" altLang="en-US" sz="2000" b="1" dirty="0">
                    <a:cs typeface="Arial" panose="020B0604020202020204" pitchFamily="34" charset="0"/>
                  </a:rPr>
                  <a:t>5.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R</m:t>
                    </m:r>
                    <m:r>
                      <m:rPr>
                        <m:nor/>
                      </m:rPr>
                      <a:rPr lang="en-US" altLang="en-US" sz="2000" b="1" i="0" dirty="0" smtClean="0">
                        <a:latin typeface="Arial" panose="020B0604020202020204" pitchFamily="34" charset="0"/>
                        <a:cs typeface="Arial" panose="020B0604020202020204" pitchFamily="34" charset="0"/>
                      </a:rPr>
                      <m:t>eturn</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on</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Equity</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Net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Profit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Afte</m:t>
                        </m:r>
                        <m:r>
                          <m:rPr>
                            <m:nor/>
                          </m:rPr>
                          <a:rPr lang="en-IN" altLang="en-US" sz="2000" b="0" i="0" smtClean="0">
                            <a:latin typeface="Arial" panose="020B0604020202020204" pitchFamily="34" charset="0"/>
                            <a:cs typeface="Arial" panose="020B0604020202020204" pitchFamily="34" charset="0"/>
                          </a:rPr>
                          <m:t>r</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Tax</m:t>
                        </m:r>
                      </m:num>
                      <m:den>
                        <m:r>
                          <m:rPr>
                            <m:nor/>
                          </m:rPr>
                          <a:rPr lang="en-US" sz="2000" b="0" i="0" smtClean="0">
                            <a:latin typeface="Arial" panose="020B0604020202020204" pitchFamily="34" charset="0"/>
                            <a:cs typeface="Arial" panose="020B0604020202020204" pitchFamily="34" charset="0"/>
                          </a:rPr>
                          <m:t>Shareholder</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s</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Equity</m:t>
                        </m:r>
                      </m:den>
                    </m:f>
                    <m:r>
                      <a:rPr lang="en-US" altLang="en-US" sz="2000" b="0" i="1" smtClean="0">
                        <a:latin typeface="Cambria Math" panose="02040503050406030204" pitchFamily="18" charset="0"/>
                      </a:rPr>
                      <m:t>∗100</m:t>
                    </m:r>
                  </m:oMath>
                </a14:m>
                <a:endParaRPr lang="en-US" altLang="en-US" sz="2000" dirty="0">
                  <a:latin typeface="Arial" panose="020B0604020202020204" pitchFamily="34" charset="0"/>
                  <a:cs typeface="Arial" panose="020B0604020202020204" pitchFamily="34" charset="0"/>
                </a:endParaRPr>
              </a:p>
              <a:p>
                <a:pPr algn="just">
                  <a:lnSpc>
                    <a:spcPct val="150000"/>
                  </a:lnSpc>
                  <a:buSzPct val="85000"/>
                </a:pPr>
                <a:r>
                  <a:rPr lang="en-US" sz="2000" dirty="0">
                    <a:latin typeface="Arial" panose="020B0604020202020204" pitchFamily="34" charset="0"/>
                    <a:cs typeface="Arial" panose="020B0604020202020204" pitchFamily="34" charset="0"/>
                  </a:rPr>
                  <a:t>It measures the return earned on shareholders’ funds (equity share capital + reserves &amp; surplus).</a:t>
                </a:r>
              </a:p>
              <a:p>
                <a:pPr algn="just">
                  <a:lnSpc>
                    <a:spcPct val="150000"/>
                  </a:lnSpc>
                  <a:buSzPct val="85000"/>
                </a:pPr>
                <a:r>
                  <a:rPr lang="en-US" sz="2000" dirty="0">
                    <a:latin typeface="Arial" panose="020B0604020202020204" pitchFamily="34" charset="0"/>
                    <a:cs typeface="Arial" panose="020B0604020202020204" pitchFamily="34" charset="0"/>
                  </a:rPr>
                  <a:t>It is a key ratio for shareholders, as it shows whether their investment is generating satisfactory returns.</a:t>
                </a:r>
              </a:p>
              <a:p>
                <a:pPr algn="just">
                  <a:lnSpc>
                    <a:spcPct val="150000"/>
                  </a:lnSpc>
                  <a:buSzPct val="85000"/>
                </a:pPr>
                <a:r>
                  <a:rPr lang="en-US" sz="2000" dirty="0">
                    <a:latin typeface="Arial" panose="020B0604020202020204" pitchFamily="34" charset="0"/>
                    <a:cs typeface="Arial" panose="020B0604020202020204" pitchFamily="34" charset="0"/>
                  </a:rPr>
                  <a:t>Generally, a higher ROE indicates efficient use of equity capital.</a:t>
                </a:r>
              </a:p>
              <a:p>
                <a:pPr algn="just">
                  <a:lnSpc>
                    <a:spcPct val="150000"/>
                  </a:lnSpc>
                  <a:buSzPct val="85000"/>
                </a:pPr>
                <a:r>
                  <a:rPr lang="en-US" sz="2000" dirty="0">
                    <a:latin typeface="Arial" panose="020B0604020202020204" pitchFamily="34" charset="0"/>
                    <a:cs typeface="Arial" panose="020B0604020202020204" pitchFamily="34" charset="0"/>
                  </a:rPr>
                  <a:t>It should ideally be higher than the cost of equity or comparable investment returns, otherwise it suggests that the firm is not utilizing shareholders’ funds profitably.</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3000" y="1219200"/>
                <a:ext cx="9448800" cy="5105400"/>
              </a:xfrm>
              <a:blipFill>
                <a:blip r:embed="rId2"/>
                <a:stretch>
                  <a:fillRect l="-710" r="-645" b="-955"/>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D70F9174-AE7A-1FA4-017C-20549D6C81D2}"/>
              </a:ext>
            </a:extLst>
          </p:cNvPr>
          <p:cNvPicPr>
            <a:picLocks noChangeAspect="1"/>
          </p:cNvPicPr>
          <p:nvPr/>
        </p:nvPicPr>
        <p:blipFill>
          <a:blip r:embed="rId3"/>
          <a:stretch>
            <a:fillRect/>
          </a:stretch>
        </p:blipFill>
        <p:spPr>
          <a:xfrm>
            <a:off x="11122800" y="45904"/>
            <a:ext cx="966091" cy="887302"/>
          </a:xfrm>
          <a:prstGeom prst="rect">
            <a:avLst/>
          </a:prstGeom>
        </p:spPr>
      </p:pic>
      <p:sp>
        <p:nvSpPr>
          <p:cNvPr id="8" name="Rectangle 7">
            <a:extLst>
              <a:ext uri="{FF2B5EF4-FFF2-40B4-BE49-F238E27FC236}">
                <a16:creationId xmlns:a16="http://schemas.microsoft.com/office/drawing/2014/main" id="{752CC83C-5CE5-27DD-67A2-2B30CB91230E}"/>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Profitability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9743369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68215" y="714635"/>
                <a:ext cx="7549662" cy="5105400"/>
              </a:xfrm>
            </p:spPr>
            <p:txBody>
              <a:bodyPr>
                <a:noAutofit/>
              </a:bodyPr>
              <a:lstStyle/>
              <a:p>
                <a:pPr marL="0" indent="0" algn="just">
                  <a:lnSpc>
                    <a:spcPct val="150000"/>
                  </a:lnSpc>
                  <a:buSzPct val="85000"/>
                  <a:buNone/>
                </a:pPr>
                <a:r>
                  <a:rPr lang="en-US" altLang="en-US" sz="2000" b="1" dirty="0">
                    <a:cs typeface="Arial" panose="020B0604020202020204" pitchFamily="34" charset="0"/>
                  </a:rPr>
                  <a:t>6.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R</m:t>
                    </m:r>
                    <m:r>
                      <m:rPr>
                        <m:nor/>
                      </m:rPr>
                      <a:rPr lang="en-US" altLang="en-US" sz="2000" b="1" i="0" dirty="0" smtClean="0">
                        <a:latin typeface="Arial" panose="020B0604020202020204" pitchFamily="34" charset="0"/>
                        <a:cs typeface="Arial" panose="020B0604020202020204" pitchFamily="34" charset="0"/>
                      </a:rPr>
                      <m:t>eturn</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on</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Assets</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Net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Profit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After</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Tax</m:t>
                        </m:r>
                      </m:num>
                      <m:den>
                        <m:r>
                          <m:rPr>
                            <m:nor/>
                          </m:rPr>
                          <a:rPr lang="en-US" altLang="en-US" sz="2000" b="0" i="0" smtClean="0">
                            <a:latin typeface="Arial" panose="020B0604020202020204" pitchFamily="34" charset="0"/>
                            <a:cs typeface="Arial" panose="020B0604020202020204" pitchFamily="34" charset="0"/>
                          </a:rPr>
                          <m:t>Total</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Assets</m:t>
                        </m:r>
                      </m:den>
                    </m:f>
                    <m:r>
                      <a:rPr lang="en-US" altLang="en-US" sz="2000" b="0" i="1" smtClean="0">
                        <a:latin typeface="Cambria Math" panose="02040503050406030204" pitchFamily="18" charset="0"/>
                      </a:rPr>
                      <m:t>∗100</m:t>
                    </m:r>
                  </m:oMath>
                </a14:m>
                <a:endParaRPr lang="en-US" altLang="en-US" sz="2000" dirty="0">
                  <a:latin typeface="Arial" panose="020B0604020202020204" pitchFamily="34" charset="0"/>
                  <a:cs typeface="Arial" panose="020B0604020202020204" pitchFamily="34" charset="0"/>
                </a:endParaRPr>
              </a:p>
              <a:p>
                <a:pPr marL="619125" indent="-619125" algn="just">
                  <a:lnSpc>
                    <a:spcPct val="150000"/>
                  </a:lnSpc>
                  <a:buSzPct val="85000"/>
                  <a:buFont typeface="Wingdings" panose="05000000000000000000" pitchFamily="2" charset="2"/>
                  <a:buAutoNum type="romanLcPeriod"/>
                </a:pPr>
                <a:endParaRPr lang="en-US" altLang="en-US" sz="2000" dirty="0">
                  <a:latin typeface="Arial" panose="020B0604020202020204" pitchFamily="34" charset="0"/>
                  <a:cs typeface="Arial" panose="020B0604020202020204" pitchFamily="34" charset="0"/>
                </a:endParaRPr>
              </a:p>
              <a:p>
                <a:pPr algn="just">
                  <a:lnSpc>
                    <a:spcPct val="200000"/>
                  </a:lnSpc>
                  <a:buSzPct val="85000"/>
                </a:pPr>
                <a:r>
                  <a:rPr lang="en-US" sz="2000" dirty="0">
                    <a:latin typeface="Arial" panose="020B0604020202020204" pitchFamily="34" charset="0"/>
                    <a:cs typeface="Arial" panose="020B0604020202020204" pitchFamily="34" charset="0"/>
                  </a:rPr>
                  <a:t>It measures how effectively a company uses its total assets to generate net profit.</a:t>
                </a:r>
              </a:p>
              <a:p>
                <a:pPr algn="just">
                  <a:lnSpc>
                    <a:spcPct val="200000"/>
                  </a:lnSpc>
                  <a:buSzPct val="85000"/>
                </a:pPr>
                <a:r>
                  <a:rPr lang="en-US" sz="2000" dirty="0">
                    <a:latin typeface="Arial" panose="020B0604020202020204" pitchFamily="34" charset="0"/>
                    <a:cs typeface="Arial" panose="020B0604020202020204" pitchFamily="34" charset="0"/>
                  </a:rPr>
                  <a:t>A higher ROA indicates that management is more efficient in utilizing economic resources.</a:t>
                </a:r>
              </a:p>
              <a:p>
                <a:pPr algn="just">
                  <a:lnSpc>
                    <a:spcPct val="200000"/>
                  </a:lnSpc>
                  <a:buSzPct val="85000"/>
                </a:pPr>
                <a:r>
                  <a:rPr lang="en-US" sz="2000" dirty="0">
                    <a:latin typeface="Arial" panose="020B0604020202020204" pitchFamily="34" charset="0"/>
                    <a:cs typeface="Arial" panose="020B0604020202020204" pitchFamily="34" charset="0"/>
                  </a:rPr>
                  <a:t>It helps investors and analysts assess the overall profitability relative to asset base</a:t>
                </a:r>
                <a:r>
                  <a:rPr lang="en-US" sz="2000" dirty="0"/>
                  <a:t>.</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68215" y="714635"/>
                <a:ext cx="7549662" cy="5105400"/>
              </a:xfrm>
              <a:blipFill>
                <a:blip r:embed="rId2"/>
                <a:stretch>
                  <a:fillRect l="-889" r="-808" b="-7637"/>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48D9E745-F820-77FC-4200-48C3555C50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0336" y="1181100"/>
            <a:ext cx="3661664" cy="5181600"/>
          </a:xfrm>
          <a:prstGeom prst="rect">
            <a:avLst/>
          </a:prstGeom>
        </p:spPr>
      </p:pic>
      <p:pic>
        <p:nvPicPr>
          <p:cNvPr id="7" name="Picture 6">
            <a:extLst>
              <a:ext uri="{FF2B5EF4-FFF2-40B4-BE49-F238E27FC236}">
                <a16:creationId xmlns:a16="http://schemas.microsoft.com/office/drawing/2014/main" id="{EB9F32E3-5E11-A47B-379A-643015877A21}"/>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35C59B2A-CE97-7DAD-7F5D-122A7F51D74B}"/>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Profitability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203127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04800"/>
                <a:ext cx="8915400" cy="5105400"/>
              </a:xfrm>
            </p:spPr>
            <p:txBody>
              <a:bodyPr>
                <a:noAutofit/>
              </a:bodyPr>
              <a:lstStyle/>
              <a:p>
                <a:pPr marL="619125" indent="-619125" algn="just" eaLnBrk="1" hangingPunct="1">
                  <a:lnSpc>
                    <a:spcPct val="150000"/>
                  </a:lnSpc>
                  <a:buSzPct val="85000"/>
                  <a:buFont typeface="Wingdings" panose="05000000000000000000" pitchFamily="2" charset="2"/>
                  <a:buAutoNum type="romanLcPeriod"/>
                </a:pPr>
                <a:endParaRPr lang="en-US" altLang="en-US" sz="2000" dirty="0">
                  <a:latin typeface="Arial" panose="020B0604020202020204" pitchFamily="34" charset="0"/>
                  <a:cs typeface="Arial" panose="020B0604020202020204" pitchFamily="34" charset="0"/>
                </a:endParaRPr>
              </a:p>
              <a:p>
                <a:pPr marL="0" indent="0" algn="just">
                  <a:lnSpc>
                    <a:spcPct val="150000"/>
                  </a:lnSpc>
                  <a:buSzPct val="85000"/>
                  <a:buNone/>
                </a:pPr>
                <a:r>
                  <a:rPr lang="en-US" altLang="en-US" sz="2000" b="1" dirty="0">
                    <a:cs typeface="Arial" panose="020B0604020202020204" pitchFamily="34" charset="0"/>
                  </a:rPr>
                  <a:t>7.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R</m:t>
                    </m:r>
                    <m:r>
                      <m:rPr>
                        <m:nor/>
                      </m:rPr>
                      <a:rPr lang="en-US" altLang="en-US" sz="2000" b="1" i="0" dirty="0" smtClean="0">
                        <a:latin typeface="Arial" panose="020B0604020202020204" pitchFamily="34" charset="0"/>
                        <a:cs typeface="Arial" panose="020B0604020202020204" pitchFamily="34" charset="0"/>
                      </a:rPr>
                      <m:t>eturn</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on</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Capital</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Employed</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Eaing</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Before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Interest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and</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Tax</m:t>
                        </m:r>
                      </m:num>
                      <m:den>
                        <m:r>
                          <m:rPr>
                            <m:nor/>
                          </m:rPr>
                          <a:rPr lang="en-US" altLang="en-US" sz="2000" b="0" i="0" smtClean="0">
                            <a:latin typeface="Arial" panose="020B0604020202020204" pitchFamily="34" charset="0"/>
                            <a:cs typeface="Arial" panose="020B0604020202020204" pitchFamily="34" charset="0"/>
                          </a:rPr>
                          <m:t>Capital</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Employed</m:t>
                        </m:r>
                      </m:den>
                    </m:f>
                    <m:r>
                      <a:rPr lang="en-US" altLang="en-US" sz="2000" b="0" i="1" smtClean="0">
                        <a:latin typeface="Cambria Math" panose="02040503050406030204" pitchFamily="18" charset="0"/>
                      </a:rPr>
                      <m:t>∗100</m:t>
                    </m:r>
                  </m:oMath>
                </a14:m>
                <a:endParaRPr lang="en-US" altLang="en-US" sz="2000" dirty="0">
                  <a:latin typeface="Arial" panose="020B0604020202020204" pitchFamily="34" charset="0"/>
                  <a:cs typeface="Arial" panose="020B0604020202020204" pitchFamily="34" charset="0"/>
                </a:endParaRPr>
              </a:p>
              <a:p>
                <a:pPr marL="619125" indent="-619125" algn="just"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Capital Employed = Total Assets – Current Liabilities</a:t>
                </a:r>
                <a:r>
                  <a:rPr lang="en-US" sz="2000" dirty="0">
                    <a:latin typeface="Arial" panose="020B0604020202020204" pitchFamily="34" charset="0"/>
                    <a:cs typeface="Arial" panose="020B0604020202020204" pitchFamily="34" charset="0"/>
                  </a:rPr>
                  <a:t> </a:t>
                </a:r>
              </a:p>
              <a:p>
                <a:pPr algn="just">
                  <a:lnSpc>
                    <a:spcPct val="150000"/>
                  </a:lnSpc>
                  <a:buSzPct val="85000"/>
                </a:pPr>
                <a:r>
                  <a:rPr lang="en-US" sz="2000" dirty="0">
                    <a:latin typeface="Arial" panose="020B0604020202020204" pitchFamily="34" charset="0"/>
                    <a:cs typeface="Arial" panose="020B0604020202020204" pitchFamily="34" charset="0"/>
                  </a:rPr>
                  <a:t>ROCE measures how efficiently a company is using its long-term capital to generate operating profits.</a:t>
                </a:r>
              </a:p>
              <a:p>
                <a:pPr algn="just">
                  <a:lnSpc>
                    <a:spcPct val="150000"/>
                  </a:lnSpc>
                  <a:buSzPct val="85000"/>
                </a:pPr>
                <a:r>
                  <a:rPr lang="en-US" sz="2000" dirty="0">
                    <a:latin typeface="Arial" panose="020B0604020202020204" pitchFamily="34" charset="0"/>
                    <a:cs typeface="Arial" panose="020B0604020202020204" pitchFamily="34" charset="0"/>
                  </a:rPr>
                  <a:t>It is considered one of the most important profitability and efficiency ratios.</a:t>
                </a:r>
              </a:p>
              <a:p>
                <a:pPr algn="just">
                  <a:lnSpc>
                    <a:spcPct val="150000"/>
                  </a:lnSpc>
                  <a:buSzPct val="85000"/>
                </a:pPr>
                <a:r>
                  <a:rPr lang="en-US" sz="2000" dirty="0">
                    <a:latin typeface="Arial" panose="020B0604020202020204" pitchFamily="34" charset="0"/>
                    <a:cs typeface="Arial" panose="020B0604020202020204" pitchFamily="34" charset="0"/>
                  </a:rPr>
                  <a:t>Widely used by investors and analysts to evaluate whether a company is generating adequate returns compared to the capital invested.</a:t>
                </a:r>
              </a:p>
              <a:p>
                <a:pPr algn="just">
                  <a:lnSpc>
                    <a:spcPct val="150000"/>
                  </a:lnSpc>
                  <a:buSzPct val="85000"/>
                </a:pPr>
                <a:r>
                  <a:rPr lang="en-US" sz="2000" dirty="0">
                    <a:latin typeface="Arial" panose="020B0604020202020204" pitchFamily="34" charset="0"/>
                    <a:cs typeface="Arial" panose="020B0604020202020204" pitchFamily="34" charset="0"/>
                  </a:rPr>
                  <a:t>Higher ROCE = better efficiency and profitability.</a:t>
                </a:r>
                <a:endParaRPr lang="en-US" altLang="en-US" sz="2000" dirty="0">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304800"/>
                <a:ext cx="8915400" cy="5105400"/>
              </a:xfrm>
              <a:blipFill>
                <a:blip r:embed="rId2"/>
                <a:stretch>
                  <a:fillRect l="-752" r="-684" b="-5967"/>
                </a:stretch>
              </a:blipFill>
            </p:spPr>
            <p:txBody>
              <a:bodyPr/>
              <a:lstStyle/>
              <a:p>
                <a:r>
                  <a:rPr lang="en-IN">
                    <a:noFill/>
                  </a:rPr>
                  <a:t> </a:t>
                </a:r>
              </a:p>
            </p:txBody>
          </p:sp>
        </mc:Fallback>
      </mc:AlternateContent>
      <p:pic>
        <p:nvPicPr>
          <p:cNvPr id="6" name="Picture 23">
            <a:extLst>
              <a:ext uri="{FF2B5EF4-FFF2-40B4-BE49-F238E27FC236}">
                <a16:creationId xmlns:a16="http://schemas.microsoft.com/office/drawing/2014/main" id="{C532A865-CD6E-42FB-3D59-9464BAF56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3600" y="1277815"/>
            <a:ext cx="35052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D38946C3-1B41-C00E-AF78-C28AAAB80D18}"/>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52F9E18F-A910-4037-EB00-F58DDE190340}"/>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Profitability Ratios</a:t>
            </a:r>
            <a:r>
              <a:rPr lang="en-IN" sz="2800" b="1"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26405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956652"/>
            <a:ext cx="10134600" cy="3505200"/>
          </a:xfrm>
        </p:spPr>
        <p:txBody>
          <a:bodyPr>
            <a:noAutofit/>
          </a:bodyPr>
          <a:lstStyle/>
          <a:p>
            <a:pPr>
              <a:lnSpc>
                <a:spcPct val="150000"/>
              </a:lnSpc>
            </a:pPr>
            <a:r>
              <a:rPr lang="en-US" sz="2000" dirty="0">
                <a:latin typeface="Arial" panose="020B0604020202020204" pitchFamily="34" charset="0"/>
                <a:cs typeface="Arial" panose="020B0604020202020204" pitchFamily="34" charset="0"/>
              </a:rPr>
              <a:t>Valuation ratios link a company’s market value (share price) with its fundamentals such as earnings, book value, sales, or dividends.</a:t>
            </a:r>
          </a:p>
          <a:p>
            <a:pPr>
              <a:lnSpc>
                <a:spcPct val="150000"/>
              </a:lnSpc>
            </a:pPr>
            <a:r>
              <a:rPr lang="en-US" sz="2000" dirty="0">
                <a:latin typeface="Arial" panose="020B0604020202020204" pitchFamily="34" charset="0"/>
                <a:cs typeface="Arial" panose="020B0604020202020204" pitchFamily="34" charset="0"/>
              </a:rPr>
              <a:t>They help investors judge if a stock is undervalued, fairly valued, or overvalued.</a:t>
            </a:r>
          </a:p>
          <a:p>
            <a:pPr>
              <a:lnSpc>
                <a:spcPct val="150000"/>
              </a:lnSpc>
            </a:pPr>
            <a:r>
              <a:rPr lang="en-US" sz="2000" dirty="0">
                <a:latin typeface="Arial" panose="020B0604020202020204" pitchFamily="34" charset="0"/>
                <a:cs typeface="Arial" panose="020B0604020202020204" pitchFamily="34" charset="0"/>
              </a:rPr>
              <a:t>Useful for comparing companies within the same industry or across markets.</a:t>
            </a:r>
          </a:p>
          <a:p>
            <a:pPr>
              <a:lnSpc>
                <a:spcPct val="150000"/>
              </a:lnSpc>
            </a:pPr>
            <a:r>
              <a:rPr lang="en-US" sz="2000" dirty="0">
                <a:latin typeface="Arial" panose="020B0604020202020204" pitchFamily="34" charset="0"/>
                <a:cs typeface="Arial" panose="020B0604020202020204" pitchFamily="34" charset="0"/>
              </a:rPr>
              <a:t>Guide buy/hold/sell decisions and reflect market expectations about future growth</a:t>
            </a: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16C970B-8502-C079-899F-C8273CF2A9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7200" y="4537542"/>
            <a:ext cx="4124036" cy="2320458"/>
          </a:xfrm>
          <a:prstGeom prst="rect">
            <a:avLst/>
          </a:prstGeom>
        </p:spPr>
      </p:pic>
      <p:sp>
        <p:nvSpPr>
          <p:cNvPr id="5" name="Rectangle 4">
            <a:extLst>
              <a:ext uri="{FF2B5EF4-FFF2-40B4-BE49-F238E27FC236}">
                <a16:creationId xmlns:a16="http://schemas.microsoft.com/office/drawing/2014/main" id="{95C2A792-D006-4317-0FD7-B13201F4717B}"/>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Valuation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57168C9-DBE4-6C41-E64E-2220DF010AE7}"/>
              </a:ext>
            </a:extLst>
          </p:cNvPr>
          <p:cNvPicPr>
            <a:picLocks noChangeAspect="1"/>
          </p:cNvPicPr>
          <p:nvPr/>
        </p:nvPicPr>
        <p:blipFill>
          <a:blip r:embed="rId3"/>
          <a:stretch>
            <a:fillRect/>
          </a:stretch>
        </p:blipFill>
        <p:spPr>
          <a:xfrm>
            <a:off x="11122800" y="45904"/>
            <a:ext cx="966091" cy="887302"/>
          </a:xfrm>
          <a:prstGeom prst="rect">
            <a:avLst/>
          </a:prstGeom>
        </p:spPr>
      </p:pic>
    </p:spTree>
    <p:extLst>
      <p:ext uri="{BB962C8B-B14F-4D97-AF65-F5344CB8AC3E}">
        <p14:creationId xmlns:p14="http://schemas.microsoft.com/office/powerpoint/2010/main" val="21559746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4931" y="304800"/>
            <a:ext cx="8229600" cy="4449764"/>
          </a:xfrm>
        </p:spPr>
        <p:txBody>
          <a:bodyPr>
            <a:normAutofit fontScale="92500" lnSpcReduction="20000"/>
          </a:bodyPr>
          <a:lstStyle/>
          <a:p>
            <a:pPr>
              <a:lnSpc>
                <a:spcPct val="200000"/>
              </a:lnSpc>
              <a:buNone/>
            </a:pPr>
            <a:endParaRPr lang="en-US" sz="2000" dirty="0">
              <a:latin typeface="Arial" panose="020B0604020202020204" pitchFamily="34" charset="0"/>
              <a:cs typeface="Arial" panose="020B0604020202020204" pitchFamily="34" charset="0"/>
            </a:endParaRPr>
          </a:p>
          <a:p>
            <a:pPr marL="0" indent="0">
              <a:lnSpc>
                <a:spcPct val="200000"/>
              </a:lnSpc>
              <a:buNone/>
            </a:pPr>
            <a:r>
              <a:rPr lang="en-US" sz="2000" dirty="0">
                <a:latin typeface="Arial" panose="020B0604020202020204" pitchFamily="34" charset="0"/>
                <a:cs typeface="Arial" panose="020B0604020202020204" pitchFamily="34" charset="0"/>
              </a:rPr>
              <a:t>Valuation ratio include the fallowing: </a:t>
            </a:r>
          </a:p>
          <a:p>
            <a:pPr marL="514350" indent="-514350">
              <a:lnSpc>
                <a:spcPct val="200000"/>
              </a:lnSpc>
              <a:buAutoNum type="arabicPeriod"/>
            </a:pPr>
            <a:r>
              <a:rPr lang="en-US" sz="2000" dirty="0">
                <a:latin typeface="Arial" panose="020B0604020202020204" pitchFamily="34" charset="0"/>
                <a:cs typeface="Arial" panose="020B0604020202020204" pitchFamily="34" charset="0"/>
              </a:rPr>
              <a:t>Earning Per Share (EPS)</a:t>
            </a:r>
          </a:p>
          <a:p>
            <a:pPr marL="514350" indent="-514350">
              <a:lnSpc>
                <a:spcPct val="200000"/>
              </a:lnSpc>
              <a:buAutoNum type="arabicPeriod"/>
            </a:pPr>
            <a:r>
              <a:rPr lang="en-US" sz="2000" dirty="0">
                <a:latin typeface="Arial" panose="020B0604020202020204" pitchFamily="34" charset="0"/>
                <a:cs typeface="Arial" panose="020B0604020202020204" pitchFamily="34" charset="0"/>
              </a:rPr>
              <a:t>Dividend Per Share (DPS)</a:t>
            </a:r>
          </a:p>
          <a:p>
            <a:pPr marL="514350" indent="-514350">
              <a:lnSpc>
                <a:spcPct val="200000"/>
              </a:lnSpc>
              <a:buAutoNum type="arabicPeriod"/>
            </a:pPr>
            <a:r>
              <a:rPr lang="en-US" sz="2000" dirty="0">
                <a:latin typeface="Arial" panose="020B0604020202020204" pitchFamily="34" charset="0"/>
                <a:cs typeface="Arial" panose="020B0604020202020204" pitchFamily="34" charset="0"/>
              </a:rPr>
              <a:t>Book Value Per Share</a:t>
            </a:r>
          </a:p>
          <a:p>
            <a:pPr marL="514350" indent="-514350">
              <a:lnSpc>
                <a:spcPct val="200000"/>
              </a:lnSpc>
              <a:buAutoNum type="arabicPeriod"/>
            </a:pPr>
            <a:r>
              <a:rPr lang="en-US" sz="2000" dirty="0">
                <a:latin typeface="Arial" panose="020B0604020202020204" pitchFamily="34" charset="0"/>
                <a:cs typeface="Arial" panose="020B0604020202020204" pitchFamily="34" charset="0"/>
              </a:rPr>
              <a:t>Price-to-Book ratio</a:t>
            </a:r>
          </a:p>
          <a:p>
            <a:pPr marL="514350" indent="-514350">
              <a:lnSpc>
                <a:spcPct val="200000"/>
              </a:lnSpc>
              <a:buAutoNum type="arabicPeriod"/>
            </a:pPr>
            <a:r>
              <a:rPr lang="en-US" sz="2000" dirty="0">
                <a:latin typeface="Arial" panose="020B0604020202020204" pitchFamily="34" charset="0"/>
                <a:cs typeface="Arial" panose="020B0604020202020204" pitchFamily="34" charset="0"/>
              </a:rPr>
              <a:t>Price Earning Ratio (PE Ratio)</a:t>
            </a:r>
          </a:p>
        </p:txBody>
      </p:sp>
      <p:pic>
        <p:nvPicPr>
          <p:cNvPr id="7" name="Picture 6">
            <a:extLst>
              <a:ext uri="{FF2B5EF4-FFF2-40B4-BE49-F238E27FC236}">
                <a16:creationId xmlns:a16="http://schemas.microsoft.com/office/drawing/2014/main" id="{6988EBBF-4A79-4DB2-EE0F-262EDE97A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901536"/>
            <a:ext cx="6172200" cy="3686175"/>
          </a:xfrm>
          <a:prstGeom prst="rect">
            <a:avLst/>
          </a:prstGeom>
        </p:spPr>
      </p:pic>
      <p:pic>
        <p:nvPicPr>
          <p:cNvPr id="6" name="Picture 5">
            <a:extLst>
              <a:ext uri="{FF2B5EF4-FFF2-40B4-BE49-F238E27FC236}">
                <a16:creationId xmlns:a16="http://schemas.microsoft.com/office/drawing/2014/main" id="{28884463-280B-CB19-E590-91B13ECBEBF1}"/>
              </a:ext>
            </a:extLst>
          </p:cNvPr>
          <p:cNvPicPr>
            <a:picLocks noChangeAspect="1"/>
          </p:cNvPicPr>
          <p:nvPr/>
        </p:nvPicPr>
        <p:blipFill>
          <a:blip r:embed="rId3"/>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11DDF5CB-A475-4B90-1957-82C17567584D}"/>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Valuation Ratios</a:t>
            </a:r>
            <a:endParaRPr lang="en-IN"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38609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714635"/>
                <a:ext cx="8692662" cy="5105400"/>
              </a:xfrm>
            </p:spPr>
            <p:txBody>
              <a:bodyPr>
                <a:noAutofit/>
              </a:bodyPr>
              <a:lstStyle/>
              <a:p>
                <a:pPr marL="0" indent="0" algn="just">
                  <a:lnSpc>
                    <a:spcPct val="150000"/>
                  </a:lnSpc>
                  <a:buSzPct val="85000"/>
                  <a:buNone/>
                </a:pPr>
                <a:r>
                  <a:rPr lang="en-US" altLang="en-US" sz="2000" b="1" dirty="0">
                    <a:cs typeface="Arial" panose="020B0604020202020204" pitchFamily="34" charset="0"/>
                  </a:rPr>
                  <a:t>1.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E</m:t>
                    </m:r>
                    <m:r>
                      <m:rPr>
                        <m:nor/>
                      </m:rPr>
                      <a:rPr lang="en-US" altLang="en-US" sz="2000" b="1" i="0" dirty="0" smtClean="0">
                        <a:latin typeface="Arial" panose="020B0604020202020204" pitchFamily="34" charset="0"/>
                        <a:cs typeface="Arial" panose="020B0604020202020204" pitchFamily="34" charset="0"/>
                      </a:rPr>
                      <m:t>arning</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Per</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Share</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Earnings</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avaible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for</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Equity</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Shareholders</m:t>
                        </m:r>
                      </m:num>
                      <m:den>
                        <m:r>
                          <m:rPr>
                            <m:nor/>
                          </m:rPr>
                          <a:rPr lang="en-US" altLang="en-US" sz="2000" b="0" i="0" smtClean="0">
                            <a:latin typeface="Arial" panose="020B0604020202020204" pitchFamily="34" charset="0"/>
                            <a:cs typeface="Arial" panose="020B0604020202020204" pitchFamily="34" charset="0"/>
                          </a:rPr>
                          <m:t>No</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of</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Equity</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shares</m:t>
                        </m:r>
                      </m:den>
                    </m:f>
                  </m:oMath>
                </a14:m>
                <a:endParaRPr lang="en-US" altLang="en-US" sz="2000" dirty="0">
                  <a:latin typeface="Arial" panose="020B0604020202020204" pitchFamily="34" charset="0"/>
                  <a:cs typeface="Arial" panose="020B0604020202020204" pitchFamily="34" charset="0"/>
                </a:endParaRPr>
              </a:p>
              <a:p>
                <a:pPr marL="619125" indent="-619125" eaLnBrk="1" hangingPunct="1">
                  <a:lnSpc>
                    <a:spcPct val="150000"/>
                  </a:lnSpc>
                  <a:buSzPct val="85000"/>
                  <a:buFont typeface="Wingdings" panose="05000000000000000000" pitchFamily="2" charset="2"/>
                  <a:buNone/>
                </a:pPr>
                <a14:m>
                  <m:oMath xmlns:m="http://schemas.openxmlformats.org/officeDocument/2006/math">
                    <m:r>
                      <m:rPr>
                        <m:nor/>
                      </m:rPr>
                      <a:rPr lang="en-US" altLang="en-US" sz="2000" b="0" i="0" smtClean="0">
                        <a:latin typeface="Arial" panose="020B0604020202020204" pitchFamily="34" charset="0"/>
                        <a:cs typeface="Arial" panose="020B0604020202020204" pitchFamily="34" charset="0"/>
                      </a:rPr>
                      <m:t>Earnings</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available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for</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Equity</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Shareholders</m:t>
                    </m:r>
                  </m:oMath>
                </a14:m>
                <a:r>
                  <a:rPr lang="en-US" altLang="en-US" sz="2000" dirty="0">
                    <a:latin typeface="Arial" panose="020B0604020202020204" pitchFamily="34" charset="0"/>
                    <a:cs typeface="Arial" panose="020B0604020202020204" pitchFamily="34" charset="0"/>
                  </a:rPr>
                  <a:t> = Profit After Tax – Preference Dividend</a:t>
                </a:r>
                <a:r>
                  <a:rPr lang="en-US" sz="2000"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					  </a:t>
                </a:r>
              </a:p>
              <a:p>
                <a:pPr>
                  <a:lnSpc>
                    <a:spcPct val="150000"/>
                  </a:lnSpc>
                </a:pPr>
                <a:r>
                  <a:rPr lang="en-US" sz="2000" dirty="0">
                    <a:latin typeface="Arial" panose="020B0604020202020204" pitchFamily="34" charset="0"/>
                    <a:cs typeface="Arial" panose="020B0604020202020204" pitchFamily="34" charset="0"/>
                  </a:rPr>
                  <a:t>EPS shows how much profit is attributable to each equity share.</a:t>
                </a:r>
              </a:p>
              <a:p>
                <a:pPr>
                  <a:lnSpc>
                    <a:spcPct val="150000"/>
                  </a:lnSpc>
                </a:pPr>
                <a:r>
                  <a:rPr lang="en-US" sz="2000" dirty="0">
                    <a:latin typeface="Arial" panose="020B0604020202020204" pitchFamily="34" charset="0"/>
                    <a:cs typeface="Arial" panose="020B0604020202020204" pitchFamily="34" charset="0"/>
                  </a:rPr>
                  <a:t>It is one of the most widely used indicators of a company’s profitability and market valuation.</a:t>
                </a:r>
              </a:p>
              <a:p>
                <a:pPr>
                  <a:lnSpc>
                    <a:spcPct val="150000"/>
                  </a:lnSpc>
                </a:pPr>
                <a:r>
                  <a:rPr lang="en-US" sz="2000" dirty="0">
                    <a:latin typeface="Arial" panose="020B0604020202020204" pitchFamily="34" charset="0"/>
                    <a:cs typeface="Arial" panose="020B0604020202020204" pitchFamily="34" charset="0"/>
                  </a:rPr>
                  <a:t>A higher EPS generally indicates better profitability and may increase the attractiveness of the company’s shares.</a:t>
                </a:r>
              </a:p>
              <a:p>
                <a:pPr>
                  <a:lnSpc>
                    <a:spcPct val="150000"/>
                  </a:lnSpc>
                </a:pPr>
                <a:r>
                  <a:rPr lang="en-US" sz="2000" dirty="0">
                    <a:latin typeface="Arial" panose="020B0604020202020204" pitchFamily="34" charset="0"/>
                    <a:cs typeface="Arial" panose="020B0604020202020204" pitchFamily="34" charset="0"/>
                  </a:rPr>
                  <a:t> Investors also compare EPS with the market price (through P/E ratio) to judge if the stock is overvalued or undervalued.</a:t>
                </a:r>
                <a:endParaRPr lang="en-US" sz="2000" i="0" dirty="0">
                  <a:solidFill>
                    <a:srgbClr val="DDDAD6"/>
                  </a:solidFill>
                  <a:effectLst/>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714635"/>
                <a:ext cx="8692662" cy="5105400"/>
              </a:xfrm>
              <a:blipFill>
                <a:blip r:embed="rId2"/>
                <a:stretch>
                  <a:fillRect l="-771" r="-421" b="-12411"/>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D897775D-6087-DF8B-869A-03EFA94E2E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1691" y="1037965"/>
            <a:ext cx="3050309" cy="3352800"/>
          </a:xfrm>
          <a:prstGeom prst="rect">
            <a:avLst/>
          </a:prstGeom>
        </p:spPr>
      </p:pic>
      <p:pic>
        <p:nvPicPr>
          <p:cNvPr id="7" name="Picture 6">
            <a:extLst>
              <a:ext uri="{FF2B5EF4-FFF2-40B4-BE49-F238E27FC236}">
                <a16:creationId xmlns:a16="http://schemas.microsoft.com/office/drawing/2014/main" id="{D0BE7458-70A9-718A-36C0-FA235DCC4A0E}"/>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183D200B-907A-B1DC-D562-4F6654654B8F}"/>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Valuation Ratios</a:t>
            </a:r>
            <a:endParaRPr lang="en-IN"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31098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59601" y="921483"/>
                <a:ext cx="10328030" cy="5105400"/>
              </a:xfrm>
            </p:spPr>
            <p:txBody>
              <a:bodyPr>
                <a:noAutofit/>
              </a:bodyPr>
              <a:lstStyle/>
              <a:p>
                <a:pPr marL="0" indent="0" algn="just">
                  <a:lnSpc>
                    <a:spcPct val="150000"/>
                  </a:lnSpc>
                  <a:buSzPct val="85000"/>
                  <a:buNone/>
                </a:pPr>
                <a:r>
                  <a:rPr lang="en-US" altLang="en-US" sz="2000" b="1" dirty="0">
                    <a:cs typeface="Arial" panose="020B0604020202020204" pitchFamily="34" charset="0"/>
                  </a:rPr>
                  <a:t>2.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D</m:t>
                    </m:r>
                    <m:r>
                      <m:rPr>
                        <m:nor/>
                      </m:rPr>
                      <a:rPr lang="en-US" altLang="en-US" sz="2000" b="1" i="0" dirty="0" smtClean="0">
                        <a:latin typeface="Arial" panose="020B0604020202020204" pitchFamily="34" charset="0"/>
                        <a:cs typeface="Arial" panose="020B0604020202020204" pitchFamily="34" charset="0"/>
                      </a:rPr>
                      <m:t>ividend</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Per</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Share</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Total</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Dividend</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Declared</m:t>
                        </m:r>
                      </m:num>
                      <m:den>
                        <m:r>
                          <m:rPr>
                            <m:nor/>
                          </m:rPr>
                          <a:rPr lang="en-US" altLang="en-US" sz="2000" b="0" i="0" smtClean="0">
                            <a:latin typeface="Arial" panose="020B0604020202020204" pitchFamily="34" charset="0"/>
                            <a:cs typeface="Arial" panose="020B0604020202020204" pitchFamily="34" charset="0"/>
                          </a:rPr>
                          <m:t>No</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of</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Equity</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shares</m:t>
                        </m:r>
                      </m:den>
                    </m:f>
                  </m:oMath>
                </a14:m>
                <a:endParaRPr lang="en-US" altLang="en-US" sz="2000" dirty="0">
                  <a:latin typeface="Arial" panose="020B0604020202020204" pitchFamily="34" charset="0"/>
                  <a:cs typeface="Arial" panose="020B0604020202020204" pitchFamily="34" charset="0"/>
                </a:endParaRPr>
              </a:p>
              <a:p>
                <a:pPr marL="619125" indent="-619125"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a:p>
                <a:pPr>
                  <a:lnSpc>
                    <a:spcPct val="150000"/>
                  </a:lnSpc>
                </a:pPr>
                <a:r>
                  <a:rPr lang="en-US" sz="2000" dirty="0">
                    <a:latin typeface="Arial" panose="020B0604020202020204" pitchFamily="34" charset="0"/>
                    <a:cs typeface="Arial" panose="020B0604020202020204" pitchFamily="34" charset="0"/>
                  </a:rPr>
                  <a:t>DPS represents the dividend distributed per equity share.</a:t>
                </a:r>
              </a:p>
              <a:p>
                <a:pPr>
                  <a:lnSpc>
                    <a:spcPct val="150000"/>
                  </a:lnSpc>
                </a:pPr>
                <a:r>
                  <a:rPr lang="en-US" sz="2000" dirty="0">
                    <a:latin typeface="Arial" panose="020B0604020202020204" pitchFamily="34" charset="0"/>
                    <a:cs typeface="Arial" panose="020B0604020202020204" pitchFamily="34" charset="0"/>
                  </a:rPr>
                  <a:t>It directly indicates the cash return to shareholders from company profits.</a:t>
                </a:r>
              </a:p>
              <a:p>
                <a:pPr>
                  <a:lnSpc>
                    <a:spcPct val="150000"/>
                  </a:lnSpc>
                </a:pPr>
                <a:r>
                  <a:rPr lang="en-US" sz="2000" dirty="0">
                    <a:latin typeface="Arial" panose="020B0604020202020204" pitchFamily="34" charset="0"/>
                    <a:cs typeface="Arial" panose="020B0604020202020204" pitchFamily="34" charset="0"/>
                  </a:rPr>
                  <a:t>It is important for investors as it reflects the company’s dividend policy and income potential.</a:t>
                </a:r>
              </a:p>
              <a:p>
                <a:pPr>
                  <a:lnSpc>
                    <a:spcPct val="150000"/>
                  </a:lnSpc>
                </a:pPr>
                <a:r>
                  <a:rPr lang="en-US" sz="2000" dirty="0">
                    <a:latin typeface="Arial" panose="020B0604020202020204" pitchFamily="34" charset="0"/>
                    <a:cs typeface="Arial" panose="020B0604020202020204" pitchFamily="34" charset="0"/>
                  </a:rPr>
                  <a:t>A rising DPS over time signals strong earnings growth and management’s confidence in sustaining performance.</a:t>
                </a:r>
              </a:p>
              <a:p>
                <a:pPr algn="l">
                  <a:lnSpc>
                    <a:spcPct val="150000"/>
                  </a:lnSpc>
                  <a:buFont typeface="Arial" panose="020B0604020202020204" pitchFamily="34" charset="0"/>
                  <a:buChar char="•"/>
                </a:pPr>
                <a:endParaRPr lang="en-US" sz="2000" i="0" dirty="0">
                  <a:solidFill>
                    <a:srgbClr val="DDDAD6"/>
                  </a:solidFill>
                  <a:effectLst/>
                  <a:latin typeface="Arial" panose="020B0604020202020204" pitchFamily="34" charset="0"/>
                  <a:cs typeface="Arial" panose="020B0604020202020204" pitchFamily="34" charset="0"/>
                </a:endParaRPr>
              </a:p>
              <a:p>
                <a:pPr algn="l">
                  <a:lnSpc>
                    <a:spcPct val="150000"/>
                  </a:lnSpc>
                  <a:buFont typeface="Arial" panose="020B0604020202020204" pitchFamily="34" charset="0"/>
                  <a:buChar char="•"/>
                </a:pPr>
                <a:endParaRPr lang="en-US" sz="2000" b="0" i="0" dirty="0">
                  <a:solidFill>
                    <a:srgbClr val="DDDAD6"/>
                  </a:solidFill>
                  <a:effectLst/>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59601" y="921483"/>
                <a:ext cx="10328030" cy="5105400"/>
              </a:xfrm>
              <a:blipFill>
                <a:blip r:embed="rId2"/>
                <a:stretch>
                  <a:fillRect l="-649" r="-590"/>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81C835B9-FA78-30A1-4C18-EDAE5CB635AA}"/>
              </a:ext>
            </a:extLst>
          </p:cNvPr>
          <p:cNvPicPr>
            <a:picLocks noChangeAspect="1"/>
          </p:cNvPicPr>
          <p:nvPr/>
        </p:nvPicPr>
        <p:blipFill>
          <a:blip r:embed="rId3"/>
          <a:stretch>
            <a:fillRect/>
          </a:stretch>
        </p:blipFill>
        <p:spPr>
          <a:xfrm>
            <a:off x="11122800" y="45904"/>
            <a:ext cx="966091" cy="887302"/>
          </a:xfrm>
          <a:prstGeom prst="rect">
            <a:avLst/>
          </a:prstGeom>
        </p:spPr>
      </p:pic>
      <p:sp>
        <p:nvSpPr>
          <p:cNvPr id="8" name="Rectangle 7">
            <a:extLst>
              <a:ext uri="{FF2B5EF4-FFF2-40B4-BE49-F238E27FC236}">
                <a16:creationId xmlns:a16="http://schemas.microsoft.com/office/drawing/2014/main" id="{4C5C6850-ADAC-750E-1B5A-3F026BD425CA}"/>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Valuation Ratios</a:t>
            </a:r>
            <a:endParaRPr lang="en-IN"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63456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65107" y="657103"/>
                <a:ext cx="10216662" cy="5105400"/>
              </a:xfrm>
            </p:spPr>
            <p:txBody>
              <a:bodyPr>
                <a:noAutofit/>
              </a:bodyPr>
              <a:lstStyle/>
              <a:p>
                <a:pPr marL="0" indent="0" algn="just">
                  <a:lnSpc>
                    <a:spcPct val="150000"/>
                  </a:lnSpc>
                  <a:buSzPct val="85000"/>
                  <a:buNone/>
                </a:pPr>
                <a:r>
                  <a:rPr lang="en-US" altLang="en-US" sz="2000" b="1" dirty="0">
                    <a:cs typeface="Arial" panose="020B0604020202020204" pitchFamily="34" charset="0"/>
                  </a:rPr>
                  <a:t>3. </a:t>
                </a:r>
                <a14:m>
                  <m:oMath xmlns:m="http://schemas.openxmlformats.org/officeDocument/2006/math">
                    <m:r>
                      <m:rPr>
                        <m:nor/>
                      </m:rPr>
                      <a:rPr lang="en-US" altLang="en-US" sz="2000" b="1" dirty="0">
                        <a:latin typeface="Arial" panose="020B0604020202020204" pitchFamily="34" charset="0"/>
                        <a:cs typeface="Arial" panose="020B0604020202020204" pitchFamily="34" charset="0"/>
                      </a:rPr>
                      <m:t>B</m:t>
                    </m:r>
                    <m:r>
                      <m:rPr>
                        <m:nor/>
                      </m:rPr>
                      <a:rPr lang="en-US" altLang="en-US" sz="2000" b="1" i="0" dirty="0" smtClean="0">
                        <a:latin typeface="Arial" panose="020B0604020202020204" pitchFamily="34" charset="0"/>
                        <a:cs typeface="Arial" panose="020B0604020202020204" pitchFamily="34" charset="0"/>
                      </a:rPr>
                      <m:t>ook</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Vue</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Per</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Share</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Total</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Equity</m:t>
                        </m:r>
                        <m:r>
                          <m:rPr>
                            <m:nor/>
                          </m:rPr>
                          <a:rPr lang="en-US" altLang="en-US" sz="2000" b="0" i="0" smtClean="0">
                            <a:latin typeface="Arial" panose="020B0604020202020204" pitchFamily="34" charset="0"/>
                            <a:cs typeface="Arial" panose="020B0604020202020204" pitchFamily="34" charset="0"/>
                          </a:rPr>
                          <m:t> − </m:t>
                        </m:r>
                        <m:r>
                          <m:rPr>
                            <m:nor/>
                          </m:rPr>
                          <a:rPr lang="en-US" altLang="en-US" sz="2000" b="0" i="0" smtClean="0">
                            <a:latin typeface="Arial" panose="020B0604020202020204" pitchFamily="34" charset="0"/>
                            <a:cs typeface="Arial" panose="020B0604020202020204" pitchFamily="34" charset="0"/>
                          </a:rPr>
                          <m:t>Preferred</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m:t>
                        </m:r>
                      </m:num>
                      <m:den>
                        <m:r>
                          <m:rPr>
                            <m:nor/>
                          </m:rPr>
                          <a:rPr lang="en-US" altLang="en-US" sz="2000" b="0" i="0" smtClean="0">
                            <a:latin typeface="Arial" panose="020B0604020202020204" pitchFamily="34" charset="0"/>
                            <a:cs typeface="Arial" panose="020B0604020202020204" pitchFamily="34" charset="0"/>
                          </a:rPr>
                          <m:t>No</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of</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Equity</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shares</m:t>
                        </m:r>
                      </m:den>
                    </m:f>
                  </m:oMath>
                </a14:m>
                <a:endParaRPr lang="en-US" altLang="en-US" sz="2000" dirty="0">
                  <a:latin typeface="Arial" panose="020B0604020202020204" pitchFamily="34" charset="0"/>
                  <a:cs typeface="Arial" panose="020B0604020202020204" pitchFamily="34" charset="0"/>
                </a:endParaRPr>
              </a:p>
              <a:p>
                <a:pPr marL="619125" indent="-619125"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a:p>
                <a:pPr algn="l">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Book value per share (BVPS) takes the ratio of a firm's common equity divided by its number of shares outstanding.</a:t>
                </a:r>
              </a:p>
              <a:p>
                <a:pPr algn="l">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Book value of equity per share effectively indicates a firm's net asset value (total assets - total liabilities) on a per-share basis.</a:t>
                </a:r>
              </a:p>
              <a:p>
                <a:pPr>
                  <a:lnSpc>
                    <a:spcPct val="150000"/>
                  </a:lnSpc>
                </a:pPr>
                <a:r>
                  <a:rPr lang="en-US" sz="2000" dirty="0">
                    <a:latin typeface="Arial" panose="020B0604020202020204" pitchFamily="34" charset="0"/>
                    <a:cs typeface="Arial" panose="020B0604020202020204" pitchFamily="34" charset="0"/>
                  </a:rPr>
                  <a:t>If BVPS &gt; Market Price per Share, the stock might be undervalued.</a:t>
                </a:r>
              </a:p>
              <a:p>
                <a:pPr>
                  <a:lnSpc>
                    <a:spcPct val="150000"/>
                  </a:lnSpc>
                </a:pPr>
                <a:r>
                  <a:rPr lang="en-US" sz="2000" dirty="0">
                    <a:latin typeface="Arial" panose="020B0604020202020204" pitchFamily="34" charset="0"/>
                    <a:cs typeface="Arial" panose="020B0604020202020204" pitchFamily="34" charset="0"/>
                  </a:rPr>
                  <a:t>If Market Price &gt; BVPS, the market expects future growth and earnings, valuing the company higher than its book value.</a:t>
                </a:r>
                <a:endParaRPr lang="en-US" sz="2000" i="0" dirty="0">
                  <a:solidFill>
                    <a:srgbClr val="DDDAD6"/>
                  </a:solidFill>
                  <a:effectLst/>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65107" y="657103"/>
                <a:ext cx="10216662" cy="5105400"/>
              </a:xfrm>
              <a:blipFill>
                <a:blip r:embed="rId2"/>
                <a:stretch>
                  <a:fillRect l="-656" r="-1134" b="-3584"/>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FE9C9F31-46F1-7D36-1EB7-8022485DDA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39200" y="933206"/>
            <a:ext cx="3249691" cy="1352343"/>
          </a:xfrm>
          <a:prstGeom prst="rect">
            <a:avLst/>
          </a:prstGeom>
        </p:spPr>
      </p:pic>
      <p:sp>
        <p:nvSpPr>
          <p:cNvPr id="6" name="Rectangle 5">
            <a:extLst>
              <a:ext uri="{FF2B5EF4-FFF2-40B4-BE49-F238E27FC236}">
                <a16:creationId xmlns:a16="http://schemas.microsoft.com/office/drawing/2014/main" id="{46754BBF-CFAB-459A-ACAB-DAAC72B927E9}"/>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Valuation Ratios</a:t>
            </a:r>
            <a:endParaRPr lang="en-IN" sz="2800" b="1" dirty="0">
              <a:solidFill>
                <a:schemeClr val="tx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C498F29C-550F-6D82-3B9F-5E2438B324FC}"/>
              </a:ext>
            </a:extLst>
          </p:cNvPr>
          <p:cNvPicPr>
            <a:picLocks noChangeAspect="1"/>
          </p:cNvPicPr>
          <p:nvPr/>
        </p:nvPicPr>
        <p:blipFill>
          <a:blip r:embed="rId4"/>
          <a:stretch>
            <a:fillRect/>
          </a:stretch>
        </p:blipFill>
        <p:spPr>
          <a:xfrm>
            <a:off x="11122800" y="45904"/>
            <a:ext cx="966091" cy="887302"/>
          </a:xfrm>
          <a:prstGeom prst="rect">
            <a:avLst/>
          </a:prstGeom>
        </p:spPr>
      </p:pic>
    </p:spTree>
    <p:extLst>
      <p:ext uri="{BB962C8B-B14F-4D97-AF65-F5344CB8AC3E}">
        <p14:creationId xmlns:p14="http://schemas.microsoft.com/office/powerpoint/2010/main" val="1719871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9938" y="876300"/>
                <a:ext cx="7908647" cy="5105400"/>
              </a:xfrm>
            </p:spPr>
            <p:txBody>
              <a:bodyPr>
                <a:noAutofit/>
              </a:bodyPr>
              <a:lstStyle/>
              <a:p>
                <a:pPr marL="0" indent="0" algn="just">
                  <a:lnSpc>
                    <a:spcPct val="150000"/>
                  </a:lnSpc>
                  <a:buSzPct val="85000"/>
                  <a:buNone/>
                </a:pPr>
                <a:r>
                  <a:rPr lang="en-US" altLang="en-US" sz="2000" b="1" dirty="0">
                    <a:cs typeface="Arial" panose="020B0604020202020204" pitchFamily="34" charset="0"/>
                  </a:rPr>
                  <a:t>4. </a:t>
                </a:r>
                <a14:m>
                  <m:oMath xmlns:m="http://schemas.openxmlformats.org/officeDocument/2006/math">
                    <m:r>
                      <m:rPr>
                        <m:nor/>
                      </m:rPr>
                      <a:rPr lang="en-US" altLang="en-US" sz="2000" b="1" dirty="0" smtClean="0">
                        <a:latin typeface="Arial" panose="020B0604020202020204" pitchFamily="34" charset="0"/>
                        <a:cs typeface="Arial" panose="020B0604020202020204" pitchFamily="34" charset="0"/>
                      </a:rPr>
                      <m:t>P</m:t>
                    </m:r>
                    <m:r>
                      <m:rPr>
                        <m:nor/>
                      </m:rPr>
                      <a:rPr lang="en-US" altLang="en-US" sz="2000" b="1" i="0" dirty="0" smtClean="0">
                        <a:latin typeface="Arial" panose="020B0604020202020204" pitchFamily="34" charset="0"/>
                        <a:cs typeface="Arial" panose="020B0604020202020204" pitchFamily="34" charset="0"/>
                      </a:rPr>
                      <m:t>rice</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to</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Book</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i="0" dirty="0" smtClean="0">
                        <a:latin typeface="Arial" panose="020B0604020202020204" pitchFamily="34" charset="0"/>
                        <a:cs typeface="Arial" panose="020B0604020202020204" pitchFamily="34" charset="0"/>
                      </a:rPr>
                      <m:t>Ratio</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Market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Price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per</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m:t>
                        </m:r>
                      </m:num>
                      <m:den>
                        <m:r>
                          <m:rPr>
                            <m:nor/>
                          </m:rPr>
                          <a:rPr lang="en-US" altLang="en-US" sz="2000" b="0" i="0" smtClean="0">
                            <a:latin typeface="Arial" panose="020B0604020202020204" pitchFamily="34" charset="0"/>
                            <a:cs typeface="Arial" panose="020B0604020202020204" pitchFamily="34" charset="0"/>
                          </a:rPr>
                          <m:t>Book</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value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per</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m:t>
                        </m:r>
                        <m:r>
                          <a:rPr lang="en-US" altLang="en-US" sz="2000" b="0" i="1" smtClean="0">
                            <a:latin typeface="Cambria Math" panose="02040503050406030204" pitchFamily="18" charset="0"/>
                          </a:rPr>
                          <m:t> </m:t>
                        </m:r>
                      </m:den>
                    </m:f>
                  </m:oMath>
                </a14:m>
                <a:endParaRPr lang="en-US" altLang="en-US" sz="2000" dirty="0">
                  <a:latin typeface="Arial" panose="020B0604020202020204" pitchFamily="34" charset="0"/>
                  <a:cs typeface="Arial" panose="020B0604020202020204" pitchFamily="34" charset="0"/>
                </a:endParaRPr>
              </a:p>
              <a:p>
                <a:pPr marL="619125" indent="-619125" eaLnBrk="1" hangingPunct="1">
                  <a:lnSpc>
                    <a:spcPct val="150000"/>
                  </a:lnSpc>
                  <a:buSzPct val="85000"/>
                  <a:buFont typeface="Wingdings" panose="05000000000000000000" pitchFamily="2" charset="2"/>
                  <a:buNone/>
                </a:pPr>
                <a:r>
                  <a:rPr lang="en-US" altLang="en-US" sz="2000" dirty="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a:p>
                <a:pPr algn="just">
                  <a:lnSpc>
                    <a:spcPct val="150000"/>
                  </a:lnSpc>
                </a:pPr>
                <a:r>
                  <a:rPr lang="en-US" sz="2000" dirty="0">
                    <a:latin typeface="Arial" panose="020B0604020202020204" pitchFamily="34" charset="0"/>
                    <a:cs typeface="Arial" panose="020B0604020202020204" pitchFamily="34" charset="0"/>
                  </a:rPr>
                  <a:t>The P/B ratio measures how much investors are willing to pay for each unit of net asset value (book value) of a company.</a:t>
                </a:r>
              </a:p>
              <a:p>
                <a:pPr algn="just">
                  <a:lnSpc>
                    <a:spcPct val="150000"/>
                  </a:lnSpc>
                </a:pPr>
                <a:r>
                  <a:rPr lang="en-US" sz="2000" dirty="0">
                    <a:latin typeface="Arial" panose="020B0604020202020204" pitchFamily="34" charset="0"/>
                    <a:cs typeface="Arial" panose="020B0604020202020204" pitchFamily="34" charset="0"/>
                  </a:rPr>
                  <a:t>A higher P/B (&gt;1) means the market values the company more than its book value, often due to strong future growth expectations, good profitability, or intangible assets not reflected in the books.</a:t>
                </a:r>
              </a:p>
              <a:p>
                <a:pPr algn="just">
                  <a:lnSpc>
                    <a:spcPct val="150000"/>
                  </a:lnSpc>
                </a:pPr>
                <a:r>
                  <a:rPr lang="en-US" sz="2000" dirty="0">
                    <a:latin typeface="Arial" panose="020B0604020202020204" pitchFamily="34" charset="0"/>
                    <a:cs typeface="Arial" panose="020B0604020202020204" pitchFamily="34" charset="0"/>
                  </a:rPr>
                  <a:t>A lower P/B (&lt;1) suggests the market values the company less than its book value, which may signal undervaluation or financial weakness.</a:t>
                </a:r>
              </a:p>
              <a:p>
                <a:endParaRPr lang="en-US" sz="2000" b="0" i="0" dirty="0">
                  <a:solidFill>
                    <a:srgbClr val="DDDAD6"/>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endParaRPr lang="en-US" sz="2000" b="0" i="0" dirty="0">
                  <a:solidFill>
                    <a:srgbClr val="DDDAD6"/>
                  </a:solidFill>
                  <a:effectLst/>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9938" y="876300"/>
                <a:ext cx="7908647" cy="5105400"/>
              </a:xfrm>
              <a:blipFill>
                <a:blip r:embed="rId2"/>
                <a:stretch>
                  <a:fillRect l="-848" r="-771" b="-991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6C92F479-E93D-0504-E4C7-800D024AE2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6800" y="1638300"/>
            <a:ext cx="3505200" cy="2808729"/>
          </a:xfrm>
          <a:prstGeom prst="rect">
            <a:avLst/>
          </a:prstGeom>
        </p:spPr>
      </p:pic>
      <p:pic>
        <p:nvPicPr>
          <p:cNvPr id="7" name="Picture 6">
            <a:extLst>
              <a:ext uri="{FF2B5EF4-FFF2-40B4-BE49-F238E27FC236}">
                <a16:creationId xmlns:a16="http://schemas.microsoft.com/office/drawing/2014/main" id="{84393089-C556-8433-37A7-AF9EB4487826}"/>
              </a:ext>
            </a:extLst>
          </p:cNvPr>
          <p:cNvPicPr>
            <a:picLocks noChangeAspect="1"/>
          </p:cNvPicPr>
          <p:nvPr/>
        </p:nvPicPr>
        <p:blipFill>
          <a:blip r:embed="rId4"/>
          <a:stretch>
            <a:fillRect/>
          </a:stretch>
        </p:blipFill>
        <p:spPr>
          <a:xfrm>
            <a:off x="11122800" y="45904"/>
            <a:ext cx="966091" cy="887302"/>
          </a:xfrm>
          <a:prstGeom prst="rect">
            <a:avLst/>
          </a:prstGeom>
        </p:spPr>
      </p:pic>
      <p:sp>
        <p:nvSpPr>
          <p:cNvPr id="9" name="Rectangle 8">
            <a:extLst>
              <a:ext uri="{FF2B5EF4-FFF2-40B4-BE49-F238E27FC236}">
                <a16:creationId xmlns:a16="http://schemas.microsoft.com/office/drawing/2014/main" id="{CAACA3AA-0C14-DA0F-A9DA-44241BFEE929}"/>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Valuation Ratios</a:t>
            </a:r>
            <a:endParaRPr lang="en-IN"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09524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64084" y="762000"/>
                <a:ext cx="7794115" cy="5334000"/>
              </a:xfrm>
            </p:spPr>
            <p:txBody>
              <a:bodyPr>
                <a:noAutofit/>
              </a:bodyPr>
              <a:lstStyle/>
              <a:p>
                <a:pPr marL="619125" indent="-619125" algn="just" eaLnBrk="1" hangingPunct="1">
                  <a:lnSpc>
                    <a:spcPct val="150000"/>
                  </a:lnSpc>
                  <a:buSzPct val="85000"/>
                  <a:buFont typeface="Wingdings" panose="05000000000000000000" pitchFamily="2" charset="2"/>
                  <a:buAutoNum type="romanLcPeriod"/>
                </a:pPr>
                <a:endParaRPr lang="en-US" altLang="en-US" sz="2000" dirty="0">
                  <a:latin typeface="Arial" panose="020B0604020202020204" pitchFamily="34" charset="0"/>
                  <a:cs typeface="Arial" panose="020B0604020202020204" pitchFamily="34" charset="0"/>
                </a:endParaRPr>
              </a:p>
              <a:p>
                <a:pPr marL="0" indent="0" algn="just">
                  <a:lnSpc>
                    <a:spcPct val="150000"/>
                  </a:lnSpc>
                  <a:buSzPct val="85000"/>
                  <a:buNone/>
                </a:pPr>
                <a14:m>
                  <m:oMathPara xmlns:m="http://schemas.openxmlformats.org/officeDocument/2006/math">
                    <m:oMathParaPr>
                      <m:jc m:val="left"/>
                    </m:oMathParaPr>
                    <m:oMath xmlns:m="http://schemas.openxmlformats.org/officeDocument/2006/math">
                      <m:r>
                        <m:rPr>
                          <m:nor/>
                        </m:rPr>
                        <a:rPr lang="en-IN" altLang="en-US" sz="2000" b="1" i="0" dirty="0" smtClean="0">
                          <a:latin typeface="Arial" panose="020B0604020202020204" pitchFamily="34" charset="0"/>
                          <a:cs typeface="Arial" panose="020B0604020202020204" pitchFamily="34" charset="0"/>
                        </a:rPr>
                        <m:t>5.</m:t>
                      </m:r>
                      <m:r>
                        <m:rPr>
                          <m:nor/>
                        </m:rPr>
                        <a:rPr lang="en-US" altLang="en-US" sz="2000" b="1" i="0" dirty="0" smtClean="0">
                          <a:latin typeface="Arial" panose="020B0604020202020204" pitchFamily="34" charset="0"/>
                          <a:cs typeface="Arial" panose="020B0604020202020204" pitchFamily="34" charset="0"/>
                        </a:rPr>
                        <m:t>Price</m:t>
                      </m:r>
                      <m:r>
                        <m:rPr>
                          <m:nor/>
                        </m:rPr>
                        <a:rPr lang="en-US" altLang="en-US" sz="2000" b="1" i="0" dirty="0" smtClean="0">
                          <a:latin typeface="Arial" panose="020B0604020202020204" pitchFamily="34" charset="0"/>
                          <a:cs typeface="Arial" panose="020B0604020202020204" pitchFamily="34" charset="0"/>
                        </a:rPr>
                        <m:t> </m:t>
                      </m:r>
                      <m:r>
                        <m:rPr>
                          <m:nor/>
                        </m:rPr>
                        <a:rPr lang="en-US" altLang="en-US" sz="2000" b="1" dirty="0">
                          <a:latin typeface="Arial" panose="020B0604020202020204" pitchFamily="34" charset="0"/>
                          <a:cs typeface="Arial" panose="020B0604020202020204" pitchFamily="34" charset="0"/>
                        </a:rPr>
                        <m:t>E</m:t>
                      </m:r>
                      <m:r>
                        <m:rPr>
                          <m:nor/>
                        </m:rPr>
                        <a:rPr lang="en-US" altLang="en-US" sz="2000" b="1" i="0" dirty="0" smtClean="0">
                          <a:latin typeface="Arial" panose="020B0604020202020204" pitchFamily="34" charset="0"/>
                          <a:cs typeface="Arial" panose="020B0604020202020204" pitchFamily="34" charset="0"/>
                        </a:rPr>
                        <m:t>arning</m:t>
                      </m:r>
                      <m:r>
                        <a:rPr lang="en-US" altLang="en-US" sz="2000" b="1" i="0" dirty="0" smtClean="0">
                          <a:latin typeface="Cambria Math" panose="02040503050406030204" pitchFamily="18" charset="0"/>
                        </a:rPr>
                        <m:t> </m:t>
                      </m:r>
                      <m:r>
                        <a:rPr lang="en-US" altLang="en-US" sz="2000" b="1" i="0" dirty="0" smtClean="0">
                          <a:latin typeface="Cambria Math" panose="02040503050406030204" pitchFamily="18" charset="0"/>
                        </a:rPr>
                        <m:t>𝐑𝐚𝐭𝐢𝐨</m:t>
                      </m:r>
                      <m:r>
                        <a:rPr lang="en-US" altLang="en-US" sz="2000">
                          <a:latin typeface="Cambria Math" panose="02040503050406030204" pitchFamily="18" charset="0"/>
                        </a:rPr>
                        <m:t>=</m:t>
                      </m:r>
                      <m:f>
                        <m:fPr>
                          <m:ctrlPr>
                            <a:rPr lang="en-US" altLang="en-US" sz="2000" i="1">
                              <a:latin typeface="Cambria Math" panose="02040503050406030204" pitchFamily="18" charset="0"/>
                            </a:rPr>
                          </m:ctrlPr>
                        </m:fPr>
                        <m:num>
                          <m:r>
                            <m:rPr>
                              <m:nor/>
                            </m:rPr>
                            <a:rPr lang="en-US" altLang="en-US" sz="2000" b="0" i="0" smtClean="0">
                              <a:latin typeface="Arial" panose="020B0604020202020204" pitchFamily="34" charset="0"/>
                              <a:cs typeface="Arial" panose="020B0604020202020204" pitchFamily="34" charset="0"/>
                            </a:rPr>
                            <m:t>Market</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Price</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of</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m:t>
                          </m:r>
                        </m:num>
                        <m:den>
                          <m:r>
                            <m:rPr>
                              <m:nor/>
                            </m:rPr>
                            <a:rPr lang="en-US" altLang="en-US" sz="2000" b="0" i="0" smtClean="0">
                              <a:latin typeface="Arial" panose="020B0604020202020204" pitchFamily="34" charset="0"/>
                              <a:cs typeface="Arial" panose="020B0604020202020204" pitchFamily="34" charset="0"/>
                            </a:rPr>
                            <m:t>Earnings</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Per</m:t>
                          </m:r>
                          <m:r>
                            <m:rPr>
                              <m:nor/>
                            </m:rPr>
                            <a:rPr lang="en-US" altLang="en-US" sz="2000" b="0" i="0" smtClean="0">
                              <a:latin typeface="Arial" panose="020B0604020202020204" pitchFamily="34" charset="0"/>
                              <a:cs typeface="Arial" panose="020B0604020202020204" pitchFamily="34" charset="0"/>
                            </a:rPr>
                            <m:t> </m:t>
                          </m:r>
                          <m:r>
                            <m:rPr>
                              <m:nor/>
                            </m:rPr>
                            <a:rPr lang="en-US" altLang="en-US" sz="2000" b="0" i="0" smtClean="0">
                              <a:latin typeface="Arial" panose="020B0604020202020204" pitchFamily="34" charset="0"/>
                              <a:cs typeface="Arial" panose="020B0604020202020204" pitchFamily="34" charset="0"/>
                            </a:rPr>
                            <m:t>Share</m:t>
                          </m:r>
                        </m:den>
                      </m:f>
                    </m:oMath>
                  </m:oMathPara>
                </a14:m>
                <a:endParaRPr lang="en-US" altLang="en-US" sz="2000" dirty="0">
                  <a:latin typeface="Arial" panose="020B0604020202020204" pitchFamily="34" charset="0"/>
                  <a:cs typeface="Arial" panose="020B0604020202020204" pitchFamily="34" charset="0"/>
                </a:endParaRPr>
              </a:p>
              <a:p>
                <a:pPr marL="0" indent="0" algn="just">
                  <a:lnSpc>
                    <a:spcPct val="150000"/>
                  </a:lnSpc>
                  <a:buSzPct val="85000"/>
                  <a:buNone/>
                </a:pPr>
                <a:r>
                  <a:rPr lang="en-US" altLang="en-US" sz="2000" dirty="0">
                    <a:latin typeface="Arial" panose="020B0604020202020204" pitchFamily="34" charset="0"/>
                    <a:cs typeface="Arial" panose="020B0604020202020204" pitchFamily="34" charset="0"/>
                  </a:rPr>
                  <a:t>			  </a:t>
                </a:r>
                <a:endParaRPr lang="en-US" sz="2000" dirty="0">
                  <a:latin typeface="Arial" panose="020B0604020202020204" pitchFamily="34" charset="0"/>
                  <a:cs typeface="Arial" panose="020B0604020202020204" pitchFamily="34" charset="0"/>
                </a:endParaRPr>
              </a:p>
              <a:p>
                <a:pPr algn="just">
                  <a:lnSpc>
                    <a:spcPct val="150000"/>
                  </a:lnSpc>
                  <a:buSzPct val="85000"/>
                </a:pPr>
                <a:r>
                  <a:rPr lang="en-US" sz="2000" dirty="0">
                    <a:latin typeface="Arial" panose="020B0604020202020204" pitchFamily="34" charset="0"/>
                    <a:cs typeface="Arial" panose="020B0604020202020204" pitchFamily="34" charset="0"/>
                  </a:rPr>
                  <a:t>It shows how much investors are willing to pay for each unit of earnings of the company.</a:t>
                </a:r>
              </a:p>
              <a:p>
                <a:pPr algn="just">
                  <a:lnSpc>
                    <a:spcPct val="150000"/>
                  </a:lnSpc>
                  <a:buSzPct val="85000"/>
                </a:pPr>
                <a:r>
                  <a:rPr lang="en-US" sz="2000" dirty="0">
                    <a:latin typeface="Arial" panose="020B0604020202020204" pitchFamily="34" charset="0"/>
                    <a:cs typeface="Arial" panose="020B0604020202020204" pitchFamily="34" charset="0"/>
                  </a:rPr>
                  <a:t>A high P/E suggests strong investor expectations of future earnings growth, but it may also indicate overvaluation.</a:t>
                </a:r>
              </a:p>
              <a:p>
                <a:pPr algn="just">
                  <a:lnSpc>
                    <a:spcPct val="150000"/>
                  </a:lnSpc>
                  <a:buSzPct val="85000"/>
                </a:pPr>
                <a:r>
                  <a:rPr lang="en-US" sz="2000" dirty="0">
                    <a:latin typeface="Arial" panose="020B0604020202020204" pitchFamily="34" charset="0"/>
                    <a:cs typeface="Arial" panose="020B0604020202020204" pitchFamily="34" charset="0"/>
                  </a:rPr>
                  <a:t>A low P/E may signal undervaluation or weak growth prospects.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64084" y="762000"/>
                <a:ext cx="7794115" cy="5334000"/>
              </a:xfrm>
              <a:blipFill>
                <a:blip r:embed="rId2"/>
                <a:stretch>
                  <a:fillRect l="-391" r="-782"/>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64ECC947-11EA-1D91-E359-ABE031C7D5C6}"/>
              </a:ext>
            </a:extLst>
          </p:cNvPr>
          <p:cNvPicPr>
            <a:picLocks noChangeAspect="1"/>
          </p:cNvPicPr>
          <p:nvPr/>
        </p:nvPicPr>
        <p:blipFill>
          <a:blip r:embed="rId3"/>
          <a:stretch>
            <a:fillRect/>
          </a:stretch>
        </p:blipFill>
        <p:spPr>
          <a:xfrm>
            <a:off x="9143654" y="4512562"/>
            <a:ext cx="2953327" cy="2345438"/>
          </a:xfrm>
          <a:prstGeom prst="rect">
            <a:avLst/>
          </a:prstGeom>
        </p:spPr>
      </p:pic>
      <p:pic>
        <p:nvPicPr>
          <p:cNvPr id="6" name="Picture 5">
            <a:extLst>
              <a:ext uri="{FF2B5EF4-FFF2-40B4-BE49-F238E27FC236}">
                <a16:creationId xmlns:a16="http://schemas.microsoft.com/office/drawing/2014/main" id="{8C502CB4-6D3B-5148-CB96-76EF365757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20200" y="1078799"/>
            <a:ext cx="2800236" cy="3352800"/>
          </a:xfrm>
          <a:prstGeom prst="rect">
            <a:avLst/>
          </a:prstGeom>
        </p:spPr>
      </p:pic>
      <p:pic>
        <p:nvPicPr>
          <p:cNvPr id="8" name="Picture 7">
            <a:extLst>
              <a:ext uri="{FF2B5EF4-FFF2-40B4-BE49-F238E27FC236}">
                <a16:creationId xmlns:a16="http://schemas.microsoft.com/office/drawing/2014/main" id="{88A816AC-5196-A089-A711-17A04D50CA2E}"/>
              </a:ext>
            </a:extLst>
          </p:cNvPr>
          <p:cNvPicPr>
            <a:picLocks noChangeAspect="1"/>
          </p:cNvPicPr>
          <p:nvPr/>
        </p:nvPicPr>
        <p:blipFill>
          <a:blip r:embed="rId5"/>
          <a:stretch>
            <a:fillRect/>
          </a:stretch>
        </p:blipFill>
        <p:spPr>
          <a:xfrm>
            <a:off x="11122800" y="45904"/>
            <a:ext cx="966091" cy="887302"/>
          </a:xfrm>
          <a:prstGeom prst="rect">
            <a:avLst/>
          </a:prstGeom>
        </p:spPr>
      </p:pic>
      <p:sp>
        <p:nvSpPr>
          <p:cNvPr id="10" name="Rectangle 9">
            <a:extLst>
              <a:ext uri="{FF2B5EF4-FFF2-40B4-BE49-F238E27FC236}">
                <a16:creationId xmlns:a16="http://schemas.microsoft.com/office/drawing/2014/main" id="{12F7AB99-37B3-F0E1-4B8E-B01EED228104}"/>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Valuation Ratios</a:t>
            </a:r>
            <a:endParaRPr lang="en-IN" sz="28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05756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F34D5-9FAE-5B7B-6D44-5B138819293C}"/>
              </a:ext>
            </a:extLst>
          </p:cNvPr>
          <p:cNvSpPr>
            <a:spLocks noGrp="1"/>
          </p:cNvSpPr>
          <p:nvPr>
            <p:ph type="title"/>
          </p:nvPr>
        </p:nvSpPr>
        <p:spPr>
          <a:xfrm>
            <a:off x="2232837" y="226790"/>
            <a:ext cx="10515600" cy="1325563"/>
          </a:xfrm>
        </p:spPr>
        <p:txBody>
          <a:bodyPr>
            <a:normAutofit/>
          </a:bodyPr>
          <a:lstStyle/>
          <a:p>
            <a:r>
              <a:rPr lang="en-US" sz="3000" b="1" dirty="0">
                <a:latin typeface="Arial" panose="020B0604020202020204" pitchFamily="34" charset="0"/>
                <a:cs typeface="Arial" panose="020B0604020202020204" pitchFamily="34" charset="0"/>
              </a:rPr>
              <a:t>Which ratio is important for what</a:t>
            </a:r>
            <a:r>
              <a:rPr lang="en-US" sz="3000" dirty="0">
                <a:latin typeface="Arial" panose="020B0604020202020204" pitchFamily="34" charset="0"/>
                <a:cs typeface="Arial" panose="020B0604020202020204" pitchFamily="34" charset="0"/>
              </a:rPr>
              <a:t>?</a:t>
            </a:r>
            <a:endParaRPr lang="en-IN" sz="3000" dirty="0">
              <a:latin typeface="Arial" panose="020B0604020202020204" pitchFamily="34" charset="0"/>
              <a:cs typeface="Arial" panose="020B0604020202020204" pitchFamily="34" charset="0"/>
            </a:endParaRPr>
          </a:p>
        </p:txBody>
      </p:sp>
      <p:pic>
        <p:nvPicPr>
          <p:cNvPr id="2050" name="Picture 2" descr="Generated image">
            <a:extLst>
              <a:ext uri="{FF2B5EF4-FFF2-40B4-BE49-F238E27FC236}">
                <a16:creationId xmlns:a16="http://schemas.microsoft.com/office/drawing/2014/main" id="{F6FDA737-E2CA-51A9-A379-0B9D92FD96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24000"/>
            <a:ext cx="89154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3537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838200"/>
            <a:ext cx="8229600" cy="1066800"/>
          </a:xfrm>
        </p:spPr>
        <p:txBody>
          <a:bodyPr>
            <a:normAutofit fontScale="90000"/>
          </a:bodyPr>
          <a:lstStyle/>
          <a:p>
            <a:br>
              <a:rPr lang="en-US" b="1" dirty="0">
                <a:latin typeface="Cambria" pitchFamily="18" charset="0"/>
              </a:rPr>
            </a:br>
            <a:endParaRPr lang="en-US" b="1" dirty="0">
              <a:latin typeface="Cambria" pitchFamily="18" charset="0"/>
            </a:endParaRPr>
          </a:p>
        </p:txBody>
      </p:sp>
      <p:sp>
        <p:nvSpPr>
          <p:cNvPr id="3" name="Content Placeholder 2"/>
          <p:cNvSpPr>
            <a:spLocks noGrp="1"/>
          </p:cNvSpPr>
          <p:nvPr>
            <p:ph idx="1"/>
          </p:nvPr>
        </p:nvSpPr>
        <p:spPr>
          <a:xfrm>
            <a:off x="679938" y="913173"/>
            <a:ext cx="7702062" cy="4906963"/>
          </a:xfrm>
        </p:spPr>
        <p:txBody>
          <a:bodyPr>
            <a:noAutofit/>
          </a:bodyPr>
          <a:lstStyle/>
          <a:p>
            <a:pPr marL="452628" indent="-342900" algn="just">
              <a:lnSpc>
                <a:spcPct val="150000"/>
              </a:lnSpc>
            </a:pPr>
            <a:r>
              <a:rPr lang="en-US" sz="2000" dirty="0">
                <a:latin typeface="Arial" panose="020B0604020202020204" pitchFamily="34" charset="0"/>
                <a:cs typeface="Arial" panose="020B0604020202020204" pitchFamily="34" charset="0"/>
              </a:rPr>
              <a:t>Provides useful insights for evaluating the effectiveness of management decisions.</a:t>
            </a:r>
          </a:p>
          <a:p>
            <a:pPr marL="452628" indent="-342900" algn="just">
              <a:lnSpc>
                <a:spcPct val="150000"/>
              </a:lnSpc>
            </a:pPr>
            <a:r>
              <a:rPr lang="en-US" sz="2000" dirty="0">
                <a:latin typeface="Arial" panose="020B0604020202020204" pitchFamily="34" charset="0"/>
                <a:cs typeface="Arial" panose="020B0604020202020204" pitchFamily="34" charset="0"/>
              </a:rPr>
              <a:t>Converts raw financial data into understandable ratios and establishes meaningful relationships.</a:t>
            </a:r>
          </a:p>
          <a:p>
            <a:pPr marL="452628" indent="-342900" algn="just">
              <a:lnSpc>
                <a:spcPct val="150000"/>
              </a:lnSpc>
            </a:pPr>
            <a:r>
              <a:rPr lang="en-US" sz="2000" dirty="0">
                <a:latin typeface="Arial" panose="020B0604020202020204" pitchFamily="34" charset="0"/>
                <a:cs typeface="Arial" panose="020B0604020202020204" pitchFamily="34" charset="0"/>
              </a:rPr>
              <a:t>Enables comparison across time periods, between companies, or against industry standards.</a:t>
            </a:r>
          </a:p>
          <a:p>
            <a:pPr marL="452628" indent="-342900" algn="just">
              <a:lnSpc>
                <a:spcPct val="150000"/>
              </a:lnSpc>
            </a:pPr>
            <a:r>
              <a:rPr lang="en-US" sz="2000" dirty="0">
                <a:latin typeface="Arial" panose="020B0604020202020204" pitchFamily="34" charset="0"/>
                <a:cs typeface="Arial" panose="020B0604020202020204" pitchFamily="34" charset="0"/>
              </a:rPr>
              <a:t>Highlights weak spots in performance that require management attention.</a:t>
            </a:r>
          </a:p>
          <a:p>
            <a:pPr marL="452628" indent="-342900" algn="just">
              <a:lnSpc>
                <a:spcPct val="150000"/>
              </a:lnSpc>
            </a:pPr>
            <a:r>
              <a:rPr lang="en-US" sz="2000" dirty="0">
                <a:latin typeface="Arial" panose="020B0604020202020204" pitchFamily="34" charset="0"/>
                <a:cs typeface="Arial" panose="020B0604020202020204" pitchFamily="34" charset="0"/>
              </a:rPr>
              <a:t>Ratios reveal changes in performance that help management assess strengths, weaknesses, opportunities, and threats</a:t>
            </a:r>
            <a:r>
              <a:rPr lang="en-US" sz="2000" dirty="0"/>
              <a:t>.</a:t>
            </a:r>
          </a:p>
          <a:p>
            <a:pPr marL="452628" indent="-342900" algn="just">
              <a:lnSpc>
                <a:spcPct val="150000"/>
              </a:lnSpc>
            </a:pPr>
            <a:endParaRPr lang="en-US" sz="2000" dirty="0"/>
          </a:p>
          <a:p>
            <a:pPr marL="109728" indent="0" algn="just">
              <a:lnSpc>
                <a:spcPct val="150000"/>
              </a:lnSpc>
              <a:buNone/>
            </a:pPr>
            <a:endParaRPr lang="en-US" sz="2000" dirty="0">
              <a:latin typeface="Arial" panose="020B0604020202020204" pitchFamily="34" charset="0"/>
              <a:cs typeface="Arial" panose="020B0604020202020204" pitchFamily="34" charset="0"/>
            </a:endParaRPr>
          </a:p>
          <a:p>
            <a:pPr marL="109728" indent="0" algn="just">
              <a:lnSpc>
                <a:spcPct val="150000"/>
              </a:lnSpc>
              <a:buNone/>
            </a:pP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br>
              <a:rPr lang="en-US" sz="2000" dirty="0">
                <a:latin typeface="Arial" panose="020B0604020202020204" pitchFamily="34" charset="0"/>
                <a:cs typeface="Arial" panose="020B0604020202020204" pitchFamily="34" charset="0"/>
              </a:rPr>
            </a:b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2D7DAE0-F667-830E-775C-E0548B3DE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3000" y="4343400"/>
            <a:ext cx="3048000" cy="1495425"/>
          </a:xfrm>
          <a:prstGeom prst="rect">
            <a:avLst/>
          </a:prstGeom>
        </p:spPr>
      </p:pic>
      <p:pic>
        <p:nvPicPr>
          <p:cNvPr id="8" name="Picture 7">
            <a:extLst>
              <a:ext uri="{FF2B5EF4-FFF2-40B4-BE49-F238E27FC236}">
                <a16:creationId xmlns:a16="http://schemas.microsoft.com/office/drawing/2014/main" id="{E1C917F4-6442-851F-5622-44AB3C5E59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10600" y="1537855"/>
            <a:ext cx="3048000" cy="1828800"/>
          </a:xfrm>
          <a:prstGeom prst="rect">
            <a:avLst/>
          </a:prstGeom>
        </p:spPr>
      </p:pic>
      <p:sp>
        <p:nvSpPr>
          <p:cNvPr id="7" name="Rectangle 6">
            <a:extLst>
              <a:ext uri="{FF2B5EF4-FFF2-40B4-BE49-F238E27FC236}">
                <a16:creationId xmlns:a16="http://schemas.microsoft.com/office/drawing/2014/main" id="{53568229-5A3D-849A-6209-0B3F3A499DF6}"/>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Advantages of Ratio Analysis</a:t>
            </a:r>
            <a:endParaRPr lang="en-IN" sz="2800" b="1" dirty="0">
              <a:solidFill>
                <a:schemeClr val="tx1"/>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91E04DBE-38B7-DBA8-862C-0AF8B1534DF9}"/>
              </a:ext>
            </a:extLst>
          </p:cNvPr>
          <p:cNvPicPr>
            <a:picLocks noChangeAspect="1"/>
          </p:cNvPicPr>
          <p:nvPr/>
        </p:nvPicPr>
        <p:blipFill>
          <a:blip r:embed="rId4"/>
          <a:stretch>
            <a:fillRect/>
          </a:stretch>
        </p:blipFill>
        <p:spPr>
          <a:xfrm>
            <a:off x="11122800" y="45904"/>
            <a:ext cx="966091" cy="88730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847285"/>
            <a:ext cx="8229600" cy="1143000"/>
          </a:xfrm>
        </p:spPr>
        <p:txBody>
          <a:bodyPr>
            <a:normAutofit fontScale="90000"/>
          </a:bodyPr>
          <a:lstStyle/>
          <a:p>
            <a:br>
              <a:rPr lang="en-US" b="1" dirty="0">
                <a:latin typeface="Cambria" pitchFamily="18" charset="0"/>
              </a:rPr>
            </a:br>
            <a:br>
              <a:rPr lang="en-US" sz="6000" b="1" dirty="0">
                <a:latin typeface="Cambria" pitchFamily="18" charset="0"/>
              </a:rPr>
            </a:br>
            <a:endParaRPr lang="en-US" b="1" dirty="0">
              <a:latin typeface="Cambria" pitchFamily="18" charset="0"/>
            </a:endParaRPr>
          </a:p>
        </p:txBody>
      </p:sp>
      <p:pic>
        <p:nvPicPr>
          <p:cNvPr id="7" name="Picture 6">
            <a:extLst>
              <a:ext uri="{FF2B5EF4-FFF2-40B4-BE49-F238E27FC236}">
                <a16:creationId xmlns:a16="http://schemas.microsoft.com/office/drawing/2014/main" id="{00C4C1C2-81C5-9A70-4580-AB8FC9642F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66881" y="3505201"/>
            <a:ext cx="4625119" cy="2420479"/>
          </a:xfrm>
          <a:prstGeom prst="rect">
            <a:avLst/>
          </a:prstGeom>
        </p:spPr>
      </p:pic>
      <p:sp>
        <p:nvSpPr>
          <p:cNvPr id="8" name="Rectangle 7">
            <a:extLst>
              <a:ext uri="{FF2B5EF4-FFF2-40B4-BE49-F238E27FC236}">
                <a16:creationId xmlns:a16="http://schemas.microsoft.com/office/drawing/2014/main" id="{5D16BAE8-2290-B2BB-3FE3-CFC87B281108}"/>
              </a:ext>
            </a:extLst>
          </p:cNvPr>
          <p:cNvSpPr/>
          <p:nvPr/>
        </p:nvSpPr>
        <p:spPr>
          <a:xfrm>
            <a:off x="679938" y="157790"/>
            <a:ext cx="10328031" cy="556845"/>
          </a:xfrm>
          <a:prstGeom prst="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rial" panose="020B0604020202020204" pitchFamily="34" charset="0"/>
                <a:cs typeface="Arial" panose="020B0604020202020204" pitchFamily="34" charset="0"/>
              </a:rPr>
              <a:t>Limitations of Ratio Analysis</a:t>
            </a:r>
            <a:r>
              <a:rPr lang="en-IN" sz="2800" b="1" dirty="0">
                <a:solidFill>
                  <a:schemeClr val="tx1"/>
                </a:solidFill>
                <a:latin typeface="Arial" panose="020B0604020202020204" pitchFamily="34" charset="0"/>
                <a:cs typeface="Arial" panose="020B0604020202020204" pitchFamily="34" charset="0"/>
              </a:rPr>
              <a:t>  </a:t>
            </a:r>
          </a:p>
        </p:txBody>
      </p:sp>
      <p:pic>
        <p:nvPicPr>
          <p:cNvPr id="9" name="Picture 8">
            <a:extLst>
              <a:ext uri="{FF2B5EF4-FFF2-40B4-BE49-F238E27FC236}">
                <a16:creationId xmlns:a16="http://schemas.microsoft.com/office/drawing/2014/main" id="{F57530A0-93B5-4933-3BCB-087436BAD8BA}"/>
              </a:ext>
            </a:extLst>
          </p:cNvPr>
          <p:cNvPicPr>
            <a:picLocks noChangeAspect="1"/>
          </p:cNvPicPr>
          <p:nvPr/>
        </p:nvPicPr>
        <p:blipFill>
          <a:blip r:embed="rId3"/>
          <a:stretch>
            <a:fillRect/>
          </a:stretch>
        </p:blipFill>
        <p:spPr>
          <a:xfrm>
            <a:off x="11122800" y="45904"/>
            <a:ext cx="966091" cy="887302"/>
          </a:xfrm>
          <a:prstGeom prst="rect">
            <a:avLst/>
          </a:prstGeom>
        </p:spPr>
      </p:pic>
      <p:sp>
        <p:nvSpPr>
          <p:cNvPr id="6" name="Content Placeholder 5">
            <a:extLst>
              <a:ext uri="{FF2B5EF4-FFF2-40B4-BE49-F238E27FC236}">
                <a16:creationId xmlns:a16="http://schemas.microsoft.com/office/drawing/2014/main" id="{B96C36B9-301C-00A6-6F25-6AAE3E6DF743}"/>
              </a:ext>
            </a:extLst>
          </p:cNvPr>
          <p:cNvSpPr>
            <a:spLocks noGrp="1"/>
          </p:cNvSpPr>
          <p:nvPr>
            <p:ph idx="1"/>
          </p:nvPr>
        </p:nvSpPr>
        <p:spPr>
          <a:xfrm>
            <a:off x="492369" y="814616"/>
            <a:ext cx="10515600" cy="4351338"/>
          </a:xfrm>
        </p:spPr>
        <p:txBody>
          <a:bodyPr>
            <a:normAutofit/>
          </a:bodyPr>
          <a:lstStyle/>
          <a:p>
            <a:pPr>
              <a:lnSpc>
                <a:spcPct val="150000"/>
              </a:lnSpc>
            </a:pPr>
            <a:r>
              <a:rPr lang="en-US" sz="2000" dirty="0">
                <a:latin typeface="Arial" panose="020B0604020202020204" pitchFamily="34" charset="0"/>
                <a:cs typeface="Arial" panose="020B0604020202020204" pitchFamily="34" charset="0"/>
              </a:rPr>
              <a:t>Any weakness or manipulation in statements affects ratios</a:t>
            </a:r>
          </a:p>
          <a:p>
            <a:pPr>
              <a:lnSpc>
                <a:spcPct val="150000"/>
              </a:lnSpc>
            </a:pPr>
            <a:r>
              <a:rPr lang="en-US" sz="2000" dirty="0">
                <a:latin typeface="Arial" panose="020B0604020202020204" pitchFamily="34" charset="0"/>
                <a:cs typeface="Arial" panose="020B0604020202020204" pitchFamily="34" charset="0"/>
              </a:rPr>
              <a:t>Non-financial aspects like employee skills or brand value are not considered</a:t>
            </a:r>
          </a:p>
          <a:p>
            <a:pPr>
              <a:lnSpc>
                <a:spcPct val="150000"/>
              </a:lnSpc>
            </a:pPr>
            <a:r>
              <a:rPr lang="en-US" sz="2000" dirty="0">
                <a:latin typeface="Arial" panose="020B0604020202020204" pitchFamily="34" charset="0"/>
                <a:cs typeface="Arial" panose="020B0604020202020204" pitchFamily="34" charset="0"/>
              </a:rPr>
              <a:t> Ratios are only as accurate as the financial information used.</a:t>
            </a:r>
          </a:p>
          <a:p>
            <a:pPr algn="just">
              <a:lnSpc>
                <a:spcPct val="150000"/>
              </a:lnSpc>
            </a:pPr>
            <a:r>
              <a:rPr lang="en-US" sz="2000" dirty="0">
                <a:latin typeface="Arial" panose="020B0604020202020204" pitchFamily="34" charset="0"/>
                <a:cs typeface="Arial" panose="020B0604020202020204" pitchFamily="34" charset="0"/>
              </a:rPr>
              <a:t>Variations in methods (depreciation, inventory) make comparisons difficult.</a:t>
            </a:r>
          </a:p>
          <a:p>
            <a:pPr>
              <a:lnSpc>
                <a:spcPct val="150000"/>
              </a:lnSpc>
            </a:pPr>
            <a:r>
              <a:rPr lang="en-US" sz="2000" dirty="0">
                <a:latin typeface="Arial" panose="020B0604020202020204" pitchFamily="34" charset="0"/>
                <a:cs typeface="Arial" panose="020B0604020202020204" pitchFamily="34" charset="0"/>
              </a:rPr>
              <a:t>Price-level changes can distort ratio results.</a:t>
            </a:r>
          </a:p>
          <a:p>
            <a:pPr>
              <a:lnSpc>
                <a:spcPct val="150000"/>
              </a:lnSpc>
            </a:pPr>
            <a:r>
              <a:rPr lang="en-US" sz="2000" dirty="0">
                <a:latin typeface="Arial" panose="020B0604020202020204" pitchFamily="34" charset="0"/>
                <a:cs typeface="Arial" panose="020B0604020202020204" pitchFamily="34" charset="0"/>
              </a:rPr>
              <a:t>Ratios mainly explain past performance, not future trends.</a:t>
            </a:r>
          </a:p>
          <a:p>
            <a:pPr>
              <a:lnSpc>
                <a:spcPct val="150000"/>
              </a:lnSpc>
            </a:pPr>
            <a:r>
              <a:rPr lang="en-US" sz="2000" dirty="0">
                <a:latin typeface="Arial" panose="020B0604020202020204" pitchFamily="34" charset="0"/>
                <a:cs typeface="Arial" panose="020B0604020202020204" pitchFamily="34" charset="0"/>
              </a:rPr>
              <a:t>Focused on past data, may not reflect current realities</a:t>
            </a:r>
          </a:p>
          <a:p>
            <a:pPr>
              <a:lnSpc>
                <a:spcPct val="150000"/>
              </a:lnSpc>
            </a:pPr>
            <a:endParaRPr lang="en-IN" sz="2000" dirty="0">
              <a:latin typeface="Arial" panose="020B0604020202020204" pitchFamily="34" charset="0"/>
              <a:cs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FA2D00-E45D-785D-F0B4-5B4D04F79321}"/>
              </a:ext>
            </a:extLst>
          </p:cNvPr>
          <p:cNvSpPr txBox="1">
            <a:spLocks noChangeArrowheads="1"/>
          </p:cNvSpPr>
          <p:nvPr/>
        </p:nvSpPr>
        <p:spPr bwMode="auto">
          <a:xfrm>
            <a:off x="1295400" y="1143000"/>
            <a:ext cx="9220200" cy="188199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50000"/>
              </a:lnSpc>
            </a:pPr>
            <a:r>
              <a:rPr lang="en-US" altLang="en-US" sz="2000" b="1" dirty="0"/>
              <a:t>Exercise  1. Profit to sales is 2% and the amount of profit is said to be Rs 5 Lac. Then what is the amount of Sales?</a:t>
            </a:r>
          </a:p>
          <a:p>
            <a:pPr eaLnBrk="1" hangingPunct="1">
              <a:lnSpc>
                <a:spcPct val="150000"/>
              </a:lnSpc>
            </a:pPr>
            <a:endParaRPr lang="en-US" altLang="en-US" sz="2000" dirty="0"/>
          </a:p>
          <a:p>
            <a:pPr eaLnBrk="1" hangingPunct="1">
              <a:lnSpc>
                <a:spcPct val="150000"/>
              </a:lnSpc>
            </a:pPr>
            <a:endParaRPr lang="en-US" altLang="en-US" sz="2000" dirty="0"/>
          </a:p>
        </p:txBody>
      </p:sp>
      <p:sp>
        <p:nvSpPr>
          <p:cNvPr id="2" name="TextBox 1">
            <a:extLst>
              <a:ext uri="{FF2B5EF4-FFF2-40B4-BE49-F238E27FC236}">
                <a16:creationId xmlns:a16="http://schemas.microsoft.com/office/drawing/2014/main" id="{D0620C1E-1D65-4C96-6570-B1B26BD45ABD}"/>
              </a:ext>
            </a:extLst>
          </p:cNvPr>
          <p:cNvSpPr txBox="1"/>
          <p:nvPr/>
        </p:nvSpPr>
        <p:spPr>
          <a:xfrm>
            <a:off x="1295400" y="2840324"/>
            <a:ext cx="8686800" cy="1420325"/>
          </a:xfrm>
          <a:prstGeom prst="rect">
            <a:avLst/>
          </a:prstGeom>
          <a:noFill/>
        </p:spPr>
        <p:txBody>
          <a:bodyPr wrap="square" rtlCol="0">
            <a:spAutoFit/>
          </a:bodyPr>
          <a:lstStyle/>
          <a:p>
            <a:pPr>
              <a:lnSpc>
                <a:spcPct val="150000"/>
              </a:lnSpc>
            </a:pPr>
            <a:r>
              <a:rPr lang="en-US" altLang="en-US" sz="2000" dirty="0">
                <a:latin typeface="Arial" panose="020B0604020202020204" pitchFamily="34" charset="0"/>
                <a:cs typeface="Arial" panose="020B0604020202020204" pitchFamily="34" charset="0"/>
              </a:rPr>
              <a:t>Answer  :   Net Profit Ratio =  (Net Profit / Sales ) x 100</a:t>
            </a:r>
          </a:p>
          <a:p>
            <a:pPr>
              <a:lnSpc>
                <a:spcPct val="150000"/>
              </a:lnSpc>
            </a:pPr>
            <a:r>
              <a:rPr lang="en-US" altLang="en-US" sz="2000" dirty="0">
                <a:latin typeface="Arial" panose="020B0604020202020204" pitchFamily="34" charset="0"/>
                <a:cs typeface="Arial" panose="020B0604020202020204" pitchFamily="34" charset="0"/>
              </a:rPr>
              <a:t>                             2              =   (5 x100) /Sales</a:t>
            </a:r>
          </a:p>
          <a:p>
            <a:pPr>
              <a:lnSpc>
                <a:spcPct val="150000"/>
              </a:lnSpc>
            </a:pPr>
            <a:r>
              <a:rPr lang="en-US" altLang="en-US" sz="2000" dirty="0">
                <a:latin typeface="Arial" panose="020B0604020202020204" pitchFamily="34" charset="0"/>
                <a:cs typeface="Arial" panose="020B0604020202020204" pitchFamily="34" charset="0"/>
              </a:rPr>
              <a:t>                Therefore  Sales  =     500/2   = Rs.250 Lac</a:t>
            </a:r>
            <a:endParaRPr lang="en-IN" sz="20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103DB-012F-83C7-14A4-3FE8272C5E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F951976-140F-5304-C617-A832CA61F2DF}"/>
              </a:ext>
            </a:extLst>
          </p:cNvPr>
          <p:cNvSpPr txBox="1">
            <a:spLocks noChangeArrowheads="1"/>
          </p:cNvSpPr>
          <p:nvPr/>
        </p:nvSpPr>
        <p:spPr bwMode="auto">
          <a:xfrm>
            <a:off x="1219200" y="533400"/>
            <a:ext cx="10058400" cy="234365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lnSpc>
                <a:spcPct val="150000"/>
              </a:lnSpc>
            </a:pPr>
            <a:r>
              <a:rPr lang="en-US" altLang="en-US" sz="2000" b="1" dirty="0"/>
              <a:t>Exercise  2.  A Company has a Net Worth of Rs. 5 Lac, Term Liabilities of Rs. 10 Lac. Fixed Assets are worth Rs. 16 Lac, and Current Assets are Rs. 25 Lac. There are no intangible Assets or other non-current assets. Calculate its Net Working Capital.</a:t>
            </a:r>
          </a:p>
          <a:p>
            <a:pPr algn="just" eaLnBrk="1" hangingPunct="1">
              <a:lnSpc>
                <a:spcPct val="150000"/>
              </a:lnSpc>
            </a:pPr>
            <a:endParaRPr lang="en-US" altLang="en-US" sz="2000" dirty="0"/>
          </a:p>
        </p:txBody>
      </p:sp>
      <p:sp>
        <p:nvSpPr>
          <p:cNvPr id="2" name="TextBox 1">
            <a:extLst>
              <a:ext uri="{FF2B5EF4-FFF2-40B4-BE49-F238E27FC236}">
                <a16:creationId xmlns:a16="http://schemas.microsoft.com/office/drawing/2014/main" id="{901E8BE9-79FF-D005-A560-92878511B900}"/>
              </a:ext>
            </a:extLst>
          </p:cNvPr>
          <p:cNvSpPr txBox="1"/>
          <p:nvPr/>
        </p:nvSpPr>
        <p:spPr>
          <a:xfrm>
            <a:off x="2133600" y="3088976"/>
            <a:ext cx="8001000" cy="2805320"/>
          </a:xfrm>
          <a:prstGeom prst="rect">
            <a:avLst/>
          </a:prstGeom>
          <a:noFill/>
        </p:spPr>
        <p:txBody>
          <a:bodyPr wrap="square" rtlCol="0">
            <a:spAutoFit/>
          </a:bodyPr>
          <a:lstStyle/>
          <a:p>
            <a:pPr algn="just">
              <a:lnSpc>
                <a:spcPct val="150000"/>
              </a:lnSpc>
            </a:pPr>
            <a:r>
              <a:rPr lang="en-US" altLang="en-US" sz="2000" dirty="0">
                <a:latin typeface="Arial" panose="020B0604020202020204" pitchFamily="34" charset="0"/>
                <a:cs typeface="Arial" panose="020B0604020202020204" pitchFamily="34" charset="0"/>
              </a:rPr>
              <a:t>Answer: Total Assets      = FA+CA =16 + 25  = Rs. 41 Lac</a:t>
            </a:r>
          </a:p>
          <a:p>
            <a:pPr algn="just">
              <a:lnSpc>
                <a:spcPct val="150000"/>
              </a:lnSpc>
            </a:pPr>
            <a:r>
              <a:rPr lang="en-US" altLang="en-US" sz="2000" dirty="0">
                <a:latin typeface="Arial" panose="020B0604020202020204" pitchFamily="34" charset="0"/>
                <a:cs typeface="Arial" panose="020B0604020202020204" pitchFamily="34" charset="0"/>
              </a:rPr>
              <a:t>Total Liabilities =  NW + LTL + CL =  5 + 10+  CL = 41 Lac</a:t>
            </a:r>
          </a:p>
          <a:p>
            <a:pPr algn="just">
              <a:lnSpc>
                <a:spcPct val="150000"/>
              </a:lnSpc>
            </a:pPr>
            <a:r>
              <a:rPr lang="en-US" altLang="en-US" sz="2000" dirty="0">
                <a:latin typeface="Arial" panose="020B0604020202020204" pitchFamily="34" charset="0"/>
                <a:cs typeface="Arial" panose="020B0604020202020204" pitchFamily="34" charset="0"/>
              </a:rPr>
              <a:t> Current Liabilities  =  TA - (NW+TL) = 41 – 15 = 26 Lac</a:t>
            </a:r>
          </a:p>
          <a:p>
            <a:pPr algn="just">
              <a:lnSpc>
                <a:spcPct val="150000"/>
              </a:lnSpc>
            </a:pPr>
            <a:endParaRPr lang="en-US" altLang="en-US" sz="2000" dirty="0">
              <a:latin typeface="Arial" panose="020B0604020202020204" pitchFamily="34" charset="0"/>
              <a:cs typeface="Arial" panose="020B0604020202020204" pitchFamily="34" charset="0"/>
            </a:endParaRPr>
          </a:p>
          <a:p>
            <a:pPr algn="just">
              <a:lnSpc>
                <a:spcPct val="150000"/>
              </a:lnSpc>
            </a:pPr>
            <a:r>
              <a:rPr lang="en-US" altLang="en-US" sz="2000" dirty="0">
                <a:latin typeface="Arial" panose="020B0604020202020204" pitchFamily="34" charset="0"/>
                <a:cs typeface="Arial" panose="020B0604020202020204" pitchFamily="34" charset="0"/>
              </a:rPr>
              <a:t>Therefore, Net Working Capital =  C. A – C.L </a:t>
            </a:r>
          </a:p>
          <a:p>
            <a:pPr algn="just">
              <a:lnSpc>
                <a:spcPct val="150000"/>
              </a:lnSpc>
            </a:pPr>
            <a:r>
              <a:rPr lang="en-US" altLang="en-US" sz="2000" dirty="0">
                <a:latin typeface="Arial" panose="020B0604020202020204" pitchFamily="34" charset="0"/>
                <a:cs typeface="Arial" panose="020B0604020202020204" pitchFamily="34" charset="0"/>
              </a:rPr>
              <a:t>                                                     =  25 – 26  =  (- )1 Lac </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58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0D95C4-2AE6-6EEE-2637-1849901FC6B7}"/>
              </a:ext>
            </a:extLst>
          </p:cNvPr>
          <p:cNvSpPr txBox="1">
            <a:spLocks noChangeArrowheads="1"/>
          </p:cNvSpPr>
          <p:nvPr/>
        </p:nvSpPr>
        <p:spPr bwMode="auto">
          <a:xfrm>
            <a:off x="914400" y="578587"/>
            <a:ext cx="9753600" cy="188199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50000"/>
              </a:lnSpc>
            </a:pPr>
            <a:r>
              <a:rPr lang="en-US" altLang="en-US" sz="2000" b="1" dirty="0"/>
              <a:t>Exercise  3 :   Current Ratio of a concern is 1 : 1 What will be the Net Working Capital ?</a:t>
            </a:r>
          </a:p>
          <a:p>
            <a:pPr eaLnBrk="1" hangingPunct="1">
              <a:lnSpc>
                <a:spcPct val="150000"/>
              </a:lnSpc>
            </a:pPr>
            <a:endParaRPr lang="en-US" altLang="en-US" sz="2000" b="1" dirty="0"/>
          </a:p>
          <a:p>
            <a:pPr eaLnBrk="1" hangingPunct="1">
              <a:lnSpc>
                <a:spcPct val="150000"/>
              </a:lnSpc>
            </a:pPr>
            <a:endParaRPr lang="en-US" altLang="en-US" sz="2000" dirty="0"/>
          </a:p>
        </p:txBody>
      </p:sp>
      <p:sp>
        <p:nvSpPr>
          <p:cNvPr id="4" name="TextBox 3">
            <a:extLst>
              <a:ext uri="{FF2B5EF4-FFF2-40B4-BE49-F238E27FC236}">
                <a16:creationId xmlns:a16="http://schemas.microsoft.com/office/drawing/2014/main" id="{18DF5AF2-80EC-7173-0B35-DC45695F855F}"/>
              </a:ext>
            </a:extLst>
          </p:cNvPr>
          <p:cNvSpPr txBox="1">
            <a:spLocks noChangeArrowheads="1"/>
          </p:cNvSpPr>
          <p:nvPr/>
        </p:nvSpPr>
        <p:spPr bwMode="auto">
          <a:xfrm>
            <a:off x="914400" y="3434862"/>
            <a:ext cx="9753600" cy="188199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50000"/>
              </a:lnSpc>
            </a:pPr>
            <a:r>
              <a:rPr lang="en-US" altLang="en-US" sz="2000" b="1" dirty="0"/>
              <a:t>Exercise  4 : </a:t>
            </a:r>
            <a:r>
              <a:rPr lang="en-US" altLang="en-US" sz="2000" dirty="0"/>
              <a:t> </a:t>
            </a:r>
            <a:r>
              <a:rPr lang="en-US" altLang="en-US" sz="2000" b="1" dirty="0"/>
              <a:t>Suppose the Current Ratio is 4 : 1. I Net Working Capital is Rs 30,000/-. Find  the amount of Current Assets?</a:t>
            </a:r>
          </a:p>
          <a:p>
            <a:pPr eaLnBrk="1" hangingPunct="1">
              <a:lnSpc>
                <a:spcPct val="150000"/>
              </a:lnSpc>
            </a:pPr>
            <a:endParaRPr lang="en-US" altLang="en-US" sz="2000" dirty="0"/>
          </a:p>
          <a:p>
            <a:pPr eaLnBrk="1" hangingPunct="1">
              <a:lnSpc>
                <a:spcPct val="150000"/>
              </a:lnSpc>
            </a:pPr>
            <a:endParaRPr lang="en-US" altLang="en-US" sz="2000" dirty="0"/>
          </a:p>
        </p:txBody>
      </p:sp>
      <p:sp>
        <p:nvSpPr>
          <p:cNvPr id="2" name="TextBox 1">
            <a:extLst>
              <a:ext uri="{FF2B5EF4-FFF2-40B4-BE49-F238E27FC236}">
                <a16:creationId xmlns:a16="http://schemas.microsoft.com/office/drawing/2014/main" id="{24CC094D-9F0C-E804-20D7-6177CB73A686}"/>
              </a:ext>
            </a:extLst>
          </p:cNvPr>
          <p:cNvSpPr txBox="1"/>
          <p:nvPr/>
        </p:nvSpPr>
        <p:spPr>
          <a:xfrm>
            <a:off x="1066800" y="1978223"/>
            <a:ext cx="9144000" cy="958660"/>
          </a:xfrm>
          <a:prstGeom prst="rect">
            <a:avLst/>
          </a:prstGeom>
          <a:noFill/>
        </p:spPr>
        <p:txBody>
          <a:bodyPr wrap="square" rtlCol="0">
            <a:spAutoFit/>
          </a:bodyPr>
          <a:lstStyle/>
          <a:p>
            <a:pPr>
              <a:lnSpc>
                <a:spcPct val="150000"/>
              </a:lnSpc>
            </a:pPr>
            <a:r>
              <a:rPr lang="en-US" altLang="en-US" sz="2000" dirty="0">
                <a:latin typeface="Arial" panose="020B0604020202020204" pitchFamily="34" charset="0"/>
                <a:cs typeface="Arial" panose="020B0604020202020204" pitchFamily="34" charset="0"/>
              </a:rPr>
              <a:t>Answer : It suggests that the Current Assets are equal to Current Liabilities, hence the NWC would be  NIL ( since  NWC = C.A  - C.L )</a:t>
            </a:r>
            <a:endParaRPr lang="en-IN" sz="2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7013E98-517C-E93F-A711-A57D56970315}"/>
              </a:ext>
            </a:extLst>
          </p:cNvPr>
          <p:cNvSpPr txBox="1"/>
          <p:nvPr/>
        </p:nvSpPr>
        <p:spPr>
          <a:xfrm>
            <a:off x="914400" y="4668918"/>
            <a:ext cx="9448800" cy="1420325"/>
          </a:xfrm>
          <a:prstGeom prst="rect">
            <a:avLst/>
          </a:prstGeom>
          <a:noFill/>
        </p:spPr>
        <p:txBody>
          <a:bodyPr wrap="square" rtlCol="0">
            <a:spAutoFit/>
          </a:bodyPr>
          <a:lstStyle/>
          <a:p>
            <a:pPr>
              <a:lnSpc>
                <a:spcPct val="150000"/>
              </a:lnSpc>
            </a:pPr>
            <a:r>
              <a:rPr lang="en-US" altLang="en-US" sz="2000" dirty="0">
                <a:latin typeface="Arial" panose="020B0604020202020204" pitchFamily="34" charset="0"/>
                <a:cs typeface="Arial" panose="020B0604020202020204" pitchFamily="34" charset="0"/>
              </a:rPr>
              <a:t>Answer  </a:t>
            </a:r>
            <a:r>
              <a:rPr lang="en-US" altLang="en-US" sz="2000" i="1" dirty="0">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Current Liabilities-Current Assets</a:t>
            </a:r>
            <a:r>
              <a:rPr lang="en-US" altLang="en-US" sz="2000" i="1" dirty="0">
                <a:latin typeface="Arial" panose="020B0604020202020204" pitchFamily="34" charset="0"/>
                <a:cs typeface="Arial" panose="020B0604020202020204" pitchFamily="34" charset="0"/>
              </a:rPr>
              <a:t>=4a  - 1a  </a:t>
            </a:r>
            <a:r>
              <a:rPr lang="en-US" altLang="en-US" sz="2000" dirty="0">
                <a:latin typeface="Arial" panose="020B0604020202020204" pitchFamily="34" charset="0"/>
                <a:cs typeface="Arial" panose="020B0604020202020204" pitchFamily="34" charset="0"/>
              </a:rPr>
              <a:t>= 30,000</a:t>
            </a:r>
          </a:p>
          <a:p>
            <a:pPr>
              <a:lnSpc>
                <a:spcPct val="150000"/>
              </a:lnSpc>
            </a:pPr>
            <a:r>
              <a:rPr lang="en-US" altLang="en-US" sz="2000" dirty="0">
                <a:latin typeface="Arial" panose="020B0604020202020204" pitchFamily="34" charset="0"/>
                <a:cs typeface="Arial" panose="020B0604020202020204" pitchFamily="34" charset="0"/>
              </a:rPr>
              <a:t>                Therefore, a</a:t>
            </a:r>
            <a:r>
              <a:rPr lang="en-US" altLang="en-US" sz="2000" i="1" dirty="0">
                <a:latin typeface="Arial" panose="020B0604020202020204" pitchFamily="34" charset="0"/>
                <a:cs typeface="Arial" panose="020B0604020202020204" pitchFamily="34" charset="0"/>
              </a:rPr>
              <a:t> =  </a:t>
            </a:r>
            <a:r>
              <a:rPr lang="en-US" altLang="en-US" sz="2000" dirty="0">
                <a:latin typeface="Arial" panose="020B0604020202020204" pitchFamily="34" charset="0"/>
                <a:cs typeface="Arial" panose="020B0604020202020204" pitchFamily="34" charset="0"/>
              </a:rPr>
              <a:t>10,000, i.e., Current Liabilities is Rs. 10,000</a:t>
            </a:r>
          </a:p>
          <a:p>
            <a:pPr>
              <a:lnSpc>
                <a:spcPct val="150000"/>
              </a:lnSpc>
            </a:pPr>
            <a:r>
              <a:rPr lang="en-US" altLang="en-US" sz="2000" dirty="0">
                <a:latin typeface="Arial" panose="020B0604020202020204" pitchFamily="34" charset="0"/>
                <a:cs typeface="Arial" panose="020B0604020202020204" pitchFamily="34" charset="0"/>
              </a:rPr>
              <a:t>                 Hence Current Assets would be  </a:t>
            </a:r>
            <a:r>
              <a:rPr lang="en-US" altLang="en-US" sz="2000" i="1" dirty="0">
                <a:latin typeface="Arial" panose="020B0604020202020204" pitchFamily="34" charset="0"/>
                <a:cs typeface="Arial" panose="020B0604020202020204" pitchFamily="34" charset="0"/>
              </a:rPr>
              <a:t>4a </a:t>
            </a:r>
            <a:r>
              <a:rPr lang="en-US" altLang="en-US" sz="2000" dirty="0">
                <a:latin typeface="Arial" panose="020B0604020202020204" pitchFamily="34" charset="0"/>
                <a:cs typeface="Arial" panose="020B0604020202020204" pitchFamily="34" charset="0"/>
              </a:rPr>
              <a:t>= 4 x 10,000 = Rs.40,000/-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1F9F-F4B2-0FD3-9A21-255CE1145A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AEE8A0-B972-C272-8A18-2030122D4440}"/>
              </a:ext>
            </a:extLst>
          </p:cNvPr>
          <p:cNvSpPr txBox="1"/>
          <p:nvPr/>
        </p:nvSpPr>
        <p:spPr>
          <a:xfrm>
            <a:off x="990600" y="509588"/>
            <a:ext cx="9372600" cy="2805320"/>
          </a:xfrm>
          <a:prstGeom prst="rect">
            <a:avLst/>
          </a:prstGeom>
          <a:noFill/>
          <a:ln>
            <a:solidFill>
              <a:schemeClr val="bg1"/>
            </a:solidFill>
          </a:ln>
        </p:spPr>
        <p:txBody>
          <a:bodyPr wrap="square">
            <a:spAutoFit/>
          </a:bodyPr>
          <a:lstStyle/>
          <a:p>
            <a:pPr algn="just">
              <a:lnSpc>
                <a:spcPct val="150000"/>
              </a:lnSpc>
              <a:defRPr/>
            </a:pPr>
            <a:r>
              <a:rPr lang="en-US" sz="2000" b="1" dirty="0">
                <a:latin typeface="Arial" charset="0"/>
              </a:rPr>
              <a:t>EXERCISE 5 . </a:t>
            </a:r>
            <a:r>
              <a:rPr lang="en-US" sz="2000" b="1" dirty="0">
                <a:latin typeface="Arial" panose="020B0604020202020204" pitchFamily="34" charset="0"/>
                <a:cs typeface="Arial" panose="020B0604020202020204" pitchFamily="34" charset="0"/>
              </a:rPr>
              <a:t>A firm sold its stocks for cash to meet its liquidity needs. Which of the following ratios would be affected?</a:t>
            </a:r>
          </a:p>
          <a:p>
            <a:pPr marL="457200" indent="-457200" algn="just">
              <a:lnSpc>
                <a:spcPct val="150000"/>
              </a:lnSpc>
              <a:buFont typeface="+mj-lt"/>
              <a:buAutoNum type="arabicPeriod"/>
              <a:defRPr/>
            </a:pPr>
            <a:r>
              <a:rPr lang="en-US" sz="2000" dirty="0">
                <a:latin typeface="Arial" charset="0"/>
              </a:rPr>
              <a:t>Debt Equity Ratio</a:t>
            </a:r>
          </a:p>
          <a:p>
            <a:pPr marL="342900" indent="-342900" algn="just">
              <a:lnSpc>
                <a:spcPct val="150000"/>
              </a:lnSpc>
              <a:buFont typeface="+mj-lt"/>
              <a:buAutoNum type="arabicPeriod"/>
              <a:defRPr/>
            </a:pPr>
            <a:r>
              <a:rPr lang="en-US" sz="2000" dirty="0">
                <a:latin typeface="Arial" charset="0"/>
              </a:rPr>
              <a:t>Current Ratio</a:t>
            </a:r>
          </a:p>
          <a:p>
            <a:pPr marL="342900" indent="-342900" algn="just">
              <a:lnSpc>
                <a:spcPct val="150000"/>
              </a:lnSpc>
              <a:buFont typeface="+mj-lt"/>
              <a:buAutoNum type="arabicPeriod"/>
              <a:defRPr/>
            </a:pPr>
            <a:r>
              <a:rPr lang="en-US" sz="2000" dirty="0">
                <a:latin typeface="Arial" charset="0"/>
              </a:rPr>
              <a:t>Debt Service Coverage Ratio</a:t>
            </a:r>
          </a:p>
          <a:p>
            <a:pPr marL="342900" indent="-342900" algn="just">
              <a:lnSpc>
                <a:spcPct val="150000"/>
              </a:lnSpc>
              <a:buFont typeface="+mj-lt"/>
              <a:buAutoNum type="arabicPeriod"/>
              <a:defRPr/>
            </a:pPr>
            <a:r>
              <a:rPr lang="en-US" sz="2000" dirty="0">
                <a:latin typeface="Arial" charset="0"/>
              </a:rPr>
              <a:t>Quick Ratio  </a:t>
            </a:r>
          </a:p>
        </p:txBody>
      </p:sp>
      <p:sp>
        <p:nvSpPr>
          <p:cNvPr id="3" name="TextBox 2">
            <a:extLst>
              <a:ext uri="{FF2B5EF4-FFF2-40B4-BE49-F238E27FC236}">
                <a16:creationId xmlns:a16="http://schemas.microsoft.com/office/drawing/2014/main" id="{57683AA5-2A4F-49CE-ADF3-02C8D6D4E2EB}"/>
              </a:ext>
            </a:extLst>
          </p:cNvPr>
          <p:cNvSpPr txBox="1"/>
          <p:nvPr/>
        </p:nvSpPr>
        <p:spPr>
          <a:xfrm>
            <a:off x="762000" y="3423138"/>
            <a:ext cx="10058400" cy="2805320"/>
          </a:xfrm>
          <a:prstGeom prst="rect">
            <a:avLst/>
          </a:prstGeom>
          <a:noFill/>
          <a:ln>
            <a:solidFill>
              <a:schemeClr val="bg1"/>
            </a:solidFill>
          </a:ln>
        </p:spPr>
        <p:txBody>
          <a:bodyPr wrap="square">
            <a:spAutoFit/>
          </a:bodyPr>
          <a:lstStyle/>
          <a:p>
            <a:pPr algn="just">
              <a:lnSpc>
                <a:spcPct val="150000"/>
              </a:lnSpc>
              <a:defRPr/>
            </a:pPr>
            <a:r>
              <a:rPr lang="en-US" sz="2000" b="1" dirty="0">
                <a:latin typeface="Arial" charset="0"/>
              </a:rPr>
              <a:t>EXERCISE 6. A company is found to be carrying a high Debt-Equity Ratio. To improve this,  a bank may suggest that the company :</a:t>
            </a:r>
          </a:p>
          <a:p>
            <a:pPr marL="457200" indent="-457200" algn="just">
              <a:lnSpc>
                <a:spcPct val="150000"/>
              </a:lnSpc>
              <a:buFont typeface="+mj-lt"/>
              <a:buAutoNum type="arabicPeriod"/>
              <a:defRPr/>
            </a:pPr>
            <a:r>
              <a:rPr lang="en-US" sz="2000" dirty="0">
                <a:latin typeface="Arial" charset="0"/>
              </a:rPr>
              <a:t>Raise long-term interest-free loans from friends and relatives</a:t>
            </a:r>
          </a:p>
          <a:p>
            <a:pPr marL="342900" indent="-342900" algn="just">
              <a:lnSpc>
                <a:spcPct val="150000"/>
              </a:lnSpc>
              <a:buFont typeface="+mj-lt"/>
              <a:buAutoNum type="arabicPeriod"/>
              <a:defRPr/>
            </a:pPr>
            <a:r>
              <a:rPr lang="en-US" sz="2000" dirty="0">
                <a:latin typeface="Arial" charset="0"/>
              </a:rPr>
              <a:t>Raise long-term loans from Institutions</a:t>
            </a:r>
          </a:p>
          <a:p>
            <a:pPr marL="342900" indent="-342900" algn="just">
              <a:lnSpc>
                <a:spcPct val="150000"/>
              </a:lnSpc>
              <a:buFont typeface="+mj-lt"/>
              <a:buAutoNum type="arabicPeriod"/>
              <a:defRPr/>
            </a:pPr>
            <a:r>
              <a:rPr lang="en-US" sz="2000" dirty="0">
                <a:latin typeface="Arial" charset="0"/>
              </a:rPr>
              <a:t>Increase the Equity by way of Bonus Issue</a:t>
            </a:r>
          </a:p>
          <a:p>
            <a:pPr marL="342900" indent="-342900" algn="just">
              <a:lnSpc>
                <a:spcPct val="150000"/>
              </a:lnSpc>
              <a:buFont typeface="+mj-lt"/>
              <a:buAutoNum type="arabicPeriod"/>
              <a:defRPr/>
            </a:pPr>
            <a:r>
              <a:rPr lang="en-US" sz="2000" dirty="0">
                <a:latin typeface="Arial" charset="0"/>
              </a:rPr>
              <a:t>Issue Rights shares to existing shareholders</a:t>
            </a:r>
            <a:r>
              <a:rPr lang="en-US" sz="2000" b="1" dirty="0">
                <a:latin typeface="Arial" charset="0"/>
              </a:rPr>
              <a:t>.</a:t>
            </a:r>
          </a:p>
        </p:txBody>
      </p:sp>
    </p:spTree>
    <p:extLst>
      <p:ext uri="{BB962C8B-B14F-4D97-AF65-F5344CB8AC3E}">
        <p14:creationId xmlns:p14="http://schemas.microsoft.com/office/powerpoint/2010/main" val="8623317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1FEF7EE-F6DD-F2A8-E8D3-0C43F3ACE210}"/>
              </a:ext>
            </a:extLst>
          </p:cNvPr>
          <p:cNvSpPr txBox="1"/>
          <p:nvPr/>
        </p:nvSpPr>
        <p:spPr>
          <a:xfrm>
            <a:off x="914400" y="468922"/>
            <a:ext cx="10515600" cy="2805320"/>
          </a:xfrm>
          <a:prstGeom prst="rect">
            <a:avLst/>
          </a:prstGeom>
          <a:noFill/>
          <a:ln>
            <a:solidFill>
              <a:schemeClr val="bg1"/>
            </a:solidFill>
          </a:ln>
        </p:spPr>
        <p:txBody>
          <a:bodyPr wrap="square">
            <a:spAutoFit/>
          </a:bodyPr>
          <a:lstStyle/>
          <a:p>
            <a:pPr>
              <a:lnSpc>
                <a:spcPct val="150000"/>
              </a:lnSpc>
              <a:defRPr/>
            </a:pPr>
            <a:r>
              <a:rPr lang="en-US" sz="2000" b="1" dirty="0">
                <a:latin typeface="Arial" charset="0"/>
              </a:rPr>
              <a:t>EXERCISE 7.  Which of the following is a fictional  Asset?</a:t>
            </a:r>
          </a:p>
          <a:p>
            <a:pPr>
              <a:lnSpc>
                <a:spcPct val="150000"/>
              </a:lnSpc>
              <a:defRPr/>
            </a:pPr>
            <a:endParaRPr lang="en-US" sz="2000" b="1" dirty="0">
              <a:latin typeface="Arial" charset="0"/>
            </a:endParaRPr>
          </a:p>
          <a:p>
            <a:pPr marL="342900" indent="-342900">
              <a:lnSpc>
                <a:spcPct val="150000"/>
              </a:lnSpc>
              <a:buFont typeface="+mj-lt"/>
              <a:buAutoNum type="arabicPeriod"/>
              <a:defRPr/>
            </a:pPr>
            <a:r>
              <a:rPr lang="en-US" sz="2000" dirty="0">
                <a:latin typeface="Arial" charset="0"/>
              </a:rPr>
              <a:t>Goodwill</a:t>
            </a:r>
          </a:p>
          <a:p>
            <a:pPr marL="342900" indent="-342900">
              <a:lnSpc>
                <a:spcPct val="150000"/>
              </a:lnSpc>
              <a:buFont typeface="+mj-lt"/>
              <a:buAutoNum type="arabicPeriod"/>
              <a:defRPr/>
            </a:pPr>
            <a:r>
              <a:rPr lang="en-US" sz="2000" dirty="0">
                <a:latin typeface="Arial" charset="0"/>
              </a:rPr>
              <a:t>Preliminary Expenses</a:t>
            </a:r>
          </a:p>
          <a:p>
            <a:pPr marL="342900" indent="-342900">
              <a:lnSpc>
                <a:spcPct val="150000"/>
              </a:lnSpc>
              <a:buFont typeface="+mj-lt"/>
              <a:buAutoNum type="arabicPeriod"/>
              <a:defRPr/>
            </a:pPr>
            <a:r>
              <a:rPr lang="en-US" sz="2000" dirty="0">
                <a:latin typeface="Arial" charset="0"/>
              </a:rPr>
              <a:t>Pre-operative expenses</a:t>
            </a:r>
          </a:p>
          <a:p>
            <a:pPr marL="342900" indent="-342900">
              <a:lnSpc>
                <a:spcPct val="150000"/>
              </a:lnSpc>
              <a:buFont typeface="+mj-lt"/>
              <a:buAutoNum type="arabicPeriod"/>
              <a:defRPr/>
            </a:pPr>
            <a:r>
              <a:rPr lang="en-US" sz="2000" dirty="0">
                <a:latin typeface="Arial" charset="0"/>
              </a:rPr>
              <a:t>Book Debts which  have become doubtful of recovery</a:t>
            </a:r>
          </a:p>
        </p:txBody>
      </p:sp>
      <p:sp>
        <p:nvSpPr>
          <p:cNvPr id="6" name="TextBox 5">
            <a:extLst>
              <a:ext uri="{FF2B5EF4-FFF2-40B4-BE49-F238E27FC236}">
                <a16:creationId xmlns:a16="http://schemas.microsoft.com/office/drawing/2014/main" id="{A8108603-3BFC-29CF-E117-BE5F7296B290}"/>
              </a:ext>
            </a:extLst>
          </p:cNvPr>
          <p:cNvSpPr txBox="1"/>
          <p:nvPr/>
        </p:nvSpPr>
        <p:spPr>
          <a:xfrm>
            <a:off x="785446" y="3554450"/>
            <a:ext cx="9730154" cy="2540567"/>
          </a:xfrm>
          <a:prstGeom prst="rect">
            <a:avLst/>
          </a:prstGeom>
          <a:noFill/>
        </p:spPr>
        <p:txBody>
          <a:bodyPr wrap="square">
            <a:spAutoFit/>
          </a:bodyPr>
          <a:lstStyle/>
          <a:p>
            <a:pPr>
              <a:lnSpc>
                <a:spcPct val="150000"/>
              </a:lnSpc>
              <a:defRPr/>
            </a:pPr>
            <a:r>
              <a:rPr lang="en-US" b="1" dirty="0">
                <a:latin typeface="Arial" charset="0"/>
              </a:rPr>
              <a:t>EXERCISE 8.  Which of the following is not considered a Quick Asset?</a:t>
            </a:r>
          </a:p>
          <a:p>
            <a:pPr>
              <a:lnSpc>
                <a:spcPct val="150000"/>
              </a:lnSpc>
              <a:defRPr/>
            </a:pPr>
            <a:endParaRPr lang="en-US" b="1" dirty="0">
              <a:latin typeface="Arial" charset="0"/>
            </a:endParaRPr>
          </a:p>
          <a:p>
            <a:pPr marL="342900" indent="-342900">
              <a:lnSpc>
                <a:spcPct val="150000"/>
              </a:lnSpc>
              <a:buFont typeface="+mj-lt"/>
              <a:buAutoNum type="arabicPeriod"/>
              <a:defRPr/>
            </a:pPr>
            <a:r>
              <a:rPr lang="en-US" dirty="0">
                <a:latin typeface="Arial" charset="0"/>
              </a:rPr>
              <a:t>Cash and Bank balances</a:t>
            </a:r>
          </a:p>
          <a:p>
            <a:pPr marL="342900" indent="-342900">
              <a:lnSpc>
                <a:spcPct val="150000"/>
              </a:lnSpc>
              <a:buFont typeface="+mj-lt"/>
              <a:buAutoNum type="arabicPeriod"/>
              <a:defRPr/>
            </a:pPr>
            <a:r>
              <a:rPr lang="en-US" dirty="0">
                <a:latin typeface="Arial" charset="0"/>
              </a:rPr>
              <a:t>Bank Fixed Deposits</a:t>
            </a:r>
          </a:p>
          <a:p>
            <a:pPr marL="342900" indent="-342900">
              <a:lnSpc>
                <a:spcPct val="150000"/>
              </a:lnSpc>
              <a:buFont typeface="+mj-lt"/>
              <a:buAutoNum type="arabicPeriod"/>
              <a:defRPr/>
            </a:pPr>
            <a:r>
              <a:rPr lang="en-US" dirty="0">
                <a:latin typeface="Arial" charset="0"/>
              </a:rPr>
              <a:t>Current Book Debts</a:t>
            </a:r>
          </a:p>
          <a:p>
            <a:pPr marL="342900" indent="-342900">
              <a:lnSpc>
                <a:spcPct val="150000"/>
              </a:lnSpc>
              <a:buFont typeface="+mj-lt"/>
              <a:buAutoNum type="arabicPeriod"/>
              <a:defRPr/>
            </a:pPr>
            <a:r>
              <a:rPr lang="en-US" dirty="0">
                <a:latin typeface="Arial" charset="0"/>
              </a:rPr>
              <a:t>Loans and Advances</a:t>
            </a:r>
            <a:endParaRPr lang="en-I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D16BDA-990E-F0B9-152A-7F226448D5F5}"/>
              </a:ext>
            </a:extLst>
          </p:cNvPr>
          <p:cNvSpPr txBox="1"/>
          <p:nvPr/>
        </p:nvSpPr>
        <p:spPr>
          <a:xfrm>
            <a:off x="762000" y="838200"/>
            <a:ext cx="10287000" cy="2959208"/>
          </a:xfrm>
          <a:prstGeom prst="rect">
            <a:avLst/>
          </a:prstGeom>
          <a:noFill/>
          <a:ln>
            <a:solidFill>
              <a:schemeClr val="bg1"/>
            </a:solidFill>
          </a:ln>
        </p:spPr>
        <p:txBody>
          <a:bodyPr wrap="square">
            <a:spAutoFit/>
          </a:bodyPr>
          <a:lstStyle/>
          <a:p>
            <a:pPr>
              <a:defRPr/>
            </a:pPr>
            <a:r>
              <a:rPr lang="en-US" sz="2000" b="1" dirty="0">
                <a:latin typeface="Arial" charset="0"/>
              </a:rPr>
              <a:t>EXERCISE 9.  Debt Service Coverage Ratio (DSCR) shows </a:t>
            </a:r>
          </a:p>
          <a:p>
            <a:pPr>
              <a:defRPr/>
            </a:pPr>
            <a:endParaRPr lang="en-US" sz="2000" b="1" dirty="0">
              <a:latin typeface="Arial" charset="0"/>
            </a:endParaRPr>
          </a:p>
          <a:p>
            <a:pPr marL="342900" indent="-342900" algn="just">
              <a:lnSpc>
                <a:spcPct val="150000"/>
              </a:lnSpc>
              <a:buFont typeface="+mj-lt"/>
              <a:buAutoNum type="arabicPeriod"/>
              <a:defRPr/>
            </a:pPr>
            <a:r>
              <a:rPr lang="en-US" sz="2000" dirty="0">
                <a:latin typeface="Arial" charset="0"/>
              </a:rPr>
              <a:t>Excess of current assets over current liabilities</a:t>
            </a:r>
          </a:p>
          <a:p>
            <a:pPr marL="342900" indent="-342900" algn="just">
              <a:lnSpc>
                <a:spcPct val="150000"/>
              </a:lnSpc>
              <a:buFont typeface="+mj-lt"/>
              <a:buAutoNum type="arabicPeriod"/>
              <a:defRPr/>
            </a:pPr>
            <a:r>
              <a:rPr lang="en-US" sz="2000" dirty="0">
                <a:latin typeface="Arial" charset="0"/>
              </a:rPr>
              <a:t>Number  of times the value of fixed assets covers the amount of the loan</a:t>
            </a:r>
          </a:p>
          <a:p>
            <a:pPr marL="342900" indent="-342900" algn="just">
              <a:lnSpc>
                <a:spcPct val="150000"/>
              </a:lnSpc>
              <a:buFont typeface="+mj-lt"/>
              <a:buAutoNum type="arabicPeriod"/>
              <a:defRPr/>
            </a:pPr>
            <a:r>
              <a:rPr lang="en-US" sz="2000" dirty="0">
                <a:latin typeface="Arial" charset="0"/>
              </a:rPr>
              <a:t>Number of times the company’s earnings cover the payment of interest and repayment of principal of long-term debt</a:t>
            </a:r>
          </a:p>
          <a:p>
            <a:pPr marL="342900" indent="-342900" algn="just">
              <a:lnSpc>
                <a:spcPct val="150000"/>
              </a:lnSpc>
              <a:buFont typeface="+mj-lt"/>
              <a:buAutoNum type="arabicPeriod"/>
              <a:defRPr/>
            </a:pPr>
            <a:r>
              <a:rPr lang="en-US" sz="2000" dirty="0">
                <a:latin typeface="Arial" charset="0"/>
              </a:rPr>
              <a:t>Effective utilization of assets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1869</TotalTime>
  <Words>3971</Words>
  <Application>Microsoft Office PowerPoint</Application>
  <PresentationFormat>Widescreen</PresentationFormat>
  <Paragraphs>396</Paragraphs>
  <Slides>59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vt:lpstr>
      <vt:lpstr>Calibri</vt:lpstr>
      <vt:lpstr>Calibri Light</vt:lpstr>
      <vt:lpstr>Cambria</vt:lpstr>
      <vt:lpstr>Cambria Math</vt:lpstr>
      <vt:lpstr>Wingdings</vt:lpstr>
      <vt:lpstr>Wingdings 2</vt:lpstr>
      <vt:lpstr>Office Theme</vt:lpstr>
      <vt:lpstr>RATIO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Which ratio is important for what?</vt:lpstr>
      <vt:lpstr> </vt:lpstr>
      <vt:lpstr>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 .C .Sahu</dc:creator>
  <cp:lastModifiedBy>Subhasmita Parida</cp:lastModifiedBy>
  <cp:revision>151</cp:revision>
  <dcterms:created xsi:type="dcterms:W3CDTF">2006-08-16T00:00:00Z</dcterms:created>
  <dcterms:modified xsi:type="dcterms:W3CDTF">2026-02-03T09:53:09Z</dcterms:modified>
</cp:coreProperties>
</file>