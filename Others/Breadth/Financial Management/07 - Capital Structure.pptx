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2"/>
  </p:notesMasterIdLst>
  <p:sldIdLst>
    <p:sldId id="334" r:id="rId2"/>
    <p:sldId id="261" r:id="rId3"/>
    <p:sldId id="355" r:id="rId4"/>
    <p:sldId id="333" r:id="rId5"/>
    <p:sldId id="330" r:id="rId6"/>
    <p:sldId id="343" r:id="rId7"/>
    <p:sldId id="265" r:id="rId8"/>
    <p:sldId id="268" r:id="rId9"/>
    <p:sldId id="341" r:id="rId10"/>
    <p:sldId id="342" r:id="rId11"/>
    <p:sldId id="346" r:id="rId12"/>
    <p:sldId id="345" r:id="rId13"/>
    <p:sldId id="351" r:id="rId14"/>
    <p:sldId id="352" r:id="rId15"/>
    <p:sldId id="350" r:id="rId16"/>
    <p:sldId id="348" r:id="rId17"/>
    <p:sldId id="349" r:id="rId18"/>
    <p:sldId id="353" r:id="rId19"/>
    <p:sldId id="354" r:id="rId20"/>
    <p:sldId id="35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465" autoAdjust="0"/>
    <p:restoredTop sz="66873" autoAdjust="0"/>
  </p:normalViewPr>
  <p:slideViewPr>
    <p:cSldViewPr>
      <p:cViewPr varScale="1">
        <p:scale>
          <a:sx n="84" d="100"/>
          <a:sy n="84" d="100"/>
        </p:scale>
        <p:origin x="792" y="11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C7691EF-6179-40A2-8140-409C69079DCB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E81498E-EC43-4918-951B-DD7C429EB89F}">
      <dgm:prSet phldrT="[Text]" phldr="0" custT="1"/>
      <dgm:spPr>
        <a:solidFill>
          <a:schemeClr val="bg2"/>
        </a:solidFill>
      </dgm:spPr>
      <dgm:t>
        <a:bodyPr/>
        <a:lstStyle/>
        <a:p>
          <a:r>
            <a: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Net Income Approach</a:t>
          </a:r>
        </a:p>
      </dgm:t>
    </dgm:pt>
    <dgm:pt modelId="{DE4AA8C1-425B-4316-A60E-97E4B9A3FD99}" type="parTrans" cxnId="{3AEA1F33-7B4C-4218-8E0A-8D3617A238EA}">
      <dgm:prSet/>
      <dgm:spPr/>
      <dgm:t>
        <a:bodyPr/>
        <a:lstStyle/>
        <a:p>
          <a:endParaRPr lang="en-IN"/>
        </a:p>
      </dgm:t>
    </dgm:pt>
    <dgm:pt modelId="{C652079E-E6EE-4225-A93C-374CF15861F2}" type="sibTrans" cxnId="{3AEA1F33-7B4C-4218-8E0A-8D3617A238EA}">
      <dgm:prSet/>
      <dgm:spPr/>
      <dgm:t>
        <a:bodyPr/>
        <a:lstStyle/>
        <a:p>
          <a:endParaRPr lang="en-IN"/>
        </a:p>
      </dgm:t>
    </dgm:pt>
    <dgm:pt modelId="{093E9F0D-FC9D-40E7-8E1B-D86770DC50C9}">
      <dgm:prSet phldrT="[Text]" phldr="0" custT="1"/>
      <dgm:spPr>
        <a:solidFill>
          <a:schemeClr val="bg2"/>
        </a:solidFill>
      </dgm:spPr>
      <dgm:t>
        <a:bodyPr/>
        <a:lstStyle/>
        <a:p>
          <a:r>
            <a: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Net Operating Income Approach</a:t>
          </a:r>
        </a:p>
      </dgm:t>
    </dgm:pt>
    <dgm:pt modelId="{3C3B52C4-FAA2-47CA-A6AB-6D2B2A616DC8}" type="parTrans" cxnId="{A91B0678-075F-4E19-9C6B-A2521A347448}">
      <dgm:prSet/>
      <dgm:spPr/>
      <dgm:t>
        <a:bodyPr/>
        <a:lstStyle/>
        <a:p>
          <a:endParaRPr lang="en-IN"/>
        </a:p>
      </dgm:t>
    </dgm:pt>
    <dgm:pt modelId="{7D56278A-47BD-4EB4-AC77-5851761BA032}" type="sibTrans" cxnId="{A91B0678-075F-4E19-9C6B-A2521A347448}">
      <dgm:prSet/>
      <dgm:spPr/>
      <dgm:t>
        <a:bodyPr/>
        <a:lstStyle/>
        <a:p>
          <a:endParaRPr lang="en-IN"/>
        </a:p>
      </dgm:t>
    </dgm:pt>
    <dgm:pt modelId="{E5C96CF4-FBA5-43DB-8B19-E474811EEE2F}">
      <dgm:prSet phldrT="[Text]" phldr="0" custT="1"/>
      <dgm:spPr>
        <a:solidFill>
          <a:schemeClr val="bg2"/>
        </a:solidFill>
      </dgm:spPr>
      <dgm:t>
        <a:bodyPr/>
        <a:lstStyle/>
        <a:p>
          <a:r>
            <a: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Traditional Approach</a:t>
          </a:r>
        </a:p>
      </dgm:t>
    </dgm:pt>
    <dgm:pt modelId="{5AC87CF5-B599-4775-A37F-663B2BD9923B}" type="parTrans" cxnId="{192B1B71-C12C-4570-AF8C-3D01C94A684D}">
      <dgm:prSet/>
      <dgm:spPr/>
      <dgm:t>
        <a:bodyPr/>
        <a:lstStyle/>
        <a:p>
          <a:endParaRPr lang="en-IN"/>
        </a:p>
      </dgm:t>
    </dgm:pt>
    <dgm:pt modelId="{C0AE246D-BB27-4FDD-8160-A6A69DD22B61}" type="sibTrans" cxnId="{192B1B71-C12C-4570-AF8C-3D01C94A684D}">
      <dgm:prSet/>
      <dgm:spPr/>
      <dgm:t>
        <a:bodyPr/>
        <a:lstStyle/>
        <a:p>
          <a:endParaRPr lang="en-IN"/>
        </a:p>
      </dgm:t>
    </dgm:pt>
    <dgm:pt modelId="{9D4B38F3-D054-477B-B76E-89E79B911F73}">
      <dgm:prSet phldrT="[Text]" phldr="0" custT="1"/>
      <dgm:spPr>
        <a:solidFill>
          <a:schemeClr val="bg2"/>
        </a:solidFill>
      </dgm:spPr>
      <dgm:t>
        <a:bodyPr/>
        <a:lstStyle/>
        <a:p>
          <a:r>
            <a: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Modigliani and Miller Theory</a:t>
          </a:r>
        </a:p>
      </dgm:t>
    </dgm:pt>
    <dgm:pt modelId="{84578831-11ED-4CBD-A467-F635DF8ACB0F}" type="parTrans" cxnId="{61FB0365-EAAE-4890-9D15-79C91FEB4630}">
      <dgm:prSet/>
      <dgm:spPr/>
      <dgm:t>
        <a:bodyPr/>
        <a:lstStyle/>
        <a:p>
          <a:endParaRPr lang="en-IN"/>
        </a:p>
      </dgm:t>
    </dgm:pt>
    <dgm:pt modelId="{549B9CE1-1625-436A-83BE-8E376E6F4C60}" type="sibTrans" cxnId="{61FB0365-EAAE-4890-9D15-79C91FEB4630}">
      <dgm:prSet/>
      <dgm:spPr/>
      <dgm:t>
        <a:bodyPr/>
        <a:lstStyle/>
        <a:p>
          <a:endParaRPr lang="en-IN"/>
        </a:p>
      </dgm:t>
    </dgm:pt>
    <dgm:pt modelId="{020F2D5E-C3EC-424F-A33B-40DC6C604077}" type="pres">
      <dgm:prSet presAssocID="{FC7691EF-6179-40A2-8140-409C69079DCB}" presName="diagram" presStyleCnt="0">
        <dgm:presLayoutVars>
          <dgm:dir/>
          <dgm:resizeHandles val="exact"/>
        </dgm:presLayoutVars>
      </dgm:prSet>
      <dgm:spPr/>
    </dgm:pt>
    <dgm:pt modelId="{CCDCB9CD-1E05-4E9E-AD5B-501B4E8F4B2A}" type="pres">
      <dgm:prSet presAssocID="{DE81498E-EC43-4918-951B-DD7C429EB89F}" presName="node" presStyleLbl="node1" presStyleIdx="0" presStyleCnt="4" custLinFactNeighborX="-8983" custLinFactNeighborY="-37984">
        <dgm:presLayoutVars>
          <dgm:bulletEnabled val="1"/>
        </dgm:presLayoutVars>
      </dgm:prSet>
      <dgm:spPr/>
    </dgm:pt>
    <dgm:pt modelId="{074D1BE5-3329-473E-B0FD-0656240A5BDC}" type="pres">
      <dgm:prSet presAssocID="{C652079E-E6EE-4225-A93C-374CF15861F2}" presName="sibTrans" presStyleCnt="0"/>
      <dgm:spPr/>
    </dgm:pt>
    <dgm:pt modelId="{70E04EE9-AF54-483C-9DF8-8540C18EC666}" type="pres">
      <dgm:prSet presAssocID="{093E9F0D-FC9D-40E7-8E1B-D86770DC50C9}" presName="node" presStyleLbl="node1" presStyleIdx="1" presStyleCnt="4" custLinFactNeighborX="24636" custLinFactNeighborY="-37984">
        <dgm:presLayoutVars>
          <dgm:bulletEnabled val="1"/>
        </dgm:presLayoutVars>
      </dgm:prSet>
      <dgm:spPr/>
    </dgm:pt>
    <dgm:pt modelId="{E2A39B5C-6D7C-4318-B3AC-7EBEBE722B29}" type="pres">
      <dgm:prSet presAssocID="{7D56278A-47BD-4EB4-AC77-5851761BA032}" presName="sibTrans" presStyleCnt="0"/>
      <dgm:spPr/>
    </dgm:pt>
    <dgm:pt modelId="{060E5209-7276-47A6-8776-7E32D496E22E}" type="pres">
      <dgm:prSet presAssocID="{E5C96CF4-FBA5-43DB-8B19-E474811EEE2F}" presName="node" presStyleLbl="node1" presStyleIdx="2" presStyleCnt="4" custLinFactNeighborX="-8983" custLinFactNeighborY="-2674">
        <dgm:presLayoutVars>
          <dgm:bulletEnabled val="1"/>
        </dgm:presLayoutVars>
      </dgm:prSet>
      <dgm:spPr/>
    </dgm:pt>
    <dgm:pt modelId="{0CE18F47-FC8D-4A68-8D64-B2DC839EBF52}" type="pres">
      <dgm:prSet presAssocID="{C0AE246D-BB27-4FDD-8160-A6A69DD22B61}" presName="sibTrans" presStyleCnt="0"/>
      <dgm:spPr/>
    </dgm:pt>
    <dgm:pt modelId="{65CC1BE1-A09E-476C-ADF0-6326D61269B2}" type="pres">
      <dgm:prSet presAssocID="{9D4B38F3-D054-477B-B76E-89E79B911F73}" presName="node" presStyleLbl="node1" presStyleIdx="3" presStyleCnt="4" custLinFactNeighborX="24636" custLinFactNeighborY="-2674">
        <dgm:presLayoutVars>
          <dgm:bulletEnabled val="1"/>
        </dgm:presLayoutVars>
      </dgm:prSet>
      <dgm:spPr/>
    </dgm:pt>
  </dgm:ptLst>
  <dgm:cxnLst>
    <dgm:cxn modelId="{9E17591C-3288-443B-AB75-802BB41A3488}" type="presOf" srcId="{9D4B38F3-D054-477B-B76E-89E79B911F73}" destId="{65CC1BE1-A09E-476C-ADF0-6326D61269B2}" srcOrd="0" destOrd="0" presId="urn:microsoft.com/office/officeart/2005/8/layout/default"/>
    <dgm:cxn modelId="{3AEA1F33-7B4C-4218-8E0A-8D3617A238EA}" srcId="{FC7691EF-6179-40A2-8140-409C69079DCB}" destId="{DE81498E-EC43-4918-951B-DD7C429EB89F}" srcOrd="0" destOrd="0" parTransId="{DE4AA8C1-425B-4316-A60E-97E4B9A3FD99}" sibTransId="{C652079E-E6EE-4225-A93C-374CF15861F2}"/>
    <dgm:cxn modelId="{86257A39-1823-41FE-A501-6B5BFEA52A19}" type="presOf" srcId="{FC7691EF-6179-40A2-8140-409C69079DCB}" destId="{020F2D5E-C3EC-424F-A33B-40DC6C604077}" srcOrd="0" destOrd="0" presId="urn:microsoft.com/office/officeart/2005/8/layout/default"/>
    <dgm:cxn modelId="{61FB0365-EAAE-4890-9D15-79C91FEB4630}" srcId="{FC7691EF-6179-40A2-8140-409C69079DCB}" destId="{9D4B38F3-D054-477B-B76E-89E79B911F73}" srcOrd="3" destOrd="0" parTransId="{84578831-11ED-4CBD-A467-F635DF8ACB0F}" sibTransId="{549B9CE1-1625-436A-83BE-8E376E6F4C60}"/>
    <dgm:cxn modelId="{192B1B71-C12C-4570-AF8C-3D01C94A684D}" srcId="{FC7691EF-6179-40A2-8140-409C69079DCB}" destId="{E5C96CF4-FBA5-43DB-8B19-E474811EEE2F}" srcOrd="2" destOrd="0" parTransId="{5AC87CF5-B599-4775-A37F-663B2BD9923B}" sibTransId="{C0AE246D-BB27-4FDD-8160-A6A69DD22B61}"/>
    <dgm:cxn modelId="{A91B0678-075F-4E19-9C6B-A2521A347448}" srcId="{FC7691EF-6179-40A2-8140-409C69079DCB}" destId="{093E9F0D-FC9D-40E7-8E1B-D86770DC50C9}" srcOrd="1" destOrd="0" parTransId="{3C3B52C4-FAA2-47CA-A6AB-6D2B2A616DC8}" sibTransId="{7D56278A-47BD-4EB4-AC77-5851761BA032}"/>
    <dgm:cxn modelId="{EC194C7F-EC92-4AF4-8B3F-5233014BCE7E}" type="presOf" srcId="{DE81498E-EC43-4918-951B-DD7C429EB89F}" destId="{CCDCB9CD-1E05-4E9E-AD5B-501B4E8F4B2A}" srcOrd="0" destOrd="0" presId="urn:microsoft.com/office/officeart/2005/8/layout/default"/>
    <dgm:cxn modelId="{1CA000AB-A298-44D8-8C99-73DA08F34566}" type="presOf" srcId="{093E9F0D-FC9D-40E7-8E1B-D86770DC50C9}" destId="{70E04EE9-AF54-483C-9DF8-8540C18EC666}" srcOrd="0" destOrd="0" presId="urn:microsoft.com/office/officeart/2005/8/layout/default"/>
    <dgm:cxn modelId="{829CB1E5-8A61-4B78-85BC-6C6B87824952}" type="presOf" srcId="{E5C96CF4-FBA5-43DB-8B19-E474811EEE2F}" destId="{060E5209-7276-47A6-8776-7E32D496E22E}" srcOrd="0" destOrd="0" presId="urn:microsoft.com/office/officeart/2005/8/layout/default"/>
    <dgm:cxn modelId="{CE71B36D-1A9D-420A-A4D6-91C4CA8F8D55}" type="presParOf" srcId="{020F2D5E-C3EC-424F-A33B-40DC6C604077}" destId="{CCDCB9CD-1E05-4E9E-AD5B-501B4E8F4B2A}" srcOrd="0" destOrd="0" presId="urn:microsoft.com/office/officeart/2005/8/layout/default"/>
    <dgm:cxn modelId="{A8A48BE3-CBCB-4911-80D0-FC46EEC9D0FF}" type="presParOf" srcId="{020F2D5E-C3EC-424F-A33B-40DC6C604077}" destId="{074D1BE5-3329-473E-B0FD-0656240A5BDC}" srcOrd="1" destOrd="0" presId="urn:microsoft.com/office/officeart/2005/8/layout/default"/>
    <dgm:cxn modelId="{44B0F592-11FC-40AD-A2BF-6894A43053D5}" type="presParOf" srcId="{020F2D5E-C3EC-424F-A33B-40DC6C604077}" destId="{70E04EE9-AF54-483C-9DF8-8540C18EC666}" srcOrd="2" destOrd="0" presId="urn:microsoft.com/office/officeart/2005/8/layout/default"/>
    <dgm:cxn modelId="{23A05397-5F9E-46C3-AEB2-C9E0A587705C}" type="presParOf" srcId="{020F2D5E-C3EC-424F-A33B-40DC6C604077}" destId="{E2A39B5C-6D7C-4318-B3AC-7EBEBE722B29}" srcOrd="3" destOrd="0" presId="urn:microsoft.com/office/officeart/2005/8/layout/default"/>
    <dgm:cxn modelId="{7495F807-4167-4DC1-8BDD-5C8664A3FB80}" type="presParOf" srcId="{020F2D5E-C3EC-424F-A33B-40DC6C604077}" destId="{060E5209-7276-47A6-8776-7E32D496E22E}" srcOrd="4" destOrd="0" presId="urn:microsoft.com/office/officeart/2005/8/layout/default"/>
    <dgm:cxn modelId="{114199B3-EFBB-4081-9812-D2CA7987C20B}" type="presParOf" srcId="{020F2D5E-C3EC-424F-A33B-40DC6C604077}" destId="{0CE18F47-FC8D-4A68-8D64-B2DC839EBF52}" srcOrd="5" destOrd="0" presId="urn:microsoft.com/office/officeart/2005/8/layout/default"/>
    <dgm:cxn modelId="{6F459D42-26B6-4A21-9D44-09CE2D07F3B5}" type="presParOf" srcId="{020F2D5E-C3EC-424F-A33B-40DC6C604077}" destId="{65CC1BE1-A09E-476C-ADF0-6326D61269B2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DCB9CD-1E05-4E9E-AD5B-501B4E8F4B2A}">
      <dsp:nvSpPr>
        <dsp:cNvPr id="0" name=""/>
        <dsp:cNvSpPr/>
      </dsp:nvSpPr>
      <dsp:spPr>
        <a:xfrm>
          <a:off x="866815" y="0"/>
          <a:ext cx="3345782" cy="2007469"/>
        </a:xfrm>
        <a:prstGeom prst="rect">
          <a:avLst/>
        </a:prstGeom>
        <a:solidFill>
          <a:schemeClr val="bg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Net Income Approach</a:t>
          </a:r>
        </a:p>
      </dsp:txBody>
      <dsp:txXfrm>
        <a:off x="866815" y="0"/>
        <a:ext cx="3345782" cy="2007469"/>
      </dsp:txXfrm>
    </dsp:sp>
    <dsp:sp modelId="{70E04EE9-AF54-483C-9DF8-8540C18EC666}">
      <dsp:nvSpPr>
        <dsp:cNvPr id="0" name=""/>
        <dsp:cNvSpPr/>
      </dsp:nvSpPr>
      <dsp:spPr>
        <a:xfrm>
          <a:off x="5671994" y="0"/>
          <a:ext cx="3345782" cy="2007469"/>
        </a:xfrm>
        <a:prstGeom prst="rect">
          <a:avLst/>
        </a:prstGeom>
        <a:solidFill>
          <a:schemeClr val="bg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Net Operating Income Approach</a:t>
          </a:r>
        </a:p>
      </dsp:txBody>
      <dsp:txXfrm>
        <a:off x="5671994" y="0"/>
        <a:ext cx="3345782" cy="2007469"/>
      </dsp:txXfrm>
    </dsp:sp>
    <dsp:sp modelId="{060E5209-7276-47A6-8776-7E32D496E22E}">
      <dsp:nvSpPr>
        <dsp:cNvPr id="0" name=""/>
        <dsp:cNvSpPr/>
      </dsp:nvSpPr>
      <dsp:spPr>
        <a:xfrm>
          <a:off x="866815" y="2289278"/>
          <a:ext cx="3345782" cy="2007469"/>
        </a:xfrm>
        <a:prstGeom prst="rect">
          <a:avLst/>
        </a:prstGeom>
        <a:solidFill>
          <a:schemeClr val="bg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Traditional Approach</a:t>
          </a:r>
        </a:p>
      </dsp:txBody>
      <dsp:txXfrm>
        <a:off x="866815" y="2289278"/>
        <a:ext cx="3345782" cy="2007469"/>
      </dsp:txXfrm>
    </dsp:sp>
    <dsp:sp modelId="{65CC1BE1-A09E-476C-ADF0-6326D61269B2}">
      <dsp:nvSpPr>
        <dsp:cNvPr id="0" name=""/>
        <dsp:cNvSpPr/>
      </dsp:nvSpPr>
      <dsp:spPr>
        <a:xfrm>
          <a:off x="5671994" y="2289278"/>
          <a:ext cx="3345782" cy="2007469"/>
        </a:xfrm>
        <a:prstGeom prst="rect">
          <a:avLst/>
        </a:prstGeom>
        <a:solidFill>
          <a:schemeClr val="bg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Modigliani and Miller Theory</a:t>
          </a:r>
        </a:p>
      </dsp:txBody>
      <dsp:txXfrm>
        <a:off x="5671994" y="2289278"/>
        <a:ext cx="3345782" cy="20074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5812A7-2DB0-4800-A4C0-62338CE3C599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713D4D-DEE3-4C26-A5DA-F8A062A1384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713D4D-DEE3-4C26-A5DA-F8A062A1384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6452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713D4D-DEE3-4C26-A5DA-F8A062A1384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0172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713D4D-DEE3-4C26-A5DA-F8A062A1384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6334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713D4D-DEE3-4C26-A5DA-F8A062A1384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1039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713D4D-DEE3-4C26-A5DA-F8A062A1384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5880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F7CF9-0CBA-11A9-F4F0-387701F1B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08F39D-BE61-2908-E0AB-A21E551D4F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77F4A3-C75E-BA70-8697-34C28BC48A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0671EA-1F9F-AA43-8B53-1AF08B7BCE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713D4D-DEE3-4C26-A5DA-F8A062A1384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1470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6B2C3-57BA-72B2-D1F2-48774B477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EC9BB0-64E6-1A45-7477-FF12333253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9BD593-D42C-0064-7B54-1E4918BEA4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BDF8B8-4564-DDE9-7BBC-9A9E767B68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713D4D-DEE3-4C26-A5DA-F8A062A1384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8881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D2437-2E93-EF68-8F00-85F28E956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7F309D-A605-EE07-70EE-BF032B943C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4D5BF7-C7CA-FCC0-8106-07C97F7158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444FBC-8D71-E639-1B0C-489F46C584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713D4D-DEE3-4C26-A5DA-F8A062A1384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7249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E6E0F-0C07-F1D7-772D-678EC4171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43E5C6-94FA-C06F-B21A-EEFACDB7FF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D5FD83-00EF-C1B6-3C4E-E6F5920926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29BC60-1BDC-E66F-959E-CD0C2F6389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713D4D-DEE3-4C26-A5DA-F8A062A1384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4142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7E987-92F6-6122-289E-E4FBE8BFB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D096E8-D8A6-6C8E-F848-72286C509C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A68B10-6301-DB3E-03F2-903FFBB283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5346A4-4B1B-1DB4-387A-2D747EB56E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713D4D-DEE3-4C26-A5DA-F8A062A1384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0224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4CA78-1B16-7006-89B7-4ECFD4E75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2ABBC7-6976-627C-EE84-4E6739C984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7047F4-6CD6-58AC-191A-5C37367817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ED3910-85F6-9D48-0EB7-483EF565D2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713D4D-DEE3-4C26-A5DA-F8A062A1384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9285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B19B5-48B3-FF2A-9439-2C1017FA1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A9820D-5A98-55FD-5BC1-048E143DA8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81357C-0972-1839-0CC9-EEB3C27EE9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24B49B-20CA-69A1-D594-9B3DDB0966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713D4D-DEE3-4C26-A5DA-F8A062A1384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3063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E10CC-5BAA-C462-961F-1DF58ACB4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BAF70C-AB93-7577-DFDA-DEBDCF8328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E07E1F-5EFF-3A91-7DE3-07EC84B932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8267E8-3B38-1B42-76C0-D241D7BF3F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713D4D-DEE3-4C26-A5DA-F8A062A1384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7427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8C46D-713D-8AF0-A712-34DBA75B1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87FD19-BD9F-204A-DBC5-F317D496F7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4BF401-F870-DEAE-03BB-0F28846B39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7DBCB4-CEC9-FD74-F5FD-1DFADF34B6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713D4D-DEE3-4C26-A5DA-F8A062A1384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8779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81752-8023-8C0E-C1E0-5295C8022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0035C9-A9F2-6D4C-1957-C685B6018B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916468-3427-215F-7B4D-0A79AAFEDD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0F2526-0B02-542E-8C46-FF66184FAF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713D4D-DEE3-4C26-A5DA-F8A062A1384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1224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E10CD-A0F0-09CD-BBE6-8D15328E2E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3783B2-531C-CDE2-6952-C252D10477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7D58DC-6E5F-1542-A43C-2B91A5763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7ADB-F8E0-4755-B076-7CAE6D9D09FC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C97FC-3831-7D25-7F8A-0258B905E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69787-7EDE-FD60-E3C1-94829A627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385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DE9F9-5BD0-96B0-7CCE-769A2A296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56D7C-9240-99BA-B2D9-A58DA37DC8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F8AFF-7195-2DDD-C6E4-2E832E92A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E89EF-806F-46ED-B30F-405FA690E982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535CAC-9A6E-E3BD-071F-B9BBC493C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475F1-1524-C633-F996-83A54C228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252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E7463-C703-7C83-F481-1F171FBA9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A36398-278B-0F26-46A0-95420D8CC1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58462-9FFE-F8F6-EA9F-591033F3E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18B5F-0B40-4BFE-8416-D4C0CAC360FA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7C924-A29B-9DF0-F868-B03135570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F76B4-7422-96F0-DFC8-D253C4D8A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629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264E2-87CF-C6A9-6D22-21D65F99B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23030-C431-D324-6B64-ABE6FB98F9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C2BC34-48F4-64AE-5FA5-AEE5DFB806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D09FFF-5147-EDBC-06F4-00D91C30A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A3D41-FF20-47D7-8991-A1CD5EF37B7F}" type="datetime1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ADB33B-DA34-5D13-C42E-4BD5B3D77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91B73-74C6-C1C4-FC05-8234EDFBD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260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26A89-BF0D-7430-91CA-747F7C216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3FBAAD-BD01-55C3-A235-3DE3049EC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F3780C-C28E-071E-1B4A-3CA931C6CC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211E7E-6EC7-CFC8-B292-40455F4354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B37407-9096-86EA-F62B-5AF86FA932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4419E2-5D13-EEEB-F5B3-847DCDD34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E3D53-D71D-4BDF-BF70-F06439ABA21F}" type="datetime1">
              <a:rPr lang="en-US" smtClean="0"/>
              <a:t>10/13/2025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438642-616F-E4CD-69E4-7AAA6C4B7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B6FDD8-800E-D321-AD32-147592785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078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66973-3FF6-660F-4B74-9F301B0CA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CAE959-4ED9-3441-FC1B-CB0156585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A7DF7-67CD-421F-BC8D-0C17580BF4A7}" type="datetime1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4624C2-DA63-3CF5-8593-641061509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2758DC-B137-653D-B384-3AAE3EFD2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509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DFCC27-F82D-D1CE-8D8A-1A61E8012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CFBF0-06FC-4F16-BC37-84F83563924E}" type="datetime1">
              <a:rPr lang="en-US" smtClean="0"/>
              <a:t>10/13/2025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0D78C5-01D5-DB3E-064C-4B9306C6F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C69BA7-0F1C-2E72-BA03-1AB9DD1B4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274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B5C3B-1B07-3630-9F64-40C15BA0A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BC3DB-BEE1-32ED-635C-1F5F4553A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4065A6-B998-1C39-DA15-1791408280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2054EE-623B-CF4E-27BF-E4F28D745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5BA20-A7A3-47D9-9520-5F3484C1BBFD}" type="datetime1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DC2D1A-A6DE-CC3E-FCCD-AAC339C4C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DEB9BD-46D3-134D-C3BA-622E110E8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715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4C86D-63EE-0EE0-3A4C-D8EAF50D2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85B702-F0EE-B99A-7A25-CBCE0F077B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12F97A-26E7-46B6-6C00-84A6493E69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6B1FB1-65B9-B799-FCF5-D8F3FADD0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CBA1C-02BF-409D-82C1-648CA7E0C440}" type="datetime1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EB8E7F-9C69-61A4-D1B8-2306C3294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420F87-3D4A-282E-D1D0-9F4C108B3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185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02F3A-2D15-A9C1-2C21-1EC89EF94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C5E360-0AA0-37C7-EF1C-61453E85A6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1B38BC-DBCF-5F7F-CC6C-96AB8DCD5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1422F-C073-42F1-81DD-2903E5C9E7AA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8BC9B-1978-64FE-3CA7-BC9A6C786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28A51-331A-0747-ED55-E8DE41F8A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047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C45994-8980-647E-96D8-EBCAE473DE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A471C7-7D50-10A6-01E7-A63913B2CD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0380BA-CC99-792A-A7C9-044813B84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0506A-2A99-405B-A926-59189BE8ED9C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D7CA8-573C-65A3-AE67-9F945F0FD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4A430-28A1-E712-6DEA-39F66D949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896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781D37-64A1-8A98-531B-F5EF21E8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F5D2F2-B811-EA45-86FE-D4332858F2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382D5-169D-B173-CEFC-E1C1AEA8A6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DF57A5-CAEA-4405-8D5D-DFD18B4CE239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F8FE4-4BA6-B9F0-D929-A503F58C1F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B83DF-99E1-9B8D-6A08-5367ABB83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789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0F455-BC79-E0BD-A932-4AAC82BBBC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9815" y="-606817"/>
            <a:ext cx="7784123" cy="15974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Capital Structure  </a:t>
            </a:r>
            <a:endParaRPr lang="en-IN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48BDD4-5999-D88C-CDA9-369D927A8A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2085" y="3429000"/>
            <a:ext cx="9144000" cy="2864545"/>
          </a:xfrm>
        </p:spPr>
        <p:txBody>
          <a:bodyPr>
            <a:normAutofit/>
          </a:bodyPr>
          <a:lstStyle/>
          <a:p>
            <a:r>
              <a:rPr lang="en-IN" dirty="0"/>
              <a:t> Financial Management(HS4L003)</a:t>
            </a:r>
          </a:p>
          <a:p>
            <a:r>
              <a:rPr lang="en-IN" dirty="0"/>
              <a:t>Dr. Naresh Chandra Sahu</a:t>
            </a:r>
          </a:p>
          <a:p>
            <a:r>
              <a:rPr lang="en-IN" dirty="0"/>
              <a:t>Associate Professor (Economics)</a:t>
            </a:r>
          </a:p>
          <a:p>
            <a:pPr>
              <a:defRPr/>
            </a:pPr>
            <a:endParaRPr lang="en-US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School of Humanities, Social Sciences &amp; Management</a:t>
            </a:r>
          </a:p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Indian Institute of Technology, Bhubaneswar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611643E-496F-6C24-52CF-26048AD81153}"/>
              </a:ext>
            </a:extLst>
          </p:cNvPr>
          <p:cNvSpPr txBox="1">
            <a:spLocks/>
          </p:cNvSpPr>
          <p:nvPr/>
        </p:nvSpPr>
        <p:spPr>
          <a:xfrm>
            <a:off x="1524000" y="5116313"/>
            <a:ext cx="9144000" cy="9327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30A92-D783-6F7E-FFC5-F3C3B0CA9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1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192813-3586-95C9-052B-177472216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1161276"/>
            <a:ext cx="2139370" cy="203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15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62BEF468-69EA-7776-A688-AED22F0882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961084"/>
            <a:ext cx="7203831" cy="4659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Understand the concept and components of capital structure (debt, equity).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Explain the importance of capital structure in financial decision-making.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Describe major capital structure theories: NI, NOI, Traditional, MM Proposition.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Compare assumptions and implications of different capital structure theories.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Analyse how capital structure affects firm value and cost of capital</a:t>
            </a:r>
            <a:r>
              <a:rPr lang="en-US" sz="2000" dirty="0"/>
              <a:t>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D5FA44-4702-384F-0E1C-AB7CCBC1D682}"/>
              </a:ext>
            </a:extLst>
          </p:cNvPr>
          <p:cNvSpPr/>
          <p:nvPr/>
        </p:nvSpPr>
        <p:spPr>
          <a:xfrm>
            <a:off x="679938" y="136525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 Outcomes 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9F18A8-D14A-BEC6-1A96-E0845793ED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pic>
        <p:nvPicPr>
          <p:cNvPr id="1026" name="Picture 2" descr="Capital Structure | Features, Types &amp; Factors | Examples with Template">
            <a:extLst>
              <a:ext uri="{FF2B5EF4-FFF2-40B4-BE49-F238E27FC236}">
                <a16:creationId xmlns:a16="http://schemas.microsoft.com/office/drawing/2014/main" id="{EEBC8DF6-4B7E-26DE-9B5A-6803C5D52B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7201" y="1752600"/>
            <a:ext cx="3935491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3B7B3D-CFB6-AC98-18AE-CD6B55461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F3D39-B45B-11A6-92B1-3D574E0A1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527357"/>
            <a:ext cx="10515600" cy="4381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   Is it safer for a company to use only equity or only debt? Why?</a:t>
            </a:r>
            <a:endParaRPr lang="en-IN" sz="25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346459-E1CA-E01C-9B5C-D24FA68BE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338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62BEF468-69EA-7776-A688-AED22F0882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5800" y="1501486"/>
                <a:ext cx="10591800" cy="46898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Capital structure refers to the mix or proportion of long-term sources of funds that a company uses to finance its overall operations, investments, and growth.</a:t>
                </a:r>
              </a:p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It represents how a firm finances its assets through a combination of owners’ funds (equity) and borrowed funds (debt).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Capital structure is often shown through the Debt–Equity Ratio: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Debt</m:t>
                      </m:r>
                      <m:r>
                        <m:rPr>
                          <m:nor/>
                        </m:rPr>
                        <a:rPr lang="en-IN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–</m:t>
                      </m:r>
                      <m:r>
                        <m:rPr>
                          <m:nor/>
                        </m:rPr>
                        <a:rPr lang="en-IN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Equity</m:t>
                      </m:r>
                      <m:r>
                        <m:rPr>
                          <m:nor/>
                        </m:rPr>
                        <a:rPr lang="en-IN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Ratio</m:t>
                      </m:r>
                      <m:r>
                        <m:rPr>
                          <m:nor/>
                        </m:rPr>
                        <a:rPr lang="en-IN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 (</m:t>
                      </m:r>
                      <m:r>
                        <m:rPr>
                          <m:nor/>
                        </m:rPr>
                        <a:rPr lang="en-IN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D</m:t>
                      </m:r>
                      <m:r>
                        <m:rPr>
                          <m:nor/>
                        </m:rPr>
                        <a:rPr lang="en-IN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/</m:t>
                      </m:r>
                      <m:r>
                        <m:rPr>
                          <m:nor/>
                        </m:rPr>
                        <a:rPr lang="en-IN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E</m:t>
                      </m:r>
                      <m:r>
                        <m:rPr>
                          <m:nor/>
                        </m:rPr>
                        <a:rPr lang="en-IN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)</m:t>
                      </m:r>
                      <m:r>
                        <a:rPr lang="en-IN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sz="200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Total</m:t>
                          </m:r>
                          <m:r>
                            <m:rPr>
                              <m:nor/>
                            </m:rPr>
                            <a:rPr lang="en-IN" sz="200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sz="200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Debt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IN" sz="200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Total</m:t>
                          </m:r>
                          <m:r>
                            <m:rPr>
                              <m:nor/>
                            </m:rPr>
                            <a:rPr lang="en-IN" sz="200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sz="2000" smtClean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Equity</m:t>
                          </m:r>
                        </m:den>
                      </m:f>
                    </m:oMath>
                  </m:oMathPara>
                </a14:m>
                <a:endParaRPr lang="ar-AE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50000"/>
                  </a:lnSpc>
                </a:pPr>
                <a:b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62BEF468-69EA-7776-A688-AED22F0882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5800" y="1501486"/>
                <a:ext cx="10591800" cy="4689874"/>
              </a:xfrm>
              <a:prstGeom prst="rect">
                <a:avLst/>
              </a:prstGeom>
              <a:blipFill>
                <a:blip r:embed="rId3"/>
                <a:stretch>
                  <a:fillRect l="-518" r="-576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049F78FB-D224-E60E-B9E9-AD32FE8ABFDB}"/>
              </a:ext>
            </a:extLst>
          </p:cNvPr>
          <p:cNvSpPr txBox="1">
            <a:spLocks/>
          </p:cNvSpPr>
          <p:nvPr/>
        </p:nvSpPr>
        <p:spPr>
          <a:xfrm>
            <a:off x="685800" y="434686"/>
            <a:ext cx="10972800" cy="1066800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Capital structure?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FD8C7EB-E668-244A-5AF6-30D7D45DF3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47FFEC-D92C-EC5F-DA64-65D9236EF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575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8EF8F2-30EC-9DB3-4BAD-523429CD6F92}"/>
              </a:ext>
            </a:extLst>
          </p:cNvPr>
          <p:cNvSpPr/>
          <p:nvPr/>
        </p:nvSpPr>
        <p:spPr>
          <a:xfrm>
            <a:off x="679938" y="136525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Objectives of Capital Structure </a:t>
            </a:r>
            <a:endParaRPr lang="en-IN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97D83A-5587-D897-3E63-F31D4B74A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88554BC3-950B-7DE8-0523-B2822B87E5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93370"/>
            <a:ext cx="10442862" cy="5536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It helps minimize the overall cost of capital.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It ensures flexibility in raising future funds.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It allows management to retain control of the company.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It improves the creditworthiness of the firm.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It enhances profitability for shareholders through leverage.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It ensures the long-term stability and survival of the firm.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It promotes optimum utilization of financial resources.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It builds investor and stakeholder confidence.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It supports business growth and future expansion.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A128F5-B573-A0DD-C1F6-204C7288F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016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627C9-B438-2742-26D0-3E2AA0098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7E8B41-E6A3-784C-A3CD-FC5B92114727}"/>
              </a:ext>
            </a:extLst>
          </p:cNvPr>
          <p:cNvSpPr/>
          <p:nvPr/>
        </p:nvSpPr>
        <p:spPr>
          <a:xfrm>
            <a:off x="679938" y="136525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Components of Capital Structure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3B66C0-0144-9AD9-7099-76E07263C7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7E4655-E09B-9EAE-A156-A51DBE1019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933206"/>
            <a:ext cx="9677400" cy="5696194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7A3A1B-5415-B5DF-1EED-8D4805A3A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826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2031" y="956651"/>
            <a:ext cx="10515600" cy="576482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Nature of Business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– Stable businesses can handle more debt; risky businesses rely on equity.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Business Risk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– High business risk discourages debt; low risk allows higher debt.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Profitability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– Profitable firms can use retained earnings; less profitable firms need external financing.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Cash Flow Position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– Stable cash flows support more debt; irregular cash flows favor equity.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Cost of Capital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– Firms aim to minimise overall financing costs by balancing debt and equity.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Control Considerations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– Debt preserves ownership control; equity may dilute control.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Growth &amp; Expansion Plans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– Aggressive growth requires more financing.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5B60CF-F85C-9E02-AD3E-59D824997A8B}"/>
              </a:ext>
            </a:extLst>
          </p:cNvPr>
          <p:cNvSpPr/>
          <p:nvPr/>
        </p:nvSpPr>
        <p:spPr>
          <a:xfrm>
            <a:off x="679938" y="136525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Factors Affecting Capital structure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FBC4E9-45BD-4217-164B-359626452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475CA7C-6A58-BCFD-1CAD-7C12BCC112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7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7D59E2-AB78-1718-2637-2B1BFEF5E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86DDAA2-16F8-C6A3-784A-287B97C75DC4}"/>
              </a:ext>
            </a:extLst>
          </p:cNvPr>
          <p:cNvSpPr/>
          <p:nvPr/>
        </p:nvSpPr>
        <p:spPr>
          <a:xfrm>
            <a:off x="679938" y="136525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Theories of Capital Structure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94DA31-E815-11D7-048D-635554B68B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1F53153-3309-670E-78E4-476C01FC17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8741962"/>
              </p:ext>
            </p:extLst>
          </p:nvPr>
        </p:nvGraphicFramePr>
        <p:xfrm>
          <a:off x="679938" y="1253331"/>
          <a:ext cx="9360877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922370-A764-A703-1775-66D4D3895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F0E17-BBFA-3CA9-C5DB-317ACE555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793C659-BCBA-AF5D-713C-3BBB71A34FAB}"/>
              </a:ext>
            </a:extLst>
          </p:cNvPr>
          <p:cNvSpPr/>
          <p:nvPr/>
        </p:nvSpPr>
        <p:spPr>
          <a:xfrm>
            <a:off x="679938" y="136525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Theories of Capital Structure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82D78F-8202-8E08-3223-B2465D3DF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28F33-C1DE-6379-37AD-8BD4804CB2D1}"/>
              </a:ext>
            </a:extLst>
          </p:cNvPr>
          <p:cNvSpPr txBox="1">
            <a:spLocks/>
          </p:cNvSpPr>
          <p:nvPr/>
        </p:nvSpPr>
        <p:spPr>
          <a:xfrm>
            <a:off x="648343" y="753285"/>
            <a:ext cx="10328031" cy="61458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0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 Income Approach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Net Income Approach was proposed by David Durand.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It explains how a company’s mix of debt and equity affects its overall cost of capital and firm value.</a:t>
            </a:r>
          </a:p>
          <a:p>
            <a:pPr marL="0" indent="0"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Assumptions:</a:t>
            </a:r>
          </a:p>
          <a:p>
            <a:pPr marL="514350" indent="-514350">
              <a:buFont typeface="+mj-lt"/>
              <a:buAutoNum type="romanU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Cost of debt (Kd) and cost of equity (Ke) remain constant.</a:t>
            </a:r>
          </a:p>
          <a:p>
            <a:pPr marL="514350" indent="-514350">
              <a:buFont typeface="+mj-lt"/>
              <a:buAutoNum type="romanU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There are no taxes.</a:t>
            </a:r>
          </a:p>
          <a:p>
            <a:pPr marL="514350" indent="-514350">
              <a:buFont typeface="+mj-lt"/>
              <a:buAutoNum type="romanU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risk level of the firm does not change with more debt.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Debt (D) is cheaper than equity, because lenders require a fixed interest, while shareholders expect higher returns.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It suggests that a firm can increase its total value by using more debt in its capital structure.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A1EB33-AF33-3EA3-B91E-6A2575FAA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169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990F9-D603-731D-533B-EC72CDFA7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D70AB2A-0542-79BA-85F9-FDA0CAFACB27}"/>
              </a:ext>
            </a:extLst>
          </p:cNvPr>
          <p:cNvSpPr/>
          <p:nvPr/>
        </p:nvSpPr>
        <p:spPr>
          <a:xfrm>
            <a:off x="679938" y="136525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Theories of Capital Structure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CF2E5D-A541-1B78-9CB9-654BBAA1A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pic>
        <p:nvPicPr>
          <p:cNvPr id="4098" name="Picture 2" descr="Exemptions are Taken Stock Illustration ...">
            <a:extLst>
              <a:ext uri="{FF2B5EF4-FFF2-40B4-BE49-F238E27FC236}">
                <a16:creationId xmlns:a16="http://schemas.microsoft.com/office/drawing/2014/main" id="{3302DE7C-C00B-5D57-CC00-99955D8C55E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6400" y="1828800"/>
            <a:ext cx="2895596" cy="3362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9B2A892-768F-604F-8591-343F5A2D1FA8}"/>
              </a:ext>
            </a:extLst>
          </p:cNvPr>
          <p:cNvSpPr txBox="1"/>
          <p:nvPr/>
        </p:nvSpPr>
        <p:spPr>
          <a:xfrm>
            <a:off x="1521069" y="1326011"/>
            <a:ext cx="914986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                  then                 Cost of capital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Market value of share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Value of firm 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and if 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                  then                 Cost of capital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Market value of share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Value of firm </a:t>
            </a:r>
            <a:endParaRPr lang="en-IN" sz="20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A754A20-29E3-461E-BA79-67EE2C05FB00}"/>
              </a:ext>
            </a:extLst>
          </p:cNvPr>
          <p:cNvCxnSpPr>
            <a:cxnSpLocks/>
          </p:cNvCxnSpPr>
          <p:nvPr/>
        </p:nvCxnSpPr>
        <p:spPr>
          <a:xfrm flipV="1">
            <a:off x="1905000" y="2286000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EFA33C5-A3EA-40EA-6EF8-155FC820CF9B}"/>
              </a:ext>
            </a:extLst>
          </p:cNvPr>
          <p:cNvCxnSpPr>
            <a:cxnSpLocks/>
          </p:cNvCxnSpPr>
          <p:nvPr/>
        </p:nvCxnSpPr>
        <p:spPr>
          <a:xfrm flipV="1">
            <a:off x="7315200" y="2590800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89EA065-67A3-9763-6A55-19E41DD0D9F2}"/>
              </a:ext>
            </a:extLst>
          </p:cNvPr>
          <p:cNvCxnSpPr>
            <a:cxnSpLocks/>
          </p:cNvCxnSpPr>
          <p:nvPr/>
        </p:nvCxnSpPr>
        <p:spPr>
          <a:xfrm flipV="1">
            <a:off x="6477000" y="2903170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A8A0EAA-E699-E7A7-9484-40D9355CCBBC}"/>
              </a:ext>
            </a:extLst>
          </p:cNvPr>
          <p:cNvCxnSpPr>
            <a:cxnSpLocks/>
          </p:cNvCxnSpPr>
          <p:nvPr/>
        </p:nvCxnSpPr>
        <p:spPr>
          <a:xfrm>
            <a:off x="6477000" y="2286000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6D62DF1-47EA-61E6-8699-F84669DD26C5}"/>
              </a:ext>
            </a:extLst>
          </p:cNvPr>
          <p:cNvCxnSpPr>
            <a:cxnSpLocks/>
          </p:cNvCxnSpPr>
          <p:nvPr/>
        </p:nvCxnSpPr>
        <p:spPr>
          <a:xfrm flipV="1">
            <a:off x="6400800" y="4038600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FB12F63-6B1A-C628-2746-E7FC1E217DCE}"/>
              </a:ext>
            </a:extLst>
          </p:cNvPr>
          <p:cNvCxnSpPr>
            <a:cxnSpLocks/>
          </p:cNvCxnSpPr>
          <p:nvPr/>
        </p:nvCxnSpPr>
        <p:spPr>
          <a:xfrm>
            <a:off x="7332785" y="4343400"/>
            <a:ext cx="0" cy="377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283E64F-E5FA-F4E6-E9CB-EFA93DACA60B}"/>
              </a:ext>
            </a:extLst>
          </p:cNvPr>
          <p:cNvCxnSpPr>
            <a:cxnSpLocks/>
          </p:cNvCxnSpPr>
          <p:nvPr/>
        </p:nvCxnSpPr>
        <p:spPr>
          <a:xfrm>
            <a:off x="1905000" y="4187215"/>
            <a:ext cx="0" cy="3123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E8142DC-C40A-C90A-E9A9-30BD4F83C9B0}"/>
              </a:ext>
            </a:extLst>
          </p:cNvPr>
          <p:cNvCxnSpPr>
            <a:cxnSpLocks/>
          </p:cNvCxnSpPr>
          <p:nvPr/>
        </p:nvCxnSpPr>
        <p:spPr>
          <a:xfrm>
            <a:off x="6324600" y="4720615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43B740-BB4C-9D41-E523-7DC63F113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002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90977-F860-CDEF-1469-B5596AA8D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59F825E-A5F6-04B0-C7A6-3B86AFF17DAA}"/>
              </a:ext>
            </a:extLst>
          </p:cNvPr>
          <p:cNvSpPr/>
          <p:nvPr/>
        </p:nvSpPr>
        <p:spPr>
          <a:xfrm>
            <a:off x="679938" y="136525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Theories of Capital Structure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E6CB86-D4E9-836C-4570-0D66B46547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BE920-852B-E91E-8EB3-29954AEFB205}"/>
              </a:ext>
            </a:extLst>
          </p:cNvPr>
          <p:cNvSpPr txBox="1">
            <a:spLocks/>
          </p:cNvSpPr>
          <p:nvPr/>
        </p:nvSpPr>
        <p:spPr>
          <a:xfrm>
            <a:off x="691661" y="921483"/>
            <a:ext cx="7766539" cy="53269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0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 Operating Income Approach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NOI Approach, also proposed by David Durand, gives an opposite view to the Net Income (NI) Approach.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Assumptions: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romanU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overall cost of capital (Ko) remains constant.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romanU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firm’s value depends only on EBIT, not on the debt-equity mix.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romanUcPeriod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No corporate taxes.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romanUcPeriod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Business risk remains unchanged.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romanU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Investors and firms borrow at the same rate.</a:t>
            </a:r>
          </a:p>
        </p:txBody>
      </p:sp>
      <p:pic>
        <p:nvPicPr>
          <p:cNvPr id="4100" name="Picture 4" descr="Calculating Net Operating Income (NOI ...">
            <a:extLst>
              <a:ext uri="{FF2B5EF4-FFF2-40B4-BE49-F238E27FC236}">
                <a16:creationId xmlns:a16="http://schemas.microsoft.com/office/drawing/2014/main" id="{8C1B8CFE-6821-D202-6EA7-6B0AB4AD89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0772" y="2667000"/>
            <a:ext cx="3541228" cy="419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64131F3-7B2C-9C3C-2D72-01CBFC780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3062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FAE25-F483-ED52-E051-37A243C5D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954AA75-07BE-426A-CCD1-5200660F1EE3}"/>
              </a:ext>
            </a:extLst>
          </p:cNvPr>
          <p:cNvSpPr/>
          <p:nvPr/>
        </p:nvSpPr>
        <p:spPr>
          <a:xfrm>
            <a:off x="679938" y="136525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Theories of Capital Structure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D6214A-3CA8-6C73-3F4D-2F5EE83191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85689-DB2E-0169-4C21-286B358597E0}"/>
              </a:ext>
            </a:extLst>
          </p:cNvPr>
          <p:cNvSpPr txBox="1">
            <a:spLocks/>
          </p:cNvSpPr>
          <p:nvPr/>
        </p:nvSpPr>
        <p:spPr>
          <a:xfrm>
            <a:off x="691661" y="921483"/>
            <a:ext cx="10328031" cy="44887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20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It states that the capital structure (mix of debt and equity) does not affect the total value of the firm or the overall cost of capital (WACC).</a:t>
            </a:r>
          </a:p>
          <a:p>
            <a:pPr algn="just">
              <a:lnSpc>
                <a:spcPct val="20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Whether the firm uses more debt or more equity, the total value remains constant.</a:t>
            </a:r>
          </a:p>
          <a:p>
            <a:pPr algn="just">
              <a:lnSpc>
                <a:spcPct val="20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This happens because when the firm increases its debt, equity holders demand higher returns due to increased financial risk — balancing out any benefit from cheap debt.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07735D-85EE-7FFD-168A-D5374D455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5850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B100C-2808-0BC8-2D57-8221CD0E3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F973755-F3B0-9145-1DCB-9056C55995A5}"/>
              </a:ext>
            </a:extLst>
          </p:cNvPr>
          <p:cNvSpPr/>
          <p:nvPr/>
        </p:nvSpPr>
        <p:spPr>
          <a:xfrm>
            <a:off x="679938" y="136525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Theories of Capital Structure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6A7F67-A940-C1FA-2EFE-29F078A534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447FA-6503-BA61-89F1-2851AF241ECE}"/>
              </a:ext>
            </a:extLst>
          </p:cNvPr>
          <p:cNvSpPr txBox="1">
            <a:spLocks/>
          </p:cNvSpPr>
          <p:nvPr/>
        </p:nvSpPr>
        <p:spPr>
          <a:xfrm>
            <a:off x="623896" y="693370"/>
            <a:ext cx="10328031" cy="44887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0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Traditional Approach </a:t>
            </a:r>
            <a:endParaRPr lang="en-IN" sz="20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20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Traditional Approach is a compromise between the Net Income (NI) and Net Operating Income (NOI) approaches.</a:t>
            </a:r>
          </a:p>
          <a:p>
            <a:pPr algn="just">
              <a:lnSpc>
                <a:spcPct val="20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It suggests that there is an optimal capital structure, a right mix of debt and equity, that minimises the overall cost of capital (WACC) and maximises the firm’s value.</a:t>
            </a:r>
          </a:p>
          <a:p>
            <a:pPr algn="just">
              <a:lnSpc>
                <a:spcPct val="20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 the beginning, using debt is beneficial because debt is cheaper than equity.</a:t>
            </a:r>
          </a:p>
          <a:p>
            <a:pPr algn="just">
              <a:lnSpc>
                <a:spcPct val="20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However, after a certain point, too much debt increases financial risk, which increases the cost of equity and overall WACC.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2D2D0D-F843-4D3C-04EE-2912EFDBE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9134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A8818-95E6-3BE8-5CE2-393C769B9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ABAB96F-C987-C4D3-B338-DC1C7663E5F5}"/>
              </a:ext>
            </a:extLst>
          </p:cNvPr>
          <p:cNvSpPr/>
          <p:nvPr/>
        </p:nvSpPr>
        <p:spPr>
          <a:xfrm>
            <a:off x="679938" y="136525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Theories of Capital Structure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AF8DEE-7B42-50EC-17F7-224589FCAC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AFE23-DE5A-0983-FA1E-90B96731F52D}"/>
              </a:ext>
            </a:extLst>
          </p:cNvPr>
          <p:cNvSpPr txBox="1">
            <a:spLocks/>
          </p:cNvSpPr>
          <p:nvPr/>
        </p:nvSpPr>
        <p:spPr>
          <a:xfrm>
            <a:off x="679938" y="762000"/>
            <a:ext cx="10328031" cy="44887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Phases of the Traditional Approach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Stage I – Increasing Debt is Beneficial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Small use of debt → overall cost of capital decreases.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Reason: debt is cheaper and interest is fixed.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Stage II – Optimum Capital Structure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lowest point of the WACC curve.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This mix of debt and equity gives maximum firm value and minimum cost of capital.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Stage III – Excessive Debt Becomes Risky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More debt increases financial risk → shareholders demand higher returns → cost of equity rises.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As a result, WACC increases → firm value decreases.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67D0F6-C31C-05A9-B1DF-96A45925A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8290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B49E6-5255-4980-2F71-241CEBBA9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87BAB49-DC79-F44F-E611-B4370B6D497A}"/>
              </a:ext>
            </a:extLst>
          </p:cNvPr>
          <p:cNvSpPr/>
          <p:nvPr/>
        </p:nvSpPr>
        <p:spPr>
          <a:xfrm>
            <a:off x="679938" y="136525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Theories of Capital Structure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D01148-63D2-4714-BD55-DAD6646FE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02909-2C26-C513-D531-61000F8590CC}"/>
              </a:ext>
            </a:extLst>
          </p:cNvPr>
          <p:cNvSpPr txBox="1">
            <a:spLocks/>
          </p:cNvSpPr>
          <p:nvPr/>
        </p:nvSpPr>
        <p:spPr>
          <a:xfrm>
            <a:off x="691661" y="921483"/>
            <a:ext cx="10328031" cy="44887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93BEAB-E106-EEAA-B1AC-ADBC6B6FB871}"/>
              </a:ext>
            </a:extLst>
          </p:cNvPr>
          <p:cNvSpPr txBox="1"/>
          <p:nvPr/>
        </p:nvSpPr>
        <p:spPr>
          <a:xfrm>
            <a:off x="691661" y="693370"/>
            <a:ext cx="9982200" cy="6044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Modigliani and Miller (MM) Theory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Modigliani and Miller Theory (1958) is one of the most important theories of capital structure. It was developed by Franco Modigliani and Merton H. Miller.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Assumptions:</a:t>
            </a:r>
          </a:p>
          <a:p>
            <a:pPr marL="514350" indent="-514350">
              <a:lnSpc>
                <a:spcPct val="150000"/>
              </a:lnSpc>
              <a:buFont typeface="+mj-lt"/>
              <a:buAutoNum type="romanU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No transaction costs or bankruptcy costs.</a:t>
            </a:r>
          </a:p>
          <a:p>
            <a:pPr marL="514350" indent="-514350">
              <a:lnSpc>
                <a:spcPct val="150000"/>
              </a:lnSpc>
              <a:buFont typeface="+mj-lt"/>
              <a:buAutoNum type="romanU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Firms and investors can borrow at the same rate.</a:t>
            </a:r>
          </a:p>
          <a:p>
            <a:pPr marL="514350" indent="-514350">
              <a:lnSpc>
                <a:spcPct val="150000"/>
              </a:lnSpc>
              <a:buFont typeface="+mj-lt"/>
              <a:buAutoNum type="romanU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No taxes (in the first model).</a:t>
            </a:r>
          </a:p>
          <a:p>
            <a:pPr marL="514350" indent="-514350">
              <a:lnSpc>
                <a:spcPct val="150000"/>
              </a:lnSpc>
              <a:buFont typeface="+mj-lt"/>
              <a:buAutoNum type="romanU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Perfect capital market – all investors have the same information.</a:t>
            </a:r>
          </a:p>
          <a:p>
            <a:pPr marL="514350" indent="-514350">
              <a:lnSpc>
                <a:spcPct val="150000"/>
              </a:lnSpc>
              <a:buFont typeface="+mj-lt"/>
              <a:buAutoNum type="romanU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Risk of business is constant.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This theory explains the relationship between capital structure, cost of capital, and firm value under two conditions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1. Without Taxes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2. With Corporate Taxes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22D58B-A28A-8491-E670-E30950304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6414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C67C4-B69E-1968-6BAA-097291AA8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8C9DF2A-6974-9AB5-A1BD-939CAF5914AE}"/>
              </a:ext>
            </a:extLst>
          </p:cNvPr>
          <p:cNvSpPr/>
          <p:nvPr/>
        </p:nvSpPr>
        <p:spPr>
          <a:xfrm>
            <a:off x="679938" y="136525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Theories of Capital Structure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BAB2FF-D75B-BE7E-FF04-8A5B211437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C1443-B18E-C37D-BDBA-C6D65ECA1AA2}"/>
              </a:ext>
            </a:extLst>
          </p:cNvPr>
          <p:cNvSpPr txBox="1">
            <a:spLocks/>
          </p:cNvSpPr>
          <p:nvPr/>
        </p:nvSpPr>
        <p:spPr>
          <a:xfrm>
            <a:off x="679938" y="762000"/>
            <a:ext cx="10328031" cy="44887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1. MM Theory Without Taxes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value of a firm is independent of its capital structure.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Whether a firm uses debt or equity, the total value remains the same.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cost of equity (Ke) rises with more debt because shareholders demand higher returns for increased financial risk.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This rise in Ke (cost of equity) exactly offsets the benefit of cheap debt → so WACC (overall cost) remains constant.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Therefore, capital structure does not affect firm value.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2DF427-E762-44FE-8FBD-442A2CB3F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3940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59D08-3327-C433-D8FC-D36844B22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D8898CD-0FCA-8E22-9434-7E2DE1A446A5}"/>
              </a:ext>
            </a:extLst>
          </p:cNvPr>
          <p:cNvSpPr/>
          <p:nvPr/>
        </p:nvSpPr>
        <p:spPr>
          <a:xfrm>
            <a:off x="679938" y="136525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Theories of Capital Structure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47E660-C38C-93A8-375E-D970E22748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49D4B-F269-ABA0-8D62-E534CF5A6A9F}"/>
              </a:ext>
            </a:extLst>
          </p:cNvPr>
          <p:cNvSpPr txBox="1">
            <a:spLocks/>
          </p:cNvSpPr>
          <p:nvPr/>
        </p:nvSpPr>
        <p:spPr>
          <a:xfrm>
            <a:off x="679938" y="762000"/>
            <a:ext cx="10328031" cy="44887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2. MM Theory With Taxes</a:t>
            </a:r>
          </a:p>
          <a:p>
            <a:pPr algn="just">
              <a:lnSpc>
                <a:spcPct val="20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When corporate taxes are introduced, interest on debt becomes tax-deductible.</a:t>
            </a:r>
          </a:p>
          <a:p>
            <a:pPr algn="just">
              <a:lnSpc>
                <a:spcPct val="20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This creates a tax shield benefit, reducing the effective cost of debt.</a:t>
            </a:r>
          </a:p>
          <a:p>
            <a:pPr algn="just">
              <a:lnSpc>
                <a:spcPct val="20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As a result, using more debt increases firm value. 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Hence, under taxes: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More Debt → More Tax Savings → Higher Firm Value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15C94D-9EB5-4504-D874-444CEB079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7735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3F298-D924-9D4C-91C4-F0FA937B7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5D630D8-222B-770D-758E-A37A6DA0A417}"/>
              </a:ext>
            </a:extLst>
          </p:cNvPr>
          <p:cNvSpPr/>
          <p:nvPr/>
        </p:nvSpPr>
        <p:spPr>
          <a:xfrm>
            <a:off x="679938" y="136525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Optimum Capital Structure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240313-2C31-60BA-B91A-E593FCBC7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C63D7-1535-08BF-4743-67A0B9B00EC0}"/>
              </a:ext>
            </a:extLst>
          </p:cNvPr>
          <p:cNvSpPr txBox="1">
            <a:spLocks/>
          </p:cNvSpPr>
          <p:nvPr/>
        </p:nvSpPr>
        <p:spPr>
          <a:xfrm>
            <a:off x="679937" y="838200"/>
            <a:ext cx="6178063" cy="58832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Optimum Capital Structure is the best possible combination of debt and equity that maximises the value of the firm and minimises the overall cost of capital (WACC).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It is the balance point where the benefit of using cheap debt is exactly equal to the increase in financial risk.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Beyond this point, taking more debt will increase financial risk and raise the cost of capital, thereby reducing firm value.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170" name="Picture 2" descr="Generated image">
            <a:extLst>
              <a:ext uri="{FF2B5EF4-FFF2-40B4-BE49-F238E27FC236}">
                <a16:creationId xmlns:a16="http://schemas.microsoft.com/office/drawing/2014/main" id="{CD841037-B839-0F48-34E9-864F11F22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1" y="838200"/>
            <a:ext cx="5230890" cy="510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D5D86F-4AC1-CF2D-0B2F-3343509D7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3732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2C2DE-A9FB-C69C-FEB2-51D1E6F04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33BC617-1DAD-B6C0-9E9D-6D51FCCC07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1E5A4-2FF9-FE74-D60A-947747B28125}"/>
              </a:ext>
            </a:extLst>
          </p:cNvPr>
          <p:cNvSpPr txBox="1">
            <a:spLocks/>
          </p:cNvSpPr>
          <p:nvPr/>
        </p:nvSpPr>
        <p:spPr>
          <a:xfrm>
            <a:off x="679938" y="762000"/>
            <a:ext cx="10328031" cy="44887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Characteristics of Optimum Capital Structure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Lowest Overall Cost of Capital (WACC)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mix of debt and equity results in the minimum possible cost of funds.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Maximum Firm Value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Market value of shares and the firm’s total value are highest at this point.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Balance Between Risk and Return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firm uses enough debt to gain tax advantages, but not so much that it increases bankruptcy risk.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Financial Flexibility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structure allows the company to raise funds easily when needed without creating an excess burden.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7F4724-B9F1-30EA-93CF-5B92A89911AC}"/>
              </a:ext>
            </a:extLst>
          </p:cNvPr>
          <p:cNvSpPr/>
          <p:nvPr/>
        </p:nvSpPr>
        <p:spPr>
          <a:xfrm>
            <a:off x="679938" y="136525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Optimum Capital Structure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693DF0-4271-3456-3236-9ECA7F200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0685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EE361-3262-30CD-B241-2E85B142D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86DAF-F707-5ADC-D464-65796860A5AD}"/>
              </a:ext>
            </a:extLst>
          </p:cNvPr>
          <p:cNvSpPr txBox="1">
            <a:spLocks/>
          </p:cNvSpPr>
          <p:nvPr/>
        </p:nvSpPr>
        <p:spPr>
          <a:xfrm>
            <a:off x="3733800" y="2438400"/>
            <a:ext cx="4267199" cy="533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3500" b="1" dirty="0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  <a:p>
            <a:pPr marL="0" indent="0" algn="ctr">
              <a:lnSpc>
                <a:spcPct val="150000"/>
              </a:lnSpc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BA7F98-C932-C4C1-E81D-F601EC22B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7095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2237</TotalTime>
  <Words>1394</Words>
  <Application>Microsoft Office PowerPoint</Application>
  <PresentationFormat>Widescreen</PresentationFormat>
  <Paragraphs>174</Paragraphs>
  <Slides>20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Office Theme</vt:lpstr>
      <vt:lpstr>Capital Structure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 .C .Sahu</dc:creator>
  <cp:lastModifiedBy>alivaparida2024@gmail.com</cp:lastModifiedBy>
  <cp:revision>153</cp:revision>
  <dcterms:created xsi:type="dcterms:W3CDTF">2006-08-16T00:00:00Z</dcterms:created>
  <dcterms:modified xsi:type="dcterms:W3CDTF">2025-10-13T11:55:42Z</dcterms:modified>
</cp:coreProperties>
</file>