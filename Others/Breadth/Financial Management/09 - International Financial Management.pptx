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6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90" r:id="rId12"/>
    <p:sldId id="268" r:id="rId13"/>
    <p:sldId id="289" r:id="rId14"/>
    <p:sldId id="269" r:id="rId15"/>
    <p:sldId id="270" r:id="rId16"/>
    <p:sldId id="284" r:id="rId17"/>
    <p:sldId id="285" r:id="rId18"/>
    <p:sldId id="281" r:id="rId19"/>
    <p:sldId id="291" r:id="rId20"/>
    <p:sldId id="286" r:id="rId21"/>
    <p:sldId id="287" r:id="rId22"/>
    <p:sldId id="288" r:id="rId23"/>
    <p:sldId id="29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3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hProcess9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Financial Markets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2A1319B4-B7D2-48CB-BDCC-3182B42EFED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Monetary System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/>
        </a:p>
      </dgm:t>
    </dgm:pt>
    <dgm:pt modelId="{04D05047-B543-4F04-B137-E16CBE5DEA00}" type="sibTrans" cxnId="{C4140ED0-D197-4461-8045-876DDB7077B1}">
      <dgm:prSet/>
      <dgm:spPr/>
      <dgm:t>
        <a:bodyPr/>
        <a:lstStyle/>
        <a:p>
          <a:endParaRPr lang="en-IN"/>
        </a:p>
      </dgm:t>
    </dgm:pt>
    <dgm:pt modelId="{FE0BFB89-9B52-463A-9EB4-8F46A4BF4DDD}" type="pres">
      <dgm:prSet presAssocID="{974A1F31-436E-4C59-9D1F-2293138613C2}" presName="CompostProcess" presStyleCnt="0">
        <dgm:presLayoutVars>
          <dgm:dir/>
          <dgm:resizeHandles val="exact"/>
        </dgm:presLayoutVars>
      </dgm:prSet>
      <dgm:spPr/>
    </dgm:pt>
    <dgm:pt modelId="{0C455C7F-89F4-4A75-BB5B-13F0F7468A2B}" type="pres">
      <dgm:prSet presAssocID="{974A1F31-436E-4C59-9D1F-2293138613C2}" presName="arrow" presStyleLbl="bgShp" presStyleIdx="0" presStyleCnt="1"/>
      <dgm:spPr/>
    </dgm:pt>
    <dgm:pt modelId="{B2E6D062-8160-456C-81A7-6BF6047C5D11}" type="pres">
      <dgm:prSet presAssocID="{974A1F31-436E-4C59-9D1F-2293138613C2}" presName="linearProcess" presStyleCnt="0"/>
      <dgm:spPr/>
    </dgm:pt>
    <dgm:pt modelId="{244A8B8A-4624-4978-B4D8-917D4D5FD3A6}" type="pres">
      <dgm:prSet presAssocID="{2A1319B4-B7D2-48CB-BDCC-3182B42EFEDA}" presName="textNode" presStyleLbl="node1" presStyleIdx="0" presStyleCnt="2">
        <dgm:presLayoutVars>
          <dgm:bulletEnabled val="1"/>
        </dgm:presLayoutVars>
      </dgm:prSet>
      <dgm:spPr/>
    </dgm:pt>
    <dgm:pt modelId="{53FA0B57-4AA1-482F-8DEA-F338C9B9B670}" type="pres">
      <dgm:prSet presAssocID="{04D05047-B543-4F04-B137-E16CBE5DEA00}" presName="sibTrans" presStyleCnt="0"/>
      <dgm:spPr/>
    </dgm:pt>
    <dgm:pt modelId="{A0740DCA-430B-4938-8403-C3903E68F9C9}" type="pres">
      <dgm:prSet presAssocID="{E79C2263-D73C-437E-8689-ED9AEA31BCCF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C79F4835-8279-4273-B19A-348B3F7563B8}" type="presOf" srcId="{2A1319B4-B7D2-48CB-BDCC-3182B42EFEDA}" destId="{244A8B8A-4624-4978-B4D8-917D4D5FD3A6}" srcOrd="0" destOrd="0" presId="urn:microsoft.com/office/officeart/2005/8/layout/hProcess9"/>
    <dgm:cxn modelId="{5EC3FAA4-27C3-46E9-B50B-A81161783C3C}" type="presOf" srcId="{E79C2263-D73C-437E-8689-ED9AEA31BCCF}" destId="{A0740DCA-430B-4938-8403-C3903E68F9C9}" srcOrd="0" destOrd="0" presId="urn:microsoft.com/office/officeart/2005/8/layout/hProcess9"/>
    <dgm:cxn modelId="{536EC9BB-9503-4AD5-9AB2-C8C1AE5BCECD}" type="presOf" srcId="{974A1F31-436E-4C59-9D1F-2293138613C2}" destId="{FE0BFB89-9B52-463A-9EB4-8F46A4BF4DDD}" srcOrd="0" destOrd="0" presId="urn:microsoft.com/office/officeart/2005/8/layout/hProcess9"/>
    <dgm:cxn modelId="{330ABBC5-6A2F-4DD3-8349-BC7FC1370069}" srcId="{974A1F31-436E-4C59-9D1F-2293138613C2}" destId="{E79C2263-D73C-437E-8689-ED9AEA31BCCF}" srcOrd="1" destOrd="0" parTransId="{6F69D7B4-F9A1-4295-9190-619381F4811A}" sibTransId="{EC6AB96C-F159-4AC8-8700-168AB3D071C1}"/>
    <dgm:cxn modelId="{C4140ED0-D197-4461-8045-876DDB7077B1}" srcId="{974A1F31-436E-4C59-9D1F-2293138613C2}" destId="{2A1319B4-B7D2-48CB-BDCC-3182B42EFEDA}" srcOrd="0" destOrd="0" parTransId="{437E0F37-252F-46DE-A768-A0F7293CB2CC}" sibTransId="{04D05047-B543-4F04-B137-E16CBE5DEA00}"/>
    <dgm:cxn modelId="{DED52CC3-288F-43CF-8608-D87C374B8B3E}" type="presParOf" srcId="{FE0BFB89-9B52-463A-9EB4-8F46A4BF4DDD}" destId="{0C455C7F-89F4-4A75-BB5B-13F0F7468A2B}" srcOrd="0" destOrd="0" presId="urn:microsoft.com/office/officeart/2005/8/layout/hProcess9"/>
    <dgm:cxn modelId="{CEE922A2-0055-46EC-BCAF-696279C13441}" type="presParOf" srcId="{FE0BFB89-9B52-463A-9EB4-8F46A4BF4DDD}" destId="{B2E6D062-8160-456C-81A7-6BF6047C5D11}" srcOrd="1" destOrd="0" presId="urn:microsoft.com/office/officeart/2005/8/layout/hProcess9"/>
    <dgm:cxn modelId="{E9765283-B707-45D7-B5FE-69BBA3422B01}" type="presParOf" srcId="{B2E6D062-8160-456C-81A7-6BF6047C5D11}" destId="{244A8B8A-4624-4978-B4D8-917D4D5FD3A6}" srcOrd="0" destOrd="0" presId="urn:microsoft.com/office/officeart/2005/8/layout/hProcess9"/>
    <dgm:cxn modelId="{48661310-1205-4259-8DF9-80092860911B}" type="presParOf" srcId="{B2E6D062-8160-456C-81A7-6BF6047C5D11}" destId="{53FA0B57-4AA1-482F-8DEA-F338C9B9B670}" srcOrd="1" destOrd="0" presId="urn:microsoft.com/office/officeart/2005/8/layout/hProcess9"/>
    <dgm:cxn modelId="{33A07DB7-4AE4-4E86-B259-5BA212477496}" type="presParOf" srcId="{B2E6D062-8160-456C-81A7-6BF6047C5D11}" destId="{A0740DCA-430B-4938-8403-C3903E68F9C9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hProcess10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>
        <a:solidFill>
          <a:schemeClr val="bg1"/>
        </a:solidFill>
      </dgm:spPr>
      <dgm:t>
        <a:bodyPr/>
        <a:lstStyle/>
        <a:p>
          <a:pPr algn="ctr"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1944-1971</a:t>
          </a:r>
        </a:p>
        <a:p>
          <a:pPr algn="l">
            <a:lnSpc>
              <a:spcPct val="150000"/>
            </a:lnSpc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Dollar pegged gold currencies 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DF3C090E-2B8D-404C-8F2C-8D1C31B665EA}">
      <dgm:prSet phldrT="[Text]"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Post 1973 </a:t>
          </a: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Determined by the demand and supply in the forex market</a:t>
          </a:r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endParaRPr lang="en-IN"/>
        </a:p>
      </dgm:t>
    </dgm:pt>
    <dgm:pt modelId="{469FFE9D-169A-4AE2-8953-BD868E7E0688}" type="sibTrans" cxnId="{C5AF219B-0898-4703-BB86-7BEF6F0EC3D6}">
      <dgm:prSet/>
      <dgm:spPr/>
      <dgm:t>
        <a:bodyPr/>
        <a:lstStyle/>
        <a:p>
          <a:endParaRPr lang="en-IN"/>
        </a:p>
      </dgm:t>
    </dgm:pt>
    <dgm:pt modelId="{2A1319B4-B7D2-48CB-BDCC-3182B42EFEDA}">
      <dgm:prSet phldrT="[Text]" custT="1"/>
      <dgm:spPr>
        <a:solidFill>
          <a:schemeClr val="bg1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1870-1939</a:t>
          </a:r>
        </a:p>
        <a:p>
          <a:pPr>
            <a:lnSpc>
              <a:spcPct val="150000"/>
            </a:lnSpc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Exchange rate fixed based on gold content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/>
        </a:p>
      </dgm:t>
    </dgm:pt>
    <dgm:pt modelId="{04D05047-B543-4F04-B137-E16CBE5DEA00}" type="sibTrans" cxnId="{C4140ED0-D197-4461-8045-876DDB7077B1}">
      <dgm:prSet/>
      <dgm:spPr/>
      <dgm:t>
        <a:bodyPr/>
        <a:lstStyle/>
        <a:p>
          <a:endParaRPr lang="en-IN"/>
        </a:p>
      </dgm:t>
    </dgm:pt>
    <dgm:pt modelId="{CA25904F-3E98-499A-9B23-50695C42CF5B}">
      <dgm:prSet phldrT="[Text]" custT="1"/>
      <dgm:spPr>
        <a:solidFill>
          <a:schemeClr val="bg1"/>
        </a:solidFill>
      </dgm:spPr>
      <dgm:t>
        <a:bodyPr/>
        <a:lstStyle/>
        <a:p>
          <a:pPr>
            <a:lnSpc>
              <a:spcPct val="9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Ongoing practice</a:t>
          </a:r>
        </a:p>
        <a:p>
          <a:pPr>
            <a:lnSpc>
              <a:spcPct val="150000"/>
            </a:lnSpc>
          </a:pPr>
          <a:r>
            <a:rPr lang="en-IN" sz="20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Govt occasionally intervene to stabilize currencies</a:t>
          </a:r>
        </a:p>
      </dgm:t>
    </dgm:pt>
    <dgm:pt modelId="{A128EF32-E456-440A-9052-8EF2F34B1AA1}" type="parTrans" cxnId="{AD69CA64-CD8A-4E3E-A1F4-A9751044BE07}">
      <dgm:prSet/>
      <dgm:spPr/>
      <dgm:t>
        <a:bodyPr/>
        <a:lstStyle/>
        <a:p>
          <a:endParaRPr lang="en-IN"/>
        </a:p>
      </dgm:t>
    </dgm:pt>
    <dgm:pt modelId="{AB89F1AA-E48F-4348-8038-D6F08364652B}" type="sibTrans" cxnId="{AD69CA64-CD8A-4E3E-A1F4-A9751044BE07}">
      <dgm:prSet/>
      <dgm:spPr/>
      <dgm:t>
        <a:bodyPr/>
        <a:lstStyle/>
        <a:p>
          <a:endParaRPr lang="en-IN"/>
        </a:p>
      </dgm:t>
    </dgm:pt>
    <dgm:pt modelId="{9096DF3C-65E5-4FFE-903A-31FA03CB04FD}" type="pres">
      <dgm:prSet presAssocID="{974A1F31-436E-4C59-9D1F-2293138613C2}" presName="Name0" presStyleCnt="0">
        <dgm:presLayoutVars>
          <dgm:dir/>
          <dgm:resizeHandles val="exact"/>
        </dgm:presLayoutVars>
      </dgm:prSet>
      <dgm:spPr/>
    </dgm:pt>
    <dgm:pt modelId="{B5D300BB-A57C-49C1-99B3-AC18DAFFCB27}" type="pres">
      <dgm:prSet presAssocID="{2A1319B4-B7D2-48CB-BDCC-3182B42EFEDA}" presName="composite" presStyleCnt="0"/>
      <dgm:spPr/>
    </dgm:pt>
    <dgm:pt modelId="{0C7D57A4-C4A1-4E79-9C02-8CE248B1CDCF}" type="pres">
      <dgm:prSet presAssocID="{2A1319B4-B7D2-48CB-BDCC-3182B42EFEDA}" presName="imagSh" presStyleLbl="bgImgPlace1" presStyleIdx="0" presStyleCnt="4" custScaleX="201010" custScaleY="109454" custLinFactNeighborX="23430" custLinFactNeighborY="-70923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D47BF1EA-6059-443B-9842-5AF0DECC6E0D}" type="pres">
      <dgm:prSet presAssocID="{2A1319B4-B7D2-48CB-BDCC-3182B42EFEDA}" presName="txNode" presStyleLbl="node1" presStyleIdx="0" presStyleCnt="4" custScaleX="227879" custScaleY="203418" custLinFactNeighborX="-6568" custLinFactNeighborY="41236">
        <dgm:presLayoutVars>
          <dgm:bulletEnabled val="1"/>
        </dgm:presLayoutVars>
      </dgm:prSet>
      <dgm:spPr/>
    </dgm:pt>
    <dgm:pt modelId="{AE3C6B82-CD46-46F6-9423-715DBCF28D2C}" type="pres">
      <dgm:prSet presAssocID="{04D05047-B543-4F04-B137-E16CBE5DEA00}" presName="sibTrans" presStyleLbl="sibTrans2D1" presStyleIdx="0" presStyleCnt="3"/>
      <dgm:spPr/>
    </dgm:pt>
    <dgm:pt modelId="{EE0E7535-57C4-49DD-BCF9-25D95D8CE011}" type="pres">
      <dgm:prSet presAssocID="{04D05047-B543-4F04-B137-E16CBE5DEA00}" presName="connTx" presStyleLbl="sibTrans2D1" presStyleIdx="0" presStyleCnt="3"/>
      <dgm:spPr/>
    </dgm:pt>
    <dgm:pt modelId="{2BF18D3D-35E2-4C04-9BF5-3F353873D10D}" type="pres">
      <dgm:prSet presAssocID="{E79C2263-D73C-437E-8689-ED9AEA31BCCF}" presName="composite" presStyleCnt="0"/>
      <dgm:spPr/>
    </dgm:pt>
    <dgm:pt modelId="{69114518-F962-404D-AB00-F5644326D1C8}" type="pres">
      <dgm:prSet presAssocID="{E79C2263-D73C-437E-8689-ED9AEA31BCCF}" presName="imagSh" presStyleLbl="bgImgPlace1" presStyleIdx="1" presStyleCnt="4" custScaleX="206275" custScaleY="122580" custLinFactNeighborX="8581" custLinFactNeighborY="-73612"/>
      <dgm:spPr>
        <a:blipFill rotWithShape="1">
          <a:blip xmlns:r="http://schemas.openxmlformats.org/officeDocument/2006/relationships" r:embed="rId2"/>
          <a:srcRect/>
          <a:stretch>
            <a:fillRect l="-25000" r="-25000"/>
          </a:stretch>
        </a:blipFill>
      </dgm:spPr>
    </dgm:pt>
    <dgm:pt modelId="{320CA4DE-078D-48A5-A510-DFFC3CE32E6B}" type="pres">
      <dgm:prSet presAssocID="{E79C2263-D73C-437E-8689-ED9AEA31BCCF}" presName="txNode" presStyleLbl="node1" presStyleIdx="1" presStyleCnt="4" custScaleX="245283" custScaleY="205952" custLinFactNeighborX="-14628" custLinFactNeighborY="38671">
        <dgm:presLayoutVars>
          <dgm:bulletEnabled val="1"/>
        </dgm:presLayoutVars>
      </dgm:prSet>
      <dgm:spPr/>
    </dgm:pt>
    <dgm:pt modelId="{CF755380-5FC8-4331-AE1C-2019B14CB634}" type="pres">
      <dgm:prSet presAssocID="{EC6AB96C-F159-4AC8-8700-168AB3D071C1}" presName="sibTrans" presStyleLbl="sibTrans2D1" presStyleIdx="1" presStyleCnt="3"/>
      <dgm:spPr/>
    </dgm:pt>
    <dgm:pt modelId="{C6029006-015C-4C0E-9FE9-24F7DEB75CF4}" type="pres">
      <dgm:prSet presAssocID="{EC6AB96C-F159-4AC8-8700-168AB3D071C1}" presName="connTx" presStyleLbl="sibTrans2D1" presStyleIdx="1" presStyleCnt="3"/>
      <dgm:spPr/>
    </dgm:pt>
    <dgm:pt modelId="{5ED57CF0-934E-4A41-8096-2ABB7000D10B}" type="pres">
      <dgm:prSet presAssocID="{DF3C090E-2B8D-404C-8F2C-8D1C31B665EA}" presName="composite" presStyleCnt="0"/>
      <dgm:spPr/>
    </dgm:pt>
    <dgm:pt modelId="{3A9CE777-4BE7-4B82-92C3-DE86A6037493}" type="pres">
      <dgm:prSet presAssocID="{DF3C090E-2B8D-404C-8F2C-8D1C31B665EA}" presName="imagSh" presStyleLbl="bgImgPlace1" presStyleIdx="2" presStyleCnt="4" custScaleX="213156" custScaleY="125883" custLinFactNeighborX="-12028" custLinFactNeighborY="-93222"/>
      <dgm:spPr>
        <a:blipFill rotWithShape="1">
          <a:blip xmlns:r="http://schemas.openxmlformats.org/officeDocument/2006/relationships" r:embed="rId3"/>
          <a:srcRect/>
          <a:stretch>
            <a:fillRect t="-8000" b="-8000"/>
          </a:stretch>
        </a:blipFill>
      </dgm:spPr>
    </dgm:pt>
    <dgm:pt modelId="{06CAB924-6D5D-4D33-B735-D8B6C4649754}" type="pres">
      <dgm:prSet presAssocID="{DF3C090E-2B8D-404C-8F2C-8D1C31B665EA}" presName="txNode" presStyleLbl="node1" presStyleIdx="2" presStyleCnt="4" custScaleX="278390" custScaleY="193355" custLinFactNeighborX="-26048" custLinFactNeighborY="23796">
        <dgm:presLayoutVars>
          <dgm:bulletEnabled val="1"/>
        </dgm:presLayoutVars>
      </dgm:prSet>
      <dgm:spPr/>
    </dgm:pt>
    <dgm:pt modelId="{3026A532-0FA7-4BB9-9783-6933371F7D08}" type="pres">
      <dgm:prSet presAssocID="{469FFE9D-169A-4AE2-8953-BD868E7E0688}" presName="sibTrans" presStyleLbl="sibTrans2D1" presStyleIdx="2" presStyleCnt="3"/>
      <dgm:spPr/>
    </dgm:pt>
    <dgm:pt modelId="{0A6ADC8F-ED34-4D1E-9028-B412275300D5}" type="pres">
      <dgm:prSet presAssocID="{469FFE9D-169A-4AE2-8953-BD868E7E0688}" presName="connTx" presStyleLbl="sibTrans2D1" presStyleIdx="2" presStyleCnt="3"/>
      <dgm:spPr/>
    </dgm:pt>
    <dgm:pt modelId="{513AB3A2-D25C-4CF3-B5EA-122C8519C687}" type="pres">
      <dgm:prSet presAssocID="{CA25904F-3E98-499A-9B23-50695C42CF5B}" presName="composite" presStyleCnt="0"/>
      <dgm:spPr/>
    </dgm:pt>
    <dgm:pt modelId="{D5241965-D3B0-45DE-B048-0E2BC1F93EB3}" type="pres">
      <dgm:prSet presAssocID="{CA25904F-3E98-499A-9B23-50695C42CF5B}" presName="imagSh" presStyleLbl="bgImgPlace1" presStyleIdx="3" presStyleCnt="4" custScaleX="227045" custScaleY="133600" custLinFactNeighborX="-16150" custLinFactNeighborY="-86678"/>
      <dgm:spPr>
        <a:blipFill rotWithShape="1">
          <a:blip xmlns:r="http://schemas.openxmlformats.org/officeDocument/2006/relationships" r:embed="rId4"/>
          <a:srcRect/>
          <a:stretch>
            <a:fillRect l="-39000" r="-39000"/>
          </a:stretch>
        </a:blipFill>
      </dgm:spPr>
    </dgm:pt>
    <dgm:pt modelId="{1BF10564-0B71-431C-85D2-12A4853D2B37}" type="pres">
      <dgm:prSet presAssocID="{CA25904F-3E98-499A-9B23-50695C42CF5B}" presName="txNode" presStyleLbl="node1" presStyleIdx="3" presStyleCnt="4" custScaleX="261447" custScaleY="188503" custLinFactNeighborX="-32260" custLinFactNeighborY="23301">
        <dgm:presLayoutVars>
          <dgm:bulletEnabled val="1"/>
        </dgm:presLayoutVars>
      </dgm:prSet>
      <dgm:spPr/>
    </dgm:pt>
  </dgm:ptLst>
  <dgm:cxnLst>
    <dgm:cxn modelId="{15412B0F-3292-43FE-B444-77542B3F24BF}" type="presOf" srcId="{04D05047-B543-4F04-B137-E16CBE5DEA00}" destId="{AE3C6B82-CD46-46F6-9423-715DBCF28D2C}" srcOrd="0" destOrd="0" presId="urn:microsoft.com/office/officeart/2005/8/layout/hProcess10"/>
    <dgm:cxn modelId="{47D3D016-2C37-4B3A-B84C-BE9933F5C4B9}" type="presOf" srcId="{DF3C090E-2B8D-404C-8F2C-8D1C31B665EA}" destId="{06CAB924-6D5D-4D33-B735-D8B6C4649754}" srcOrd="0" destOrd="0" presId="urn:microsoft.com/office/officeart/2005/8/layout/hProcess10"/>
    <dgm:cxn modelId="{DCA7921F-E0CF-4C09-8FD6-DD25AC34DCB1}" type="presOf" srcId="{EC6AB96C-F159-4AC8-8700-168AB3D071C1}" destId="{CF755380-5FC8-4331-AE1C-2019B14CB634}" srcOrd="0" destOrd="0" presId="urn:microsoft.com/office/officeart/2005/8/layout/hProcess10"/>
    <dgm:cxn modelId="{01B1EE2D-B473-432D-ADE3-C909D56038EC}" type="presOf" srcId="{EC6AB96C-F159-4AC8-8700-168AB3D071C1}" destId="{C6029006-015C-4C0E-9FE9-24F7DEB75CF4}" srcOrd="1" destOrd="0" presId="urn:microsoft.com/office/officeart/2005/8/layout/hProcess10"/>
    <dgm:cxn modelId="{82EB7F32-C16C-44EE-B1B0-9B768F4B9375}" type="presOf" srcId="{04D05047-B543-4F04-B137-E16CBE5DEA00}" destId="{EE0E7535-57C4-49DD-BCF9-25D95D8CE011}" srcOrd="1" destOrd="0" presId="urn:microsoft.com/office/officeart/2005/8/layout/hProcess10"/>
    <dgm:cxn modelId="{AD69CA64-CD8A-4E3E-A1F4-A9751044BE07}" srcId="{974A1F31-436E-4C59-9D1F-2293138613C2}" destId="{CA25904F-3E98-499A-9B23-50695C42CF5B}" srcOrd="3" destOrd="0" parTransId="{A128EF32-E456-440A-9052-8EF2F34B1AA1}" sibTransId="{AB89F1AA-E48F-4348-8038-D6F08364652B}"/>
    <dgm:cxn modelId="{A1E52B48-552E-4FDB-B6F0-ADF798CD37EF}" type="presOf" srcId="{469FFE9D-169A-4AE2-8953-BD868E7E0688}" destId="{0A6ADC8F-ED34-4D1E-9028-B412275300D5}" srcOrd="1" destOrd="0" presId="urn:microsoft.com/office/officeart/2005/8/layout/hProcess10"/>
    <dgm:cxn modelId="{C5AF219B-0898-4703-BB86-7BEF6F0EC3D6}" srcId="{974A1F31-436E-4C59-9D1F-2293138613C2}" destId="{DF3C090E-2B8D-404C-8F2C-8D1C31B665EA}" srcOrd="2" destOrd="0" parTransId="{868A5F93-25AF-40A6-A794-EA909B2C2435}" sibTransId="{469FFE9D-169A-4AE2-8953-BD868E7E0688}"/>
    <dgm:cxn modelId="{21DCC2C2-5085-444E-83DB-48A1BFA57BA9}" type="presOf" srcId="{974A1F31-436E-4C59-9D1F-2293138613C2}" destId="{9096DF3C-65E5-4FFE-903A-31FA03CB04FD}" srcOrd="0" destOrd="0" presId="urn:microsoft.com/office/officeart/2005/8/layout/hProcess10"/>
    <dgm:cxn modelId="{330ABBC5-6A2F-4DD3-8349-BC7FC1370069}" srcId="{974A1F31-436E-4C59-9D1F-2293138613C2}" destId="{E79C2263-D73C-437E-8689-ED9AEA31BCCF}" srcOrd="1" destOrd="0" parTransId="{6F69D7B4-F9A1-4295-9190-619381F4811A}" sibTransId="{EC6AB96C-F159-4AC8-8700-168AB3D071C1}"/>
    <dgm:cxn modelId="{B1FDD1C5-F45D-4477-9AF5-105532EE3E58}" type="presOf" srcId="{2A1319B4-B7D2-48CB-BDCC-3182B42EFEDA}" destId="{D47BF1EA-6059-443B-9842-5AF0DECC6E0D}" srcOrd="0" destOrd="0" presId="urn:microsoft.com/office/officeart/2005/8/layout/hProcess10"/>
    <dgm:cxn modelId="{F4C804CB-D46E-473F-8352-13F43658F105}" type="presOf" srcId="{469FFE9D-169A-4AE2-8953-BD868E7E0688}" destId="{3026A532-0FA7-4BB9-9783-6933371F7D08}" srcOrd="0" destOrd="0" presId="urn:microsoft.com/office/officeart/2005/8/layout/hProcess10"/>
    <dgm:cxn modelId="{C4140ED0-D197-4461-8045-876DDB7077B1}" srcId="{974A1F31-436E-4C59-9D1F-2293138613C2}" destId="{2A1319B4-B7D2-48CB-BDCC-3182B42EFEDA}" srcOrd="0" destOrd="0" parTransId="{437E0F37-252F-46DE-A768-A0F7293CB2CC}" sibTransId="{04D05047-B543-4F04-B137-E16CBE5DEA00}"/>
    <dgm:cxn modelId="{5FC66AD3-3D2A-4788-8CC0-C1B8669D6829}" type="presOf" srcId="{CA25904F-3E98-499A-9B23-50695C42CF5B}" destId="{1BF10564-0B71-431C-85D2-12A4853D2B37}" srcOrd="0" destOrd="0" presId="urn:microsoft.com/office/officeart/2005/8/layout/hProcess10"/>
    <dgm:cxn modelId="{9FD1A6EF-4A95-4280-912F-7A547A6C21F3}" type="presOf" srcId="{E79C2263-D73C-437E-8689-ED9AEA31BCCF}" destId="{320CA4DE-078D-48A5-A510-DFFC3CE32E6B}" srcOrd="0" destOrd="0" presId="urn:microsoft.com/office/officeart/2005/8/layout/hProcess10"/>
    <dgm:cxn modelId="{5EA42AFB-3EF1-47E3-9A72-C40C31EEA10D}" type="presParOf" srcId="{9096DF3C-65E5-4FFE-903A-31FA03CB04FD}" destId="{B5D300BB-A57C-49C1-99B3-AC18DAFFCB27}" srcOrd="0" destOrd="0" presId="urn:microsoft.com/office/officeart/2005/8/layout/hProcess10"/>
    <dgm:cxn modelId="{D8BE1436-2676-4458-8D38-8F52F53BEE03}" type="presParOf" srcId="{B5D300BB-A57C-49C1-99B3-AC18DAFFCB27}" destId="{0C7D57A4-C4A1-4E79-9C02-8CE248B1CDCF}" srcOrd="0" destOrd="0" presId="urn:microsoft.com/office/officeart/2005/8/layout/hProcess10"/>
    <dgm:cxn modelId="{F5D66808-1582-445A-A955-7501E0352C90}" type="presParOf" srcId="{B5D300BB-A57C-49C1-99B3-AC18DAFFCB27}" destId="{D47BF1EA-6059-443B-9842-5AF0DECC6E0D}" srcOrd="1" destOrd="0" presId="urn:microsoft.com/office/officeart/2005/8/layout/hProcess10"/>
    <dgm:cxn modelId="{CC264392-5E29-43B9-91C2-344C4C5EE34F}" type="presParOf" srcId="{9096DF3C-65E5-4FFE-903A-31FA03CB04FD}" destId="{AE3C6B82-CD46-46F6-9423-715DBCF28D2C}" srcOrd="1" destOrd="0" presId="urn:microsoft.com/office/officeart/2005/8/layout/hProcess10"/>
    <dgm:cxn modelId="{EEB43464-D01E-488F-AEF7-4A9598D4E41A}" type="presParOf" srcId="{AE3C6B82-CD46-46F6-9423-715DBCF28D2C}" destId="{EE0E7535-57C4-49DD-BCF9-25D95D8CE011}" srcOrd="0" destOrd="0" presId="urn:microsoft.com/office/officeart/2005/8/layout/hProcess10"/>
    <dgm:cxn modelId="{7E7EB584-F2F9-48C6-BDB3-64717C2842C9}" type="presParOf" srcId="{9096DF3C-65E5-4FFE-903A-31FA03CB04FD}" destId="{2BF18D3D-35E2-4C04-9BF5-3F353873D10D}" srcOrd="2" destOrd="0" presId="urn:microsoft.com/office/officeart/2005/8/layout/hProcess10"/>
    <dgm:cxn modelId="{F1FC4AC0-BCC5-4AA2-97B8-571C90AE5FBA}" type="presParOf" srcId="{2BF18D3D-35E2-4C04-9BF5-3F353873D10D}" destId="{69114518-F962-404D-AB00-F5644326D1C8}" srcOrd="0" destOrd="0" presId="urn:microsoft.com/office/officeart/2005/8/layout/hProcess10"/>
    <dgm:cxn modelId="{0427DB49-7CEA-49F3-897C-C283C27FCEED}" type="presParOf" srcId="{2BF18D3D-35E2-4C04-9BF5-3F353873D10D}" destId="{320CA4DE-078D-48A5-A510-DFFC3CE32E6B}" srcOrd="1" destOrd="0" presId="urn:microsoft.com/office/officeart/2005/8/layout/hProcess10"/>
    <dgm:cxn modelId="{DF5D8BC2-6F7F-414E-BE3C-3D07211B4AE7}" type="presParOf" srcId="{9096DF3C-65E5-4FFE-903A-31FA03CB04FD}" destId="{CF755380-5FC8-4331-AE1C-2019B14CB634}" srcOrd="3" destOrd="0" presId="urn:microsoft.com/office/officeart/2005/8/layout/hProcess10"/>
    <dgm:cxn modelId="{172AC8BA-5EC7-413F-921E-E6C1725CAD72}" type="presParOf" srcId="{CF755380-5FC8-4331-AE1C-2019B14CB634}" destId="{C6029006-015C-4C0E-9FE9-24F7DEB75CF4}" srcOrd="0" destOrd="0" presId="urn:microsoft.com/office/officeart/2005/8/layout/hProcess10"/>
    <dgm:cxn modelId="{2B10F120-5013-4E20-AA34-A190CE9E9F55}" type="presParOf" srcId="{9096DF3C-65E5-4FFE-903A-31FA03CB04FD}" destId="{5ED57CF0-934E-4A41-8096-2ABB7000D10B}" srcOrd="4" destOrd="0" presId="urn:microsoft.com/office/officeart/2005/8/layout/hProcess10"/>
    <dgm:cxn modelId="{0EE3FC81-6F2D-4072-B1D3-ED8DF8057B1D}" type="presParOf" srcId="{5ED57CF0-934E-4A41-8096-2ABB7000D10B}" destId="{3A9CE777-4BE7-4B82-92C3-DE86A6037493}" srcOrd="0" destOrd="0" presId="urn:microsoft.com/office/officeart/2005/8/layout/hProcess10"/>
    <dgm:cxn modelId="{5ABB8391-D653-448B-B5A1-8AF31A3C3302}" type="presParOf" srcId="{5ED57CF0-934E-4A41-8096-2ABB7000D10B}" destId="{06CAB924-6D5D-4D33-B735-D8B6C4649754}" srcOrd="1" destOrd="0" presId="urn:microsoft.com/office/officeart/2005/8/layout/hProcess10"/>
    <dgm:cxn modelId="{A6A2EF05-D734-45AE-ACC3-0BB3347472C5}" type="presParOf" srcId="{9096DF3C-65E5-4FFE-903A-31FA03CB04FD}" destId="{3026A532-0FA7-4BB9-9783-6933371F7D08}" srcOrd="5" destOrd="0" presId="urn:microsoft.com/office/officeart/2005/8/layout/hProcess10"/>
    <dgm:cxn modelId="{BE4EC882-B67E-463C-9092-8059C88C9DCE}" type="presParOf" srcId="{3026A532-0FA7-4BB9-9783-6933371F7D08}" destId="{0A6ADC8F-ED34-4D1E-9028-B412275300D5}" srcOrd="0" destOrd="0" presId="urn:microsoft.com/office/officeart/2005/8/layout/hProcess10"/>
    <dgm:cxn modelId="{8153699C-CF2F-422F-94D2-99762EF98461}" type="presParOf" srcId="{9096DF3C-65E5-4FFE-903A-31FA03CB04FD}" destId="{513AB3A2-D25C-4CF3-B5EA-122C8519C687}" srcOrd="6" destOrd="0" presId="urn:microsoft.com/office/officeart/2005/8/layout/hProcess10"/>
    <dgm:cxn modelId="{A2CDF848-44ED-441F-88F6-38421DFF791C}" type="presParOf" srcId="{513AB3A2-D25C-4CF3-B5EA-122C8519C687}" destId="{D5241965-D3B0-45DE-B048-0E2BC1F93EB3}" srcOrd="0" destOrd="0" presId="urn:microsoft.com/office/officeart/2005/8/layout/hProcess10"/>
    <dgm:cxn modelId="{F90844E0-3366-4933-90CF-0945FC17BA3A}" type="presParOf" srcId="{513AB3A2-D25C-4CF3-B5EA-122C8519C687}" destId="{1BF10564-0B71-431C-85D2-12A4853D2B37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Money Market 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3C090E-2B8D-404C-8F2C-8D1C31B665E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Capital Market</a:t>
          </a:r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9FFE9D-169A-4AE2-8953-BD868E7E0688}" type="sibTrans" cxnId="{C5AF219B-0898-4703-BB86-7BEF6F0EC3D6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1319B4-B7D2-48CB-BDCC-3182B42EFED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Foreign Exchange Market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D05047-B543-4F04-B137-E16CBE5DEA00}" type="sibTrans" cxnId="{C4140ED0-D197-4461-8045-876DDB7077B1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25904F-3E98-499A-9B23-50695C42CF5B}">
      <dgm:prSet phldrT="[Text]" custT="1"/>
      <dgm:spPr>
        <a:solidFill>
          <a:schemeClr val="bg2"/>
        </a:solidFill>
      </dgm:spPr>
      <dgm:t>
        <a:bodyPr/>
        <a:lstStyle/>
        <a:p>
          <a:r>
            <a:rPr lang="en-IN" sz="20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Derivatives market </a:t>
          </a:r>
        </a:p>
      </dgm:t>
    </dgm:pt>
    <dgm:pt modelId="{A128EF32-E456-440A-9052-8EF2F34B1AA1}" type="parTrans" cxnId="{AD69CA64-CD8A-4E3E-A1F4-A9751044BE07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89F1AA-E48F-4348-8038-D6F08364652B}" type="sibTrans" cxnId="{AD69CA64-CD8A-4E3E-A1F4-A9751044BE07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E1D42D-B547-4217-9BA7-FC15F1191530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1900" dirty="0">
              <a:latin typeface="Arial" panose="020B0604020202020204" pitchFamily="34" charset="0"/>
              <a:cs typeface="Arial" panose="020B0604020202020204" pitchFamily="34" charset="0"/>
            </a:rPr>
            <a:t>Short term funds (less then 1 year)</a:t>
          </a:r>
        </a:p>
      </dgm:t>
    </dgm:pt>
    <dgm:pt modelId="{31B5BF5B-DD15-4864-B9DC-D5797F7A0302}" type="parTrans" cxnId="{09601F46-F4E4-4E79-8F88-B97D80D58939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B7B021-D7C5-422E-832B-3C64BA8E0C21}" type="sibTrans" cxnId="{09601F46-F4E4-4E79-8F88-B97D80D58939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AB27F4-0A68-443F-BE0D-E5B820CE34EA}">
      <dgm:prSet custT="1"/>
      <dgm:spPr>
        <a:solidFill>
          <a:schemeClr val="bg1"/>
        </a:solidFill>
      </dgm:spPr>
      <dgm:t>
        <a:bodyPr/>
        <a:lstStyle/>
        <a:p>
          <a:pPr algn="just">
            <a:lnSpc>
              <a:spcPct val="150000"/>
            </a:lnSpc>
          </a:pPr>
          <a:r>
            <a:rPr lang="en-IN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Trading of </a:t>
          </a:r>
          <a:r>
            <a:rPr lang="en-IN" sz="19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currencies; determines exchange rate</a:t>
          </a:r>
        </a:p>
      </dgm:t>
    </dgm:pt>
    <dgm:pt modelId="{FE371C22-6001-476B-94E1-3D9FF2AA1DEF}" type="parTrans" cxnId="{72D55A67-7D53-48A5-BCBC-3597CDE9FBEF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0E44A4-8246-471A-9BCF-F1F797508A4A}" type="sibTrans" cxnId="{72D55A67-7D53-48A5-BCBC-3597CDE9FBEF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5FAEEF-A03B-4DCE-AB4A-B3D668E7E5D2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1900" dirty="0">
              <a:latin typeface="Arial" panose="020B0604020202020204" pitchFamily="34" charset="0"/>
              <a:cs typeface="Arial" panose="020B0604020202020204" pitchFamily="34" charset="0"/>
            </a:rPr>
            <a:t>Long term funds (bonds, equity)</a:t>
          </a:r>
        </a:p>
      </dgm:t>
    </dgm:pt>
    <dgm:pt modelId="{6F286469-33BF-4ADD-922F-0972BC3517CE}" type="parTrans" cxnId="{F8C05C1A-B45B-4847-8698-E1B158ED0711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6398BB-C40F-4F6E-B2CC-0C606F70D26A}" type="sibTrans" cxnId="{F8C05C1A-B45B-4847-8698-E1B158ED0711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1EF109-C80C-4644-807B-442955D59067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1900" dirty="0">
              <a:latin typeface="Arial" panose="020B0604020202020204" pitchFamily="34" charset="0"/>
              <a:cs typeface="Arial" panose="020B0604020202020204" pitchFamily="34" charset="0"/>
            </a:rPr>
            <a:t>Hedging and speculation on future price movements</a:t>
          </a:r>
        </a:p>
      </dgm:t>
    </dgm:pt>
    <dgm:pt modelId="{737BFEBC-C2F5-44B5-A268-5EC0F02BC2CB}" type="parTrans" cxnId="{0C63B9A4-2525-4441-97AC-B31A77453125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70C279-8728-4DDA-BB79-E41C92F95FF9}" type="sibTrans" cxnId="{0C63B9A4-2525-4441-97AC-B31A77453125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EF3105-DE3B-4EA7-9CD9-6CE7824E0D99}">
      <dgm:prSet custT="1"/>
      <dgm:spPr>
        <a:solidFill>
          <a:schemeClr val="bg1"/>
        </a:solidFill>
      </dgm:spPr>
      <dgm:t>
        <a:bodyPr/>
        <a:lstStyle/>
        <a:p>
          <a:pPr algn="just">
            <a:lnSpc>
              <a:spcPct val="150000"/>
            </a:lnSpc>
          </a:pPr>
          <a:r>
            <a:rPr lang="en-IN" sz="19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Examples: USD/INR,EUR/USD </a:t>
          </a:r>
        </a:p>
      </dgm:t>
    </dgm:pt>
    <dgm:pt modelId="{B9FBF794-AA6A-4A38-B974-4DAE68A78214}" type="parTrans" cxnId="{11667416-28C2-4E53-AF49-C6B58499D3D4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AC13D8-BF6C-4D53-A80B-270CEB37E8D0}" type="sibTrans" cxnId="{11667416-28C2-4E53-AF49-C6B58499D3D4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D72C9-37C8-41FF-B121-5B590BFF884B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1900" dirty="0">
              <a:latin typeface="Arial" panose="020B0604020202020204" pitchFamily="34" charset="0"/>
              <a:cs typeface="Arial" panose="020B0604020202020204" pitchFamily="34" charset="0"/>
            </a:rPr>
            <a:t>Examples: Eurodollar deposits, treasury bills </a:t>
          </a:r>
        </a:p>
      </dgm:t>
    </dgm:pt>
    <dgm:pt modelId="{D3C3742C-CEC5-414E-9BCE-A300C5CCEA68}" type="parTrans" cxnId="{E5069630-B406-4C82-BAA7-035B5747F3C1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3734DA-B339-43DE-9854-78ECC0FBE89A}" type="sibTrans" cxnId="{E5069630-B406-4C82-BAA7-035B5747F3C1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4CDB46-467F-427D-AABA-2DF261BEE108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1900" dirty="0">
              <a:latin typeface="Arial" panose="020B0604020202020204" pitchFamily="34" charset="0"/>
              <a:cs typeface="Arial" panose="020B0604020202020204" pitchFamily="34" charset="0"/>
            </a:rPr>
            <a:t>Examples: Eurobond market, global stock exchange</a:t>
          </a:r>
        </a:p>
      </dgm:t>
    </dgm:pt>
    <dgm:pt modelId="{0AE4229F-B7C7-4606-872F-88EFCA9FB1DD}" type="parTrans" cxnId="{7B3B444B-292D-4A6B-BC38-FA48A04E91E0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29F94D-51A9-448E-A40B-3588FEA7F0A2}" type="sibTrans" cxnId="{7B3B444B-292D-4A6B-BC38-FA48A04E91E0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BB5BB9-5B31-4D87-8295-1ACF03B7C409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1900" dirty="0">
              <a:latin typeface="Arial" panose="020B0604020202020204" pitchFamily="34" charset="0"/>
              <a:cs typeface="Arial" panose="020B0604020202020204" pitchFamily="34" charset="0"/>
            </a:rPr>
            <a:t>Examples: Future, swaps, options  </a:t>
          </a:r>
        </a:p>
      </dgm:t>
    </dgm:pt>
    <dgm:pt modelId="{D86B0BFD-AD38-4AE7-A477-409A34E065BF}" type="parTrans" cxnId="{34FFDB35-32C0-43F8-8CF1-5900AB6EE1D8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7E9AE5-7482-497E-8BB4-786E23E3C8D5}" type="sibTrans" cxnId="{34FFDB35-32C0-43F8-8CF1-5900AB6EE1D8}">
      <dgm:prSet/>
      <dgm:spPr/>
      <dgm:t>
        <a:bodyPr/>
        <a:lstStyle/>
        <a:p>
          <a:endParaRPr lang="en-IN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886B20-B1BF-4399-8106-B4A96E7451EF}" type="pres">
      <dgm:prSet presAssocID="{974A1F31-436E-4C59-9D1F-2293138613C2}" presName="Name0" presStyleCnt="0">
        <dgm:presLayoutVars>
          <dgm:dir/>
          <dgm:animLvl val="lvl"/>
          <dgm:resizeHandles/>
        </dgm:presLayoutVars>
      </dgm:prSet>
      <dgm:spPr/>
    </dgm:pt>
    <dgm:pt modelId="{12E671F1-894E-4F11-9015-0BCF28B64F81}" type="pres">
      <dgm:prSet presAssocID="{2A1319B4-B7D2-48CB-BDCC-3182B42EFEDA}" presName="linNode" presStyleCnt="0"/>
      <dgm:spPr/>
    </dgm:pt>
    <dgm:pt modelId="{138BDFEC-A4CC-4F0C-B737-0389059D0BF7}" type="pres">
      <dgm:prSet presAssocID="{2A1319B4-B7D2-48CB-BDCC-3182B42EFEDA}" presName="parentShp" presStyleLbl="node1" presStyleIdx="0" presStyleCnt="4">
        <dgm:presLayoutVars>
          <dgm:bulletEnabled val="1"/>
        </dgm:presLayoutVars>
      </dgm:prSet>
      <dgm:spPr/>
    </dgm:pt>
    <dgm:pt modelId="{6EF24D2B-0C15-4FD2-8F90-F6BB9EC3C643}" type="pres">
      <dgm:prSet presAssocID="{2A1319B4-B7D2-48CB-BDCC-3182B42EFEDA}" presName="childShp" presStyleLbl="bgAccFollowNode1" presStyleIdx="0" presStyleCnt="4">
        <dgm:presLayoutVars>
          <dgm:bulletEnabled val="1"/>
        </dgm:presLayoutVars>
      </dgm:prSet>
      <dgm:spPr/>
    </dgm:pt>
    <dgm:pt modelId="{5D07C2E2-1379-460C-A118-A19B7E8D1E71}" type="pres">
      <dgm:prSet presAssocID="{04D05047-B543-4F04-B137-E16CBE5DEA00}" presName="spacing" presStyleCnt="0"/>
      <dgm:spPr/>
    </dgm:pt>
    <dgm:pt modelId="{EB4C4768-E5E3-43F7-9B63-70D4B75F8A09}" type="pres">
      <dgm:prSet presAssocID="{E79C2263-D73C-437E-8689-ED9AEA31BCCF}" presName="linNode" presStyleCnt="0"/>
      <dgm:spPr/>
    </dgm:pt>
    <dgm:pt modelId="{18F65B2A-B0BC-46A8-97B4-41245993372D}" type="pres">
      <dgm:prSet presAssocID="{E79C2263-D73C-437E-8689-ED9AEA31BCCF}" presName="parentShp" presStyleLbl="node1" presStyleIdx="1" presStyleCnt="4">
        <dgm:presLayoutVars>
          <dgm:bulletEnabled val="1"/>
        </dgm:presLayoutVars>
      </dgm:prSet>
      <dgm:spPr/>
    </dgm:pt>
    <dgm:pt modelId="{0182FE74-6540-4E99-B98A-D91EFBD5D30D}" type="pres">
      <dgm:prSet presAssocID="{E79C2263-D73C-437E-8689-ED9AEA31BCCF}" presName="childShp" presStyleLbl="bgAccFollowNode1" presStyleIdx="1" presStyleCnt="4">
        <dgm:presLayoutVars>
          <dgm:bulletEnabled val="1"/>
        </dgm:presLayoutVars>
      </dgm:prSet>
      <dgm:spPr/>
    </dgm:pt>
    <dgm:pt modelId="{DEEEB7DF-52A3-4F67-9A66-BAAD1157E70F}" type="pres">
      <dgm:prSet presAssocID="{EC6AB96C-F159-4AC8-8700-168AB3D071C1}" presName="spacing" presStyleCnt="0"/>
      <dgm:spPr/>
    </dgm:pt>
    <dgm:pt modelId="{390D1AB0-AE2B-401F-938F-8FCABAB48E08}" type="pres">
      <dgm:prSet presAssocID="{DF3C090E-2B8D-404C-8F2C-8D1C31B665EA}" presName="linNode" presStyleCnt="0"/>
      <dgm:spPr/>
    </dgm:pt>
    <dgm:pt modelId="{3234860B-3D72-447E-BA19-76729365B404}" type="pres">
      <dgm:prSet presAssocID="{DF3C090E-2B8D-404C-8F2C-8D1C31B665EA}" presName="parentShp" presStyleLbl="node1" presStyleIdx="2" presStyleCnt="4">
        <dgm:presLayoutVars>
          <dgm:bulletEnabled val="1"/>
        </dgm:presLayoutVars>
      </dgm:prSet>
      <dgm:spPr/>
    </dgm:pt>
    <dgm:pt modelId="{ECCA7E82-5FD3-4CA1-A501-BDE4FDD70F7E}" type="pres">
      <dgm:prSet presAssocID="{DF3C090E-2B8D-404C-8F2C-8D1C31B665EA}" presName="childShp" presStyleLbl="bgAccFollowNode1" presStyleIdx="2" presStyleCnt="4" custScaleY="115174">
        <dgm:presLayoutVars>
          <dgm:bulletEnabled val="1"/>
        </dgm:presLayoutVars>
      </dgm:prSet>
      <dgm:spPr/>
    </dgm:pt>
    <dgm:pt modelId="{5306AC29-4FEF-46D8-96E2-C294904E01DC}" type="pres">
      <dgm:prSet presAssocID="{469FFE9D-169A-4AE2-8953-BD868E7E0688}" presName="spacing" presStyleCnt="0"/>
      <dgm:spPr/>
    </dgm:pt>
    <dgm:pt modelId="{B0D4C4B0-6E2C-4239-9A45-411783E20223}" type="pres">
      <dgm:prSet presAssocID="{CA25904F-3E98-499A-9B23-50695C42CF5B}" presName="linNode" presStyleCnt="0"/>
      <dgm:spPr/>
    </dgm:pt>
    <dgm:pt modelId="{A7619873-5A7E-45E8-B5B4-E03AD49F78C9}" type="pres">
      <dgm:prSet presAssocID="{CA25904F-3E98-499A-9B23-50695C42CF5B}" presName="parentShp" presStyleLbl="node1" presStyleIdx="3" presStyleCnt="4">
        <dgm:presLayoutVars>
          <dgm:bulletEnabled val="1"/>
        </dgm:presLayoutVars>
      </dgm:prSet>
      <dgm:spPr/>
    </dgm:pt>
    <dgm:pt modelId="{3E3EE05C-862C-4D3C-92E2-55C3BBB99A4A}" type="pres">
      <dgm:prSet presAssocID="{CA25904F-3E98-499A-9B23-50695C42CF5B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7200E10A-8F70-4244-9BB3-0A47CA0BC842}" type="presOf" srcId="{D35FAEEF-A03B-4DCE-AB4A-B3D668E7E5D2}" destId="{ECCA7E82-5FD3-4CA1-A501-BDE4FDD70F7E}" srcOrd="0" destOrd="0" presId="urn:microsoft.com/office/officeart/2005/8/layout/vList6"/>
    <dgm:cxn modelId="{11667416-28C2-4E53-AF49-C6B58499D3D4}" srcId="{2A1319B4-B7D2-48CB-BDCC-3182B42EFEDA}" destId="{47EF3105-DE3B-4EA7-9CD9-6CE7824E0D99}" srcOrd="1" destOrd="0" parTransId="{B9FBF794-AA6A-4A38-B974-4DAE68A78214}" sibTransId="{17AC13D8-BF6C-4D53-A80B-270CEB37E8D0}"/>
    <dgm:cxn modelId="{F8C05C1A-B45B-4847-8698-E1B158ED0711}" srcId="{DF3C090E-2B8D-404C-8F2C-8D1C31B665EA}" destId="{D35FAEEF-A03B-4DCE-AB4A-B3D668E7E5D2}" srcOrd="0" destOrd="0" parTransId="{6F286469-33BF-4ADD-922F-0972BC3517CE}" sibTransId="{186398BB-C40F-4F6E-B2CC-0C606F70D26A}"/>
    <dgm:cxn modelId="{BFBEB820-4A16-4BF9-9400-73665054974D}" type="presOf" srcId="{BAE1D42D-B547-4217-9BA7-FC15F1191530}" destId="{0182FE74-6540-4E99-B98A-D91EFBD5D30D}" srcOrd="0" destOrd="0" presId="urn:microsoft.com/office/officeart/2005/8/layout/vList6"/>
    <dgm:cxn modelId="{E5069630-B406-4C82-BAA7-035B5747F3C1}" srcId="{E79C2263-D73C-437E-8689-ED9AEA31BCCF}" destId="{734D72C9-37C8-41FF-B121-5B590BFF884B}" srcOrd="1" destOrd="0" parTransId="{D3C3742C-CEC5-414E-9BCE-A300C5CCEA68}" sibTransId="{A03734DA-B339-43DE-9854-78ECC0FBE89A}"/>
    <dgm:cxn modelId="{34FFDB35-32C0-43F8-8CF1-5900AB6EE1D8}" srcId="{CA25904F-3E98-499A-9B23-50695C42CF5B}" destId="{26BB5BB9-5B31-4D87-8295-1ACF03B7C409}" srcOrd="1" destOrd="0" parTransId="{D86B0BFD-AD38-4AE7-A477-409A34E065BF}" sibTransId="{D87E9AE5-7482-497E-8BB4-786E23E3C8D5}"/>
    <dgm:cxn modelId="{CE58673E-A488-4540-B71F-0CD306A3A86B}" type="presOf" srcId="{734D72C9-37C8-41FF-B121-5B590BFF884B}" destId="{0182FE74-6540-4E99-B98A-D91EFBD5D30D}" srcOrd="0" destOrd="1" presId="urn:microsoft.com/office/officeart/2005/8/layout/vList6"/>
    <dgm:cxn modelId="{2866D85F-980F-4566-AD58-3E7C368BA07D}" type="presOf" srcId="{CA25904F-3E98-499A-9B23-50695C42CF5B}" destId="{A7619873-5A7E-45E8-B5B4-E03AD49F78C9}" srcOrd="0" destOrd="0" presId="urn:microsoft.com/office/officeart/2005/8/layout/vList6"/>
    <dgm:cxn modelId="{AD69CA64-CD8A-4E3E-A1F4-A9751044BE07}" srcId="{974A1F31-436E-4C59-9D1F-2293138613C2}" destId="{CA25904F-3E98-499A-9B23-50695C42CF5B}" srcOrd="3" destOrd="0" parTransId="{A128EF32-E456-440A-9052-8EF2F34B1AA1}" sibTransId="{AB89F1AA-E48F-4348-8038-D6F08364652B}"/>
    <dgm:cxn modelId="{09601F46-F4E4-4E79-8F88-B97D80D58939}" srcId="{E79C2263-D73C-437E-8689-ED9AEA31BCCF}" destId="{BAE1D42D-B547-4217-9BA7-FC15F1191530}" srcOrd="0" destOrd="0" parTransId="{31B5BF5B-DD15-4864-B9DC-D5797F7A0302}" sibTransId="{64B7B021-D7C5-422E-832B-3C64BA8E0C21}"/>
    <dgm:cxn modelId="{72D55A67-7D53-48A5-BCBC-3597CDE9FBEF}" srcId="{2A1319B4-B7D2-48CB-BDCC-3182B42EFEDA}" destId="{45AB27F4-0A68-443F-BE0D-E5B820CE34EA}" srcOrd="0" destOrd="0" parTransId="{FE371C22-6001-476B-94E1-3D9FF2AA1DEF}" sibTransId="{220E44A4-8246-471A-9BCF-F1F797508A4A}"/>
    <dgm:cxn modelId="{7B3B444B-292D-4A6B-BC38-FA48A04E91E0}" srcId="{DF3C090E-2B8D-404C-8F2C-8D1C31B665EA}" destId="{8D4CDB46-467F-427D-AABA-2DF261BEE108}" srcOrd="1" destOrd="0" parTransId="{0AE4229F-B7C7-4606-872F-88EFCA9FB1DD}" sibTransId="{ED29F94D-51A9-448E-A40B-3588FEA7F0A2}"/>
    <dgm:cxn modelId="{A57EDD4E-C33B-4D2B-BFFD-1F57FE3C1D3F}" type="presOf" srcId="{DF3C090E-2B8D-404C-8F2C-8D1C31B665EA}" destId="{3234860B-3D72-447E-BA19-76729365B404}" srcOrd="0" destOrd="0" presId="urn:microsoft.com/office/officeart/2005/8/layout/vList6"/>
    <dgm:cxn modelId="{CEFE2480-CE71-40AB-BBD8-4AD3B0B27D96}" type="presOf" srcId="{974A1F31-436E-4C59-9D1F-2293138613C2}" destId="{37886B20-B1BF-4399-8106-B4A96E7451EF}" srcOrd="0" destOrd="0" presId="urn:microsoft.com/office/officeart/2005/8/layout/vList6"/>
    <dgm:cxn modelId="{002C108E-684D-4C18-9140-8AE25116A838}" type="presOf" srcId="{26BB5BB9-5B31-4D87-8295-1ACF03B7C409}" destId="{3E3EE05C-862C-4D3C-92E2-55C3BBB99A4A}" srcOrd="0" destOrd="1" presId="urn:microsoft.com/office/officeart/2005/8/layout/vList6"/>
    <dgm:cxn modelId="{6E1DC098-6A94-4E3F-9C0B-1B068663A87E}" type="presOf" srcId="{45AB27F4-0A68-443F-BE0D-E5B820CE34EA}" destId="{6EF24D2B-0C15-4FD2-8F90-F6BB9EC3C643}" srcOrd="0" destOrd="0" presId="urn:microsoft.com/office/officeart/2005/8/layout/vList6"/>
    <dgm:cxn modelId="{C5AF219B-0898-4703-BB86-7BEF6F0EC3D6}" srcId="{974A1F31-436E-4C59-9D1F-2293138613C2}" destId="{DF3C090E-2B8D-404C-8F2C-8D1C31B665EA}" srcOrd="2" destOrd="0" parTransId="{868A5F93-25AF-40A6-A794-EA909B2C2435}" sibTransId="{469FFE9D-169A-4AE2-8953-BD868E7E0688}"/>
    <dgm:cxn modelId="{0C63B9A4-2525-4441-97AC-B31A77453125}" srcId="{CA25904F-3E98-499A-9B23-50695C42CF5B}" destId="{FB1EF109-C80C-4644-807B-442955D59067}" srcOrd="0" destOrd="0" parTransId="{737BFEBC-C2F5-44B5-A268-5EC0F02BC2CB}" sibTransId="{4170C279-8728-4DDA-BB79-E41C92F95FF9}"/>
    <dgm:cxn modelId="{330ABBC5-6A2F-4DD3-8349-BC7FC1370069}" srcId="{974A1F31-436E-4C59-9D1F-2293138613C2}" destId="{E79C2263-D73C-437E-8689-ED9AEA31BCCF}" srcOrd="1" destOrd="0" parTransId="{6F69D7B4-F9A1-4295-9190-619381F4811A}" sibTransId="{EC6AB96C-F159-4AC8-8700-168AB3D071C1}"/>
    <dgm:cxn modelId="{C4140ED0-D197-4461-8045-876DDB7077B1}" srcId="{974A1F31-436E-4C59-9D1F-2293138613C2}" destId="{2A1319B4-B7D2-48CB-BDCC-3182B42EFEDA}" srcOrd="0" destOrd="0" parTransId="{437E0F37-252F-46DE-A768-A0F7293CB2CC}" sibTransId="{04D05047-B543-4F04-B137-E16CBE5DEA00}"/>
    <dgm:cxn modelId="{BAE892D1-0F6B-479E-879F-46512083FF34}" type="presOf" srcId="{E79C2263-D73C-437E-8689-ED9AEA31BCCF}" destId="{18F65B2A-B0BC-46A8-97B4-41245993372D}" srcOrd="0" destOrd="0" presId="urn:microsoft.com/office/officeart/2005/8/layout/vList6"/>
    <dgm:cxn modelId="{B1CF31DE-49F3-4C90-B58A-3085E6048C71}" type="presOf" srcId="{47EF3105-DE3B-4EA7-9CD9-6CE7824E0D99}" destId="{6EF24D2B-0C15-4FD2-8F90-F6BB9EC3C643}" srcOrd="0" destOrd="1" presId="urn:microsoft.com/office/officeart/2005/8/layout/vList6"/>
    <dgm:cxn modelId="{D88A2CE8-939A-4189-AC93-263BB14E5C2E}" type="presOf" srcId="{2A1319B4-B7D2-48CB-BDCC-3182B42EFEDA}" destId="{138BDFEC-A4CC-4F0C-B737-0389059D0BF7}" srcOrd="0" destOrd="0" presId="urn:microsoft.com/office/officeart/2005/8/layout/vList6"/>
    <dgm:cxn modelId="{B04725EC-4FC2-40B5-BEA4-6318EC76A8D5}" type="presOf" srcId="{FB1EF109-C80C-4644-807B-442955D59067}" destId="{3E3EE05C-862C-4D3C-92E2-55C3BBB99A4A}" srcOrd="0" destOrd="0" presId="urn:microsoft.com/office/officeart/2005/8/layout/vList6"/>
    <dgm:cxn modelId="{483ED1F2-DA6A-46DC-8540-EBDC96C0EB67}" type="presOf" srcId="{8D4CDB46-467F-427D-AABA-2DF261BEE108}" destId="{ECCA7E82-5FD3-4CA1-A501-BDE4FDD70F7E}" srcOrd="0" destOrd="1" presId="urn:microsoft.com/office/officeart/2005/8/layout/vList6"/>
    <dgm:cxn modelId="{D8F501B3-021B-4737-B93B-07B693F942E4}" type="presParOf" srcId="{37886B20-B1BF-4399-8106-B4A96E7451EF}" destId="{12E671F1-894E-4F11-9015-0BCF28B64F81}" srcOrd="0" destOrd="0" presId="urn:microsoft.com/office/officeart/2005/8/layout/vList6"/>
    <dgm:cxn modelId="{DB7C39AF-1753-4D32-A87E-E6BB9F00F6B7}" type="presParOf" srcId="{12E671F1-894E-4F11-9015-0BCF28B64F81}" destId="{138BDFEC-A4CC-4F0C-B737-0389059D0BF7}" srcOrd="0" destOrd="0" presId="urn:microsoft.com/office/officeart/2005/8/layout/vList6"/>
    <dgm:cxn modelId="{892F92A7-830F-4D00-8907-A27D639CEDCA}" type="presParOf" srcId="{12E671F1-894E-4F11-9015-0BCF28B64F81}" destId="{6EF24D2B-0C15-4FD2-8F90-F6BB9EC3C643}" srcOrd="1" destOrd="0" presId="urn:microsoft.com/office/officeart/2005/8/layout/vList6"/>
    <dgm:cxn modelId="{98925E6F-6D47-4238-A13D-9F637419F96C}" type="presParOf" srcId="{37886B20-B1BF-4399-8106-B4A96E7451EF}" destId="{5D07C2E2-1379-460C-A118-A19B7E8D1E71}" srcOrd="1" destOrd="0" presId="urn:microsoft.com/office/officeart/2005/8/layout/vList6"/>
    <dgm:cxn modelId="{D08F823E-484C-4335-BE0F-B45EF4FE4E52}" type="presParOf" srcId="{37886B20-B1BF-4399-8106-B4A96E7451EF}" destId="{EB4C4768-E5E3-43F7-9B63-70D4B75F8A09}" srcOrd="2" destOrd="0" presId="urn:microsoft.com/office/officeart/2005/8/layout/vList6"/>
    <dgm:cxn modelId="{087B3B16-0881-4C9D-B3D4-22B9453C1EE6}" type="presParOf" srcId="{EB4C4768-E5E3-43F7-9B63-70D4B75F8A09}" destId="{18F65B2A-B0BC-46A8-97B4-41245993372D}" srcOrd="0" destOrd="0" presId="urn:microsoft.com/office/officeart/2005/8/layout/vList6"/>
    <dgm:cxn modelId="{DC197F6C-E335-4A95-A13E-60B94EFE4C6D}" type="presParOf" srcId="{EB4C4768-E5E3-43F7-9B63-70D4B75F8A09}" destId="{0182FE74-6540-4E99-B98A-D91EFBD5D30D}" srcOrd="1" destOrd="0" presId="urn:microsoft.com/office/officeart/2005/8/layout/vList6"/>
    <dgm:cxn modelId="{01F77208-4B98-40CA-9B82-93B34276D3A2}" type="presParOf" srcId="{37886B20-B1BF-4399-8106-B4A96E7451EF}" destId="{DEEEB7DF-52A3-4F67-9A66-BAAD1157E70F}" srcOrd="3" destOrd="0" presId="urn:microsoft.com/office/officeart/2005/8/layout/vList6"/>
    <dgm:cxn modelId="{9EB6237A-1B20-464F-90F9-DBF6D25AB2B9}" type="presParOf" srcId="{37886B20-B1BF-4399-8106-B4A96E7451EF}" destId="{390D1AB0-AE2B-401F-938F-8FCABAB48E08}" srcOrd="4" destOrd="0" presId="urn:microsoft.com/office/officeart/2005/8/layout/vList6"/>
    <dgm:cxn modelId="{D7C47BE9-7BC8-4E0F-BBF4-F3610DF2A6A4}" type="presParOf" srcId="{390D1AB0-AE2B-401F-938F-8FCABAB48E08}" destId="{3234860B-3D72-447E-BA19-76729365B404}" srcOrd="0" destOrd="0" presId="urn:microsoft.com/office/officeart/2005/8/layout/vList6"/>
    <dgm:cxn modelId="{831E886F-A9E6-4FEB-A9FD-1A2213EC3883}" type="presParOf" srcId="{390D1AB0-AE2B-401F-938F-8FCABAB48E08}" destId="{ECCA7E82-5FD3-4CA1-A501-BDE4FDD70F7E}" srcOrd="1" destOrd="0" presId="urn:microsoft.com/office/officeart/2005/8/layout/vList6"/>
    <dgm:cxn modelId="{F91C7F7F-0C54-41C9-954C-662693B96E2B}" type="presParOf" srcId="{37886B20-B1BF-4399-8106-B4A96E7451EF}" destId="{5306AC29-4FEF-46D8-96E2-C294904E01DC}" srcOrd="5" destOrd="0" presId="urn:microsoft.com/office/officeart/2005/8/layout/vList6"/>
    <dgm:cxn modelId="{CC628A36-E01E-490A-BB3F-D095A0112270}" type="presParOf" srcId="{37886B20-B1BF-4399-8106-B4A96E7451EF}" destId="{B0D4C4B0-6E2C-4239-9A45-411783E20223}" srcOrd="6" destOrd="0" presId="urn:microsoft.com/office/officeart/2005/8/layout/vList6"/>
    <dgm:cxn modelId="{CE850918-85A3-4563-BCC2-350A3B3B819A}" type="presParOf" srcId="{B0D4C4B0-6E2C-4239-9A45-411783E20223}" destId="{A7619873-5A7E-45E8-B5B4-E03AD49F78C9}" srcOrd="0" destOrd="0" presId="urn:microsoft.com/office/officeart/2005/8/layout/vList6"/>
    <dgm:cxn modelId="{4E258432-94D7-4CA1-9A89-F7A1F07DF10E}" type="presParOf" srcId="{B0D4C4B0-6E2C-4239-9A45-411783E20223}" destId="{3E3EE05C-862C-4D3C-92E2-55C3BBB99A4A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55C7F-89F4-4A75-BB5B-13F0F7468A2B}">
      <dsp:nvSpPr>
        <dsp:cNvPr id="0" name=""/>
        <dsp:cNvSpPr/>
      </dsp:nvSpPr>
      <dsp:spPr>
        <a:xfrm>
          <a:off x="762293" y="0"/>
          <a:ext cx="8639321" cy="42672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44A8B8A-4624-4978-B4D8-917D4D5FD3A6}">
      <dsp:nvSpPr>
        <dsp:cNvPr id="0" name=""/>
        <dsp:cNvSpPr/>
      </dsp:nvSpPr>
      <dsp:spPr>
        <a:xfrm>
          <a:off x="1778683" y="1280160"/>
          <a:ext cx="3049172" cy="170688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Monetary System</a:t>
          </a:r>
        </a:p>
      </dsp:txBody>
      <dsp:txXfrm>
        <a:off x="1862006" y="1363483"/>
        <a:ext cx="2882526" cy="1540234"/>
      </dsp:txXfrm>
    </dsp:sp>
    <dsp:sp modelId="{A0740DCA-430B-4938-8403-C3903E68F9C9}">
      <dsp:nvSpPr>
        <dsp:cNvPr id="0" name=""/>
        <dsp:cNvSpPr/>
      </dsp:nvSpPr>
      <dsp:spPr>
        <a:xfrm>
          <a:off x="5336051" y="1280160"/>
          <a:ext cx="3049172" cy="170688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Financial Markets</a:t>
          </a:r>
        </a:p>
      </dsp:txBody>
      <dsp:txXfrm>
        <a:off x="5419374" y="1363483"/>
        <a:ext cx="2882526" cy="15402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D57A4-C4A1-4E79-9C02-8CE248B1CDCF}">
      <dsp:nvSpPr>
        <dsp:cNvPr id="0" name=""/>
        <dsp:cNvSpPr/>
      </dsp:nvSpPr>
      <dsp:spPr>
        <a:xfrm>
          <a:off x="239157" y="325818"/>
          <a:ext cx="2028469" cy="110454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47BF1EA-6059-443B-9842-5AF0DECC6E0D}">
      <dsp:nvSpPr>
        <dsp:cNvPr id="0" name=""/>
        <dsp:cNvSpPr/>
      </dsp:nvSpPr>
      <dsp:spPr>
        <a:xfrm>
          <a:off x="0" y="1589028"/>
          <a:ext cx="2299615" cy="2052769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1870-1939</a:t>
          </a:r>
        </a:p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Exchange rate fixed based on gold content</a:t>
          </a:r>
        </a:p>
      </dsp:txBody>
      <dsp:txXfrm>
        <a:off x="60124" y="1649152"/>
        <a:ext cx="2179367" cy="1932521"/>
      </dsp:txXfrm>
    </dsp:sp>
    <dsp:sp modelId="{AE3C6B82-CD46-46F6-9423-715DBCF28D2C}">
      <dsp:nvSpPr>
        <dsp:cNvPr id="0" name=""/>
        <dsp:cNvSpPr/>
      </dsp:nvSpPr>
      <dsp:spPr>
        <a:xfrm rot="21599459">
          <a:off x="2468404" y="756642"/>
          <a:ext cx="200776" cy="24248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2468404" y="805143"/>
        <a:ext cx="140543" cy="145489"/>
      </dsp:txXfrm>
    </dsp:sp>
    <dsp:sp modelId="{69114518-F962-404D-AB00-F5644326D1C8}">
      <dsp:nvSpPr>
        <dsp:cNvPr id="0" name=""/>
        <dsp:cNvSpPr/>
      </dsp:nvSpPr>
      <dsp:spPr>
        <a:xfrm>
          <a:off x="2841275" y="259175"/>
          <a:ext cx="2081600" cy="123700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l="-25000" r="-2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20CA4DE-078D-48A5-A510-DFFC3CE32E6B}">
      <dsp:nvSpPr>
        <dsp:cNvPr id="0" name=""/>
        <dsp:cNvSpPr/>
      </dsp:nvSpPr>
      <dsp:spPr>
        <a:xfrm>
          <a:off x="2574520" y="1577080"/>
          <a:ext cx="2475245" cy="2078341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1944-1971</a:t>
          </a:r>
        </a:p>
        <a:p>
          <a:pPr marL="0" lvl="0" indent="0" algn="l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Dollar pegged gold currencies </a:t>
          </a:r>
        </a:p>
      </dsp:txBody>
      <dsp:txXfrm>
        <a:off x="2635393" y="1637953"/>
        <a:ext cx="2353499" cy="1956595"/>
      </dsp:txXfrm>
    </dsp:sp>
    <dsp:sp modelId="{CF755380-5FC8-4331-AE1C-2019B14CB634}">
      <dsp:nvSpPr>
        <dsp:cNvPr id="0" name=""/>
        <dsp:cNvSpPr/>
      </dsp:nvSpPr>
      <dsp:spPr>
        <a:xfrm rot="21408226">
          <a:off x="5170867" y="677525"/>
          <a:ext cx="248571" cy="24248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170924" y="728049"/>
        <a:ext cx="175827" cy="145489"/>
      </dsp:txXfrm>
    </dsp:sp>
    <dsp:sp modelId="{3A9CE777-4BE7-4B82-92C3-DE86A6037493}">
      <dsp:nvSpPr>
        <dsp:cNvPr id="0" name=""/>
        <dsp:cNvSpPr/>
      </dsp:nvSpPr>
      <dsp:spPr>
        <a:xfrm>
          <a:off x="5631975" y="84730"/>
          <a:ext cx="2151039" cy="127033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t="-8000" b="-8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6CAB924-6D5D-4D33-B735-D8B6C4649754}">
      <dsp:nvSpPr>
        <dsp:cNvPr id="0" name=""/>
        <dsp:cNvSpPr/>
      </dsp:nvSpPr>
      <dsp:spPr>
        <a:xfrm>
          <a:off x="5325622" y="1530644"/>
          <a:ext cx="2809341" cy="1951220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Post 1973 </a:t>
          </a: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Determined by the demand and supply in the forex market</a:t>
          </a:r>
        </a:p>
      </dsp:txBody>
      <dsp:txXfrm>
        <a:off x="5382771" y="1587793"/>
        <a:ext cx="2695043" cy="1836922"/>
      </dsp:txXfrm>
    </dsp:sp>
    <dsp:sp modelId="{3026A532-0FA7-4BB9-9783-6933371F7D08}">
      <dsp:nvSpPr>
        <dsp:cNvPr id="0" name=""/>
        <dsp:cNvSpPr/>
      </dsp:nvSpPr>
      <dsp:spPr>
        <a:xfrm rot="109300">
          <a:off x="8081222" y="647093"/>
          <a:ext cx="298433" cy="24248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8081240" y="694433"/>
        <a:ext cx="225689" cy="145489"/>
      </dsp:txXfrm>
    </dsp:sp>
    <dsp:sp modelId="{D5241965-D3B0-45DE-B048-0E2BC1F93EB3}">
      <dsp:nvSpPr>
        <dsp:cNvPr id="0" name=""/>
        <dsp:cNvSpPr/>
      </dsp:nvSpPr>
      <dsp:spPr>
        <a:xfrm>
          <a:off x="8635251" y="143540"/>
          <a:ext cx="2291198" cy="134820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4"/>
          <a:srcRect/>
          <a:stretch>
            <a:fillRect l="-39000" r="-39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BF10564-0B71-431C-85D2-12A4853D2B37}">
      <dsp:nvSpPr>
        <dsp:cNvPr id="0" name=""/>
        <dsp:cNvSpPr/>
      </dsp:nvSpPr>
      <dsp:spPr>
        <a:xfrm>
          <a:off x="8463375" y="1581840"/>
          <a:ext cx="2638362" cy="1902256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Ongoing practice</a:t>
          </a:r>
        </a:p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Govt occasionally intervene to stabilize currencies</a:t>
          </a:r>
        </a:p>
      </dsp:txBody>
      <dsp:txXfrm>
        <a:off x="8519090" y="1637555"/>
        <a:ext cx="2526932" cy="17908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24D2B-0C15-4FD2-8F90-F6BB9EC3C643}">
      <dsp:nvSpPr>
        <dsp:cNvPr id="0" name=""/>
        <dsp:cNvSpPr/>
      </dsp:nvSpPr>
      <dsp:spPr>
        <a:xfrm>
          <a:off x="4295335" y="218"/>
          <a:ext cx="6443002" cy="1008611"/>
        </a:xfrm>
        <a:prstGeom prst="rightArrow">
          <a:avLst>
            <a:gd name="adj1" fmla="val 75000"/>
            <a:gd name="adj2" fmla="val 50000"/>
          </a:avLst>
        </a:prstGeom>
        <a:solidFill>
          <a:schemeClr val="bg1"/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just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Trading of </a:t>
          </a:r>
          <a:r>
            <a:rPr lang="en-IN" sz="19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currencies; determines exchange rate</a:t>
          </a:r>
        </a:p>
        <a:p>
          <a:pPr marL="171450" lvl="1" indent="-171450" algn="just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Examples: USD/INR,EUR/USD </a:t>
          </a:r>
        </a:p>
      </dsp:txBody>
      <dsp:txXfrm>
        <a:off x="4295335" y="126294"/>
        <a:ext cx="6064773" cy="756459"/>
      </dsp:txXfrm>
    </dsp:sp>
    <dsp:sp modelId="{138BDFEC-A4CC-4F0C-B737-0389059D0BF7}">
      <dsp:nvSpPr>
        <dsp:cNvPr id="0" name=""/>
        <dsp:cNvSpPr/>
      </dsp:nvSpPr>
      <dsp:spPr>
        <a:xfrm>
          <a:off x="0" y="218"/>
          <a:ext cx="4295335" cy="1008611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Foreign Exchange Market</a:t>
          </a:r>
        </a:p>
      </dsp:txBody>
      <dsp:txXfrm>
        <a:off x="49236" y="49454"/>
        <a:ext cx="4196863" cy="910139"/>
      </dsp:txXfrm>
    </dsp:sp>
    <dsp:sp modelId="{0182FE74-6540-4E99-B98A-D91EFBD5D30D}">
      <dsp:nvSpPr>
        <dsp:cNvPr id="0" name=""/>
        <dsp:cNvSpPr/>
      </dsp:nvSpPr>
      <dsp:spPr>
        <a:xfrm>
          <a:off x="4295335" y="1109691"/>
          <a:ext cx="6443002" cy="1008611"/>
        </a:xfrm>
        <a:prstGeom prst="rightArrow">
          <a:avLst>
            <a:gd name="adj1" fmla="val 75000"/>
            <a:gd name="adj2" fmla="val 50000"/>
          </a:avLst>
        </a:prstGeom>
        <a:solidFill>
          <a:schemeClr val="bg1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>
              <a:latin typeface="Arial" panose="020B0604020202020204" pitchFamily="34" charset="0"/>
              <a:cs typeface="Arial" panose="020B0604020202020204" pitchFamily="34" charset="0"/>
            </a:rPr>
            <a:t>Short term funds (less then 1 year)</a:t>
          </a:r>
        </a:p>
        <a:p>
          <a:pPr marL="171450" lvl="1" indent="-171450" algn="l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>
              <a:latin typeface="Arial" panose="020B0604020202020204" pitchFamily="34" charset="0"/>
              <a:cs typeface="Arial" panose="020B0604020202020204" pitchFamily="34" charset="0"/>
            </a:rPr>
            <a:t>Examples: Eurodollar deposits, treasury bills </a:t>
          </a:r>
        </a:p>
      </dsp:txBody>
      <dsp:txXfrm>
        <a:off x="4295335" y="1235767"/>
        <a:ext cx="6064773" cy="756459"/>
      </dsp:txXfrm>
    </dsp:sp>
    <dsp:sp modelId="{18F65B2A-B0BC-46A8-97B4-41245993372D}">
      <dsp:nvSpPr>
        <dsp:cNvPr id="0" name=""/>
        <dsp:cNvSpPr/>
      </dsp:nvSpPr>
      <dsp:spPr>
        <a:xfrm>
          <a:off x="0" y="1109691"/>
          <a:ext cx="4295335" cy="1008611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Money Market </a:t>
          </a:r>
        </a:p>
      </dsp:txBody>
      <dsp:txXfrm>
        <a:off x="49236" y="1158927"/>
        <a:ext cx="4196863" cy="910139"/>
      </dsp:txXfrm>
    </dsp:sp>
    <dsp:sp modelId="{ECCA7E82-5FD3-4CA1-A501-BDE4FDD70F7E}">
      <dsp:nvSpPr>
        <dsp:cNvPr id="0" name=""/>
        <dsp:cNvSpPr/>
      </dsp:nvSpPr>
      <dsp:spPr>
        <a:xfrm>
          <a:off x="4296383" y="2219163"/>
          <a:ext cx="6436710" cy="1161657"/>
        </a:xfrm>
        <a:prstGeom prst="rightArrow">
          <a:avLst>
            <a:gd name="adj1" fmla="val 75000"/>
            <a:gd name="adj2" fmla="val 50000"/>
          </a:avLst>
        </a:prstGeom>
        <a:solidFill>
          <a:schemeClr val="bg1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>
              <a:latin typeface="Arial" panose="020B0604020202020204" pitchFamily="34" charset="0"/>
              <a:cs typeface="Arial" panose="020B0604020202020204" pitchFamily="34" charset="0"/>
            </a:rPr>
            <a:t>Long term funds (bonds, equity)</a:t>
          </a:r>
        </a:p>
        <a:p>
          <a:pPr marL="171450" lvl="1" indent="-171450" algn="l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>
              <a:latin typeface="Arial" panose="020B0604020202020204" pitchFamily="34" charset="0"/>
              <a:cs typeface="Arial" panose="020B0604020202020204" pitchFamily="34" charset="0"/>
            </a:rPr>
            <a:t>Examples: Eurobond market, global stock exchange</a:t>
          </a:r>
        </a:p>
      </dsp:txBody>
      <dsp:txXfrm>
        <a:off x="4296383" y="2364370"/>
        <a:ext cx="6001089" cy="871243"/>
      </dsp:txXfrm>
    </dsp:sp>
    <dsp:sp modelId="{3234860B-3D72-447E-BA19-76729365B404}">
      <dsp:nvSpPr>
        <dsp:cNvPr id="0" name=""/>
        <dsp:cNvSpPr/>
      </dsp:nvSpPr>
      <dsp:spPr>
        <a:xfrm>
          <a:off x="5243" y="2295686"/>
          <a:ext cx="4291140" cy="1008611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International Capital Market</a:t>
          </a:r>
        </a:p>
      </dsp:txBody>
      <dsp:txXfrm>
        <a:off x="54479" y="2344922"/>
        <a:ext cx="4192668" cy="910139"/>
      </dsp:txXfrm>
    </dsp:sp>
    <dsp:sp modelId="{3E3EE05C-862C-4D3C-92E2-55C3BBB99A4A}">
      <dsp:nvSpPr>
        <dsp:cNvPr id="0" name=""/>
        <dsp:cNvSpPr/>
      </dsp:nvSpPr>
      <dsp:spPr>
        <a:xfrm>
          <a:off x="4295335" y="3481682"/>
          <a:ext cx="6443002" cy="1008611"/>
        </a:xfrm>
        <a:prstGeom prst="rightArrow">
          <a:avLst>
            <a:gd name="adj1" fmla="val 75000"/>
            <a:gd name="adj2" fmla="val 50000"/>
          </a:avLst>
        </a:prstGeom>
        <a:solidFill>
          <a:schemeClr val="bg1"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>
              <a:latin typeface="Arial" panose="020B0604020202020204" pitchFamily="34" charset="0"/>
              <a:cs typeface="Arial" panose="020B0604020202020204" pitchFamily="34" charset="0"/>
            </a:rPr>
            <a:t>Hedging and speculation on future price movements</a:t>
          </a:r>
        </a:p>
        <a:p>
          <a:pPr marL="171450" lvl="1" indent="-171450" algn="l" defTabSz="84455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>
              <a:latin typeface="Arial" panose="020B0604020202020204" pitchFamily="34" charset="0"/>
              <a:cs typeface="Arial" panose="020B0604020202020204" pitchFamily="34" charset="0"/>
            </a:rPr>
            <a:t>Examples: Future, swaps, options  </a:t>
          </a:r>
        </a:p>
      </dsp:txBody>
      <dsp:txXfrm>
        <a:off x="4295335" y="3607758"/>
        <a:ext cx="6064773" cy="756459"/>
      </dsp:txXfrm>
    </dsp:sp>
    <dsp:sp modelId="{A7619873-5A7E-45E8-B5B4-E03AD49F78C9}">
      <dsp:nvSpPr>
        <dsp:cNvPr id="0" name=""/>
        <dsp:cNvSpPr/>
      </dsp:nvSpPr>
      <dsp:spPr>
        <a:xfrm>
          <a:off x="0" y="3481682"/>
          <a:ext cx="4295335" cy="1008611"/>
        </a:xfrm>
        <a:prstGeom prst="round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Derivatives market </a:t>
          </a:r>
        </a:p>
      </dsp:txBody>
      <dsp:txXfrm>
        <a:off x="49236" y="3530918"/>
        <a:ext cx="4196863" cy="910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0C0EA-C8BD-49C9-9C46-A8CD2E88D28C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B5F06-7D63-4BA8-9B97-4EE8D78C3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4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B5F06-7D63-4BA8-9B97-4EE8D78C33D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2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B5F06-7D63-4BA8-9B97-4EE8D78C33D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067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96C1-6818-4BD3-A908-57FC4B8C8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4E563-ED2E-4F59-AA93-E82DC2CA0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43534-64B5-4C6A-85E3-BFDDAB54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BD179-2711-447E-8655-3BD8FADFAD57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022C6-B7F5-4046-A0B6-3DA6932C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E89A-06B6-4808-8144-5B982DD7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2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30EFC-3291-4B01-89F7-F03FF603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893A-EEF0-4995-B572-B6BE1B8D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A7C9E-B401-40E1-97BA-9F3B8956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4B8A-57FB-44A0-911B-F981738DBDE9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9CE0D-74B7-4F76-80BB-DE2F0589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D3F04-4C16-4534-BB84-9E8044F2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DD182-70D3-4044-A671-40B11B89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4FB95-63DE-4886-A2F2-CA4510A4B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A4367-20EB-4455-A4A5-2B721E41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20BB-A323-4004-BD16-27E98A7B29DE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0090-4415-478D-994F-CD3719ED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FE0E5-DE67-47C4-BF8A-41FB570D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93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D97C-C9E3-4CA2-8BF8-D93E5374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59B1C-D4EC-4E74-98CB-A3140FFC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DAE4E-CC38-4B9F-8F1E-7FD3C333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CCF11-57BA-470B-944B-68B796FA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6462-AE92-4E27-862E-EEEA0684B5C6}" type="datetime1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A846-4131-40F0-AC1C-4E1E281A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51070-2593-4BC0-AF89-606E3C11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5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BCD6-4CC5-49EF-BB72-B48F13EA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5846A-0135-4533-9586-C3BD3E11C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5446E-24E6-48E1-BB2D-CF642948E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C18FB-A000-4626-A86C-EF68FCA14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C8AC1-093F-4710-BBE4-7D369AAB5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C3EF7-15C8-4670-A3D5-B446F7AC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5F5E-F594-4015-B868-B24C0423A22D}" type="datetime1">
              <a:rPr lang="en-IN" smtClean="0"/>
              <a:t>22-10-2025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B8CBC-E5AA-4CF8-AB26-5FAE676B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BBD29-266E-463C-8CA6-ADB275A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4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8E4A-1090-4BDA-99F2-65A3E045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60A4F-4F84-4114-9328-D1FA1401C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E324-97F8-4325-8E50-85E9C0271C69}" type="datetime1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BF9A0-5BAE-4E03-BA55-8B65D4A9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9654D-E82B-4CB8-946E-9A45CA44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7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F6447-B0E4-43CB-8D8D-543327A6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BE5F8-A426-45A9-9DD0-CF8F2C5C8832}" type="datetime1">
              <a:rPr lang="en-IN" smtClean="0"/>
              <a:t>22-10-2025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A3766-1F91-4AFC-BE1D-4BAE294A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66BC-646A-4EFE-8266-69C48EE9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47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C69D-472F-4B78-B366-87ED4701C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2E277-CEF6-4690-A03D-BAA4425D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3E8A2-CB3E-473E-B588-6D4D0F881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A8293-5A5C-454A-85F6-2357CA35C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99D8-0E3C-4195-A8F5-BE44F0231050}" type="datetime1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560C5-6FDD-4F2D-BDE1-EB6F6E45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843E1-6C4A-443C-9D3B-8923DEE4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3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86D1-2015-46E2-96CD-12A7A111D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D34AD-3DE0-493F-AF3A-DDA31F084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88F5C-187B-4904-94C5-175E75F5D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D4A7D-7835-4961-B737-F65928DC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92DF-833F-43C7-B672-55515B6146A1}" type="datetime1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C846A-449C-4C4C-9B24-72C83BC6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57A82-D687-4925-A27B-FD174A2E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50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C4F2-0590-44ED-AAB4-13B826CD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BA761-F45C-439D-BE2B-56CD69065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8F9AA-3546-4376-BB7A-D36C2893F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185B-9314-4578-998B-20D35898F8DC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960B-4906-4AFF-B95F-765B6FD7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0703B-E885-494A-8CDB-5586EFFD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9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B487D-9EDE-42BC-B421-EE1A84FFD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FF042-453E-41FB-BFA9-659F3A524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F193A-7385-4230-B6EA-1256368A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162D5-02EF-4E55-93CB-D7801A6CF433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21CC-D690-480E-9142-B3A7CC44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AA346-A26A-4FAC-B838-E1F1FA91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24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9E5B0-B951-415A-B1A3-9EDB8D71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AC724-585E-45C9-83E5-47983DFC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906A-C201-4787-8DB5-F62A600DF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F9034-45B1-4727-9CB4-8F64459BCB61}" type="datetime1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820C-C0C2-451C-989C-DCDDE52D9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68A8-2D3A-4829-B1E4-B6AE2C225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5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F455-BC79-E0BD-A932-4AAC82B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9815" y="-606818"/>
            <a:ext cx="7784123" cy="19159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International Financial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8BDD4-5999-D88C-CDA9-369D927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562" y="3511293"/>
            <a:ext cx="9144000" cy="2864545"/>
          </a:xfrm>
        </p:spPr>
        <p:txBody>
          <a:bodyPr>
            <a:normAutofit/>
          </a:bodyPr>
          <a:lstStyle/>
          <a:p>
            <a:r>
              <a:rPr lang="en-IN" dirty="0"/>
              <a:t> Financial Management(HS4L003)</a:t>
            </a:r>
          </a:p>
          <a:p>
            <a:r>
              <a:rPr lang="en-IN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&amp; Management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11643E-496F-6C24-52CF-26048AD81153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30A92-D783-6F7E-FFC5-F3C3B0C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92813-3586-95C9-052B-17747221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877" y="1391425"/>
            <a:ext cx="2139370" cy="203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2486D-5262-FD54-7193-F97D77F1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E2EBE-CFFF-BF78-BE26-FEF4EB3A8A46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B723D-350B-4D10-C54B-7E954E193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B5D2F6-9F20-DCE1-72E2-6F221F1338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9939" y="1110956"/>
            <a:ext cx="10328030" cy="4395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Understand the international monetary system and its evolution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Explain the functioning of international financial markets and institutions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Evaluate international sources of finance for multinational operations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Analyze exchange rate and country risks affecting global business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Apply risk management strategies to manage currency, interest, and political risks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Understand international taxation and transfer pricing principles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Calculate and interpret the cost of capital in both domestic and international contexts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Arial" panose="020B0604020202020204" pitchFamily="34" charset="0"/>
              </a:rPr>
              <a:t>Make informed financial decisions for multinational corporations</a:t>
            </a:r>
            <a:endParaRPr kumimoji="0" lang="en-US" altLang="en-US" sz="2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611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2B7922-FF4E-4901-9FEB-6C310D1C3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693370"/>
            <a:ext cx="10328031" cy="5423144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International Financial Management (IFM) deals with the management of finance in a multinational environment, where business operations span across borders.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It is the extension of domestic financial management, but with added complexities due to:</a:t>
            </a:r>
          </a:p>
          <a:p>
            <a:pPr marL="342900" indent="-3429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Different currencies</a:t>
            </a:r>
          </a:p>
          <a:p>
            <a:pPr marL="342900" indent="-3429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Multiple tax systems</a:t>
            </a:r>
          </a:p>
          <a:p>
            <a:pPr marL="342900" indent="-3429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Political and economic risks</a:t>
            </a:r>
          </a:p>
          <a:p>
            <a:pPr marL="342900" indent="-3429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Varying interest and inflation rates</a:t>
            </a:r>
          </a:p>
          <a:p>
            <a:pPr marL="342900" indent="-3429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Distinct financial markets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IFM = Domestic Financial Management + Foreign Exchange + Political Risk + Cross-border Regulations + Global Capital Markets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7BA649-F677-6CCD-20FD-994910E322B7}"/>
              </a:ext>
            </a:extLst>
          </p:cNvPr>
          <p:cNvSpPr/>
          <p:nvPr/>
        </p:nvSpPr>
        <p:spPr>
          <a:xfrm>
            <a:off x="679937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Financial Management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0452DF-1D39-AA1B-1E0E-EB58B9C5D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5A395A-6066-9C8A-302A-E77BBDA2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09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99E0-B4AD-04A6-3C75-B1B717FB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563E4F-8D96-6729-28ED-2D853E01955B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of International Financial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F16E8-6FC5-1A6F-D297-46C7B003A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8E1E66-B032-4D31-14D3-A85D148C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4</a:t>
            </a:fld>
            <a:endParaRPr lang="en-IN"/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4EF49AA8-8C72-E4C6-B0F3-3FEBECDF19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199" y="977948"/>
            <a:ext cx="1016976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Wealth maximisation in global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erms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Optimise global capital structure to maximise overall shareholder value.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Efficient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tilisation of financial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esources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Allocate funds where the return is highest and risk is lowest worldwide.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Managing exchange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ate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f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luctuations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 the firm’s profits from currency volatility.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Managing international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isks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Political, credit, and country risks must be mitigated.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Ensuring liquidity and cash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f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low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fficiency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global liquidity across subsidiaries and branches.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Compliance with international </a:t>
            </a:r>
            <a:r>
              <a:rPr lang="en-US" altLang="en-US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aws and regulations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host-country laws, tax policies, and accounting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8CA2-B245-CF07-EBB8-CBDCDC6E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FB551F-7828-B34A-2962-E0D5A5AE8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843B7-7293-9099-440E-BC99E438A78E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Global Financial Environment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1ED594-CDB7-CA9A-32F4-04B551D2A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11FEC-D01B-80E4-A146-54E9D065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483CB-C428-B807-8DB3-5BC900165C6E}"/>
              </a:ext>
            </a:extLst>
          </p:cNvPr>
          <p:cNvSpPr txBox="1"/>
          <p:nvPr/>
        </p:nvSpPr>
        <p:spPr>
          <a:xfrm>
            <a:off x="679936" y="857123"/>
            <a:ext cx="10328032" cy="100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international financial environment includes the framework, institutions, and markets within which firms operate.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C38749E-E1A9-C387-F831-53D83A8D7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315332"/>
              </p:ext>
            </p:extLst>
          </p:nvPr>
        </p:nvGraphicFramePr>
        <p:xfrm>
          <a:off x="844060" y="2165233"/>
          <a:ext cx="10163908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464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5FF18-8F91-E678-3F48-4C98A1BDB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83EC89-30C5-F329-D67F-F6A393D21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1440060"/>
            <a:ext cx="10328031" cy="491629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B8AA8C-76C3-0DB6-1CED-F19452C9B6EE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Monetary System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ED1E1-0AB9-319B-1519-C0721E87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BF22B4-1321-D0D4-78F3-424DBBAA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E1111-D5E0-2389-372A-F90626D72EE5}"/>
              </a:ext>
            </a:extLst>
          </p:cNvPr>
          <p:cNvSpPr txBox="1"/>
          <p:nvPr/>
        </p:nvSpPr>
        <p:spPr>
          <a:xfrm>
            <a:off x="679936" y="755557"/>
            <a:ext cx="1032803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1A4A55-7B01-0651-AAAE-754AA474EDC6}"/>
              </a:ext>
            </a:extLst>
          </p:cNvPr>
          <p:cNvSpPr txBox="1"/>
          <p:nvPr/>
        </p:nvSpPr>
        <p:spPr>
          <a:xfrm>
            <a:off x="679935" y="859241"/>
            <a:ext cx="10410091" cy="100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system that determines how countries value their currencies, conduct exchange rate policies, and settle international payments.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E9211FC-9414-3981-E286-AABBB2C909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5216592"/>
              </p:ext>
            </p:extLst>
          </p:nvPr>
        </p:nvGraphicFramePr>
        <p:xfrm>
          <a:off x="515812" y="2024266"/>
          <a:ext cx="11430003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13864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2FEB7-6CDA-356E-14B0-532D131D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6D1D71-5F24-FC74-54B2-9FCC72488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644D7-41AA-0919-3FAD-6EFB10F3C8D8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Financial Market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388FB5-AC29-E265-1D82-C734C090E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B9A70A-266F-BD90-5E67-B232C91F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7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DFA2E2-744D-1786-5B82-D9527DD6B406}"/>
              </a:ext>
            </a:extLst>
          </p:cNvPr>
          <p:cNvSpPr txBox="1"/>
          <p:nvPr/>
        </p:nvSpPr>
        <p:spPr>
          <a:xfrm>
            <a:off x="767859" y="724962"/>
            <a:ext cx="10152186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F6940-F041-B94F-EA33-18B5E9018BC0}"/>
              </a:ext>
            </a:extLst>
          </p:cNvPr>
          <p:cNvSpPr txBox="1"/>
          <p:nvPr/>
        </p:nvSpPr>
        <p:spPr>
          <a:xfrm>
            <a:off x="679935" y="858331"/>
            <a:ext cx="10328031" cy="100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Markets that facilitate borrowing, lending, and trading of financial assets across countries.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8248933-C6E7-2A46-BC3C-9F86519FBB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3447425"/>
              </p:ext>
            </p:extLst>
          </p:nvPr>
        </p:nvGraphicFramePr>
        <p:xfrm>
          <a:off x="726831" y="1865838"/>
          <a:ext cx="10738338" cy="4490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2843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19AD-6EFB-E5E8-0DE5-1AAB163F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FE8A7F-4DDD-7C03-E5E1-646A74AC8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411C9E-0C9D-8EA7-12F3-1A2F13A1C0D5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of the Multinational Corporation(MNC)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1027D-677C-759D-081F-4BA1022A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54B83-D421-29BF-D3E2-A4500D4F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06CBF-A35D-4205-FAA0-8BD5256C4E1D}"/>
              </a:ext>
            </a:extLst>
          </p:cNvPr>
          <p:cNvSpPr txBox="1"/>
          <p:nvPr/>
        </p:nvSpPr>
        <p:spPr>
          <a:xfrm>
            <a:off x="738551" y="826430"/>
            <a:ext cx="10210801" cy="633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Multinational Corporation operates in multiple countries, with a home base and foreign subsidiaries.</a:t>
            </a:r>
          </a:p>
          <a:p>
            <a:pPr algn="just">
              <a:lnSpc>
                <a:spcPct val="150000"/>
              </a:lnSpc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face challenges like: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Transfer pricing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Repatriation of profits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Exchange rate exposure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Political restrictions</a:t>
            </a:r>
          </a:p>
          <a:p>
            <a:pPr algn="just">
              <a:lnSpc>
                <a:spcPct val="15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MNCs like Tata Group, Toyota, Apple, and Unilever manage global finances through: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Centralized treasury systems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Global cash pooling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Foreign exchange risk management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International tax planning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94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28B25-AAA2-2C09-E5EE-AFD90E02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69E40E-4713-D0F1-26BD-CAE7E86A8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2D9F53-4BB5-1B56-2A3F-3F74931C8A7B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of International Financial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A18CC9-7BC5-2CB2-2D5D-375AC4796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B63B2-9215-0C5A-D7F8-3C67AFD1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9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ECAC19-FEA6-A53C-C04B-5E91292015F6}"/>
              </a:ext>
            </a:extLst>
          </p:cNvPr>
          <p:cNvSpPr txBox="1"/>
          <p:nvPr/>
        </p:nvSpPr>
        <p:spPr>
          <a:xfrm>
            <a:off x="679937" y="933206"/>
            <a:ext cx="10328030" cy="5849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Investment Decisions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– Choosing profitable global investment opportunities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Financing Decisions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Selecting suitable international sources of funds (equity, debt)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 Rate Management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Managing currency fluctuations and forex risk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Management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Hedging against political, economic, and currency risks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 Repatriation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Managing transfer of earnings from foreign subsidiaries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Capital Management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Managing cash, inventory, and receivables globally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 Planning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Minimizing global tax liabilities through efficient structuring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 Planning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Minimizing global tax liabilities through efficient structuring</a:t>
            </a:r>
          </a:p>
          <a:p>
            <a:pPr>
              <a:lnSpc>
                <a:spcPct val="150000"/>
              </a:lnSpc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5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48AA-FEC7-D90A-5FAD-A8FE5C4C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A91AE9-6AF5-404B-479F-CDB2A9FD9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8" y="1173042"/>
            <a:ext cx="10328031" cy="4655783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Foreign Exchange Market (Forex) enables conversion of one currency into another.</a:t>
            </a:r>
          </a:p>
          <a:p>
            <a:pPr algn="l">
              <a:lnSpc>
                <a:spcPct val="160000"/>
              </a:lnSpc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Exchange Rates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Spot Rate: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Immediate exchange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Forward Rate: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Future exchange agreement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Nominal vs. Real Exchange Rate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Fixed, Floating, and Managed Float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1005E8-4AB5-0096-A6A0-D1DC54F2CCD4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 Rate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4C3755-FC73-813C-0AEC-FD48ED2E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E388BB-17D3-49FD-335A-52CEFAA1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3B09D-59E3-D4A0-BBDA-E95002158C5C}"/>
              </a:ext>
            </a:extLst>
          </p:cNvPr>
          <p:cNvSpPr txBox="1"/>
          <p:nvPr/>
        </p:nvSpPr>
        <p:spPr>
          <a:xfrm>
            <a:off x="852853" y="1173042"/>
            <a:ext cx="10328031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407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ADE3E-21A1-E110-45E2-04130DCD8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E880F9-5560-50DA-62EC-0501FBC90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723899"/>
            <a:ext cx="10328031" cy="5997576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Determinants of Exchange Rates: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Inflation differentials 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Speculation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Government intervention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Interest rate differentials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Balance of payments</a:t>
            </a:r>
          </a:p>
          <a:p>
            <a:pPr algn="just">
              <a:lnSpc>
                <a:spcPct val="160000"/>
              </a:lnSpc>
            </a:pP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BB3108-72EC-71E2-EBB5-3512ED13939A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 Rate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B254C-7A0D-429F-1A89-56AE7DE4A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30976-7605-44B5-A71C-0E304475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588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83AF4-940B-73F0-F1E9-700D78FA2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EC78C5-65E1-F986-B5E8-8E8667622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DA127-2020-97FE-4DCD-7BE911A2849F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 Rate Exposure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337D51-4B6C-6E91-4956-4344C8F5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ECCF6E-7A2A-4C38-CA89-B6061BB1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12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40728-E22F-D489-F2EA-9C3D8660487B}"/>
              </a:ext>
            </a:extLst>
          </p:cNvPr>
          <p:cNvSpPr txBox="1"/>
          <p:nvPr/>
        </p:nvSpPr>
        <p:spPr>
          <a:xfrm>
            <a:off x="679937" y="933206"/>
            <a:ext cx="10328031" cy="88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03F38-52B2-E882-DC67-6ACB8A049BED}"/>
              </a:ext>
            </a:extLst>
          </p:cNvPr>
          <p:cNvSpPr txBox="1"/>
          <p:nvPr/>
        </p:nvSpPr>
        <p:spPr>
          <a:xfrm>
            <a:off x="679936" y="815975"/>
            <a:ext cx="10328031" cy="6429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Exchange rate exposure arises when changes in currency values affect the profits, cash flows, or value of a multinational company.</a:t>
            </a:r>
          </a:p>
          <a:p>
            <a:pPr algn="just">
              <a:lnSpc>
                <a:spcPct val="200000"/>
              </a:lnSpc>
            </a:pP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Exchange Rate Exposure: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Transaction Exposure: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Impact of currency fluctuations on import/export payments or receipts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Translation Exposure: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Effect of converting foreign subsidiaries’ financial statements into the parent company’s currency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Economic Exposure: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Long-term impact of exchange rate changes on a firm’s market value and competitive position</a:t>
            </a:r>
          </a:p>
          <a:p>
            <a:pPr algn="just">
              <a:lnSpc>
                <a:spcPct val="2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89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92A6A-C82D-F562-2AFF-9D8E4284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DE7CF3-19C9-3D12-779E-E0336B48B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9C521E-CB36-83BA-0B68-06F67E94C5FC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 Rate Exposure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18579F-42F8-F651-069C-8DCD2D86D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EBEAB7-505A-EC45-9765-0F15B0DF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13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DEFB8-236B-3847-EEF7-B9139F40194C}"/>
              </a:ext>
            </a:extLst>
          </p:cNvPr>
          <p:cNvSpPr txBox="1"/>
          <p:nvPr/>
        </p:nvSpPr>
        <p:spPr>
          <a:xfrm>
            <a:off x="679937" y="933206"/>
            <a:ext cx="10328031" cy="88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0103E-1531-6B83-54FE-D28BB92CAF86}"/>
              </a:ext>
            </a:extLst>
          </p:cNvPr>
          <p:cNvSpPr txBox="1"/>
          <p:nvPr/>
        </p:nvSpPr>
        <p:spPr>
          <a:xfrm>
            <a:off x="679936" y="933206"/>
            <a:ext cx="10442863" cy="5849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Strategies for Exchange Rate Exposure: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Financial Hedging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– Use forward contracts, futures, options, and currency swaps to lock rates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Operational Strategies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– Match revenues and costs in the same currency, diversify markets and production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Financial Structuring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– Borrow in foreign currency, adjust payment timing (leading/lagging)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Strategic Decisions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– Consider currency stability in investments and include currency clauses in contracts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– Track exchange rates and exposure continuously to support decision-making</a:t>
            </a:r>
          </a:p>
          <a:p>
            <a:pPr>
              <a:lnSpc>
                <a:spcPct val="150000"/>
              </a:lnSpc>
            </a:pP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34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D7940-656F-5956-EEB3-248887B1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BDC406-D691-5B59-5532-250D8F7BD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613AE3-0AD4-0ED3-7CF8-D05992137669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Management in IFM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7CBA1-DE93-067A-7EBA-9354E01E2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093B1-EF61-62D6-D2FF-33B0BA99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BC0B0-8871-4BEB-196C-D2B8CAF9CBA8}"/>
              </a:ext>
            </a:extLst>
          </p:cNvPr>
          <p:cNvSpPr txBox="1"/>
          <p:nvPr/>
        </p:nvSpPr>
        <p:spPr>
          <a:xfrm>
            <a:off x="565104" y="933206"/>
            <a:ext cx="1044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7FD2A-5F53-1705-2E11-36990D13595F}"/>
              </a:ext>
            </a:extLst>
          </p:cNvPr>
          <p:cNvSpPr txBox="1"/>
          <p:nvPr/>
        </p:nvSpPr>
        <p:spPr>
          <a:xfrm>
            <a:off x="679937" y="974685"/>
            <a:ext cx="10328030" cy="5849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Exchange Rate Risk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Currency fluctuations managed with forwards, futures, and swaps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 Rate Risk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Changes in global rates managed using interest rate hedges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Political Risk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Policy changes or instability managed with insurance and diversification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 Risk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Economic or default risks managed by evaluating country credit and diversifying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 Risk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Risk of foreign partners defaulting managed with letters of credit and guarantees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Liquidity Risk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Difficulty in fund transfer managed through global cash pooling and liquid reserves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949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8049B-E4EA-25B3-117F-9E655E00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3F5F2C-171A-91F3-47F2-D9869DE35B6C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Working Capital Management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C7B371-D7A9-5F11-7290-B1DEEC60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E08FA-4D06-32DC-9115-382DB2A3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BAD0D-FB4A-9D01-5B8C-C180C420EEE2}"/>
              </a:ext>
            </a:extLst>
          </p:cNvPr>
          <p:cNvSpPr txBox="1"/>
          <p:nvPr/>
        </p:nvSpPr>
        <p:spPr>
          <a:xfrm>
            <a:off x="679936" y="501650"/>
            <a:ext cx="10328031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2FFD3CA1-0BED-5403-19E9-FFA20690D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4" y="779770"/>
            <a:ext cx="10328030" cy="592479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involves managing short-term assets and liabilities globally.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Cash Management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Multicurrency accounts, netting, and pooling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Receivables Management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Credit evaluation of foreign buyers, use of LC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Inventory Management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Lead time, customs delays, warehousing abroad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Payables Management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Managing payment schedules across countries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Netting: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Offset receivables/payables within subsidiaries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Pooling: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Combine global cash balances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Leading and Lagging: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Adjust timing of payments to benefit from exchange trends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199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C131-1B0D-5EC2-D646-E1CCB496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905D71-EAA6-A76B-D556-1CBB503EF995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Sources of Finance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3F9FAD-81AB-6C44-772F-11EB61FB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EBB15E-B607-33E3-A1DA-4FF51106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4BF02-741D-E611-7CFC-00B3EDF6E829}"/>
              </a:ext>
            </a:extLst>
          </p:cNvPr>
          <p:cNvSpPr txBox="1"/>
          <p:nvPr/>
        </p:nvSpPr>
        <p:spPr>
          <a:xfrm>
            <a:off x="679936" y="501650"/>
            <a:ext cx="10328031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B068411F-28BB-E716-7526-1A97D2487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6" y="1251562"/>
            <a:ext cx="9144000" cy="5104787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14CF7-B499-EA6F-6306-AC0ADAEC33E2}"/>
              </a:ext>
            </a:extLst>
          </p:cNvPr>
          <p:cNvSpPr txBox="1"/>
          <p:nvPr/>
        </p:nvSpPr>
        <p:spPr>
          <a:xfrm>
            <a:off x="743068" y="874551"/>
            <a:ext cx="10264899" cy="5364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Eurocurrency Market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Deposits and loans in a currency outside its home country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Eurobond Market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Bonds issued in international markets in foreign currencies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Depository Receipts and American Depository Receipts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Allows foreign investors to buy shares of a company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Foreign Direct Investment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Investment in establishing or acquiring operations abroad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Commercial Borrowings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Loans from foreign banks or financial institutions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Multilateral Agencies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Funding from organizations like the International Monetary Fund, World Bank, and Asian Development Bank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13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4455-E396-799D-B491-A519B968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C6D680-85BD-A979-30F2-6D872EDA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050F5-5CFC-8FC5-EAB8-8497CED28BB5}"/>
              </a:ext>
            </a:extLst>
          </p:cNvPr>
          <p:cNvSpPr txBox="1"/>
          <p:nvPr/>
        </p:nvSpPr>
        <p:spPr>
          <a:xfrm>
            <a:off x="679936" y="501650"/>
            <a:ext cx="10328031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C97DAD5-DF3D-B92C-B244-449CFA68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1566" y="1182812"/>
            <a:ext cx="9144000" cy="5104787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How can an Indian company decide if investing in a plant in the US is profitable?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58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3D9B-D4F7-3910-D0E1-010AADE4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E9C97E-A654-4555-401E-04898EC6E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347346-4550-2103-A57A-961905367484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Taxation and Transfer Pricing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E5A2A3-A294-8AC9-1D13-BBF2ED7B6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E81BDE-7B58-9B76-8488-A7253701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3613F-CCF3-170A-5913-12DF40A9E927}"/>
              </a:ext>
            </a:extLst>
          </p:cNvPr>
          <p:cNvSpPr txBox="1"/>
          <p:nvPr/>
        </p:nvSpPr>
        <p:spPr>
          <a:xfrm>
            <a:off x="565104" y="933206"/>
            <a:ext cx="1044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22B74-7B99-22A5-959B-0FD8D5FFDD94}"/>
              </a:ext>
            </a:extLst>
          </p:cNvPr>
          <p:cNvSpPr txBox="1"/>
          <p:nvPr/>
        </p:nvSpPr>
        <p:spPr>
          <a:xfrm>
            <a:off x="679936" y="1063431"/>
            <a:ext cx="10328031" cy="5162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International Tax Issues:</a:t>
            </a:r>
            <a:endParaRPr lang="en-US" sz="21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Double Taxation: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Income may be taxed in both the home country and the host country; this is avoided through Double Taxation Avoidance Agreements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Tax Havens: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Countries with very low or zero taxes are sometimes used for strategic profit allocation, for example, the Cayman Islands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Withholding Taxes: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Taxes deducted at source on payments such as dividends, interest, and royalties to foreign entities</a:t>
            </a:r>
          </a:p>
          <a:p>
            <a:pPr algn="just">
              <a:lnSpc>
                <a:spcPct val="200000"/>
              </a:lnSpc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180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D4EE-B69E-40B9-8153-8423E749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CC53E9-0F9E-54F1-B710-2EABA062C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5048E-B203-D534-D95A-D8B9DE4B0432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Taxation and Transfer Pricing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AC5A6F-D5C1-8151-7392-465F31F0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B5E26-C15A-E7A3-0692-34D88F3D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0A67C-ACD7-F652-4F02-6503C648AB66}"/>
              </a:ext>
            </a:extLst>
          </p:cNvPr>
          <p:cNvSpPr txBox="1"/>
          <p:nvPr/>
        </p:nvSpPr>
        <p:spPr>
          <a:xfrm>
            <a:off x="565104" y="933206"/>
            <a:ext cx="1044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75EC7-EEBE-FA8A-31C2-9238AAF2D46A}"/>
              </a:ext>
            </a:extLst>
          </p:cNvPr>
          <p:cNvSpPr txBox="1"/>
          <p:nvPr/>
        </p:nvSpPr>
        <p:spPr>
          <a:xfrm>
            <a:off x="679937" y="759596"/>
            <a:ext cx="10328031" cy="3870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Transfer Pricing:</a:t>
            </a:r>
            <a:endParaRPr lang="en-US" sz="21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 price charged for goods, services, or intangible assets between related entities in different countries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Used to allocate profits strategically among subsidiaries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Must comply with guidelines from the Organisation for Economic Co-operation and Development and local tax regulations</a:t>
            </a:r>
          </a:p>
        </p:txBody>
      </p:sp>
    </p:spTree>
    <p:extLst>
      <p:ext uri="{BB962C8B-B14F-4D97-AF65-F5344CB8AC3E}">
        <p14:creationId xmlns:p14="http://schemas.microsoft.com/office/powerpoint/2010/main" val="3128736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2AA2-0970-B52F-4B29-6D60481B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A6A0DB-0498-289B-4EB7-35DD224CF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6B43BF-BA24-A7C3-F213-A7ECF84F08A9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of Capital in International Context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740844-B5E0-3D3A-4449-76B1FEB0B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1C01B9-3F0F-119E-3823-201BEEA9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20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B207-1992-120D-4735-A8A94AA7D7BE}"/>
              </a:ext>
            </a:extLst>
          </p:cNvPr>
          <p:cNvSpPr txBox="1"/>
          <p:nvPr/>
        </p:nvSpPr>
        <p:spPr>
          <a:xfrm>
            <a:off x="565104" y="933206"/>
            <a:ext cx="1044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EA423-21E6-13B3-EDCF-739859A2ECAD}"/>
              </a:ext>
            </a:extLst>
          </p:cNvPr>
          <p:cNvSpPr txBox="1"/>
          <p:nvPr/>
        </p:nvSpPr>
        <p:spPr>
          <a:xfrm>
            <a:off x="737352" y="873374"/>
            <a:ext cx="10328031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Variation Across Countries</a:t>
            </a:r>
            <a:endParaRPr 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cost of capital varies due to differences in risk-free interest rates, inflation levels, and country-specific risk premiums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instance, borrowing in a stable economy may be cheaper than in a high-risk country</a:t>
            </a:r>
          </a:p>
          <a:p>
            <a:pPr>
              <a:lnSpc>
                <a:spcPct val="150000"/>
              </a:lnSpc>
              <a:buFont typeface="+mj-lt"/>
              <a:buAutoNum type="arabicPeriod" startAt="2"/>
            </a:pP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Diversification Benefits for Multinational Corporations</a:t>
            </a:r>
            <a:endParaRPr 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Operating in multiple countries helps firms spread risk, which can lower the overall cost of capital compared to a domestic-only firm</a:t>
            </a:r>
          </a:p>
          <a:p>
            <a:pPr>
              <a:lnSpc>
                <a:spcPct val="150000"/>
              </a:lnSpc>
              <a:buFont typeface="+mj-lt"/>
              <a:buAutoNum type="arabicPeriod" startAt="3"/>
            </a:pP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Weighted Average Cost of Capital (GWACC)</a:t>
            </a:r>
            <a:endParaRPr 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Combines the cost of equity and debt from all countries where the company operates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Ensures consistent evaluation of international projects, accounting for currency, political, and economic risks</a:t>
            </a:r>
          </a:p>
        </p:txBody>
      </p:sp>
    </p:spTree>
    <p:extLst>
      <p:ext uri="{BB962C8B-B14F-4D97-AF65-F5344CB8AC3E}">
        <p14:creationId xmlns:p14="http://schemas.microsoft.com/office/powerpoint/2010/main" val="4048852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DEF2A-4033-F123-1578-F893FEBE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691B40-7B60-53E3-07D1-22FAF191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6146C2-65B6-2A70-C8E6-F81C6FA78674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Trends in International Financial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80F681-4906-2F8A-952D-13E5699A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29DF38-F867-FCD8-B171-487C4BC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C6DA3-7548-428F-3A8E-A7857DD2D6C5}"/>
              </a:ext>
            </a:extLst>
          </p:cNvPr>
          <p:cNvSpPr txBox="1"/>
          <p:nvPr/>
        </p:nvSpPr>
        <p:spPr>
          <a:xfrm>
            <a:off x="565104" y="933206"/>
            <a:ext cx="1044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73CDA-D30E-726D-C2DE-5F09D35BDA38}"/>
              </a:ext>
            </a:extLst>
          </p:cNvPr>
          <p:cNvSpPr txBox="1"/>
          <p:nvPr/>
        </p:nvSpPr>
        <p:spPr>
          <a:xfrm>
            <a:off x="679937" y="1044868"/>
            <a:ext cx="10328031" cy="487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Currency and Fintech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Blockchain and digital currencies make cross-border payments faster and safer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Sustainability and ESG Financing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Growing use of green bonds and climate funds; focus on responsible investing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Tax Reforms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OECD’s global minimum corporate tax ensures fair taxation worldwide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 in Supply Chains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“China plus One” strategy changing global investment and trade patterns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Rise of Sovereign Wealth Funds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Government-owned funds like Norway and UAE investing globally and shaping markets</a:t>
            </a:r>
          </a:p>
        </p:txBody>
      </p:sp>
    </p:spTree>
    <p:extLst>
      <p:ext uri="{BB962C8B-B14F-4D97-AF65-F5344CB8AC3E}">
        <p14:creationId xmlns:p14="http://schemas.microsoft.com/office/powerpoint/2010/main" val="1040776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2BBBE-2B23-4A43-557B-243638C0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3EB43B-546F-94D3-9D89-8DD2FAC2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42314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Structure Optimization: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Mix of debt and equity globally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 Planning: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Using double taxation treaties efficiently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Liquidity Planning: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Global cash pooling and treasury centralization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Measurement:</a:t>
            </a:r>
            <a:r>
              <a:rPr lang="en-US" sz="2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Adjusting for exchange rates in ROI and ROE</a:t>
            </a: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6C303-F91C-8571-C9AB-163FBFBB5206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Role of IFM in MNCs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222804-5E60-073E-7F15-3C727F93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B2B4F5-A11A-96E3-9CE2-29EC7DDE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EA876-C367-5BC6-F7B3-D519B2AA7738}"/>
              </a:ext>
            </a:extLst>
          </p:cNvPr>
          <p:cNvSpPr txBox="1"/>
          <p:nvPr/>
        </p:nvSpPr>
        <p:spPr>
          <a:xfrm>
            <a:off x="565104" y="933206"/>
            <a:ext cx="10442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38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8930-EFF7-A447-DD1F-0F344BAA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AFF981-C0C6-D06A-A04C-65D406AE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7F128-97AC-E2B9-1726-FF3D972F5746}"/>
              </a:ext>
            </a:extLst>
          </p:cNvPr>
          <p:cNvSpPr txBox="1"/>
          <p:nvPr/>
        </p:nvSpPr>
        <p:spPr>
          <a:xfrm>
            <a:off x="4876798" y="2473570"/>
            <a:ext cx="2614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7785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3446</TotalTime>
  <Words>1522</Words>
  <Application>Microsoft Office PowerPoint</Application>
  <PresentationFormat>Widescreen</PresentationFormat>
  <Paragraphs>201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Office Theme</vt:lpstr>
      <vt:lpstr>International Financial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Subhasmita Parida</dc:creator>
  <cp:lastModifiedBy>alivaparida2024@gmail.com</cp:lastModifiedBy>
  <cp:revision>170</cp:revision>
  <dcterms:created xsi:type="dcterms:W3CDTF">2025-02-09T14:42:55Z</dcterms:created>
  <dcterms:modified xsi:type="dcterms:W3CDTF">2025-10-22T06:22:21Z</dcterms:modified>
</cp:coreProperties>
</file>