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80"/>
  </p:notesMasterIdLst>
  <p:sldIdLst>
    <p:sldId id="395" r:id="rId2"/>
    <p:sldId id="462" r:id="rId3"/>
    <p:sldId id="476" r:id="rId4"/>
    <p:sldId id="511" r:id="rId5"/>
    <p:sldId id="507" r:id="rId6"/>
    <p:sldId id="510" r:id="rId7"/>
    <p:sldId id="478" r:id="rId8"/>
    <p:sldId id="479" r:id="rId9"/>
    <p:sldId id="519" r:id="rId10"/>
    <p:sldId id="477" r:id="rId11"/>
    <p:sldId id="464" r:id="rId12"/>
    <p:sldId id="504" r:id="rId13"/>
    <p:sldId id="463" r:id="rId14"/>
    <p:sldId id="505" r:id="rId15"/>
    <p:sldId id="465" r:id="rId16"/>
    <p:sldId id="457" r:id="rId17"/>
    <p:sldId id="456" r:id="rId18"/>
    <p:sldId id="506" r:id="rId19"/>
    <p:sldId id="460" r:id="rId20"/>
    <p:sldId id="461" r:id="rId21"/>
    <p:sldId id="455" r:id="rId22"/>
    <p:sldId id="454" r:id="rId23"/>
    <p:sldId id="424" r:id="rId24"/>
    <p:sldId id="459" r:id="rId25"/>
    <p:sldId id="458" r:id="rId26"/>
    <p:sldId id="452" r:id="rId27"/>
    <p:sldId id="451" r:id="rId28"/>
    <p:sldId id="425" r:id="rId29"/>
    <p:sldId id="518" r:id="rId30"/>
    <p:sldId id="466" r:id="rId31"/>
    <p:sldId id="482" r:id="rId32"/>
    <p:sldId id="523" r:id="rId33"/>
    <p:sldId id="491" r:id="rId34"/>
    <p:sldId id="484" r:id="rId35"/>
    <p:sldId id="517" r:id="rId36"/>
    <p:sldId id="492" r:id="rId37"/>
    <p:sldId id="493" r:id="rId38"/>
    <p:sldId id="494" r:id="rId39"/>
    <p:sldId id="501" r:id="rId40"/>
    <p:sldId id="502" r:id="rId41"/>
    <p:sldId id="503" r:id="rId42"/>
    <p:sldId id="489" r:id="rId43"/>
    <p:sldId id="499" r:id="rId44"/>
    <p:sldId id="468" r:id="rId45"/>
    <p:sldId id="490" r:id="rId46"/>
    <p:sldId id="470" r:id="rId47"/>
    <p:sldId id="469" r:id="rId48"/>
    <p:sldId id="529" r:id="rId49"/>
    <p:sldId id="500" r:id="rId50"/>
    <p:sldId id="528" r:id="rId51"/>
    <p:sldId id="471" r:id="rId52"/>
    <p:sldId id="472" r:id="rId53"/>
    <p:sldId id="473" r:id="rId54"/>
    <p:sldId id="514" r:id="rId55"/>
    <p:sldId id="527" r:id="rId56"/>
    <p:sldId id="474" r:id="rId57"/>
    <p:sldId id="526" r:id="rId58"/>
    <p:sldId id="475" r:id="rId59"/>
    <p:sldId id="513" r:id="rId60"/>
    <p:sldId id="480" r:id="rId61"/>
    <p:sldId id="481" r:id="rId62"/>
    <p:sldId id="495" r:id="rId63"/>
    <p:sldId id="485" r:id="rId64"/>
    <p:sldId id="486" r:id="rId65"/>
    <p:sldId id="525" r:id="rId66"/>
    <p:sldId id="487" r:id="rId67"/>
    <p:sldId id="488" r:id="rId68"/>
    <p:sldId id="524" r:id="rId69"/>
    <p:sldId id="512" r:id="rId70"/>
    <p:sldId id="426" r:id="rId71"/>
    <p:sldId id="427" r:id="rId72"/>
    <p:sldId id="428" r:id="rId73"/>
    <p:sldId id="522" r:id="rId74"/>
    <p:sldId id="496" r:id="rId75"/>
    <p:sldId id="520" r:id="rId76"/>
    <p:sldId id="498" r:id="rId77"/>
    <p:sldId id="521" r:id="rId78"/>
    <p:sldId id="497" r:id="rId79"/>
  </p:sldIdLst>
  <p:sldSz cx="12192000" cy="6858000"/>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36" autoAdjust="0"/>
    <p:restoredTop sz="90929"/>
  </p:normalViewPr>
  <p:slideViewPr>
    <p:cSldViewPr>
      <p:cViewPr varScale="1">
        <p:scale>
          <a:sx n="77" d="100"/>
          <a:sy n="77" d="100"/>
        </p:scale>
        <p:origin x="706"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8F740C-386A-43C8-A194-561FE28FF5BF}"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0AB1308D-3558-415C-916E-17B163D61B2C}">
      <dgm:prSet custT="1"/>
      <dgm:spPr/>
      <dgm:t>
        <a:bodyPr/>
        <a:lstStyle/>
        <a:p>
          <a:r>
            <a:rPr lang="en-US" sz="2000" dirty="0"/>
            <a:t>Holding Period Returns</a:t>
          </a:r>
        </a:p>
      </dgm:t>
    </dgm:pt>
    <dgm:pt modelId="{89A34352-1F4A-45A9-A489-5FF7D934774A}" type="parTrans" cxnId="{737EEF9A-8F16-46AE-8C98-6095E7FF954B}">
      <dgm:prSet/>
      <dgm:spPr/>
      <dgm:t>
        <a:bodyPr/>
        <a:lstStyle/>
        <a:p>
          <a:endParaRPr lang="en-US"/>
        </a:p>
      </dgm:t>
    </dgm:pt>
    <dgm:pt modelId="{7FABC1E8-ED7D-4856-AFF8-BB34C67680CE}" type="sibTrans" cxnId="{737EEF9A-8F16-46AE-8C98-6095E7FF954B}">
      <dgm:prSet/>
      <dgm:spPr/>
      <dgm:t>
        <a:bodyPr/>
        <a:lstStyle/>
        <a:p>
          <a:endParaRPr lang="en-US"/>
        </a:p>
      </dgm:t>
    </dgm:pt>
    <dgm:pt modelId="{6875670A-C73E-4203-880E-96B9837C0726}">
      <dgm:prSet/>
      <dgm:spPr/>
      <dgm:t>
        <a:bodyPr/>
        <a:lstStyle/>
        <a:p>
          <a:r>
            <a:rPr lang="en-US" dirty="0">
              <a:latin typeface="Arial" panose="020B0604020202020204" pitchFamily="34" charset="0"/>
              <a:cs typeface="Arial" panose="020B0604020202020204" pitchFamily="34" charset="0"/>
            </a:rPr>
            <a:t>Annualized Returns</a:t>
          </a:r>
        </a:p>
      </dgm:t>
    </dgm:pt>
    <dgm:pt modelId="{EEC5A58C-64F7-4F5E-AFF2-8CF0D0287B9A}" type="parTrans" cxnId="{5F1C8DCF-8801-49FA-B1A4-8DF40A02D69D}">
      <dgm:prSet/>
      <dgm:spPr/>
      <dgm:t>
        <a:bodyPr/>
        <a:lstStyle/>
        <a:p>
          <a:endParaRPr lang="en-US"/>
        </a:p>
      </dgm:t>
    </dgm:pt>
    <dgm:pt modelId="{ECBFAB8A-16AB-4415-B419-C6F333C727CE}" type="sibTrans" cxnId="{5F1C8DCF-8801-49FA-B1A4-8DF40A02D69D}">
      <dgm:prSet/>
      <dgm:spPr/>
      <dgm:t>
        <a:bodyPr/>
        <a:lstStyle/>
        <a:p>
          <a:endParaRPr lang="en-US"/>
        </a:p>
      </dgm:t>
    </dgm:pt>
    <dgm:pt modelId="{1225138F-B297-4465-9EF9-71D4F7153459}">
      <dgm:prSet/>
      <dgm:spPr/>
      <dgm:t>
        <a:bodyPr/>
        <a:lstStyle/>
        <a:p>
          <a:r>
            <a:rPr lang="en-US" dirty="0">
              <a:latin typeface="Arial" panose="020B0604020202020204" pitchFamily="34" charset="0"/>
              <a:cs typeface="Arial" panose="020B0604020202020204" pitchFamily="34" charset="0"/>
            </a:rPr>
            <a:t>Expected Returns</a:t>
          </a:r>
        </a:p>
      </dgm:t>
    </dgm:pt>
    <dgm:pt modelId="{B239B79E-DD84-4E8C-A128-BFE8CDC713B4}" type="parTrans" cxnId="{F3096563-4ACB-4491-9EE5-58980D36D58D}">
      <dgm:prSet/>
      <dgm:spPr/>
      <dgm:t>
        <a:bodyPr/>
        <a:lstStyle/>
        <a:p>
          <a:endParaRPr lang="en-US"/>
        </a:p>
      </dgm:t>
    </dgm:pt>
    <dgm:pt modelId="{E2EFFF96-F88A-4F64-B949-14596060E904}" type="sibTrans" cxnId="{F3096563-4ACB-4491-9EE5-58980D36D58D}">
      <dgm:prSet/>
      <dgm:spPr/>
      <dgm:t>
        <a:bodyPr/>
        <a:lstStyle/>
        <a:p>
          <a:endParaRPr lang="en-US"/>
        </a:p>
      </dgm:t>
    </dgm:pt>
    <dgm:pt modelId="{0C522C5C-8E56-4D5D-BFEF-7229755E3552}">
      <dgm:prSet/>
      <dgm:spPr/>
      <dgm:t>
        <a:bodyPr/>
        <a:lstStyle/>
        <a:p>
          <a:r>
            <a:rPr lang="en-US" dirty="0">
              <a:latin typeface="Arial" panose="020B0604020202020204" pitchFamily="34" charset="0"/>
              <a:cs typeface="Arial" panose="020B0604020202020204" pitchFamily="34" charset="0"/>
            </a:rPr>
            <a:t>Risk-adjusted Returns</a:t>
          </a:r>
        </a:p>
      </dgm:t>
    </dgm:pt>
    <dgm:pt modelId="{19928B73-E784-463F-9749-CC89DEFFC516}" type="parTrans" cxnId="{948ABB02-B68C-40C3-9AFA-CB5985EB4324}">
      <dgm:prSet/>
      <dgm:spPr/>
      <dgm:t>
        <a:bodyPr/>
        <a:lstStyle/>
        <a:p>
          <a:endParaRPr lang="en-US"/>
        </a:p>
      </dgm:t>
    </dgm:pt>
    <dgm:pt modelId="{98175546-73E7-4E2C-8598-A561C9A321B8}" type="sibTrans" cxnId="{948ABB02-B68C-40C3-9AFA-CB5985EB4324}">
      <dgm:prSet/>
      <dgm:spPr/>
      <dgm:t>
        <a:bodyPr/>
        <a:lstStyle/>
        <a:p>
          <a:endParaRPr lang="en-US"/>
        </a:p>
      </dgm:t>
    </dgm:pt>
    <dgm:pt modelId="{EE3A3059-84B1-4B54-9D21-74E73F8C0EBB}">
      <dgm:prSet phldrT="[Text]"/>
      <dgm:spPr/>
      <dgm:t>
        <a:bodyPr/>
        <a:lstStyle/>
        <a:p>
          <a:r>
            <a:rPr lang="en-US" dirty="0">
              <a:latin typeface="Arial" panose="020B0604020202020204" pitchFamily="34" charset="0"/>
              <a:cs typeface="Arial" panose="020B0604020202020204" pitchFamily="34" charset="0"/>
            </a:rPr>
            <a:t>Average Returns</a:t>
          </a:r>
        </a:p>
      </dgm:t>
    </dgm:pt>
    <dgm:pt modelId="{41102E09-DA20-4F9A-B952-CBB2CDB1E05A}" type="parTrans" cxnId="{A282D6A7-AEBB-4E81-B49B-A152C6589742}">
      <dgm:prSet/>
      <dgm:spPr/>
      <dgm:t>
        <a:bodyPr/>
        <a:lstStyle/>
        <a:p>
          <a:endParaRPr lang="en-IN"/>
        </a:p>
      </dgm:t>
    </dgm:pt>
    <dgm:pt modelId="{820CDCC7-41F2-4C3E-B437-0A60D1C6041D}" type="sibTrans" cxnId="{A282D6A7-AEBB-4E81-B49B-A152C6589742}">
      <dgm:prSet/>
      <dgm:spPr/>
      <dgm:t>
        <a:bodyPr/>
        <a:lstStyle/>
        <a:p>
          <a:endParaRPr lang="en-IN"/>
        </a:p>
      </dgm:t>
    </dgm:pt>
    <dgm:pt modelId="{8F580214-8539-4934-A5F0-FCBBB1991A5D}" type="pres">
      <dgm:prSet presAssocID="{338F740C-386A-43C8-A194-561FE28FF5BF}" presName="linear" presStyleCnt="0">
        <dgm:presLayoutVars>
          <dgm:dir/>
          <dgm:animLvl val="lvl"/>
          <dgm:resizeHandles val="exact"/>
        </dgm:presLayoutVars>
      </dgm:prSet>
      <dgm:spPr/>
    </dgm:pt>
    <dgm:pt modelId="{46F26CBD-8CAF-4CD7-8B5B-2D0094698540}" type="pres">
      <dgm:prSet presAssocID="{0AB1308D-3558-415C-916E-17B163D61B2C}" presName="parentLin" presStyleCnt="0"/>
      <dgm:spPr/>
    </dgm:pt>
    <dgm:pt modelId="{812B13FD-5C8C-4278-834A-4E9EE0738189}" type="pres">
      <dgm:prSet presAssocID="{0AB1308D-3558-415C-916E-17B163D61B2C}" presName="parentLeftMargin" presStyleLbl="node1" presStyleIdx="0" presStyleCnt="5"/>
      <dgm:spPr/>
    </dgm:pt>
    <dgm:pt modelId="{37A75926-4A1E-418F-8951-EEFF357951C4}" type="pres">
      <dgm:prSet presAssocID="{0AB1308D-3558-415C-916E-17B163D61B2C}" presName="parentText" presStyleLbl="node1" presStyleIdx="0" presStyleCnt="5" custLinFactNeighborX="8777" custLinFactNeighborY="-1200">
        <dgm:presLayoutVars>
          <dgm:chMax val="0"/>
          <dgm:bulletEnabled val="1"/>
        </dgm:presLayoutVars>
      </dgm:prSet>
      <dgm:spPr/>
    </dgm:pt>
    <dgm:pt modelId="{9628F08B-2F91-4AB5-B329-C4054A3DB1C5}" type="pres">
      <dgm:prSet presAssocID="{0AB1308D-3558-415C-916E-17B163D61B2C}" presName="negativeSpace" presStyleCnt="0"/>
      <dgm:spPr/>
    </dgm:pt>
    <dgm:pt modelId="{8D7F71A4-92B7-4FD2-BB09-9DF05C2A43FE}" type="pres">
      <dgm:prSet presAssocID="{0AB1308D-3558-415C-916E-17B163D61B2C}" presName="childText" presStyleLbl="conFgAcc1" presStyleIdx="0" presStyleCnt="5">
        <dgm:presLayoutVars>
          <dgm:bulletEnabled val="1"/>
        </dgm:presLayoutVars>
      </dgm:prSet>
      <dgm:spPr/>
    </dgm:pt>
    <dgm:pt modelId="{ACCD3BA6-87AD-4460-91C9-101D4AE643CA}" type="pres">
      <dgm:prSet presAssocID="{7FABC1E8-ED7D-4856-AFF8-BB34C67680CE}" presName="spaceBetweenRectangles" presStyleCnt="0"/>
      <dgm:spPr/>
    </dgm:pt>
    <dgm:pt modelId="{37FC384F-B22A-4D8F-93E6-68F473AAEE34}" type="pres">
      <dgm:prSet presAssocID="{EE3A3059-84B1-4B54-9D21-74E73F8C0EBB}" presName="parentLin" presStyleCnt="0"/>
      <dgm:spPr/>
    </dgm:pt>
    <dgm:pt modelId="{511C5D53-32AF-4F5C-B5FD-73B60EADCEED}" type="pres">
      <dgm:prSet presAssocID="{EE3A3059-84B1-4B54-9D21-74E73F8C0EBB}" presName="parentLeftMargin" presStyleLbl="node1" presStyleIdx="0" presStyleCnt="5"/>
      <dgm:spPr/>
    </dgm:pt>
    <dgm:pt modelId="{EB673E30-08ED-4453-B8E3-4C6062B86F11}" type="pres">
      <dgm:prSet presAssocID="{EE3A3059-84B1-4B54-9D21-74E73F8C0EBB}" presName="parentText" presStyleLbl="node1" presStyleIdx="1" presStyleCnt="5">
        <dgm:presLayoutVars>
          <dgm:chMax val="0"/>
          <dgm:bulletEnabled val="1"/>
        </dgm:presLayoutVars>
      </dgm:prSet>
      <dgm:spPr/>
    </dgm:pt>
    <dgm:pt modelId="{EA85E2D1-8189-4ED6-9BBF-F3D99E86B67D}" type="pres">
      <dgm:prSet presAssocID="{EE3A3059-84B1-4B54-9D21-74E73F8C0EBB}" presName="negativeSpace" presStyleCnt="0"/>
      <dgm:spPr/>
    </dgm:pt>
    <dgm:pt modelId="{E1902E15-B121-41F6-A40B-964D03792A25}" type="pres">
      <dgm:prSet presAssocID="{EE3A3059-84B1-4B54-9D21-74E73F8C0EBB}" presName="childText" presStyleLbl="conFgAcc1" presStyleIdx="1" presStyleCnt="5">
        <dgm:presLayoutVars>
          <dgm:bulletEnabled val="1"/>
        </dgm:presLayoutVars>
      </dgm:prSet>
      <dgm:spPr/>
    </dgm:pt>
    <dgm:pt modelId="{065C8D16-50F4-4C97-B97A-94B5E904F259}" type="pres">
      <dgm:prSet presAssocID="{820CDCC7-41F2-4C3E-B437-0A60D1C6041D}" presName="spaceBetweenRectangles" presStyleCnt="0"/>
      <dgm:spPr/>
    </dgm:pt>
    <dgm:pt modelId="{BD9049BD-4F20-4238-AEAE-43FEAD997A7A}" type="pres">
      <dgm:prSet presAssocID="{6875670A-C73E-4203-880E-96B9837C0726}" presName="parentLin" presStyleCnt="0"/>
      <dgm:spPr/>
    </dgm:pt>
    <dgm:pt modelId="{DEC4D4E6-2FB4-461A-802F-244F155B88D6}" type="pres">
      <dgm:prSet presAssocID="{6875670A-C73E-4203-880E-96B9837C0726}" presName="parentLeftMargin" presStyleLbl="node1" presStyleIdx="1" presStyleCnt="5"/>
      <dgm:spPr/>
    </dgm:pt>
    <dgm:pt modelId="{2BB9A368-8208-4C7B-ADB7-A595AE540FC4}" type="pres">
      <dgm:prSet presAssocID="{6875670A-C73E-4203-880E-96B9837C0726}" presName="parentText" presStyleLbl="node1" presStyleIdx="2" presStyleCnt="5">
        <dgm:presLayoutVars>
          <dgm:chMax val="0"/>
          <dgm:bulletEnabled val="1"/>
        </dgm:presLayoutVars>
      </dgm:prSet>
      <dgm:spPr/>
    </dgm:pt>
    <dgm:pt modelId="{60EC3C55-7761-40BC-AFC5-32BC0812D1B0}" type="pres">
      <dgm:prSet presAssocID="{6875670A-C73E-4203-880E-96B9837C0726}" presName="negativeSpace" presStyleCnt="0"/>
      <dgm:spPr/>
    </dgm:pt>
    <dgm:pt modelId="{CFE66A7D-11C0-4BB5-A22F-67194ECF572E}" type="pres">
      <dgm:prSet presAssocID="{6875670A-C73E-4203-880E-96B9837C0726}" presName="childText" presStyleLbl="conFgAcc1" presStyleIdx="2" presStyleCnt="5">
        <dgm:presLayoutVars>
          <dgm:bulletEnabled val="1"/>
        </dgm:presLayoutVars>
      </dgm:prSet>
      <dgm:spPr/>
    </dgm:pt>
    <dgm:pt modelId="{575A0F16-4E50-4255-B09A-7F287A4C99A9}" type="pres">
      <dgm:prSet presAssocID="{ECBFAB8A-16AB-4415-B419-C6F333C727CE}" presName="spaceBetweenRectangles" presStyleCnt="0"/>
      <dgm:spPr/>
    </dgm:pt>
    <dgm:pt modelId="{BDE6C11F-535C-4406-9B26-064A637C29A1}" type="pres">
      <dgm:prSet presAssocID="{1225138F-B297-4465-9EF9-71D4F7153459}" presName="parentLin" presStyleCnt="0"/>
      <dgm:spPr/>
    </dgm:pt>
    <dgm:pt modelId="{BF5D2DD5-799C-4738-997F-3EF0CB1BD2A8}" type="pres">
      <dgm:prSet presAssocID="{1225138F-B297-4465-9EF9-71D4F7153459}" presName="parentLeftMargin" presStyleLbl="node1" presStyleIdx="2" presStyleCnt="5"/>
      <dgm:spPr/>
    </dgm:pt>
    <dgm:pt modelId="{A9552975-64E5-41FC-BA00-D51F35A240FE}" type="pres">
      <dgm:prSet presAssocID="{1225138F-B297-4465-9EF9-71D4F7153459}" presName="parentText" presStyleLbl="node1" presStyleIdx="3" presStyleCnt="5">
        <dgm:presLayoutVars>
          <dgm:chMax val="0"/>
          <dgm:bulletEnabled val="1"/>
        </dgm:presLayoutVars>
      </dgm:prSet>
      <dgm:spPr/>
    </dgm:pt>
    <dgm:pt modelId="{70BB701F-2420-43AE-BC5E-F4910FABB66B}" type="pres">
      <dgm:prSet presAssocID="{1225138F-B297-4465-9EF9-71D4F7153459}" presName="negativeSpace" presStyleCnt="0"/>
      <dgm:spPr/>
    </dgm:pt>
    <dgm:pt modelId="{3DDB0C41-C127-49E9-A7D7-76F33C7C102D}" type="pres">
      <dgm:prSet presAssocID="{1225138F-B297-4465-9EF9-71D4F7153459}" presName="childText" presStyleLbl="conFgAcc1" presStyleIdx="3" presStyleCnt="5">
        <dgm:presLayoutVars>
          <dgm:bulletEnabled val="1"/>
        </dgm:presLayoutVars>
      </dgm:prSet>
      <dgm:spPr/>
    </dgm:pt>
    <dgm:pt modelId="{94AC2A01-DD0A-4E6C-94CB-6CA7E71DEB0E}" type="pres">
      <dgm:prSet presAssocID="{E2EFFF96-F88A-4F64-B949-14596060E904}" presName="spaceBetweenRectangles" presStyleCnt="0"/>
      <dgm:spPr/>
    </dgm:pt>
    <dgm:pt modelId="{65DCC9C9-27CD-4D32-901C-55E53D12C382}" type="pres">
      <dgm:prSet presAssocID="{0C522C5C-8E56-4D5D-BFEF-7229755E3552}" presName="parentLin" presStyleCnt="0"/>
      <dgm:spPr/>
    </dgm:pt>
    <dgm:pt modelId="{55BE2CF7-2A28-491D-A1C9-A26A44B91D75}" type="pres">
      <dgm:prSet presAssocID="{0C522C5C-8E56-4D5D-BFEF-7229755E3552}" presName="parentLeftMargin" presStyleLbl="node1" presStyleIdx="3" presStyleCnt="5"/>
      <dgm:spPr/>
    </dgm:pt>
    <dgm:pt modelId="{298B7CA8-F9FF-4FB9-9843-0D4B46CA010E}" type="pres">
      <dgm:prSet presAssocID="{0C522C5C-8E56-4D5D-BFEF-7229755E3552}" presName="parentText" presStyleLbl="node1" presStyleIdx="4" presStyleCnt="5">
        <dgm:presLayoutVars>
          <dgm:chMax val="0"/>
          <dgm:bulletEnabled val="1"/>
        </dgm:presLayoutVars>
      </dgm:prSet>
      <dgm:spPr/>
    </dgm:pt>
    <dgm:pt modelId="{D3A4B3E0-39AE-4FD0-B433-265709AC83FA}" type="pres">
      <dgm:prSet presAssocID="{0C522C5C-8E56-4D5D-BFEF-7229755E3552}" presName="negativeSpace" presStyleCnt="0"/>
      <dgm:spPr/>
    </dgm:pt>
    <dgm:pt modelId="{F6D74838-DCBE-4001-B06C-749D6E8FE139}" type="pres">
      <dgm:prSet presAssocID="{0C522C5C-8E56-4D5D-BFEF-7229755E3552}" presName="childText" presStyleLbl="conFgAcc1" presStyleIdx="4" presStyleCnt="5">
        <dgm:presLayoutVars>
          <dgm:bulletEnabled val="1"/>
        </dgm:presLayoutVars>
      </dgm:prSet>
      <dgm:spPr/>
    </dgm:pt>
  </dgm:ptLst>
  <dgm:cxnLst>
    <dgm:cxn modelId="{948ABB02-B68C-40C3-9AFA-CB5985EB4324}" srcId="{338F740C-386A-43C8-A194-561FE28FF5BF}" destId="{0C522C5C-8E56-4D5D-BFEF-7229755E3552}" srcOrd="4" destOrd="0" parTransId="{19928B73-E784-463F-9749-CC89DEFFC516}" sibTransId="{98175546-73E7-4E2C-8598-A561C9A321B8}"/>
    <dgm:cxn modelId="{D19FF407-783F-4C01-85DE-3312416D32AA}" type="presOf" srcId="{0AB1308D-3558-415C-916E-17B163D61B2C}" destId="{37A75926-4A1E-418F-8951-EEFF357951C4}" srcOrd="1" destOrd="0" presId="urn:microsoft.com/office/officeart/2005/8/layout/list1"/>
    <dgm:cxn modelId="{FA850F14-D02B-4B72-80AD-B89831A28CC4}" type="presOf" srcId="{1225138F-B297-4465-9EF9-71D4F7153459}" destId="{BF5D2DD5-799C-4738-997F-3EF0CB1BD2A8}" srcOrd="0" destOrd="0" presId="urn:microsoft.com/office/officeart/2005/8/layout/list1"/>
    <dgm:cxn modelId="{D23F4D1F-28D3-4BF4-8ED2-0D0814D302FF}" type="presOf" srcId="{EE3A3059-84B1-4B54-9D21-74E73F8C0EBB}" destId="{511C5D53-32AF-4F5C-B5FD-73B60EADCEED}" srcOrd="0" destOrd="0" presId="urn:microsoft.com/office/officeart/2005/8/layout/list1"/>
    <dgm:cxn modelId="{AEC3B03C-7D07-457C-AD77-289E922BD214}" type="presOf" srcId="{338F740C-386A-43C8-A194-561FE28FF5BF}" destId="{8F580214-8539-4934-A5F0-FCBBB1991A5D}" srcOrd="0" destOrd="0" presId="urn:microsoft.com/office/officeart/2005/8/layout/list1"/>
    <dgm:cxn modelId="{991EF33E-424B-4127-BF97-F37E48B1BEB2}" type="presOf" srcId="{0C522C5C-8E56-4D5D-BFEF-7229755E3552}" destId="{298B7CA8-F9FF-4FB9-9843-0D4B46CA010E}" srcOrd="1" destOrd="0" presId="urn:microsoft.com/office/officeart/2005/8/layout/list1"/>
    <dgm:cxn modelId="{F730FC5F-EFC7-4CBA-8ECC-EE7B0B9A7CCA}" type="presOf" srcId="{6875670A-C73E-4203-880E-96B9837C0726}" destId="{2BB9A368-8208-4C7B-ADB7-A595AE540FC4}" srcOrd="1" destOrd="0" presId="urn:microsoft.com/office/officeart/2005/8/layout/list1"/>
    <dgm:cxn modelId="{F3096563-4ACB-4491-9EE5-58980D36D58D}" srcId="{338F740C-386A-43C8-A194-561FE28FF5BF}" destId="{1225138F-B297-4465-9EF9-71D4F7153459}" srcOrd="3" destOrd="0" parTransId="{B239B79E-DD84-4E8C-A128-BFE8CDC713B4}" sibTransId="{E2EFFF96-F88A-4F64-B949-14596060E904}"/>
    <dgm:cxn modelId="{3382166A-F2B7-4615-92C1-82C7510D9821}" type="presOf" srcId="{EE3A3059-84B1-4B54-9D21-74E73F8C0EBB}" destId="{EB673E30-08ED-4453-B8E3-4C6062B86F11}" srcOrd="1" destOrd="0" presId="urn:microsoft.com/office/officeart/2005/8/layout/list1"/>
    <dgm:cxn modelId="{737EEF9A-8F16-46AE-8C98-6095E7FF954B}" srcId="{338F740C-386A-43C8-A194-561FE28FF5BF}" destId="{0AB1308D-3558-415C-916E-17B163D61B2C}" srcOrd="0" destOrd="0" parTransId="{89A34352-1F4A-45A9-A489-5FF7D934774A}" sibTransId="{7FABC1E8-ED7D-4856-AFF8-BB34C67680CE}"/>
    <dgm:cxn modelId="{A282D6A7-AEBB-4E81-B49B-A152C6589742}" srcId="{338F740C-386A-43C8-A194-561FE28FF5BF}" destId="{EE3A3059-84B1-4B54-9D21-74E73F8C0EBB}" srcOrd="1" destOrd="0" parTransId="{41102E09-DA20-4F9A-B952-CBB2CDB1E05A}" sibTransId="{820CDCC7-41F2-4C3E-B437-0A60D1C6041D}"/>
    <dgm:cxn modelId="{77B2F0B7-EE04-4C5D-809A-91F70040ECD7}" type="presOf" srcId="{6875670A-C73E-4203-880E-96B9837C0726}" destId="{DEC4D4E6-2FB4-461A-802F-244F155B88D6}" srcOrd="0" destOrd="0" presId="urn:microsoft.com/office/officeart/2005/8/layout/list1"/>
    <dgm:cxn modelId="{9E350AC0-10CF-4D67-A547-E4C75DAC3302}" type="presOf" srcId="{0AB1308D-3558-415C-916E-17B163D61B2C}" destId="{812B13FD-5C8C-4278-834A-4E9EE0738189}" srcOrd="0" destOrd="0" presId="urn:microsoft.com/office/officeart/2005/8/layout/list1"/>
    <dgm:cxn modelId="{427728C2-ECF7-4446-932B-020E2DB9D2D1}" type="presOf" srcId="{0C522C5C-8E56-4D5D-BFEF-7229755E3552}" destId="{55BE2CF7-2A28-491D-A1C9-A26A44B91D75}" srcOrd="0" destOrd="0" presId="urn:microsoft.com/office/officeart/2005/8/layout/list1"/>
    <dgm:cxn modelId="{5F1C8DCF-8801-49FA-B1A4-8DF40A02D69D}" srcId="{338F740C-386A-43C8-A194-561FE28FF5BF}" destId="{6875670A-C73E-4203-880E-96B9837C0726}" srcOrd="2" destOrd="0" parTransId="{EEC5A58C-64F7-4F5E-AFF2-8CF0D0287B9A}" sibTransId="{ECBFAB8A-16AB-4415-B419-C6F333C727CE}"/>
    <dgm:cxn modelId="{E7E493F8-9808-4F83-A7D5-A5F19B20E276}" type="presOf" srcId="{1225138F-B297-4465-9EF9-71D4F7153459}" destId="{A9552975-64E5-41FC-BA00-D51F35A240FE}" srcOrd="1" destOrd="0" presId="urn:microsoft.com/office/officeart/2005/8/layout/list1"/>
    <dgm:cxn modelId="{961A9CEB-BB2A-4AEF-A505-4599FE39BD33}" type="presParOf" srcId="{8F580214-8539-4934-A5F0-FCBBB1991A5D}" destId="{46F26CBD-8CAF-4CD7-8B5B-2D0094698540}" srcOrd="0" destOrd="0" presId="urn:microsoft.com/office/officeart/2005/8/layout/list1"/>
    <dgm:cxn modelId="{DE55DE69-8083-419B-97E8-3B65AF6E0E59}" type="presParOf" srcId="{46F26CBD-8CAF-4CD7-8B5B-2D0094698540}" destId="{812B13FD-5C8C-4278-834A-4E9EE0738189}" srcOrd="0" destOrd="0" presId="urn:microsoft.com/office/officeart/2005/8/layout/list1"/>
    <dgm:cxn modelId="{2FFDF0B4-35D2-4730-95CD-02E043495AF9}" type="presParOf" srcId="{46F26CBD-8CAF-4CD7-8B5B-2D0094698540}" destId="{37A75926-4A1E-418F-8951-EEFF357951C4}" srcOrd="1" destOrd="0" presId="urn:microsoft.com/office/officeart/2005/8/layout/list1"/>
    <dgm:cxn modelId="{37EE8983-44A9-4576-9215-6492D78D1B5F}" type="presParOf" srcId="{8F580214-8539-4934-A5F0-FCBBB1991A5D}" destId="{9628F08B-2F91-4AB5-B329-C4054A3DB1C5}" srcOrd="1" destOrd="0" presId="urn:microsoft.com/office/officeart/2005/8/layout/list1"/>
    <dgm:cxn modelId="{28483253-E7D7-4E1A-9A5F-0227DAAC2EA7}" type="presParOf" srcId="{8F580214-8539-4934-A5F0-FCBBB1991A5D}" destId="{8D7F71A4-92B7-4FD2-BB09-9DF05C2A43FE}" srcOrd="2" destOrd="0" presId="urn:microsoft.com/office/officeart/2005/8/layout/list1"/>
    <dgm:cxn modelId="{53622F84-2671-4CAA-9A73-2F963C363053}" type="presParOf" srcId="{8F580214-8539-4934-A5F0-FCBBB1991A5D}" destId="{ACCD3BA6-87AD-4460-91C9-101D4AE643CA}" srcOrd="3" destOrd="0" presId="urn:microsoft.com/office/officeart/2005/8/layout/list1"/>
    <dgm:cxn modelId="{F5177855-B067-4EF4-8F20-C3BA72D350BA}" type="presParOf" srcId="{8F580214-8539-4934-A5F0-FCBBB1991A5D}" destId="{37FC384F-B22A-4D8F-93E6-68F473AAEE34}" srcOrd="4" destOrd="0" presId="urn:microsoft.com/office/officeart/2005/8/layout/list1"/>
    <dgm:cxn modelId="{55852A21-159E-49DE-AE29-3BAF26039254}" type="presParOf" srcId="{37FC384F-B22A-4D8F-93E6-68F473AAEE34}" destId="{511C5D53-32AF-4F5C-B5FD-73B60EADCEED}" srcOrd="0" destOrd="0" presId="urn:microsoft.com/office/officeart/2005/8/layout/list1"/>
    <dgm:cxn modelId="{D53FA571-70F6-46B6-962B-74953F1DB9EC}" type="presParOf" srcId="{37FC384F-B22A-4D8F-93E6-68F473AAEE34}" destId="{EB673E30-08ED-4453-B8E3-4C6062B86F11}" srcOrd="1" destOrd="0" presId="urn:microsoft.com/office/officeart/2005/8/layout/list1"/>
    <dgm:cxn modelId="{00B6BCA1-E087-41F9-A66C-313EA132EC1A}" type="presParOf" srcId="{8F580214-8539-4934-A5F0-FCBBB1991A5D}" destId="{EA85E2D1-8189-4ED6-9BBF-F3D99E86B67D}" srcOrd="5" destOrd="0" presId="urn:microsoft.com/office/officeart/2005/8/layout/list1"/>
    <dgm:cxn modelId="{27B08303-D8FC-4609-95BD-CFD57A897DCE}" type="presParOf" srcId="{8F580214-8539-4934-A5F0-FCBBB1991A5D}" destId="{E1902E15-B121-41F6-A40B-964D03792A25}" srcOrd="6" destOrd="0" presId="urn:microsoft.com/office/officeart/2005/8/layout/list1"/>
    <dgm:cxn modelId="{790EA6EA-D01D-4EA8-973E-924510D7BC3D}" type="presParOf" srcId="{8F580214-8539-4934-A5F0-FCBBB1991A5D}" destId="{065C8D16-50F4-4C97-B97A-94B5E904F259}" srcOrd="7" destOrd="0" presId="urn:microsoft.com/office/officeart/2005/8/layout/list1"/>
    <dgm:cxn modelId="{B3EA2AE4-38B8-4CBA-BFC7-A918B5473E0B}" type="presParOf" srcId="{8F580214-8539-4934-A5F0-FCBBB1991A5D}" destId="{BD9049BD-4F20-4238-AEAE-43FEAD997A7A}" srcOrd="8" destOrd="0" presId="urn:microsoft.com/office/officeart/2005/8/layout/list1"/>
    <dgm:cxn modelId="{A12F72BF-8B5B-4671-8314-BD8D8A395CD0}" type="presParOf" srcId="{BD9049BD-4F20-4238-AEAE-43FEAD997A7A}" destId="{DEC4D4E6-2FB4-461A-802F-244F155B88D6}" srcOrd="0" destOrd="0" presId="urn:microsoft.com/office/officeart/2005/8/layout/list1"/>
    <dgm:cxn modelId="{B39BB648-2EF2-4E93-931F-0ED2F6649370}" type="presParOf" srcId="{BD9049BD-4F20-4238-AEAE-43FEAD997A7A}" destId="{2BB9A368-8208-4C7B-ADB7-A595AE540FC4}" srcOrd="1" destOrd="0" presId="urn:microsoft.com/office/officeart/2005/8/layout/list1"/>
    <dgm:cxn modelId="{64DC0284-053A-4260-966F-0640183B8B1E}" type="presParOf" srcId="{8F580214-8539-4934-A5F0-FCBBB1991A5D}" destId="{60EC3C55-7761-40BC-AFC5-32BC0812D1B0}" srcOrd="9" destOrd="0" presId="urn:microsoft.com/office/officeart/2005/8/layout/list1"/>
    <dgm:cxn modelId="{868E61EF-678B-4A11-BE52-671E5E7E3892}" type="presParOf" srcId="{8F580214-8539-4934-A5F0-FCBBB1991A5D}" destId="{CFE66A7D-11C0-4BB5-A22F-67194ECF572E}" srcOrd="10" destOrd="0" presId="urn:microsoft.com/office/officeart/2005/8/layout/list1"/>
    <dgm:cxn modelId="{1CCDF811-5C19-4F3E-BD27-D4BC60D80322}" type="presParOf" srcId="{8F580214-8539-4934-A5F0-FCBBB1991A5D}" destId="{575A0F16-4E50-4255-B09A-7F287A4C99A9}" srcOrd="11" destOrd="0" presId="urn:microsoft.com/office/officeart/2005/8/layout/list1"/>
    <dgm:cxn modelId="{283D4450-23D9-43C8-9C7E-70D1E2729AA0}" type="presParOf" srcId="{8F580214-8539-4934-A5F0-FCBBB1991A5D}" destId="{BDE6C11F-535C-4406-9B26-064A637C29A1}" srcOrd="12" destOrd="0" presId="urn:microsoft.com/office/officeart/2005/8/layout/list1"/>
    <dgm:cxn modelId="{4E4FE232-AD7F-404F-94C3-19EA4C32D9D2}" type="presParOf" srcId="{BDE6C11F-535C-4406-9B26-064A637C29A1}" destId="{BF5D2DD5-799C-4738-997F-3EF0CB1BD2A8}" srcOrd="0" destOrd="0" presId="urn:microsoft.com/office/officeart/2005/8/layout/list1"/>
    <dgm:cxn modelId="{9A9763F0-89AA-49E6-A609-5453E78D7903}" type="presParOf" srcId="{BDE6C11F-535C-4406-9B26-064A637C29A1}" destId="{A9552975-64E5-41FC-BA00-D51F35A240FE}" srcOrd="1" destOrd="0" presId="urn:microsoft.com/office/officeart/2005/8/layout/list1"/>
    <dgm:cxn modelId="{39F5A4CA-1835-4899-ADF9-F20B6F897E9A}" type="presParOf" srcId="{8F580214-8539-4934-A5F0-FCBBB1991A5D}" destId="{70BB701F-2420-43AE-BC5E-F4910FABB66B}" srcOrd="13" destOrd="0" presId="urn:microsoft.com/office/officeart/2005/8/layout/list1"/>
    <dgm:cxn modelId="{C537DCAA-550A-4196-AA42-525AF8A646E3}" type="presParOf" srcId="{8F580214-8539-4934-A5F0-FCBBB1991A5D}" destId="{3DDB0C41-C127-49E9-A7D7-76F33C7C102D}" srcOrd="14" destOrd="0" presId="urn:microsoft.com/office/officeart/2005/8/layout/list1"/>
    <dgm:cxn modelId="{0BE53CF3-00B3-466B-9D9B-9D98F9E76909}" type="presParOf" srcId="{8F580214-8539-4934-A5F0-FCBBB1991A5D}" destId="{94AC2A01-DD0A-4E6C-94CB-6CA7E71DEB0E}" srcOrd="15" destOrd="0" presId="urn:microsoft.com/office/officeart/2005/8/layout/list1"/>
    <dgm:cxn modelId="{4F46E485-C526-4E16-AFF2-3C04AC9E43F3}" type="presParOf" srcId="{8F580214-8539-4934-A5F0-FCBBB1991A5D}" destId="{65DCC9C9-27CD-4D32-901C-55E53D12C382}" srcOrd="16" destOrd="0" presId="urn:microsoft.com/office/officeart/2005/8/layout/list1"/>
    <dgm:cxn modelId="{910AA056-1EA8-4C71-8637-655B4864DBDB}" type="presParOf" srcId="{65DCC9C9-27CD-4D32-901C-55E53D12C382}" destId="{55BE2CF7-2A28-491D-A1C9-A26A44B91D75}" srcOrd="0" destOrd="0" presId="urn:microsoft.com/office/officeart/2005/8/layout/list1"/>
    <dgm:cxn modelId="{C7442E65-8804-470A-9BD4-D9FCBA563510}" type="presParOf" srcId="{65DCC9C9-27CD-4D32-901C-55E53D12C382}" destId="{298B7CA8-F9FF-4FB9-9843-0D4B46CA010E}" srcOrd="1" destOrd="0" presId="urn:microsoft.com/office/officeart/2005/8/layout/list1"/>
    <dgm:cxn modelId="{5C583017-2F99-4880-82EA-FB98BD69B455}" type="presParOf" srcId="{8F580214-8539-4934-A5F0-FCBBB1991A5D}" destId="{D3A4B3E0-39AE-4FD0-B433-265709AC83FA}" srcOrd="17" destOrd="0" presId="urn:microsoft.com/office/officeart/2005/8/layout/list1"/>
    <dgm:cxn modelId="{64F486D0-7318-4713-884A-9EFC3A61625B}" type="presParOf" srcId="{8F580214-8539-4934-A5F0-FCBBB1991A5D}" destId="{F6D74838-DCBE-4001-B06C-749D6E8FE13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8F740C-386A-43C8-A194-561FE28FF5BF}"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0AB1308D-3558-415C-916E-17B163D61B2C}">
      <dgm:prSet phldrT="[Text]" custT="1"/>
      <dgm:spPr/>
      <dgm:t>
        <a:bodyPr/>
        <a:lstStyle/>
        <a:p>
          <a:r>
            <a:rPr lang="en-US" sz="2400" dirty="0">
              <a:latin typeface="Arial" panose="020B0604020202020204" pitchFamily="34" charset="0"/>
              <a:cs typeface="Arial" panose="020B0604020202020204" pitchFamily="34" charset="0"/>
            </a:rPr>
            <a:t>Sharpe ratio</a:t>
          </a:r>
        </a:p>
      </dgm:t>
    </dgm:pt>
    <dgm:pt modelId="{89A34352-1F4A-45A9-A489-5FF7D934774A}" type="parTrans" cxnId="{737EEF9A-8F16-46AE-8C98-6095E7FF954B}">
      <dgm:prSet/>
      <dgm:spPr/>
      <dgm:t>
        <a:bodyPr/>
        <a:lstStyle/>
        <a:p>
          <a:endParaRPr lang="en-US"/>
        </a:p>
      </dgm:t>
    </dgm:pt>
    <dgm:pt modelId="{7FABC1E8-ED7D-4856-AFF8-BB34C67680CE}" type="sibTrans" cxnId="{737EEF9A-8F16-46AE-8C98-6095E7FF954B}">
      <dgm:prSet/>
      <dgm:spPr/>
      <dgm:t>
        <a:bodyPr/>
        <a:lstStyle/>
        <a:p>
          <a:endParaRPr lang="en-US"/>
        </a:p>
      </dgm:t>
    </dgm:pt>
    <dgm:pt modelId="{0F53E780-0597-4FFF-AF64-C2BD0EC473C1}">
      <dgm:prSet phldrT="[Text]" custT="1"/>
      <dgm:spPr/>
      <dgm:t>
        <a:bodyPr/>
        <a:lstStyle/>
        <a:p>
          <a:r>
            <a:rPr lang="en-US" sz="2400" dirty="0">
              <a:latin typeface="Arial" panose="020B0604020202020204" pitchFamily="34" charset="0"/>
              <a:cs typeface="Arial" panose="020B0604020202020204" pitchFamily="34" charset="0"/>
            </a:rPr>
            <a:t>Treynor’s ratio</a:t>
          </a:r>
        </a:p>
      </dgm:t>
    </dgm:pt>
    <dgm:pt modelId="{18D291F8-2E81-4332-8215-41001E42DADC}" type="parTrans" cxnId="{CB0F5720-F12B-4C14-BED3-CECAE6328C8E}">
      <dgm:prSet/>
      <dgm:spPr/>
      <dgm:t>
        <a:bodyPr/>
        <a:lstStyle/>
        <a:p>
          <a:endParaRPr lang="en-US"/>
        </a:p>
      </dgm:t>
    </dgm:pt>
    <dgm:pt modelId="{1C0A41BB-C605-4BB6-8A1F-7B6064DCF588}" type="sibTrans" cxnId="{CB0F5720-F12B-4C14-BED3-CECAE6328C8E}">
      <dgm:prSet/>
      <dgm:spPr/>
      <dgm:t>
        <a:bodyPr/>
        <a:lstStyle/>
        <a:p>
          <a:endParaRPr lang="en-US"/>
        </a:p>
      </dgm:t>
    </dgm:pt>
    <dgm:pt modelId="{35AB230F-506D-428E-A719-8847A765E43A}">
      <dgm:prSet phldrT="[Text]" custT="1"/>
      <dgm:spPr/>
      <dgm:t>
        <a:bodyPr/>
        <a:lstStyle/>
        <a:p>
          <a:r>
            <a:rPr lang="en-US" sz="2400" dirty="0">
              <a:latin typeface="Arial" panose="020B0604020202020204" pitchFamily="34" charset="0"/>
              <a:cs typeface="Arial" panose="020B0604020202020204" pitchFamily="34" charset="0"/>
            </a:rPr>
            <a:t>Jensen’s alpha</a:t>
          </a:r>
        </a:p>
      </dgm:t>
    </dgm:pt>
    <dgm:pt modelId="{B281146D-6802-41BA-A836-520CB1012995}" type="parTrans" cxnId="{AF64A330-2A2E-4760-802B-3BB7959CC974}">
      <dgm:prSet/>
      <dgm:spPr/>
      <dgm:t>
        <a:bodyPr/>
        <a:lstStyle/>
        <a:p>
          <a:endParaRPr lang="en-US"/>
        </a:p>
      </dgm:t>
    </dgm:pt>
    <dgm:pt modelId="{E1EDC129-8B20-4489-83BC-7E77D0F5DEA9}" type="sibTrans" cxnId="{AF64A330-2A2E-4760-802B-3BB7959CC974}">
      <dgm:prSet/>
      <dgm:spPr/>
      <dgm:t>
        <a:bodyPr/>
        <a:lstStyle/>
        <a:p>
          <a:endParaRPr lang="en-US"/>
        </a:p>
      </dgm:t>
    </dgm:pt>
    <dgm:pt modelId="{8F580214-8539-4934-A5F0-FCBBB1991A5D}" type="pres">
      <dgm:prSet presAssocID="{338F740C-386A-43C8-A194-561FE28FF5BF}" presName="linear" presStyleCnt="0">
        <dgm:presLayoutVars>
          <dgm:dir/>
          <dgm:animLvl val="lvl"/>
          <dgm:resizeHandles val="exact"/>
        </dgm:presLayoutVars>
      </dgm:prSet>
      <dgm:spPr/>
    </dgm:pt>
    <dgm:pt modelId="{46F26CBD-8CAF-4CD7-8B5B-2D0094698540}" type="pres">
      <dgm:prSet presAssocID="{0AB1308D-3558-415C-916E-17B163D61B2C}" presName="parentLin" presStyleCnt="0"/>
      <dgm:spPr/>
    </dgm:pt>
    <dgm:pt modelId="{812B13FD-5C8C-4278-834A-4E9EE0738189}" type="pres">
      <dgm:prSet presAssocID="{0AB1308D-3558-415C-916E-17B163D61B2C}" presName="parentLeftMargin" presStyleLbl="node1" presStyleIdx="0" presStyleCnt="3"/>
      <dgm:spPr/>
    </dgm:pt>
    <dgm:pt modelId="{37A75926-4A1E-418F-8951-EEFF357951C4}" type="pres">
      <dgm:prSet presAssocID="{0AB1308D-3558-415C-916E-17B163D61B2C}" presName="parentText" presStyleLbl="node1" presStyleIdx="0" presStyleCnt="3">
        <dgm:presLayoutVars>
          <dgm:chMax val="0"/>
          <dgm:bulletEnabled val="1"/>
        </dgm:presLayoutVars>
      </dgm:prSet>
      <dgm:spPr/>
    </dgm:pt>
    <dgm:pt modelId="{9628F08B-2F91-4AB5-B329-C4054A3DB1C5}" type="pres">
      <dgm:prSet presAssocID="{0AB1308D-3558-415C-916E-17B163D61B2C}" presName="negativeSpace" presStyleCnt="0"/>
      <dgm:spPr/>
    </dgm:pt>
    <dgm:pt modelId="{8D7F71A4-92B7-4FD2-BB09-9DF05C2A43FE}" type="pres">
      <dgm:prSet presAssocID="{0AB1308D-3558-415C-916E-17B163D61B2C}" presName="childText" presStyleLbl="conFgAcc1" presStyleIdx="0" presStyleCnt="3">
        <dgm:presLayoutVars>
          <dgm:bulletEnabled val="1"/>
        </dgm:presLayoutVars>
      </dgm:prSet>
      <dgm:spPr/>
    </dgm:pt>
    <dgm:pt modelId="{ACCD3BA6-87AD-4460-91C9-101D4AE643CA}" type="pres">
      <dgm:prSet presAssocID="{7FABC1E8-ED7D-4856-AFF8-BB34C67680CE}" presName="spaceBetweenRectangles" presStyleCnt="0"/>
      <dgm:spPr/>
    </dgm:pt>
    <dgm:pt modelId="{8B0A9E1C-1E52-421A-9F04-CDB2D37AC6F3}" type="pres">
      <dgm:prSet presAssocID="{0F53E780-0597-4FFF-AF64-C2BD0EC473C1}" presName="parentLin" presStyleCnt="0"/>
      <dgm:spPr/>
    </dgm:pt>
    <dgm:pt modelId="{00B74CC8-D3AB-4588-9120-934A02CE936D}" type="pres">
      <dgm:prSet presAssocID="{0F53E780-0597-4FFF-AF64-C2BD0EC473C1}" presName="parentLeftMargin" presStyleLbl="node1" presStyleIdx="0" presStyleCnt="3"/>
      <dgm:spPr/>
    </dgm:pt>
    <dgm:pt modelId="{0D46FCA9-AACC-44E1-99E3-FE9E2D1A48AB}" type="pres">
      <dgm:prSet presAssocID="{0F53E780-0597-4FFF-AF64-C2BD0EC473C1}" presName="parentText" presStyleLbl="node1" presStyleIdx="1" presStyleCnt="3">
        <dgm:presLayoutVars>
          <dgm:chMax val="0"/>
          <dgm:bulletEnabled val="1"/>
        </dgm:presLayoutVars>
      </dgm:prSet>
      <dgm:spPr/>
    </dgm:pt>
    <dgm:pt modelId="{2A7E6002-672B-473A-AE33-7768D276F81E}" type="pres">
      <dgm:prSet presAssocID="{0F53E780-0597-4FFF-AF64-C2BD0EC473C1}" presName="negativeSpace" presStyleCnt="0"/>
      <dgm:spPr/>
    </dgm:pt>
    <dgm:pt modelId="{8284FC5B-DBC4-410E-A014-F718FF70CD23}" type="pres">
      <dgm:prSet presAssocID="{0F53E780-0597-4FFF-AF64-C2BD0EC473C1}" presName="childText" presStyleLbl="conFgAcc1" presStyleIdx="1" presStyleCnt="3">
        <dgm:presLayoutVars>
          <dgm:bulletEnabled val="1"/>
        </dgm:presLayoutVars>
      </dgm:prSet>
      <dgm:spPr/>
    </dgm:pt>
    <dgm:pt modelId="{8C4F08DD-C431-4AB5-A5D7-36FDFBB2B9DA}" type="pres">
      <dgm:prSet presAssocID="{1C0A41BB-C605-4BB6-8A1F-7B6064DCF588}" presName="spaceBetweenRectangles" presStyleCnt="0"/>
      <dgm:spPr/>
    </dgm:pt>
    <dgm:pt modelId="{3C9BCE17-744F-4BE7-A09B-5C04B044D4B9}" type="pres">
      <dgm:prSet presAssocID="{35AB230F-506D-428E-A719-8847A765E43A}" presName="parentLin" presStyleCnt="0"/>
      <dgm:spPr/>
    </dgm:pt>
    <dgm:pt modelId="{B9048DA5-DB90-40A3-8461-955B996BFC9B}" type="pres">
      <dgm:prSet presAssocID="{35AB230F-506D-428E-A719-8847A765E43A}" presName="parentLeftMargin" presStyleLbl="node1" presStyleIdx="1" presStyleCnt="3"/>
      <dgm:spPr/>
    </dgm:pt>
    <dgm:pt modelId="{4CE059AA-308C-4568-805A-D6F547BCFB42}" type="pres">
      <dgm:prSet presAssocID="{35AB230F-506D-428E-A719-8847A765E43A}" presName="parentText" presStyleLbl="node1" presStyleIdx="2" presStyleCnt="3">
        <dgm:presLayoutVars>
          <dgm:chMax val="0"/>
          <dgm:bulletEnabled val="1"/>
        </dgm:presLayoutVars>
      </dgm:prSet>
      <dgm:spPr/>
    </dgm:pt>
    <dgm:pt modelId="{1E3896EC-53BD-4F26-8856-B01F9C8E86A8}" type="pres">
      <dgm:prSet presAssocID="{35AB230F-506D-428E-A719-8847A765E43A}" presName="negativeSpace" presStyleCnt="0"/>
      <dgm:spPr/>
    </dgm:pt>
    <dgm:pt modelId="{9219825E-EE89-46FE-9B9E-CF938E22D676}" type="pres">
      <dgm:prSet presAssocID="{35AB230F-506D-428E-A719-8847A765E43A}" presName="childText" presStyleLbl="conFgAcc1" presStyleIdx="2" presStyleCnt="3">
        <dgm:presLayoutVars>
          <dgm:bulletEnabled val="1"/>
        </dgm:presLayoutVars>
      </dgm:prSet>
      <dgm:spPr/>
    </dgm:pt>
  </dgm:ptLst>
  <dgm:cxnLst>
    <dgm:cxn modelId="{D19FF407-783F-4C01-85DE-3312416D32AA}" type="presOf" srcId="{0AB1308D-3558-415C-916E-17B163D61B2C}" destId="{37A75926-4A1E-418F-8951-EEFF357951C4}" srcOrd="1" destOrd="0" presId="urn:microsoft.com/office/officeart/2005/8/layout/list1"/>
    <dgm:cxn modelId="{CB0F5720-F12B-4C14-BED3-CECAE6328C8E}" srcId="{338F740C-386A-43C8-A194-561FE28FF5BF}" destId="{0F53E780-0597-4FFF-AF64-C2BD0EC473C1}" srcOrd="1" destOrd="0" parTransId="{18D291F8-2E81-4332-8215-41001E42DADC}" sibTransId="{1C0A41BB-C605-4BB6-8A1F-7B6064DCF588}"/>
    <dgm:cxn modelId="{AF64A330-2A2E-4760-802B-3BB7959CC974}" srcId="{338F740C-386A-43C8-A194-561FE28FF5BF}" destId="{35AB230F-506D-428E-A719-8847A765E43A}" srcOrd="2" destOrd="0" parTransId="{B281146D-6802-41BA-A836-520CB1012995}" sibTransId="{E1EDC129-8B20-4489-83BC-7E77D0F5DEA9}"/>
    <dgm:cxn modelId="{AEC3B03C-7D07-457C-AD77-289E922BD214}" type="presOf" srcId="{338F740C-386A-43C8-A194-561FE28FF5BF}" destId="{8F580214-8539-4934-A5F0-FCBBB1991A5D}" srcOrd="0" destOrd="0" presId="urn:microsoft.com/office/officeart/2005/8/layout/list1"/>
    <dgm:cxn modelId="{84B9C168-341F-48F3-A476-B28C4C958D75}" type="presOf" srcId="{0F53E780-0597-4FFF-AF64-C2BD0EC473C1}" destId="{00B74CC8-D3AB-4588-9120-934A02CE936D}" srcOrd="0" destOrd="0" presId="urn:microsoft.com/office/officeart/2005/8/layout/list1"/>
    <dgm:cxn modelId="{C130BA6C-187E-49B6-9967-3EC14BA73988}" type="presOf" srcId="{35AB230F-506D-428E-A719-8847A765E43A}" destId="{4CE059AA-308C-4568-805A-D6F547BCFB42}" srcOrd="1" destOrd="0" presId="urn:microsoft.com/office/officeart/2005/8/layout/list1"/>
    <dgm:cxn modelId="{4EA89A8E-5A16-4ED9-A15C-2F094119AD98}" type="presOf" srcId="{35AB230F-506D-428E-A719-8847A765E43A}" destId="{B9048DA5-DB90-40A3-8461-955B996BFC9B}" srcOrd="0" destOrd="0" presId="urn:microsoft.com/office/officeart/2005/8/layout/list1"/>
    <dgm:cxn modelId="{737EEF9A-8F16-46AE-8C98-6095E7FF954B}" srcId="{338F740C-386A-43C8-A194-561FE28FF5BF}" destId="{0AB1308D-3558-415C-916E-17B163D61B2C}" srcOrd="0" destOrd="0" parTransId="{89A34352-1F4A-45A9-A489-5FF7D934774A}" sibTransId="{7FABC1E8-ED7D-4856-AFF8-BB34C67680CE}"/>
    <dgm:cxn modelId="{89E39CA6-D537-47B7-B596-566BEC619591}" type="presOf" srcId="{0F53E780-0597-4FFF-AF64-C2BD0EC473C1}" destId="{0D46FCA9-AACC-44E1-99E3-FE9E2D1A48AB}" srcOrd="1" destOrd="0" presId="urn:microsoft.com/office/officeart/2005/8/layout/list1"/>
    <dgm:cxn modelId="{9E350AC0-10CF-4D67-A547-E4C75DAC3302}" type="presOf" srcId="{0AB1308D-3558-415C-916E-17B163D61B2C}" destId="{812B13FD-5C8C-4278-834A-4E9EE0738189}" srcOrd="0" destOrd="0" presId="urn:microsoft.com/office/officeart/2005/8/layout/list1"/>
    <dgm:cxn modelId="{961A9CEB-BB2A-4AEF-A505-4599FE39BD33}" type="presParOf" srcId="{8F580214-8539-4934-A5F0-FCBBB1991A5D}" destId="{46F26CBD-8CAF-4CD7-8B5B-2D0094698540}" srcOrd="0" destOrd="0" presId="urn:microsoft.com/office/officeart/2005/8/layout/list1"/>
    <dgm:cxn modelId="{DE55DE69-8083-419B-97E8-3B65AF6E0E59}" type="presParOf" srcId="{46F26CBD-8CAF-4CD7-8B5B-2D0094698540}" destId="{812B13FD-5C8C-4278-834A-4E9EE0738189}" srcOrd="0" destOrd="0" presId="urn:microsoft.com/office/officeart/2005/8/layout/list1"/>
    <dgm:cxn modelId="{2FFDF0B4-35D2-4730-95CD-02E043495AF9}" type="presParOf" srcId="{46F26CBD-8CAF-4CD7-8B5B-2D0094698540}" destId="{37A75926-4A1E-418F-8951-EEFF357951C4}" srcOrd="1" destOrd="0" presId="urn:microsoft.com/office/officeart/2005/8/layout/list1"/>
    <dgm:cxn modelId="{37EE8983-44A9-4576-9215-6492D78D1B5F}" type="presParOf" srcId="{8F580214-8539-4934-A5F0-FCBBB1991A5D}" destId="{9628F08B-2F91-4AB5-B329-C4054A3DB1C5}" srcOrd="1" destOrd="0" presId="urn:microsoft.com/office/officeart/2005/8/layout/list1"/>
    <dgm:cxn modelId="{28483253-E7D7-4E1A-9A5F-0227DAAC2EA7}" type="presParOf" srcId="{8F580214-8539-4934-A5F0-FCBBB1991A5D}" destId="{8D7F71A4-92B7-4FD2-BB09-9DF05C2A43FE}" srcOrd="2" destOrd="0" presId="urn:microsoft.com/office/officeart/2005/8/layout/list1"/>
    <dgm:cxn modelId="{53622F84-2671-4CAA-9A73-2F963C363053}" type="presParOf" srcId="{8F580214-8539-4934-A5F0-FCBBB1991A5D}" destId="{ACCD3BA6-87AD-4460-91C9-101D4AE643CA}" srcOrd="3" destOrd="0" presId="urn:microsoft.com/office/officeart/2005/8/layout/list1"/>
    <dgm:cxn modelId="{750A0399-7ECF-4D16-A6A5-D6CFF750F92A}" type="presParOf" srcId="{8F580214-8539-4934-A5F0-FCBBB1991A5D}" destId="{8B0A9E1C-1E52-421A-9F04-CDB2D37AC6F3}" srcOrd="4" destOrd="0" presId="urn:microsoft.com/office/officeart/2005/8/layout/list1"/>
    <dgm:cxn modelId="{CE254BAA-BD36-4CB2-8AD9-E191D5C503AE}" type="presParOf" srcId="{8B0A9E1C-1E52-421A-9F04-CDB2D37AC6F3}" destId="{00B74CC8-D3AB-4588-9120-934A02CE936D}" srcOrd="0" destOrd="0" presId="urn:microsoft.com/office/officeart/2005/8/layout/list1"/>
    <dgm:cxn modelId="{0D13550A-E65A-4C0E-9743-411B7293F78A}" type="presParOf" srcId="{8B0A9E1C-1E52-421A-9F04-CDB2D37AC6F3}" destId="{0D46FCA9-AACC-44E1-99E3-FE9E2D1A48AB}" srcOrd="1" destOrd="0" presId="urn:microsoft.com/office/officeart/2005/8/layout/list1"/>
    <dgm:cxn modelId="{E7059FB7-8267-4690-9EFE-EE657E43D099}" type="presParOf" srcId="{8F580214-8539-4934-A5F0-FCBBB1991A5D}" destId="{2A7E6002-672B-473A-AE33-7768D276F81E}" srcOrd="5" destOrd="0" presId="urn:microsoft.com/office/officeart/2005/8/layout/list1"/>
    <dgm:cxn modelId="{F4FBF925-EFEA-4800-9C9E-B36937C86A16}" type="presParOf" srcId="{8F580214-8539-4934-A5F0-FCBBB1991A5D}" destId="{8284FC5B-DBC4-410E-A014-F718FF70CD23}" srcOrd="6" destOrd="0" presId="urn:microsoft.com/office/officeart/2005/8/layout/list1"/>
    <dgm:cxn modelId="{D20C2F76-83DB-4120-859B-228DCC7186B8}" type="presParOf" srcId="{8F580214-8539-4934-A5F0-FCBBB1991A5D}" destId="{8C4F08DD-C431-4AB5-A5D7-36FDFBB2B9DA}" srcOrd="7" destOrd="0" presId="urn:microsoft.com/office/officeart/2005/8/layout/list1"/>
    <dgm:cxn modelId="{A53F4FD4-613A-47B5-A6A9-6F345143C367}" type="presParOf" srcId="{8F580214-8539-4934-A5F0-FCBBB1991A5D}" destId="{3C9BCE17-744F-4BE7-A09B-5C04B044D4B9}" srcOrd="8" destOrd="0" presId="urn:microsoft.com/office/officeart/2005/8/layout/list1"/>
    <dgm:cxn modelId="{0EF161F1-19E4-484C-83AE-13C384376C06}" type="presParOf" srcId="{3C9BCE17-744F-4BE7-A09B-5C04B044D4B9}" destId="{B9048DA5-DB90-40A3-8461-955B996BFC9B}" srcOrd="0" destOrd="0" presId="urn:microsoft.com/office/officeart/2005/8/layout/list1"/>
    <dgm:cxn modelId="{A391F8C8-B180-41B2-9B56-5B8CFA2A72F4}" type="presParOf" srcId="{3C9BCE17-744F-4BE7-A09B-5C04B044D4B9}" destId="{4CE059AA-308C-4568-805A-D6F547BCFB42}" srcOrd="1" destOrd="0" presId="urn:microsoft.com/office/officeart/2005/8/layout/list1"/>
    <dgm:cxn modelId="{525B7D7E-183A-4C4A-8DD0-920A4282A3E7}" type="presParOf" srcId="{8F580214-8539-4934-A5F0-FCBBB1991A5D}" destId="{1E3896EC-53BD-4F26-8856-B01F9C8E86A8}" srcOrd="9" destOrd="0" presId="urn:microsoft.com/office/officeart/2005/8/layout/list1"/>
    <dgm:cxn modelId="{6A9FB7A6-01A9-4D8D-B06D-2C2A460C412E}" type="presParOf" srcId="{8F580214-8539-4934-A5F0-FCBBB1991A5D}" destId="{9219825E-EE89-46FE-9B9E-CF938E22D67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F09775-C99A-4725-B860-442BC7BF4697}"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4B9C1F1A-6EE4-4103-8F3C-56F4125B3222}">
      <dgm:prSet phldrT="[Text]"/>
      <dgm:spPr/>
      <dgm:t>
        <a:bodyPr/>
        <a:lstStyle/>
        <a:p>
          <a:r>
            <a:rPr lang="en-US" dirty="0"/>
            <a:t>Risk</a:t>
          </a:r>
        </a:p>
      </dgm:t>
    </dgm:pt>
    <dgm:pt modelId="{34F8E845-5E9E-4F13-8CB2-895354BCD517}" type="parTrans" cxnId="{F0BE79D8-40A7-4817-8D6B-2F722A598FA5}">
      <dgm:prSet/>
      <dgm:spPr/>
      <dgm:t>
        <a:bodyPr/>
        <a:lstStyle/>
        <a:p>
          <a:endParaRPr lang="en-US"/>
        </a:p>
      </dgm:t>
    </dgm:pt>
    <dgm:pt modelId="{30D5CE59-D3D4-4458-BE82-D09746EC871C}" type="sibTrans" cxnId="{F0BE79D8-40A7-4817-8D6B-2F722A598FA5}">
      <dgm:prSet/>
      <dgm:spPr/>
      <dgm:t>
        <a:bodyPr/>
        <a:lstStyle/>
        <a:p>
          <a:endParaRPr lang="en-US"/>
        </a:p>
      </dgm:t>
    </dgm:pt>
    <dgm:pt modelId="{D4264352-32D1-4A8F-8FA1-5D20BEE2926D}">
      <dgm:prSet phldrT="[Text]"/>
      <dgm:spPr/>
      <dgm:t>
        <a:bodyPr/>
        <a:lstStyle/>
        <a:p>
          <a:r>
            <a:rPr lang="en-US" dirty="0"/>
            <a:t>Systematic Risk</a:t>
          </a:r>
        </a:p>
      </dgm:t>
    </dgm:pt>
    <dgm:pt modelId="{2F5D222D-36D7-4803-ACAB-08F85B5ED31B}" type="parTrans" cxnId="{1E667715-53BA-4604-9FCC-CFC981914EC4}">
      <dgm:prSet/>
      <dgm:spPr/>
      <dgm:t>
        <a:bodyPr/>
        <a:lstStyle/>
        <a:p>
          <a:endParaRPr lang="en-US"/>
        </a:p>
      </dgm:t>
    </dgm:pt>
    <dgm:pt modelId="{E62961B0-29B8-421C-91ED-2234595382AE}" type="sibTrans" cxnId="{1E667715-53BA-4604-9FCC-CFC981914EC4}">
      <dgm:prSet/>
      <dgm:spPr/>
      <dgm:t>
        <a:bodyPr/>
        <a:lstStyle/>
        <a:p>
          <a:endParaRPr lang="en-US"/>
        </a:p>
      </dgm:t>
    </dgm:pt>
    <dgm:pt modelId="{5CE32A3D-9870-4D68-B678-585A65F545DD}">
      <dgm:prSet phldrT="[Text]"/>
      <dgm:spPr/>
      <dgm:t>
        <a:bodyPr/>
        <a:lstStyle/>
        <a:p>
          <a:r>
            <a:rPr lang="en-US" dirty="0"/>
            <a:t>Market Risk</a:t>
          </a:r>
        </a:p>
      </dgm:t>
    </dgm:pt>
    <dgm:pt modelId="{232609C5-E596-4100-808D-84B22A3415E2}" type="parTrans" cxnId="{794C8308-5114-4BA3-823B-52CE3037CDB4}">
      <dgm:prSet/>
      <dgm:spPr/>
      <dgm:t>
        <a:bodyPr/>
        <a:lstStyle/>
        <a:p>
          <a:endParaRPr lang="en-US"/>
        </a:p>
      </dgm:t>
    </dgm:pt>
    <dgm:pt modelId="{EAC5A2C2-407E-498F-B0B6-6C890DEEC105}" type="sibTrans" cxnId="{794C8308-5114-4BA3-823B-52CE3037CDB4}">
      <dgm:prSet/>
      <dgm:spPr/>
      <dgm:t>
        <a:bodyPr/>
        <a:lstStyle/>
        <a:p>
          <a:endParaRPr lang="en-US"/>
        </a:p>
      </dgm:t>
    </dgm:pt>
    <dgm:pt modelId="{771E7213-CB8C-4AB1-8D85-16B30EB6872F}">
      <dgm:prSet phldrT="[Text]"/>
      <dgm:spPr/>
      <dgm:t>
        <a:bodyPr/>
        <a:lstStyle/>
        <a:p>
          <a:r>
            <a:rPr lang="en-US" dirty="0"/>
            <a:t>Interest Rate Risk</a:t>
          </a:r>
        </a:p>
      </dgm:t>
    </dgm:pt>
    <dgm:pt modelId="{D7589D5B-553F-47D8-85EA-3268C843C70E}" type="parTrans" cxnId="{4CF6BCED-BDE8-48A8-BE58-5177DA2A807B}">
      <dgm:prSet/>
      <dgm:spPr/>
      <dgm:t>
        <a:bodyPr/>
        <a:lstStyle/>
        <a:p>
          <a:endParaRPr lang="en-US"/>
        </a:p>
      </dgm:t>
    </dgm:pt>
    <dgm:pt modelId="{EA8AB031-9B65-492F-9FAD-F8F338DFBB73}" type="sibTrans" cxnId="{4CF6BCED-BDE8-48A8-BE58-5177DA2A807B}">
      <dgm:prSet/>
      <dgm:spPr/>
      <dgm:t>
        <a:bodyPr/>
        <a:lstStyle/>
        <a:p>
          <a:endParaRPr lang="en-US"/>
        </a:p>
      </dgm:t>
    </dgm:pt>
    <dgm:pt modelId="{1F4B6432-36E4-49F2-AFA0-042937A8CA49}">
      <dgm:prSet phldrT="[Text]"/>
      <dgm:spPr/>
      <dgm:t>
        <a:bodyPr/>
        <a:lstStyle/>
        <a:p>
          <a:r>
            <a:rPr lang="en-US" dirty="0"/>
            <a:t>Unsystematic Risk</a:t>
          </a:r>
        </a:p>
      </dgm:t>
    </dgm:pt>
    <dgm:pt modelId="{BE3468F0-7752-4F81-8BC4-AAFA2444A357}" type="parTrans" cxnId="{F1770A88-9EA0-4D49-ABE8-4AF3BCBB4345}">
      <dgm:prSet/>
      <dgm:spPr/>
      <dgm:t>
        <a:bodyPr/>
        <a:lstStyle/>
        <a:p>
          <a:endParaRPr lang="en-US"/>
        </a:p>
      </dgm:t>
    </dgm:pt>
    <dgm:pt modelId="{4685B7FE-A02C-460B-A32A-7F9D88C389A1}" type="sibTrans" cxnId="{F1770A88-9EA0-4D49-ABE8-4AF3BCBB4345}">
      <dgm:prSet/>
      <dgm:spPr/>
      <dgm:t>
        <a:bodyPr/>
        <a:lstStyle/>
        <a:p>
          <a:endParaRPr lang="en-US"/>
        </a:p>
      </dgm:t>
    </dgm:pt>
    <dgm:pt modelId="{4AFB56B7-750C-4F0F-B6A2-67977BBE0A49}">
      <dgm:prSet phldrT="[Text]"/>
      <dgm:spPr/>
      <dgm:t>
        <a:bodyPr/>
        <a:lstStyle/>
        <a:p>
          <a:r>
            <a:rPr lang="en-US" dirty="0"/>
            <a:t>Business Risk</a:t>
          </a:r>
        </a:p>
      </dgm:t>
    </dgm:pt>
    <dgm:pt modelId="{A5841CA3-D5D4-4443-864E-BD0CAE82FA18}" type="parTrans" cxnId="{A7B1AFE9-C0A4-44EE-BFDE-E9CD2D82B7BC}">
      <dgm:prSet/>
      <dgm:spPr/>
      <dgm:t>
        <a:bodyPr/>
        <a:lstStyle/>
        <a:p>
          <a:endParaRPr lang="en-US"/>
        </a:p>
      </dgm:t>
    </dgm:pt>
    <dgm:pt modelId="{FB0C3EE7-361B-4701-B930-E53D8387FAF8}" type="sibTrans" cxnId="{A7B1AFE9-C0A4-44EE-BFDE-E9CD2D82B7BC}">
      <dgm:prSet/>
      <dgm:spPr/>
      <dgm:t>
        <a:bodyPr/>
        <a:lstStyle/>
        <a:p>
          <a:endParaRPr lang="en-US"/>
        </a:p>
      </dgm:t>
    </dgm:pt>
    <dgm:pt modelId="{AD4F644D-753D-4E6B-ABF4-C910A07190E6}">
      <dgm:prSet phldrT="[Text]"/>
      <dgm:spPr/>
      <dgm:t>
        <a:bodyPr/>
        <a:lstStyle/>
        <a:p>
          <a:r>
            <a:rPr lang="en-US" dirty="0"/>
            <a:t>Purchasing Power Risk</a:t>
          </a:r>
        </a:p>
      </dgm:t>
    </dgm:pt>
    <dgm:pt modelId="{41778861-1C86-4DE3-B8E5-F16D1C09CDC1}" type="parTrans" cxnId="{1E241325-C85C-4B04-A420-3E29B1183440}">
      <dgm:prSet/>
      <dgm:spPr/>
      <dgm:t>
        <a:bodyPr/>
        <a:lstStyle/>
        <a:p>
          <a:endParaRPr lang="en-US"/>
        </a:p>
      </dgm:t>
    </dgm:pt>
    <dgm:pt modelId="{8D672C89-362A-4459-8BA5-061ADCE1C893}" type="sibTrans" cxnId="{1E241325-C85C-4B04-A420-3E29B1183440}">
      <dgm:prSet/>
      <dgm:spPr/>
      <dgm:t>
        <a:bodyPr/>
        <a:lstStyle/>
        <a:p>
          <a:endParaRPr lang="en-US"/>
        </a:p>
      </dgm:t>
    </dgm:pt>
    <dgm:pt modelId="{9C9B92A1-7547-417C-84FE-3EB5589B42DD}">
      <dgm:prSet phldrT="[Text]"/>
      <dgm:spPr/>
      <dgm:t>
        <a:bodyPr/>
        <a:lstStyle/>
        <a:p>
          <a:r>
            <a:rPr lang="en-US" dirty="0"/>
            <a:t>Financial Risk</a:t>
          </a:r>
        </a:p>
      </dgm:t>
    </dgm:pt>
    <dgm:pt modelId="{86CDCAA2-6ACB-49B1-AE31-C8D159B92041}" type="parTrans" cxnId="{173C219E-D32D-4964-A277-5B6C81DDE361}">
      <dgm:prSet/>
      <dgm:spPr/>
      <dgm:t>
        <a:bodyPr/>
        <a:lstStyle/>
        <a:p>
          <a:endParaRPr lang="en-US"/>
        </a:p>
      </dgm:t>
    </dgm:pt>
    <dgm:pt modelId="{32359463-100B-4016-9EA8-E140E364C3FA}" type="sibTrans" cxnId="{173C219E-D32D-4964-A277-5B6C81DDE361}">
      <dgm:prSet/>
      <dgm:spPr/>
      <dgm:t>
        <a:bodyPr/>
        <a:lstStyle/>
        <a:p>
          <a:endParaRPr lang="en-US"/>
        </a:p>
      </dgm:t>
    </dgm:pt>
    <dgm:pt modelId="{D478E815-466D-48AE-A437-7793E9F77DE4}" type="pres">
      <dgm:prSet presAssocID="{F4F09775-C99A-4725-B860-442BC7BF4697}" presName="mainComposite" presStyleCnt="0">
        <dgm:presLayoutVars>
          <dgm:chPref val="1"/>
          <dgm:dir/>
          <dgm:animOne val="branch"/>
          <dgm:animLvl val="lvl"/>
          <dgm:resizeHandles val="exact"/>
        </dgm:presLayoutVars>
      </dgm:prSet>
      <dgm:spPr/>
    </dgm:pt>
    <dgm:pt modelId="{487BCD46-D461-4B4A-BFF3-28091049ECDA}" type="pres">
      <dgm:prSet presAssocID="{F4F09775-C99A-4725-B860-442BC7BF4697}" presName="hierFlow" presStyleCnt="0"/>
      <dgm:spPr/>
    </dgm:pt>
    <dgm:pt modelId="{9342898F-EB24-497E-9719-72DC92D7085B}" type="pres">
      <dgm:prSet presAssocID="{F4F09775-C99A-4725-B860-442BC7BF4697}" presName="hierChild1" presStyleCnt="0">
        <dgm:presLayoutVars>
          <dgm:chPref val="1"/>
          <dgm:animOne val="branch"/>
          <dgm:animLvl val="lvl"/>
        </dgm:presLayoutVars>
      </dgm:prSet>
      <dgm:spPr/>
    </dgm:pt>
    <dgm:pt modelId="{CAB4C63B-4578-49D3-8B4B-79148DB1F68A}" type="pres">
      <dgm:prSet presAssocID="{4B9C1F1A-6EE4-4103-8F3C-56F4125B3222}" presName="Name14" presStyleCnt="0"/>
      <dgm:spPr/>
    </dgm:pt>
    <dgm:pt modelId="{3FFA75F4-A295-4288-9EE2-3DB3C11E544D}" type="pres">
      <dgm:prSet presAssocID="{4B9C1F1A-6EE4-4103-8F3C-56F4125B3222}" presName="level1Shape" presStyleLbl="node0" presStyleIdx="0" presStyleCnt="1">
        <dgm:presLayoutVars>
          <dgm:chPref val="3"/>
        </dgm:presLayoutVars>
      </dgm:prSet>
      <dgm:spPr/>
    </dgm:pt>
    <dgm:pt modelId="{553BFE76-5FBF-4C73-B5F9-199CB9A0C6EC}" type="pres">
      <dgm:prSet presAssocID="{4B9C1F1A-6EE4-4103-8F3C-56F4125B3222}" presName="hierChild2" presStyleCnt="0"/>
      <dgm:spPr/>
    </dgm:pt>
    <dgm:pt modelId="{9FD2F08E-DD1A-4CB0-8E79-F7A82C227D72}" type="pres">
      <dgm:prSet presAssocID="{2F5D222D-36D7-4803-ACAB-08F85B5ED31B}" presName="Name19" presStyleLbl="parChTrans1D2" presStyleIdx="0" presStyleCnt="2"/>
      <dgm:spPr/>
    </dgm:pt>
    <dgm:pt modelId="{EE2150F0-D8D8-4614-8B5F-9ABCAAEE13FE}" type="pres">
      <dgm:prSet presAssocID="{D4264352-32D1-4A8F-8FA1-5D20BEE2926D}" presName="Name21" presStyleCnt="0"/>
      <dgm:spPr/>
    </dgm:pt>
    <dgm:pt modelId="{8FAD904D-EBF9-453A-8F19-C07D9FF9D822}" type="pres">
      <dgm:prSet presAssocID="{D4264352-32D1-4A8F-8FA1-5D20BEE2926D}" presName="level2Shape" presStyleLbl="node2" presStyleIdx="0" presStyleCnt="2"/>
      <dgm:spPr/>
    </dgm:pt>
    <dgm:pt modelId="{6EC48862-E278-4A8A-B9A1-34A9B3C9835F}" type="pres">
      <dgm:prSet presAssocID="{D4264352-32D1-4A8F-8FA1-5D20BEE2926D}" presName="hierChild3" presStyleCnt="0"/>
      <dgm:spPr/>
    </dgm:pt>
    <dgm:pt modelId="{9F26AAFC-E172-4CAD-8CB3-3114F4F0633C}" type="pres">
      <dgm:prSet presAssocID="{232609C5-E596-4100-808D-84B22A3415E2}" presName="Name19" presStyleLbl="parChTrans1D3" presStyleIdx="0" presStyleCnt="5"/>
      <dgm:spPr/>
    </dgm:pt>
    <dgm:pt modelId="{6BDFDC0A-D787-4CC9-B04A-B2BC2793999D}" type="pres">
      <dgm:prSet presAssocID="{5CE32A3D-9870-4D68-B678-585A65F545DD}" presName="Name21" presStyleCnt="0"/>
      <dgm:spPr/>
    </dgm:pt>
    <dgm:pt modelId="{0E15D4A8-A1B8-4841-B44B-5B0D744FEBF2}" type="pres">
      <dgm:prSet presAssocID="{5CE32A3D-9870-4D68-B678-585A65F545DD}" presName="level2Shape" presStyleLbl="node3" presStyleIdx="0" presStyleCnt="5"/>
      <dgm:spPr/>
    </dgm:pt>
    <dgm:pt modelId="{F9B4017C-929E-4706-A36F-9D6F13A032BD}" type="pres">
      <dgm:prSet presAssocID="{5CE32A3D-9870-4D68-B678-585A65F545DD}" presName="hierChild3" presStyleCnt="0"/>
      <dgm:spPr/>
    </dgm:pt>
    <dgm:pt modelId="{AE128BD4-FACD-4F7E-AFAE-71478E2650B6}" type="pres">
      <dgm:prSet presAssocID="{D7589D5B-553F-47D8-85EA-3268C843C70E}" presName="Name19" presStyleLbl="parChTrans1D3" presStyleIdx="1" presStyleCnt="5"/>
      <dgm:spPr/>
    </dgm:pt>
    <dgm:pt modelId="{9A2134F4-AE48-460F-858F-705F755D2965}" type="pres">
      <dgm:prSet presAssocID="{771E7213-CB8C-4AB1-8D85-16B30EB6872F}" presName="Name21" presStyleCnt="0"/>
      <dgm:spPr/>
    </dgm:pt>
    <dgm:pt modelId="{8EAF4D5E-CD54-473A-9A3B-02DA8E700935}" type="pres">
      <dgm:prSet presAssocID="{771E7213-CB8C-4AB1-8D85-16B30EB6872F}" presName="level2Shape" presStyleLbl="node3" presStyleIdx="1" presStyleCnt="5"/>
      <dgm:spPr/>
    </dgm:pt>
    <dgm:pt modelId="{36EAFE74-EA2E-4598-B09E-2D03C7C09C14}" type="pres">
      <dgm:prSet presAssocID="{771E7213-CB8C-4AB1-8D85-16B30EB6872F}" presName="hierChild3" presStyleCnt="0"/>
      <dgm:spPr/>
    </dgm:pt>
    <dgm:pt modelId="{E982C7C2-3CAF-425E-9C47-4F4A42E9A5FA}" type="pres">
      <dgm:prSet presAssocID="{41778861-1C86-4DE3-B8E5-F16D1C09CDC1}" presName="Name19" presStyleLbl="parChTrans1D3" presStyleIdx="2" presStyleCnt="5"/>
      <dgm:spPr/>
    </dgm:pt>
    <dgm:pt modelId="{15801919-9A72-4F60-9226-E99452A7E86E}" type="pres">
      <dgm:prSet presAssocID="{AD4F644D-753D-4E6B-ABF4-C910A07190E6}" presName="Name21" presStyleCnt="0"/>
      <dgm:spPr/>
    </dgm:pt>
    <dgm:pt modelId="{546D3B74-BE25-4369-B0F7-4A3D90958210}" type="pres">
      <dgm:prSet presAssocID="{AD4F644D-753D-4E6B-ABF4-C910A07190E6}" presName="level2Shape" presStyleLbl="node3" presStyleIdx="2" presStyleCnt="5"/>
      <dgm:spPr/>
    </dgm:pt>
    <dgm:pt modelId="{A1FCA293-9030-485E-B1CA-DEAA06A48876}" type="pres">
      <dgm:prSet presAssocID="{AD4F644D-753D-4E6B-ABF4-C910A07190E6}" presName="hierChild3" presStyleCnt="0"/>
      <dgm:spPr/>
    </dgm:pt>
    <dgm:pt modelId="{45FBB499-3A63-4834-9E0E-3DE7C80F1072}" type="pres">
      <dgm:prSet presAssocID="{BE3468F0-7752-4F81-8BC4-AAFA2444A357}" presName="Name19" presStyleLbl="parChTrans1D2" presStyleIdx="1" presStyleCnt="2"/>
      <dgm:spPr/>
    </dgm:pt>
    <dgm:pt modelId="{E9EF5107-6C59-48DC-9A5F-448FE81E906B}" type="pres">
      <dgm:prSet presAssocID="{1F4B6432-36E4-49F2-AFA0-042937A8CA49}" presName="Name21" presStyleCnt="0"/>
      <dgm:spPr/>
    </dgm:pt>
    <dgm:pt modelId="{3CC577D9-A3C4-434F-8DD1-1EF24AAD5F74}" type="pres">
      <dgm:prSet presAssocID="{1F4B6432-36E4-49F2-AFA0-042937A8CA49}" presName="level2Shape" presStyleLbl="node2" presStyleIdx="1" presStyleCnt="2"/>
      <dgm:spPr/>
    </dgm:pt>
    <dgm:pt modelId="{2AAF3770-A2BB-4F72-AEF1-06A87141FBD8}" type="pres">
      <dgm:prSet presAssocID="{1F4B6432-36E4-49F2-AFA0-042937A8CA49}" presName="hierChild3" presStyleCnt="0"/>
      <dgm:spPr/>
    </dgm:pt>
    <dgm:pt modelId="{E54D351A-8483-4C5D-9AD3-337FB902DFAC}" type="pres">
      <dgm:prSet presAssocID="{A5841CA3-D5D4-4443-864E-BD0CAE82FA18}" presName="Name19" presStyleLbl="parChTrans1D3" presStyleIdx="3" presStyleCnt="5"/>
      <dgm:spPr/>
    </dgm:pt>
    <dgm:pt modelId="{34871BE0-B5E8-419E-8F2A-5920CBAC6834}" type="pres">
      <dgm:prSet presAssocID="{4AFB56B7-750C-4F0F-B6A2-67977BBE0A49}" presName="Name21" presStyleCnt="0"/>
      <dgm:spPr/>
    </dgm:pt>
    <dgm:pt modelId="{D4144F37-8C74-4285-9BF9-2B9EE5E36D4F}" type="pres">
      <dgm:prSet presAssocID="{4AFB56B7-750C-4F0F-B6A2-67977BBE0A49}" presName="level2Shape" presStyleLbl="node3" presStyleIdx="3" presStyleCnt="5"/>
      <dgm:spPr/>
    </dgm:pt>
    <dgm:pt modelId="{241127F7-E9F5-4B29-B832-4D2E8A71B97C}" type="pres">
      <dgm:prSet presAssocID="{4AFB56B7-750C-4F0F-B6A2-67977BBE0A49}" presName="hierChild3" presStyleCnt="0"/>
      <dgm:spPr/>
    </dgm:pt>
    <dgm:pt modelId="{E608A04C-C43D-453A-A7CE-C67DBF02604D}" type="pres">
      <dgm:prSet presAssocID="{86CDCAA2-6ACB-49B1-AE31-C8D159B92041}" presName="Name19" presStyleLbl="parChTrans1D3" presStyleIdx="4" presStyleCnt="5"/>
      <dgm:spPr/>
    </dgm:pt>
    <dgm:pt modelId="{D80BDF15-55A9-4592-84D2-82A86FA7EBAD}" type="pres">
      <dgm:prSet presAssocID="{9C9B92A1-7547-417C-84FE-3EB5589B42DD}" presName="Name21" presStyleCnt="0"/>
      <dgm:spPr/>
    </dgm:pt>
    <dgm:pt modelId="{8023D488-8504-4A51-991A-B9D545CE0A45}" type="pres">
      <dgm:prSet presAssocID="{9C9B92A1-7547-417C-84FE-3EB5589B42DD}" presName="level2Shape" presStyleLbl="node3" presStyleIdx="4" presStyleCnt="5"/>
      <dgm:spPr/>
    </dgm:pt>
    <dgm:pt modelId="{C6BC8549-6CF1-49E3-BF4E-AFE2B5BB4CC1}" type="pres">
      <dgm:prSet presAssocID="{9C9B92A1-7547-417C-84FE-3EB5589B42DD}" presName="hierChild3" presStyleCnt="0"/>
      <dgm:spPr/>
    </dgm:pt>
    <dgm:pt modelId="{0D873BE1-4C4F-4976-B306-58E3FD0A1187}" type="pres">
      <dgm:prSet presAssocID="{F4F09775-C99A-4725-B860-442BC7BF4697}" presName="bgShapesFlow" presStyleCnt="0"/>
      <dgm:spPr/>
    </dgm:pt>
  </dgm:ptLst>
  <dgm:cxnLst>
    <dgm:cxn modelId="{794C8308-5114-4BA3-823B-52CE3037CDB4}" srcId="{D4264352-32D1-4A8F-8FA1-5D20BEE2926D}" destId="{5CE32A3D-9870-4D68-B678-585A65F545DD}" srcOrd="0" destOrd="0" parTransId="{232609C5-E596-4100-808D-84B22A3415E2}" sibTransId="{EAC5A2C2-407E-498F-B0B6-6C890DEEC105}"/>
    <dgm:cxn modelId="{CC0B3015-8825-4D98-BBC8-58985EBC791F}" type="presOf" srcId="{86CDCAA2-6ACB-49B1-AE31-C8D159B92041}" destId="{E608A04C-C43D-453A-A7CE-C67DBF02604D}" srcOrd="0" destOrd="0" presId="urn:microsoft.com/office/officeart/2005/8/layout/hierarchy6"/>
    <dgm:cxn modelId="{1E667715-53BA-4604-9FCC-CFC981914EC4}" srcId="{4B9C1F1A-6EE4-4103-8F3C-56F4125B3222}" destId="{D4264352-32D1-4A8F-8FA1-5D20BEE2926D}" srcOrd="0" destOrd="0" parTransId="{2F5D222D-36D7-4803-ACAB-08F85B5ED31B}" sibTransId="{E62961B0-29B8-421C-91ED-2234595382AE}"/>
    <dgm:cxn modelId="{8C15ED22-84C2-4F76-99D0-A44BE1D41C5A}" type="presOf" srcId="{D4264352-32D1-4A8F-8FA1-5D20BEE2926D}" destId="{8FAD904D-EBF9-453A-8F19-C07D9FF9D822}" srcOrd="0" destOrd="0" presId="urn:microsoft.com/office/officeart/2005/8/layout/hierarchy6"/>
    <dgm:cxn modelId="{1E241325-C85C-4B04-A420-3E29B1183440}" srcId="{D4264352-32D1-4A8F-8FA1-5D20BEE2926D}" destId="{AD4F644D-753D-4E6B-ABF4-C910A07190E6}" srcOrd="2" destOrd="0" parTransId="{41778861-1C86-4DE3-B8E5-F16D1C09CDC1}" sibTransId="{8D672C89-362A-4459-8BA5-061ADCE1C893}"/>
    <dgm:cxn modelId="{0E1EB735-4D16-49B5-9A80-D36DD26C348C}" type="presOf" srcId="{D7589D5B-553F-47D8-85EA-3268C843C70E}" destId="{AE128BD4-FACD-4F7E-AFAE-71478E2650B6}" srcOrd="0" destOrd="0" presId="urn:microsoft.com/office/officeart/2005/8/layout/hierarchy6"/>
    <dgm:cxn modelId="{AF85293A-804D-46CD-9339-B02AF97F92E2}" type="presOf" srcId="{AD4F644D-753D-4E6B-ABF4-C910A07190E6}" destId="{546D3B74-BE25-4369-B0F7-4A3D90958210}" srcOrd="0" destOrd="0" presId="urn:microsoft.com/office/officeart/2005/8/layout/hierarchy6"/>
    <dgm:cxn modelId="{98170144-1851-4306-8084-AED36D272A7F}" type="presOf" srcId="{F4F09775-C99A-4725-B860-442BC7BF4697}" destId="{D478E815-466D-48AE-A437-7793E9F77DE4}" srcOrd="0" destOrd="0" presId="urn:microsoft.com/office/officeart/2005/8/layout/hierarchy6"/>
    <dgm:cxn modelId="{2B446451-ACB5-46CA-A645-4B58CDFE6D77}" type="presOf" srcId="{232609C5-E596-4100-808D-84B22A3415E2}" destId="{9F26AAFC-E172-4CAD-8CB3-3114F4F0633C}" srcOrd="0" destOrd="0" presId="urn:microsoft.com/office/officeart/2005/8/layout/hierarchy6"/>
    <dgm:cxn modelId="{912BA47B-BD68-483A-959F-08221CF77775}" type="presOf" srcId="{4B9C1F1A-6EE4-4103-8F3C-56F4125B3222}" destId="{3FFA75F4-A295-4288-9EE2-3DB3C11E544D}" srcOrd="0" destOrd="0" presId="urn:microsoft.com/office/officeart/2005/8/layout/hierarchy6"/>
    <dgm:cxn modelId="{29BA6F86-564A-4AAB-88BE-75DEF21D1BC6}" type="presOf" srcId="{4AFB56B7-750C-4F0F-B6A2-67977BBE0A49}" destId="{D4144F37-8C74-4285-9BF9-2B9EE5E36D4F}" srcOrd="0" destOrd="0" presId="urn:microsoft.com/office/officeart/2005/8/layout/hierarchy6"/>
    <dgm:cxn modelId="{50065F87-91BB-48CE-96E7-11AD42379B4A}" type="presOf" srcId="{771E7213-CB8C-4AB1-8D85-16B30EB6872F}" destId="{8EAF4D5E-CD54-473A-9A3B-02DA8E700935}" srcOrd="0" destOrd="0" presId="urn:microsoft.com/office/officeart/2005/8/layout/hierarchy6"/>
    <dgm:cxn modelId="{F1770A88-9EA0-4D49-ABE8-4AF3BCBB4345}" srcId="{4B9C1F1A-6EE4-4103-8F3C-56F4125B3222}" destId="{1F4B6432-36E4-49F2-AFA0-042937A8CA49}" srcOrd="1" destOrd="0" parTransId="{BE3468F0-7752-4F81-8BC4-AAFA2444A357}" sibTransId="{4685B7FE-A02C-460B-A32A-7F9D88C389A1}"/>
    <dgm:cxn modelId="{173C219E-D32D-4964-A277-5B6C81DDE361}" srcId="{1F4B6432-36E4-49F2-AFA0-042937A8CA49}" destId="{9C9B92A1-7547-417C-84FE-3EB5589B42DD}" srcOrd="1" destOrd="0" parTransId="{86CDCAA2-6ACB-49B1-AE31-C8D159B92041}" sibTransId="{32359463-100B-4016-9EA8-E140E364C3FA}"/>
    <dgm:cxn modelId="{0B2BA3A1-023C-480F-8420-47DD7F2221AD}" type="presOf" srcId="{A5841CA3-D5D4-4443-864E-BD0CAE82FA18}" destId="{E54D351A-8483-4C5D-9AD3-337FB902DFAC}" srcOrd="0" destOrd="0" presId="urn:microsoft.com/office/officeart/2005/8/layout/hierarchy6"/>
    <dgm:cxn modelId="{A90553AB-94C1-42B6-BA37-7ABB5F14A33F}" type="presOf" srcId="{5CE32A3D-9870-4D68-B678-585A65F545DD}" destId="{0E15D4A8-A1B8-4841-B44B-5B0D744FEBF2}" srcOrd="0" destOrd="0" presId="urn:microsoft.com/office/officeart/2005/8/layout/hierarchy6"/>
    <dgm:cxn modelId="{EDACA5C7-4F16-4E10-877B-B76418C0C4D2}" type="presOf" srcId="{1F4B6432-36E4-49F2-AFA0-042937A8CA49}" destId="{3CC577D9-A3C4-434F-8DD1-1EF24AAD5F74}" srcOrd="0" destOrd="0" presId="urn:microsoft.com/office/officeart/2005/8/layout/hierarchy6"/>
    <dgm:cxn modelId="{387246C9-B230-4EA8-9E4E-75802C1CDB1F}" type="presOf" srcId="{9C9B92A1-7547-417C-84FE-3EB5589B42DD}" destId="{8023D488-8504-4A51-991A-B9D545CE0A45}" srcOrd="0" destOrd="0" presId="urn:microsoft.com/office/officeart/2005/8/layout/hierarchy6"/>
    <dgm:cxn modelId="{517416CF-F762-4902-B4EA-A5DFDD62CD9C}" type="presOf" srcId="{2F5D222D-36D7-4803-ACAB-08F85B5ED31B}" destId="{9FD2F08E-DD1A-4CB0-8E79-F7A82C227D72}" srcOrd="0" destOrd="0" presId="urn:microsoft.com/office/officeart/2005/8/layout/hierarchy6"/>
    <dgm:cxn modelId="{C4B669D8-5090-451F-8ED0-4147162DF5DA}" type="presOf" srcId="{41778861-1C86-4DE3-B8E5-F16D1C09CDC1}" destId="{E982C7C2-3CAF-425E-9C47-4F4A42E9A5FA}" srcOrd="0" destOrd="0" presId="urn:microsoft.com/office/officeart/2005/8/layout/hierarchy6"/>
    <dgm:cxn modelId="{F0BE79D8-40A7-4817-8D6B-2F722A598FA5}" srcId="{F4F09775-C99A-4725-B860-442BC7BF4697}" destId="{4B9C1F1A-6EE4-4103-8F3C-56F4125B3222}" srcOrd="0" destOrd="0" parTransId="{34F8E845-5E9E-4F13-8CB2-895354BCD517}" sibTransId="{30D5CE59-D3D4-4458-BE82-D09746EC871C}"/>
    <dgm:cxn modelId="{A7B1AFE9-C0A4-44EE-BFDE-E9CD2D82B7BC}" srcId="{1F4B6432-36E4-49F2-AFA0-042937A8CA49}" destId="{4AFB56B7-750C-4F0F-B6A2-67977BBE0A49}" srcOrd="0" destOrd="0" parTransId="{A5841CA3-D5D4-4443-864E-BD0CAE82FA18}" sibTransId="{FB0C3EE7-361B-4701-B930-E53D8387FAF8}"/>
    <dgm:cxn modelId="{4CF6BCED-BDE8-48A8-BE58-5177DA2A807B}" srcId="{D4264352-32D1-4A8F-8FA1-5D20BEE2926D}" destId="{771E7213-CB8C-4AB1-8D85-16B30EB6872F}" srcOrd="1" destOrd="0" parTransId="{D7589D5B-553F-47D8-85EA-3268C843C70E}" sibTransId="{EA8AB031-9B65-492F-9FAD-F8F338DFBB73}"/>
    <dgm:cxn modelId="{C4B25CFF-7658-4132-B39B-A2AC9316D5B7}" type="presOf" srcId="{BE3468F0-7752-4F81-8BC4-AAFA2444A357}" destId="{45FBB499-3A63-4834-9E0E-3DE7C80F1072}" srcOrd="0" destOrd="0" presId="urn:microsoft.com/office/officeart/2005/8/layout/hierarchy6"/>
    <dgm:cxn modelId="{21DC2681-F827-4242-A026-AF7FA042E8DC}" type="presParOf" srcId="{D478E815-466D-48AE-A437-7793E9F77DE4}" destId="{487BCD46-D461-4B4A-BFF3-28091049ECDA}" srcOrd="0" destOrd="0" presId="urn:microsoft.com/office/officeart/2005/8/layout/hierarchy6"/>
    <dgm:cxn modelId="{6CB11F5F-1134-42CE-A103-D6934D84F83F}" type="presParOf" srcId="{487BCD46-D461-4B4A-BFF3-28091049ECDA}" destId="{9342898F-EB24-497E-9719-72DC92D7085B}" srcOrd="0" destOrd="0" presId="urn:microsoft.com/office/officeart/2005/8/layout/hierarchy6"/>
    <dgm:cxn modelId="{AB70C38F-3B67-4E79-A6E9-7419DA10E081}" type="presParOf" srcId="{9342898F-EB24-497E-9719-72DC92D7085B}" destId="{CAB4C63B-4578-49D3-8B4B-79148DB1F68A}" srcOrd="0" destOrd="0" presId="urn:microsoft.com/office/officeart/2005/8/layout/hierarchy6"/>
    <dgm:cxn modelId="{0D046CD9-01DB-4191-95B3-96174E6E41A9}" type="presParOf" srcId="{CAB4C63B-4578-49D3-8B4B-79148DB1F68A}" destId="{3FFA75F4-A295-4288-9EE2-3DB3C11E544D}" srcOrd="0" destOrd="0" presId="urn:microsoft.com/office/officeart/2005/8/layout/hierarchy6"/>
    <dgm:cxn modelId="{A72205B1-8542-4461-AE71-2FB7B52EC923}" type="presParOf" srcId="{CAB4C63B-4578-49D3-8B4B-79148DB1F68A}" destId="{553BFE76-5FBF-4C73-B5F9-199CB9A0C6EC}" srcOrd="1" destOrd="0" presId="urn:microsoft.com/office/officeart/2005/8/layout/hierarchy6"/>
    <dgm:cxn modelId="{7B655203-DCD4-463E-88C1-214AB1CE65D4}" type="presParOf" srcId="{553BFE76-5FBF-4C73-B5F9-199CB9A0C6EC}" destId="{9FD2F08E-DD1A-4CB0-8E79-F7A82C227D72}" srcOrd="0" destOrd="0" presId="urn:microsoft.com/office/officeart/2005/8/layout/hierarchy6"/>
    <dgm:cxn modelId="{B870E2C2-84C6-4418-8AD9-2BF1210D5AEB}" type="presParOf" srcId="{553BFE76-5FBF-4C73-B5F9-199CB9A0C6EC}" destId="{EE2150F0-D8D8-4614-8B5F-9ABCAAEE13FE}" srcOrd="1" destOrd="0" presId="urn:microsoft.com/office/officeart/2005/8/layout/hierarchy6"/>
    <dgm:cxn modelId="{F3A108B9-67B0-4C06-9B60-1D6E85B1D21E}" type="presParOf" srcId="{EE2150F0-D8D8-4614-8B5F-9ABCAAEE13FE}" destId="{8FAD904D-EBF9-453A-8F19-C07D9FF9D822}" srcOrd="0" destOrd="0" presId="urn:microsoft.com/office/officeart/2005/8/layout/hierarchy6"/>
    <dgm:cxn modelId="{B4EF09CB-B62A-4DA1-A5D6-8D93C08DBD18}" type="presParOf" srcId="{EE2150F0-D8D8-4614-8B5F-9ABCAAEE13FE}" destId="{6EC48862-E278-4A8A-B9A1-34A9B3C9835F}" srcOrd="1" destOrd="0" presId="urn:microsoft.com/office/officeart/2005/8/layout/hierarchy6"/>
    <dgm:cxn modelId="{A68E7662-9BA3-43C9-858F-9BC58A110001}" type="presParOf" srcId="{6EC48862-E278-4A8A-B9A1-34A9B3C9835F}" destId="{9F26AAFC-E172-4CAD-8CB3-3114F4F0633C}" srcOrd="0" destOrd="0" presId="urn:microsoft.com/office/officeart/2005/8/layout/hierarchy6"/>
    <dgm:cxn modelId="{50F27A72-BE0F-42AF-A704-694CA0A98DF9}" type="presParOf" srcId="{6EC48862-E278-4A8A-B9A1-34A9B3C9835F}" destId="{6BDFDC0A-D787-4CC9-B04A-B2BC2793999D}" srcOrd="1" destOrd="0" presId="urn:microsoft.com/office/officeart/2005/8/layout/hierarchy6"/>
    <dgm:cxn modelId="{95149E69-A86C-40BD-8439-93D91B1728C3}" type="presParOf" srcId="{6BDFDC0A-D787-4CC9-B04A-B2BC2793999D}" destId="{0E15D4A8-A1B8-4841-B44B-5B0D744FEBF2}" srcOrd="0" destOrd="0" presId="urn:microsoft.com/office/officeart/2005/8/layout/hierarchy6"/>
    <dgm:cxn modelId="{7A1C09DC-AFD3-48D4-94EB-7549A88BD994}" type="presParOf" srcId="{6BDFDC0A-D787-4CC9-B04A-B2BC2793999D}" destId="{F9B4017C-929E-4706-A36F-9D6F13A032BD}" srcOrd="1" destOrd="0" presId="urn:microsoft.com/office/officeart/2005/8/layout/hierarchy6"/>
    <dgm:cxn modelId="{A76951CC-E5E4-46C4-8186-038F1019E1D7}" type="presParOf" srcId="{6EC48862-E278-4A8A-B9A1-34A9B3C9835F}" destId="{AE128BD4-FACD-4F7E-AFAE-71478E2650B6}" srcOrd="2" destOrd="0" presId="urn:microsoft.com/office/officeart/2005/8/layout/hierarchy6"/>
    <dgm:cxn modelId="{59FD495C-F975-4963-8E56-A7EC5567BDBD}" type="presParOf" srcId="{6EC48862-E278-4A8A-B9A1-34A9B3C9835F}" destId="{9A2134F4-AE48-460F-858F-705F755D2965}" srcOrd="3" destOrd="0" presId="urn:microsoft.com/office/officeart/2005/8/layout/hierarchy6"/>
    <dgm:cxn modelId="{E79121C8-3CD0-483F-B3C5-F8A014248CBF}" type="presParOf" srcId="{9A2134F4-AE48-460F-858F-705F755D2965}" destId="{8EAF4D5E-CD54-473A-9A3B-02DA8E700935}" srcOrd="0" destOrd="0" presId="urn:microsoft.com/office/officeart/2005/8/layout/hierarchy6"/>
    <dgm:cxn modelId="{42EE011B-A799-4E9C-8208-6F564BC2CBD4}" type="presParOf" srcId="{9A2134F4-AE48-460F-858F-705F755D2965}" destId="{36EAFE74-EA2E-4598-B09E-2D03C7C09C14}" srcOrd="1" destOrd="0" presId="urn:microsoft.com/office/officeart/2005/8/layout/hierarchy6"/>
    <dgm:cxn modelId="{2E8633EC-93DE-4C23-AEC6-79AB3AE89ADB}" type="presParOf" srcId="{6EC48862-E278-4A8A-B9A1-34A9B3C9835F}" destId="{E982C7C2-3CAF-425E-9C47-4F4A42E9A5FA}" srcOrd="4" destOrd="0" presId="urn:microsoft.com/office/officeart/2005/8/layout/hierarchy6"/>
    <dgm:cxn modelId="{A5ABAB71-C96F-4909-9972-9E40CAE53D35}" type="presParOf" srcId="{6EC48862-E278-4A8A-B9A1-34A9B3C9835F}" destId="{15801919-9A72-4F60-9226-E99452A7E86E}" srcOrd="5" destOrd="0" presId="urn:microsoft.com/office/officeart/2005/8/layout/hierarchy6"/>
    <dgm:cxn modelId="{D50B7623-9AD6-4E88-A389-4A593437A0BA}" type="presParOf" srcId="{15801919-9A72-4F60-9226-E99452A7E86E}" destId="{546D3B74-BE25-4369-B0F7-4A3D90958210}" srcOrd="0" destOrd="0" presId="urn:microsoft.com/office/officeart/2005/8/layout/hierarchy6"/>
    <dgm:cxn modelId="{3E21A6AB-C28A-4972-B1E9-0D81754127D0}" type="presParOf" srcId="{15801919-9A72-4F60-9226-E99452A7E86E}" destId="{A1FCA293-9030-485E-B1CA-DEAA06A48876}" srcOrd="1" destOrd="0" presId="urn:microsoft.com/office/officeart/2005/8/layout/hierarchy6"/>
    <dgm:cxn modelId="{781C4779-A7D2-489A-A831-F1220AD98D9A}" type="presParOf" srcId="{553BFE76-5FBF-4C73-B5F9-199CB9A0C6EC}" destId="{45FBB499-3A63-4834-9E0E-3DE7C80F1072}" srcOrd="2" destOrd="0" presId="urn:microsoft.com/office/officeart/2005/8/layout/hierarchy6"/>
    <dgm:cxn modelId="{93DA8796-353B-4413-B133-91ECF836C1E5}" type="presParOf" srcId="{553BFE76-5FBF-4C73-B5F9-199CB9A0C6EC}" destId="{E9EF5107-6C59-48DC-9A5F-448FE81E906B}" srcOrd="3" destOrd="0" presId="urn:microsoft.com/office/officeart/2005/8/layout/hierarchy6"/>
    <dgm:cxn modelId="{EBE4F596-EA1A-4131-9C7B-91C448332330}" type="presParOf" srcId="{E9EF5107-6C59-48DC-9A5F-448FE81E906B}" destId="{3CC577D9-A3C4-434F-8DD1-1EF24AAD5F74}" srcOrd="0" destOrd="0" presId="urn:microsoft.com/office/officeart/2005/8/layout/hierarchy6"/>
    <dgm:cxn modelId="{2137F1E4-D131-4D70-9EBB-1EE6BD3A23CE}" type="presParOf" srcId="{E9EF5107-6C59-48DC-9A5F-448FE81E906B}" destId="{2AAF3770-A2BB-4F72-AEF1-06A87141FBD8}" srcOrd="1" destOrd="0" presId="urn:microsoft.com/office/officeart/2005/8/layout/hierarchy6"/>
    <dgm:cxn modelId="{8EAC4ADE-253E-411B-B003-E592CFA7893D}" type="presParOf" srcId="{2AAF3770-A2BB-4F72-AEF1-06A87141FBD8}" destId="{E54D351A-8483-4C5D-9AD3-337FB902DFAC}" srcOrd="0" destOrd="0" presId="urn:microsoft.com/office/officeart/2005/8/layout/hierarchy6"/>
    <dgm:cxn modelId="{AD7F3A08-6374-408F-91A1-2E27E054DD7A}" type="presParOf" srcId="{2AAF3770-A2BB-4F72-AEF1-06A87141FBD8}" destId="{34871BE0-B5E8-419E-8F2A-5920CBAC6834}" srcOrd="1" destOrd="0" presId="urn:microsoft.com/office/officeart/2005/8/layout/hierarchy6"/>
    <dgm:cxn modelId="{A3C51538-50EE-48D5-A5B8-A67A66E162F1}" type="presParOf" srcId="{34871BE0-B5E8-419E-8F2A-5920CBAC6834}" destId="{D4144F37-8C74-4285-9BF9-2B9EE5E36D4F}" srcOrd="0" destOrd="0" presId="urn:microsoft.com/office/officeart/2005/8/layout/hierarchy6"/>
    <dgm:cxn modelId="{4B1600E4-8F01-479A-B573-4C87AB119A70}" type="presParOf" srcId="{34871BE0-B5E8-419E-8F2A-5920CBAC6834}" destId="{241127F7-E9F5-4B29-B832-4D2E8A71B97C}" srcOrd="1" destOrd="0" presId="urn:microsoft.com/office/officeart/2005/8/layout/hierarchy6"/>
    <dgm:cxn modelId="{BC61675E-85F5-49BB-93E4-AC1668ABB6CA}" type="presParOf" srcId="{2AAF3770-A2BB-4F72-AEF1-06A87141FBD8}" destId="{E608A04C-C43D-453A-A7CE-C67DBF02604D}" srcOrd="2" destOrd="0" presId="urn:microsoft.com/office/officeart/2005/8/layout/hierarchy6"/>
    <dgm:cxn modelId="{DCFADB8D-0BF6-4973-96B5-A494A25C768A}" type="presParOf" srcId="{2AAF3770-A2BB-4F72-AEF1-06A87141FBD8}" destId="{D80BDF15-55A9-4592-84D2-82A86FA7EBAD}" srcOrd="3" destOrd="0" presId="urn:microsoft.com/office/officeart/2005/8/layout/hierarchy6"/>
    <dgm:cxn modelId="{79C70953-3BDF-4705-A8BF-A7443A84B982}" type="presParOf" srcId="{D80BDF15-55A9-4592-84D2-82A86FA7EBAD}" destId="{8023D488-8504-4A51-991A-B9D545CE0A45}" srcOrd="0" destOrd="0" presId="urn:microsoft.com/office/officeart/2005/8/layout/hierarchy6"/>
    <dgm:cxn modelId="{BCF362F3-512F-4E0C-8979-91D7F14CAB56}" type="presParOf" srcId="{D80BDF15-55A9-4592-84D2-82A86FA7EBAD}" destId="{C6BC8549-6CF1-49E3-BF4E-AFE2B5BB4CC1}" srcOrd="1" destOrd="0" presId="urn:microsoft.com/office/officeart/2005/8/layout/hierarchy6"/>
    <dgm:cxn modelId="{9F0C0B32-CF70-4BAB-8379-0670C2BC1C88}" type="presParOf" srcId="{D478E815-466D-48AE-A437-7793E9F77DE4}" destId="{0D873BE1-4C4F-4976-B306-58E3FD0A118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8F740C-386A-43C8-A194-561FE28FF5BF}"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0AB1308D-3558-415C-916E-17B163D61B2C}">
      <dgm:prSet phldrT="[Text]"/>
      <dgm:spPr/>
      <dgm:t>
        <a:bodyPr/>
        <a:lstStyle/>
        <a:p>
          <a:r>
            <a:rPr lang="en-US" b="1" dirty="0"/>
            <a:t>1. </a:t>
          </a:r>
          <a:r>
            <a:rPr lang="en-US" b="1" dirty="0">
              <a:latin typeface="Arial" panose="020B0604020202020204" pitchFamily="34" charset="0"/>
              <a:cs typeface="Arial" panose="020B0604020202020204" pitchFamily="34" charset="0"/>
            </a:rPr>
            <a:t>Market risk </a:t>
          </a:r>
          <a:endParaRPr lang="en-US" dirty="0">
            <a:latin typeface="Arial" panose="020B0604020202020204" pitchFamily="34" charset="0"/>
            <a:cs typeface="Arial" panose="020B0604020202020204" pitchFamily="34" charset="0"/>
          </a:endParaRPr>
        </a:p>
      </dgm:t>
    </dgm:pt>
    <dgm:pt modelId="{89A34352-1F4A-45A9-A489-5FF7D934774A}" type="parTrans" cxnId="{737EEF9A-8F16-46AE-8C98-6095E7FF954B}">
      <dgm:prSet/>
      <dgm:spPr/>
      <dgm:t>
        <a:bodyPr/>
        <a:lstStyle/>
        <a:p>
          <a:endParaRPr lang="en-US"/>
        </a:p>
      </dgm:t>
    </dgm:pt>
    <dgm:pt modelId="{7FABC1E8-ED7D-4856-AFF8-BB34C67680CE}" type="sibTrans" cxnId="{737EEF9A-8F16-46AE-8C98-6095E7FF954B}">
      <dgm:prSet/>
      <dgm:spPr/>
      <dgm:t>
        <a:bodyPr/>
        <a:lstStyle/>
        <a:p>
          <a:endParaRPr lang="en-US"/>
        </a:p>
      </dgm:t>
    </dgm:pt>
    <dgm:pt modelId="{06938D86-1DC2-4CEF-8BAC-08A522934BDB}">
      <dgm:prSet/>
      <dgm:spPr/>
      <dgm:t>
        <a:bodyPr/>
        <a:lstStyle/>
        <a:p>
          <a:r>
            <a:rPr lang="en-US" b="1" dirty="0"/>
            <a:t>3. </a:t>
          </a:r>
          <a:r>
            <a:rPr lang="en-US" b="1" dirty="0">
              <a:latin typeface="Arial" panose="020B0604020202020204" pitchFamily="34" charset="0"/>
              <a:cs typeface="Arial" panose="020B0604020202020204" pitchFamily="34" charset="0"/>
            </a:rPr>
            <a:t>Purchasing power or inflationary risk</a:t>
          </a:r>
          <a:r>
            <a:rPr lang="en-US" b="1" dirty="0"/>
            <a:t>.</a:t>
          </a:r>
        </a:p>
      </dgm:t>
    </dgm:pt>
    <dgm:pt modelId="{A925AD71-1668-4801-9F29-DF383481F076}" type="parTrans" cxnId="{255716B0-9EB6-4A0A-A681-4DB21F7A36E3}">
      <dgm:prSet/>
      <dgm:spPr/>
      <dgm:t>
        <a:bodyPr/>
        <a:lstStyle/>
        <a:p>
          <a:endParaRPr lang="en-US"/>
        </a:p>
      </dgm:t>
    </dgm:pt>
    <dgm:pt modelId="{53D2DDF5-96C6-4413-BB85-A1C4D568120E}" type="sibTrans" cxnId="{255716B0-9EB6-4A0A-A681-4DB21F7A36E3}">
      <dgm:prSet/>
      <dgm:spPr/>
      <dgm:t>
        <a:bodyPr/>
        <a:lstStyle/>
        <a:p>
          <a:endParaRPr lang="en-US"/>
        </a:p>
      </dgm:t>
    </dgm:pt>
    <dgm:pt modelId="{198AAB0F-71A3-43F4-AD11-DAD79A26F29F}">
      <dgm:prSet phldrT="[Text]"/>
      <dgm:spPr/>
      <dgm:t>
        <a:bodyPr/>
        <a:lstStyle/>
        <a:p>
          <a:r>
            <a:rPr lang="en-US" b="1" dirty="0"/>
            <a:t>2. </a:t>
          </a:r>
          <a:r>
            <a:rPr lang="en-US" b="1" dirty="0">
              <a:latin typeface="Arial" panose="020B0604020202020204" pitchFamily="34" charset="0"/>
              <a:cs typeface="Arial" panose="020B0604020202020204" pitchFamily="34" charset="0"/>
            </a:rPr>
            <a:t>Interest rate risk,</a:t>
          </a:r>
          <a:endParaRPr lang="en-US" dirty="0">
            <a:latin typeface="Arial" panose="020B0604020202020204" pitchFamily="34" charset="0"/>
            <a:cs typeface="Arial" panose="020B0604020202020204" pitchFamily="34" charset="0"/>
          </a:endParaRPr>
        </a:p>
      </dgm:t>
    </dgm:pt>
    <dgm:pt modelId="{D15E0354-8949-47A4-848C-AC51C5DBB6E2}" type="parTrans" cxnId="{B783E479-683E-4CDA-8AAC-43860CA68722}">
      <dgm:prSet/>
      <dgm:spPr/>
      <dgm:t>
        <a:bodyPr/>
        <a:lstStyle/>
        <a:p>
          <a:endParaRPr lang="en-US"/>
        </a:p>
      </dgm:t>
    </dgm:pt>
    <dgm:pt modelId="{A9750034-31D1-4B10-B396-D963AFFCBC79}" type="sibTrans" cxnId="{B783E479-683E-4CDA-8AAC-43860CA68722}">
      <dgm:prSet/>
      <dgm:spPr/>
      <dgm:t>
        <a:bodyPr/>
        <a:lstStyle/>
        <a:p>
          <a:endParaRPr lang="en-US"/>
        </a:p>
      </dgm:t>
    </dgm:pt>
    <dgm:pt modelId="{8F580214-8539-4934-A5F0-FCBBB1991A5D}" type="pres">
      <dgm:prSet presAssocID="{338F740C-386A-43C8-A194-561FE28FF5BF}" presName="linear" presStyleCnt="0">
        <dgm:presLayoutVars>
          <dgm:dir/>
          <dgm:animLvl val="lvl"/>
          <dgm:resizeHandles val="exact"/>
        </dgm:presLayoutVars>
      </dgm:prSet>
      <dgm:spPr/>
    </dgm:pt>
    <dgm:pt modelId="{46F26CBD-8CAF-4CD7-8B5B-2D0094698540}" type="pres">
      <dgm:prSet presAssocID="{0AB1308D-3558-415C-916E-17B163D61B2C}" presName="parentLin" presStyleCnt="0"/>
      <dgm:spPr/>
    </dgm:pt>
    <dgm:pt modelId="{812B13FD-5C8C-4278-834A-4E9EE0738189}" type="pres">
      <dgm:prSet presAssocID="{0AB1308D-3558-415C-916E-17B163D61B2C}" presName="parentLeftMargin" presStyleLbl="node1" presStyleIdx="0" presStyleCnt="3"/>
      <dgm:spPr/>
    </dgm:pt>
    <dgm:pt modelId="{37A75926-4A1E-418F-8951-EEFF357951C4}" type="pres">
      <dgm:prSet presAssocID="{0AB1308D-3558-415C-916E-17B163D61B2C}" presName="parentText" presStyleLbl="node1" presStyleIdx="0" presStyleCnt="3">
        <dgm:presLayoutVars>
          <dgm:chMax val="0"/>
          <dgm:bulletEnabled val="1"/>
        </dgm:presLayoutVars>
      </dgm:prSet>
      <dgm:spPr/>
    </dgm:pt>
    <dgm:pt modelId="{9628F08B-2F91-4AB5-B329-C4054A3DB1C5}" type="pres">
      <dgm:prSet presAssocID="{0AB1308D-3558-415C-916E-17B163D61B2C}" presName="negativeSpace" presStyleCnt="0"/>
      <dgm:spPr/>
    </dgm:pt>
    <dgm:pt modelId="{8D7F71A4-92B7-4FD2-BB09-9DF05C2A43FE}" type="pres">
      <dgm:prSet presAssocID="{0AB1308D-3558-415C-916E-17B163D61B2C}" presName="childText" presStyleLbl="conFgAcc1" presStyleIdx="0" presStyleCnt="3">
        <dgm:presLayoutVars>
          <dgm:bulletEnabled val="1"/>
        </dgm:presLayoutVars>
      </dgm:prSet>
      <dgm:spPr/>
    </dgm:pt>
    <dgm:pt modelId="{ACCD3BA6-87AD-4460-91C9-101D4AE643CA}" type="pres">
      <dgm:prSet presAssocID="{7FABC1E8-ED7D-4856-AFF8-BB34C67680CE}" presName="spaceBetweenRectangles" presStyleCnt="0"/>
      <dgm:spPr/>
    </dgm:pt>
    <dgm:pt modelId="{BB135864-0B9D-48CE-BC7A-B4B2FFA6172F}" type="pres">
      <dgm:prSet presAssocID="{198AAB0F-71A3-43F4-AD11-DAD79A26F29F}" presName="parentLin" presStyleCnt="0"/>
      <dgm:spPr/>
    </dgm:pt>
    <dgm:pt modelId="{5F870530-88B7-4987-9C7D-A6C40FAD79CC}" type="pres">
      <dgm:prSet presAssocID="{198AAB0F-71A3-43F4-AD11-DAD79A26F29F}" presName="parentLeftMargin" presStyleLbl="node1" presStyleIdx="0" presStyleCnt="3"/>
      <dgm:spPr/>
    </dgm:pt>
    <dgm:pt modelId="{1571FABE-CEDB-42DB-BF5D-785121B3C577}" type="pres">
      <dgm:prSet presAssocID="{198AAB0F-71A3-43F4-AD11-DAD79A26F29F}" presName="parentText" presStyleLbl="node1" presStyleIdx="1" presStyleCnt="3">
        <dgm:presLayoutVars>
          <dgm:chMax val="0"/>
          <dgm:bulletEnabled val="1"/>
        </dgm:presLayoutVars>
      </dgm:prSet>
      <dgm:spPr/>
    </dgm:pt>
    <dgm:pt modelId="{4B70C7DE-3333-4CE8-B292-00E5121F8DE5}" type="pres">
      <dgm:prSet presAssocID="{198AAB0F-71A3-43F4-AD11-DAD79A26F29F}" presName="negativeSpace" presStyleCnt="0"/>
      <dgm:spPr/>
    </dgm:pt>
    <dgm:pt modelId="{6FA3EA90-E054-45D1-99FD-43744E07CDF4}" type="pres">
      <dgm:prSet presAssocID="{198AAB0F-71A3-43F4-AD11-DAD79A26F29F}" presName="childText" presStyleLbl="conFgAcc1" presStyleIdx="1" presStyleCnt="3">
        <dgm:presLayoutVars>
          <dgm:bulletEnabled val="1"/>
        </dgm:presLayoutVars>
      </dgm:prSet>
      <dgm:spPr/>
    </dgm:pt>
    <dgm:pt modelId="{231F59BC-A7B5-47BD-98CC-4957B8C5D39D}" type="pres">
      <dgm:prSet presAssocID="{A9750034-31D1-4B10-B396-D963AFFCBC79}" presName="spaceBetweenRectangles" presStyleCnt="0"/>
      <dgm:spPr/>
    </dgm:pt>
    <dgm:pt modelId="{00A7919B-BE20-4927-B2A3-FAF1AD752C6B}" type="pres">
      <dgm:prSet presAssocID="{06938D86-1DC2-4CEF-8BAC-08A522934BDB}" presName="parentLin" presStyleCnt="0"/>
      <dgm:spPr/>
    </dgm:pt>
    <dgm:pt modelId="{67D794A7-A60E-476C-BD7B-FDD93C9C9217}" type="pres">
      <dgm:prSet presAssocID="{06938D86-1DC2-4CEF-8BAC-08A522934BDB}" presName="parentLeftMargin" presStyleLbl="node1" presStyleIdx="1" presStyleCnt="3"/>
      <dgm:spPr/>
    </dgm:pt>
    <dgm:pt modelId="{3637812F-823D-48FB-8BA6-C6E2D324BBD6}" type="pres">
      <dgm:prSet presAssocID="{06938D86-1DC2-4CEF-8BAC-08A522934BDB}" presName="parentText" presStyleLbl="node1" presStyleIdx="2" presStyleCnt="3">
        <dgm:presLayoutVars>
          <dgm:chMax val="0"/>
          <dgm:bulletEnabled val="1"/>
        </dgm:presLayoutVars>
      </dgm:prSet>
      <dgm:spPr/>
    </dgm:pt>
    <dgm:pt modelId="{71423FD4-49DB-4813-9221-48A99B77A6F5}" type="pres">
      <dgm:prSet presAssocID="{06938D86-1DC2-4CEF-8BAC-08A522934BDB}" presName="negativeSpace" presStyleCnt="0"/>
      <dgm:spPr/>
    </dgm:pt>
    <dgm:pt modelId="{402EBB33-A874-41E4-AC98-44A881C131A6}" type="pres">
      <dgm:prSet presAssocID="{06938D86-1DC2-4CEF-8BAC-08A522934BDB}" presName="childText" presStyleLbl="conFgAcc1" presStyleIdx="2" presStyleCnt="3">
        <dgm:presLayoutVars>
          <dgm:bulletEnabled val="1"/>
        </dgm:presLayoutVars>
      </dgm:prSet>
      <dgm:spPr/>
    </dgm:pt>
  </dgm:ptLst>
  <dgm:cxnLst>
    <dgm:cxn modelId="{D19FF407-783F-4C01-85DE-3312416D32AA}" type="presOf" srcId="{0AB1308D-3558-415C-916E-17B163D61B2C}" destId="{37A75926-4A1E-418F-8951-EEFF357951C4}" srcOrd="1" destOrd="0" presId="urn:microsoft.com/office/officeart/2005/8/layout/list1"/>
    <dgm:cxn modelId="{AEC3B03C-7D07-457C-AD77-289E922BD214}" type="presOf" srcId="{338F740C-386A-43C8-A194-561FE28FF5BF}" destId="{8F580214-8539-4934-A5F0-FCBBB1991A5D}" srcOrd="0" destOrd="0" presId="urn:microsoft.com/office/officeart/2005/8/layout/list1"/>
    <dgm:cxn modelId="{F4637540-F34B-4604-9C7F-0D296CA501A1}" type="presOf" srcId="{198AAB0F-71A3-43F4-AD11-DAD79A26F29F}" destId="{5F870530-88B7-4987-9C7D-A6C40FAD79CC}" srcOrd="0" destOrd="0" presId="urn:microsoft.com/office/officeart/2005/8/layout/list1"/>
    <dgm:cxn modelId="{A6FBDB47-6445-48AD-99C8-B24451F31550}" type="presOf" srcId="{06938D86-1DC2-4CEF-8BAC-08A522934BDB}" destId="{67D794A7-A60E-476C-BD7B-FDD93C9C9217}" srcOrd="0" destOrd="0" presId="urn:microsoft.com/office/officeart/2005/8/layout/list1"/>
    <dgm:cxn modelId="{B783E479-683E-4CDA-8AAC-43860CA68722}" srcId="{338F740C-386A-43C8-A194-561FE28FF5BF}" destId="{198AAB0F-71A3-43F4-AD11-DAD79A26F29F}" srcOrd="1" destOrd="0" parTransId="{D15E0354-8949-47A4-848C-AC51C5DBB6E2}" sibTransId="{A9750034-31D1-4B10-B396-D963AFFCBC79}"/>
    <dgm:cxn modelId="{737EEF9A-8F16-46AE-8C98-6095E7FF954B}" srcId="{338F740C-386A-43C8-A194-561FE28FF5BF}" destId="{0AB1308D-3558-415C-916E-17B163D61B2C}" srcOrd="0" destOrd="0" parTransId="{89A34352-1F4A-45A9-A489-5FF7D934774A}" sibTransId="{7FABC1E8-ED7D-4856-AFF8-BB34C67680CE}"/>
    <dgm:cxn modelId="{2E05D5AA-C112-4D6D-AAC7-BED51B668B27}" type="presOf" srcId="{198AAB0F-71A3-43F4-AD11-DAD79A26F29F}" destId="{1571FABE-CEDB-42DB-BF5D-785121B3C577}" srcOrd="1" destOrd="0" presId="urn:microsoft.com/office/officeart/2005/8/layout/list1"/>
    <dgm:cxn modelId="{255716B0-9EB6-4A0A-A681-4DB21F7A36E3}" srcId="{338F740C-386A-43C8-A194-561FE28FF5BF}" destId="{06938D86-1DC2-4CEF-8BAC-08A522934BDB}" srcOrd="2" destOrd="0" parTransId="{A925AD71-1668-4801-9F29-DF383481F076}" sibTransId="{53D2DDF5-96C6-4413-BB85-A1C4D568120E}"/>
    <dgm:cxn modelId="{9E350AC0-10CF-4D67-A547-E4C75DAC3302}" type="presOf" srcId="{0AB1308D-3558-415C-916E-17B163D61B2C}" destId="{812B13FD-5C8C-4278-834A-4E9EE0738189}" srcOrd="0" destOrd="0" presId="urn:microsoft.com/office/officeart/2005/8/layout/list1"/>
    <dgm:cxn modelId="{D64D27D7-C59E-4A6C-80A5-E196BAD10D84}" type="presOf" srcId="{06938D86-1DC2-4CEF-8BAC-08A522934BDB}" destId="{3637812F-823D-48FB-8BA6-C6E2D324BBD6}" srcOrd="1" destOrd="0" presId="urn:microsoft.com/office/officeart/2005/8/layout/list1"/>
    <dgm:cxn modelId="{961A9CEB-BB2A-4AEF-A505-4599FE39BD33}" type="presParOf" srcId="{8F580214-8539-4934-A5F0-FCBBB1991A5D}" destId="{46F26CBD-8CAF-4CD7-8B5B-2D0094698540}" srcOrd="0" destOrd="0" presId="urn:microsoft.com/office/officeart/2005/8/layout/list1"/>
    <dgm:cxn modelId="{DE55DE69-8083-419B-97E8-3B65AF6E0E59}" type="presParOf" srcId="{46F26CBD-8CAF-4CD7-8B5B-2D0094698540}" destId="{812B13FD-5C8C-4278-834A-4E9EE0738189}" srcOrd="0" destOrd="0" presId="urn:microsoft.com/office/officeart/2005/8/layout/list1"/>
    <dgm:cxn modelId="{2FFDF0B4-35D2-4730-95CD-02E043495AF9}" type="presParOf" srcId="{46F26CBD-8CAF-4CD7-8B5B-2D0094698540}" destId="{37A75926-4A1E-418F-8951-EEFF357951C4}" srcOrd="1" destOrd="0" presId="urn:microsoft.com/office/officeart/2005/8/layout/list1"/>
    <dgm:cxn modelId="{37EE8983-44A9-4576-9215-6492D78D1B5F}" type="presParOf" srcId="{8F580214-8539-4934-A5F0-FCBBB1991A5D}" destId="{9628F08B-2F91-4AB5-B329-C4054A3DB1C5}" srcOrd="1" destOrd="0" presId="urn:microsoft.com/office/officeart/2005/8/layout/list1"/>
    <dgm:cxn modelId="{28483253-E7D7-4E1A-9A5F-0227DAAC2EA7}" type="presParOf" srcId="{8F580214-8539-4934-A5F0-FCBBB1991A5D}" destId="{8D7F71A4-92B7-4FD2-BB09-9DF05C2A43FE}" srcOrd="2" destOrd="0" presId="urn:microsoft.com/office/officeart/2005/8/layout/list1"/>
    <dgm:cxn modelId="{53622F84-2671-4CAA-9A73-2F963C363053}" type="presParOf" srcId="{8F580214-8539-4934-A5F0-FCBBB1991A5D}" destId="{ACCD3BA6-87AD-4460-91C9-101D4AE643CA}" srcOrd="3" destOrd="0" presId="urn:microsoft.com/office/officeart/2005/8/layout/list1"/>
    <dgm:cxn modelId="{3071BBB1-F0B9-40E4-9E64-A32BCD962284}" type="presParOf" srcId="{8F580214-8539-4934-A5F0-FCBBB1991A5D}" destId="{BB135864-0B9D-48CE-BC7A-B4B2FFA6172F}" srcOrd="4" destOrd="0" presId="urn:microsoft.com/office/officeart/2005/8/layout/list1"/>
    <dgm:cxn modelId="{E706BFB4-DD36-4E1C-B1B1-274907371447}" type="presParOf" srcId="{BB135864-0B9D-48CE-BC7A-B4B2FFA6172F}" destId="{5F870530-88B7-4987-9C7D-A6C40FAD79CC}" srcOrd="0" destOrd="0" presId="urn:microsoft.com/office/officeart/2005/8/layout/list1"/>
    <dgm:cxn modelId="{2EF7E569-38D8-400B-84BF-EFBA18208127}" type="presParOf" srcId="{BB135864-0B9D-48CE-BC7A-B4B2FFA6172F}" destId="{1571FABE-CEDB-42DB-BF5D-785121B3C577}" srcOrd="1" destOrd="0" presId="urn:microsoft.com/office/officeart/2005/8/layout/list1"/>
    <dgm:cxn modelId="{5D624954-3EB5-47A3-9672-40A36B50B724}" type="presParOf" srcId="{8F580214-8539-4934-A5F0-FCBBB1991A5D}" destId="{4B70C7DE-3333-4CE8-B292-00E5121F8DE5}" srcOrd="5" destOrd="0" presId="urn:microsoft.com/office/officeart/2005/8/layout/list1"/>
    <dgm:cxn modelId="{98493BB9-B9D9-4A52-8BC6-AEEDF8E66098}" type="presParOf" srcId="{8F580214-8539-4934-A5F0-FCBBB1991A5D}" destId="{6FA3EA90-E054-45D1-99FD-43744E07CDF4}" srcOrd="6" destOrd="0" presId="urn:microsoft.com/office/officeart/2005/8/layout/list1"/>
    <dgm:cxn modelId="{76238A96-1098-44A4-ABCA-FDD610EE04CA}" type="presParOf" srcId="{8F580214-8539-4934-A5F0-FCBBB1991A5D}" destId="{231F59BC-A7B5-47BD-98CC-4957B8C5D39D}" srcOrd="7" destOrd="0" presId="urn:microsoft.com/office/officeart/2005/8/layout/list1"/>
    <dgm:cxn modelId="{2E06BD85-72F2-468F-ACC6-53C1C336AC5D}" type="presParOf" srcId="{8F580214-8539-4934-A5F0-FCBBB1991A5D}" destId="{00A7919B-BE20-4927-B2A3-FAF1AD752C6B}" srcOrd="8" destOrd="0" presId="urn:microsoft.com/office/officeart/2005/8/layout/list1"/>
    <dgm:cxn modelId="{181B016F-923F-4D69-87D8-EACA2E8C9BD1}" type="presParOf" srcId="{00A7919B-BE20-4927-B2A3-FAF1AD752C6B}" destId="{67D794A7-A60E-476C-BD7B-FDD93C9C9217}" srcOrd="0" destOrd="0" presId="urn:microsoft.com/office/officeart/2005/8/layout/list1"/>
    <dgm:cxn modelId="{5E834BBA-54DC-48CC-BDF4-E3655B9694B9}" type="presParOf" srcId="{00A7919B-BE20-4927-B2A3-FAF1AD752C6B}" destId="{3637812F-823D-48FB-8BA6-C6E2D324BBD6}" srcOrd="1" destOrd="0" presId="urn:microsoft.com/office/officeart/2005/8/layout/list1"/>
    <dgm:cxn modelId="{7BE0BDF7-8120-4EE3-93AE-DF2C315CD1C8}" type="presParOf" srcId="{8F580214-8539-4934-A5F0-FCBBB1991A5D}" destId="{71423FD4-49DB-4813-9221-48A99B77A6F5}" srcOrd="9" destOrd="0" presId="urn:microsoft.com/office/officeart/2005/8/layout/list1"/>
    <dgm:cxn modelId="{968DB34B-87FA-4812-B872-300729F99E4F}" type="presParOf" srcId="{8F580214-8539-4934-A5F0-FCBBB1991A5D}" destId="{402EBB33-A874-41E4-AC98-44A881C131A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8F740C-386A-43C8-A194-561FE28FF5BF}"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0AB1308D-3558-415C-916E-17B163D61B2C}">
      <dgm:prSet phldrT="[Text]" custT="1"/>
      <dgm:spPr/>
      <dgm:t>
        <a:bodyPr/>
        <a:lstStyle/>
        <a:p>
          <a:r>
            <a:rPr lang="en-US" sz="2400" dirty="0">
              <a:latin typeface="Arial" panose="020B0604020202020204" pitchFamily="34" charset="0"/>
              <a:cs typeface="Arial" panose="020B0604020202020204" pitchFamily="34" charset="0"/>
            </a:rPr>
            <a:t>Sharpe ratio</a:t>
          </a:r>
        </a:p>
      </dgm:t>
    </dgm:pt>
    <dgm:pt modelId="{89A34352-1F4A-45A9-A489-5FF7D934774A}" type="parTrans" cxnId="{737EEF9A-8F16-46AE-8C98-6095E7FF954B}">
      <dgm:prSet/>
      <dgm:spPr/>
      <dgm:t>
        <a:bodyPr/>
        <a:lstStyle/>
        <a:p>
          <a:endParaRPr lang="en-US"/>
        </a:p>
      </dgm:t>
    </dgm:pt>
    <dgm:pt modelId="{7FABC1E8-ED7D-4856-AFF8-BB34C67680CE}" type="sibTrans" cxnId="{737EEF9A-8F16-46AE-8C98-6095E7FF954B}">
      <dgm:prSet/>
      <dgm:spPr/>
      <dgm:t>
        <a:bodyPr/>
        <a:lstStyle/>
        <a:p>
          <a:endParaRPr lang="en-US"/>
        </a:p>
      </dgm:t>
    </dgm:pt>
    <dgm:pt modelId="{0F53E780-0597-4FFF-AF64-C2BD0EC473C1}">
      <dgm:prSet phldrT="[Text]" custT="1"/>
      <dgm:spPr/>
      <dgm:t>
        <a:bodyPr/>
        <a:lstStyle/>
        <a:p>
          <a:r>
            <a:rPr lang="en-US" sz="2400" dirty="0">
              <a:latin typeface="Arial" panose="020B0604020202020204" pitchFamily="34" charset="0"/>
              <a:cs typeface="Arial" panose="020B0604020202020204" pitchFamily="34" charset="0"/>
            </a:rPr>
            <a:t>Treynor’s ratio</a:t>
          </a:r>
        </a:p>
      </dgm:t>
    </dgm:pt>
    <dgm:pt modelId="{18D291F8-2E81-4332-8215-41001E42DADC}" type="parTrans" cxnId="{CB0F5720-F12B-4C14-BED3-CECAE6328C8E}">
      <dgm:prSet/>
      <dgm:spPr/>
      <dgm:t>
        <a:bodyPr/>
        <a:lstStyle/>
        <a:p>
          <a:endParaRPr lang="en-US"/>
        </a:p>
      </dgm:t>
    </dgm:pt>
    <dgm:pt modelId="{1C0A41BB-C605-4BB6-8A1F-7B6064DCF588}" type="sibTrans" cxnId="{CB0F5720-F12B-4C14-BED3-CECAE6328C8E}">
      <dgm:prSet/>
      <dgm:spPr/>
      <dgm:t>
        <a:bodyPr/>
        <a:lstStyle/>
        <a:p>
          <a:endParaRPr lang="en-US"/>
        </a:p>
      </dgm:t>
    </dgm:pt>
    <dgm:pt modelId="{35AB230F-506D-428E-A719-8847A765E43A}">
      <dgm:prSet phldrT="[Text]" custT="1"/>
      <dgm:spPr/>
      <dgm:t>
        <a:bodyPr/>
        <a:lstStyle/>
        <a:p>
          <a:r>
            <a:rPr lang="en-US" sz="2800" dirty="0"/>
            <a:t>Jensen’s alpha</a:t>
          </a:r>
        </a:p>
      </dgm:t>
    </dgm:pt>
    <dgm:pt modelId="{B281146D-6802-41BA-A836-520CB1012995}" type="parTrans" cxnId="{AF64A330-2A2E-4760-802B-3BB7959CC974}">
      <dgm:prSet/>
      <dgm:spPr/>
      <dgm:t>
        <a:bodyPr/>
        <a:lstStyle/>
        <a:p>
          <a:endParaRPr lang="en-US"/>
        </a:p>
      </dgm:t>
    </dgm:pt>
    <dgm:pt modelId="{E1EDC129-8B20-4489-83BC-7E77D0F5DEA9}" type="sibTrans" cxnId="{AF64A330-2A2E-4760-802B-3BB7959CC974}">
      <dgm:prSet/>
      <dgm:spPr/>
      <dgm:t>
        <a:bodyPr/>
        <a:lstStyle/>
        <a:p>
          <a:endParaRPr lang="en-US"/>
        </a:p>
      </dgm:t>
    </dgm:pt>
    <dgm:pt modelId="{8F580214-8539-4934-A5F0-FCBBB1991A5D}" type="pres">
      <dgm:prSet presAssocID="{338F740C-386A-43C8-A194-561FE28FF5BF}" presName="linear" presStyleCnt="0">
        <dgm:presLayoutVars>
          <dgm:dir/>
          <dgm:animLvl val="lvl"/>
          <dgm:resizeHandles val="exact"/>
        </dgm:presLayoutVars>
      </dgm:prSet>
      <dgm:spPr/>
    </dgm:pt>
    <dgm:pt modelId="{46F26CBD-8CAF-4CD7-8B5B-2D0094698540}" type="pres">
      <dgm:prSet presAssocID="{0AB1308D-3558-415C-916E-17B163D61B2C}" presName="parentLin" presStyleCnt="0"/>
      <dgm:spPr/>
    </dgm:pt>
    <dgm:pt modelId="{812B13FD-5C8C-4278-834A-4E9EE0738189}" type="pres">
      <dgm:prSet presAssocID="{0AB1308D-3558-415C-916E-17B163D61B2C}" presName="parentLeftMargin" presStyleLbl="node1" presStyleIdx="0" presStyleCnt="3"/>
      <dgm:spPr/>
    </dgm:pt>
    <dgm:pt modelId="{37A75926-4A1E-418F-8951-EEFF357951C4}" type="pres">
      <dgm:prSet presAssocID="{0AB1308D-3558-415C-916E-17B163D61B2C}" presName="parentText" presStyleLbl="node1" presStyleIdx="0" presStyleCnt="3">
        <dgm:presLayoutVars>
          <dgm:chMax val="0"/>
          <dgm:bulletEnabled val="1"/>
        </dgm:presLayoutVars>
      </dgm:prSet>
      <dgm:spPr/>
    </dgm:pt>
    <dgm:pt modelId="{9628F08B-2F91-4AB5-B329-C4054A3DB1C5}" type="pres">
      <dgm:prSet presAssocID="{0AB1308D-3558-415C-916E-17B163D61B2C}" presName="negativeSpace" presStyleCnt="0"/>
      <dgm:spPr/>
    </dgm:pt>
    <dgm:pt modelId="{8D7F71A4-92B7-4FD2-BB09-9DF05C2A43FE}" type="pres">
      <dgm:prSet presAssocID="{0AB1308D-3558-415C-916E-17B163D61B2C}" presName="childText" presStyleLbl="conFgAcc1" presStyleIdx="0" presStyleCnt="3">
        <dgm:presLayoutVars>
          <dgm:bulletEnabled val="1"/>
        </dgm:presLayoutVars>
      </dgm:prSet>
      <dgm:spPr/>
    </dgm:pt>
    <dgm:pt modelId="{ACCD3BA6-87AD-4460-91C9-101D4AE643CA}" type="pres">
      <dgm:prSet presAssocID="{7FABC1E8-ED7D-4856-AFF8-BB34C67680CE}" presName="spaceBetweenRectangles" presStyleCnt="0"/>
      <dgm:spPr/>
    </dgm:pt>
    <dgm:pt modelId="{8B0A9E1C-1E52-421A-9F04-CDB2D37AC6F3}" type="pres">
      <dgm:prSet presAssocID="{0F53E780-0597-4FFF-AF64-C2BD0EC473C1}" presName="parentLin" presStyleCnt="0"/>
      <dgm:spPr/>
    </dgm:pt>
    <dgm:pt modelId="{00B74CC8-D3AB-4588-9120-934A02CE936D}" type="pres">
      <dgm:prSet presAssocID="{0F53E780-0597-4FFF-AF64-C2BD0EC473C1}" presName="parentLeftMargin" presStyleLbl="node1" presStyleIdx="0" presStyleCnt="3"/>
      <dgm:spPr/>
    </dgm:pt>
    <dgm:pt modelId="{0D46FCA9-AACC-44E1-99E3-FE9E2D1A48AB}" type="pres">
      <dgm:prSet presAssocID="{0F53E780-0597-4FFF-AF64-C2BD0EC473C1}" presName="parentText" presStyleLbl="node1" presStyleIdx="1" presStyleCnt="3">
        <dgm:presLayoutVars>
          <dgm:chMax val="0"/>
          <dgm:bulletEnabled val="1"/>
        </dgm:presLayoutVars>
      </dgm:prSet>
      <dgm:spPr/>
    </dgm:pt>
    <dgm:pt modelId="{2A7E6002-672B-473A-AE33-7768D276F81E}" type="pres">
      <dgm:prSet presAssocID="{0F53E780-0597-4FFF-AF64-C2BD0EC473C1}" presName="negativeSpace" presStyleCnt="0"/>
      <dgm:spPr/>
    </dgm:pt>
    <dgm:pt modelId="{8284FC5B-DBC4-410E-A014-F718FF70CD23}" type="pres">
      <dgm:prSet presAssocID="{0F53E780-0597-4FFF-AF64-C2BD0EC473C1}" presName="childText" presStyleLbl="conFgAcc1" presStyleIdx="1" presStyleCnt="3">
        <dgm:presLayoutVars>
          <dgm:bulletEnabled val="1"/>
        </dgm:presLayoutVars>
      </dgm:prSet>
      <dgm:spPr/>
    </dgm:pt>
    <dgm:pt modelId="{8C4F08DD-C431-4AB5-A5D7-36FDFBB2B9DA}" type="pres">
      <dgm:prSet presAssocID="{1C0A41BB-C605-4BB6-8A1F-7B6064DCF588}" presName="spaceBetweenRectangles" presStyleCnt="0"/>
      <dgm:spPr/>
    </dgm:pt>
    <dgm:pt modelId="{3C9BCE17-744F-4BE7-A09B-5C04B044D4B9}" type="pres">
      <dgm:prSet presAssocID="{35AB230F-506D-428E-A719-8847A765E43A}" presName="parentLin" presStyleCnt="0"/>
      <dgm:spPr/>
    </dgm:pt>
    <dgm:pt modelId="{B9048DA5-DB90-40A3-8461-955B996BFC9B}" type="pres">
      <dgm:prSet presAssocID="{35AB230F-506D-428E-A719-8847A765E43A}" presName="parentLeftMargin" presStyleLbl="node1" presStyleIdx="1" presStyleCnt="3"/>
      <dgm:spPr/>
    </dgm:pt>
    <dgm:pt modelId="{4CE059AA-308C-4568-805A-D6F547BCFB42}" type="pres">
      <dgm:prSet presAssocID="{35AB230F-506D-428E-A719-8847A765E43A}" presName="parentText" presStyleLbl="node1" presStyleIdx="2" presStyleCnt="3">
        <dgm:presLayoutVars>
          <dgm:chMax val="0"/>
          <dgm:bulletEnabled val="1"/>
        </dgm:presLayoutVars>
      </dgm:prSet>
      <dgm:spPr/>
    </dgm:pt>
    <dgm:pt modelId="{1E3896EC-53BD-4F26-8856-B01F9C8E86A8}" type="pres">
      <dgm:prSet presAssocID="{35AB230F-506D-428E-A719-8847A765E43A}" presName="negativeSpace" presStyleCnt="0"/>
      <dgm:spPr/>
    </dgm:pt>
    <dgm:pt modelId="{9219825E-EE89-46FE-9B9E-CF938E22D676}" type="pres">
      <dgm:prSet presAssocID="{35AB230F-506D-428E-A719-8847A765E43A}" presName="childText" presStyleLbl="conFgAcc1" presStyleIdx="2" presStyleCnt="3">
        <dgm:presLayoutVars>
          <dgm:bulletEnabled val="1"/>
        </dgm:presLayoutVars>
      </dgm:prSet>
      <dgm:spPr/>
    </dgm:pt>
  </dgm:ptLst>
  <dgm:cxnLst>
    <dgm:cxn modelId="{D19FF407-783F-4C01-85DE-3312416D32AA}" type="presOf" srcId="{0AB1308D-3558-415C-916E-17B163D61B2C}" destId="{37A75926-4A1E-418F-8951-EEFF357951C4}" srcOrd="1" destOrd="0" presId="urn:microsoft.com/office/officeart/2005/8/layout/list1"/>
    <dgm:cxn modelId="{CB0F5720-F12B-4C14-BED3-CECAE6328C8E}" srcId="{338F740C-386A-43C8-A194-561FE28FF5BF}" destId="{0F53E780-0597-4FFF-AF64-C2BD0EC473C1}" srcOrd="1" destOrd="0" parTransId="{18D291F8-2E81-4332-8215-41001E42DADC}" sibTransId="{1C0A41BB-C605-4BB6-8A1F-7B6064DCF588}"/>
    <dgm:cxn modelId="{AF64A330-2A2E-4760-802B-3BB7959CC974}" srcId="{338F740C-386A-43C8-A194-561FE28FF5BF}" destId="{35AB230F-506D-428E-A719-8847A765E43A}" srcOrd="2" destOrd="0" parTransId="{B281146D-6802-41BA-A836-520CB1012995}" sibTransId="{E1EDC129-8B20-4489-83BC-7E77D0F5DEA9}"/>
    <dgm:cxn modelId="{AEC3B03C-7D07-457C-AD77-289E922BD214}" type="presOf" srcId="{338F740C-386A-43C8-A194-561FE28FF5BF}" destId="{8F580214-8539-4934-A5F0-FCBBB1991A5D}" srcOrd="0" destOrd="0" presId="urn:microsoft.com/office/officeart/2005/8/layout/list1"/>
    <dgm:cxn modelId="{84B9C168-341F-48F3-A476-B28C4C958D75}" type="presOf" srcId="{0F53E780-0597-4FFF-AF64-C2BD0EC473C1}" destId="{00B74CC8-D3AB-4588-9120-934A02CE936D}" srcOrd="0" destOrd="0" presId="urn:microsoft.com/office/officeart/2005/8/layout/list1"/>
    <dgm:cxn modelId="{C130BA6C-187E-49B6-9967-3EC14BA73988}" type="presOf" srcId="{35AB230F-506D-428E-A719-8847A765E43A}" destId="{4CE059AA-308C-4568-805A-D6F547BCFB42}" srcOrd="1" destOrd="0" presId="urn:microsoft.com/office/officeart/2005/8/layout/list1"/>
    <dgm:cxn modelId="{4EA89A8E-5A16-4ED9-A15C-2F094119AD98}" type="presOf" srcId="{35AB230F-506D-428E-A719-8847A765E43A}" destId="{B9048DA5-DB90-40A3-8461-955B996BFC9B}" srcOrd="0" destOrd="0" presId="urn:microsoft.com/office/officeart/2005/8/layout/list1"/>
    <dgm:cxn modelId="{737EEF9A-8F16-46AE-8C98-6095E7FF954B}" srcId="{338F740C-386A-43C8-A194-561FE28FF5BF}" destId="{0AB1308D-3558-415C-916E-17B163D61B2C}" srcOrd="0" destOrd="0" parTransId="{89A34352-1F4A-45A9-A489-5FF7D934774A}" sibTransId="{7FABC1E8-ED7D-4856-AFF8-BB34C67680CE}"/>
    <dgm:cxn modelId="{89E39CA6-D537-47B7-B596-566BEC619591}" type="presOf" srcId="{0F53E780-0597-4FFF-AF64-C2BD0EC473C1}" destId="{0D46FCA9-AACC-44E1-99E3-FE9E2D1A48AB}" srcOrd="1" destOrd="0" presId="urn:microsoft.com/office/officeart/2005/8/layout/list1"/>
    <dgm:cxn modelId="{9E350AC0-10CF-4D67-A547-E4C75DAC3302}" type="presOf" srcId="{0AB1308D-3558-415C-916E-17B163D61B2C}" destId="{812B13FD-5C8C-4278-834A-4E9EE0738189}" srcOrd="0" destOrd="0" presId="urn:microsoft.com/office/officeart/2005/8/layout/list1"/>
    <dgm:cxn modelId="{961A9CEB-BB2A-4AEF-A505-4599FE39BD33}" type="presParOf" srcId="{8F580214-8539-4934-A5F0-FCBBB1991A5D}" destId="{46F26CBD-8CAF-4CD7-8B5B-2D0094698540}" srcOrd="0" destOrd="0" presId="urn:microsoft.com/office/officeart/2005/8/layout/list1"/>
    <dgm:cxn modelId="{DE55DE69-8083-419B-97E8-3B65AF6E0E59}" type="presParOf" srcId="{46F26CBD-8CAF-4CD7-8B5B-2D0094698540}" destId="{812B13FD-5C8C-4278-834A-4E9EE0738189}" srcOrd="0" destOrd="0" presId="urn:microsoft.com/office/officeart/2005/8/layout/list1"/>
    <dgm:cxn modelId="{2FFDF0B4-35D2-4730-95CD-02E043495AF9}" type="presParOf" srcId="{46F26CBD-8CAF-4CD7-8B5B-2D0094698540}" destId="{37A75926-4A1E-418F-8951-EEFF357951C4}" srcOrd="1" destOrd="0" presId="urn:microsoft.com/office/officeart/2005/8/layout/list1"/>
    <dgm:cxn modelId="{37EE8983-44A9-4576-9215-6492D78D1B5F}" type="presParOf" srcId="{8F580214-8539-4934-A5F0-FCBBB1991A5D}" destId="{9628F08B-2F91-4AB5-B329-C4054A3DB1C5}" srcOrd="1" destOrd="0" presId="urn:microsoft.com/office/officeart/2005/8/layout/list1"/>
    <dgm:cxn modelId="{28483253-E7D7-4E1A-9A5F-0227DAAC2EA7}" type="presParOf" srcId="{8F580214-8539-4934-A5F0-FCBBB1991A5D}" destId="{8D7F71A4-92B7-4FD2-BB09-9DF05C2A43FE}" srcOrd="2" destOrd="0" presId="urn:microsoft.com/office/officeart/2005/8/layout/list1"/>
    <dgm:cxn modelId="{53622F84-2671-4CAA-9A73-2F963C363053}" type="presParOf" srcId="{8F580214-8539-4934-A5F0-FCBBB1991A5D}" destId="{ACCD3BA6-87AD-4460-91C9-101D4AE643CA}" srcOrd="3" destOrd="0" presId="urn:microsoft.com/office/officeart/2005/8/layout/list1"/>
    <dgm:cxn modelId="{750A0399-7ECF-4D16-A6A5-D6CFF750F92A}" type="presParOf" srcId="{8F580214-8539-4934-A5F0-FCBBB1991A5D}" destId="{8B0A9E1C-1E52-421A-9F04-CDB2D37AC6F3}" srcOrd="4" destOrd="0" presId="urn:microsoft.com/office/officeart/2005/8/layout/list1"/>
    <dgm:cxn modelId="{CE254BAA-BD36-4CB2-8AD9-E191D5C503AE}" type="presParOf" srcId="{8B0A9E1C-1E52-421A-9F04-CDB2D37AC6F3}" destId="{00B74CC8-D3AB-4588-9120-934A02CE936D}" srcOrd="0" destOrd="0" presId="urn:microsoft.com/office/officeart/2005/8/layout/list1"/>
    <dgm:cxn modelId="{0D13550A-E65A-4C0E-9743-411B7293F78A}" type="presParOf" srcId="{8B0A9E1C-1E52-421A-9F04-CDB2D37AC6F3}" destId="{0D46FCA9-AACC-44E1-99E3-FE9E2D1A48AB}" srcOrd="1" destOrd="0" presId="urn:microsoft.com/office/officeart/2005/8/layout/list1"/>
    <dgm:cxn modelId="{E7059FB7-8267-4690-9EFE-EE657E43D099}" type="presParOf" srcId="{8F580214-8539-4934-A5F0-FCBBB1991A5D}" destId="{2A7E6002-672B-473A-AE33-7768D276F81E}" srcOrd="5" destOrd="0" presId="urn:microsoft.com/office/officeart/2005/8/layout/list1"/>
    <dgm:cxn modelId="{F4FBF925-EFEA-4800-9C9E-B36937C86A16}" type="presParOf" srcId="{8F580214-8539-4934-A5F0-FCBBB1991A5D}" destId="{8284FC5B-DBC4-410E-A014-F718FF70CD23}" srcOrd="6" destOrd="0" presId="urn:microsoft.com/office/officeart/2005/8/layout/list1"/>
    <dgm:cxn modelId="{D20C2F76-83DB-4120-859B-228DCC7186B8}" type="presParOf" srcId="{8F580214-8539-4934-A5F0-FCBBB1991A5D}" destId="{8C4F08DD-C431-4AB5-A5D7-36FDFBB2B9DA}" srcOrd="7" destOrd="0" presId="urn:microsoft.com/office/officeart/2005/8/layout/list1"/>
    <dgm:cxn modelId="{A53F4FD4-613A-47B5-A6A9-6F345143C367}" type="presParOf" srcId="{8F580214-8539-4934-A5F0-FCBBB1991A5D}" destId="{3C9BCE17-744F-4BE7-A09B-5C04B044D4B9}" srcOrd="8" destOrd="0" presId="urn:microsoft.com/office/officeart/2005/8/layout/list1"/>
    <dgm:cxn modelId="{0EF161F1-19E4-484C-83AE-13C384376C06}" type="presParOf" srcId="{3C9BCE17-744F-4BE7-A09B-5C04B044D4B9}" destId="{B9048DA5-DB90-40A3-8461-955B996BFC9B}" srcOrd="0" destOrd="0" presId="urn:microsoft.com/office/officeart/2005/8/layout/list1"/>
    <dgm:cxn modelId="{A391F8C8-B180-41B2-9B56-5B8CFA2A72F4}" type="presParOf" srcId="{3C9BCE17-744F-4BE7-A09B-5C04B044D4B9}" destId="{4CE059AA-308C-4568-805A-D6F547BCFB42}" srcOrd="1" destOrd="0" presId="urn:microsoft.com/office/officeart/2005/8/layout/list1"/>
    <dgm:cxn modelId="{525B7D7E-183A-4C4A-8DD0-920A4282A3E7}" type="presParOf" srcId="{8F580214-8539-4934-A5F0-FCBBB1991A5D}" destId="{1E3896EC-53BD-4F26-8856-B01F9C8E86A8}" srcOrd="9" destOrd="0" presId="urn:microsoft.com/office/officeart/2005/8/layout/list1"/>
    <dgm:cxn modelId="{6A9FB7A6-01A9-4D8D-B06D-2C2A460C412E}" type="presParOf" srcId="{8F580214-8539-4934-A5F0-FCBBB1991A5D}" destId="{9219825E-EE89-46FE-9B9E-CF938E22D67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F71A4-92B7-4FD2-BB09-9DF05C2A43FE}">
      <dsp:nvSpPr>
        <dsp:cNvPr id="0" name=""/>
        <dsp:cNvSpPr/>
      </dsp:nvSpPr>
      <dsp:spPr>
        <a:xfrm>
          <a:off x="0" y="344180"/>
          <a:ext cx="7472218" cy="5040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A75926-4A1E-418F-8951-EEFF357951C4}">
      <dsp:nvSpPr>
        <dsp:cNvPr id="0" name=""/>
        <dsp:cNvSpPr/>
      </dsp:nvSpPr>
      <dsp:spPr>
        <a:xfrm>
          <a:off x="406402" y="41896"/>
          <a:ext cx="5230552" cy="59040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89000">
            <a:lnSpc>
              <a:spcPct val="90000"/>
            </a:lnSpc>
            <a:spcBef>
              <a:spcPct val="0"/>
            </a:spcBef>
            <a:spcAft>
              <a:spcPct val="35000"/>
            </a:spcAft>
            <a:buNone/>
          </a:pPr>
          <a:r>
            <a:rPr lang="en-US" sz="2000" kern="1200" dirty="0"/>
            <a:t>Holding Period Returns</a:t>
          </a:r>
        </a:p>
      </dsp:txBody>
      <dsp:txXfrm>
        <a:off x="435223" y="70717"/>
        <a:ext cx="5172910" cy="532758"/>
      </dsp:txXfrm>
    </dsp:sp>
    <dsp:sp modelId="{E1902E15-B121-41F6-A40B-964D03792A25}">
      <dsp:nvSpPr>
        <dsp:cNvPr id="0" name=""/>
        <dsp:cNvSpPr/>
      </dsp:nvSpPr>
      <dsp:spPr>
        <a:xfrm>
          <a:off x="0" y="1251380"/>
          <a:ext cx="7472218" cy="5040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B673E30-08ED-4453-B8E3-4C6062B86F11}">
      <dsp:nvSpPr>
        <dsp:cNvPr id="0" name=""/>
        <dsp:cNvSpPr/>
      </dsp:nvSpPr>
      <dsp:spPr>
        <a:xfrm>
          <a:off x="373610" y="956180"/>
          <a:ext cx="5230552" cy="59040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Average Returns</a:t>
          </a:r>
        </a:p>
      </dsp:txBody>
      <dsp:txXfrm>
        <a:off x="402431" y="985001"/>
        <a:ext cx="5172910" cy="532758"/>
      </dsp:txXfrm>
    </dsp:sp>
    <dsp:sp modelId="{CFE66A7D-11C0-4BB5-A22F-67194ECF572E}">
      <dsp:nvSpPr>
        <dsp:cNvPr id="0" name=""/>
        <dsp:cNvSpPr/>
      </dsp:nvSpPr>
      <dsp:spPr>
        <a:xfrm>
          <a:off x="0" y="2158581"/>
          <a:ext cx="7472218" cy="5040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B9A368-8208-4C7B-ADB7-A595AE540FC4}">
      <dsp:nvSpPr>
        <dsp:cNvPr id="0" name=""/>
        <dsp:cNvSpPr/>
      </dsp:nvSpPr>
      <dsp:spPr>
        <a:xfrm>
          <a:off x="373610" y="1863381"/>
          <a:ext cx="5230552" cy="59040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Annualized Returns</a:t>
          </a:r>
        </a:p>
      </dsp:txBody>
      <dsp:txXfrm>
        <a:off x="402431" y="1892202"/>
        <a:ext cx="5172910" cy="532758"/>
      </dsp:txXfrm>
    </dsp:sp>
    <dsp:sp modelId="{3DDB0C41-C127-49E9-A7D7-76F33C7C102D}">
      <dsp:nvSpPr>
        <dsp:cNvPr id="0" name=""/>
        <dsp:cNvSpPr/>
      </dsp:nvSpPr>
      <dsp:spPr>
        <a:xfrm>
          <a:off x="0" y="3065781"/>
          <a:ext cx="7472218" cy="5040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552975-64E5-41FC-BA00-D51F35A240FE}">
      <dsp:nvSpPr>
        <dsp:cNvPr id="0" name=""/>
        <dsp:cNvSpPr/>
      </dsp:nvSpPr>
      <dsp:spPr>
        <a:xfrm>
          <a:off x="373610" y="2770581"/>
          <a:ext cx="5230552" cy="59040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Expected Returns</a:t>
          </a:r>
        </a:p>
      </dsp:txBody>
      <dsp:txXfrm>
        <a:off x="402431" y="2799402"/>
        <a:ext cx="5172910" cy="532758"/>
      </dsp:txXfrm>
    </dsp:sp>
    <dsp:sp modelId="{F6D74838-DCBE-4001-B06C-749D6E8FE139}">
      <dsp:nvSpPr>
        <dsp:cNvPr id="0" name=""/>
        <dsp:cNvSpPr/>
      </dsp:nvSpPr>
      <dsp:spPr>
        <a:xfrm>
          <a:off x="0" y="3972981"/>
          <a:ext cx="7472218" cy="5040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8B7CA8-F9FF-4FB9-9843-0D4B46CA010E}">
      <dsp:nvSpPr>
        <dsp:cNvPr id="0" name=""/>
        <dsp:cNvSpPr/>
      </dsp:nvSpPr>
      <dsp:spPr>
        <a:xfrm>
          <a:off x="373610" y="3677781"/>
          <a:ext cx="5230552" cy="59040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Risk-adjusted Returns</a:t>
          </a:r>
        </a:p>
      </dsp:txBody>
      <dsp:txXfrm>
        <a:off x="402431" y="3706602"/>
        <a:ext cx="5172910"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F71A4-92B7-4FD2-BB09-9DF05C2A43FE}">
      <dsp:nvSpPr>
        <dsp:cNvPr id="0" name=""/>
        <dsp:cNvSpPr/>
      </dsp:nvSpPr>
      <dsp:spPr>
        <a:xfrm>
          <a:off x="0" y="42910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A75926-4A1E-418F-8951-EEFF357951C4}">
      <dsp:nvSpPr>
        <dsp:cNvPr id="0" name=""/>
        <dsp:cNvSpPr/>
      </dsp:nvSpPr>
      <dsp:spPr>
        <a:xfrm>
          <a:off x="373610" y="1582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Sharpe ratio</a:t>
          </a:r>
        </a:p>
      </dsp:txBody>
      <dsp:txXfrm>
        <a:off x="413959" y="56177"/>
        <a:ext cx="5149854" cy="745862"/>
      </dsp:txXfrm>
    </dsp:sp>
    <dsp:sp modelId="{8284FC5B-DBC4-410E-A014-F718FF70CD23}">
      <dsp:nvSpPr>
        <dsp:cNvPr id="0" name=""/>
        <dsp:cNvSpPr/>
      </dsp:nvSpPr>
      <dsp:spPr>
        <a:xfrm>
          <a:off x="0" y="169918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46FCA9-AACC-44E1-99E3-FE9E2D1A48AB}">
      <dsp:nvSpPr>
        <dsp:cNvPr id="0" name=""/>
        <dsp:cNvSpPr/>
      </dsp:nvSpPr>
      <dsp:spPr>
        <a:xfrm>
          <a:off x="373610" y="128590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Treynor’s ratio</a:t>
          </a:r>
        </a:p>
      </dsp:txBody>
      <dsp:txXfrm>
        <a:off x="413959" y="1326257"/>
        <a:ext cx="5149854" cy="745862"/>
      </dsp:txXfrm>
    </dsp:sp>
    <dsp:sp modelId="{9219825E-EE89-46FE-9B9E-CF938E22D676}">
      <dsp:nvSpPr>
        <dsp:cNvPr id="0" name=""/>
        <dsp:cNvSpPr/>
      </dsp:nvSpPr>
      <dsp:spPr>
        <a:xfrm>
          <a:off x="0" y="296926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E059AA-308C-4568-805A-D6F547BCFB42}">
      <dsp:nvSpPr>
        <dsp:cNvPr id="0" name=""/>
        <dsp:cNvSpPr/>
      </dsp:nvSpPr>
      <dsp:spPr>
        <a:xfrm>
          <a:off x="373610" y="255598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Jensen’s alpha</a:t>
          </a:r>
        </a:p>
      </dsp:txBody>
      <dsp:txXfrm>
        <a:off x="413959" y="2596337"/>
        <a:ext cx="5149854"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A75F4-A295-4288-9EE2-3DB3C11E544D}">
      <dsp:nvSpPr>
        <dsp:cNvPr id="0" name=""/>
        <dsp:cNvSpPr/>
      </dsp:nvSpPr>
      <dsp:spPr>
        <a:xfrm>
          <a:off x="4961278" y="631477"/>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Risk</a:t>
          </a:r>
        </a:p>
      </dsp:txBody>
      <dsp:txXfrm>
        <a:off x="4994363" y="664562"/>
        <a:ext cx="1628238" cy="1063435"/>
      </dsp:txXfrm>
    </dsp:sp>
    <dsp:sp modelId="{9FD2F08E-DD1A-4CB0-8E79-F7A82C227D72}">
      <dsp:nvSpPr>
        <dsp:cNvPr id="0" name=""/>
        <dsp:cNvSpPr/>
      </dsp:nvSpPr>
      <dsp:spPr>
        <a:xfrm>
          <a:off x="3055069" y="1761083"/>
          <a:ext cx="2753413" cy="451842"/>
        </a:xfrm>
        <a:custGeom>
          <a:avLst/>
          <a:gdLst/>
          <a:ahLst/>
          <a:cxnLst/>
          <a:rect l="0" t="0" r="0" b="0"/>
          <a:pathLst>
            <a:path>
              <a:moveTo>
                <a:pt x="2753413" y="0"/>
              </a:moveTo>
              <a:lnTo>
                <a:pt x="2753413" y="225921"/>
              </a:lnTo>
              <a:lnTo>
                <a:pt x="0" y="225921"/>
              </a:lnTo>
              <a:lnTo>
                <a:pt x="0" y="4518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AD904D-EBF9-453A-8F19-C07D9FF9D822}">
      <dsp:nvSpPr>
        <dsp:cNvPr id="0" name=""/>
        <dsp:cNvSpPr/>
      </dsp:nvSpPr>
      <dsp:spPr>
        <a:xfrm>
          <a:off x="2207865" y="2212925"/>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Systematic Risk</a:t>
          </a:r>
        </a:p>
      </dsp:txBody>
      <dsp:txXfrm>
        <a:off x="2240950" y="2246010"/>
        <a:ext cx="1628238" cy="1063435"/>
      </dsp:txXfrm>
    </dsp:sp>
    <dsp:sp modelId="{9F26AAFC-E172-4CAD-8CB3-3114F4F0633C}">
      <dsp:nvSpPr>
        <dsp:cNvPr id="0" name=""/>
        <dsp:cNvSpPr/>
      </dsp:nvSpPr>
      <dsp:spPr>
        <a:xfrm>
          <a:off x="852338" y="3342530"/>
          <a:ext cx="2202730" cy="451842"/>
        </a:xfrm>
        <a:custGeom>
          <a:avLst/>
          <a:gdLst/>
          <a:ahLst/>
          <a:cxnLst/>
          <a:rect l="0" t="0" r="0" b="0"/>
          <a:pathLst>
            <a:path>
              <a:moveTo>
                <a:pt x="2202730" y="0"/>
              </a:moveTo>
              <a:lnTo>
                <a:pt x="2202730" y="225921"/>
              </a:lnTo>
              <a:lnTo>
                <a:pt x="0" y="225921"/>
              </a:lnTo>
              <a:lnTo>
                <a:pt x="0" y="4518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15D4A8-A1B8-4841-B44B-5B0D744FEBF2}">
      <dsp:nvSpPr>
        <dsp:cNvPr id="0" name=""/>
        <dsp:cNvSpPr/>
      </dsp:nvSpPr>
      <dsp:spPr>
        <a:xfrm>
          <a:off x="5134" y="3794372"/>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Market Risk</a:t>
          </a:r>
        </a:p>
      </dsp:txBody>
      <dsp:txXfrm>
        <a:off x="38219" y="3827457"/>
        <a:ext cx="1628238" cy="1063435"/>
      </dsp:txXfrm>
    </dsp:sp>
    <dsp:sp modelId="{AE128BD4-FACD-4F7E-AFAE-71478E2650B6}">
      <dsp:nvSpPr>
        <dsp:cNvPr id="0" name=""/>
        <dsp:cNvSpPr/>
      </dsp:nvSpPr>
      <dsp:spPr>
        <a:xfrm>
          <a:off x="3009349" y="3342530"/>
          <a:ext cx="91440" cy="451842"/>
        </a:xfrm>
        <a:custGeom>
          <a:avLst/>
          <a:gdLst/>
          <a:ahLst/>
          <a:cxnLst/>
          <a:rect l="0" t="0" r="0" b="0"/>
          <a:pathLst>
            <a:path>
              <a:moveTo>
                <a:pt x="45720" y="0"/>
              </a:moveTo>
              <a:lnTo>
                <a:pt x="45720" y="4518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AF4D5E-CD54-473A-9A3B-02DA8E700935}">
      <dsp:nvSpPr>
        <dsp:cNvPr id="0" name=""/>
        <dsp:cNvSpPr/>
      </dsp:nvSpPr>
      <dsp:spPr>
        <a:xfrm>
          <a:off x="2207865" y="3794372"/>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Interest Rate Risk</a:t>
          </a:r>
        </a:p>
      </dsp:txBody>
      <dsp:txXfrm>
        <a:off x="2240950" y="3827457"/>
        <a:ext cx="1628238" cy="1063435"/>
      </dsp:txXfrm>
    </dsp:sp>
    <dsp:sp modelId="{E982C7C2-3CAF-425E-9C47-4F4A42E9A5FA}">
      <dsp:nvSpPr>
        <dsp:cNvPr id="0" name=""/>
        <dsp:cNvSpPr/>
      </dsp:nvSpPr>
      <dsp:spPr>
        <a:xfrm>
          <a:off x="3055069" y="3342530"/>
          <a:ext cx="2202730" cy="451842"/>
        </a:xfrm>
        <a:custGeom>
          <a:avLst/>
          <a:gdLst/>
          <a:ahLst/>
          <a:cxnLst/>
          <a:rect l="0" t="0" r="0" b="0"/>
          <a:pathLst>
            <a:path>
              <a:moveTo>
                <a:pt x="0" y="0"/>
              </a:moveTo>
              <a:lnTo>
                <a:pt x="0" y="225921"/>
              </a:lnTo>
              <a:lnTo>
                <a:pt x="2202730" y="225921"/>
              </a:lnTo>
              <a:lnTo>
                <a:pt x="2202730" y="4518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6D3B74-BE25-4369-B0F7-4A3D90958210}">
      <dsp:nvSpPr>
        <dsp:cNvPr id="0" name=""/>
        <dsp:cNvSpPr/>
      </dsp:nvSpPr>
      <dsp:spPr>
        <a:xfrm>
          <a:off x="4410595" y="3794372"/>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Purchasing Power Risk</a:t>
          </a:r>
        </a:p>
      </dsp:txBody>
      <dsp:txXfrm>
        <a:off x="4443680" y="3827457"/>
        <a:ext cx="1628238" cy="1063435"/>
      </dsp:txXfrm>
    </dsp:sp>
    <dsp:sp modelId="{45FBB499-3A63-4834-9E0E-3DE7C80F1072}">
      <dsp:nvSpPr>
        <dsp:cNvPr id="0" name=""/>
        <dsp:cNvSpPr/>
      </dsp:nvSpPr>
      <dsp:spPr>
        <a:xfrm>
          <a:off x="5808482" y="1761083"/>
          <a:ext cx="2753413" cy="451842"/>
        </a:xfrm>
        <a:custGeom>
          <a:avLst/>
          <a:gdLst/>
          <a:ahLst/>
          <a:cxnLst/>
          <a:rect l="0" t="0" r="0" b="0"/>
          <a:pathLst>
            <a:path>
              <a:moveTo>
                <a:pt x="0" y="0"/>
              </a:moveTo>
              <a:lnTo>
                <a:pt x="0" y="225921"/>
              </a:lnTo>
              <a:lnTo>
                <a:pt x="2753413" y="225921"/>
              </a:lnTo>
              <a:lnTo>
                <a:pt x="2753413" y="4518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C577D9-A3C4-434F-8DD1-1EF24AAD5F74}">
      <dsp:nvSpPr>
        <dsp:cNvPr id="0" name=""/>
        <dsp:cNvSpPr/>
      </dsp:nvSpPr>
      <dsp:spPr>
        <a:xfrm>
          <a:off x="7714691" y="2212925"/>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Unsystematic Risk</a:t>
          </a:r>
        </a:p>
      </dsp:txBody>
      <dsp:txXfrm>
        <a:off x="7747776" y="2246010"/>
        <a:ext cx="1628238" cy="1063435"/>
      </dsp:txXfrm>
    </dsp:sp>
    <dsp:sp modelId="{E54D351A-8483-4C5D-9AD3-337FB902DFAC}">
      <dsp:nvSpPr>
        <dsp:cNvPr id="0" name=""/>
        <dsp:cNvSpPr/>
      </dsp:nvSpPr>
      <dsp:spPr>
        <a:xfrm>
          <a:off x="7460530" y="3342530"/>
          <a:ext cx="1101365" cy="451842"/>
        </a:xfrm>
        <a:custGeom>
          <a:avLst/>
          <a:gdLst/>
          <a:ahLst/>
          <a:cxnLst/>
          <a:rect l="0" t="0" r="0" b="0"/>
          <a:pathLst>
            <a:path>
              <a:moveTo>
                <a:pt x="1101365" y="0"/>
              </a:moveTo>
              <a:lnTo>
                <a:pt x="1101365" y="225921"/>
              </a:lnTo>
              <a:lnTo>
                <a:pt x="0" y="225921"/>
              </a:lnTo>
              <a:lnTo>
                <a:pt x="0" y="4518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144F37-8C74-4285-9BF9-2B9EE5E36D4F}">
      <dsp:nvSpPr>
        <dsp:cNvPr id="0" name=""/>
        <dsp:cNvSpPr/>
      </dsp:nvSpPr>
      <dsp:spPr>
        <a:xfrm>
          <a:off x="6613326" y="3794372"/>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Business Risk</a:t>
          </a:r>
        </a:p>
      </dsp:txBody>
      <dsp:txXfrm>
        <a:off x="6646411" y="3827457"/>
        <a:ext cx="1628238" cy="1063435"/>
      </dsp:txXfrm>
    </dsp:sp>
    <dsp:sp modelId="{E608A04C-C43D-453A-A7CE-C67DBF02604D}">
      <dsp:nvSpPr>
        <dsp:cNvPr id="0" name=""/>
        <dsp:cNvSpPr/>
      </dsp:nvSpPr>
      <dsp:spPr>
        <a:xfrm>
          <a:off x="8561895" y="3342530"/>
          <a:ext cx="1101365" cy="451842"/>
        </a:xfrm>
        <a:custGeom>
          <a:avLst/>
          <a:gdLst/>
          <a:ahLst/>
          <a:cxnLst/>
          <a:rect l="0" t="0" r="0" b="0"/>
          <a:pathLst>
            <a:path>
              <a:moveTo>
                <a:pt x="0" y="0"/>
              </a:moveTo>
              <a:lnTo>
                <a:pt x="0" y="225921"/>
              </a:lnTo>
              <a:lnTo>
                <a:pt x="1101365" y="225921"/>
              </a:lnTo>
              <a:lnTo>
                <a:pt x="1101365" y="4518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23D488-8504-4A51-991A-B9D545CE0A45}">
      <dsp:nvSpPr>
        <dsp:cNvPr id="0" name=""/>
        <dsp:cNvSpPr/>
      </dsp:nvSpPr>
      <dsp:spPr>
        <a:xfrm>
          <a:off x="8816057" y="3794372"/>
          <a:ext cx="1694408" cy="11296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Financial Risk</a:t>
          </a:r>
        </a:p>
      </dsp:txBody>
      <dsp:txXfrm>
        <a:off x="8849142" y="3827457"/>
        <a:ext cx="1628238" cy="10634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F71A4-92B7-4FD2-BB09-9DF05C2A43FE}">
      <dsp:nvSpPr>
        <dsp:cNvPr id="0" name=""/>
        <dsp:cNvSpPr/>
      </dsp:nvSpPr>
      <dsp:spPr>
        <a:xfrm>
          <a:off x="0" y="1301960"/>
          <a:ext cx="7472218" cy="478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A75926-4A1E-418F-8951-EEFF357951C4}">
      <dsp:nvSpPr>
        <dsp:cNvPr id="0" name=""/>
        <dsp:cNvSpPr/>
      </dsp:nvSpPr>
      <dsp:spPr>
        <a:xfrm>
          <a:off x="373610" y="1021520"/>
          <a:ext cx="5230552" cy="5608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44550">
            <a:lnSpc>
              <a:spcPct val="90000"/>
            </a:lnSpc>
            <a:spcBef>
              <a:spcPct val="0"/>
            </a:spcBef>
            <a:spcAft>
              <a:spcPct val="35000"/>
            </a:spcAft>
            <a:buNone/>
          </a:pPr>
          <a:r>
            <a:rPr lang="en-US" sz="1900" b="1" kern="1200" dirty="0"/>
            <a:t>1. </a:t>
          </a:r>
          <a:r>
            <a:rPr lang="en-US" sz="1900" b="1" kern="1200" dirty="0">
              <a:latin typeface="Arial" panose="020B0604020202020204" pitchFamily="34" charset="0"/>
              <a:cs typeface="Arial" panose="020B0604020202020204" pitchFamily="34" charset="0"/>
            </a:rPr>
            <a:t>Market risk </a:t>
          </a:r>
          <a:endParaRPr lang="en-US" sz="1900" kern="1200" dirty="0">
            <a:latin typeface="Arial" panose="020B0604020202020204" pitchFamily="34" charset="0"/>
            <a:cs typeface="Arial" panose="020B0604020202020204" pitchFamily="34" charset="0"/>
          </a:endParaRPr>
        </a:p>
      </dsp:txBody>
      <dsp:txXfrm>
        <a:off x="400990" y="1048900"/>
        <a:ext cx="5175792" cy="506120"/>
      </dsp:txXfrm>
    </dsp:sp>
    <dsp:sp modelId="{6FA3EA90-E054-45D1-99FD-43744E07CDF4}">
      <dsp:nvSpPr>
        <dsp:cNvPr id="0" name=""/>
        <dsp:cNvSpPr/>
      </dsp:nvSpPr>
      <dsp:spPr>
        <a:xfrm>
          <a:off x="0" y="2163801"/>
          <a:ext cx="7472218" cy="478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71FABE-CEDB-42DB-BF5D-785121B3C577}">
      <dsp:nvSpPr>
        <dsp:cNvPr id="0" name=""/>
        <dsp:cNvSpPr/>
      </dsp:nvSpPr>
      <dsp:spPr>
        <a:xfrm>
          <a:off x="373610" y="1883360"/>
          <a:ext cx="5230552" cy="5608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44550">
            <a:lnSpc>
              <a:spcPct val="90000"/>
            </a:lnSpc>
            <a:spcBef>
              <a:spcPct val="0"/>
            </a:spcBef>
            <a:spcAft>
              <a:spcPct val="35000"/>
            </a:spcAft>
            <a:buNone/>
          </a:pPr>
          <a:r>
            <a:rPr lang="en-US" sz="1900" b="1" kern="1200" dirty="0"/>
            <a:t>2. </a:t>
          </a:r>
          <a:r>
            <a:rPr lang="en-US" sz="1900" b="1" kern="1200" dirty="0">
              <a:latin typeface="Arial" panose="020B0604020202020204" pitchFamily="34" charset="0"/>
              <a:cs typeface="Arial" panose="020B0604020202020204" pitchFamily="34" charset="0"/>
            </a:rPr>
            <a:t>Interest rate risk,</a:t>
          </a:r>
          <a:endParaRPr lang="en-US" sz="1900" kern="1200" dirty="0">
            <a:latin typeface="Arial" panose="020B0604020202020204" pitchFamily="34" charset="0"/>
            <a:cs typeface="Arial" panose="020B0604020202020204" pitchFamily="34" charset="0"/>
          </a:endParaRPr>
        </a:p>
      </dsp:txBody>
      <dsp:txXfrm>
        <a:off x="400990" y="1910740"/>
        <a:ext cx="5175792" cy="506120"/>
      </dsp:txXfrm>
    </dsp:sp>
    <dsp:sp modelId="{402EBB33-A874-41E4-AC98-44A881C131A6}">
      <dsp:nvSpPr>
        <dsp:cNvPr id="0" name=""/>
        <dsp:cNvSpPr/>
      </dsp:nvSpPr>
      <dsp:spPr>
        <a:xfrm>
          <a:off x="0" y="3025641"/>
          <a:ext cx="7472218" cy="478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37812F-823D-48FB-8BA6-C6E2D324BBD6}">
      <dsp:nvSpPr>
        <dsp:cNvPr id="0" name=""/>
        <dsp:cNvSpPr/>
      </dsp:nvSpPr>
      <dsp:spPr>
        <a:xfrm>
          <a:off x="373610" y="2745201"/>
          <a:ext cx="5230552" cy="5608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844550">
            <a:lnSpc>
              <a:spcPct val="90000"/>
            </a:lnSpc>
            <a:spcBef>
              <a:spcPct val="0"/>
            </a:spcBef>
            <a:spcAft>
              <a:spcPct val="35000"/>
            </a:spcAft>
            <a:buNone/>
          </a:pPr>
          <a:r>
            <a:rPr lang="en-US" sz="1900" b="1" kern="1200" dirty="0"/>
            <a:t>3. </a:t>
          </a:r>
          <a:r>
            <a:rPr lang="en-US" sz="1900" b="1" kern="1200" dirty="0">
              <a:latin typeface="Arial" panose="020B0604020202020204" pitchFamily="34" charset="0"/>
              <a:cs typeface="Arial" panose="020B0604020202020204" pitchFamily="34" charset="0"/>
            </a:rPr>
            <a:t>Purchasing power or inflationary risk</a:t>
          </a:r>
          <a:r>
            <a:rPr lang="en-US" sz="1900" b="1" kern="1200" dirty="0"/>
            <a:t>.</a:t>
          </a:r>
        </a:p>
      </dsp:txBody>
      <dsp:txXfrm>
        <a:off x="400990" y="2772581"/>
        <a:ext cx="5175792"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F71A4-92B7-4FD2-BB09-9DF05C2A43FE}">
      <dsp:nvSpPr>
        <dsp:cNvPr id="0" name=""/>
        <dsp:cNvSpPr/>
      </dsp:nvSpPr>
      <dsp:spPr>
        <a:xfrm>
          <a:off x="0" y="42910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A75926-4A1E-418F-8951-EEFF357951C4}">
      <dsp:nvSpPr>
        <dsp:cNvPr id="0" name=""/>
        <dsp:cNvSpPr/>
      </dsp:nvSpPr>
      <dsp:spPr>
        <a:xfrm>
          <a:off x="373610" y="1582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Sharpe ratio</a:t>
          </a:r>
        </a:p>
      </dsp:txBody>
      <dsp:txXfrm>
        <a:off x="413959" y="56177"/>
        <a:ext cx="5149854" cy="745862"/>
      </dsp:txXfrm>
    </dsp:sp>
    <dsp:sp modelId="{8284FC5B-DBC4-410E-A014-F718FF70CD23}">
      <dsp:nvSpPr>
        <dsp:cNvPr id="0" name=""/>
        <dsp:cNvSpPr/>
      </dsp:nvSpPr>
      <dsp:spPr>
        <a:xfrm>
          <a:off x="0" y="169918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46FCA9-AACC-44E1-99E3-FE9E2D1A48AB}">
      <dsp:nvSpPr>
        <dsp:cNvPr id="0" name=""/>
        <dsp:cNvSpPr/>
      </dsp:nvSpPr>
      <dsp:spPr>
        <a:xfrm>
          <a:off x="373610" y="128590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Treynor’s ratio</a:t>
          </a:r>
        </a:p>
      </dsp:txBody>
      <dsp:txXfrm>
        <a:off x="413959" y="1326257"/>
        <a:ext cx="5149854" cy="745862"/>
      </dsp:txXfrm>
    </dsp:sp>
    <dsp:sp modelId="{9219825E-EE89-46FE-9B9E-CF938E22D676}">
      <dsp:nvSpPr>
        <dsp:cNvPr id="0" name=""/>
        <dsp:cNvSpPr/>
      </dsp:nvSpPr>
      <dsp:spPr>
        <a:xfrm>
          <a:off x="0" y="2969268"/>
          <a:ext cx="7472218" cy="7056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E059AA-308C-4568-805A-D6F547BCFB42}">
      <dsp:nvSpPr>
        <dsp:cNvPr id="0" name=""/>
        <dsp:cNvSpPr/>
      </dsp:nvSpPr>
      <dsp:spPr>
        <a:xfrm>
          <a:off x="373610" y="2555988"/>
          <a:ext cx="5230552" cy="82656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7702" tIns="0" rIns="197702" bIns="0" numCol="1" spcCol="1270" anchor="ctr" anchorCtr="0">
          <a:noAutofit/>
        </a:bodyPr>
        <a:lstStyle/>
        <a:p>
          <a:pPr marL="0" lvl="0" indent="0" algn="l" defTabSz="1244600">
            <a:lnSpc>
              <a:spcPct val="90000"/>
            </a:lnSpc>
            <a:spcBef>
              <a:spcPct val="0"/>
            </a:spcBef>
            <a:spcAft>
              <a:spcPct val="35000"/>
            </a:spcAft>
            <a:buNone/>
          </a:pPr>
          <a:r>
            <a:rPr lang="en-US" sz="2800" kern="1200" dirty="0"/>
            <a:t>Jensen’s alpha</a:t>
          </a:r>
        </a:p>
      </dsp:txBody>
      <dsp:txXfrm>
        <a:off x="413959" y="2596337"/>
        <a:ext cx="5149854"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E2D86C-A0C5-475A-844E-73DE10E640F6}" type="datetimeFigureOut">
              <a:rPr lang="en-US" smtClean="0"/>
              <a:pPr/>
              <a:t>4/7/2026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5206C0-9390-47E5-9833-0285C1470B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E3001A-4355-4197-9BE5-EE4DEF8F929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6A2FE5-0F3D-4E5D-99E7-73531C984E6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43A021-DC24-4A86-BF59-10161B695BE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974A61-DB18-45EE-B008-17B61C0CA0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1A0174-69A7-44B0-8DF4-854D26EC186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52F02A-EF1C-4AEA-9E09-936C631339F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37FEAA-B89C-4AAD-8BB0-DF6926730C5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149C7A-4038-474E-9DAD-5A7E9839122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18D9B-0EAA-4585-8F2D-6D93E22A4D8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E62284-86B6-4CC7-BC56-AED31325FE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B8BD20-3434-4548-8D71-3EDB3599BA8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6A98F5-EB51-48B8-A4B7-20D300A7769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3.xml.rels><?xml version="1.0" encoding="UTF-8" standalone="yes"?>
<Relationships xmlns="http://schemas.openxmlformats.org/package/2006/relationships"><Relationship Id="rId3" Type="http://schemas.openxmlformats.org/officeDocument/2006/relationships/image" Target="../media/image22.jfif"/><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lh3.googleusercontent.com/-NhYvgAcyaEM/Tx9cwH-_PeI/AAAAAAAAFqU/EUmqBJv5GaY/s800/Purchasing-Power-or-Inflationary-Risk.pn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F455-BC79-E0BD-A932-4AAC82BBBCCD}"/>
              </a:ext>
            </a:extLst>
          </p:cNvPr>
          <p:cNvSpPr>
            <a:spLocks noGrp="1"/>
          </p:cNvSpPr>
          <p:nvPr>
            <p:ph type="ctrTitle"/>
          </p:nvPr>
        </p:nvSpPr>
        <p:spPr>
          <a:xfrm>
            <a:off x="2348752" y="412376"/>
            <a:ext cx="7584141" cy="940604"/>
          </a:xfrm>
        </p:spPr>
        <p:txBody>
          <a:bodyPr>
            <a:normAutofit/>
          </a:bodyPr>
          <a:lstStyle/>
          <a:p>
            <a:r>
              <a:rPr lang="en-US" sz="3200" b="1" dirty="0">
                <a:latin typeface="Arial" panose="020B0604020202020204" pitchFamily="34" charset="0"/>
                <a:cs typeface="Arial" panose="020B0604020202020204" pitchFamily="34" charset="0"/>
              </a:rPr>
              <a:t>Risk &amp; Return</a:t>
            </a:r>
            <a:endParaRPr lang="en-IN" sz="32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348BDD4-5999-D88C-CDA9-369D927A8A04}"/>
              </a:ext>
            </a:extLst>
          </p:cNvPr>
          <p:cNvSpPr>
            <a:spLocks noGrp="1"/>
          </p:cNvSpPr>
          <p:nvPr>
            <p:ph type="subTitle" idx="1"/>
          </p:nvPr>
        </p:nvSpPr>
        <p:spPr>
          <a:xfrm>
            <a:off x="1210235" y="3598546"/>
            <a:ext cx="9599821" cy="2192216"/>
          </a:xfrm>
        </p:spPr>
        <p:txBody>
          <a:bodyPr>
            <a:normAutofit/>
          </a:bodyPr>
          <a:lstStyle/>
          <a:p>
            <a:r>
              <a:rPr lang="en-IN" sz="2400" b="1" dirty="0">
                <a:solidFill>
                  <a:schemeClr val="tx1"/>
                </a:solidFill>
                <a:latin typeface="Arial" panose="020B0604020202020204" pitchFamily="34" charset="0"/>
                <a:cs typeface="Arial" panose="020B0604020202020204" pitchFamily="34" charset="0"/>
              </a:rPr>
              <a:t>Dr. Naresh Chandra Sahu</a:t>
            </a:r>
          </a:p>
          <a:p>
            <a:r>
              <a:rPr lang="en-IN" sz="2400" dirty="0">
                <a:solidFill>
                  <a:schemeClr val="tx1"/>
                </a:solidFill>
                <a:latin typeface="Arial" panose="020B0604020202020204" pitchFamily="34" charset="0"/>
                <a:cs typeface="Arial" panose="020B0604020202020204" pitchFamily="34" charset="0"/>
              </a:rPr>
              <a:t>Associate Professor (Economics)</a:t>
            </a:r>
          </a:p>
        </p:txBody>
      </p:sp>
      <p:sp>
        <p:nvSpPr>
          <p:cNvPr id="4" name="Subtitle 2">
            <a:extLst>
              <a:ext uri="{FF2B5EF4-FFF2-40B4-BE49-F238E27FC236}">
                <a16:creationId xmlns:a16="http://schemas.microsoft.com/office/drawing/2014/main" id="{E611643E-496F-6C24-52CF-26048AD81153}"/>
              </a:ext>
            </a:extLst>
          </p:cNvPr>
          <p:cNvSpPr txBox="1">
            <a:spLocks/>
          </p:cNvSpPr>
          <p:nvPr/>
        </p:nvSpPr>
        <p:spPr>
          <a:xfrm>
            <a:off x="1524000" y="5116313"/>
            <a:ext cx="9144000" cy="932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en-US" sz="2200" b="1" dirty="0">
                <a:solidFill>
                  <a:prstClr val="black"/>
                </a:solidFill>
                <a:latin typeface="Arial" panose="020B0604020202020204" pitchFamily="34" charset="0"/>
                <a:cs typeface="Arial" panose="020B0604020202020204" pitchFamily="34" charset="0"/>
              </a:rPr>
              <a:t>School of Humanities, Social Sciences &amp; Management</a:t>
            </a:r>
          </a:p>
          <a:p>
            <a:pPr>
              <a:defRPr/>
            </a:pPr>
            <a:r>
              <a:rPr lang="en-US" sz="2200" dirty="0">
                <a:solidFill>
                  <a:prstClr val="black"/>
                </a:solidFill>
                <a:latin typeface="Arial" panose="020B0604020202020204" pitchFamily="34" charset="0"/>
                <a:cs typeface="Arial" panose="020B0604020202020204" pitchFamily="34" charset="0"/>
              </a:rPr>
              <a:t>Indian Institute of Technology, Bhubaneswar</a:t>
            </a:r>
          </a:p>
          <a:p>
            <a:endParaRPr lang="en-IN" dirty="0"/>
          </a:p>
        </p:txBody>
      </p:sp>
      <p:pic>
        <p:nvPicPr>
          <p:cNvPr id="5" name="Picture 4">
            <a:extLst>
              <a:ext uri="{FF2B5EF4-FFF2-40B4-BE49-F238E27FC236}">
                <a16:creationId xmlns:a16="http://schemas.microsoft.com/office/drawing/2014/main" id="{FB343BF9-7F17-532D-D9D7-7DDB3D55C91E}"/>
              </a:ext>
            </a:extLst>
          </p:cNvPr>
          <p:cNvPicPr>
            <a:picLocks noChangeAspect="1"/>
          </p:cNvPicPr>
          <p:nvPr/>
        </p:nvPicPr>
        <p:blipFill>
          <a:blip r:embed="rId2"/>
          <a:stretch>
            <a:fillRect/>
          </a:stretch>
        </p:blipFill>
        <p:spPr>
          <a:xfrm>
            <a:off x="4881057" y="1611326"/>
            <a:ext cx="1979076" cy="1817674"/>
          </a:xfrm>
          <a:prstGeom prst="rect">
            <a:avLst/>
          </a:prstGeom>
        </p:spPr>
      </p:pic>
      <p:sp>
        <p:nvSpPr>
          <p:cNvPr id="6" name="Slide Number Placeholder 5">
            <a:extLst>
              <a:ext uri="{FF2B5EF4-FFF2-40B4-BE49-F238E27FC236}">
                <a16:creationId xmlns:a16="http://schemas.microsoft.com/office/drawing/2014/main" id="{FEE30A92-D783-6F7E-FFC5-F3C3B0CA929A}"/>
              </a:ext>
            </a:extLst>
          </p:cNvPr>
          <p:cNvSpPr>
            <a:spLocks noGrp="1"/>
          </p:cNvSpPr>
          <p:nvPr>
            <p:ph type="sldNum" sz="quarter" idx="12"/>
          </p:nvPr>
        </p:nvSpPr>
        <p:spPr/>
        <p:txBody>
          <a:bodyPr/>
          <a:lstStyle/>
          <a:p>
            <a:fld id="{A1DCFAE8-8E9E-42B1-9A81-DFF72612FDA6}" type="slidenum">
              <a:rPr lang="en-IN" smtClean="0"/>
              <a:t>1</a:t>
            </a:fld>
            <a:endParaRPr lang="en-IN"/>
          </a:p>
        </p:txBody>
      </p:sp>
    </p:spTree>
    <p:extLst>
      <p:ext uri="{BB962C8B-B14F-4D97-AF65-F5344CB8AC3E}">
        <p14:creationId xmlns:p14="http://schemas.microsoft.com/office/powerpoint/2010/main" val="2518594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7457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You were given Rs. 1,00,000…..</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a:t>
            </a:fld>
            <a:endParaRPr lang="en-US"/>
          </a:p>
        </p:txBody>
      </p:sp>
      <p:pic>
        <p:nvPicPr>
          <p:cNvPr id="2050" name="Picture 2" descr="Budget Friendly Family Trips: Amazing Getaways on a Budget | CASHe Blogs">
            <a:extLst>
              <a:ext uri="{FF2B5EF4-FFF2-40B4-BE49-F238E27FC236}">
                <a16:creationId xmlns:a16="http://schemas.microsoft.com/office/drawing/2014/main" id="{B9CD64AC-22A1-A642-4EC0-83FE75BCC5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20" r="15315"/>
          <a:stretch>
            <a:fillRect/>
          </a:stretch>
        </p:blipFill>
        <p:spPr bwMode="auto">
          <a:xfrm>
            <a:off x="46653" y="2089946"/>
            <a:ext cx="2743200" cy="230202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ivate lenders gung-ho on adding new bank branches, PSBs go slow, ETBFSI">
            <a:extLst>
              <a:ext uri="{FF2B5EF4-FFF2-40B4-BE49-F238E27FC236}">
                <a16:creationId xmlns:a16="http://schemas.microsoft.com/office/drawing/2014/main" id="{CF0967B4-E2EF-F5E5-649D-C9A44D202E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2867" y="2041432"/>
            <a:ext cx="3124200" cy="230202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BSE Foundation Day: Key milestones of ...">
            <a:extLst>
              <a:ext uri="{FF2B5EF4-FFF2-40B4-BE49-F238E27FC236}">
                <a16:creationId xmlns:a16="http://schemas.microsoft.com/office/drawing/2014/main" id="{5F9040F9-66D2-82B8-3C6A-3E36023047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4199" y="2130569"/>
            <a:ext cx="2535344" cy="223158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itcoin steady at $114K as dollar weakness boosts crypto demand - The  Economic Times">
            <a:extLst>
              <a:ext uri="{FF2B5EF4-FFF2-40B4-BE49-F238E27FC236}">
                <a16:creationId xmlns:a16="http://schemas.microsoft.com/office/drawing/2014/main" id="{0F2A5E5D-67B9-27CD-97F6-7FC79DA66E7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56675" y="2130569"/>
            <a:ext cx="2535344" cy="23020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old Price Crosses ₹1 Lakh Mark as Global Prices Hit Record Highs Amid  Trade War &amp; Fed Uncertainty">
            <a:extLst>
              <a:ext uri="{FF2B5EF4-FFF2-40B4-BE49-F238E27FC236}">
                <a16:creationId xmlns:a16="http://schemas.microsoft.com/office/drawing/2014/main" id="{53943A47-FE22-B4FA-1C32-2E2D030F152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62165" y="4752794"/>
            <a:ext cx="3289803" cy="1849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199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68558"/>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Risk-Return Relationship of Different Financial Assets</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a:t>
            </a:fld>
            <a:endParaRPr lang="en-US"/>
          </a:p>
        </p:txBody>
      </p:sp>
      <p:graphicFrame>
        <p:nvGraphicFramePr>
          <p:cNvPr id="6" name="Object 32">
            <a:extLst>
              <a:ext uri="{FF2B5EF4-FFF2-40B4-BE49-F238E27FC236}">
                <a16:creationId xmlns:a16="http://schemas.microsoft.com/office/drawing/2014/main" id="{E94E13A4-D1AB-CE31-D011-97C0931545AA}"/>
              </a:ext>
            </a:extLst>
          </p:cNvPr>
          <p:cNvGraphicFramePr>
            <a:graphicFrameLocks noGrp="1" noChangeAspect="1"/>
          </p:cNvGraphicFramePr>
          <p:nvPr>
            <p:extLst>
              <p:ext uri="{D42A27DB-BD31-4B8C-83A1-F6EECF244321}">
                <p14:modId xmlns:p14="http://schemas.microsoft.com/office/powerpoint/2010/main" val="1022765854"/>
              </p:ext>
            </p:extLst>
          </p:nvPr>
        </p:nvGraphicFramePr>
        <p:xfrm>
          <a:off x="2286000" y="1546225"/>
          <a:ext cx="8077200" cy="4756150"/>
        </p:xfrm>
        <a:graphic>
          <a:graphicData uri="http://schemas.openxmlformats.org/presentationml/2006/ole">
            <mc:AlternateContent xmlns:mc="http://schemas.openxmlformats.org/markup-compatibility/2006">
              <mc:Choice xmlns:v="urn:schemas-microsoft-com:vml" Requires="v">
                <p:oleObj spid="_x0000_s2055" name="CorelDRAW" r:id="rId3" imgW="4136040" imgH="2542320" progId="">
                  <p:embed/>
                </p:oleObj>
              </mc:Choice>
              <mc:Fallback>
                <p:oleObj name="CorelDRAW" r:id="rId3" imgW="4136040" imgH="2542320" progId="">
                  <p:embed/>
                  <p:pic>
                    <p:nvPicPr>
                      <p:cNvPr id="3" name="Object 3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546225"/>
                        <a:ext cx="8077200" cy="475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34">
            <a:extLst>
              <a:ext uri="{FF2B5EF4-FFF2-40B4-BE49-F238E27FC236}">
                <a16:creationId xmlns:a16="http://schemas.microsoft.com/office/drawing/2014/main" id="{3FBA63EC-EECD-AC11-56DF-73999F2774B2}"/>
              </a:ext>
            </a:extLst>
          </p:cNvPr>
          <p:cNvSpPr txBox="1">
            <a:spLocks noChangeArrowheads="1"/>
          </p:cNvSpPr>
          <p:nvPr/>
        </p:nvSpPr>
        <p:spPr bwMode="auto">
          <a:xfrm>
            <a:off x="2674144" y="3162191"/>
            <a:ext cx="985838" cy="430695"/>
          </a:xfrm>
          <a:prstGeom prst="rect">
            <a:avLst/>
          </a:prstGeom>
          <a:noFill/>
          <a:ln w="9525">
            <a:noFill/>
            <a:miter lim="800000"/>
            <a:headEnd/>
            <a:tailEnd/>
          </a:ln>
          <a:effectLst/>
        </p:spPr>
        <p:txBody>
          <a:bodyPr>
            <a:spAutoFit/>
          </a:bodyPr>
          <a:lstStyle/>
          <a:p>
            <a:pPr>
              <a:lnSpc>
                <a:spcPct val="50000"/>
              </a:lnSpc>
              <a:spcBef>
                <a:spcPct val="50000"/>
              </a:spcBef>
            </a:pPr>
            <a:r>
              <a:rPr lang="en-US" sz="1400" dirty="0"/>
              <a:t>Rate of </a:t>
            </a:r>
          </a:p>
          <a:p>
            <a:pPr>
              <a:lnSpc>
                <a:spcPct val="50000"/>
              </a:lnSpc>
              <a:spcBef>
                <a:spcPct val="50000"/>
              </a:spcBef>
            </a:pPr>
            <a:r>
              <a:rPr lang="en-US" sz="1400" dirty="0"/>
              <a:t>Return</a:t>
            </a:r>
          </a:p>
        </p:txBody>
      </p:sp>
      <p:sp>
        <p:nvSpPr>
          <p:cNvPr id="8" name="Text Box 35">
            <a:extLst>
              <a:ext uri="{FF2B5EF4-FFF2-40B4-BE49-F238E27FC236}">
                <a16:creationId xmlns:a16="http://schemas.microsoft.com/office/drawing/2014/main" id="{4780B01B-B1ED-E66A-9FE2-30C8E0E56065}"/>
              </a:ext>
            </a:extLst>
          </p:cNvPr>
          <p:cNvSpPr txBox="1">
            <a:spLocks noChangeArrowheads="1"/>
          </p:cNvSpPr>
          <p:nvPr/>
        </p:nvSpPr>
        <p:spPr bwMode="auto">
          <a:xfrm>
            <a:off x="4044553" y="2640959"/>
            <a:ext cx="1365250" cy="630942"/>
          </a:xfrm>
          <a:prstGeom prst="rect">
            <a:avLst/>
          </a:prstGeom>
          <a:noFill/>
          <a:ln w="9525">
            <a:noFill/>
            <a:miter lim="800000"/>
            <a:headEnd/>
            <a:tailEnd/>
          </a:ln>
          <a:effectLst/>
        </p:spPr>
        <p:txBody>
          <a:bodyPr>
            <a:spAutoFit/>
          </a:bodyPr>
          <a:lstStyle/>
          <a:p>
            <a:pPr>
              <a:spcBef>
                <a:spcPct val="50000"/>
              </a:spcBef>
            </a:pPr>
            <a:r>
              <a:rPr lang="en-US" sz="1400" dirty="0"/>
              <a:t>Risk </a:t>
            </a:r>
          </a:p>
          <a:p>
            <a:pPr>
              <a:spcBef>
                <a:spcPct val="50000"/>
              </a:spcBef>
            </a:pPr>
            <a:r>
              <a:rPr lang="en-US" sz="1400" dirty="0"/>
              <a:t>Premium</a:t>
            </a:r>
          </a:p>
        </p:txBody>
      </p:sp>
      <p:sp>
        <p:nvSpPr>
          <p:cNvPr id="9" name="Text Box 36">
            <a:extLst>
              <a:ext uri="{FF2B5EF4-FFF2-40B4-BE49-F238E27FC236}">
                <a16:creationId xmlns:a16="http://schemas.microsoft.com/office/drawing/2014/main" id="{073CFB9F-FAAB-670D-F9FC-614CAE8B0A8E}"/>
              </a:ext>
            </a:extLst>
          </p:cNvPr>
          <p:cNvSpPr txBox="1">
            <a:spLocks noChangeArrowheads="1"/>
          </p:cNvSpPr>
          <p:nvPr/>
        </p:nvSpPr>
        <p:spPr bwMode="auto">
          <a:xfrm>
            <a:off x="8489950" y="1828800"/>
            <a:ext cx="1670050" cy="304800"/>
          </a:xfrm>
          <a:prstGeom prst="rect">
            <a:avLst/>
          </a:prstGeom>
          <a:noFill/>
          <a:ln w="9525">
            <a:noFill/>
            <a:miter lim="800000"/>
            <a:headEnd/>
            <a:tailEnd/>
          </a:ln>
          <a:effectLst/>
        </p:spPr>
        <p:txBody>
          <a:bodyPr>
            <a:spAutoFit/>
          </a:bodyPr>
          <a:lstStyle/>
          <a:p>
            <a:pPr>
              <a:spcBef>
                <a:spcPct val="50000"/>
              </a:spcBef>
            </a:pPr>
            <a:r>
              <a:rPr lang="en-US" sz="1400" dirty="0"/>
              <a:t>Market Line E(r)</a:t>
            </a:r>
          </a:p>
        </p:txBody>
      </p:sp>
      <p:sp>
        <p:nvSpPr>
          <p:cNvPr id="10" name="Text Box 37">
            <a:extLst>
              <a:ext uri="{FF2B5EF4-FFF2-40B4-BE49-F238E27FC236}">
                <a16:creationId xmlns:a16="http://schemas.microsoft.com/office/drawing/2014/main" id="{B48B7C7C-9A3F-F1A4-A317-F0950C6194B0}"/>
              </a:ext>
            </a:extLst>
          </p:cNvPr>
          <p:cNvSpPr txBox="1">
            <a:spLocks noChangeArrowheads="1"/>
          </p:cNvSpPr>
          <p:nvPr/>
        </p:nvSpPr>
        <p:spPr bwMode="auto">
          <a:xfrm>
            <a:off x="5260975" y="5788357"/>
            <a:ext cx="1670050" cy="304800"/>
          </a:xfrm>
          <a:prstGeom prst="rect">
            <a:avLst/>
          </a:prstGeom>
          <a:noFill/>
          <a:ln w="9525">
            <a:noFill/>
            <a:miter lim="800000"/>
            <a:headEnd/>
            <a:tailEnd/>
          </a:ln>
          <a:effectLst/>
        </p:spPr>
        <p:txBody>
          <a:bodyPr>
            <a:spAutoFit/>
          </a:bodyPr>
          <a:lstStyle/>
          <a:p>
            <a:pPr>
              <a:spcBef>
                <a:spcPct val="50000"/>
              </a:spcBef>
            </a:pPr>
            <a:r>
              <a:rPr lang="en-US" sz="1400" dirty="0"/>
              <a:t>Degree of Risk</a:t>
            </a:r>
          </a:p>
        </p:txBody>
      </p:sp>
      <p:sp>
        <p:nvSpPr>
          <p:cNvPr id="11" name="Text Box 38">
            <a:extLst>
              <a:ext uri="{FF2B5EF4-FFF2-40B4-BE49-F238E27FC236}">
                <a16:creationId xmlns:a16="http://schemas.microsoft.com/office/drawing/2014/main" id="{5089506C-CB0A-6E48-C408-837EE4E1EA8B}"/>
              </a:ext>
            </a:extLst>
          </p:cNvPr>
          <p:cNvSpPr txBox="1">
            <a:spLocks noChangeArrowheads="1"/>
          </p:cNvSpPr>
          <p:nvPr/>
        </p:nvSpPr>
        <p:spPr bwMode="auto">
          <a:xfrm>
            <a:off x="4160839" y="4154410"/>
            <a:ext cx="1593850" cy="304800"/>
          </a:xfrm>
          <a:prstGeom prst="rect">
            <a:avLst/>
          </a:prstGeom>
          <a:noFill/>
          <a:ln w="9525">
            <a:noFill/>
            <a:miter lim="800000"/>
            <a:headEnd/>
            <a:tailEnd/>
          </a:ln>
          <a:effectLst/>
        </p:spPr>
        <p:txBody>
          <a:bodyPr>
            <a:spAutoFit/>
          </a:bodyPr>
          <a:lstStyle/>
          <a:p>
            <a:pPr>
              <a:spcBef>
                <a:spcPct val="50000"/>
              </a:spcBef>
            </a:pPr>
            <a:r>
              <a:rPr lang="en-US" sz="1400" dirty="0"/>
              <a:t>Mortgage loan</a:t>
            </a:r>
          </a:p>
        </p:txBody>
      </p:sp>
      <p:sp>
        <p:nvSpPr>
          <p:cNvPr id="12" name="Text Box 39">
            <a:extLst>
              <a:ext uri="{FF2B5EF4-FFF2-40B4-BE49-F238E27FC236}">
                <a16:creationId xmlns:a16="http://schemas.microsoft.com/office/drawing/2014/main" id="{F1C865E1-F500-E4DC-D211-ADFE468F9863}"/>
              </a:ext>
            </a:extLst>
          </p:cNvPr>
          <p:cNvSpPr txBox="1">
            <a:spLocks noChangeArrowheads="1"/>
          </p:cNvSpPr>
          <p:nvPr/>
        </p:nvSpPr>
        <p:spPr bwMode="auto">
          <a:xfrm>
            <a:off x="3715006" y="4545345"/>
            <a:ext cx="2914394" cy="307777"/>
          </a:xfrm>
          <a:prstGeom prst="rect">
            <a:avLst/>
          </a:prstGeom>
          <a:noFill/>
          <a:ln w="9525">
            <a:noFill/>
            <a:miter lim="800000"/>
            <a:headEnd/>
            <a:tailEnd/>
          </a:ln>
          <a:effectLst/>
        </p:spPr>
        <p:txBody>
          <a:bodyPr wrap="square">
            <a:spAutoFit/>
          </a:bodyPr>
          <a:lstStyle/>
          <a:p>
            <a:pPr>
              <a:spcBef>
                <a:spcPct val="50000"/>
              </a:spcBef>
            </a:pPr>
            <a:r>
              <a:rPr lang="en-US" sz="1400" dirty="0"/>
              <a:t>T-bill or Government Bond (risk-free)</a:t>
            </a:r>
          </a:p>
        </p:txBody>
      </p:sp>
      <p:sp>
        <p:nvSpPr>
          <p:cNvPr id="13" name="Text Box 40">
            <a:extLst>
              <a:ext uri="{FF2B5EF4-FFF2-40B4-BE49-F238E27FC236}">
                <a16:creationId xmlns:a16="http://schemas.microsoft.com/office/drawing/2014/main" id="{EBA08F9C-A43F-4919-F485-4DACED307E55}"/>
              </a:ext>
            </a:extLst>
          </p:cNvPr>
          <p:cNvSpPr txBox="1">
            <a:spLocks noChangeArrowheads="1"/>
          </p:cNvSpPr>
          <p:nvPr/>
        </p:nvSpPr>
        <p:spPr bwMode="auto">
          <a:xfrm>
            <a:off x="7309645" y="2678250"/>
            <a:ext cx="1517650" cy="304800"/>
          </a:xfrm>
          <a:prstGeom prst="rect">
            <a:avLst/>
          </a:prstGeom>
          <a:noFill/>
          <a:ln w="9525">
            <a:noFill/>
            <a:miter lim="800000"/>
            <a:headEnd/>
            <a:tailEnd/>
          </a:ln>
          <a:effectLst/>
        </p:spPr>
        <p:txBody>
          <a:bodyPr>
            <a:spAutoFit/>
          </a:bodyPr>
          <a:lstStyle/>
          <a:p>
            <a:pPr>
              <a:spcBef>
                <a:spcPct val="50000"/>
              </a:spcBef>
            </a:pPr>
            <a:r>
              <a:rPr lang="en-US" sz="1400" dirty="0"/>
              <a:t>Equity shares</a:t>
            </a:r>
          </a:p>
        </p:txBody>
      </p:sp>
      <p:sp>
        <p:nvSpPr>
          <p:cNvPr id="14" name="Text Box 41">
            <a:extLst>
              <a:ext uri="{FF2B5EF4-FFF2-40B4-BE49-F238E27FC236}">
                <a16:creationId xmlns:a16="http://schemas.microsoft.com/office/drawing/2014/main" id="{264B2B10-49C6-A3F5-C753-F2E37A71366C}"/>
              </a:ext>
            </a:extLst>
          </p:cNvPr>
          <p:cNvSpPr txBox="1">
            <a:spLocks noChangeArrowheads="1"/>
          </p:cNvSpPr>
          <p:nvPr/>
        </p:nvSpPr>
        <p:spPr bwMode="auto">
          <a:xfrm>
            <a:off x="5744961" y="3255454"/>
            <a:ext cx="2675394" cy="307777"/>
          </a:xfrm>
          <a:prstGeom prst="rect">
            <a:avLst/>
          </a:prstGeom>
          <a:noFill/>
          <a:ln w="9525">
            <a:noFill/>
            <a:miter lim="800000"/>
            <a:headEnd/>
            <a:tailEnd/>
          </a:ln>
          <a:effectLst/>
        </p:spPr>
        <p:txBody>
          <a:bodyPr wrap="square">
            <a:spAutoFit/>
          </a:bodyPr>
          <a:lstStyle/>
          <a:p>
            <a:pPr>
              <a:spcBef>
                <a:spcPct val="50000"/>
              </a:spcBef>
            </a:pPr>
            <a:r>
              <a:rPr lang="en-US" sz="1400" dirty="0"/>
              <a:t>Unsecured Loan/Debentures</a:t>
            </a:r>
          </a:p>
        </p:txBody>
      </p:sp>
      <p:sp>
        <p:nvSpPr>
          <p:cNvPr id="15" name="Text Box 42">
            <a:extLst>
              <a:ext uri="{FF2B5EF4-FFF2-40B4-BE49-F238E27FC236}">
                <a16:creationId xmlns:a16="http://schemas.microsoft.com/office/drawing/2014/main" id="{57F1E46C-FA0F-FF6F-18C0-477EFF458D15}"/>
              </a:ext>
            </a:extLst>
          </p:cNvPr>
          <p:cNvSpPr txBox="1">
            <a:spLocks noChangeArrowheads="1"/>
          </p:cNvSpPr>
          <p:nvPr/>
        </p:nvSpPr>
        <p:spPr bwMode="auto">
          <a:xfrm>
            <a:off x="6523293" y="2974135"/>
            <a:ext cx="1897062" cy="304800"/>
          </a:xfrm>
          <a:prstGeom prst="rect">
            <a:avLst/>
          </a:prstGeom>
          <a:noFill/>
          <a:ln w="9525">
            <a:noFill/>
            <a:miter lim="800000"/>
            <a:headEnd/>
            <a:tailEnd/>
          </a:ln>
          <a:effectLst/>
        </p:spPr>
        <p:txBody>
          <a:bodyPr>
            <a:spAutoFit/>
          </a:bodyPr>
          <a:lstStyle/>
          <a:p>
            <a:pPr>
              <a:spcBef>
                <a:spcPct val="50000"/>
              </a:spcBef>
            </a:pPr>
            <a:r>
              <a:rPr lang="en-US" sz="1400" dirty="0"/>
              <a:t>Preference shares</a:t>
            </a:r>
          </a:p>
        </p:txBody>
      </p:sp>
      <p:sp>
        <p:nvSpPr>
          <p:cNvPr id="16" name="Text Box 43">
            <a:extLst>
              <a:ext uri="{FF2B5EF4-FFF2-40B4-BE49-F238E27FC236}">
                <a16:creationId xmlns:a16="http://schemas.microsoft.com/office/drawing/2014/main" id="{C863B661-C59C-7B95-2189-94DF29176100}"/>
              </a:ext>
            </a:extLst>
          </p:cNvPr>
          <p:cNvSpPr txBox="1">
            <a:spLocks noChangeArrowheads="1"/>
          </p:cNvSpPr>
          <p:nvPr/>
        </p:nvSpPr>
        <p:spPr bwMode="auto">
          <a:xfrm>
            <a:off x="4577558" y="3785317"/>
            <a:ext cx="2732087" cy="304800"/>
          </a:xfrm>
          <a:prstGeom prst="rect">
            <a:avLst/>
          </a:prstGeom>
          <a:noFill/>
          <a:ln w="9525">
            <a:noFill/>
            <a:miter lim="800000"/>
            <a:headEnd/>
            <a:tailEnd/>
          </a:ln>
          <a:effectLst/>
        </p:spPr>
        <p:txBody>
          <a:bodyPr>
            <a:spAutoFit/>
          </a:bodyPr>
          <a:lstStyle/>
          <a:p>
            <a:pPr>
              <a:spcBef>
                <a:spcPct val="50000"/>
              </a:spcBef>
            </a:pPr>
            <a:r>
              <a:rPr lang="en-US" sz="1400" dirty="0"/>
              <a:t>Secured Loan/Debenture</a:t>
            </a:r>
          </a:p>
        </p:txBody>
      </p:sp>
      <p:sp>
        <p:nvSpPr>
          <p:cNvPr id="18" name="Text Box 45">
            <a:extLst>
              <a:ext uri="{FF2B5EF4-FFF2-40B4-BE49-F238E27FC236}">
                <a16:creationId xmlns:a16="http://schemas.microsoft.com/office/drawing/2014/main" id="{EB10CC47-8D6A-BD7E-07F6-57E5482A4717}"/>
              </a:ext>
            </a:extLst>
          </p:cNvPr>
          <p:cNvSpPr txBox="1">
            <a:spLocks noChangeArrowheads="1"/>
          </p:cNvSpPr>
          <p:nvPr/>
        </p:nvSpPr>
        <p:spPr bwMode="auto">
          <a:xfrm>
            <a:off x="4198939" y="6337632"/>
            <a:ext cx="4097337" cy="304800"/>
          </a:xfrm>
          <a:prstGeom prst="rect">
            <a:avLst/>
          </a:prstGeom>
          <a:noFill/>
          <a:ln w="9525">
            <a:noFill/>
            <a:miter lim="800000"/>
            <a:headEnd/>
            <a:tailEnd/>
          </a:ln>
          <a:effectLst/>
        </p:spPr>
        <p:txBody>
          <a:bodyPr>
            <a:spAutoFit/>
          </a:bodyPr>
          <a:lstStyle/>
          <a:p>
            <a:pPr>
              <a:spcBef>
                <a:spcPct val="50000"/>
              </a:spcBef>
            </a:pPr>
            <a:r>
              <a:rPr lang="en-US" sz="1400"/>
              <a:t>Risk return relationship of different stocks</a:t>
            </a:r>
          </a:p>
        </p:txBody>
      </p:sp>
    </p:spTree>
    <p:extLst>
      <p:ext uri="{BB962C8B-B14F-4D97-AF65-F5344CB8AC3E}">
        <p14:creationId xmlns:p14="http://schemas.microsoft.com/office/powerpoint/2010/main" val="2707253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17610-49A0-7CDB-FB06-A90843F0755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1C4FFCC-3D0A-0CF9-5A7F-4F73C73E91BC}"/>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5603210-EAE3-B46F-8F3A-18133A12D5D9}"/>
              </a:ext>
            </a:extLst>
          </p:cNvPr>
          <p:cNvSpPr>
            <a:spLocks noGrp="1"/>
          </p:cNvSpPr>
          <p:nvPr>
            <p:ph type="sldNum" sz="quarter" idx="12"/>
          </p:nvPr>
        </p:nvSpPr>
        <p:spPr/>
        <p:txBody>
          <a:bodyPr/>
          <a:lstStyle/>
          <a:p>
            <a:fld id="{9A6574C6-EAF8-40F7-9181-B4B8ADC2AD82}" type="slidenum">
              <a:rPr lang="en-US" smtClean="0"/>
              <a:t>4</a:t>
            </a:fld>
            <a:endParaRPr lang="en-US"/>
          </a:p>
        </p:txBody>
      </p:sp>
      <p:pic>
        <p:nvPicPr>
          <p:cNvPr id="3" name="Picture 2" descr="High Risk High Return Shown Using स्टॉक फ़ोटो 2271268873 | Shutterstock">
            <a:extLst>
              <a:ext uri="{FF2B5EF4-FFF2-40B4-BE49-F238E27FC236}">
                <a16:creationId xmlns:a16="http://schemas.microsoft.com/office/drawing/2014/main" id="{5158AB54-E875-33FC-9081-4003153F51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630"/>
          <a:stretch>
            <a:fillRect/>
          </a:stretch>
        </p:blipFill>
        <p:spPr bwMode="auto">
          <a:xfrm>
            <a:off x="1745225" y="1006719"/>
            <a:ext cx="8701549" cy="484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4690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3713-352A-9127-9C49-1CBDFA23EB8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C5CA23-44D7-F0CD-8515-A6821C746007}"/>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69F91589-5CB3-CBB0-A81B-23F2E80A15BB}"/>
              </a:ext>
            </a:extLst>
          </p:cNvPr>
          <p:cNvSpPr>
            <a:spLocks noGrp="1"/>
          </p:cNvSpPr>
          <p:nvPr>
            <p:ph type="sldNum" sz="quarter" idx="12"/>
          </p:nvPr>
        </p:nvSpPr>
        <p:spPr/>
        <p:txBody>
          <a:bodyPr/>
          <a:lstStyle/>
          <a:p>
            <a:fld id="{9A6574C6-EAF8-40F7-9181-B4B8ADC2AD82}" type="slidenum">
              <a:rPr lang="en-US" smtClean="0"/>
              <a:t>5</a:t>
            </a:fld>
            <a:endParaRPr lang="en-US"/>
          </a:p>
        </p:txBody>
      </p:sp>
      <p:sp>
        <p:nvSpPr>
          <p:cNvPr id="2" name="Subtitle 4">
            <a:extLst>
              <a:ext uri="{FF2B5EF4-FFF2-40B4-BE49-F238E27FC236}">
                <a16:creationId xmlns:a16="http://schemas.microsoft.com/office/drawing/2014/main" id="{A04A4263-D0B8-DA6C-454C-9032B97C576F}"/>
              </a:ext>
            </a:extLst>
          </p:cNvPr>
          <p:cNvSpPr txBox="1">
            <a:spLocks/>
          </p:cNvSpPr>
          <p:nvPr/>
        </p:nvSpPr>
        <p:spPr>
          <a:xfrm>
            <a:off x="1066800" y="5562600"/>
            <a:ext cx="8534400" cy="457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pPr>
            <a:r>
              <a:rPr lang="en-US" sz="1600" dirty="0"/>
              <a:t>Source: The Economics Times, April 6 (2025)</a:t>
            </a:r>
          </a:p>
        </p:txBody>
      </p:sp>
      <p:pic>
        <p:nvPicPr>
          <p:cNvPr id="9" name="Picture 8">
            <a:extLst>
              <a:ext uri="{FF2B5EF4-FFF2-40B4-BE49-F238E27FC236}">
                <a16:creationId xmlns:a16="http://schemas.microsoft.com/office/drawing/2014/main" id="{6DD87C7A-0451-48BE-8848-2BF26D451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446" y="685800"/>
            <a:ext cx="11521108" cy="4540249"/>
          </a:xfrm>
          <a:prstGeom prst="rect">
            <a:avLst/>
          </a:prstGeom>
        </p:spPr>
      </p:pic>
    </p:spTree>
    <p:extLst>
      <p:ext uri="{BB962C8B-B14F-4D97-AF65-F5344CB8AC3E}">
        <p14:creationId xmlns:p14="http://schemas.microsoft.com/office/powerpoint/2010/main" val="208850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3CA9-CD2A-C9DA-73C1-DBEB0B57D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661AB-E664-E6DF-5A8A-5703A93A7017}"/>
              </a:ext>
            </a:extLst>
          </p:cNvPr>
          <p:cNvSpPr>
            <a:spLocks noGrp="1"/>
          </p:cNvSpPr>
          <p:nvPr>
            <p:ph type="title"/>
          </p:nvPr>
        </p:nvSpPr>
        <p:spPr>
          <a:xfrm>
            <a:off x="586409" y="218660"/>
            <a:ext cx="10995991" cy="81832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Learning Objectives</a:t>
            </a:r>
          </a:p>
        </p:txBody>
      </p:sp>
      <p:sp>
        <p:nvSpPr>
          <p:cNvPr id="3" name="Content Placeholder 2">
            <a:extLst>
              <a:ext uri="{FF2B5EF4-FFF2-40B4-BE49-F238E27FC236}">
                <a16:creationId xmlns:a16="http://schemas.microsoft.com/office/drawing/2014/main" id="{8A1633E3-69A1-D98B-5C49-099B9CAAA6FE}"/>
              </a:ext>
            </a:extLst>
          </p:cNvPr>
          <p:cNvSpPr>
            <a:spLocks noGrp="1"/>
          </p:cNvSpPr>
          <p:nvPr>
            <p:ph idx="1"/>
          </p:nvPr>
        </p:nvSpPr>
        <p:spPr>
          <a:xfrm>
            <a:off x="838200" y="1447800"/>
            <a:ext cx="6553200" cy="5273675"/>
          </a:xfrm>
          <a:noFill/>
        </p:spPr>
        <p:txBody>
          <a:bodyPr>
            <a:normAutofit/>
          </a:bodyPr>
          <a:lstStyle/>
          <a:p>
            <a:pPr algn="just"/>
            <a:r>
              <a:rPr lang="en-US" sz="2400" dirty="0">
                <a:latin typeface="Arial" panose="020B0604020202020204" pitchFamily="34" charset="0"/>
                <a:cs typeface="Arial" panose="020B0604020202020204" pitchFamily="34" charset="0"/>
              </a:rPr>
              <a:t>Understand the concept of return and risk of a security. </a:t>
            </a:r>
          </a:p>
          <a:p>
            <a:pPr algn="just"/>
            <a:r>
              <a:rPr lang="en-US" sz="2400" dirty="0">
                <a:latin typeface="Arial" panose="020B0604020202020204" pitchFamily="34" charset="0"/>
                <a:cs typeface="Arial" panose="020B0604020202020204" pitchFamily="34" charset="0"/>
              </a:rPr>
              <a:t>Calculate return of a security. </a:t>
            </a:r>
          </a:p>
          <a:p>
            <a:pPr algn="just"/>
            <a:r>
              <a:rPr lang="en-US" sz="2400" dirty="0">
                <a:latin typeface="Arial" panose="020B0604020202020204" pitchFamily="34" charset="0"/>
                <a:cs typeface="Arial" panose="020B0604020202020204" pitchFamily="34" charset="0"/>
              </a:rPr>
              <a:t>Compare different investment alternatives in terms of various returns. </a:t>
            </a:r>
          </a:p>
          <a:p>
            <a:pPr algn="just"/>
            <a:r>
              <a:rPr lang="en-US" sz="2400" dirty="0">
                <a:latin typeface="Arial" panose="020B0604020202020204" pitchFamily="34" charset="0"/>
                <a:cs typeface="Arial" panose="020B0604020202020204" pitchFamily="34" charset="0"/>
              </a:rPr>
              <a:t>Differentiate between systematic and unsystematic risk. </a:t>
            </a:r>
          </a:p>
          <a:p>
            <a:pPr algn="just"/>
            <a:r>
              <a:rPr lang="en-US" sz="2400" dirty="0">
                <a:latin typeface="Arial" panose="020B0604020202020204" pitchFamily="34" charset="0"/>
                <a:cs typeface="Arial" panose="020B0604020202020204" pitchFamily="34" charset="0"/>
              </a:rPr>
              <a:t>Estimate total risk, systematic risk and unsystematic risk on a security. </a:t>
            </a:r>
          </a:p>
          <a:p>
            <a:pPr algn="just"/>
            <a:r>
              <a:rPr lang="en-US" sz="2400" dirty="0">
                <a:latin typeface="Arial" panose="020B0604020202020204" pitchFamily="34" charset="0"/>
                <a:cs typeface="Arial" panose="020B0604020202020204" pitchFamily="34" charset="0"/>
              </a:rPr>
              <a:t>Calculation beta of a security and its significance.</a:t>
            </a:r>
          </a:p>
        </p:txBody>
      </p:sp>
      <p:sp>
        <p:nvSpPr>
          <p:cNvPr id="4" name="Date Placeholder 3">
            <a:extLst>
              <a:ext uri="{FF2B5EF4-FFF2-40B4-BE49-F238E27FC236}">
                <a16:creationId xmlns:a16="http://schemas.microsoft.com/office/drawing/2014/main" id="{0AEABEF6-0C2B-3F5A-0FC5-B534EF8BF08B}"/>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BAF20F-8E01-67F9-05D3-A9528723437A}"/>
              </a:ext>
            </a:extLst>
          </p:cNvPr>
          <p:cNvSpPr>
            <a:spLocks noGrp="1"/>
          </p:cNvSpPr>
          <p:nvPr>
            <p:ph type="sldNum" sz="quarter" idx="12"/>
          </p:nvPr>
        </p:nvSpPr>
        <p:spPr/>
        <p:txBody>
          <a:bodyPr/>
          <a:lstStyle/>
          <a:p>
            <a:fld id="{9A6574C6-EAF8-40F7-9181-B4B8ADC2AD82}" type="slidenum">
              <a:rPr lang="en-US" smtClean="0"/>
              <a:t>6</a:t>
            </a:fld>
            <a:endParaRPr lang="en-US"/>
          </a:p>
        </p:txBody>
      </p:sp>
      <p:pic>
        <p:nvPicPr>
          <p:cNvPr id="7" name="Picture 6">
            <a:extLst>
              <a:ext uri="{FF2B5EF4-FFF2-40B4-BE49-F238E27FC236}">
                <a16:creationId xmlns:a16="http://schemas.microsoft.com/office/drawing/2014/main" id="{33BB1EA6-7D18-2F58-15AC-B2F8EC0AE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800" y="2362200"/>
            <a:ext cx="4445000" cy="3429000"/>
          </a:xfrm>
          <a:prstGeom prst="rect">
            <a:avLst/>
          </a:prstGeom>
        </p:spPr>
      </p:pic>
    </p:spTree>
    <p:extLst>
      <p:ext uri="{BB962C8B-B14F-4D97-AF65-F5344CB8AC3E}">
        <p14:creationId xmlns:p14="http://schemas.microsoft.com/office/powerpoint/2010/main" val="29773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Introduction to Risk and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972800" cy="5502275"/>
          </a:xfrm>
          <a:noFill/>
        </p:spPr>
        <p:txBody>
          <a:bodyPr>
            <a:normAutofit lnSpcReduction="10000"/>
          </a:bodyPr>
          <a:lstStyle/>
          <a:p>
            <a:pPr algn="just"/>
            <a:r>
              <a:rPr lang="en-US" sz="2400" b="1" dirty="0">
                <a:latin typeface="Arial" panose="020B0604020202020204" pitchFamily="34" charset="0"/>
                <a:cs typeface="Arial" panose="020B0604020202020204" pitchFamily="34" charset="0"/>
              </a:rPr>
              <a:t>Investment</a:t>
            </a:r>
            <a:r>
              <a:rPr lang="en-US" sz="2400" dirty="0">
                <a:latin typeface="Arial" panose="020B0604020202020204" pitchFamily="34" charset="0"/>
                <a:cs typeface="Arial" panose="020B0604020202020204" pitchFamily="34" charset="0"/>
              </a:rPr>
              <a:t> refers to </a:t>
            </a:r>
            <a:r>
              <a:rPr lang="en-US" sz="2400" b="1" dirty="0">
                <a:latin typeface="Arial" panose="020B0604020202020204" pitchFamily="34" charset="0"/>
                <a:cs typeface="Arial" panose="020B0604020202020204" pitchFamily="34" charset="0"/>
              </a:rPr>
              <a:t>commitment of funds</a:t>
            </a:r>
            <a:r>
              <a:rPr lang="en-US" sz="2400" dirty="0">
                <a:latin typeface="Arial" panose="020B0604020202020204" pitchFamily="34" charset="0"/>
                <a:cs typeface="Arial" panose="020B0604020202020204" pitchFamily="34" charset="0"/>
              </a:rPr>
              <a:t> in expectation of </a:t>
            </a:r>
            <a:r>
              <a:rPr lang="en-US" sz="2400" b="1" dirty="0">
                <a:latin typeface="Arial" panose="020B0604020202020204" pitchFamily="34" charset="0"/>
                <a:cs typeface="Arial" panose="020B0604020202020204" pitchFamily="34" charset="0"/>
              </a:rPr>
              <a:t>future gains or benefits</a:t>
            </a:r>
            <a:r>
              <a:rPr lang="en-US" sz="2400" dirty="0">
                <a:latin typeface="Arial" panose="020B0604020202020204" pitchFamily="34" charset="0"/>
                <a:cs typeface="Arial" panose="020B0604020202020204" pitchFamily="34" charset="0"/>
              </a:rPr>
              <a:t>. </a:t>
            </a:r>
          </a:p>
          <a:p>
            <a:pPr algn="just"/>
            <a:r>
              <a:rPr lang="en-US" sz="2400" dirty="0">
                <a:latin typeface="Arial" panose="020B0604020202020204" pitchFamily="34" charset="0"/>
                <a:cs typeface="Arial" panose="020B0604020202020204" pitchFamily="34" charset="0"/>
              </a:rPr>
              <a:t>Every investment requires that current consumption is foregone so that in </a:t>
            </a:r>
            <a:r>
              <a:rPr lang="en-US" sz="2400" b="1" dirty="0">
                <a:latin typeface="Arial" panose="020B0604020202020204" pitchFamily="34" charset="0"/>
                <a:cs typeface="Arial" panose="020B0604020202020204" pitchFamily="34" charset="0"/>
              </a:rPr>
              <a:t>future some benefits </a:t>
            </a:r>
            <a:r>
              <a:rPr lang="en-US" sz="2400" dirty="0">
                <a:latin typeface="Arial" panose="020B0604020202020204" pitchFamily="34" charset="0"/>
                <a:cs typeface="Arial" panose="020B0604020202020204" pitchFamily="34" charset="0"/>
              </a:rPr>
              <a:t>or returns are generated. </a:t>
            </a:r>
          </a:p>
          <a:p>
            <a:pPr algn="just"/>
            <a:r>
              <a:rPr lang="en-US" sz="2400" dirty="0">
                <a:latin typeface="Arial" panose="020B0604020202020204" pitchFamily="34" charset="0"/>
                <a:cs typeface="Arial" panose="020B0604020202020204" pitchFamily="34" charset="0"/>
              </a:rPr>
              <a:t>A person may defer his present consumption and invests the amount in securities (such as equity shares, bond or debentures) expecting that his investment would provide him revenue returns (in the form of interest and dividends) in future. </a:t>
            </a:r>
          </a:p>
          <a:p>
            <a:pPr algn="just"/>
            <a:r>
              <a:rPr lang="en-US" sz="2400" dirty="0">
                <a:latin typeface="Arial" panose="020B0604020202020204" pitchFamily="34" charset="0"/>
                <a:cs typeface="Arial" panose="020B0604020202020204" pitchFamily="34" charset="0"/>
              </a:rPr>
              <a:t>A businessman invests in plants and machinery in expectation of making profits (or returns). </a:t>
            </a:r>
          </a:p>
          <a:p>
            <a:pPr algn="just"/>
            <a:r>
              <a:rPr lang="en-US" sz="2400" dirty="0">
                <a:latin typeface="Arial" panose="020B0604020202020204" pitchFamily="34" charset="0"/>
                <a:cs typeface="Arial" panose="020B0604020202020204" pitchFamily="34" charset="0"/>
              </a:rPr>
              <a:t>A person puts the money in a fixed deposit account now so that he can get a higher amount including interest incomes in future.  </a:t>
            </a:r>
          </a:p>
          <a:p>
            <a:pPr algn="just"/>
            <a:r>
              <a:rPr lang="en-US" sz="2400" dirty="0">
                <a:latin typeface="Arial" panose="020B0604020202020204" pitchFamily="34" charset="0"/>
                <a:cs typeface="Arial" panose="020B0604020202020204" pitchFamily="34" charset="0"/>
              </a:rPr>
              <a:t>Therefore the primary motivating or driving force of an investment is the reward attached with it popularly known as </a:t>
            </a:r>
            <a:r>
              <a:rPr lang="en-US" sz="2400" b="1" dirty="0">
                <a:latin typeface="Arial" panose="020B0604020202020204" pitchFamily="34" charset="0"/>
                <a:cs typeface="Arial" panose="020B0604020202020204" pitchFamily="34" charset="0"/>
              </a:rPr>
              <a:t>RETURN</a:t>
            </a:r>
            <a:r>
              <a:rPr lang="en-US" sz="2400" dirty="0">
                <a:latin typeface="Arial" panose="020B0604020202020204" pitchFamily="34" charset="0"/>
                <a:cs typeface="Arial" panose="020B0604020202020204" pitchFamily="34" charset="0"/>
              </a:rPr>
              <a:t>.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7</a:t>
            </a:fld>
            <a:endParaRPr lang="en-US"/>
          </a:p>
        </p:txBody>
      </p:sp>
    </p:spTree>
    <p:extLst>
      <p:ext uri="{BB962C8B-B14F-4D97-AF65-F5344CB8AC3E}">
        <p14:creationId xmlns:p14="http://schemas.microsoft.com/office/powerpoint/2010/main" val="744921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66530" y="238539"/>
            <a:ext cx="11015870" cy="722243"/>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Introduction to Risk and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381000" y="1143000"/>
            <a:ext cx="11430000" cy="5213351"/>
          </a:xfrm>
          <a:solidFill>
            <a:schemeClr val="bg1"/>
          </a:solidFill>
        </p:spPr>
        <p:txBody>
          <a:bodyPr>
            <a:noAutofit/>
          </a:bodyPr>
          <a:lstStyle/>
          <a:p>
            <a:pPr algn="just"/>
            <a:r>
              <a:rPr lang="en-US" sz="2400" dirty="0">
                <a:latin typeface="Arial" panose="020B0604020202020204" pitchFamily="34" charset="0"/>
                <a:cs typeface="Arial" panose="020B0604020202020204" pitchFamily="34" charset="0"/>
              </a:rPr>
              <a:t>However, there is always a possibility that the </a:t>
            </a:r>
            <a:r>
              <a:rPr lang="en-US" sz="2400" b="1" dirty="0">
                <a:latin typeface="Arial" panose="020B0604020202020204" pitchFamily="34" charset="0"/>
                <a:cs typeface="Arial" panose="020B0604020202020204" pitchFamily="34" charset="0"/>
              </a:rPr>
              <a:t>actual return may not be same as the expected or desired return</a:t>
            </a:r>
            <a:r>
              <a:rPr lang="en-US" sz="2400" dirty="0">
                <a:latin typeface="Arial" panose="020B0604020202020204" pitchFamily="34" charset="0"/>
                <a:cs typeface="Arial" panose="020B0604020202020204" pitchFamily="34" charset="0"/>
              </a:rPr>
              <a:t>. </a:t>
            </a:r>
          </a:p>
          <a:p>
            <a:pPr algn="just"/>
            <a:r>
              <a:rPr lang="en-US" sz="2400" dirty="0">
                <a:latin typeface="Arial" panose="020B0604020202020204" pitchFamily="34" charset="0"/>
                <a:cs typeface="Arial" panose="020B0604020202020204" pitchFamily="34" charset="0"/>
              </a:rPr>
              <a:t>This may be due to a number of factors such as changes in the economic environment, financial crisis, global slowdown, poor performance of the company etc. </a:t>
            </a:r>
          </a:p>
          <a:p>
            <a:pPr algn="just"/>
            <a:r>
              <a:rPr lang="en-US" sz="2400" dirty="0">
                <a:latin typeface="Arial" panose="020B0604020202020204" pitchFamily="34" charset="0"/>
                <a:cs typeface="Arial" panose="020B0604020202020204" pitchFamily="34" charset="0"/>
              </a:rPr>
              <a:t>Hence there is always a </a:t>
            </a:r>
            <a:r>
              <a:rPr lang="en-US" sz="2400" b="1" dirty="0">
                <a:latin typeface="Arial" panose="020B0604020202020204" pitchFamily="34" charset="0"/>
                <a:cs typeface="Arial" panose="020B0604020202020204" pitchFamily="34" charset="0"/>
              </a:rPr>
              <a:t>RISK</a:t>
            </a:r>
            <a:r>
              <a:rPr lang="en-US" sz="2400" dirty="0">
                <a:latin typeface="Arial" panose="020B0604020202020204" pitchFamily="34" charset="0"/>
                <a:cs typeface="Arial" panose="020B0604020202020204" pitchFamily="34" charset="0"/>
              </a:rPr>
              <a:t> attached with investment that the actual return will be different from the expected return. </a:t>
            </a:r>
          </a:p>
          <a:p>
            <a:pPr algn="just"/>
            <a:r>
              <a:rPr lang="en-US" sz="2400" dirty="0">
                <a:latin typeface="Arial" panose="020B0604020202020204" pitchFamily="34" charset="0"/>
                <a:cs typeface="Arial" panose="020B0604020202020204" pitchFamily="34" charset="0"/>
              </a:rPr>
              <a:t>Risk is defined as the </a:t>
            </a:r>
            <a:r>
              <a:rPr lang="en-US" sz="2400" b="1" dirty="0">
                <a:latin typeface="Arial" panose="020B0604020202020204" pitchFamily="34" charset="0"/>
                <a:cs typeface="Arial" panose="020B0604020202020204" pitchFamily="34" charset="0"/>
              </a:rPr>
              <a:t>variability in expected returns</a:t>
            </a:r>
            <a:r>
              <a:rPr lang="en-US" sz="2400" dirty="0">
                <a:latin typeface="Arial" panose="020B0604020202020204" pitchFamily="34" charset="0"/>
                <a:cs typeface="Arial" panose="020B0604020202020204" pitchFamily="34" charset="0"/>
              </a:rPr>
              <a:t>. It must be noted that no investment is risk free (except the hypothetical risk-free asset). </a:t>
            </a:r>
          </a:p>
          <a:p>
            <a:pPr algn="just"/>
            <a:r>
              <a:rPr lang="en-US" sz="2400" dirty="0">
                <a:latin typeface="Arial" panose="020B0604020202020204" pitchFamily="34" charset="0"/>
                <a:cs typeface="Arial" panose="020B0604020202020204" pitchFamily="34" charset="0"/>
              </a:rPr>
              <a:t>Returns and risks move together. </a:t>
            </a:r>
          </a:p>
          <a:p>
            <a:pPr algn="just"/>
            <a:r>
              <a:rPr lang="en-US" sz="2400" dirty="0">
                <a:latin typeface="Arial" panose="020B0604020202020204" pitchFamily="34" charset="0"/>
                <a:cs typeface="Arial" panose="020B0604020202020204" pitchFamily="34" charset="0"/>
              </a:rPr>
              <a:t>An investor can have higher returns only when he is willing to undertake higher risk.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8</a:t>
            </a:fld>
            <a:endParaRPr lang="en-US"/>
          </a:p>
        </p:txBody>
      </p:sp>
    </p:spTree>
    <p:extLst>
      <p:ext uri="{BB962C8B-B14F-4D97-AF65-F5344CB8AC3E}">
        <p14:creationId xmlns:p14="http://schemas.microsoft.com/office/powerpoint/2010/main" val="756320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66530" y="337930"/>
            <a:ext cx="11015870" cy="65267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Introduction to Risk and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381000" y="1219200"/>
            <a:ext cx="11582400" cy="5137151"/>
          </a:xfrm>
          <a:solidFill>
            <a:schemeClr val="bg1"/>
          </a:solidFill>
        </p:spPr>
        <p:txBody>
          <a:bodyPr>
            <a:noAutofit/>
          </a:bodyPr>
          <a:lstStyle/>
          <a:p>
            <a:pPr algn="just"/>
            <a:r>
              <a:rPr lang="en-US" sz="2400" dirty="0">
                <a:latin typeface="Arial" panose="020B0604020202020204" pitchFamily="34" charset="0"/>
                <a:cs typeface="Arial" panose="020B0604020202020204" pitchFamily="34" charset="0"/>
              </a:rPr>
              <a:t>Therefore, based of risk profile, different financial assets have different expected rate of return.</a:t>
            </a:r>
          </a:p>
          <a:p>
            <a:pPr algn="just"/>
            <a:r>
              <a:rPr lang="en-US" sz="2400" dirty="0">
                <a:latin typeface="Arial" panose="020B0604020202020204" pitchFamily="34" charset="0"/>
                <a:cs typeface="Arial" panose="020B0604020202020204" pitchFamily="34" charset="0"/>
              </a:rPr>
              <a:t>Like T-bills are called risk-free assets as they carry zero risk, debentures are moderately risky and equity shares are highly risky. </a:t>
            </a:r>
          </a:p>
          <a:p>
            <a:pPr algn="just"/>
            <a:r>
              <a:rPr lang="en-US" sz="2400" dirty="0">
                <a:latin typeface="Arial" panose="020B0604020202020204" pitchFamily="34" charset="0"/>
                <a:cs typeface="Arial" panose="020B0604020202020204" pitchFamily="34" charset="0"/>
              </a:rPr>
              <a:t>Therefore, every investment decision requires careful analysis of Return and Risk.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9</a:t>
            </a:fld>
            <a:endParaRPr lang="en-US"/>
          </a:p>
        </p:txBody>
      </p:sp>
    </p:spTree>
    <p:extLst>
      <p:ext uri="{BB962C8B-B14F-4D97-AF65-F5344CB8AC3E}">
        <p14:creationId xmlns:p14="http://schemas.microsoft.com/office/powerpoint/2010/main" val="979558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66530" y="278296"/>
            <a:ext cx="11015870" cy="559904"/>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6286" y="1192696"/>
            <a:ext cx="10976113" cy="5528779"/>
          </a:xfrm>
          <a:noFill/>
        </p:spPr>
        <p:txBody>
          <a:bodyPr>
            <a:normAutofit/>
          </a:bodyPr>
          <a:lstStyle/>
          <a:p>
            <a:pPr algn="just"/>
            <a:r>
              <a:rPr lang="en-US" sz="2400" dirty="0">
                <a:latin typeface="Arial" panose="020B0604020202020204" pitchFamily="34" charset="0"/>
                <a:cs typeface="Arial" panose="020B0604020202020204" pitchFamily="34" charset="0"/>
              </a:rPr>
              <a:t>Return may be defined as total income (or cash inflows including price change) generated by investment expressed as a percentage of the cost of investment.</a:t>
            </a:r>
          </a:p>
          <a:p>
            <a:pPr algn="just"/>
            <a:r>
              <a:rPr lang="en-US" sz="2400" dirty="0">
                <a:latin typeface="Arial" panose="020B0604020202020204" pitchFamily="34" charset="0"/>
                <a:cs typeface="Arial" panose="020B0604020202020204" pitchFamily="34" charset="0"/>
              </a:rPr>
              <a:t>Return from a financial asset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10</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CEE6CE-647A-FD12-21DF-F0839B42457C}"/>
                  </a:ext>
                </a:extLst>
              </p:cNvPr>
              <p:cNvSpPr txBox="1"/>
              <p:nvPr/>
            </p:nvSpPr>
            <p:spPr>
              <a:xfrm>
                <a:off x="762000" y="3352800"/>
                <a:ext cx="10436342" cy="7036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𝑅𝑒𝑡𝑢𝑟𝑛</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𝐼𝑛𝑐𝑜𝑚𝑒</m:t>
                          </m:r>
                          <m:r>
                            <a:rPr lang="en-US" b="0" i="1" smtClean="0">
                              <a:latin typeface="Cambria Math" panose="02040503050406030204" pitchFamily="18" charset="0"/>
                            </a:rPr>
                            <m:t> </m:t>
                          </m:r>
                          <m:r>
                            <a:rPr lang="en-US" b="0" i="1" smtClean="0">
                              <a:latin typeface="Cambria Math" panose="02040503050406030204" pitchFamily="18" charset="0"/>
                            </a:rPr>
                            <m:t>𝑓𝑟𝑜𝑚</m:t>
                          </m:r>
                          <m:r>
                            <a:rPr lang="en-US" b="0" i="1" smtClean="0">
                              <a:latin typeface="Cambria Math" panose="02040503050406030204" pitchFamily="18" charset="0"/>
                            </a:rPr>
                            <m:t> </m:t>
                          </m:r>
                          <m:r>
                            <a:rPr lang="en-US" b="0" i="1" smtClean="0">
                              <a:latin typeface="Cambria Math" panose="02040503050406030204" pitchFamily="18" charset="0"/>
                            </a:rPr>
                            <m:t>𝐴𝑠𝑠𝑒𝑡𝑠</m:t>
                          </m:r>
                          <m:r>
                            <a:rPr lang="en-US" b="0" i="1" smtClean="0">
                              <a:latin typeface="Cambria Math" panose="02040503050406030204" pitchFamily="18" charset="0"/>
                            </a:rPr>
                            <m:t>+(</m:t>
                          </m:r>
                          <m:r>
                            <a:rPr lang="en-US" b="0" i="1" smtClean="0">
                              <a:latin typeface="Cambria Math" panose="02040503050406030204" pitchFamily="18" charset="0"/>
                            </a:rPr>
                            <m:t>𝑆𝑒𝑙𝑙𝑖𝑛𝑔</m:t>
                          </m:r>
                          <m:r>
                            <a:rPr lang="en-US" b="0" i="1" smtClean="0">
                              <a:latin typeface="Cambria Math" panose="02040503050406030204" pitchFamily="18" charset="0"/>
                            </a:rPr>
                            <m:t> </m:t>
                          </m:r>
                          <m:r>
                            <a:rPr lang="en-US" b="0" i="1" smtClean="0">
                              <a:latin typeface="Cambria Math" panose="02040503050406030204" pitchFamily="18" charset="0"/>
                            </a:rPr>
                            <m:t>𝑃𝑟𝑖𝑐𝑒</m:t>
                          </m:r>
                          <m:r>
                            <a:rPr lang="en-US" i="1" smtClean="0">
                              <a:latin typeface="Cambria Math" panose="02040503050406030204" pitchFamily="18" charset="0"/>
                            </a:rPr>
                            <m:t>−</m:t>
                          </m:r>
                          <m:r>
                            <a:rPr lang="en-US" b="0" i="1" smtClean="0">
                              <a:latin typeface="Cambria Math" panose="02040503050406030204" pitchFamily="18" charset="0"/>
                            </a:rPr>
                            <m:t>𝑃𝑢𝑟𝑐h𝑎𝑠𝑒</m:t>
                          </m:r>
                          <m:r>
                            <a:rPr lang="en-US" b="0" i="1" smtClean="0">
                              <a:latin typeface="Cambria Math" panose="02040503050406030204" pitchFamily="18" charset="0"/>
                            </a:rPr>
                            <m:t> </m:t>
                          </m:r>
                          <m:r>
                            <a:rPr lang="en-US" b="0" i="1" smtClean="0">
                              <a:latin typeface="Cambria Math" panose="02040503050406030204" pitchFamily="18" charset="0"/>
                            </a:rPr>
                            <m:t>𝑃𝑟𝑖𝑐𝑒</m:t>
                          </m:r>
                          <m:r>
                            <a:rPr lang="en-US" b="0" i="1" smtClean="0">
                              <a:latin typeface="Cambria Math" panose="02040503050406030204" pitchFamily="18" charset="0"/>
                            </a:rPr>
                            <m:t>) </m:t>
                          </m:r>
                        </m:num>
                        <m:den>
                          <m:r>
                            <a:rPr lang="en-US" b="0" i="1" smtClean="0">
                              <a:latin typeface="Cambria Math" panose="02040503050406030204" pitchFamily="18" charset="0"/>
                            </a:rPr>
                            <m:t>𝑃𝑢𝑟𝑐h𝑎𝑠𝑒</m:t>
                          </m:r>
                          <m:r>
                            <a:rPr lang="en-US" b="0" i="1" smtClean="0">
                              <a:latin typeface="Cambria Math" panose="02040503050406030204" pitchFamily="18" charset="0"/>
                            </a:rPr>
                            <m:t> </m:t>
                          </m:r>
                          <m:r>
                            <a:rPr lang="en-US" b="0" i="1" smtClean="0">
                              <a:latin typeface="Cambria Math" panose="02040503050406030204" pitchFamily="18" charset="0"/>
                            </a:rPr>
                            <m:t>𝑃𝑟𝑖𝑐𝑒</m:t>
                          </m:r>
                        </m:den>
                      </m:f>
                      <m:r>
                        <a:rPr lang="en-US" b="0" i="1" smtClean="0">
                          <a:latin typeface="Cambria Math" panose="02040503050406030204" pitchFamily="18" charset="0"/>
                        </a:rPr>
                        <m:t>∗100</m:t>
                      </m:r>
                    </m:oMath>
                  </m:oMathPara>
                </a14:m>
                <a:endParaRPr lang="en-US" dirty="0"/>
              </a:p>
            </p:txBody>
          </p:sp>
        </mc:Choice>
        <mc:Fallback xmlns="">
          <p:sp>
            <p:nvSpPr>
              <p:cNvPr id="9" name="TextBox 8">
                <a:extLst>
                  <a:ext uri="{FF2B5EF4-FFF2-40B4-BE49-F238E27FC236}">
                    <a16:creationId xmlns:a16="http://schemas.microsoft.com/office/drawing/2014/main" id="{7ECEE6CE-647A-FD12-21DF-F0839B42457C}"/>
                  </a:ext>
                </a:extLst>
              </p:cNvPr>
              <p:cNvSpPr txBox="1">
                <a:spLocks noRot="1" noChangeAspect="1" noMove="1" noResize="1" noEditPoints="1" noAdjustHandles="1" noChangeArrowheads="1" noChangeShapeType="1" noTextEdit="1"/>
              </p:cNvSpPr>
              <p:nvPr/>
            </p:nvSpPr>
            <p:spPr>
              <a:xfrm>
                <a:off x="762000" y="3352800"/>
                <a:ext cx="10436342" cy="703654"/>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26397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983"/>
            <a:ext cx="10972800" cy="639417"/>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Returns from equity</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95400"/>
            <a:ext cx="10972800" cy="542607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There are two components of Return on an equity share - Dividend yield and Capital gain. Dividend yield is that part of return which is due to cash inflows in the form of dividend. Capital gain is that part of total return which arises due to change in price. </a:t>
            </a:r>
          </a:p>
          <a:p>
            <a:pPr algn="just">
              <a:lnSpc>
                <a:spcPct val="150000"/>
              </a:lnSpc>
            </a:pPr>
            <a:r>
              <a:rPr lang="en-US" sz="2400" dirty="0">
                <a:latin typeface="Arial" panose="020B0604020202020204" pitchFamily="34" charset="0"/>
                <a:cs typeface="Arial" panose="020B0604020202020204" pitchFamily="34" charset="0"/>
              </a:rPr>
              <a:t>Hence it may be calculated as:</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11</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C4AA2A-1AB7-E0A5-2CF8-696ACF40B591}"/>
                  </a:ext>
                </a:extLst>
              </p:cNvPr>
              <p:cNvSpPr txBox="1"/>
              <p:nvPr/>
            </p:nvSpPr>
            <p:spPr>
              <a:xfrm>
                <a:off x="1219200" y="4648200"/>
                <a:ext cx="9906000" cy="7036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𝑅𝑒𝑡𝑢𝑟𝑛</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𝐷𝑖𝑣𝑖𝑑𝑒𝑛𝑑</m:t>
                          </m:r>
                          <m:r>
                            <a:rPr lang="en-US" b="0" i="1" smtClean="0">
                              <a:latin typeface="Cambria Math" panose="02040503050406030204" pitchFamily="18" charset="0"/>
                            </a:rPr>
                            <m:t>+(</m:t>
                          </m:r>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1− </m:t>
                          </m:r>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0) </m:t>
                          </m:r>
                        </m:num>
                        <m:den>
                          <m:r>
                            <a:rPr lang="en-US" b="0" i="1" smtClean="0">
                              <a:latin typeface="Cambria Math" panose="02040503050406030204" pitchFamily="18" charset="0"/>
                            </a:rPr>
                            <m:t>𝑃𝑢𝑟𝑐h𝑎𝑠𝑒</m:t>
                          </m:r>
                          <m:r>
                            <a:rPr lang="en-US" b="0" i="1" smtClean="0">
                              <a:latin typeface="Cambria Math" panose="02040503050406030204" pitchFamily="18" charset="0"/>
                            </a:rPr>
                            <m:t> </m:t>
                          </m:r>
                          <m:r>
                            <a:rPr lang="en-US" b="0" i="1" smtClean="0">
                              <a:latin typeface="Cambria Math" panose="02040503050406030204" pitchFamily="18" charset="0"/>
                            </a:rPr>
                            <m:t>𝑃𝑟𝑖𝑐𝑒</m:t>
                          </m:r>
                        </m:den>
                      </m:f>
                      <m:r>
                        <a:rPr lang="en-US" b="0" i="1" smtClean="0">
                          <a:latin typeface="Cambria Math" panose="02040503050406030204" pitchFamily="18" charset="0"/>
                        </a:rPr>
                        <m:t>∗100</m:t>
                      </m:r>
                    </m:oMath>
                  </m:oMathPara>
                </a14:m>
                <a:endParaRPr lang="en-US" dirty="0"/>
              </a:p>
            </p:txBody>
          </p:sp>
        </mc:Choice>
        <mc:Fallback xmlns="">
          <p:sp>
            <p:nvSpPr>
              <p:cNvPr id="8" name="TextBox 7">
                <a:extLst>
                  <a:ext uri="{FF2B5EF4-FFF2-40B4-BE49-F238E27FC236}">
                    <a16:creationId xmlns:a16="http://schemas.microsoft.com/office/drawing/2014/main" id="{DDC4AA2A-1AB7-E0A5-2CF8-696ACF40B591}"/>
                  </a:ext>
                </a:extLst>
              </p:cNvPr>
              <p:cNvSpPr txBox="1">
                <a:spLocks noRot="1" noChangeAspect="1" noMove="1" noResize="1" noEditPoints="1" noAdjustHandles="1" noChangeArrowheads="1" noChangeShapeType="1" noTextEdit="1"/>
              </p:cNvSpPr>
              <p:nvPr/>
            </p:nvSpPr>
            <p:spPr>
              <a:xfrm>
                <a:off x="1219200" y="4648200"/>
                <a:ext cx="9906000" cy="703654"/>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93657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F4B5-EE5F-3686-A1C5-442161382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20A2F-96A1-98FF-5F2F-DE31236910F3}"/>
              </a:ext>
            </a:extLst>
          </p:cNvPr>
          <p:cNvSpPr>
            <a:spLocks noGrp="1"/>
          </p:cNvSpPr>
          <p:nvPr>
            <p:ph type="title"/>
          </p:nvPr>
        </p:nvSpPr>
        <p:spPr>
          <a:xfrm>
            <a:off x="576470" y="268357"/>
            <a:ext cx="11005930" cy="722243"/>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Returns from equity</a:t>
            </a:r>
          </a:p>
        </p:txBody>
      </p:sp>
      <p:sp>
        <p:nvSpPr>
          <p:cNvPr id="3" name="Content Placeholder 2">
            <a:extLst>
              <a:ext uri="{FF2B5EF4-FFF2-40B4-BE49-F238E27FC236}">
                <a16:creationId xmlns:a16="http://schemas.microsoft.com/office/drawing/2014/main" id="{7DD7BC5B-7743-4127-7697-1215F226C9C6}"/>
              </a:ext>
            </a:extLst>
          </p:cNvPr>
          <p:cNvSpPr>
            <a:spLocks noGrp="1"/>
          </p:cNvSpPr>
          <p:nvPr>
            <p:ph idx="1"/>
          </p:nvPr>
        </p:nvSpPr>
        <p:spPr>
          <a:xfrm>
            <a:off x="533400" y="1868557"/>
            <a:ext cx="10820400" cy="4852918"/>
          </a:xfrm>
          <a:noFill/>
        </p:spPr>
        <p:txBody>
          <a:bodyPr>
            <a:normAutofit/>
          </a:bodyPr>
          <a:lstStyle/>
          <a:p>
            <a:pPr algn="just"/>
            <a:r>
              <a:rPr lang="en-US" sz="2800" dirty="0">
                <a:latin typeface="Arial" panose="020B0604020202020204" pitchFamily="34" charset="0"/>
                <a:cs typeface="Arial" panose="020B0604020202020204" pitchFamily="34" charset="0"/>
              </a:rPr>
              <a:t>Question</a:t>
            </a:r>
          </a:p>
        </p:txBody>
      </p:sp>
      <p:sp>
        <p:nvSpPr>
          <p:cNvPr id="4" name="Date Placeholder 3">
            <a:extLst>
              <a:ext uri="{FF2B5EF4-FFF2-40B4-BE49-F238E27FC236}">
                <a16:creationId xmlns:a16="http://schemas.microsoft.com/office/drawing/2014/main" id="{56D8E9CC-D86C-4863-6655-FA00D3E0E6B1}"/>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48D495B8-0A09-4608-61FF-B24C562F6183}"/>
              </a:ext>
            </a:extLst>
          </p:cNvPr>
          <p:cNvSpPr>
            <a:spLocks noGrp="1"/>
          </p:cNvSpPr>
          <p:nvPr>
            <p:ph type="sldNum" sz="quarter" idx="12"/>
          </p:nvPr>
        </p:nvSpPr>
        <p:spPr/>
        <p:txBody>
          <a:bodyPr/>
          <a:lstStyle/>
          <a:p>
            <a:fld id="{9A6574C6-EAF8-40F7-9181-B4B8ADC2AD82}" type="slidenum">
              <a:rPr lang="en-US" smtClean="0"/>
              <a:t>12</a:t>
            </a:fld>
            <a:endParaRPr lang="en-US"/>
          </a:p>
        </p:txBody>
      </p:sp>
      <p:pic>
        <p:nvPicPr>
          <p:cNvPr id="10" name="Picture 9">
            <a:extLst>
              <a:ext uri="{FF2B5EF4-FFF2-40B4-BE49-F238E27FC236}">
                <a16:creationId xmlns:a16="http://schemas.microsoft.com/office/drawing/2014/main" id="{B2934E78-7F06-B6E2-BD28-06670BC22AB4}"/>
              </a:ext>
            </a:extLst>
          </p:cNvPr>
          <p:cNvPicPr>
            <a:picLocks noChangeAspect="1"/>
          </p:cNvPicPr>
          <p:nvPr/>
        </p:nvPicPr>
        <p:blipFill>
          <a:blip r:embed="rId2"/>
          <a:stretch>
            <a:fillRect/>
          </a:stretch>
        </p:blipFill>
        <p:spPr>
          <a:xfrm>
            <a:off x="838200" y="2743200"/>
            <a:ext cx="10578245" cy="2406650"/>
          </a:xfrm>
          <a:prstGeom prst="rect">
            <a:avLst/>
          </a:prstGeom>
        </p:spPr>
      </p:pic>
    </p:spTree>
    <p:extLst>
      <p:ext uri="{BB962C8B-B14F-4D97-AF65-F5344CB8AC3E}">
        <p14:creationId xmlns:p14="http://schemas.microsoft.com/office/powerpoint/2010/main" val="1361436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74578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Returns from bond</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95400"/>
            <a:ext cx="10972800" cy="542607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There are two components of Return on a bond - Interest yield and Capital gain. Interest yield is that part of return which is due to cash inflows in the form of interest. Capital appreciation is that part of total return which arises due to change in price. </a:t>
            </a:r>
          </a:p>
          <a:p>
            <a:pPr algn="just">
              <a:lnSpc>
                <a:spcPct val="150000"/>
              </a:lnSpc>
            </a:pPr>
            <a:r>
              <a:rPr lang="en-US" sz="2400" dirty="0">
                <a:latin typeface="Arial" panose="020B0604020202020204" pitchFamily="34" charset="0"/>
                <a:cs typeface="Arial" panose="020B0604020202020204" pitchFamily="34" charset="0"/>
              </a:rPr>
              <a:t>Hence it may be calculated as:</a:t>
            </a:r>
            <a:endParaRPr lang="en-US" sz="2400" i="1"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13</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8DC1BC0-EE6C-7B5B-2EBC-D20542FA4B6E}"/>
                  </a:ext>
                </a:extLst>
              </p:cNvPr>
              <p:cNvSpPr txBox="1"/>
              <p:nvPr/>
            </p:nvSpPr>
            <p:spPr>
              <a:xfrm>
                <a:off x="1219200" y="5029200"/>
                <a:ext cx="9906000" cy="7036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𝑅𝑒𝑡𝑢𝑟𝑛</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𝐼𝑛𝑡𝑒𝑟𝑒𝑠𝑡</m:t>
                          </m:r>
                          <m:r>
                            <a:rPr lang="en-US" b="0" i="1" smtClean="0">
                              <a:latin typeface="Cambria Math" panose="02040503050406030204" pitchFamily="18" charset="0"/>
                            </a:rPr>
                            <m:t>+(</m:t>
                          </m:r>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1− </m:t>
                          </m:r>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0) </m:t>
                          </m:r>
                        </m:num>
                        <m:den>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0</m:t>
                          </m:r>
                        </m:den>
                      </m:f>
                      <m:r>
                        <a:rPr lang="en-US" b="0" i="1" smtClean="0">
                          <a:latin typeface="Cambria Math" panose="02040503050406030204" pitchFamily="18" charset="0"/>
                        </a:rPr>
                        <m:t>∗100</m:t>
                      </m:r>
                    </m:oMath>
                  </m:oMathPara>
                </a14:m>
                <a:endParaRPr lang="en-US" dirty="0"/>
              </a:p>
            </p:txBody>
          </p:sp>
        </mc:Choice>
        <mc:Fallback xmlns="">
          <p:sp>
            <p:nvSpPr>
              <p:cNvPr id="8" name="TextBox 7">
                <a:extLst>
                  <a:ext uri="{FF2B5EF4-FFF2-40B4-BE49-F238E27FC236}">
                    <a16:creationId xmlns:a16="http://schemas.microsoft.com/office/drawing/2014/main" id="{D8DC1BC0-EE6C-7B5B-2EBC-D20542FA4B6E}"/>
                  </a:ext>
                </a:extLst>
              </p:cNvPr>
              <p:cNvSpPr txBox="1">
                <a:spLocks noRot="1" noChangeAspect="1" noMove="1" noResize="1" noEditPoints="1" noAdjustHandles="1" noChangeArrowheads="1" noChangeShapeType="1" noTextEdit="1"/>
              </p:cNvSpPr>
              <p:nvPr/>
            </p:nvSpPr>
            <p:spPr>
              <a:xfrm>
                <a:off x="1219200" y="5029200"/>
                <a:ext cx="9906000" cy="70365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643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6C9D-9A02-47E9-1C80-828C841E6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6C3B1-C66C-A6AB-281D-0BD14A01EB1C}"/>
              </a:ext>
            </a:extLst>
          </p:cNvPr>
          <p:cNvSpPr>
            <a:spLocks noGrp="1"/>
          </p:cNvSpPr>
          <p:nvPr>
            <p:ph type="title"/>
          </p:nvPr>
        </p:nvSpPr>
        <p:spPr>
          <a:xfrm>
            <a:off x="596348" y="288235"/>
            <a:ext cx="10986052" cy="778565"/>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Returns from bond</a:t>
            </a:r>
          </a:p>
        </p:txBody>
      </p:sp>
      <p:sp>
        <p:nvSpPr>
          <p:cNvPr id="3" name="Content Placeholder 2">
            <a:extLst>
              <a:ext uri="{FF2B5EF4-FFF2-40B4-BE49-F238E27FC236}">
                <a16:creationId xmlns:a16="http://schemas.microsoft.com/office/drawing/2014/main" id="{140A6DD2-1289-CF7D-8996-3D7C1A9B4CAA}"/>
              </a:ext>
            </a:extLst>
          </p:cNvPr>
          <p:cNvSpPr>
            <a:spLocks noGrp="1"/>
          </p:cNvSpPr>
          <p:nvPr>
            <p:ph idx="1"/>
          </p:nvPr>
        </p:nvSpPr>
        <p:spPr>
          <a:xfrm>
            <a:off x="616226" y="1202636"/>
            <a:ext cx="10737574" cy="5518840"/>
          </a:xfrm>
          <a:noFill/>
        </p:spPr>
        <p:txBody>
          <a:bodyPr>
            <a:normAutofit/>
          </a:bodyPr>
          <a:lstStyle/>
          <a:p>
            <a:pPr algn="just"/>
            <a:r>
              <a:rPr lang="en-US" dirty="0">
                <a:latin typeface="Arial" panose="020B0604020202020204" pitchFamily="34" charset="0"/>
                <a:cs typeface="Arial" panose="020B0604020202020204" pitchFamily="34" charset="0"/>
              </a:rPr>
              <a:t>Question</a:t>
            </a:r>
          </a:p>
        </p:txBody>
      </p:sp>
      <p:sp>
        <p:nvSpPr>
          <p:cNvPr id="4" name="Date Placeholder 3">
            <a:extLst>
              <a:ext uri="{FF2B5EF4-FFF2-40B4-BE49-F238E27FC236}">
                <a16:creationId xmlns:a16="http://schemas.microsoft.com/office/drawing/2014/main" id="{96F87B08-5EA0-81CC-C7C6-4F5C1AD305F4}"/>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6D962D09-BEC4-5CF0-5A8B-50E5E063DEFE}"/>
              </a:ext>
            </a:extLst>
          </p:cNvPr>
          <p:cNvSpPr>
            <a:spLocks noGrp="1"/>
          </p:cNvSpPr>
          <p:nvPr>
            <p:ph type="sldNum" sz="quarter" idx="12"/>
          </p:nvPr>
        </p:nvSpPr>
        <p:spPr/>
        <p:txBody>
          <a:bodyPr/>
          <a:lstStyle/>
          <a:p>
            <a:fld id="{9A6574C6-EAF8-40F7-9181-B4B8ADC2AD82}" type="slidenum">
              <a:rPr lang="en-US" smtClean="0"/>
              <a:t>14</a:t>
            </a:fld>
            <a:endParaRPr lang="en-US"/>
          </a:p>
        </p:txBody>
      </p:sp>
      <p:pic>
        <p:nvPicPr>
          <p:cNvPr id="7" name="Picture 6">
            <a:extLst>
              <a:ext uri="{FF2B5EF4-FFF2-40B4-BE49-F238E27FC236}">
                <a16:creationId xmlns:a16="http://schemas.microsoft.com/office/drawing/2014/main" id="{2059EAE0-2C2E-263C-839A-FEECEFE0BBEE}"/>
              </a:ext>
            </a:extLst>
          </p:cNvPr>
          <p:cNvPicPr>
            <a:picLocks noChangeAspect="1"/>
          </p:cNvPicPr>
          <p:nvPr/>
        </p:nvPicPr>
        <p:blipFill>
          <a:blip r:embed="rId2"/>
          <a:stretch>
            <a:fillRect/>
          </a:stretch>
        </p:blipFill>
        <p:spPr>
          <a:xfrm>
            <a:off x="694123" y="2514601"/>
            <a:ext cx="10803753" cy="2283618"/>
          </a:xfrm>
          <a:prstGeom prst="rect">
            <a:avLst/>
          </a:prstGeom>
        </p:spPr>
      </p:pic>
    </p:spTree>
    <p:extLst>
      <p:ext uri="{BB962C8B-B14F-4D97-AF65-F5344CB8AC3E}">
        <p14:creationId xmlns:p14="http://schemas.microsoft.com/office/powerpoint/2010/main" val="736302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26164" y="337930"/>
            <a:ext cx="10956235" cy="72887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Types of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26163" y="1295400"/>
            <a:ext cx="10956235" cy="5474856"/>
          </a:xfrm>
          <a:noFill/>
        </p:spPr>
        <p:txBody>
          <a:bodyPr>
            <a:normAutofit/>
          </a:bodyPr>
          <a:lstStyle/>
          <a:p>
            <a:pPr marL="0" indent="0">
              <a:buNone/>
            </a:pPr>
            <a:r>
              <a:rPr lang="en-US" sz="2800" dirty="0">
                <a:latin typeface="Arial" panose="020B0604020202020204" pitchFamily="34" charset="0"/>
                <a:cs typeface="Arial" panose="020B0604020202020204" pitchFamily="34" charset="0"/>
              </a:rPr>
              <a:t>Different types of returns are:</a:t>
            </a:r>
          </a:p>
        </p:txBody>
      </p:sp>
      <p:sp>
        <p:nvSpPr>
          <p:cNvPr id="4" name="Date Placeholder 3">
            <a:extLst>
              <a:ext uri="{FF2B5EF4-FFF2-40B4-BE49-F238E27FC236}">
                <a16:creationId xmlns:a16="http://schemas.microsoft.com/office/drawing/2014/main" id="{66095953-8823-3BBB-4F92-632027B903F9}"/>
              </a:ext>
            </a:extLst>
          </p:cNvPr>
          <p:cNvSpPr>
            <a:spLocks noGrp="1"/>
          </p:cNvSpPr>
          <p:nvPr>
            <p:ph type="dt" sz="half" idx="10"/>
          </p:nvPr>
        </p:nvSpPr>
        <p:spPr/>
        <p:txBody>
          <a:bodyPr/>
          <a:lstStyle/>
          <a:p>
            <a:fld id="{44E80842-0CCA-478A-B7AC-AF2BB5CD1E0A}" type="datetime1">
              <a:rPr lang="en-US" smtClean="0"/>
              <a:t>4/7/2026</a:t>
            </a:fld>
            <a:endParaRPr lang="en-US"/>
          </a:p>
        </p:txBody>
      </p:sp>
      <p:sp>
        <p:nvSpPr>
          <p:cNvPr id="5" name="Slide Number Placeholder 4">
            <a:extLst>
              <a:ext uri="{FF2B5EF4-FFF2-40B4-BE49-F238E27FC236}">
                <a16:creationId xmlns:a16="http://schemas.microsoft.com/office/drawing/2014/main" id="{BF9B17B2-E805-8B7C-AFB1-04D796C61527}"/>
              </a:ext>
            </a:extLst>
          </p:cNvPr>
          <p:cNvSpPr>
            <a:spLocks noGrp="1"/>
          </p:cNvSpPr>
          <p:nvPr>
            <p:ph type="sldNum" sz="quarter" idx="12"/>
          </p:nvPr>
        </p:nvSpPr>
        <p:spPr/>
        <p:txBody>
          <a:bodyPr/>
          <a:lstStyle/>
          <a:p>
            <a:fld id="{9A6574C6-EAF8-40F7-9181-B4B8ADC2AD82}" type="slidenum">
              <a:rPr lang="en-US" smtClean="0"/>
              <a:t>15</a:t>
            </a:fld>
            <a:endParaRPr lang="en-US"/>
          </a:p>
        </p:txBody>
      </p:sp>
      <p:graphicFrame>
        <p:nvGraphicFramePr>
          <p:cNvPr id="6" name="Diagram 5">
            <a:extLst>
              <a:ext uri="{FF2B5EF4-FFF2-40B4-BE49-F238E27FC236}">
                <a16:creationId xmlns:a16="http://schemas.microsoft.com/office/drawing/2014/main" id="{909063F6-982E-9E45-2B6D-996FB00B83CB}"/>
              </a:ext>
            </a:extLst>
          </p:cNvPr>
          <p:cNvGraphicFramePr/>
          <p:nvPr>
            <p:extLst>
              <p:ext uri="{D42A27DB-BD31-4B8C-83A1-F6EECF244321}">
                <p14:modId xmlns:p14="http://schemas.microsoft.com/office/powerpoint/2010/main" val="721657489"/>
              </p:ext>
            </p:extLst>
          </p:nvPr>
        </p:nvGraphicFramePr>
        <p:xfrm>
          <a:off x="2032000" y="2057400"/>
          <a:ext cx="7472218"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8965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46042" y="298174"/>
            <a:ext cx="10936357" cy="768626"/>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Holding period returns (HPR)</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46042" y="1295400"/>
            <a:ext cx="10936356" cy="5426075"/>
          </a:xfrm>
          <a:noFill/>
        </p:spPr>
        <p:txBody>
          <a:bodyPr>
            <a:normAutofit fontScale="92500" lnSpcReduction="10000"/>
          </a:bodyPr>
          <a:lstStyle/>
          <a:p>
            <a:pPr algn="just">
              <a:lnSpc>
                <a:spcPct val="150000"/>
              </a:lnSpc>
            </a:pPr>
            <a:r>
              <a:rPr lang="en-US" sz="2800" dirty="0">
                <a:latin typeface="Arial" panose="020B0604020202020204" pitchFamily="34" charset="0"/>
                <a:cs typeface="Arial" panose="020B0604020202020204" pitchFamily="34" charset="0"/>
              </a:rPr>
              <a:t>Holding period return is the total return earned during the holding period of investment. </a:t>
            </a:r>
          </a:p>
          <a:p>
            <a:pPr algn="just">
              <a:lnSpc>
                <a:spcPct val="150000"/>
              </a:lnSpc>
            </a:pPr>
            <a:r>
              <a:rPr lang="en-US" sz="2800" dirty="0">
                <a:latin typeface="Arial" panose="020B0604020202020204" pitchFamily="34" charset="0"/>
                <a:cs typeface="Arial" panose="020B0604020202020204" pitchFamily="34" charset="0"/>
              </a:rPr>
              <a:t>Holding period is also termed as investment horizon. </a:t>
            </a:r>
          </a:p>
          <a:p>
            <a:pPr algn="just">
              <a:lnSpc>
                <a:spcPct val="150000"/>
              </a:lnSpc>
            </a:pPr>
            <a:r>
              <a:rPr lang="en-US" sz="2800" dirty="0">
                <a:latin typeface="Arial" panose="020B0604020202020204" pitchFamily="34" charset="0"/>
                <a:cs typeface="Arial" panose="020B0604020202020204" pitchFamily="34" charset="0"/>
              </a:rPr>
              <a:t>If the holding period is one year, then the holding period return is same as the total return calculated using equation. </a:t>
            </a:r>
          </a:p>
          <a:p>
            <a:pPr algn="just">
              <a:lnSpc>
                <a:spcPct val="150000"/>
              </a:lnSpc>
            </a:pPr>
            <a:r>
              <a:rPr lang="en-US" sz="2800" dirty="0">
                <a:latin typeface="Arial" panose="020B0604020202020204" pitchFamily="34" charset="0"/>
                <a:cs typeface="Arial" panose="020B0604020202020204" pitchFamily="34" charset="0"/>
              </a:rPr>
              <a:t>If an investor holds investment for more than one year then we may calculate its holding period return as the total income plus price change during the holding period expressed as a percentage of purchase price.</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16</a:t>
            </a:fld>
            <a:endParaRPr lang="en-US"/>
          </a:p>
        </p:txBody>
      </p:sp>
    </p:spTree>
    <p:extLst>
      <p:ext uri="{BB962C8B-B14F-4D97-AF65-F5344CB8AC3E}">
        <p14:creationId xmlns:p14="http://schemas.microsoft.com/office/powerpoint/2010/main" val="3869658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16835" y="268357"/>
            <a:ext cx="11065565" cy="722243"/>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Holding period returns (HPR)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16835" y="1066800"/>
                <a:ext cx="11065565" cy="5654675"/>
              </a:xfrm>
              <a:noFill/>
            </p:spPr>
            <p:txBody>
              <a:bodyPr>
                <a:normAutofit/>
              </a:bodyPr>
              <a:lstStyle/>
              <a:p>
                <a:pPr marL="0" indent="0" algn="just">
                  <a:buNone/>
                </a:pPr>
                <a:r>
                  <a:rPr lang="en-US" sz="2800" b="1" u="sng" dirty="0">
                    <a:latin typeface="Arial" panose="020B0604020202020204" pitchFamily="34" charset="0"/>
                    <a:cs typeface="Arial" panose="020B0604020202020204" pitchFamily="34" charset="0"/>
                  </a:rPr>
                  <a:t>Example</a:t>
                </a:r>
              </a:p>
              <a:p>
                <a:pPr algn="just"/>
                <a:r>
                  <a:rPr lang="en-US" sz="2800" dirty="0">
                    <a:latin typeface="Arial" panose="020B0604020202020204" pitchFamily="34" charset="0"/>
                    <a:cs typeface="Arial" panose="020B0604020202020204" pitchFamily="34" charset="0"/>
                  </a:rPr>
                  <a:t>An investor invests in a non-dividend paying share at a cost of Rs.100 in the beginning of year 2004. At the end of year 2013, he sells the share for a price of Rs.150. Calculate his holding period return on share.</a:t>
                </a:r>
              </a:p>
              <a:p>
                <a:pPr marL="0" indent="0" algn="just">
                  <a:buNone/>
                </a:pPr>
                <a:r>
                  <a:rPr lang="en-US" sz="2800" b="1" u="sng" dirty="0">
                    <a:latin typeface="Arial" panose="020B0604020202020204" pitchFamily="34" charset="0"/>
                    <a:cs typeface="Arial" panose="020B0604020202020204" pitchFamily="34" charset="0"/>
                  </a:rPr>
                  <a:t>Solution</a:t>
                </a:r>
              </a:p>
              <a:p>
                <a:pPr algn="just"/>
                <a:r>
                  <a:rPr lang="en-US" sz="2800" dirty="0">
                    <a:latin typeface="Arial" panose="020B0604020202020204" pitchFamily="34" charset="0"/>
                    <a:cs typeface="Arial" panose="020B0604020202020204" pitchFamily="34" charset="0"/>
                  </a:rPr>
                  <a:t>H.P.R. =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(150−100)</m:t>
                        </m:r>
                      </m:num>
                      <m:den>
                        <m:r>
                          <a:rPr lang="en-US" sz="2800" b="0" i="1" smtClean="0">
                            <a:latin typeface="Cambria Math" panose="02040503050406030204" pitchFamily="18" charset="0"/>
                          </a:rPr>
                          <m:t>100</m:t>
                        </m:r>
                      </m:den>
                    </m:f>
                    <m:r>
                      <a:rPr lang="en-US" sz="2800" b="0" i="1" smtClean="0">
                        <a:latin typeface="Cambria Math" panose="02040503050406030204" pitchFamily="18" charset="0"/>
                      </a:rPr>
                      <m:t>∗100</m:t>
                    </m:r>
                  </m:oMath>
                </a14:m>
                <a:r>
                  <a:rPr lang="en-US" sz="2800" dirty="0">
                    <a:latin typeface="Arial" panose="020B0604020202020204" pitchFamily="34" charset="0"/>
                    <a:cs typeface="Arial" panose="020B0604020202020204" pitchFamily="34" charset="0"/>
                  </a:rPr>
                  <a:t> = 50% </a:t>
                </a:r>
              </a:p>
              <a:p>
                <a:pPr algn="just"/>
                <a:r>
                  <a:rPr lang="en-US" sz="2800" dirty="0">
                    <a:latin typeface="Arial" panose="020B0604020202020204" pitchFamily="34" charset="0"/>
                    <a:cs typeface="Arial" panose="020B0604020202020204" pitchFamily="34" charset="0"/>
                  </a:rPr>
                  <a:t>It must be noted here that holding period return of 50% is earned over a period of 10 years (from 2004 to 2013). It is NOT 50% p.a. rather 50% over 10 years</a:t>
                </a:r>
                <a:r>
                  <a:rPr lang="en-US" dirty="0"/>
                  <a:t>.</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516835" y="1066800"/>
                <a:ext cx="11065565" cy="5654675"/>
              </a:xfrm>
              <a:blipFill>
                <a:blip r:embed="rId2"/>
                <a:stretch>
                  <a:fillRect l="-1157" t="-1078" r="-1102"/>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17</a:t>
            </a:fld>
            <a:endParaRPr lang="en-US"/>
          </a:p>
        </p:txBody>
      </p:sp>
    </p:spTree>
    <p:extLst>
      <p:ext uri="{BB962C8B-B14F-4D97-AF65-F5344CB8AC3E}">
        <p14:creationId xmlns:p14="http://schemas.microsoft.com/office/powerpoint/2010/main" val="2847622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AC2E2-854B-09E7-EFDA-8094AF16E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526E5-77E2-B582-D3DF-76ACA52B9907}"/>
              </a:ext>
            </a:extLst>
          </p:cNvPr>
          <p:cNvSpPr>
            <a:spLocks noGrp="1"/>
          </p:cNvSpPr>
          <p:nvPr>
            <p:ph type="title"/>
          </p:nvPr>
        </p:nvSpPr>
        <p:spPr>
          <a:xfrm>
            <a:off x="616226" y="228599"/>
            <a:ext cx="10966174" cy="732183"/>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Average returns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B4EBD1-0597-EABE-F605-4745ECBD59DD}"/>
                  </a:ext>
                </a:extLst>
              </p:cNvPr>
              <p:cNvSpPr>
                <a:spLocks noGrp="1"/>
              </p:cNvSpPr>
              <p:nvPr>
                <p:ph idx="1"/>
              </p:nvPr>
            </p:nvSpPr>
            <p:spPr>
              <a:xfrm>
                <a:off x="609600" y="1143000"/>
                <a:ext cx="10744200" cy="557847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Mostly average return is calculated using arithmetic mean or simple mean. </a:t>
                </a:r>
              </a:p>
              <a:p>
                <a:pPr algn="just">
                  <a:lnSpc>
                    <a:spcPct val="150000"/>
                  </a:lnSpc>
                </a:pPr>
                <a:r>
                  <a:rPr lang="en-US" sz="2400" dirty="0">
                    <a:latin typeface="Arial" panose="020B0604020202020204" pitchFamily="34" charset="0"/>
                    <a:cs typeface="Arial" panose="020B0604020202020204" pitchFamily="34" charset="0"/>
                  </a:rPr>
                  <a:t>In this case average return is the simple average of annual returns earned every year over the holding period or the assessment period.</a:t>
                </a:r>
              </a:p>
              <a:p>
                <a:pPr algn="just">
                  <a:lnSpc>
                    <a:spcPct val="150000"/>
                  </a:lnSpc>
                </a:pPr>
                <a:endParaRPr lang="en-US" sz="2400" dirty="0">
                  <a:latin typeface="Arial" panose="020B0604020202020204" pitchFamily="34" charset="0"/>
                  <a:cs typeface="Arial" panose="020B0604020202020204" pitchFamily="34" charset="0"/>
                </a:endParaRPr>
              </a:p>
              <a:p>
                <a:pPr algn="just">
                  <a:lnSpc>
                    <a:spcPct val="150000"/>
                  </a:lnSpc>
                </a:pPr>
                <a:endParaRPr lang="en-US" sz="2400" dirty="0">
                  <a:latin typeface="Arial" panose="020B0604020202020204" pitchFamily="34" charset="0"/>
                  <a:cs typeface="Arial" panose="020B0604020202020204" pitchFamily="34" charset="0"/>
                </a:endParaRPr>
              </a:p>
              <a:p>
                <a:pPr marL="0" indent="0" algn="just">
                  <a:lnSpc>
                    <a:spcPct val="150000"/>
                  </a:lnSpc>
                  <a:buNone/>
                </a:pPr>
                <a:r>
                  <a:rPr lang="en-US" sz="2400" dirty="0">
                    <a:latin typeface="Arial" panose="020B0604020202020204" pitchFamily="34" charset="0"/>
                    <a:cs typeface="Arial" panose="020B0604020202020204" pitchFamily="34" charset="0"/>
                  </a:rPr>
                  <a:t>Where, </a:t>
                </a:r>
              </a:p>
              <a:p>
                <a:pPr algn="just">
                  <a:lnSpc>
                    <a:spcPct val="150000"/>
                  </a:lnSpc>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Return earned in year </a:t>
                </a:r>
                <a:r>
                  <a:rPr lang="en-US" sz="2400" i="1" dirty="0">
                    <a:latin typeface="Arial" panose="020B0604020202020204" pitchFamily="34" charset="0"/>
                    <a:cs typeface="Arial" panose="020B0604020202020204" pitchFamily="34" charset="0"/>
                  </a:rPr>
                  <a:t>i</a:t>
                </a:r>
              </a:p>
              <a:p>
                <a:pPr algn="just">
                  <a:lnSpc>
                    <a:spcPct val="150000"/>
                  </a:lnSpc>
                </a:pPr>
                <a14:m>
                  <m:oMath xmlns:m="http://schemas.openxmlformats.org/officeDocument/2006/math">
                    <m:r>
                      <a:rPr lang="en-US" sz="2400" b="0" i="1" smtClean="0">
                        <a:latin typeface="Cambria Math" panose="02040503050406030204" pitchFamily="18" charset="0"/>
                      </a:rPr>
                      <m:t>𝑁</m:t>
                    </m:r>
                  </m:oMath>
                </a14:m>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No of year for which investment is held</a:t>
                </a:r>
                <a:endParaRPr lang="en-US" sz="2400" i="1"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0B4EBD1-0597-EABE-F605-4745ECBD59DD}"/>
                  </a:ext>
                </a:extLst>
              </p:cNvPr>
              <p:cNvSpPr>
                <a:spLocks noGrp="1" noRot="1" noChangeAspect="1" noMove="1" noResize="1" noEditPoints="1" noAdjustHandles="1" noChangeArrowheads="1" noChangeShapeType="1" noTextEdit="1"/>
              </p:cNvSpPr>
              <p:nvPr>
                <p:ph idx="1"/>
              </p:nvPr>
            </p:nvSpPr>
            <p:spPr>
              <a:xfrm>
                <a:off x="609600" y="1143000"/>
                <a:ext cx="10744200" cy="5578475"/>
              </a:xfrm>
              <a:blipFill>
                <a:blip r:embed="rId2"/>
                <a:stretch>
                  <a:fillRect l="-851" r="-794"/>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B6AC6A6-689C-7851-FB97-A9469749C1E4}"/>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458E2060-A487-C870-3D80-7D6481659A7D}"/>
              </a:ext>
            </a:extLst>
          </p:cNvPr>
          <p:cNvSpPr>
            <a:spLocks noGrp="1"/>
          </p:cNvSpPr>
          <p:nvPr>
            <p:ph type="sldNum" sz="quarter" idx="12"/>
          </p:nvPr>
        </p:nvSpPr>
        <p:spPr/>
        <p:txBody>
          <a:bodyPr/>
          <a:lstStyle/>
          <a:p>
            <a:fld id="{9A6574C6-EAF8-40F7-9181-B4B8ADC2AD82}" type="slidenum">
              <a:rPr lang="en-US" smtClean="0"/>
              <a:t>18</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A9C861-A72A-D519-505C-5EB022294413}"/>
                  </a:ext>
                </a:extLst>
              </p:cNvPr>
              <p:cNvSpPr txBox="1"/>
              <p:nvPr/>
            </p:nvSpPr>
            <p:spPr>
              <a:xfrm>
                <a:off x="2667000" y="3581401"/>
                <a:ext cx="6650395" cy="6890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𝐴𝑣𝑒𝑟𝑎𝑔𝑒</m:t>
                      </m:r>
                      <m:r>
                        <a:rPr lang="en-US" b="0" i="1" smtClean="0">
                          <a:latin typeface="Cambria Math" panose="02040503050406030204" pitchFamily="18" charset="0"/>
                        </a:rPr>
                        <m:t> </m:t>
                      </m:r>
                      <m:r>
                        <a:rPr lang="en-US" b="0" i="1" smtClean="0">
                          <a:latin typeface="Cambria Math" panose="02040503050406030204" pitchFamily="18" charset="0"/>
                        </a:rPr>
                        <m:t>𝑅𝑒𝑡𝑢𝑟𝑛𝑠</m:t>
                      </m:r>
                      <m:r>
                        <a:rPr lang="en-US"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𝑁</m:t>
                              </m:r>
                            </m:sub>
                          </m:sSub>
                        </m:num>
                        <m:den>
                          <m:r>
                            <a:rPr lang="en-US" b="0" i="1" smtClean="0">
                              <a:latin typeface="Cambria Math" panose="02040503050406030204" pitchFamily="18" charset="0"/>
                            </a:rPr>
                            <m:t>𝑁</m:t>
                          </m:r>
                        </m:den>
                      </m:f>
                    </m:oMath>
                  </m:oMathPara>
                </a14:m>
                <a:endParaRPr lang="en-US" dirty="0"/>
              </a:p>
            </p:txBody>
          </p:sp>
        </mc:Choice>
        <mc:Fallback xmlns="">
          <p:sp>
            <p:nvSpPr>
              <p:cNvPr id="7" name="TextBox 6">
                <a:extLst>
                  <a:ext uri="{FF2B5EF4-FFF2-40B4-BE49-F238E27FC236}">
                    <a16:creationId xmlns:a16="http://schemas.microsoft.com/office/drawing/2014/main" id="{DBA9C861-A72A-D519-505C-5EB022294413}"/>
                  </a:ext>
                </a:extLst>
              </p:cNvPr>
              <p:cNvSpPr txBox="1">
                <a:spLocks noRot="1" noChangeAspect="1" noMove="1" noResize="1" noEditPoints="1" noAdjustHandles="1" noChangeArrowheads="1" noChangeShapeType="1" noTextEdit="1"/>
              </p:cNvSpPr>
              <p:nvPr/>
            </p:nvSpPr>
            <p:spPr>
              <a:xfrm>
                <a:off x="2667000" y="3581401"/>
                <a:ext cx="6650395" cy="689035"/>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42567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26164" y="278296"/>
            <a:ext cx="10956235" cy="712304"/>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Average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990600"/>
            <a:ext cx="10744200" cy="5730875"/>
          </a:xfrm>
          <a:noFill/>
        </p:spPr>
        <p:txBody>
          <a:bodyPr>
            <a:normAutofit/>
          </a:bodyPr>
          <a:lstStyle/>
          <a:p>
            <a:pPr algn="just">
              <a:lnSpc>
                <a:spcPct val="150000"/>
              </a:lnSpc>
            </a:pPr>
            <a:r>
              <a:rPr lang="en-US" sz="2400" u="sng" dirty="0">
                <a:latin typeface="Arial" panose="020B0604020202020204" pitchFamily="34" charset="0"/>
                <a:cs typeface="Arial" panose="020B0604020202020204" pitchFamily="34" charset="0"/>
              </a:rPr>
              <a:t>EXAMPLE</a:t>
            </a:r>
          </a:p>
          <a:p>
            <a:pPr algn="just"/>
            <a:r>
              <a:rPr lang="en-US" sz="2400" dirty="0">
                <a:latin typeface="Arial" panose="020B0604020202020204" pitchFamily="34" charset="0"/>
                <a:cs typeface="Arial" panose="020B0604020202020204" pitchFamily="34" charset="0"/>
              </a:rPr>
              <a:t>Mr. X wants to calculate average return of a share of RPL Ltd, currently available at a price of Rs.160 as on 31st December, 2013. The share did not pay any dividend over these years. Calculate average return of RPL Ltd.’s shares.</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19</a:t>
            </a:fld>
            <a:endParaRPr lang="en-US"/>
          </a:p>
        </p:txBody>
      </p:sp>
      <p:graphicFrame>
        <p:nvGraphicFramePr>
          <p:cNvPr id="6" name="Table 5">
            <a:extLst>
              <a:ext uri="{FF2B5EF4-FFF2-40B4-BE49-F238E27FC236}">
                <a16:creationId xmlns:a16="http://schemas.microsoft.com/office/drawing/2014/main" id="{C1813C61-DEF0-A7F9-D0E9-6955718DA053}"/>
              </a:ext>
            </a:extLst>
          </p:cNvPr>
          <p:cNvGraphicFramePr>
            <a:graphicFrameLocks noGrp="1"/>
          </p:cNvGraphicFramePr>
          <p:nvPr>
            <p:extLst>
              <p:ext uri="{D42A27DB-BD31-4B8C-83A1-F6EECF244321}">
                <p14:modId xmlns:p14="http://schemas.microsoft.com/office/powerpoint/2010/main" val="171844958"/>
              </p:ext>
            </p:extLst>
          </p:nvPr>
        </p:nvGraphicFramePr>
        <p:xfrm>
          <a:off x="1752600" y="3581400"/>
          <a:ext cx="8466394" cy="3001964"/>
        </p:xfrm>
        <a:graphic>
          <a:graphicData uri="http://schemas.openxmlformats.org/drawingml/2006/table">
            <a:tbl>
              <a:tblPr firstRow="1" bandRow="1">
                <a:tableStyleId>{5940675A-B579-460E-94D1-54222C63F5DA}</a:tableStyleId>
              </a:tblPr>
              <a:tblGrid>
                <a:gridCol w="4233197">
                  <a:extLst>
                    <a:ext uri="{9D8B030D-6E8A-4147-A177-3AD203B41FA5}">
                      <a16:colId xmlns:a16="http://schemas.microsoft.com/office/drawing/2014/main" val="456116180"/>
                    </a:ext>
                  </a:extLst>
                </a:gridCol>
                <a:gridCol w="4233197">
                  <a:extLst>
                    <a:ext uri="{9D8B030D-6E8A-4147-A177-3AD203B41FA5}">
                      <a16:colId xmlns:a16="http://schemas.microsoft.com/office/drawing/2014/main" val="3306517602"/>
                    </a:ext>
                  </a:extLst>
                </a:gridCol>
              </a:tblGrid>
              <a:tr h="428852">
                <a:tc>
                  <a:txBody>
                    <a:bodyPr/>
                    <a:lstStyle/>
                    <a:p>
                      <a:r>
                        <a:rPr lang="en-US" dirty="0">
                          <a:latin typeface="Arial" panose="020B0604020202020204" pitchFamily="34" charset="0"/>
                          <a:cs typeface="Arial" panose="020B0604020202020204" pitchFamily="34" charset="0"/>
                        </a:rPr>
                        <a:t>Year</a:t>
                      </a:r>
                    </a:p>
                  </a:txBody>
                  <a:tcPr/>
                </a:tc>
                <a:tc>
                  <a:txBody>
                    <a:bodyPr/>
                    <a:lstStyle/>
                    <a:p>
                      <a:r>
                        <a:rPr lang="en-US" dirty="0">
                          <a:latin typeface="Arial" panose="020B0604020202020204" pitchFamily="34" charset="0"/>
                          <a:cs typeface="Arial" panose="020B0604020202020204" pitchFamily="34" charset="0"/>
                        </a:rPr>
                        <a:t>Price</a:t>
                      </a:r>
                    </a:p>
                  </a:txBody>
                  <a:tcPr/>
                </a:tc>
                <a:extLst>
                  <a:ext uri="{0D108BD9-81ED-4DB2-BD59-A6C34878D82A}">
                    <a16:rowId xmlns:a16="http://schemas.microsoft.com/office/drawing/2014/main" val="1030423113"/>
                  </a:ext>
                </a:extLst>
              </a:tr>
              <a:tr h="428852">
                <a:tc>
                  <a:txBody>
                    <a:bodyPr/>
                    <a:lstStyle/>
                    <a:p>
                      <a:r>
                        <a:rPr lang="en-US" dirty="0">
                          <a:latin typeface="Arial" panose="020B0604020202020204" pitchFamily="34" charset="0"/>
                          <a:cs typeface="Arial" panose="020B0604020202020204" pitchFamily="34" charset="0"/>
                        </a:rPr>
                        <a:t>31st December, 2008</a:t>
                      </a:r>
                    </a:p>
                  </a:txBody>
                  <a:tcPr/>
                </a:tc>
                <a:tc>
                  <a:txBody>
                    <a:bodyPr/>
                    <a:lstStyle/>
                    <a:p>
                      <a:r>
                        <a:rPr lang="en-US" dirty="0">
                          <a:latin typeface="Arial" panose="020B0604020202020204" pitchFamily="34" charset="0"/>
                          <a:cs typeface="Arial" panose="020B0604020202020204" pitchFamily="34" charset="0"/>
                        </a:rPr>
                        <a:t>100</a:t>
                      </a:r>
                    </a:p>
                  </a:txBody>
                  <a:tcPr/>
                </a:tc>
                <a:extLst>
                  <a:ext uri="{0D108BD9-81ED-4DB2-BD59-A6C34878D82A}">
                    <a16:rowId xmlns:a16="http://schemas.microsoft.com/office/drawing/2014/main" val="2603055006"/>
                  </a:ext>
                </a:extLst>
              </a:tr>
              <a:tr h="428852">
                <a:tc>
                  <a:txBody>
                    <a:bodyPr/>
                    <a:lstStyle/>
                    <a:p>
                      <a:r>
                        <a:rPr lang="en-US" dirty="0">
                          <a:latin typeface="Arial" panose="020B0604020202020204" pitchFamily="34" charset="0"/>
                          <a:cs typeface="Arial" panose="020B0604020202020204" pitchFamily="34" charset="0"/>
                        </a:rPr>
                        <a:t>31st December, 2009</a:t>
                      </a:r>
                    </a:p>
                  </a:txBody>
                  <a:tcPr/>
                </a:tc>
                <a:tc>
                  <a:txBody>
                    <a:bodyPr/>
                    <a:lstStyle/>
                    <a:p>
                      <a:r>
                        <a:rPr lang="en-US" dirty="0">
                          <a:latin typeface="Arial" panose="020B0604020202020204" pitchFamily="34" charset="0"/>
                          <a:cs typeface="Arial" panose="020B0604020202020204" pitchFamily="34" charset="0"/>
                        </a:rPr>
                        <a:t>118</a:t>
                      </a:r>
                    </a:p>
                  </a:txBody>
                  <a:tcPr/>
                </a:tc>
                <a:extLst>
                  <a:ext uri="{0D108BD9-81ED-4DB2-BD59-A6C34878D82A}">
                    <a16:rowId xmlns:a16="http://schemas.microsoft.com/office/drawing/2014/main" val="2435652210"/>
                  </a:ext>
                </a:extLst>
              </a:tr>
              <a:tr h="428852">
                <a:tc>
                  <a:txBody>
                    <a:bodyPr/>
                    <a:lstStyle/>
                    <a:p>
                      <a:r>
                        <a:rPr lang="en-US" dirty="0">
                          <a:latin typeface="Arial" panose="020B0604020202020204" pitchFamily="34" charset="0"/>
                          <a:cs typeface="Arial" panose="020B0604020202020204" pitchFamily="34" charset="0"/>
                        </a:rPr>
                        <a:t>31st December, 2010</a:t>
                      </a:r>
                    </a:p>
                  </a:txBody>
                  <a:tcPr/>
                </a:tc>
                <a:tc>
                  <a:txBody>
                    <a:bodyPr/>
                    <a:lstStyle/>
                    <a:p>
                      <a:r>
                        <a:rPr lang="en-US" dirty="0">
                          <a:latin typeface="Arial" panose="020B0604020202020204" pitchFamily="34" charset="0"/>
                          <a:cs typeface="Arial" panose="020B0604020202020204" pitchFamily="34" charset="0"/>
                        </a:rPr>
                        <a:t>130</a:t>
                      </a:r>
                    </a:p>
                  </a:txBody>
                  <a:tcPr/>
                </a:tc>
                <a:extLst>
                  <a:ext uri="{0D108BD9-81ED-4DB2-BD59-A6C34878D82A}">
                    <a16:rowId xmlns:a16="http://schemas.microsoft.com/office/drawing/2014/main" val="1631516895"/>
                  </a:ext>
                </a:extLst>
              </a:tr>
              <a:tr h="428852">
                <a:tc>
                  <a:txBody>
                    <a:bodyPr/>
                    <a:lstStyle/>
                    <a:p>
                      <a:r>
                        <a:rPr lang="en-US" dirty="0">
                          <a:latin typeface="Arial" panose="020B0604020202020204" pitchFamily="34" charset="0"/>
                          <a:cs typeface="Arial" panose="020B0604020202020204" pitchFamily="34" charset="0"/>
                        </a:rPr>
                        <a:t>31st December, 2011</a:t>
                      </a:r>
                    </a:p>
                  </a:txBody>
                  <a:tcPr/>
                </a:tc>
                <a:tc>
                  <a:txBody>
                    <a:bodyPr/>
                    <a:lstStyle/>
                    <a:p>
                      <a:r>
                        <a:rPr lang="en-US" dirty="0">
                          <a:latin typeface="Arial" panose="020B0604020202020204" pitchFamily="34" charset="0"/>
                          <a:cs typeface="Arial" panose="020B0604020202020204" pitchFamily="34" charset="0"/>
                        </a:rPr>
                        <a:t>120</a:t>
                      </a:r>
                    </a:p>
                  </a:txBody>
                  <a:tcPr/>
                </a:tc>
                <a:extLst>
                  <a:ext uri="{0D108BD9-81ED-4DB2-BD59-A6C34878D82A}">
                    <a16:rowId xmlns:a16="http://schemas.microsoft.com/office/drawing/2014/main" val="3171489642"/>
                  </a:ext>
                </a:extLst>
              </a:tr>
              <a:tr h="428852">
                <a:tc>
                  <a:txBody>
                    <a:bodyPr/>
                    <a:lstStyle/>
                    <a:p>
                      <a:r>
                        <a:rPr lang="en-US" dirty="0">
                          <a:latin typeface="Arial" panose="020B0604020202020204" pitchFamily="34" charset="0"/>
                          <a:cs typeface="Arial" panose="020B0604020202020204" pitchFamily="34" charset="0"/>
                        </a:rPr>
                        <a:t>31st December, 2012</a:t>
                      </a:r>
                    </a:p>
                  </a:txBody>
                  <a:tcPr/>
                </a:tc>
                <a:tc>
                  <a:txBody>
                    <a:bodyPr/>
                    <a:lstStyle/>
                    <a:p>
                      <a:r>
                        <a:rPr lang="en-US" dirty="0">
                          <a:latin typeface="Arial" panose="020B0604020202020204" pitchFamily="34" charset="0"/>
                          <a:cs typeface="Arial" panose="020B0604020202020204" pitchFamily="34" charset="0"/>
                        </a:rPr>
                        <a:t>140</a:t>
                      </a:r>
                    </a:p>
                  </a:txBody>
                  <a:tcPr/>
                </a:tc>
                <a:extLst>
                  <a:ext uri="{0D108BD9-81ED-4DB2-BD59-A6C34878D82A}">
                    <a16:rowId xmlns:a16="http://schemas.microsoft.com/office/drawing/2014/main" val="3864061279"/>
                  </a:ext>
                </a:extLst>
              </a:tr>
              <a:tr h="428852">
                <a:tc>
                  <a:txBody>
                    <a:bodyPr/>
                    <a:lstStyle/>
                    <a:p>
                      <a:r>
                        <a:rPr lang="en-US" dirty="0">
                          <a:latin typeface="Arial" panose="020B0604020202020204" pitchFamily="34" charset="0"/>
                          <a:cs typeface="Arial" panose="020B0604020202020204" pitchFamily="34" charset="0"/>
                        </a:rPr>
                        <a:t>31st December, 2013</a:t>
                      </a:r>
                    </a:p>
                  </a:txBody>
                  <a:tcPr/>
                </a:tc>
                <a:tc>
                  <a:txBody>
                    <a:bodyPr/>
                    <a:lstStyle/>
                    <a:p>
                      <a:r>
                        <a:rPr lang="en-US" dirty="0">
                          <a:latin typeface="Arial" panose="020B0604020202020204" pitchFamily="34" charset="0"/>
                          <a:cs typeface="Arial" panose="020B0604020202020204" pitchFamily="34" charset="0"/>
                        </a:rPr>
                        <a:t>160</a:t>
                      </a:r>
                    </a:p>
                  </a:txBody>
                  <a:tcPr/>
                </a:tc>
                <a:extLst>
                  <a:ext uri="{0D108BD9-81ED-4DB2-BD59-A6C34878D82A}">
                    <a16:rowId xmlns:a16="http://schemas.microsoft.com/office/drawing/2014/main" val="1863737556"/>
                  </a:ext>
                </a:extLst>
              </a:tr>
            </a:tbl>
          </a:graphicData>
        </a:graphic>
      </p:graphicFrame>
    </p:spTree>
    <p:extLst>
      <p:ext uri="{BB962C8B-B14F-4D97-AF65-F5344CB8AC3E}">
        <p14:creationId xmlns:p14="http://schemas.microsoft.com/office/powerpoint/2010/main" val="2891837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82299"/>
            <a:ext cx="10972800" cy="821979"/>
          </a:xfrm>
          <a:solidFill>
            <a:schemeClr val="accent1">
              <a:lumMod val="60000"/>
              <a:lumOff val="40000"/>
            </a:schemeClr>
          </a:solidFill>
        </p:spPr>
        <p:txBody>
          <a:bodyPr>
            <a:normAutofit/>
          </a:bodyPr>
          <a:lstStyle/>
          <a:p>
            <a:r>
              <a:rPr lang="en-US" sz="2800" b="1" dirty="0"/>
              <a:t>Average returns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371600"/>
                <a:ext cx="10744200" cy="5349875"/>
              </a:xfrm>
              <a:noFill/>
            </p:spPr>
            <p:txBody>
              <a:bodyPr>
                <a:normAutofit fontScale="70000" lnSpcReduction="20000"/>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sz="3400" dirty="0">
                    <a:latin typeface="Arial" panose="020B0604020202020204" pitchFamily="34" charset="0"/>
                    <a:cs typeface="Arial" panose="020B0604020202020204" pitchFamily="34" charset="0"/>
                  </a:rPr>
                  <a:t>Average Return </a:t>
                </a:r>
                <a14:m>
                  <m:oMath xmlns:m="http://schemas.openxmlformats.org/officeDocument/2006/math">
                    <m:r>
                      <a:rPr lang="en-US" sz="3400" i="1" smtClean="0">
                        <a:latin typeface="Cambria Math" panose="02040503050406030204" pitchFamily="18" charset="0"/>
                      </a:rPr>
                      <m:t>=</m:t>
                    </m:r>
                    <m:f>
                      <m:fPr>
                        <m:ctrlPr>
                          <a:rPr lang="en-US" sz="3400" i="1" smtClean="0">
                            <a:latin typeface="Cambria Math" panose="02040503050406030204" pitchFamily="18" charset="0"/>
                          </a:rPr>
                        </m:ctrlPr>
                      </m:fPr>
                      <m:num>
                        <m:r>
                          <a:rPr lang="en-US" sz="3400" b="0" i="1" smtClean="0">
                            <a:latin typeface="Cambria Math" panose="02040503050406030204" pitchFamily="18" charset="0"/>
                          </a:rPr>
                          <m:t>51.42</m:t>
                        </m:r>
                      </m:num>
                      <m:den>
                        <m:r>
                          <a:rPr lang="en-US" sz="3400" b="0" i="1" smtClean="0">
                            <a:latin typeface="Cambria Math" panose="02040503050406030204" pitchFamily="18" charset="0"/>
                          </a:rPr>
                          <m:t>5</m:t>
                        </m:r>
                      </m:den>
                    </m:f>
                    <m:r>
                      <a:rPr lang="en-US" sz="3400" b="0" i="1" smtClean="0">
                        <a:latin typeface="Cambria Math" panose="02040503050406030204" pitchFamily="18" charset="0"/>
                      </a:rPr>
                      <m:t>=10.28%</m:t>
                    </m:r>
                  </m:oMath>
                </a14:m>
                <a:endParaRPr lang="en-US" sz="3400" b="0" dirty="0">
                  <a:latin typeface="Arial" panose="020B0604020202020204" pitchFamily="34" charset="0"/>
                  <a:cs typeface="Arial" panose="020B0604020202020204" pitchFamily="34" charset="0"/>
                </a:endParaRPr>
              </a:p>
              <a:p>
                <a:pPr marL="0" indent="0" algn="just">
                  <a:buNone/>
                </a:pPr>
                <a:r>
                  <a:rPr lang="en-US" sz="3400" dirty="0">
                    <a:latin typeface="Arial" panose="020B0604020202020204" pitchFamily="34" charset="0"/>
                    <a:cs typeface="Arial" panose="020B0604020202020204" pitchFamily="34" charset="0"/>
                  </a:rPr>
                  <a:t>Thus, on the basis of historical data the average annual return on RPL Ltd share has been 10.28%.</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1371600"/>
                <a:ext cx="10744200" cy="5349875"/>
              </a:xfrm>
              <a:blipFill>
                <a:blip r:embed="rId2"/>
                <a:stretch>
                  <a:fillRect l="-851" r="-794" b="-456"/>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20</a:t>
            </a:fld>
            <a:endParaRPr lang="en-US"/>
          </a:p>
        </p:txBody>
      </p:sp>
      <p:pic>
        <p:nvPicPr>
          <p:cNvPr id="7" name="Picture 6">
            <a:extLst>
              <a:ext uri="{FF2B5EF4-FFF2-40B4-BE49-F238E27FC236}">
                <a16:creationId xmlns:a16="http://schemas.microsoft.com/office/drawing/2014/main" id="{FA37FF9B-AEA0-0407-A780-3FBE9AC4FFA9}"/>
              </a:ext>
            </a:extLst>
          </p:cNvPr>
          <p:cNvPicPr>
            <a:picLocks noChangeAspect="1"/>
          </p:cNvPicPr>
          <p:nvPr/>
        </p:nvPicPr>
        <p:blipFill>
          <a:blip r:embed="rId3"/>
          <a:stretch>
            <a:fillRect/>
          </a:stretch>
        </p:blipFill>
        <p:spPr>
          <a:xfrm>
            <a:off x="2311400" y="1219200"/>
            <a:ext cx="7848600" cy="3891314"/>
          </a:xfrm>
          <a:prstGeom prst="rect">
            <a:avLst/>
          </a:prstGeom>
        </p:spPr>
      </p:pic>
    </p:spTree>
    <p:extLst>
      <p:ext uri="{BB962C8B-B14F-4D97-AF65-F5344CB8AC3E}">
        <p14:creationId xmlns:p14="http://schemas.microsoft.com/office/powerpoint/2010/main" val="2145603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26774" y="248478"/>
            <a:ext cx="11055626" cy="66592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Annualized returns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66530" y="1143000"/>
                <a:ext cx="11015870" cy="5578475"/>
              </a:xfrm>
              <a:noFill/>
            </p:spPr>
            <p:txBody>
              <a:bodyPr>
                <a:normAutofit/>
              </a:bodyPr>
              <a:lstStyle/>
              <a:p>
                <a:pPr algn="just"/>
                <a:r>
                  <a:rPr lang="en-US" sz="2400" dirty="0">
                    <a:latin typeface="Arial" panose="020B0604020202020204" pitchFamily="34" charset="0"/>
                    <a:cs typeface="Arial" panose="020B0604020202020204" pitchFamily="34" charset="0"/>
                  </a:rPr>
                  <a:t>Effective annualized return (EAR) is the equivalent per annum return earned on an investment.</a:t>
                </a:r>
              </a:p>
              <a:p>
                <a:pPr algn="just"/>
                <a:r>
                  <a:rPr lang="en-US" sz="2400" dirty="0">
                    <a:latin typeface="Arial" panose="020B0604020202020204" pitchFamily="34" charset="0"/>
                    <a:cs typeface="Arial" panose="020B0604020202020204" pitchFamily="34" charset="0"/>
                  </a:rPr>
                  <a:t>Where the holding period is more or less than one year it can be calculated as below:</a:t>
                </a: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𝐸𝐴𝑅</m:t>
                      </m:r>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𝑡</m:t>
                              </m:r>
                            </m:sub>
                          </m:sSub>
                          <m:r>
                            <a:rPr lang="en-US" sz="2400" i="1">
                              <a:latin typeface="Cambria Math" panose="02040503050406030204" pitchFamily="18" charset="0"/>
                            </a:rPr>
                            <m:t>)</m:t>
                          </m:r>
                        </m:e>
                        <m:sup>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𝑡</m:t>
                              </m:r>
                            </m:den>
                          </m:f>
                        </m:sup>
                      </m:sSup>
                      <m:r>
                        <a:rPr lang="en-US" sz="2400" i="1">
                          <a:latin typeface="Cambria Math" panose="02040503050406030204" pitchFamily="18" charset="0"/>
                        </a:rPr>
                        <m:t>−</m:t>
                      </m:r>
                      <m:r>
                        <a:rPr lang="en-US" sz="2400" b="0" i="1" smtClean="0">
                          <a:latin typeface="Cambria Math" panose="02040503050406030204" pitchFamily="18" charset="0"/>
                        </a:rPr>
                        <m:t>1</m:t>
                      </m:r>
                    </m:oMath>
                  </m:oMathPara>
                </a14:m>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Where,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𝑡</m:t>
                        </m:r>
                      </m:sub>
                    </m:sSub>
                  </m:oMath>
                </a14:m>
                <a:r>
                  <a:rPr lang="en-US" sz="2400" dirty="0">
                    <a:latin typeface="Arial" panose="020B0604020202020204" pitchFamily="34" charset="0"/>
                    <a:cs typeface="Arial" panose="020B0604020202020204" pitchFamily="34" charset="0"/>
                  </a:rPr>
                  <a:t> = Holding Period Return </a:t>
                </a:r>
              </a:p>
              <a:p>
                <a:pPr marL="0" indent="0" algn="just">
                  <a:buNone/>
                </a:pPr>
                <a:r>
                  <a:rPr lang="en-US" sz="2400" dirty="0">
                    <a:latin typeface="Arial" panose="020B0604020202020204" pitchFamily="34" charset="0"/>
                    <a:cs typeface="Arial" panose="020B0604020202020204" pitchFamily="34" charset="0"/>
                  </a:rPr>
                  <a:t>		</a:t>
                </a:r>
                <a14:m>
                  <m:oMath xmlns:m="http://schemas.openxmlformats.org/officeDocument/2006/math">
                    <m:r>
                      <a:rPr lang="en-US" sz="2400" i="1">
                        <a:latin typeface="Cambria Math" panose="02040503050406030204" pitchFamily="18" charset="0"/>
                      </a:rPr>
                      <m:t>𝑡</m:t>
                    </m:r>
                  </m:oMath>
                </a14:m>
                <a:r>
                  <a:rPr lang="en-US" sz="2400" dirty="0">
                    <a:latin typeface="Arial" panose="020B0604020202020204" pitchFamily="34" charset="0"/>
                    <a:cs typeface="Arial" panose="020B0604020202020204" pitchFamily="34" charset="0"/>
                  </a:rPr>
                  <a:t> = Holding period in years</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566530" y="1143000"/>
                <a:ext cx="11015870" cy="5578475"/>
              </a:xfrm>
              <a:blipFill>
                <a:blip r:embed="rId2"/>
                <a:stretch>
                  <a:fillRect l="-775" t="-765" r="-830"/>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21</a:t>
            </a:fld>
            <a:endParaRPr lang="en-US"/>
          </a:p>
        </p:txBody>
      </p:sp>
    </p:spTree>
    <p:extLst>
      <p:ext uri="{BB962C8B-B14F-4D97-AF65-F5344CB8AC3E}">
        <p14:creationId xmlns:p14="http://schemas.microsoft.com/office/powerpoint/2010/main" val="1213694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56591" y="248478"/>
            <a:ext cx="11025809" cy="81832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Annualized returns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95401"/>
                <a:ext cx="10744200" cy="4267200"/>
              </a:xfrm>
              <a:noFill/>
            </p:spPr>
            <p:txBody>
              <a:bodyPr>
                <a:normAutofit/>
              </a:bodyPr>
              <a:lstStyle/>
              <a:p>
                <a:pPr marL="0" indent="0" algn="just">
                  <a:buNone/>
                </a:pPr>
                <a:r>
                  <a:rPr lang="en-US" sz="2400" b="1" u="sng" dirty="0">
                    <a:latin typeface="Arial" panose="020B0604020202020204" pitchFamily="34" charset="0"/>
                    <a:cs typeface="Arial" panose="020B0604020202020204" pitchFamily="34" charset="0"/>
                  </a:rPr>
                  <a:t>EXAMPLE</a:t>
                </a:r>
              </a:p>
              <a:p>
                <a:pPr algn="just"/>
                <a:r>
                  <a:rPr lang="en-US" sz="2400" dirty="0">
                    <a:latin typeface="Arial" panose="020B0604020202020204" pitchFamily="34" charset="0"/>
                    <a:cs typeface="Arial" panose="020B0604020202020204" pitchFamily="34" charset="0"/>
                  </a:rPr>
                  <a:t>If an investor, who earns 50% return over a period of 10 years has actually earned 4.13% p.a. as calculated below: </a:t>
                </a:r>
              </a:p>
              <a:p>
                <a:pPr algn="just"/>
                <a:r>
                  <a:rPr lang="en-US" sz="2400" dirty="0">
                    <a:latin typeface="Arial" panose="020B0604020202020204" pitchFamily="34" charset="0"/>
                    <a:cs typeface="Arial" panose="020B0604020202020204" pitchFamily="34" charset="0"/>
                  </a:rPr>
                  <a:t>EAR =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(1+0.50)</m:t>
                        </m:r>
                      </m:e>
                      <m:sup>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m:t>
                            </m:r>
                          </m:den>
                        </m:f>
                      </m:sup>
                    </m:sSup>
                    <m:r>
                      <a:rPr lang="en-US" sz="2400" b="0" i="1" smtClean="0">
                        <a:latin typeface="Cambria Math" panose="02040503050406030204" pitchFamily="18" charset="0"/>
                      </a:rPr>
                      <m:t>−1</m:t>
                    </m:r>
                  </m:oMath>
                </a14:m>
                <a:r>
                  <a:rPr lang="en-US" sz="2400" dirty="0">
                    <a:latin typeface="Arial" panose="020B0604020202020204" pitchFamily="34" charset="0"/>
                    <a:cs typeface="Arial" panose="020B0604020202020204" pitchFamily="34" charset="0"/>
                  </a:rPr>
                  <a:t> = 1.0413 − 1 = 0.0413 or 4.13% p.a.</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1295401"/>
                <a:ext cx="10744200" cy="4267200"/>
              </a:xfrm>
              <a:blipFill>
                <a:blip r:embed="rId2"/>
                <a:stretch>
                  <a:fillRect l="-851" t="-1000" r="-794"/>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22</a:t>
            </a:fld>
            <a:endParaRPr lang="en-US"/>
          </a:p>
        </p:txBody>
      </p:sp>
    </p:spTree>
    <p:extLst>
      <p:ext uri="{BB962C8B-B14F-4D97-AF65-F5344CB8AC3E}">
        <p14:creationId xmlns:p14="http://schemas.microsoft.com/office/powerpoint/2010/main" val="1714137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921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Historical returns</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23</a:t>
            </a:fld>
            <a:endParaRPr lang="en-US"/>
          </a:p>
        </p:txBody>
      </p:sp>
      <p:pic>
        <p:nvPicPr>
          <p:cNvPr id="1026" name="Picture 2" descr="Stocks, Bonds, Bills, and Inflation since 1926 – ISABELNET">
            <a:extLst>
              <a:ext uri="{FF2B5EF4-FFF2-40B4-BE49-F238E27FC236}">
                <a16:creationId xmlns:a16="http://schemas.microsoft.com/office/drawing/2014/main" id="{A5C25B70-212B-EF4C-DD8B-F8F8A2934E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1"/>
            <a:ext cx="8229600" cy="542607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394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Expected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96348" y="1162877"/>
            <a:ext cx="10757452" cy="5338747"/>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Average return based on a series of historical returns may not be useful in making future predictions about expected returns. </a:t>
            </a:r>
          </a:p>
          <a:p>
            <a:pPr algn="just">
              <a:lnSpc>
                <a:spcPct val="150000"/>
              </a:lnSpc>
            </a:pPr>
            <a:r>
              <a:rPr lang="en-US" sz="2400" dirty="0">
                <a:latin typeface="Arial" panose="020B0604020202020204" pitchFamily="34" charset="0"/>
                <a:cs typeface="Arial" panose="020B0604020202020204" pitchFamily="34" charset="0"/>
              </a:rPr>
              <a:t>Therefore, an investor may have a number of probable returns and assign probabilities to each expected outcome. </a:t>
            </a:r>
          </a:p>
          <a:p>
            <a:pPr algn="just">
              <a:lnSpc>
                <a:spcPct val="150000"/>
              </a:lnSpc>
            </a:pPr>
            <a:r>
              <a:rPr lang="en-US" sz="2400" dirty="0">
                <a:latin typeface="Arial" panose="020B0604020202020204" pitchFamily="34" charset="0"/>
                <a:cs typeface="Arial" panose="020B0604020202020204" pitchFamily="34" charset="0"/>
              </a:rPr>
              <a:t>Security analysts can actually construct a probability distribution of returns by assigning probabilities to the expected return outcomes. </a:t>
            </a:r>
          </a:p>
          <a:p>
            <a:pPr algn="just">
              <a:lnSpc>
                <a:spcPct val="150000"/>
              </a:lnSpc>
            </a:pPr>
            <a:r>
              <a:rPr lang="en-US" sz="2400" dirty="0">
                <a:latin typeface="Arial" panose="020B0604020202020204" pitchFamily="34" charset="0"/>
                <a:cs typeface="Arial" panose="020B0604020202020204" pitchFamily="34" charset="0"/>
              </a:rPr>
              <a:t>Based on this probability distribution, they can then calculate single expected return by using the following formula of statistics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24</a:t>
            </a:fld>
            <a:endParaRPr lang="en-US"/>
          </a:p>
        </p:txBody>
      </p:sp>
    </p:spTree>
    <p:extLst>
      <p:ext uri="{BB962C8B-B14F-4D97-AF65-F5344CB8AC3E}">
        <p14:creationId xmlns:p14="http://schemas.microsoft.com/office/powerpoint/2010/main" val="281870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6397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Expected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143000"/>
            <a:ext cx="10972800" cy="5578475"/>
          </a:xfrm>
          <a:noFill/>
        </p:spPr>
        <p:txBody>
          <a:bodyPr>
            <a:normAutofit/>
          </a:bodyPr>
          <a:lstStyle/>
          <a:p>
            <a:pPr marL="0" indent="0" algn="just">
              <a:buNone/>
            </a:pPr>
            <a:r>
              <a:rPr lang="en-US" sz="2400" dirty="0">
                <a:latin typeface="Arial" panose="020B0604020202020204" pitchFamily="34" charset="0"/>
                <a:cs typeface="Arial" panose="020B0604020202020204" pitchFamily="34" charset="0"/>
              </a:rPr>
              <a:t>EXAMPLE</a:t>
            </a:r>
          </a:p>
          <a:p>
            <a:pPr algn="just"/>
            <a:r>
              <a:rPr lang="en-US" sz="2400" dirty="0">
                <a:latin typeface="Arial" panose="020B0604020202020204" pitchFamily="34" charset="0"/>
                <a:cs typeface="Arial" panose="020B0604020202020204" pitchFamily="34" charset="0"/>
              </a:rPr>
              <a:t>if we are given that the expected return from a share depends upon the state of the economy (Good, Normal or Bad) and we are given the following probability distribution. </a:t>
            </a:r>
          </a:p>
          <a:p>
            <a:pPr algn="just"/>
            <a:endParaRPr lang="en-US" sz="24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In such a case the Expected Return of the share will be calculated as</a:t>
            </a:r>
          </a:p>
          <a:p>
            <a:pPr algn="just"/>
            <a:r>
              <a:rPr lang="en-US" sz="2400" dirty="0">
                <a:latin typeface="Arial" panose="020B0604020202020204" pitchFamily="34" charset="0"/>
                <a:cs typeface="Arial" panose="020B0604020202020204" pitchFamily="34" charset="0"/>
              </a:rPr>
              <a:t>Expected Return = 18*(0.4) + 15*(0.3) -5*(0.3) = 10.2%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25</a:t>
            </a:fld>
            <a:endParaRPr lang="en-US"/>
          </a:p>
        </p:txBody>
      </p:sp>
      <p:graphicFrame>
        <p:nvGraphicFramePr>
          <p:cNvPr id="7" name="Table 2">
            <a:extLst>
              <a:ext uri="{FF2B5EF4-FFF2-40B4-BE49-F238E27FC236}">
                <a16:creationId xmlns:a16="http://schemas.microsoft.com/office/drawing/2014/main" id="{A294E030-D5AF-4DA5-12F3-C6ED521658AE}"/>
              </a:ext>
            </a:extLst>
          </p:cNvPr>
          <p:cNvGraphicFramePr>
            <a:graphicFrameLocks noGrp="1"/>
          </p:cNvGraphicFramePr>
          <p:nvPr>
            <p:extLst>
              <p:ext uri="{D42A27DB-BD31-4B8C-83A1-F6EECF244321}">
                <p14:modId xmlns:p14="http://schemas.microsoft.com/office/powerpoint/2010/main" val="3873274271"/>
              </p:ext>
            </p:extLst>
          </p:nvPr>
        </p:nvGraphicFramePr>
        <p:xfrm>
          <a:off x="2743200" y="3139439"/>
          <a:ext cx="6400800" cy="173736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652196543"/>
                    </a:ext>
                  </a:extLst>
                </a:gridCol>
                <a:gridCol w="2133600">
                  <a:extLst>
                    <a:ext uri="{9D8B030D-6E8A-4147-A177-3AD203B41FA5}">
                      <a16:colId xmlns:a16="http://schemas.microsoft.com/office/drawing/2014/main" val="2839725454"/>
                    </a:ext>
                  </a:extLst>
                </a:gridCol>
                <a:gridCol w="2133600">
                  <a:extLst>
                    <a:ext uri="{9D8B030D-6E8A-4147-A177-3AD203B41FA5}">
                      <a16:colId xmlns:a16="http://schemas.microsoft.com/office/drawing/2014/main" val="2259658889"/>
                    </a:ext>
                  </a:extLst>
                </a:gridCol>
              </a:tblGrid>
              <a:tr h="612251">
                <a:tc>
                  <a:txBody>
                    <a:bodyPr/>
                    <a:lstStyle/>
                    <a:p>
                      <a:r>
                        <a:rPr lang="en-US" dirty="0"/>
                        <a:t>State of the economy</a:t>
                      </a:r>
                    </a:p>
                  </a:txBody>
                  <a:tcPr/>
                </a:tc>
                <a:tc>
                  <a:txBody>
                    <a:bodyPr/>
                    <a:lstStyle/>
                    <a:p>
                      <a:r>
                        <a:rPr lang="en-US" dirty="0"/>
                        <a:t>Return</a:t>
                      </a:r>
                    </a:p>
                  </a:txBody>
                  <a:tcPr/>
                </a:tc>
                <a:tc>
                  <a:txBody>
                    <a:bodyPr/>
                    <a:lstStyle/>
                    <a:p>
                      <a:r>
                        <a:rPr lang="en-US" dirty="0"/>
                        <a:t>Probability</a:t>
                      </a:r>
                    </a:p>
                  </a:txBody>
                  <a:tcPr/>
                </a:tc>
                <a:extLst>
                  <a:ext uri="{0D108BD9-81ED-4DB2-BD59-A6C34878D82A}">
                    <a16:rowId xmlns:a16="http://schemas.microsoft.com/office/drawing/2014/main" val="58436103"/>
                  </a:ext>
                </a:extLst>
              </a:tr>
              <a:tr h="354716">
                <a:tc>
                  <a:txBody>
                    <a:bodyPr/>
                    <a:lstStyle/>
                    <a:p>
                      <a:r>
                        <a:rPr lang="en-US" dirty="0"/>
                        <a:t>Good</a:t>
                      </a:r>
                    </a:p>
                  </a:txBody>
                  <a:tcPr/>
                </a:tc>
                <a:tc>
                  <a:txBody>
                    <a:bodyPr/>
                    <a:lstStyle/>
                    <a:p>
                      <a:r>
                        <a:rPr lang="en-US" dirty="0"/>
                        <a:t>18%</a:t>
                      </a:r>
                    </a:p>
                  </a:txBody>
                  <a:tcPr/>
                </a:tc>
                <a:tc>
                  <a:txBody>
                    <a:bodyPr/>
                    <a:lstStyle/>
                    <a:p>
                      <a:r>
                        <a:rPr lang="en-US" dirty="0"/>
                        <a:t>0.4</a:t>
                      </a:r>
                    </a:p>
                  </a:txBody>
                  <a:tcPr/>
                </a:tc>
                <a:extLst>
                  <a:ext uri="{0D108BD9-81ED-4DB2-BD59-A6C34878D82A}">
                    <a16:rowId xmlns:a16="http://schemas.microsoft.com/office/drawing/2014/main" val="1840572194"/>
                  </a:ext>
                </a:extLst>
              </a:tr>
              <a:tr h="354716">
                <a:tc>
                  <a:txBody>
                    <a:bodyPr/>
                    <a:lstStyle/>
                    <a:p>
                      <a:r>
                        <a:rPr lang="en-US" dirty="0"/>
                        <a:t>Normal</a:t>
                      </a:r>
                    </a:p>
                  </a:txBody>
                  <a:tcPr/>
                </a:tc>
                <a:tc>
                  <a:txBody>
                    <a:bodyPr/>
                    <a:lstStyle/>
                    <a:p>
                      <a:r>
                        <a:rPr lang="en-US" dirty="0"/>
                        <a:t>15%</a:t>
                      </a:r>
                    </a:p>
                  </a:txBody>
                  <a:tcPr/>
                </a:tc>
                <a:tc>
                  <a:txBody>
                    <a:bodyPr/>
                    <a:lstStyle/>
                    <a:p>
                      <a:r>
                        <a:rPr lang="en-US" dirty="0"/>
                        <a:t>0.3</a:t>
                      </a:r>
                    </a:p>
                  </a:txBody>
                  <a:tcPr/>
                </a:tc>
                <a:extLst>
                  <a:ext uri="{0D108BD9-81ED-4DB2-BD59-A6C34878D82A}">
                    <a16:rowId xmlns:a16="http://schemas.microsoft.com/office/drawing/2014/main" val="3640883096"/>
                  </a:ext>
                </a:extLst>
              </a:tr>
              <a:tr h="354716">
                <a:tc>
                  <a:txBody>
                    <a:bodyPr/>
                    <a:lstStyle/>
                    <a:p>
                      <a:r>
                        <a:rPr lang="en-US" dirty="0"/>
                        <a:t>Bad</a:t>
                      </a:r>
                    </a:p>
                  </a:txBody>
                  <a:tcPr/>
                </a:tc>
                <a:tc>
                  <a:txBody>
                    <a:bodyPr/>
                    <a:lstStyle/>
                    <a:p>
                      <a:r>
                        <a:rPr lang="en-US" dirty="0"/>
                        <a:t>-5%</a:t>
                      </a:r>
                    </a:p>
                  </a:txBody>
                  <a:tcPr/>
                </a:tc>
                <a:tc>
                  <a:txBody>
                    <a:bodyPr/>
                    <a:lstStyle/>
                    <a:p>
                      <a:r>
                        <a:rPr lang="en-US" dirty="0"/>
                        <a:t>0.3</a:t>
                      </a:r>
                    </a:p>
                  </a:txBody>
                  <a:tcPr/>
                </a:tc>
                <a:extLst>
                  <a:ext uri="{0D108BD9-81ED-4DB2-BD59-A6C34878D82A}">
                    <a16:rowId xmlns:a16="http://schemas.microsoft.com/office/drawing/2014/main" val="468311447"/>
                  </a:ext>
                </a:extLst>
              </a:tr>
            </a:tbl>
          </a:graphicData>
        </a:graphic>
      </p:graphicFrame>
    </p:spTree>
    <p:extLst>
      <p:ext uri="{BB962C8B-B14F-4D97-AF65-F5344CB8AC3E}">
        <p14:creationId xmlns:p14="http://schemas.microsoft.com/office/powerpoint/2010/main" val="106987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400" b="1" dirty="0">
                <a:latin typeface="Arial" panose="020B0604020202020204" pitchFamily="34" charset="0"/>
                <a:cs typeface="Arial" panose="020B0604020202020204" pitchFamily="34" charset="0"/>
              </a:rPr>
              <a:t>Risk-adjusted returns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972800" cy="5502275"/>
          </a:xfrm>
          <a:noFill/>
        </p:spPr>
        <p:txBody>
          <a:bodyPr>
            <a:normAutofit fontScale="92500" lnSpcReduction="10000"/>
          </a:bodyPr>
          <a:lstStyle/>
          <a:p>
            <a:pPr marL="0" indent="0" algn="ctr">
              <a:buNone/>
            </a:pPr>
            <a:r>
              <a:rPr lang="en-US" sz="2400" b="1" i="1" dirty="0">
                <a:latin typeface="Arial" panose="020B0604020202020204" pitchFamily="34" charset="0"/>
                <a:cs typeface="Arial" panose="020B0604020202020204" pitchFamily="34" charset="0"/>
              </a:rPr>
              <a:t>-No risk, No return.</a:t>
            </a:r>
          </a:p>
          <a:p>
            <a:pPr algn="just">
              <a:lnSpc>
                <a:spcPct val="150000"/>
              </a:lnSpc>
            </a:pPr>
            <a:r>
              <a:rPr lang="en-US" sz="2400" dirty="0">
                <a:latin typeface="Arial" panose="020B0604020202020204" pitchFamily="34" charset="0"/>
                <a:cs typeface="Arial" panose="020B0604020202020204" pitchFamily="34" charset="0"/>
              </a:rPr>
              <a:t>A risk-adjusted return is a calculation of the return or profit from an investment that </a:t>
            </a:r>
            <a:r>
              <a:rPr lang="en-US" sz="2400" b="1" dirty="0">
                <a:latin typeface="Arial" panose="020B0604020202020204" pitchFamily="34" charset="0"/>
                <a:cs typeface="Arial" panose="020B0604020202020204" pitchFamily="34" charset="0"/>
              </a:rPr>
              <a:t>takes into account the degree of risk</a:t>
            </a:r>
            <a:r>
              <a:rPr lang="en-US" sz="2400" dirty="0">
                <a:latin typeface="Arial" panose="020B0604020202020204" pitchFamily="34" charset="0"/>
                <a:cs typeface="Arial" panose="020B0604020202020204" pitchFamily="34" charset="0"/>
              </a:rPr>
              <a:t>.</a:t>
            </a:r>
          </a:p>
          <a:p>
            <a:pPr algn="just">
              <a:lnSpc>
                <a:spcPct val="150000"/>
              </a:lnSpc>
            </a:pPr>
            <a:r>
              <a:rPr lang="en-US" sz="2400" dirty="0">
                <a:latin typeface="Arial" panose="020B0604020202020204" pitchFamily="34" charset="0"/>
                <a:cs typeface="Arial" panose="020B0604020202020204" pitchFamily="34" charset="0"/>
              </a:rPr>
              <a:t>The risk-adjusted return measures the profit your investment has made relative to the amount of risk the investment has represented throughout a given period of time. </a:t>
            </a:r>
          </a:p>
          <a:p>
            <a:pPr algn="just">
              <a:lnSpc>
                <a:spcPct val="150000"/>
              </a:lnSpc>
            </a:pPr>
            <a:r>
              <a:rPr lang="en-US" sz="2400" dirty="0">
                <a:latin typeface="Arial" panose="020B0604020202020204" pitchFamily="34" charset="0"/>
                <a:cs typeface="Arial" panose="020B0604020202020204" pitchFamily="34" charset="0"/>
              </a:rPr>
              <a:t>For example, If two or more investments deliver the same return over a given time period, then one that has the lowest risk will have a better risk-adjusted return and vice-versa.</a:t>
            </a:r>
          </a:p>
          <a:p>
            <a:pPr algn="just">
              <a:lnSpc>
                <a:spcPct val="150000"/>
              </a:lnSpc>
            </a:pPr>
            <a:r>
              <a:rPr lang="en-US" sz="2400" dirty="0">
                <a:latin typeface="Arial" panose="020B0604020202020204" pitchFamily="34" charset="0"/>
                <a:cs typeface="Arial" panose="020B0604020202020204" pitchFamily="34" charset="0"/>
              </a:rPr>
              <a:t>Some common risk measures used in investing include </a:t>
            </a:r>
            <a:r>
              <a:rPr lang="en-US" sz="2400" b="1" dirty="0">
                <a:latin typeface="Arial" panose="020B0604020202020204" pitchFamily="34" charset="0"/>
                <a:cs typeface="Arial" panose="020B0604020202020204" pitchFamily="34" charset="0"/>
              </a:rPr>
              <a:t>beta, standard deviation</a:t>
            </a:r>
            <a:r>
              <a:rPr lang="en-US" sz="2400" dirty="0">
                <a:latin typeface="Arial" panose="020B0604020202020204" pitchFamily="34" charset="0"/>
                <a:cs typeface="Arial" panose="020B0604020202020204" pitchFamily="34" charset="0"/>
              </a:rPr>
              <a:t>, etc. </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p:txBody>
          <a:bodyPr/>
          <a:lstStyle/>
          <a:p>
            <a:fld id="{9A6574C6-EAF8-40F7-9181-B4B8ADC2AD82}" type="slidenum">
              <a:rPr lang="en-US" smtClean="0"/>
              <a:t>26</a:t>
            </a:fld>
            <a:endParaRPr lang="en-US"/>
          </a:p>
        </p:txBody>
      </p:sp>
    </p:spTree>
    <p:extLst>
      <p:ext uri="{BB962C8B-B14F-4D97-AF65-F5344CB8AC3E}">
        <p14:creationId xmlns:p14="http://schemas.microsoft.com/office/powerpoint/2010/main" val="3809467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16835" y="327991"/>
            <a:ext cx="10862364" cy="94553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p:sp>
        <p:nvSpPr>
          <p:cNvPr id="4" name="Date Placeholder 3">
            <a:extLst>
              <a:ext uri="{FF2B5EF4-FFF2-40B4-BE49-F238E27FC236}">
                <a16:creationId xmlns:a16="http://schemas.microsoft.com/office/drawing/2014/main" id="{17B27257-E708-07FD-5E31-43EA4B97E559}"/>
              </a:ext>
            </a:extLst>
          </p:cNvPr>
          <p:cNvSpPr>
            <a:spLocks noGrp="1"/>
          </p:cNvSpPr>
          <p:nvPr>
            <p:ph type="dt" sz="half" idx="10"/>
          </p:nvPr>
        </p:nvSpPr>
        <p:spPr>
          <a:xfrm>
            <a:off x="634999" y="6345174"/>
            <a:ext cx="2844800" cy="365125"/>
          </a:xfrm>
        </p:spPr>
        <p:txBody>
          <a:bodyPr/>
          <a:lstStyle/>
          <a:p>
            <a:fld id="{2697B5EA-BD7E-4B21-A69E-0A9BA8E54632}" type="datetime1">
              <a:rPr lang="en-US" smtClean="0"/>
              <a:t>4/7/2026</a:t>
            </a:fld>
            <a:endParaRPr lang="en-US" dirty="0"/>
          </a:p>
        </p:txBody>
      </p:sp>
      <p:sp>
        <p:nvSpPr>
          <p:cNvPr id="5" name="Slide Number Placeholder 4">
            <a:extLst>
              <a:ext uri="{FF2B5EF4-FFF2-40B4-BE49-F238E27FC236}">
                <a16:creationId xmlns:a16="http://schemas.microsoft.com/office/drawing/2014/main" id="{C46BAD3D-DAC0-9BAF-8DA1-44C3E378873C}"/>
              </a:ext>
            </a:extLst>
          </p:cNvPr>
          <p:cNvSpPr>
            <a:spLocks noGrp="1"/>
          </p:cNvSpPr>
          <p:nvPr>
            <p:ph type="sldNum" sz="quarter" idx="12"/>
          </p:nvPr>
        </p:nvSpPr>
        <p:spPr>
          <a:xfrm>
            <a:off x="8762999" y="6345174"/>
            <a:ext cx="2844800" cy="365125"/>
          </a:xfrm>
        </p:spPr>
        <p:txBody>
          <a:bodyPr/>
          <a:lstStyle/>
          <a:p>
            <a:fld id="{9A6574C6-EAF8-40F7-9181-B4B8ADC2AD82}" type="slidenum">
              <a:rPr lang="en-US" smtClean="0"/>
              <a:t>27</a:t>
            </a:fld>
            <a:endParaRPr lang="en-US"/>
          </a:p>
        </p:txBody>
      </p:sp>
      <p:sp>
        <p:nvSpPr>
          <p:cNvPr id="13" name="Rectangle 12">
            <a:extLst>
              <a:ext uri="{FF2B5EF4-FFF2-40B4-BE49-F238E27FC236}">
                <a16:creationId xmlns:a16="http://schemas.microsoft.com/office/drawing/2014/main" id="{543C710E-09E6-A532-FD3A-F72BE30674ED}"/>
              </a:ext>
            </a:extLst>
          </p:cNvPr>
          <p:cNvSpPr/>
          <p:nvPr/>
        </p:nvSpPr>
        <p:spPr>
          <a:xfrm>
            <a:off x="3606799" y="5915392"/>
            <a:ext cx="1378527"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Risk</a:t>
            </a:r>
          </a:p>
        </p:txBody>
      </p:sp>
      <p:sp>
        <p:nvSpPr>
          <p:cNvPr id="14" name="Rectangle 13">
            <a:extLst>
              <a:ext uri="{FF2B5EF4-FFF2-40B4-BE49-F238E27FC236}">
                <a16:creationId xmlns:a16="http://schemas.microsoft.com/office/drawing/2014/main" id="{B4D8D647-ECAF-D73C-7988-3DD7F7B40996}"/>
              </a:ext>
            </a:extLst>
          </p:cNvPr>
          <p:cNvSpPr/>
          <p:nvPr/>
        </p:nvSpPr>
        <p:spPr>
          <a:xfrm>
            <a:off x="381000" y="3657600"/>
            <a:ext cx="965198"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Returns</a:t>
            </a:r>
          </a:p>
        </p:txBody>
      </p:sp>
      <p:sp>
        <p:nvSpPr>
          <p:cNvPr id="17" name="Oval 16">
            <a:extLst>
              <a:ext uri="{FF2B5EF4-FFF2-40B4-BE49-F238E27FC236}">
                <a16:creationId xmlns:a16="http://schemas.microsoft.com/office/drawing/2014/main" id="{F5E9FB49-C83F-72CD-FB3F-9DFFB95C572C}"/>
              </a:ext>
            </a:extLst>
          </p:cNvPr>
          <p:cNvSpPr/>
          <p:nvPr/>
        </p:nvSpPr>
        <p:spPr>
          <a:xfrm flipH="1">
            <a:off x="4284170" y="3075835"/>
            <a:ext cx="122611" cy="1054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B82470D0-5951-9892-328A-4E28629CE8A6}"/>
              </a:ext>
            </a:extLst>
          </p:cNvPr>
          <p:cNvCxnSpPr>
            <a:cxnSpLocks/>
          </p:cNvCxnSpPr>
          <p:nvPr/>
        </p:nvCxnSpPr>
        <p:spPr>
          <a:xfrm flipH="1">
            <a:off x="4309459" y="3136621"/>
            <a:ext cx="26609" cy="234761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C0660EA6-A96D-CD64-68EE-7D5B9F598D25}"/>
              </a:ext>
            </a:extLst>
          </p:cNvPr>
          <p:cNvCxnSpPr>
            <a:cxnSpLocks/>
          </p:cNvCxnSpPr>
          <p:nvPr/>
        </p:nvCxnSpPr>
        <p:spPr>
          <a:xfrm>
            <a:off x="2315554" y="5484231"/>
            <a:ext cx="31962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D0890633-711E-1232-DDF0-2F2CE33A0E05}"/>
              </a:ext>
            </a:extLst>
          </p:cNvPr>
          <p:cNvCxnSpPr>
            <a:cxnSpLocks/>
          </p:cNvCxnSpPr>
          <p:nvPr/>
        </p:nvCxnSpPr>
        <p:spPr>
          <a:xfrm flipV="1">
            <a:off x="2325254" y="2223796"/>
            <a:ext cx="0" cy="32604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2" name="Rectangle 31">
            <a:extLst>
              <a:ext uri="{FF2B5EF4-FFF2-40B4-BE49-F238E27FC236}">
                <a16:creationId xmlns:a16="http://schemas.microsoft.com/office/drawing/2014/main" id="{495E8507-8BF4-57F4-99FF-9128B3F3AF91}"/>
              </a:ext>
            </a:extLst>
          </p:cNvPr>
          <p:cNvSpPr/>
          <p:nvPr/>
        </p:nvSpPr>
        <p:spPr>
          <a:xfrm>
            <a:off x="3997960" y="5580304"/>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10%</a:t>
            </a:r>
            <a:endParaRPr lang="en-US" sz="1100" b="1" dirty="0">
              <a:solidFill>
                <a:schemeClr val="tx1"/>
              </a:solidFill>
            </a:endParaRPr>
          </a:p>
        </p:txBody>
      </p:sp>
      <p:sp>
        <p:nvSpPr>
          <p:cNvPr id="37" name="Rectangle 36">
            <a:extLst>
              <a:ext uri="{FF2B5EF4-FFF2-40B4-BE49-F238E27FC236}">
                <a16:creationId xmlns:a16="http://schemas.microsoft.com/office/drawing/2014/main" id="{975A469B-311C-984A-63EB-76BBA839A847}"/>
              </a:ext>
            </a:extLst>
          </p:cNvPr>
          <p:cNvSpPr/>
          <p:nvPr/>
        </p:nvSpPr>
        <p:spPr>
          <a:xfrm>
            <a:off x="1685635" y="3031214"/>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20%</a:t>
            </a:r>
            <a:endParaRPr lang="en-US" sz="1100" b="1" dirty="0">
              <a:solidFill>
                <a:schemeClr val="tx1"/>
              </a:solidFill>
            </a:endParaRPr>
          </a:p>
        </p:txBody>
      </p:sp>
      <p:sp>
        <p:nvSpPr>
          <p:cNvPr id="38" name="Rectangle 37">
            <a:extLst>
              <a:ext uri="{FF2B5EF4-FFF2-40B4-BE49-F238E27FC236}">
                <a16:creationId xmlns:a16="http://schemas.microsoft.com/office/drawing/2014/main" id="{9F470B81-1895-1830-E33C-55AC9AAC359E}"/>
              </a:ext>
            </a:extLst>
          </p:cNvPr>
          <p:cNvSpPr/>
          <p:nvPr/>
        </p:nvSpPr>
        <p:spPr>
          <a:xfrm>
            <a:off x="1678708" y="3567985"/>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15%</a:t>
            </a:r>
            <a:endParaRPr lang="en-US" sz="1100" b="1" dirty="0">
              <a:solidFill>
                <a:schemeClr val="tx1"/>
              </a:solidFill>
            </a:endParaRPr>
          </a:p>
        </p:txBody>
      </p:sp>
      <p:cxnSp>
        <p:nvCxnSpPr>
          <p:cNvPr id="40" name="Straight Connector 39">
            <a:extLst>
              <a:ext uri="{FF2B5EF4-FFF2-40B4-BE49-F238E27FC236}">
                <a16:creationId xmlns:a16="http://schemas.microsoft.com/office/drawing/2014/main" id="{9084B5C8-4B6D-0FE1-B690-131A0A6468C1}"/>
              </a:ext>
            </a:extLst>
          </p:cNvPr>
          <p:cNvCxnSpPr>
            <a:cxnSpLocks/>
          </p:cNvCxnSpPr>
          <p:nvPr/>
        </p:nvCxnSpPr>
        <p:spPr>
          <a:xfrm flipH="1">
            <a:off x="2334955" y="3681919"/>
            <a:ext cx="1964804" cy="1616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021B7E15-6952-C0EA-99A6-2A3D527AB355}"/>
              </a:ext>
            </a:extLst>
          </p:cNvPr>
          <p:cNvCxnSpPr>
            <a:cxnSpLocks/>
          </p:cNvCxnSpPr>
          <p:nvPr/>
        </p:nvCxnSpPr>
        <p:spPr>
          <a:xfrm flipH="1">
            <a:off x="2357814" y="3120458"/>
            <a:ext cx="1964804" cy="1616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6" name="Oval 45">
            <a:extLst>
              <a:ext uri="{FF2B5EF4-FFF2-40B4-BE49-F238E27FC236}">
                <a16:creationId xmlns:a16="http://schemas.microsoft.com/office/drawing/2014/main" id="{36DE7234-DFA3-149C-6826-D6DE330CB0DA}"/>
              </a:ext>
            </a:extLst>
          </p:cNvPr>
          <p:cNvSpPr/>
          <p:nvPr/>
        </p:nvSpPr>
        <p:spPr>
          <a:xfrm flipH="1">
            <a:off x="4272742" y="3612403"/>
            <a:ext cx="122611" cy="1054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0ED422A5-B852-63FC-1902-C03D9BDD0122}"/>
              </a:ext>
            </a:extLst>
          </p:cNvPr>
          <p:cNvCxnSpPr>
            <a:cxnSpLocks/>
          </p:cNvCxnSpPr>
          <p:nvPr/>
        </p:nvCxnSpPr>
        <p:spPr>
          <a:xfrm flipV="1">
            <a:off x="7317509" y="2223796"/>
            <a:ext cx="0" cy="32604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378A4580-E32A-B43E-0E2D-B247049B17A9}"/>
              </a:ext>
            </a:extLst>
          </p:cNvPr>
          <p:cNvCxnSpPr>
            <a:cxnSpLocks/>
          </p:cNvCxnSpPr>
          <p:nvPr/>
        </p:nvCxnSpPr>
        <p:spPr>
          <a:xfrm>
            <a:off x="7317509" y="5484231"/>
            <a:ext cx="31962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3" name="Oval 52">
            <a:extLst>
              <a:ext uri="{FF2B5EF4-FFF2-40B4-BE49-F238E27FC236}">
                <a16:creationId xmlns:a16="http://schemas.microsoft.com/office/drawing/2014/main" id="{58EEC0D8-CF4D-4AA5-EDEB-765E18DC7EE1}"/>
              </a:ext>
            </a:extLst>
          </p:cNvPr>
          <p:cNvSpPr/>
          <p:nvPr/>
        </p:nvSpPr>
        <p:spPr>
          <a:xfrm flipH="1">
            <a:off x="9220720" y="3579853"/>
            <a:ext cx="122611" cy="1054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46A4008-B445-0FCD-41E7-823ED250CA1D}"/>
              </a:ext>
            </a:extLst>
          </p:cNvPr>
          <p:cNvSpPr/>
          <p:nvPr/>
        </p:nvSpPr>
        <p:spPr>
          <a:xfrm flipH="1">
            <a:off x="9854450" y="3576512"/>
            <a:ext cx="122611" cy="1054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4C252B85-3AA7-69D4-0FAB-8DB5D2C8B938}"/>
              </a:ext>
            </a:extLst>
          </p:cNvPr>
          <p:cNvCxnSpPr>
            <a:cxnSpLocks/>
            <a:stCxn id="54" idx="6"/>
          </p:cNvCxnSpPr>
          <p:nvPr/>
        </p:nvCxnSpPr>
        <p:spPr>
          <a:xfrm flipH="1">
            <a:off x="7318205" y="3629216"/>
            <a:ext cx="2536245" cy="2189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31D26111-C6EC-2FED-1DE6-D727C2071068}"/>
              </a:ext>
            </a:extLst>
          </p:cNvPr>
          <p:cNvCxnSpPr>
            <a:cxnSpLocks/>
          </p:cNvCxnSpPr>
          <p:nvPr/>
        </p:nvCxnSpPr>
        <p:spPr>
          <a:xfrm>
            <a:off x="9282025" y="3629215"/>
            <a:ext cx="9988" cy="185501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5F538B55-534B-06DE-B39B-CDECD79C486B}"/>
              </a:ext>
            </a:extLst>
          </p:cNvPr>
          <p:cNvCxnSpPr>
            <a:cxnSpLocks/>
          </p:cNvCxnSpPr>
          <p:nvPr/>
        </p:nvCxnSpPr>
        <p:spPr>
          <a:xfrm>
            <a:off x="9905767" y="3629215"/>
            <a:ext cx="9988" cy="185501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1" name="Rectangle 60">
            <a:extLst>
              <a:ext uri="{FF2B5EF4-FFF2-40B4-BE49-F238E27FC236}">
                <a16:creationId xmlns:a16="http://schemas.microsoft.com/office/drawing/2014/main" id="{C8194D8A-B724-EE73-5474-AC572A946F8A}"/>
              </a:ext>
            </a:extLst>
          </p:cNvPr>
          <p:cNvSpPr/>
          <p:nvPr/>
        </p:nvSpPr>
        <p:spPr>
          <a:xfrm>
            <a:off x="8854843" y="5870299"/>
            <a:ext cx="1378527"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Risk</a:t>
            </a:r>
          </a:p>
        </p:txBody>
      </p:sp>
      <p:sp>
        <p:nvSpPr>
          <p:cNvPr id="62" name="Rectangle 61">
            <a:extLst>
              <a:ext uri="{FF2B5EF4-FFF2-40B4-BE49-F238E27FC236}">
                <a16:creationId xmlns:a16="http://schemas.microsoft.com/office/drawing/2014/main" id="{73C89B0A-E475-2D70-D5A8-66F080105C84}"/>
              </a:ext>
            </a:extLst>
          </p:cNvPr>
          <p:cNvSpPr/>
          <p:nvPr/>
        </p:nvSpPr>
        <p:spPr>
          <a:xfrm>
            <a:off x="9640973" y="5557080"/>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15%</a:t>
            </a:r>
            <a:endParaRPr lang="en-US" sz="1100" b="1" dirty="0">
              <a:solidFill>
                <a:schemeClr val="tx1"/>
              </a:solidFill>
            </a:endParaRPr>
          </a:p>
        </p:txBody>
      </p:sp>
      <p:sp>
        <p:nvSpPr>
          <p:cNvPr id="63" name="Rectangle 62">
            <a:extLst>
              <a:ext uri="{FF2B5EF4-FFF2-40B4-BE49-F238E27FC236}">
                <a16:creationId xmlns:a16="http://schemas.microsoft.com/office/drawing/2014/main" id="{2C79F278-0BC0-1900-FB3B-DDFEFF855471}"/>
              </a:ext>
            </a:extLst>
          </p:cNvPr>
          <p:cNvSpPr/>
          <p:nvPr/>
        </p:nvSpPr>
        <p:spPr>
          <a:xfrm>
            <a:off x="9007243" y="5561060"/>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10%</a:t>
            </a:r>
            <a:endParaRPr lang="en-US" sz="1100" b="1" dirty="0">
              <a:solidFill>
                <a:schemeClr val="tx1"/>
              </a:solidFill>
            </a:endParaRPr>
          </a:p>
        </p:txBody>
      </p:sp>
      <p:sp>
        <p:nvSpPr>
          <p:cNvPr id="64" name="Rectangle 63">
            <a:extLst>
              <a:ext uri="{FF2B5EF4-FFF2-40B4-BE49-F238E27FC236}">
                <a16:creationId xmlns:a16="http://schemas.microsoft.com/office/drawing/2014/main" id="{D5A9D504-B101-F063-F243-C516C4FBBBED}"/>
              </a:ext>
            </a:extLst>
          </p:cNvPr>
          <p:cNvSpPr/>
          <p:nvPr/>
        </p:nvSpPr>
        <p:spPr>
          <a:xfrm>
            <a:off x="6598226" y="3530928"/>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20%</a:t>
            </a:r>
            <a:endParaRPr lang="en-US" sz="1100" b="1" dirty="0">
              <a:solidFill>
                <a:schemeClr val="tx1"/>
              </a:solidFill>
            </a:endParaRPr>
          </a:p>
        </p:txBody>
      </p:sp>
      <p:sp>
        <p:nvSpPr>
          <p:cNvPr id="65" name="Rectangle 64">
            <a:extLst>
              <a:ext uri="{FF2B5EF4-FFF2-40B4-BE49-F238E27FC236}">
                <a16:creationId xmlns:a16="http://schemas.microsoft.com/office/drawing/2014/main" id="{B28E7DFE-5B80-1E04-3165-2656E337B1AE}"/>
              </a:ext>
            </a:extLst>
          </p:cNvPr>
          <p:cNvSpPr/>
          <p:nvPr/>
        </p:nvSpPr>
        <p:spPr>
          <a:xfrm>
            <a:off x="5817984" y="3983612"/>
            <a:ext cx="965198"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Returns</a:t>
            </a:r>
          </a:p>
        </p:txBody>
      </p:sp>
      <p:sp>
        <p:nvSpPr>
          <p:cNvPr id="66" name="Rectangle 65">
            <a:extLst>
              <a:ext uri="{FF2B5EF4-FFF2-40B4-BE49-F238E27FC236}">
                <a16:creationId xmlns:a16="http://schemas.microsoft.com/office/drawing/2014/main" id="{F74C1B11-FE17-F3F0-F55C-E546028A8414}"/>
              </a:ext>
            </a:extLst>
          </p:cNvPr>
          <p:cNvSpPr/>
          <p:nvPr/>
        </p:nvSpPr>
        <p:spPr>
          <a:xfrm>
            <a:off x="4489427" y="3564587"/>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B</a:t>
            </a:r>
            <a:endParaRPr lang="en-US" sz="1100" b="1" dirty="0">
              <a:solidFill>
                <a:schemeClr val="tx1"/>
              </a:solidFill>
            </a:endParaRPr>
          </a:p>
        </p:txBody>
      </p:sp>
      <p:sp>
        <p:nvSpPr>
          <p:cNvPr id="67" name="Rectangle 66">
            <a:extLst>
              <a:ext uri="{FF2B5EF4-FFF2-40B4-BE49-F238E27FC236}">
                <a16:creationId xmlns:a16="http://schemas.microsoft.com/office/drawing/2014/main" id="{915E691B-52CD-5307-6634-7396DAA099FD}"/>
              </a:ext>
            </a:extLst>
          </p:cNvPr>
          <p:cNvSpPr/>
          <p:nvPr/>
        </p:nvSpPr>
        <p:spPr>
          <a:xfrm>
            <a:off x="4480529" y="3016435"/>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A</a:t>
            </a:r>
            <a:endParaRPr lang="en-US" sz="1100" b="1" dirty="0">
              <a:solidFill>
                <a:schemeClr val="tx1"/>
              </a:solidFill>
            </a:endParaRPr>
          </a:p>
        </p:txBody>
      </p:sp>
      <p:sp>
        <p:nvSpPr>
          <p:cNvPr id="68" name="Rectangle 67">
            <a:extLst>
              <a:ext uri="{FF2B5EF4-FFF2-40B4-BE49-F238E27FC236}">
                <a16:creationId xmlns:a16="http://schemas.microsoft.com/office/drawing/2014/main" id="{27BBE8D6-0210-D625-1E71-620FE036576F}"/>
              </a:ext>
            </a:extLst>
          </p:cNvPr>
          <p:cNvSpPr/>
          <p:nvPr/>
        </p:nvSpPr>
        <p:spPr>
          <a:xfrm>
            <a:off x="8994543" y="3276888"/>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C</a:t>
            </a:r>
            <a:endParaRPr lang="en-US" sz="1100" b="1" dirty="0">
              <a:solidFill>
                <a:schemeClr val="tx1"/>
              </a:solidFill>
            </a:endParaRPr>
          </a:p>
        </p:txBody>
      </p:sp>
      <p:sp>
        <p:nvSpPr>
          <p:cNvPr id="69" name="Rectangle 68">
            <a:extLst>
              <a:ext uri="{FF2B5EF4-FFF2-40B4-BE49-F238E27FC236}">
                <a16:creationId xmlns:a16="http://schemas.microsoft.com/office/drawing/2014/main" id="{802C8A56-5978-F698-4AF3-2C671588C824}"/>
              </a:ext>
            </a:extLst>
          </p:cNvPr>
          <p:cNvSpPr/>
          <p:nvPr/>
        </p:nvSpPr>
        <p:spPr>
          <a:xfrm>
            <a:off x="9977061" y="3276887"/>
            <a:ext cx="549564" cy="240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a:t>
            </a:r>
            <a:endParaRPr lang="en-US" sz="1100" b="1" dirty="0">
              <a:solidFill>
                <a:schemeClr val="tx1"/>
              </a:solidFill>
            </a:endParaRPr>
          </a:p>
        </p:txBody>
      </p:sp>
      <p:cxnSp>
        <p:nvCxnSpPr>
          <p:cNvPr id="71" name="Straight Connector 70">
            <a:extLst>
              <a:ext uri="{FF2B5EF4-FFF2-40B4-BE49-F238E27FC236}">
                <a16:creationId xmlns:a16="http://schemas.microsoft.com/office/drawing/2014/main" id="{64A9EBBB-04E5-075F-CA56-7A70CACAA8CD}"/>
              </a:ext>
            </a:extLst>
          </p:cNvPr>
          <p:cNvCxnSpPr>
            <a:cxnSpLocks/>
          </p:cNvCxnSpPr>
          <p:nvPr/>
        </p:nvCxnSpPr>
        <p:spPr>
          <a:xfrm flipV="1">
            <a:off x="5622635" y="1475878"/>
            <a:ext cx="0" cy="5234420"/>
          </a:xfrm>
          <a:prstGeom prst="line">
            <a:avLst/>
          </a:prstGeom>
        </p:spPr>
        <p:style>
          <a:lnRef idx="3">
            <a:schemeClr val="accent1"/>
          </a:lnRef>
          <a:fillRef idx="0">
            <a:schemeClr val="accent1"/>
          </a:fillRef>
          <a:effectRef idx="2">
            <a:schemeClr val="accent1"/>
          </a:effectRef>
          <a:fontRef idx="minor">
            <a:schemeClr val="tx1"/>
          </a:fontRef>
        </p:style>
      </p:cxnSp>
      <p:sp>
        <p:nvSpPr>
          <p:cNvPr id="6" name="Rectangle 5">
            <a:extLst>
              <a:ext uri="{FF2B5EF4-FFF2-40B4-BE49-F238E27FC236}">
                <a16:creationId xmlns:a16="http://schemas.microsoft.com/office/drawing/2014/main" id="{E87D0F25-C619-FC21-C487-16A05E3B42EE}"/>
              </a:ext>
            </a:extLst>
          </p:cNvPr>
          <p:cNvSpPr/>
          <p:nvPr/>
        </p:nvSpPr>
        <p:spPr>
          <a:xfrm>
            <a:off x="3419648" y="1604771"/>
            <a:ext cx="965198"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Figure 1</a:t>
            </a:r>
          </a:p>
        </p:txBody>
      </p:sp>
      <p:sp>
        <p:nvSpPr>
          <p:cNvPr id="7" name="Rectangle 6">
            <a:extLst>
              <a:ext uri="{FF2B5EF4-FFF2-40B4-BE49-F238E27FC236}">
                <a16:creationId xmlns:a16="http://schemas.microsoft.com/office/drawing/2014/main" id="{25762062-8C5A-7935-3092-BC42CE94980F}"/>
              </a:ext>
            </a:extLst>
          </p:cNvPr>
          <p:cNvSpPr/>
          <p:nvPr/>
        </p:nvSpPr>
        <p:spPr>
          <a:xfrm>
            <a:off x="8591609" y="1647950"/>
            <a:ext cx="965198" cy="341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Figure 2</a:t>
            </a:r>
          </a:p>
        </p:txBody>
      </p:sp>
      <p:sp>
        <p:nvSpPr>
          <p:cNvPr id="3" name="Rectangle 2">
            <a:extLst>
              <a:ext uri="{FF2B5EF4-FFF2-40B4-BE49-F238E27FC236}">
                <a16:creationId xmlns:a16="http://schemas.microsoft.com/office/drawing/2014/main" id="{DC2E4265-7D24-71D4-F41C-00E9003EABAD}"/>
              </a:ext>
            </a:extLst>
          </p:cNvPr>
          <p:cNvSpPr/>
          <p:nvPr/>
        </p:nvSpPr>
        <p:spPr>
          <a:xfrm>
            <a:off x="434985" y="1987168"/>
            <a:ext cx="1637703" cy="341741"/>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A better than B</a:t>
            </a:r>
          </a:p>
        </p:txBody>
      </p:sp>
      <p:sp>
        <p:nvSpPr>
          <p:cNvPr id="8" name="Rectangle 7">
            <a:extLst>
              <a:ext uri="{FF2B5EF4-FFF2-40B4-BE49-F238E27FC236}">
                <a16:creationId xmlns:a16="http://schemas.microsoft.com/office/drawing/2014/main" id="{59270E6E-55A2-47C1-0EB3-ABBB2424F2E4}"/>
              </a:ext>
            </a:extLst>
          </p:cNvPr>
          <p:cNvSpPr/>
          <p:nvPr/>
        </p:nvSpPr>
        <p:spPr>
          <a:xfrm>
            <a:off x="10251843" y="2035628"/>
            <a:ext cx="1628428" cy="341741"/>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C better than D</a:t>
            </a:r>
          </a:p>
        </p:txBody>
      </p:sp>
    </p:spTree>
    <p:extLst>
      <p:ext uri="{BB962C8B-B14F-4D97-AF65-F5344CB8AC3E}">
        <p14:creationId xmlns:p14="http://schemas.microsoft.com/office/powerpoint/2010/main" val="3498503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457200"/>
            <a:ext cx="10972800" cy="798044"/>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524000"/>
            <a:ext cx="10744200" cy="5246255"/>
          </a:xfrm>
          <a:noFill/>
        </p:spPr>
        <p:txBody>
          <a:bodyPr>
            <a:normAutofit/>
          </a:bodyPr>
          <a:lstStyle/>
          <a:p>
            <a:pPr marL="0" indent="0">
              <a:buNone/>
            </a:pPr>
            <a:r>
              <a:rPr lang="en-US" sz="2400" dirty="0">
                <a:latin typeface="Arial" panose="020B0604020202020204" pitchFamily="34" charset="0"/>
                <a:cs typeface="Arial" panose="020B0604020202020204" pitchFamily="34" charset="0"/>
              </a:rPr>
              <a:t>Some of the popular risk-adjusted measures are:</a:t>
            </a:r>
          </a:p>
        </p:txBody>
      </p:sp>
      <p:sp>
        <p:nvSpPr>
          <p:cNvPr id="4" name="Date Placeholder 3">
            <a:extLst>
              <a:ext uri="{FF2B5EF4-FFF2-40B4-BE49-F238E27FC236}">
                <a16:creationId xmlns:a16="http://schemas.microsoft.com/office/drawing/2014/main" id="{66095953-8823-3BBB-4F92-632027B903F9}"/>
              </a:ext>
            </a:extLst>
          </p:cNvPr>
          <p:cNvSpPr>
            <a:spLocks noGrp="1"/>
          </p:cNvSpPr>
          <p:nvPr>
            <p:ph type="dt" sz="half" idx="10"/>
          </p:nvPr>
        </p:nvSpPr>
        <p:spPr/>
        <p:txBody>
          <a:bodyPr/>
          <a:lstStyle/>
          <a:p>
            <a:fld id="{44E80842-0CCA-478A-B7AC-AF2BB5CD1E0A}" type="datetime1">
              <a:rPr lang="en-US" smtClean="0"/>
              <a:t>4/7/2026</a:t>
            </a:fld>
            <a:endParaRPr lang="en-US"/>
          </a:p>
        </p:txBody>
      </p:sp>
      <p:sp>
        <p:nvSpPr>
          <p:cNvPr id="5" name="Slide Number Placeholder 4">
            <a:extLst>
              <a:ext uri="{FF2B5EF4-FFF2-40B4-BE49-F238E27FC236}">
                <a16:creationId xmlns:a16="http://schemas.microsoft.com/office/drawing/2014/main" id="{BF9B17B2-E805-8B7C-AFB1-04D796C61527}"/>
              </a:ext>
            </a:extLst>
          </p:cNvPr>
          <p:cNvSpPr>
            <a:spLocks noGrp="1"/>
          </p:cNvSpPr>
          <p:nvPr>
            <p:ph type="sldNum" sz="quarter" idx="12"/>
          </p:nvPr>
        </p:nvSpPr>
        <p:spPr/>
        <p:txBody>
          <a:bodyPr/>
          <a:lstStyle/>
          <a:p>
            <a:fld id="{9A6574C6-EAF8-40F7-9181-B4B8ADC2AD82}" type="slidenum">
              <a:rPr lang="en-US" smtClean="0"/>
              <a:t>28</a:t>
            </a:fld>
            <a:endParaRPr lang="en-US"/>
          </a:p>
        </p:txBody>
      </p:sp>
      <p:graphicFrame>
        <p:nvGraphicFramePr>
          <p:cNvPr id="6" name="Diagram 5">
            <a:extLst>
              <a:ext uri="{FF2B5EF4-FFF2-40B4-BE49-F238E27FC236}">
                <a16:creationId xmlns:a16="http://schemas.microsoft.com/office/drawing/2014/main" id="{909063F6-982E-9E45-2B6D-996FB00B83CB}"/>
              </a:ext>
            </a:extLst>
          </p:cNvPr>
          <p:cNvGraphicFramePr/>
          <p:nvPr>
            <p:extLst>
              <p:ext uri="{D42A27DB-BD31-4B8C-83A1-F6EECF244321}">
                <p14:modId xmlns:p14="http://schemas.microsoft.com/office/powerpoint/2010/main" val="3891173904"/>
              </p:ext>
            </p:extLst>
          </p:nvPr>
        </p:nvGraphicFramePr>
        <p:xfrm>
          <a:off x="2032000" y="2447636"/>
          <a:ext cx="7472218" cy="36906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5568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6D34B-DC21-C1C9-97A4-54631165FA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4A9C96D-F9A6-8B2F-2503-874A0CE4CA88}"/>
              </a:ext>
            </a:extLst>
          </p:cNvPr>
          <p:cNvSpPr>
            <a:spLocks noGrp="1"/>
          </p:cNvSpPr>
          <p:nvPr>
            <p:ph type="dt" sz="half" idx="10"/>
          </p:nvPr>
        </p:nvSpPr>
        <p:spPr/>
        <p:txBody>
          <a:bodyPr/>
          <a:lstStyle/>
          <a:p>
            <a:fld id="{2697B5EA-BD7E-4B21-A69E-0A9BA8E54632}" type="datetime1">
              <a:rPr lang="en-US" smtClean="0"/>
              <a:t>4/7/2026</a:t>
            </a:fld>
            <a:endParaRPr lang="en-US"/>
          </a:p>
        </p:txBody>
      </p:sp>
      <p:sp>
        <p:nvSpPr>
          <p:cNvPr id="5" name="Slide Number Placeholder 4">
            <a:extLst>
              <a:ext uri="{FF2B5EF4-FFF2-40B4-BE49-F238E27FC236}">
                <a16:creationId xmlns:a16="http://schemas.microsoft.com/office/drawing/2014/main" id="{577A036F-DFBE-169D-A5B5-DEA84E5123A8}"/>
              </a:ext>
            </a:extLst>
          </p:cNvPr>
          <p:cNvSpPr>
            <a:spLocks noGrp="1"/>
          </p:cNvSpPr>
          <p:nvPr>
            <p:ph type="sldNum" sz="quarter" idx="12"/>
          </p:nvPr>
        </p:nvSpPr>
        <p:spPr/>
        <p:txBody>
          <a:bodyPr/>
          <a:lstStyle/>
          <a:p>
            <a:fld id="{9A6574C6-EAF8-40F7-9181-B4B8ADC2AD82}" type="slidenum">
              <a:rPr lang="en-US" smtClean="0"/>
              <a:t>29</a:t>
            </a:fld>
            <a:endParaRPr lang="en-US"/>
          </a:p>
        </p:txBody>
      </p:sp>
      <p:pic>
        <p:nvPicPr>
          <p:cNvPr id="1026" name="Picture 2" descr="Stocks, Bonds, Bills, and Inflation since 1926 – ISABELNET">
            <a:extLst>
              <a:ext uri="{FF2B5EF4-FFF2-40B4-BE49-F238E27FC236}">
                <a16:creationId xmlns:a16="http://schemas.microsoft.com/office/drawing/2014/main" id="{3CD2AD12-D7ED-4062-3FD5-173B1A063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36524"/>
            <a:ext cx="9677400" cy="658495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039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74578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7543800" cy="5257801"/>
          </a:xfrm>
          <a:noFill/>
        </p:spPr>
        <p:txBody>
          <a:bodyPr>
            <a:normAutofit fontScale="92500" lnSpcReduction="20000"/>
          </a:bodyPr>
          <a:lstStyle/>
          <a:p>
            <a:pPr algn="just">
              <a:lnSpc>
                <a:spcPct val="150000"/>
              </a:lnSpc>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total variability in returns </a:t>
            </a:r>
            <a:r>
              <a:rPr lang="en-US" sz="2400" dirty="0">
                <a:latin typeface="Arial" panose="020B0604020202020204" pitchFamily="34" charset="0"/>
                <a:cs typeface="Arial" panose="020B0604020202020204" pitchFamily="34" charset="0"/>
              </a:rPr>
              <a:t>of a security represents the total risk of that security. </a:t>
            </a:r>
          </a:p>
          <a:p>
            <a:pPr algn="just">
              <a:lnSpc>
                <a:spcPct val="150000"/>
              </a:lnSpc>
            </a:pPr>
            <a:r>
              <a:rPr lang="en-US" sz="2400" dirty="0">
                <a:latin typeface="Arial" panose="020B0604020202020204" pitchFamily="34" charset="0"/>
                <a:cs typeface="Arial" panose="020B0604020202020204" pitchFamily="34" charset="0"/>
              </a:rPr>
              <a:t>Systematic risk and unsystematic risk are the two components of total risk. </a:t>
            </a:r>
          </a:p>
          <a:p>
            <a:pPr>
              <a:lnSpc>
                <a:spcPct val="150000"/>
              </a:lnSpc>
            </a:pPr>
            <a:r>
              <a:rPr lang="en-US" sz="2400" dirty="0">
                <a:latin typeface="Arial" panose="020B0604020202020204" pitchFamily="34" charset="0"/>
                <a:cs typeface="Arial" panose="020B0604020202020204" pitchFamily="34" charset="0"/>
              </a:rPr>
              <a:t>However, in financial management, risk relates to any material loss attached to the project that may affect the productivity, tenure, legal issues, etc. of the project.</a:t>
            </a:r>
          </a:p>
          <a:p>
            <a:pPr>
              <a:lnSpc>
                <a:spcPct val="150000"/>
              </a:lnSpc>
            </a:pPr>
            <a:r>
              <a:rPr lang="en-US" sz="2400" dirty="0">
                <a:latin typeface="Arial" panose="020B0604020202020204" pitchFamily="34" charset="0"/>
                <a:cs typeface="Arial" panose="020B0604020202020204" pitchFamily="34" charset="0"/>
              </a:rPr>
              <a:t>In finance, different types of risk can be classified under two main groups.</a:t>
            </a:r>
          </a:p>
          <a:p>
            <a:pPr algn="just">
              <a:lnSpc>
                <a:spcPct val="150000"/>
              </a:lnSpc>
            </a:pPr>
            <a:r>
              <a:rPr lang="en-US" sz="2400" dirty="0">
                <a:latin typeface="Arial" panose="020B0604020202020204" pitchFamily="34" charset="0"/>
                <a:cs typeface="Arial" panose="020B0604020202020204" pitchFamily="34" charset="0"/>
              </a:rPr>
              <a:t>Total risk </a:t>
            </a:r>
          </a:p>
          <a:p>
            <a:pPr algn="just">
              <a:lnSpc>
                <a:spcPct val="150000"/>
              </a:lnSpc>
              <a:buNone/>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 = Systematic risk  + Unsystematic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30</a:t>
            </a:fld>
            <a:endParaRPr lang="en-US"/>
          </a:p>
        </p:txBody>
      </p:sp>
      <p:pic>
        <p:nvPicPr>
          <p:cNvPr id="7" name="Picture 6">
            <a:extLst>
              <a:ext uri="{FF2B5EF4-FFF2-40B4-BE49-F238E27FC236}">
                <a16:creationId xmlns:a16="http://schemas.microsoft.com/office/drawing/2014/main" id="{83E44503-6849-87EE-D188-9CB462BB7E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9600" y="2198550"/>
            <a:ext cx="3534959" cy="3733800"/>
          </a:xfrm>
          <a:prstGeom prst="rect">
            <a:avLst/>
          </a:prstGeom>
        </p:spPr>
      </p:pic>
    </p:spTree>
    <p:extLst>
      <p:ext uri="{BB962C8B-B14F-4D97-AF65-F5344CB8AC3E}">
        <p14:creationId xmlns:p14="http://schemas.microsoft.com/office/powerpoint/2010/main" val="1064870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7457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Measurement of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066800"/>
            <a:ext cx="10745821" cy="5289551"/>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Risk is defined as the variability in expected returns. </a:t>
            </a:r>
          </a:p>
          <a:p>
            <a:pPr algn="just">
              <a:lnSpc>
                <a:spcPct val="150000"/>
              </a:lnSpc>
            </a:pPr>
            <a:r>
              <a:rPr lang="en-US" sz="2400" dirty="0">
                <a:latin typeface="Arial" panose="020B0604020202020204" pitchFamily="34" charset="0"/>
                <a:cs typeface="Arial" panose="020B0604020202020204" pitchFamily="34" charset="0"/>
              </a:rPr>
              <a:t>Therefore total risk on a security can be measured by using statistical methods of measuring variability or dispersion such as:</a:t>
            </a:r>
          </a:p>
          <a:p>
            <a:pPr lvl="1" algn="just">
              <a:lnSpc>
                <a:spcPct val="150000"/>
              </a:lnSpc>
            </a:pPr>
            <a:r>
              <a:rPr lang="en-US" sz="2400" dirty="0">
                <a:latin typeface="Arial" panose="020B0604020202020204" pitchFamily="34" charset="0"/>
                <a:cs typeface="Arial" panose="020B0604020202020204" pitchFamily="34" charset="0"/>
              </a:rPr>
              <a:t>Range, </a:t>
            </a:r>
          </a:p>
          <a:p>
            <a:pPr lvl="1" algn="just">
              <a:lnSpc>
                <a:spcPct val="150000"/>
              </a:lnSpc>
            </a:pPr>
            <a:r>
              <a:rPr lang="en-US" sz="2400" dirty="0">
                <a:latin typeface="Arial" panose="020B0604020202020204" pitchFamily="34" charset="0"/>
                <a:cs typeface="Arial" panose="020B0604020202020204" pitchFamily="34" charset="0"/>
              </a:rPr>
              <a:t>Standard Deviation (S.D) or Variance. </a:t>
            </a:r>
          </a:p>
          <a:p>
            <a:pPr lvl="1" algn="just">
              <a:lnSpc>
                <a:spcPct val="150000"/>
              </a:lnSpc>
            </a:pPr>
            <a:r>
              <a:rPr lang="en-US" sz="2400" dirty="0">
                <a:latin typeface="Arial" panose="020B0604020202020204" pitchFamily="34" charset="0"/>
                <a:cs typeface="Arial" panose="020B0604020202020204" pitchFamily="34" charset="0"/>
              </a:rPr>
              <a:t>Coefficient of Variation</a:t>
            </a:r>
          </a:p>
          <a:p>
            <a:pPr algn="just">
              <a:lnSpc>
                <a:spcPct val="90000"/>
              </a:lnSpc>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31</a:t>
            </a:fld>
            <a:endParaRPr lang="en-US"/>
          </a:p>
        </p:txBody>
      </p:sp>
    </p:spTree>
    <p:extLst>
      <p:ext uri="{BB962C8B-B14F-4D97-AF65-F5344CB8AC3E}">
        <p14:creationId xmlns:p14="http://schemas.microsoft.com/office/powerpoint/2010/main" val="3247039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7457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Measurement of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066800"/>
            <a:ext cx="10745821" cy="5289551"/>
          </a:xfrm>
          <a:noFill/>
        </p:spPr>
        <p:txBody>
          <a:bodyPr>
            <a:normAutofit/>
          </a:bodyPr>
          <a:lstStyle/>
          <a:p>
            <a:pPr marL="0" indent="0" algn="just">
              <a:lnSpc>
                <a:spcPct val="150000"/>
              </a:lnSpc>
              <a:buNone/>
            </a:pPr>
            <a:r>
              <a:rPr lang="en-US" sz="2400" b="1" u="sng" dirty="0">
                <a:latin typeface="Arial" panose="020B0604020202020204" pitchFamily="34" charset="0"/>
                <a:cs typeface="Arial" panose="020B0604020202020204" pitchFamily="34" charset="0"/>
              </a:rPr>
              <a:t>Range as Risk</a:t>
            </a:r>
          </a:p>
          <a:p>
            <a:pPr algn="just">
              <a:lnSpc>
                <a:spcPct val="150000"/>
              </a:lnSpc>
            </a:pPr>
            <a:r>
              <a:rPr lang="en-US" sz="2400" dirty="0">
                <a:latin typeface="Arial" panose="020B0604020202020204" pitchFamily="34" charset="0"/>
                <a:cs typeface="Arial" panose="020B0604020202020204" pitchFamily="34" charset="0"/>
              </a:rPr>
              <a:t>Range is the difference between highest and lowest possible return in case of an investment. </a:t>
            </a:r>
          </a:p>
          <a:p>
            <a:pPr algn="just">
              <a:lnSpc>
                <a:spcPct val="150000"/>
              </a:lnSpc>
            </a:pPr>
            <a:r>
              <a:rPr lang="en-US" sz="2400" dirty="0">
                <a:latin typeface="Arial" panose="020B0604020202020204" pitchFamily="34" charset="0"/>
                <a:cs typeface="Arial" panose="020B0604020202020204" pitchFamily="34" charset="0"/>
              </a:rPr>
              <a:t>The higher the Range the greater will be the dispersion and higher will be the risk. </a:t>
            </a:r>
          </a:p>
          <a:p>
            <a:pPr algn="just">
              <a:lnSpc>
                <a:spcPct val="150000"/>
              </a:lnSpc>
            </a:pPr>
            <a:r>
              <a:rPr lang="en-US" sz="2400" dirty="0">
                <a:latin typeface="Arial" panose="020B0604020202020204" pitchFamily="34" charset="0"/>
                <a:cs typeface="Arial" panose="020B0604020202020204" pitchFamily="34" charset="0"/>
              </a:rPr>
              <a:t>This may not be a good measure of risk because it does not provide a single estimate of Risk. </a:t>
            </a:r>
          </a:p>
          <a:p>
            <a:pPr algn="just">
              <a:lnSpc>
                <a:spcPct val="90000"/>
              </a:lnSpc>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32</a:t>
            </a:fld>
            <a:endParaRPr lang="en-US"/>
          </a:p>
        </p:txBody>
      </p:sp>
    </p:spTree>
    <p:extLst>
      <p:ext uri="{BB962C8B-B14F-4D97-AF65-F5344CB8AC3E}">
        <p14:creationId xmlns:p14="http://schemas.microsoft.com/office/powerpoint/2010/main" val="3476319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785190" y="298174"/>
            <a:ext cx="10797209" cy="692426"/>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Range as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785190" y="1143000"/>
            <a:ext cx="10492410" cy="5191295"/>
          </a:xfrm>
          <a:noFill/>
        </p:spPr>
        <p:txBody>
          <a:bodyPr>
            <a:normAutofit/>
          </a:bodyPr>
          <a:lstStyle/>
          <a:p>
            <a:pPr marL="0" indent="0" algn="just">
              <a:lnSpc>
                <a:spcPct val="90000"/>
              </a:lnSpc>
              <a:buNone/>
            </a:pPr>
            <a:r>
              <a:rPr lang="en-US" sz="2400" b="1" u="sng" dirty="0">
                <a:latin typeface="Arial" panose="020B0604020202020204" pitchFamily="34" charset="0"/>
                <a:cs typeface="Arial" panose="020B0604020202020204" pitchFamily="34" charset="0"/>
              </a:rPr>
              <a:t>Question</a:t>
            </a:r>
          </a:p>
          <a:p>
            <a:pPr algn="just">
              <a:lnSpc>
                <a:spcPct val="90000"/>
              </a:lnSpc>
            </a:pPr>
            <a:r>
              <a:rPr lang="en-US" sz="2400" dirty="0">
                <a:latin typeface="Arial" panose="020B0604020202020204" pitchFamily="34" charset="0"/>
                <a:cs typeface="Arial" panose="020B0604020202020204" pitchFamily="34" charset="0"/>
              </a:rPr>
              <a:t>Calculate range of returns of the security for which past returns are given below</a:t>
            </a:r>
          </a:p>
          <a:p>
            <a:pPr algn="just">
              <a:lnSpc>
                <a:spcPct val="90000"/>
              </a:lnSpc>
            </a:pPr>
            <a:endParaRPr lang="en-US" sz="2400" dirty="0">
              <a:latin typeface="Arial" panose="020B0604020202020204" pitchFamily="34" charset="0"/>
              <a:cs typeface="Arial" panose="020B0604020202020204" pitchFamily="34" charset="0"/>
            </a:endParaRPr>
          </a:p>
          <a:p>
            <a:pPr marL="0" indent="0" algn="just">
              <a:lnSpc>
                <a:spcPct val="90000"/>
              </a:lnSpc>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33</a:t>
            </a:fld>
            <a:endParaRPr lang="en-US"/>
          </a:p>
        </p:txBody>
      </p:sp>
      <p:graphicFrame>
        <p:nvGraphicFramePr>
          <p:cNvPr id="8" name="Table 8">
            <a:extLst>
              <a:ext uri="{FF2B5EF4-FFF2-40B4-BE49-F238E27FC236}">
                <a16:creationId xmlns:a16="http://schemas.microsoft.com/office/drawing/2014/main" id="{2F0C609E-51A3-E703-31B8-1DC974E17D12}"/>
              </a:ext>
            </a:extLst>
          </p:cNvPr>
          <p:cNvGraphicFramePr>
            <a:graphicFrameLocks noGrp="1"/>
          </p:cNvGraphicFramePr>
          <p:nvPr>
            <p:extLst>
              <p:ext uri="{D42A27DB-BD31-4B8C-83A1-F6EECF244321}">
                <p14:modId xmlns:p14="http://schemas.microsoft.com/office/powerpoint/2010/main" val="2334190822"/>
              </p:ext>
            </p:extLst>
          </p:nvPr>
        </p:nvGraphicFramePr>
        <p:xfrm>
          <a:off x="1955800" y="2319873"/>
          <a:ext cx="8128000" cy="43586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34103369"/>
                    </a:ext>
                  </a:extLst>
                </a:gridCol>
                <a:gridCol w="4064000">
                  <a:extLst>
                    <a:ext uri="{9D8B030D-6E8A-4147-A177-3AD203B41FA5}">
                      <a16:colId xmlns:a16="http://schemas.microsoft.com/office/drawing/2014/main" val="4064087187"/>
                    </a:ext>
                  </a:extLst>
                </a:gridCol>
              </a:tblGrid>
              <a:tr h="357139">
                <a:tc>
                  <a:txBody>
                    <a:bodyPr/>
                    <a:lstStyle/>
                    <a:p>
                      <a:pPr algn="ctr"/>
                      <a:r>
                        <a:rPr lang="en-US" sz="2000" dirty="0">
                          <a:latin typeface="Arial" panose="020B0604020202020204" pitchFamily="34" charset="0"/>
                          <a:cs typeface="Arial" panose="020B0604020202020204" pitchFamily="34" charset="0"/>
                        </a:rPr>
                        <a:t>Year</a:t>
                      </a:r>
                    </a:p>
                  </a:txBody>
                  <a:tcPr/>
                </a:tc>
                <a:tc>
                  <a:txBody>
                    <a:bodyPr/>
                    <a:lstStyle/>
                    <a:p>
                      <a:pPr algn="ctr"/>
                      <a:r>
                        <a:rPr lang="en-US" sz="2000" dirty="0">
                          <a:latin typeface="Arial" panose="020B0604020202020204" pitchFamily="34" charset="0"/>
                          <a:cs typeface="Arial" panose="020B0604020202020204" pitchFamily="34" charset="0"/>
                        </a:rPr>
                        <a:t>Returns (%)</a:t>
                      </a:r>
                    </a:p>
                  </a:txBody>
                  <a:tcPr/>
                </a:tc>
                <a:extLst>
                  <a:ext uri="{0D108BD9-81ED-4DB2-BD59-A6C34878D82A}">
                    <a16:rowId xmlns:a16="http://schemas.microsoft.com/office/drawing/2014/main" val="1649956803"/>
                  </a:ext>
                </a:extLst>
              </a:tr>
              <a:tr h="357139">
                <a:tc>
                  <a:txBody>
                    <a:bodyPr/>
                    <a:lstStyle/>
                    <a:p>
                      <a:pPr algn="ctr"/>
                      <a:r>
                        <a:rPr lang="en-US" sz="2000" dirty="0">
                          <a:latin typeface="Arial" panose="020B0604020202020204" pitchFamily="34" charset="0"/>
                          <a:cs typeface="Arial" panose="020B0604020202020204" pitchFamily="34" charset="0"/>
                        </a:rPr>
                        <a:t>1</a:t>
                      </a:r>
                    </a:p>
                  </a:txBody>
                  <a:tcPr/>
                </a:tc>
                <a:tc>
                  <a:txBody>
                    <a:bodyPr/>
                    <a:lstStyle/>
                    <a:p>
                      <a:pPr algn="ctr"/>
                      <a:r>
                        <a:rPr lang="en-US" sz="2000" dirty="0">
                          <a:latin typeface="Arial" panose="020B0604020202020204" pitchFamily="34" charset="0"/>
                          <a:cs typeface="Arial" panose="020B0604020202020204" pitchFamily="34" charset="0"/>
                        </a:rPr>
                        <a:t>10</a:t>
                      </a:r>
                    </a:p>
                  </a:txBody>
                  <a:tcPr/>
                </a:tc>
                <a:extLst>
                  <a:ext uri="{0D108BD9-81ED-4DB2-BD59-A6C34878D82A}">
                    <a16:rowId xmlns:a16="http://schemas.microsoft.com/office/drawing/2014/main" val="2864438922"/>
                  </a:ext>
                </a:extLst>
              </a:tr>
              <a:tr h="357139">
                <a:tc>
                  <a:txBody>
                    <a:bodyPr/>
                    <a:lstStyle/>
                    <a:p>
                      <a:pPr algn="ctr"/>
                      <a:r>
                        <a:rPr lang="en-US" sz="2000" dirty="0">
                          <a:latin typeface="Arial" panose="020B0604020202020204" pitchFamily="34" charset="0"/>
                          <a:cs typeface="Arial" panose="020B0604020202020204" pitchFamily="34" charset="0"/>
                        </a:rPr>
                        <a:t>2</a:t>
                      </a:r>
                    </a:p>
                  </a:txBody>
                  <a:tcPr/>
                </a:tc>
                <a:tc>
                  <a:txBody>
                    <a:bodyPr/>
                    <a:lstStyle/>
                    <a:p>
                      <a:pPr algn="ctr"/>
                      <a:r>
                        <a:rPr lang="en-US" sz="2000" dirty="0">
                          <a:latin typeface="Arial" panose="020B0604020202020204" pitchFamily="34" charset="0"/>
                          <a:cs typeface="Arial" panose="020B0604020202020204" pitchFamily="34" charset="0"/>
                        </a:rPr>
                        <a:t>12</a:t>
                      </a:r>
                    </a:p>
                  </a:txBody>
                  <a:tcPr/>
                </a:tc>
                <a:extLst>
                  <a:ext uri="{0D108BD9-81ED-4DB2-BD59-A6C34878D82A}">
                    <a16:rowId xmlns:a16="http://schemas.microsoft.com/office/drawing/2014/main" val="2755582174"/>
                  </a:ext>
                </a:extLst>
              </a:tr>
              <a:tr h="357139">
                <a:tc>
                  <a:txBody>
                    <a:bodyPr/>
                    <a:lstStyle/>
                    <a:p>
                      <a:pPr algn="ctr"/>
                      <a:r>
                        <a:rPr lang="en-US" sz="2000" dirty="0">
                          <a:latin typeface="Arial" panose="020B0604020202020204" pitchFamily="34" charset="0"/>
                          <a:cs typeface="Arial" panose="020B0604020202020204" pitchFamily="34" charset="0"/>
                        </a:rPr>
                        <a:t>3</a:t>
                      </a:r>
                    </a:p>
                  </a:txBody>
                  <a:tcPr/>
                </a:tc>
                <a:tc>
                  <a:txBody>
                    <a:bodyPr/>
                    <a:lstStyle/>
                    <a:p>
                      <a:pPr algn="ctr"/>
                      <a:r>
                        <a:rPr lang="en-US" sz="2000" dirty="0">
                          <a:latin typeface="Arial" panose="020B0604020202020204" pitchFamily="34" charset="0"/>
                          <a:cs typeface="Arial" panose="020B0604020202020204" pitchFamily="34" charset="0"/>
                        </a:rPr>
                        <a:t>8</a:t>
                      </a:r>
                    </a:p>
                  </a:txBody>
                  <a:tcPr/>
                </a:tc>
                <a:extLst>
                  <a:ext uri="{0D108BD9-81ED-4DB2-BD59-A6C34878D82A}">
                    <a16:rowId xmlns:a16="http://schemas.microsoft.com/office/drawing/2014/main" val="2070300824"/>
                  </a:ext>
                </a:extLst>
              </a:tr>
              <a:tr h="357139">
                <a:tc>
                  <a:txBody>
                    <a:bodyPr/>
                    <a:lstStyle/>
                    <a:p>
                      <a:pPr algn="ctr"/>
                      <a:r>
                        <a:rPr lang="en-US" sz="2000" dirty="0">
                          <a:latin typeface="Arial" panose="020B0604020202020204" pitchFamily="34" charset="0"/>
                          <a:cs typeface="Arial" panose="020B0604020202020204" pitchFamily="34" charset="0"/>
                        </a:rPr>
                        <a:t>4</a:t>
                      </a:r>
                    </a:p>
                  </a:txBody>
                  <a:tcPr/>
                </a:tc>
                <a:tc>
                  <a:txBody>
                    <a:bodyPr/>
                    <a:lstStyle/>
                    <a:p>
                      <a:pPr algn="ctr"/>
                      <a:r>
                        <a:rPr lang="en-US" sz="2000" dirty="0">
                          <a:latin typeface="Arial" panose="020B0604020202020204" pitchFamily="34" charset="0"/>
                          <a:cs typeface="Arial" panose="020B0604020202020204" pitchFamily="34" charset="0"/>
                        </a:rPr>
                        <a:t>5</a:t>
                      </a:r>
                    </a:p>
                  </a:txBody>
                  <a:tcPr/>
                </a:tc>
                <a:extLst>
                  <a:ext uri="{0D108BD9-81ED-4DB2-BD59-A6C34878D82A}">
                    <a16:rowId xmlns:a16="http://schemas.microsoft.com/office/drawing/2014/main" val="962979411"/>
                  </a:ext>
                </a:extLst>
              </a:tr>
              <a:tr h="357139">
                <a:tc>
                  <a:txBody>
                    <a:bodyPr/>
                    <a:lstStyle/>
                    <a:p>
                      <a:pPr algn="ctr"/>
                      <a:r>
                        <a:rPr lang="en-US" sz="2000" dirty="0">
                          <a:latin typeface="Arial" panose="020B0604020202020204" pitchFamily="34" charset="0"/>
                          <a:cs typeface="Arial" panose="020B0604020202020204" pitchFamily="34" charset="0"/>
                        </a:rPr>
                        <a:t>5</a:t>
                      </a:r>
                    </a:p>
                  </a:txBody>
                  <a:tcPr/>
                </a:tc>
                <a:tc>
                  <a:txBody>
                    <a:bodyPr/>
                    <a:lstStyle/>
                    <a:p>
                      <a:pPr algn="ctr"/>
                      <a:r>
                        <a:rPr lang="en-US" sz="2000" dirty="0">
                          <a:latin typeface="Arial" panose="020B0604020202020204" pitchFamily="34" charset="0"/>
                          <a:cs typeface="Arial" panose="020B0604020202020204" pitchFamily="34" charset="0"/>
                        </a:rPr>
                        <a:t>10</a:t>
                      </a:r>
                    </a:p>
                  </a:txBody>
                  <a:tcPr/>
                </a:tc>
                <a:extLst>
                  <a:ext uri="{0D108BD9-81ED-4DB2-BD59-A6C34878D82A}">
                    <a16:rowId xmlns:a16="http://schemas.microsoft.com/office/drawing/2014/main" val="4007197487"/>
                  </a:ext>
                </a:extLst>
              </a:tr>
              <a:tr h="357139">
                <a:tc>
                  <a:txBody>
                    <a:bodyPr/>
                    <a:lstStyle/>
                    <a:p>
                      <a:pPr algn="ctr"/>
                      <a:r>
                        <a:rPr lang="en-US" sz="2000" dirty="0">
                          <a:latin typeface="Arial" panose="020B0604020202020204" pitchFamily="34" charset="0"/>
                          <a:cs typeface="Arial" panose="020B0604020202020204" pitchFamily="34" charset="0"/>
                        </a:rPr>
                        <a:t>6</a:t>
                      </a:r>
                    </a:p>
                  </a:txBody>
                  <a:tcPr/>
                </a:tc>
                <a:tc>
                  <a:txBody>
                    <a:bodyPr/>
                    <a:lstStyle/>
                    <a:p>
                      <a:pPr algn="ctr"/>
                      <a:r>
                        <a:rPr lang="en-US" sz="2000" dirty="0">
                          <a:latin typeface="Arial" panose="020B0604020202020204" pitchFamily="34" charset="0"/>
                          <a:cs typeface="Arial" panose="020B0604020202020204" pitchFamily="34" charset="0"/>
                        </a:rPr>
                        <a:t>13</a:t>
                      </a:r>
                    </a:p>
                  </a:txBody>
                  <a:tcPr/>
                </a:tc>
                <a:extLst>
                  <a:ext uri="{0D108BD9-81ED-4DB2-BD59-A6C34878D82A}">
                    <a16:rowId xmlns:a16="http://schemas.microsoft.com/office/drawing/2014/main" val="2249841229"/>
                  </a:ext>
                </a:extLst>
              </a:tr>
              <a:tr h="357139">
                <a:tc>
                  <a:txBody>
                    <a:bodyPr/>
                    <a:lstStyle/>
                    <a:p>
                      <a:pPr algn="ctr"/>
                      <a:r>
                        <a:rPr lang="en-US" sz="2000" dirty="0">
                          <a:latin typeface="Arial" panose="020B0604020202020204" pitchFamily="34" charset="0"/>
                          <a:cs typeface="Arial" panose="020B0604020202020204" pitchFamily="34" charset="0"/>
                        </a:rPr>
                        <a:t>7</a:t>
                      </a:r>
                    </a:p>
                  </a:txBody>
                  <a:tcPr/>
                </a:tc>
                <a:tc>
                  <a:txBody>
                    <a:bodyPr/>
                    <a:lstStyle/>
                    <a:p>
                      <a:pPr algn="ctr"/>
                      <a:r>
                        <a:rPr lang="en-US" sz="2000" dirty="0">
                          <a:latin typeface="Arial" panose="020B0604020202020204" pitchFamily="34" charset="0"/>
                          <a:cs typeface="Arial" panose="020B0604020202020204" pitchFamily="34" charset="0"/>
                        </a:rPr>
                        <a:t>7</a:t>
                      </a:r>
                    </a:p>
                  </a:txBody>
                  <a:tcPr/>
                </a:tc>
                <a:extLst>
                  <a:ext uri="{0D108BD9-81ED-4DB2-BD59-A6C34878D82A}">
                    <a16:rowId xmlns:a16="http://schemas.microsoft.com/office/drawing/2014/main" val="3141669256"/>
                  </a:ext>
                </a:extLst>
              </a:tr>
              <a:tr h="357139">
                <a:tc>
                  <a:txBody>
                    <a:bodyPr/>
                    <a:lstStyle/>
                    <a:p>
                      <a:pPr algn="ctr"/>
                      <a:r>
                        <a:rPr lang="en-US" sz="2000" dirty="0">
                          <a:latin typeface="Arial" panose="020B0604020202020204" pitchFamily="34" charset="0"/>
                          <a:cs typeface="Arial" panose="020B0604020202020204" pitchFamily="34" charset="0"/>
                        </a:rPr>
                        <a:t>8</a:t>
                      </a:r>
                    </a:p>
                  </a:txBody>
                  <a:tcPr/>
                </a:tc>
                <a:tc>
                  <a:txBody>
                    <a:bodyPr/>
                    <a:lstStyle/>
                    <a:p>
                      <a:pPr algn="ctr"/>
                      <a:r>
                        <a:rPr lang="en-US" sz="2000" dirty="0">
                          <a:latin typeface="Arial" panose="020B0604020202020204" pitchFamily="34" charset="0"/>
                          <a:cs typeface="Arial" panose="020B0604020202020204" pitchFamily="34" charset="0"/>
                        </a:rPr>
                        <a:t>5</a:t>
                      </a:r>
                    </a:p>
                  </a:txBody>
                  <a:tcPr/>
                </a:tc>
                <a:extLst>
                  <a:ext uri="{0D108BD9-81ED-4DB2-BD59-A6C34878D82A}">
                    <a16:rowId xmlns:a16="http://schemas.microsoft.com/office/drawing/2014/main" val="3959219059"/>
                  </a:ext>
                </a:extLst>
              </a:tr>
              <a:tr h="357139">
                <a:tc>
                  <a:txBody>
                    <a:bodyPr/>
                    <a:lstStyle/>
                    <a:p>
                      <a:pPr algn="ctr"/>
                      <a:r>
                        <a:rPr lang="en-US" sz="2000" dirty="0">
                          <a:latin typeface="Arial" panose="020B0604020202020204" pitchFamily="34" charset="0"/>
                          <a:cs typeface="Arial" panose="020B0604020202020204" pitchFamily="34" charset="0"/>
                        </a:rPr>
                        <a:t>9</a:t>
                      </a:r>
                    </a:p>
                  </a:txBody>
                  <a:tcPr/>
                </a:tc>
                <a:tc>
                  <a:txBody>
                    <a:bodyPr/>
                    <a:lstStyle/>
                    <a:p>
                      <a:pPr algn="ctr"/>
                      <a:r>
                        <a:rPr lang="en-US" sz="2000" dirty="0">
                          <a:latin typeface="Arial" panose="020B0604020202020204" pitchFamily="34" charset="0"/>
                          <a:cs typeface="Arial" panose="020B0604020202020204" pitchFamily="34" charset="0"/>
                        </a:rPr>
                        <a:t>8</a:t>
                      </a:r>
                    </a:p>
                  </a:txBody>
                  <a:tcPr/>
                </a:tc>
                <a:extLst>
                  <a:ext uri="{0D108BD9-81ED-4DB2-BD59-A6C34878D82A}">
                    <a16:rowId xmlns:a16="http://schemas.microsoft.com/office/drawing/2014/main" val="3152078585"/>
                  </a:ext>
                </a:extLst>
              </a:tr>
              <a:tr h="357139">
                <a:tc>
                  <a:txBody>
                    <a:bodyPr/>
                    <a:lstStyle/>
                    <a:p>
                      <a:pPr algn="ctr"/>
                      <a:r>
                        <a:rPr lang="en-US" sz="2000" dirty="0">
                          <a:latin typeface="Arial" panose="020B0604020202020204" pitchFamily="34" charset="0"/>
                          <a:cs typeface="Arial" panose="020B0604020202020204" pitchFamily="34" charset="0"/>
                        </a:rPr>
                        <a:t>10</a:t>
                      </a:r>
                    </a:p>
                  </a:txBody>
                  <a:tcPr/>
                </a:tc>
                <a:tc>
                  <a:txBody>
                    <a:bodyPr/>
                    <a:lstStyle/>
                    <a:p>
                      <a:pPr algn="ctr"/>
                      <a:r>
                        <a:rPr lang="en-US" sz="2000" dirty="0">
                          <a:latin typeface="Arial" panose="020B0604020202020204" pitchFamily="34" charset="0"/>
                          <a:cs typeface="Arial" panose="020B0604020202020204" pitchFamily="34" charset="0"/>
                        </a:rPr>
                        <a:t>12</a:t>
                      </a:r>
                    </a:p>
                  </a:txBody>
                  <a:tcPr/>
                </a:tc>
                <a:extLst>
                  <a:ext uri="{0D108BD9-81ED-4DB2-BD59-A6C34878D82A}">
                    <a16:rowId xmlns:a16="http://schemas.microsoft.com/office/drawing/2014/main" val="2902019267"/>
                  </a:ext>
                </a:extLst>
              </a:tr>
            </a:tbl>
          </a:graphicData>
        </a:graphic>
      </p:graphicFrame>
    </p:spTree>
    <p:extLst>
      <p:ext uri="{BB962C8B-B14F-4D97-AF65-F5344CB8AC3E}">
        <p14:creationId xmlns:p14="http://schemas.microsoft.com/office/powerpoint/2010/main" val="2671140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715617" y="258417"/>
            <a:ext cx="10866783" cy="732183"/>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Standard Deviation or Variance as Risk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715617" y="1143000"/>
                <a:ext cx="10561983" cy="5456583"/>
              </a:xfrm>
              <a:noFill/>
            </p:spPr>
            <p:txBody>
              <a:bodyPr>
                <a:normAutofit/>
              </a:bodyPr>
              <a:lstStyle/>
              <a:p>
                <a:pPr algn="just">
                  <a:lnSpc>
                    <a:spcPct val="90000"/>
                  </a:lnSpc>
                </a:pPr>
                <a:r>
                  <a:rPr lang="en-US" sz="2400" dirty="0"/>
                  <a:t>Variance or standard deviation (SD) of expected returns is the most popular and commonly used measure to calculate Total Risk of a security. </a:t>
                </a:r>
              </a:p>
              <a:p>
                <a:pPr algn="just">
                  <a:lnSpc>
                    <a:spcPct val="90000"/>
                  </a:lnSpc>
                </a:pPr>
                <a:r>
                  <a:rPr lang="en-US" sz="2400" dirty="0"/>
                  <a:t>It must be noted that standard deviation is the square root of variance.</a:t>
                </a:r>
              </a:p>
              <a:p>
                <a:pPr algn="just">
                  <a:lnSpc>
                    <a:spcPct val="90000"/>
                  </a:lnSpc>
                </a:pPr>
                <a:r>
                  <a:rPr lang="en-US" sz="2400" dirty="0"/>
                  <a:t>We can calculate standard deviation in two cases:</a:t>
                </a:r>
              </a:p>
              <a:p>
                <a:pPr algn="just">
                  <a:lnSpc>
                    <a:spcPct val="90000"/>
                  </a:lnSpc>
                </a:pPr>
                <a:r>
                  <a:rPr lang="en-US" sz="2400" dirty="0"/>
                  <a:t>In case only return series is given</a:t>
                </a:r>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lvl="1" algn="just">
                  <a:lnSpc>
                    <a:spcPct val="90000"/>
                  </a:lnSpc>
                </a:pPr>
                <a:r>
                  <a:rPr lang="en-US" sz="2400" dirty="0"/>
                  <a:t>Where,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0" smtClean="0">
                        <a:latin typeface="Cambria Math" panose="02040503050406030204" pitchFamily="18" charset="0"/>
                      </a:rPr>
                      <m:t> </m:t>
                    </m:r>
                  </m:oMath>
                </a14:m>
                <a:r>
                  <a:rPr lang="en-US" sz="2400" dirty="0" err="1"/>
                  <a:t>th</a:t>
                </a:r>
                <a:r>
                  <a:rPr lang="en-US" sz="2400" dirty="0"/>
                  <a:t> return,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𝑅</m:t>
                        </m:r>
                      </m:e>
                    </m:acc>
                    <m:r>
                      <a:rPr lang="en-US" sz="2400" i="1">
                        <a:latin typeface="Cambria Math" panose="02040503050406030204" pitchFamily="18" charset="0"/>
                      </a:rPr>
                      <m:t> </m:t>
                    </m:r>
                  </m:oMath>
                </a14:m>
                <a:r>
                  <a:rPr lang="en-US" sz="2400" dirty="0"/>
                  <a:t>= mean return, N = no. of observations </a:t>
                </a:r>
              </a:p>
              <a:p>
                <a:pPr algn="just">
                  <a:lnSpc>
                    <a:spcPct val="90000"/>
                  </a:lnSpc>
                </a:pPr>
                <a:r>
                  <a:rPr lang="en-US" sz="2400" dirty="0"/>
                  <a:t>In case a probability distribution of returns is given</a:t>
                </a:r>
              </a:p>
              <a:p>
                <a:pPr algn="just">
                  <a:lnSpc>
                    <a:spcPct val="90000"/>
                  </a:lnSpc>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715617" y="1143000"/>
                <a:ext cx="10561983" cy="5456583"/>
              </a:xfrm>
              <a:blipFill>
                <a:blip r:embed="rId2"/>
                <a:stretch>
                  <a:fillRect l="-750" t="-1564" r="-923"/>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34</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F622DF-795D-5786-F5B0-378CCB40013D}"/>
                  </a:ext>
                </a:extLst>
              </p:cNvPr>
              <p:cNvSpPr txBox="1"/>
              <p:nvPr/>
            </p:nvSpPr>
            <p:spPr>
              <a:xfrm>
                <a:off x="4038600" y="3429000"/>
                <a:ext cx="2954911" cy="1091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𝑆𝐷</m:t>
                      </m:r>
                      <m:r>
                        <a:rPr lang="en-US" i="1" smtClean="0">
                          <a:latin typeface="Cambria Math" panose="02040503050406030204" pitchFamily="18" charset="0"/>
                        </a:rPr>
                        <m:t>=</m:t>
                      </m:r>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m:t>
                                  </m:r>
                                  <m:sSup>
                                    <m:sSupPr>
                                      <m:ctrlPr>
                                        <a:rPr lang="en-US"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𝑁</m:t>
                              </m:r>
                            </m:den>
                          </m:f>
                        </m:e>
                      </m:rad>
                    </m:oMath>
                  </m:oMathPara>
                </a14:m>
                <a:endParaRPr lang="en-US" dirty="0"/>
              </a:p>
            </p:txBody>
          </p:sp>
        </mc:Choice>
        <mc:Fallback xmlns="">
          <p:sp>
            <p:nvSpPr>
              <p:cNvPr id="6" name="TextBox 5">
                <a:extLst>
                  <a:ext uri="{FF2B5EF4-FFF2-40B4-BE49-F238E27FC236}">
                    <a16:creationId xmlns:a16="http://schemas.microsoft.com/office/drawing/2014/main" id="{25F622DF-795D-5786-F5B0-378CCB40013D}"/>
                  </a:ext>
                </a:extLst>
              </p:cNvPr>
              <p:cNvSpPr txBox="1">
                <a:spLocks noRot="1" noChangeAspect="1" noMove="1" noResize="1" noEditPoints="1" noAdjustHandles="1" noChangeArrowheads="1" noChangeShapeType="1" noTextEdit="1"/>
              </p:cNvSpPr>
              <p:nvPr/>
            </p:nvSpPr>
            <p:spPr>
              <a:xfrm>
                <a:off x="4038600" y="3429000"/>
                <a:ext cx="2954911" cy="109119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E9A545-32D7-0A9C-17E9-3E7170D3420B}"/>
                  </a:ext>
                </a:extLst>
              </p:cNvPr>
              <p:cNvSpPr txBox="1"/>
              <p:nvPr/>
            </p:nvSpPr>
            <p:spPr>
              <a:xfrm>
                <a:off x="2311400" y="5341497"/>
                <a:ext cx="7848600" cy="751552"/>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𝑆𝐷</m:t>
                    </m:r>
                    <m:r>
                      <a:rPr lang="en-US" i="1" smtClean="0">
                        <a:latin typeface="Cambria Math" panose="02040503050406030204" pitchFamily="18" charset="0"/>
                      </a:rPr>
                      <m:t>=</m:t>
                    </m:r>
                    <m:rad>
                      <m:radPr>
                        <m:degHide m:val="on"/>
                        <m:ctrlPr>
                          <a:rPr lang="en-US" i="1" smtClean="0">
                            <a:latin typeface="Cambria Math" panose="02040503050406030204" pitchFamily="18" charset="0"/>
                          </a:rPr>
                        </m:ctrlPr>
                      </m:radPr>
                      <m:deg/>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sub>
                            </m:sSub>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𝑅</m:t>
                                    </m:r>
                                  </m:e>
                                </m:acc>
                                <m:r>
                                  <a:rPr lang="en-US" i="1">
                                    <a:latin typeface="Cambria Math" panose="02040503050406030204" pitchFamily="18" charset="0"/>
                                  </a:rPr>
                                  <m:t>)</m:t>
                                </m:r>
                              </m:e>
                              <m:sup>
                                <m:r>
                                  <a:rPr lang="en-US" i="1">
                                    <a:latin typeface="Cambria Math" panose="02040503050406030204" pitchFamily="18" charset="0"/>
                                  </a:rPr>
                                  <m:t>2</m:t>
                                </m:r>
                              </m:sup>
                            </m:sSup>
                          </m:e>
                        </m:nary>
                      </m:e>
                    </m:rad>
                  </m:oMath>
                </a14:m>
                <a:r>
                  <a:rPr lang="en-US" dirty="0"/>
                  <a:t>   or </a:t>
                </a:r>
                <a14:m>
                  <m:oMath xmlns:m="http://schemas.openxmlformats.org/officeDocument/2006/math">
                    <m:r>
                      <a:rPr lang="en-US" b="0" i="1" smtClean="0">
                        <a:latin typeface="Cambria Math" panose="02040503050406030204" pitchFamily="18" charset="0"/>
                      </a:rPr>
                      <m:t>𝑉𝑎𝑟𝑖𝑎𝑛𝑐𝑒</m:t>
                    </m:r>
                    <m:r>
                      <a:rPr lang="en-US" b="0" i="1" smtClean="0">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sub>
                        </m:sSub>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𝑅</m:t>
                                </m:r>
                              </m:e>
                            </m:acc>
                            <m:r>
                              <a:rPr lang="en-US" i="1">
                                <a:latin typeface="Cambria Math" panose="02040503050406030204" pitchFamily="18" charset="0"/>
                              </a:rPr>
                              <m:t>)</m:t>
                            </m:r>
                          </m:e>
                          <m:sup>
                            <m:r>
                              <a:rPr lang="en-US" i="1">
                                <a:latin typeface="Cambria Math" panose="02040503050406030204" pitchFamily="18" charset="0"/>
                              </a:rPr>
                              <m:t>2</m:t>
                            </m:r>
                          </m:sup>
                        </m:sSup>
                      </m:e>
                    </m:nary>
                  </m:oMath>
                </a14:m>
                <a:endParaRPr lang="en-US" dirty="0"/>
              </a:p>
            </p:txBody>
          </p:sp>
        </mc:Choice>
        <mc:Fallback xmlns="">
          <p:sp>
            <p:nvSpPr>
              <p:cNvPr id="7" name="TextBox 6">
                <a:extLst>
                  <a:ext uri="{FF2B5EF4-FFF2-40B4-BE49-F238E27FC236}">
                    <a16:creationId xmlns:a16="http://schemas.microsoft.com/office/drawing/2014/main" id="{64E9A545-32D7-0A9C-17E9-3E7170D3420B}"/>
                  </a:ext>
                </a:extLst>
              </p:cNvPr>
              <p:cNvSpPr txBox="1">
                <a:spLocks noRot="1" noChangeAspect="1" noMove="1" noResize="1" noEditPoints="1" noAdjustHandles="1" noChangeArrowheads="1" noChangeShapeType="1" noTextEdit="1"/>
              </p:cNvSpPr>
              <p:nvPr/>
            </p:nvSpPr>
            <p:spPr>
              <a:xfrm>
                <a:off x="2311400" y="5341497"/>
                <a:ext cx="7848600" cy="751552"/>
              </a:xfrm>
              <a:prstGeom prst="rect">
                <a:avLst/>
              </a:prstGeom>
              <a:blipFill>
                <a:blip r:embed="rId4"/>
                <a:stretch>
                  <a:fillRect b="-1613"/>
                </a:stretch>
              </a:blipFill>
            </p:spPr>
            <p:txBody>
              <a:bodyPr/>
              <a:lstStyle/>
              <a:p>
                <a:r>
                  <a:rPr lang="en-US">
                    <a:noFill/>
                  </a:rPr>
                  <a:t> </a:t>
                </a:r>
              </a:p>
            </p:txBody>
          </p:sp>
        </mc:Fallback>
      </mc:AlternateContent>
    </p:spTree>
    <p:extLst>
      <p:ext uri="{BB962C8B-B14F-4D97-AF65-F5344CB8AC3E}">
        <p14:creationId xmlns:p14="http://schemas.microsoft.com/office/powerpoint/2010/main" val="3039119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079B-9AC5-6FD1-BFF2-F56201084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995CE-B044-DB8F-170C-86EE3696EE34}"/>
              </a:ext>
            </a:extLst>
          </p:cNvPr>
          <p:cNvSpPr>
            <a:spLocks noGrp="1"/>
          </p:cNvSpPr>
          <p:nvPr>
            <p:ph type="title"/>
          </p:nvPr>
        </p:nvSpPr>
        <p:spPr>
          <a:xfrm>
            <a:off x="609600" y="274638"/>
            <a:ext cx="10972800" cy="6397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Standard Deviation or Variance as Risk</a:t>
            </a:r>
          </a:p>
        </p:txBody>
      </p:sp>
      <p:sp>
        <p:nvSpPr>
          <p:cNvPr id="3" name="Content Placeholder 2">
            <a:extLst>
              <a:ext uri="{FF2B5EF4-FFF2-40B4-BE49-F238E27FC236}">
                <a16:creationId xmlns:a16="http://schemas.microsoft.com/office/drawing/2014/main" id="{BBA8D07D-A679-C6AF-9621-83177FC198D6}"/>
              </a:ext>
            </a:extLst>
          </p:cNvPr>
          <p:cNvSpPr>
            <a:spLocks noGrp="1"/>
          </p:cNvSpPr>
          <p:nvPr>
            <p:ph idx="1"/>
          </p:nvPr>
        </p:nvSpPr>
        <p:spPr>
          <a:xfrm>
            <a:off x="609600" y="990600"/>
            <a:ext cx="10668000" cy="5343695"/>
          </a:xfrm>
          <a:noFill/>
        </p:spPr>
        <p:txBody>
          <a:bodyPr>
            <a:normAutofit/>
          </a:bodyPr>
          <a:lstStyle/>
          <a:p>
            <a:pPr marL="0" indent="0" algn="just">
              <a:lnSpc>
                <a:spcPct val="90000"/>
              </a:lnSpc>
              <a:buNone/>
            </a:pPr>
            <a:r>
              <a:rPr lang="en-US" sz="2400" b="1" u="sng" dirty="0">
                <a:latin typeface="Arial" panose="020B0604020202020204" pitchFamily="34" charset="0"/>
                <a:cs typeface="Arial" panose="020B0604020202020204" pitchFamily="34" charset="0"/>
              </a:rPr>
              <a:t>Question</a:t>
            </a:r>
          </a:p>
          <a:p>
            <a:pPr algn="just">
              <a:lnSpc>
                <a:spcPct val="90000"/>
              </a:lnSpc>
            </a:pPr>
            <a:r>
              <a:rPr lang="en-US" sz="2400" dirty="0">
                <a:latin typeface="Arial" panose="020B0604020202020204" pitchFamily="34" charset="0"/>
                <a:cs typeface="Arial" panose="020B0604020202020204" pitchFamily="34" charset="0"/>
              </a:rPr>
              <a:t>Calculate total risk of the security for which past returns are given below</a:t>
            </a:r>
          </a:p>
          <a:p>
            <a:pPr algn="just">
              <a:lnSpc>
                <a:spcPct val="90000"/>
              </a:lnSpc>
            </a:pPr>
            <a:endParaRPr lang="en-US" sz="2400" dirty="0"/>
          </a:p>
          <a:p>
            <a:pPr marL="0" indent="0" algn="just">
              <a:lnSpc>
                <a:spcPct val="90000"/>
              </a:lnSpc>
              <a:buNone/>
            </a:pPr>
            <a:endParaRPr lang="en-US" sz="2400" dirty="0"/>
          </a:p>
        </p:txBody>
      </p:sp>
      <p:sp>
        <p:nvSpPr>
          <p:cNvPr id="4" name="Date Placeholder 3">
            <a:extLst>
              <a:ext uri="{FF2B5EF4-FFF2-40B4-BE49-F238E27FC236}">
                <a16:creationId xmlns:a16="http://schemas.microsoft.com/office/drawing/2014/main" id="{7DE6B243-064E-DDF5-F014-2D9921AA25C7}"/>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301AA472-BBF7-905A-6641-758B67F439B8}"/>
              </a:ext>
            </a:extLst>
          </p:cNvPr>
          <p:cNvSpPr>
            <a:spLocks noGrp="1"/>
          </p:cNvSpPr>
          <p:nvPr>
            <p:ph type="sldNum" sz="quarter" idx="12"/>
          </p:nvPr>
        </p:nvSpPr>
        <p:spPr/>
        <p:txBody>
          <a:bodyPr/>
          <a:lstStyle/>
          <a:p>
            <a:fld id="{9A6574C6-EAF8-40F7-9181-B4B8ADC2AD82}" type="slidenum">
              <a:rPr lang="en-US" smtClean="0"/>
              <a:t>35</a:t>
            </a:fld>
            <a:endParaRPr lang="en-US"/>
          </a:p>
        </p:txBody>
      </p:sp>
      <p:graphicFrame>
        <p:nvGraphicFramePr>
          <p:cNvPr id="8" name="Table 8">
            <a:extLst>
              <a:ext uri="{FF2B5EF4-FFF2-40B4-BE49-F238E27FC236}">
                <a16:creationId xmlns:a16="http://schemas.microsoft.com/office/drawing/2014/main" id="{4439313A-ACE1-AF49-DBD4-91A2569E6A04}"/>
              </a:ext>
            </a:extLst>
          </p:cNvPr>
          <p:cNvGraphicFramePr>
            <a:graphicFrameLocks noGrp="1"/>
          </p:cNvGraphicFramePr>
          <p:nvPr>
            <p:extLst>
              <p:ext uri="{D42A27DB-BD31-4B8C-83A1-F6EECF244321}">
                <p14:modId xmlns:p14="http://schemas.microsoft.com/office/powerpoint/2010/main" val="2573587944"/>
              </p:ext>
            </p:extLst>
          </p:nvPr>
        </p:nvGraphicFramePr>
        <p:xfrm>
          <a:off x="1295400" y="2057400"/>
          <a:ext cx="9296400" cy="4504062"/>
        </p:xfrm>
        <a:graphic>
          <a:graphicData uri="http://schemas.openxmlformats.org/drawingml/2006/table">
            <a:tbl>
              <a:tblPr firstRow="1" bandRow="1">
                <a:tableStyleId>{5C22544A-7EE6-4342-B048-85BDC9FD1C3A}</a:tableStyleId>
              </a:tblPr>
              <a:tblGrid>
                <a:gridCol w="4648200">
                  <a:extLst>
                    <a:ext uri="{9D8B030D-6E8A-4147-A177-3AD203B41FA5}">
                      <a16:colId xmlns:a16="http://schemas.microsoft.com/office/drawing/2014/main" val="2834103369"/>
                    </a:ext>
                  </a:extLst>
                </a:gridCol>
                <a:gridCol w="4648200">
                  <a:extLst>
                    <a:ext uri="{9D8B030D-6E8A-4147-A177-3AD203B41FA5}">
                      <a16:colId xmlns:a16="http://schemas.microsoft.com/office/drawing/2014/main" val="4064087187"/>
                    </a:ext>
                  </a:extLst>
                </a:gridCol>
              </a:tblGrid>
              <a:tr h="502052">
                <a:tc>
                  <a:txBody>
                    <a:bodyPr/>
                    <a:lstStyle/>
                    <a:p>
                      <a:pPr algn="ctr"/>
                      <a:r>
                        <a:rPr lang="en-US" dirty="0"/>
                        <a:t>Year</a:t>
                      </a:r>
                    </a:p>
                  </a:txBody>
                  <a:tcPr/>
                </a:tc>
                <a:tc>
                  <a:txBody>
                    <a:bodyPr/>
                    <a:lstStyle/>
                    <a:p>
                      <a:pPr algn="ctr"/>
                      <a:r>
                        <a:rPr lang="en-US" dirty="0"/>
                        <a:t>Returns (%)</a:t>
                      </a:r>
                    </a:p>
                  </a:txBody>
                  <a:tcPr/>
                </a:tc>
                <a:extLst>
                  <a:ext uri="{0D108BD9-81ED-4DB2-BD59-A6C34878D82A}">
                    <a16:rowId xmlns:a16="http://schemas.microsoft.com/office/drawing/2014/main" val="1649956803"/>
                  </a:ext>
                </a:extLst>
              </a:tr>
              <a:tr h="400201">
                <a:tc>
                  <a:txBody>
                    <a:bodyPr/>
                    <a:lstStyle/>
                    <a:p>
                      <a:pPr algn="ctr"/>
                      <a:r>
                        <a:rPr lang="en-US" dirty="0"/>
                        <a:t>1</a:t>
                      </a:r>
                    </a:p>
                  </a:txBody>
                  <a:tcPr/>
                </a:tc>
                <a:tc>
                  <a:txBody>
                    <a:bodyPr/>
                    <a:lstStyle/>
                    <a:p>
                      <a:pPr algn="ctr"/>
                      <a:r>
                        <a:rPr lang="en-US" dirty="0"/>
                        <a:t>10</a:t>
                      </a:r>
                    </a:p>
                  </a:txBody>
                  <a:tcPr/>
                </a:tc>
                <a:extLst>
                  <a:ext uri="{0D108BD9-81ED-4DB2-BD59-A6C34878D82A}">
                    <a16:rowId xmlns:a16="http://schemas.microsoft.com/office/drawing/2014/main" val="2864438922"/>
                  </a:ext>
                </a:extLst>
              </a:tr>
              <a:tr h="400201">
                <a:tc>
                  <a:txBody>
                    <a:bodyPr/>
                    <a:lstStyle/>
                    <a:p>
                      <a:pPr algn="ctr"/>
                      <a:r>
                        <a:rPr lang="en-US" dirty="0"/>
                        <a:t>2</a:t>
                      </a:r>
                    </a:p>
                  </a:txBody>
                  <a:tcPr/>
                </a:tc>
                <a:tc>
                  <a:txBody>
                    <a:bodyPr/>
                    <a:lstStyle/>
                    <a:p>
                      <a:pPr algn="ctr"/>
                      <a:r>
                        <a:rPr lang="en-US" dirty="0"/>
                        <a:t>12</a:t>
                      </a:r>
                    </a:p>
                  </a:txBody>
                  <a:tcPr/>
                </a:tc>
                <a:extLst>
                  <a:ext uri="{0D108BD9-81ED-4DB2-BD59-A6C34878D82A}">
                    <a16:rowId xmlns:a16="http://schemas.microsoft.com/office/drawing/2014/main" val="2755582174"/>
                  </a:ext>
                </a:extLst>
              </a:tr>
              <a:tr h="400201">
                <a:tc>
                  <a:txBody>
                    <a:bodyPr/>
                    <a:lstStyle/>
                    <a:p>
                      <a:pPr algn="ctr"/>
                      <a:r>
                        <a:rPr lang="en-US" dirty="0"/>
                        <a:t>3</a:t>
                      </a:r>
                    </a:p>
                  </a:txBody>
                  <a:tcPr/>
                </a:tc>
                <a:tc>
                  <a:txBody>
                    <a:bodyPr/>
                    <a:lstStyle/>
                    <a:p>
                      <a:pPr algn="ctr"/>
                      <a:r>
                        <a:rPr lang="en-US" dirty="0"/>
                        <a:t>8</a:t>
                      </a:r>
                    </a:p>
                  </a:txBody>
                  <a:tcPr/>
                </a:tc>
                <a:extLst>
                  <a:ext uri="{0D108BD9-81ED-4DB2-BD59-A6C34878D82A}">
                    <a16:rowId xmlns:a16="http://schemas.microsoft.com/office/drawing/2014/main" val="2070300824"/>
                  </a:ext>
                </a:extLst>
              </a:tr>
              <a:tr h="400201">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962979411"/>
                  </a:ext>
                </a:extLst>
              </a:tr>
              <a:tr h="400201">
                <a:tc>
                  <a:txBody>
                    <a:bodyPr/>
                    <a:lstStyle/>
                    <a:p>
                      <a:pPr algn="ctr"/>
                      <a:r>
                        <a:rPr lang="en-US" dirty="0"/>
                        <a:t>5</a:t>
                      </a:r>
                    </a:p>
                  </a:txBody>
                  <a:tcPr/>
                </a:tc>
                <a:tc>
                  <a:txBody>
                    <a:bodyPr/>
                    <a:lstStyle/>
                    <a:p>
                      <a:pPr algn="ctr"/>
                      <a:r>
                        <a:rPr lang="en-US" dirty="0"/>
                        <a:t>10</a:t>
                      </a:r>
                    </a:p>
                  </a:txBody>
                  <a:tcPr/>
                </a:tc>
                <a:extLst>
                  <a:ext uri="{0D108BD9-81ED-4DB2-BD59-A6C34878D82A}">
                    <a16:rowId xmlns:a16="http://schemas.microsoft.com/office/drawing/2014/main" val="4007197487"/>
                  </a:ext>
                </a:extLst>
              </a:tr>
              <a:tr h="400201">
                <a:tc>
                  <a:txBody>
                    <a:bodyPr/>
                    <a:lstStyle/>
                    <a:p>
                      <a:pPr algn="ctr"/>
                      <a:r>
                        <a:rPr lang="en-US" dirty="0"/>
                        <a:t>6</a:t>
                      </a:r>
                    </a:p>
                  </a:txBody>
                  <a:tcPr/>
                </a:tc>
                <a:tc>
                  <a:txBody>
                    <a:bodyPr/>
                    <a:lstStyle/>
                    <a:p>
                      <a:pPr algn="ctr"/>
                      <a:r>
                        <a:rPr lang="en-US" dirty="0"/>
                        <a:t>13</a:t>
                      </a:r>
                    </a:p>
                  </a:txBody>
                  <a:tcPr/>
                </a:tc>
                <a:extLst>
                  <a:ext uri="{0D108BD9-81ED-4DB2-BD59-A6C34878D82A}">
                    <a16:rowId xmlns:a16="http://schemas.microsoft.com/office/drawing/2014/main" val="2249841229"/>
                  </a:ext>
                </a:extLst>
              </a:tr>
              <a:tr h="400201">
                <a:tc>
                  <a:txBody>
                    <a:bodyPr/>
                    <a:lstStyle/>
                    <a:p>
                      <a:pPr algn="ctr"/>
                      <a:r>
                        <a:rPr lang="en-US" dirty="0"/>
                        <a:t>7</a:t>
                      </a:r>
                    </a:p>
                  </a:txBody>
                  <a:tcPr/>
                </a:tc>
                <a:tc>
                  <a:txBody>
                    <a:bodyPr/>
                    <a:lstStyle/>
                    <a:p>
                      <a:pPr algn="ctr"/>
                      <a:r>
                        <a:rPr lang="en-US" dirty="0"/>
                        <a:t>7</a:t>
                      </a:r>
                    </a:p>
                  </a:txBody>
                  <a:tcPr/>
                </a:tc>
                <a:extLst>
                  <a:ext uri="{0D108BD9-81ED-4DB2-BD59-A6C34878D82A}">
                    <a16:rowId xmlns:a16="http://schemas.microsoft.com/office/drawing/2014/main" val="3141669256"/>
                  </a:ext>
                </a:extLst>
              </a:tr>
              <a:tr h="400201">
                <a:tc>
                  <a:txBody>
                    <a:bodyPr/>
                    <a:lstStyle/>
                    <a:p>
                      <a:pPr algn="ctr"/>
                      <a:r>
                        <a:rPr lang="en-US" dirty="0"/>
                        <a:t>8</a:t>
                      </a:r>
                    </a:p>
                  </a:txBody>
                  <a:tcPr/>
                </a:tc>
                <a:tc>
                  <a:txBody>
                    <a:bodyPr/>
                    <a:lstStyle/>
                    <a:p>
                      <a:pPr algn="ctr"/>
                      <a:r>
                        <a:rPr lang="en-US" dirty="0"/>
                        <a:t>5</a:t>
                      </a:r>
                    </a:p>
                  </a:txBody>
                  <a:tcPr/>
                </a:tc>
                <a:extLst>
                  <a:ext uri="{0D108BD9-81ED-4DB2-BD59-A6C34878D82A}">
                    <a16:rowId xmlns:a16="http://schemas.microsoft.com/office/drawing/2014/main" val="3959219059"/>
                  </a:ext>
                </a:extLst>
              </a:tr>
              <a:tr h="400201">
                <a:tc>
                  <a:txBody>
                    <a:bodyPr/>
                    <a:lstStyle/>
                    <a:p>
                      <a:pPr algn="ctr"/>
                      <a:r>
                        <a:rPr lang="en-US" dirty="0"/>
                        <a:t>9</a:t>
                      </a:r>
                    </a:p>
                  </a:txBody>
                  <a:tcPr/>
                </a:tc>
                <a:tc>
                  <a:txBody>
                    <a:bodyPr/>
                    <a:lstStyle/>
                    <a:p>
                      <a:pPr algn="ctr"/>
                      <a:r>
                        <a:rPr lang="en-US" dirty="0"/>
                        <a:t>8</a:t>
                      </a:r>
                    </a:p>
                  </a:txBody>
                  <a:tcPr/>
                </a:tc>
                <a:extLst>
                  <a:ext uri="{0D108BD9-81ED-4DB2-BD59-A6C34878D82A}">
                    <a16:rowId xmlns:a16="http://schemas.microsoft.com/office/drawing/2014/main" val="3152078585"/>
                  </a:ext>
                </a:extLst>
              </a:tr>
              <a:tr h="400201">
                <a:tc>
                  <a:txBody>
                    <a:bodyPr/>
                    <a:lstStyle/>
                    <a:p>
                      <a:pPr algn="ctr"/>
                      <a:r>
                        <a:rPr lang="en-US" dirty="0"/>
                        <a:t>10</a:t>
                      </a:r>
                    </a:p>
                  </a:txBody>
                  <a:tcPr/>
                </a:tc>
                <a:tc>
                  <a:txBody>
                    <a:bodyPr/>
                    <a:lstStyle/>
                    <a:p>
                      <a:pPr algn="ctr"/>
                      <a:r>
                        <a:rPr lang="en-US" dirty="0"/>
                        <a:t>12</a:t>
                      </a:r>
                    </a:p>
                  </a:txBody>
                  <a:tcPr/>
                </a:tc>
                <a:extLst>
                  <a:ext uri="{0D108BD9-81ED-4DB2-BD59-A6C34878D82A}">
                    <a16:rowId xmlns:a16="http://schemas.microsoft.com/office/drawing/2014/main" val="2902019267"/>
                  </a:ext>
                </a:extLst>
              </a:tr>
            </a:tbl>
          </a:graphicData>
        </a:graphic>
      </p:graphicFrame>
    </p:spTree>
    <p:extLst>
      <p:ext uri="{BB962C8B-B14F-4D97-AF65-F5344CB8AC3E}">
        <p14:creationId xmlns:p14="http://schemas.microsoft.com/office/powerpoint/2010/main" val="2351284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868203"/>
          </a:xfrm>
          <a:solidFill>
            <a:schemeClr val="tx2">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Standard Deviation or Variance as Risk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3112" y="1417638"/>
                <a:ext cx="10972799" cy="5281140"/>
              </a:xfrm>
              <a:noFill/>
            </p:spPr>
            <p:txBody>
              <a:bodyPr>
                <a:normAutofit/>
              </a:bodyPr>
              <a:lstStyle/>
              <a:p>
                <a:pPr marL="0" indent="0" algn="just">
                  <a:lnSpc>
                    <a:spcPct val="150000"/>
                  </a:lnSpc>
                  <a:buNone/>
                </a:pPr>
                <a:r>
                  <a:rPr lang="en-US" sz="2400" b="1" u="sng" dirty="0">
                    <a:latin typeface="Arial" panose="020B0604020202020204" pitchFamily="34" charset="0"/>
                    <a:cs typeface="Arial" panose="020B0604020202020204" pitchFamily="34" charset="0"/>
                  </a:rPr>
                  <a:t>Solution</a:t>
                </a:r>
              </a:p>
              <a:p>
                <a:pPr marL="0" indent="0" algn="just">
                  <a:lnSpc>
                    <a:spcPct val="150000"/>
                  </a:lnSpc>
                  <a:buNone/>
                </a:pPr>
                <a:endParaRPr lang="en-US" sz="2400" b="1" u="sng" dirty="0">
                  <a:latin typeface="Arial" panose="020B0604020202020204" pitchFamily="34" charset="0"/>
                  <a:cs typeface="Arial" panose="020B0604020202020204" pitchFamily="34" charset="0"/>
                </a:endParaRPr>
              </a:p>
              <a:p>
                <a:pPr algn="just">
                  <a:lnSpc>
                    <a:spcPct val="150000"/>
                  </a:lnSpc>
                </a:pP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𝑅</m:t>
                        </m:r>
                      </m:e>
                    </m:acc>
                  </m:oMath>
                </a14:m>
                <a:r>
                  <a:rPr lang="en-US" sz="2400" dirty="0">
                    <a:latin typeface="Arial" panose="020B0604020202020204" pitchFamily="34" charset="0"/>
                    <a:cs typeface="Arial" panose="020B0604020202020204" pitchFamily="34" charset="0"/>
                  </a:rPr>
                  <a:t> = Mean returns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90</m:t>
                        </m:r>
                      </m:num>
                      <m:den>
                        <m:r>
                          <a:rPr lang="en-US" sz="2400" b="0" i="1" smtClean="0">
                            <a:latin typeface="Cambria Math" panose="02040503050406030204" pitchFamily="18" charset="0"/>
                          </a:rPr>
                          <m:t>10</m:t>
                        </m:r>
                      </m:den>
                    </m:f>
                    <m:r>
                      <a:rPr lang="en-US" sz="2400" b="0" i="1" smtClean="0">
                        <a:latin typeface="Cambria Math" panose="02040503050406030204" pitchFamily="18" charset="0"/>
                      </a:rPr>
                      <m:t>=9%</m:t>
                    </m:r>
                  </m:oMath>
                </a14:m>
                <a:r>
                  <a:rPr lang="en-US" sz="2400" dirty="0">
                    <a:latin typeface="Arial" panose="020B0604020202020204" pitchFamily="34" charset="0"/>
                    <a:cs typeface="Arial" panose="020B0604020202020204" pitchFamily="34" charset="0"/>
                  </a:rPr>
                  <a:t> </a:t>
                </a:r>
              </a:p>
              <a:p>
                <a:pPr algn="just">
                  <a:lnSpc>
                    <a:spcPct val="150000"/>
                  </a:lnSpc>
                </a:pPr>
                <a:r>
                  <a:rPr lang="en-US" sz="2400" dirty="0">
                    <a:latin typeface="Arial" panose="020B0604020202020204" pitchFamily="34" charset="0"/>
                    <a:cs typeface="Arial" panose="020B0604020202020204" pitchFamily="34" charset="0"/>
                  </a:rPr>
                  <a:t>SD= </a:t>
                </a:r>
                <a14:m>
                  <m:oMath xmlns:m="http://schemas.openxmlformats.org/officeDocument/2006/math">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r>
                                  <a:rPr lang="en-US" sz="2400" i="1">
                                    <a:latin typeface="Cambria Math" panose="02040503050406030204" pitchFamily="18" charset="0"/>
                                  </a:rPr>
                                  <m:t>(</m:t>
                                </m:r>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𝑖</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𝑅</m:t>
                                        </m:r>
                                      </m:e>
                                    </m:acc>
                                    <m:r>
                                      <a:rPr lang="en-US" sz="2400" i="1">
                                        <a:latin typeface="Cambria Math" panose="02040503050406030204" pitchFamily="18" charset="0"/>
                                      </a:rPr>
                                      <m:t>)</m:t>
                                    </m:r>
                                  </m:e>
                                  <m:sup>
                                    <m:r>
                                      <a:rPr lang="en-US" sz="2400" i="1">
                                        <a:latin typeface="Cambria Math" panose="02040503050406030204" pitchFamily="18" charset="0"/>
                                      </a:rPr>
                                      <m:t>2</m:t>
                                    </m:r>
                                  </m:sup>
                                </m:sSup>
                              </m:e>
                            </m:nary>
                          </m:num>
                          <m:den>
                            <m:r>
                              <a:rPr lang="en-US" sz="2400" i="1">
                                <a:latin typeface="Cambria Math" panose="02040503050406030204" pitchFamily="18" charset="0"/>
                              </a:rPr>
                              <m:t>𝑁</m:t>
                            </m:r>
                          </m:den>
                        </m:f>
                      </m:e>
                    </m:rad>
                  </m:oMath>
                </a14:m>
                <a:r>
                  <a:rPr lang="en-US" sz="24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US" sz="2400" b="0" i="1" smtClean="0">
                                <a:latin typeface="Cambria Math" panose="02040503050406030204" pitchFamily="18" charset="0"/>
                              </a:rPr>
                              <m:t>74</m:t>
                            </m:r>
                          </m:num>
                          <m:den>
                            <m:r>
                              <a:rPr lang="en-US" sz="2400" b="0" i="1" smtClean="0">
                                <a:latin typeface="Cambria Math" panose="02040503050406030204" pitchFamily="18" charset="0"/>
                              </a:rPr>
                              <m:t>10</m:t>
                            </m:r>
                          </m:den>
                        </m:f>
                      </m:e>
                    </m:rad>
                  </m:oMath>
                </a14:m>
                <a:r>
                  <a:rPr lang="en-US" sz="24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7.4</m:t>
                        </m:r>
                      </m:e>
                    </m:rad>
                  </m:oMath>
                </a14:m>
                <a:r>
                  <a:rPr lang="en-US" sz="2400" dirty="0">
                    <a:latin typeface="Arial" panose="020B0604020202020204" pitchFamily="34" charset="0"/>
                    <a:cs typeface="Arial" panose="020B0604020202020204" pitchFamily="34" charset="0"/>
                  </a:rPr>
                  <a:t> =2.72%</a:t>
                </a:r>
              </a:p>
              <a:p>
                <a:pPr algn="just">
                  <a:lnSpc>
                    <a:spcPct val="150000"/>
                  </a:lnSpc>
                </a:pPr>
                <a:r>
                  <a:rPr lang="en-US" sz="2400" dirty="0">
                    <a:latin typeface="Arial" panose="020B0604020202020204" pitchFamily="34" charset="0"/>
                    <a:cs typeface="Arial" panose="020B0604020202020204" pitchFamily="34" charset="0"/>
                  </a:rPr>
                  <a:t>Hence the mean return on </a:t>
                </a:r>
              </a:p>
              <a:p>
                <a:pPr marL="0" indent="0" algn="just">
                  <a:lnSpc>
                    <a:spcPct val="150000"/>
                  </a:lnSpc>
                  <a:buNone/>
                </a:pPr>
                <a:r>
                  <a:rPr lang="en-US" sz="2400" dirty="0">
                    <a:latin typeface="Arial" panose="020B0604020202020204" pitchFamily="34" charset="0"/>
                    <a:cs typeface="Arial" panose="020B0604020202020204" pitchFamily="34" charset="0"/>
                  </a:rPr>
                  <a:t>security is 9% with a total risk of 2.72% </a:t>
                </a:r>
              </a:p>
              <a:p>
                <a:pPr marL="0" indent="0" algn="just">
                  <a:lnSpc>
                    <a:spcPct val="150000"/>
                  </a:lnSpc>
                  <a:buNone/>
                </a:pPr>
                <a:r>
                  <a:rPr lang="en-US" sz="2400" dirty="0">
                    <a:latin typeface="Arial" panose="020B0604020202020204" pitchFamily="34" charset="0"/>
                    <a:cs typeface="Arial" panose="020B0604020202020204" pitchFamily="34" charset="0"/>
                  </a:rPr>
                  <a:t>(or total variance is 7.4 squared percentages).</a:t>
                </a:r>
                <a:endParaRPr lang="en-US" sz="4000" dirty="0">
                  <a:latin typeface="Arial" panose="020B0604020202020204" pitchFamily="34" charset="0"/>
                  <a:cs typeface="Arial" panose="020B0604020202020204" pitchFamily="34" charset="0"/>
                </a:endParaRPr>
              </a:p>
              <a:p>
                <a:pPr marL="0" indent="0" algn="just">
                  <a:lnSpc>
                    <a:spcPct val="90000"/>
                  </a:lnSpc>
                  <a:buNone/>
                </a:pPr>
                <a:endParaRPr lang="en-US" sz="4000" dirty="0"/>
              </a:p>
              <a:p>
                <a:pPr marL="0" indent="0" algn="just">
                  <a:lnSpc>
                    <a:spcPct val="90000"/>
                  </a:lnSpc>
                  <a:buNone/>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3112" y="1417638"/>
                <a:ext cx="10972799" cy="5281140"/>
              </a:xfrm>
              <a:blipFill>
                <a:blip r:embed="rId2"/>
                <a:stretch>
                  <a:fillRect l="-889" b="-1386"/>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36</a:t>
            </a:fld>
            <a:endParaRPr lang="en-US"/>
          </a:p>
        </p:txBody>
      </p:sp>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2F0C609E-51A3-E703-31B8-1DC974E17D12}"/>
                  </a:ext>
                </a:extLst>
              </p:cNvPr>
              <p:cNvGraphicFramePr>
                <a:graphicFrameLocks noGrp="1"/>
              </p:cNvGraphicFramePr>
              <p:nvPr>
                <p:extLst>
                  <p:ext uri="{D42A27DB-BD31-4B8C-83A1-F6EECF244321}">
                    <p14:modId xmlns:p14="http://schemas.microsoft.com/office/powerpoint/2010/main" val="1821508652"/>
                  </p:ext>
                </p:extLst>
              </p:nvPr>
            </p:nvGraphicFramePr>
            <p:xfrm>
              <a:off x="7391400" y="1692434"/>
              <a:ext cx="4197489" cy="4389120"/>
            </p:xfrm>
            <a:graphic>
              <a:graphicData uri="http://schemas.openxmlformats.org/drawingml/2006/table">
                <a:tbl>
                  <a:tblPr firstRow="1" bandRow="1">
                    <a:tableStyleId>{5C22544A-7EE6-4342-B048-85BDC9FD1C3A}</a:tableStyleId>
                  </a:tblPr>
                  <a:tblGrid>
                    <a:gridCol w="1399163">
                      <a:extLst>
                        <a:ext uri="{9D8B030D-6E8A-4147-A177-3AD203B41FA5}">
                          <a16:colId xmlns:a16="http://schemas.microsoft.com/office/drawing/2014/main" val="2834103369"/>
                        </a:ext>
                      </a:extLst>
                    </a:gridCol>
                    <a:gridCol w="1399163">
                      <a:extLst>
                        <a:ext uri="{9D8B030D-6E8A-4147-A177-3AD203B41FA5}">
                          <a16:colId xmlns:a16="http://schemas.microsoft.com/office/drawing/2014/main" val="4064087187"/>
                        </a:ext>
                      </a:extLst>
                    </a:gridCol>
                    <a:gridCol w="1399163">
                      <a:extLst>
                        <a:ext uri="{9D8B030D-6E8A-4147-A177-3AD203B41FA5}">
                          <a16:colId xmlns:a16="http://schemas.microsoft.com/office/drawing/2014/main" val="2089155495"/>
                        </a:ext>
                      </a:extLst>
                    </a:gridCol>
                  </a:tblGrid>
                  <a:tr h="255759">
                    <a:tc>
                      <a:txBody>
                        <a:bodyPr/>
                        <a:lstStyle/>
                        <a:p>
                          <a:pPr algn="ctr"/>
                          <a:r>
                            <a:rPr lang="en-US" dirty="0">
                              <a:latin typeface="Arial" panose="020B0604020202020204" pitchFamily="34" charset="0"/>
                              <a:cs typeface="Arial" panose="020B0604020202020204" pitchFamily="34" charset="0"/>
                            </a:rPr>
                            <a:t>Year</a:t>
                          </a:r>
                        </a:p>
                      </a:txBody>
                      <a:tcPr/>
                    </a:tc>
                    <a:tc>
                      <a:txBody>
                        <a:bodyPr/>
                        <a:lstStyle/>
                        <a:p>
                          <a:pPr algn="ctr"/>
                          <a:r>
                            <a:rPr lang="en-US" dirty="0">
                              <a:latin typeface="Arial" panose="020B0604020202020204" pitchFamily="34" charset="0"/>
                              <a:cs typeface="Arial" panose="020B0604020202020204" pitchFamily="34" charset="0"/>
                            </a:rPr>
                            <a:t>R(%)</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9956803"/>
                      </a:ext>
                    </a:extLst>
                  </a:tr>
                  <a:tr h="255759">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864438922"/>
                      </a:ext>
                    </a:extLst>
                  </a:tr>
                  <a:tr h="255759">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12</a:t>
                          </a:r>
                        </a:p>
                      </a:txBody>
                      <a:tcPr/>
                    </a:tc>
                    <a:tc>
                      <a:txBody>
                        <a:bodyPr/>
                        <a:lstStyle/>
                        <a:p>
                          <a:pPr algn="ctr"/>
                          <a:r>
                            <a:rPr lang="en-US" dirty="0">
                              <a:latin typeface="Arial" panose="020B0604020202020204" pitchFamily="34" charset="0"/>
                              <a:cs typeface="Arial" panose="020B0604020202020204" pitchFamily="34" charset="0"/>
                            </a:rPr>
                            <a:t>9</a:t>
                          </a:r>
                        </a:p>
                      </a:txBody>
                      <a:tcPr/>
                    </a:tc>
                    <a:extLst>
                      <a:ext uri="{0D108BD9-81ED-4DB2-BD59-A6C34878D82A}">
                        <a16:rowId xmlns:a16="http://schemas.microsoft.com/office/drawing/2014/main" val="2755582174"/>
                      </a:ext>
                    </a:extLst>
                  </a:tr>
                  <a:tr h="255759">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070300824"/>
                      </a:ext>
                    </a:extLst>
                  </a:tr>
                  <a:tr h="255759">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962979411"/>
                      </a:ext>
                    </a:extLst>
                  </a:tr>
                  <a:tr h="255759">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4007197487"/>
                      </a:ext>
                    </a:extLst>
                  </a:tr>
                  <a:tr h="255759">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13</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2249841229"/>
                      </a:ext>
                    </a:extLst>
                  </a:tr>
                  <a:tr h="255759">
                    <a:tc>
                      <a:txBody>
                        <a:bodyPr/>
                        <a:lstStyle/>
                        <a:p>
                          <a:pPr algn="ctr"/>
                          <a:r>
                            <a:rPr lang="en-US" dirty="0">
                              <a:latin typeface="Arial" panose="020B0604020202020204" pitchFamily="34" charset="0"/>
                              <a:cs typeface="Arial" panose="020B0604020202020204" pitchFamily="34" charset="0"/>
                            </a:rPr>
                            <a:t>7</a:t>
                          </a:r>
                        </a:p>
                      </a:txBody>
                      <a:tcPr/>
                    </a:tc>
                    <a:tc>
                      <a:txBody>
                        <a:bodyPr/>
                        <a:lstStyle/>
                        <a:p>
                          <a:pPr algn="ctr"/>
                          <a:r>
                            <a:rPr lang="en-US" dirty="0">
                              <a:latin typeface="Arial" panose="020B0604020202020204" pitchFamily="34" charset="0"/>
                              <a:cs typeface="Arial" panose="020B0604020202020204" pitchFamily="34" charset="0"/>
                            </a:rPr>
                            <a:t>7</a:t>
                          </a:r>
                        </a:p>
                      </a:txBody>
                      <a:tcPr/>
                    </a:tc>
                    <a:tc>
                      <a:txBody>
                        <a:bodyPr/>
                        <a:lstStyle/>
                        <a:p>
                          <a:pPr algn="ctr"/>
                          <a:r>
                            <a:rPr lang="en-US" dirty="0">
                              <a:latin typeface="Arial" panose="020B0604020202020204" pitchFamily="34" charset="0"/>
                              <a:cs typeface="Arial" panose="020B0604020202020204" pitchFamily="34" charset="0"/>
                            </a:rPr>
                            <a:t>4</a:t>
                          </a:r>
                        </a:p>
                      </a:txBody>
                      <a:tcPr/>
                    </a:tc>
                    <a:extLst>
                      <a:ext uri="{0D108BD9-81ED-4DB2-BD59-A6C34878D82A}">
                        <a16:rowId xmlns:a16="http://schemas.microsoft.com/office/drawing/2014/main" val="3141669256"/>
                      </a:ext>
                    </a:extLst>
                  </a:tr>
                  <a:tr h="255759">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3959219059"/>
                      </a:ext>
                    </a:extLst>
                  </a:tr>
                  <a:tr h="255759">
                    <a:tc>
                      <a:txBody>
                        <a:bodyPr/>
                        <a:lstStyle/>
                        <a:p>
                          <a:pPr algn="ctr"/>
                          <a:r>
                            <a:rPr lang="en-US" dirty="0">
                              <a:latin typeface="Arial" panose="020B0604020202020204" pitchFamily="34" charset="0"/>
                              <a:cs typeface="Arial" panose="020B0604020202020204" pitchFamily="34" charset="0"/>
                            </a:rPr>
                            <a:t>9</a:t>
                          </a:r>
                        </a:p>
                      </a:txBody>
                      <a:tcPr/>
                    </a:tc>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152078585"/>
                      </a:ext>
                    </a:extLst>
                  </a:tr>
                  <a:tr h="255759">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12</a:t>
                          </a:r>
                        </a:p>
                      </a:txBody>
                      <a:tcPr/>
                    </a:tc>
                    <a:tc>
                      <a:txBody>
                        <a:bodyPr/>
                        <a:lstStyle/>
                        <a:p>
                          <a:pPr algn="ctr"/>
                          <a:r>
                            <a:rPr lang="en-US" dirty="0">
                              <a:latin typeface="Arial" panose="020B0604020202020204" pitchFamily="34" charset="0"/>
                              <a:cs typeface="Arial" panose="020B0604020202020204" pitchFamily="34" charset="0"/>
                            </a:rPr>
                            <a:t>3</a:t>
                          </a:r>
                        </a:p>
                      </a:txBody>
                      <a:tcPr/>
                    </a:tc>
                    <a:extLst>
                      <a:ext uri="{0D108BD9-81ED-4DB2-BD59-A6C34878D82A}">
                        <a16:rowId xmlns:a16="http://schemas.microsoft.com/office/drawing/2014/main" val="2902019267"/>
                      </a:ext>
                    </a:extLst>
                  </a:tr>
                  <a:tr h="255759">
                    <a:tc>
                      <a:txBody>
                        <a:bodyPr/>
                        <a:lstStyle/>
                        <a:p>
                          <a:pPr algn="ctr"/>
                          <a:r>
                            <a:rPr lang="en-US" dirty="0">
                              <a:latin typeface="Arial" panose="020B0604020202020204" pitchFamily="34" charset="0"/>
                              <a:cs typeface="Arial" panose="020B0604020202020204" pitchFamily="34" charset="0"/>
                            </a:rPr>
                            <a:t>Sum = </a:t>
                          </a:r>
                        </a:p>
                      </a:txBody>
                      <a:tcPr/>
                    </a:tc>
                    <a:tc>
                      <a:txBody>
                        <a:bodyPr/>
                        <a:lstStyle/>
                        <a:p>
                          <a:pPr algn="ctr"/>
                          <a:r>
                            <a:rPr lang="en-US" b="1" dirty="0">
                              <a:latin typeface="Arial" panose="020B0604020202020204" pitchFamily="34" charset="0"/>
                              <a:cs typeface="Arial" panose="020B0604020202020204" pitchFamily="34" charset="0"/>
                            </a:rPr>
                            <a:t>90</a:t>
                          </a:r>
                        </a:p>
                      </a:txBody>
                      <a:tcPr/>
                    </a:tc>
                    <a:tc>
                      <a:txBody>
                        <a:bodyPr/>
                        <a:lstStyle/>
                        <a:p>
                          <a:pPr algn="ctr"/>
                          <a:r>
                            <a:rPr lang="en-US" b="1" dirty="0">
                              <a:latin typeface="Arial" panose="020B0604020202020204" pitchFamily="34" charset="0"/>
                              <a:cs typeface="Arial" panose="020B0604020202020204" pitchFamily="34" charset="0"/>
                            </a:rPr>
                            <a:t>74</a:t>
                          </a:r>
                        </a:p>
                      </a:txBody>
                      <a:tcPr/>
                    </a:tc>
                    <a:extLst>
                      <a:ext uri="{0D108BD9-81ED-4DB2-BD59-A6C34878D82A}">
                        <a16:rowId xmlns:a16="http://schemas.microsoft.com/office/drawing/2014/main" val="2578744625"/>
                      </a:ext>
                    </a:extLst>
                  </a:tr>
                </a:tbl>
              </a:graphicData>
            </a:graphic>
          </p:graphicFrame>
        </mc:Choice>
        <mc:Fallback xmlns="">
          <p:graphicFrame>
            <p:nvGraphicFramePr>
              <p:cNvPr id="8" name="Table 8">
                <a:extLst>
                  <a:ext uri="{FF2B5EF4-FFF2-40B4-BE49-F238E27FC236}">
                    <a16:creationId xmlns:a16="http://schemas.microsoft.com/office/drawing/2014/main" id="{2F0C609E-51A3-E703-31B8-1DC974E17D12}"/>
                  </a:ext>
                </a:extLst>
              </p:cNvPr>
              <p:cNvGraphicFramePr>
                <a:graphicFrameLocks noGrp="1"/>
              </p:cNvGraphicFramePr>
              <p:nvPr>
                <p:extLst>
                  <p:ext uri="{D42A27DB-BD31-4B8C-83A1-F6EECF244321}">
                    <p14:modId xmlns:p14="http://schemas.microsoft.com/office/powerpoint/2010/main" val="1821508652"/>
                  </p:ext>
                </p:extLst>
              </p:nvPr>
            </p:nvGraphicFramePr>
            <p:xfrm>
              <a:off x="7391400" y="1692434"/>
              <a:ext cx="4197489" cy="4389120"/>
            </p:xfrm>
            <a:graphic>
              <a:graphicData uri="http://schemas.openxmlformats.org/drawingml/2006/table">
                <a:tbl>
                  <a:tblPr firstRow="1" bandRow="1">
                    <a:tableStyleId>{5C22544A-7EE6-4342-B048-85BDC9FD1C3A}</a:tableStyleId>
                  </a:tblPr>
                  <a:tblGrid>
                    <a:gridCol w="1399163">
                      <a:extLst>
                        <a:ext uri="{9D8B030D-6E8A-4147-A177-3AD203B41FA5}">
                          <a16:colId xmlns:a16="http://schemas.microsoft.com/office/drawing/2014/main" val="2834103369"/>
                        </a:ext>
                      </a:extLst>
                    </a:gridCol>
                    <a:gridCol w="1399163">
                      <a:extLst>
                        <a:ext uri="{9D8B030D-6E8A-4147-A177-3AD203B41FA5}">
                          <a16:colId xmlns:a16="http://schemas.microsoft.com/office/drawing/2014/main" val="4064087187"/>
                        </a:ext>
                      </a:extLst>
                    </a:gridCol>
                    <a:gridCol w="1399163">
                      <a:extLst>
                        <a:ext uri="{9D8B030D-6E8A-4147-A177-3AD203B41FA5}">
                          <a16:colId xmlns:a16="http://schemas.microsoft.com/office/drawing/2014/main" val="2089155495"/>
                        </a:ext>
                      </a:extLst>
                    </a:gridCol>
                  </a:tblGrid>
                  <a:tr h="365760">
                    <a:tc>
                      <a:txBody>
                        <a:bodyPr/>
                        <a:lstStyle/>
                        <a:p>
                          <a:pPr algn="ctr"/>
                          <a:r>
                            <a:rPr lang="en-US" dirty="0">
                              <a:latin typeface="Arial" panose="020B0604020202020204" pitchFamily="34" charset="0"/>
                              <a:cs typeface="Arial" panose="020B0604020202020204" pitchFamily="34" charset="0"/>
                            </a:rPr>
                            <a:t>Year</a:t>
                          </a:r>
                        </a:p>
                      </a:txBody>
                      <a:tcPr/>
                    </a:tc>
                    <a:tc>
                      <a:txBody>
                        <a:bodyPr/>
                        <a:lstStyle/>
                        <a:p>
                          <a:pPr algn="ctr"/>
                          <a:r>
                            <a:rPr lang="en-US" dirty="0">
                              <a:latin typeface="Arial" panose="020B0604020202020204" pitchFamily="34" charset="0"/>
                              <a:cs typeface="Arial" panose="020B0604020202020204" pitchFamily="34" charset="0"/>
                            </a:rPr>
                            <a:t>R(%)</a:t>
                          </a:r>
                        </a:p>
                      </a:txBody>
                      <a:tcPr/>
                    </a:tc>
                    <a:tc>
                      <a:txBody>
                        <a:bodyPr/>
                        <a:lstStyle/>
                        <a:p>
                          <a:endParaRPr lang="en-US"/>
                        </a:p>
                      </a:txBody>
                      <a:tcPr>
                        <a:blipFill>
                          <a:blip r:embed="rId3"/>
                          <a:stretch>
                            <a:fillRect l="-200435" t="-8333" r="-1739" b="-1128333"/>
                          </a:stretch>
                        </a:blipFill>
                      </a:tcPr>
                    </a:tc>
                    <a:extLst>
                      <a:ext uri="{0D108BD9-81ED-4DB2-BD59-A6C34878D82A}">
                        <a16:rowId xmlns:a16="http://schemas.microsoft.com/office/drawing/2014/main" val="1649956803"/>
                      </a:ext>
                    </a:extLst>
                  </a:tr>
                  <a:tr h="36576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864438922"/>
                      </a:ext>
                    </a:extLst>
                  </a:tr>
                  <a:tr h="36576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12</a:t>
                          </a:r>
                        </a:p>
                      </a:txBody>
                      <a:tcPr/>
                    </a:tc>
                    <a:tc>
                      <a:txBody>
                        <a:bodyPr/>
                        <a:lstStyle/>
                        <a:p>
                          <a:pPr algn="ctr"/>
                          <a:r>
                            <a:rPr lang="en-US" dirty="0">
                              <a:latin typeface="Arial" panose="020B0604020202020204" pitchFamily="34" charset="0"/>
                              <a:cs typeface="Arial" panose="020B0604020202020204" pitchFamily="34" charset="0"/>
                            </a:rPr>
                            <a:t>9</a:t>
                          </a:r>
                        </a:p>
                      </a:txBody>
                      <a:tcPr/>
                    </a:tc>
                    <a:extLst>
                      <a:ext uri="{0D108BD9-81ED-4DB2-BD59-A6C34878D82A}">
                        <a16:rowId xmlns:a16="http://schemas.microsoft.com/office/drawing/2014/main" val="2755582174"/>
                      </a:ext>
                    </a:extLst>
                  </a:tr>
                  <a:tr h="36576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070300824"/>
                      </a:ext>
                    </a:extLst>
                  </a:tr>
                  <a:tr h="36576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962979411"/>
                      </a:ext>
                    </a:extLst>
                  </a:tr>
                  <a:tr h="36576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4007197487"/>
                      </a:ext>
                    </a:extLst>
                  </a:tr>
                  <a:tr h="36576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13</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2249841229"/>
                      </a:ext>
                    </a:extLst>
                  </a:tr>
                  <a:tr h="365760">
                    <a:tc>
                      <a:txBody>
                        <a:bodyPr/>
                        <a:lstStyle/>
                        <a:p>
                          <a:pPr algn="ctr"/>
                          <a:r>
                            <a:rPr lang="en-US" dirty="0">
                              <a:latin typeface="Arial" panose="020B0604020202020204" pitchFamily="34" charset="0"/>
                              <a:cs typeface="Arial" panose="020B0604020202020204" pitchFamily="34" charset="0"/>
                            </a:rPr>
                            <a:t>7</a:t>
                          </a:r>
                        </a:p>
                      </a:txBody>
                      <a:tcPr/>
                    </a:tc>
                    <a:tc>
                      <a:txBody>
                        <a:bodyPr/>
                        <a:lstStyle/>
                        <a:p>
                          <a:pPr algn="ctr"/>
                          <a:r>
                            <a:rPr lang="en-US" dirty="0">
                              <a:latin typeface="Arial" panose="020B0604020202020204" pitchFamily="34" charset="0"/>
                              <a:cs typeface="Arial" panose="020B0604020202020204" pitchFamily="34" charset="0"/>
                            </a:rPr>
                            <a:t>7</a:t>
                          </a:r>
                        </a:p>
                      </a:txBody>
                      <a:tcPr/>
                    </a:tc>
                    <a:tc>
                      <a:txBody>
                        <a:bodyPr/>
                        <a:lstStyle/>
                        <a:p>
                          <a:pPr algn="ctr"/>
                          <a:r>
                            <a:rPr lang="en-US" dirty="0">
                              <a:latin typeface="Arial" panose="020B0604020202020204" pitchFamily="34" charset="0"/>
                              <a:cs typeface="Arial" panose="020B0604020202020204" pitchFamily="34" charset="0"/>
                            </a:rPr>
                            <a:t>4</a:t>
                          </a:r>
                        </a:p>
                      </a:txBody>
                      <a:tcPr/>
                    </a:tc>
                    <a:extLst>
                      <a:ext uri="{0D108BD9-81ED-4DB2-BD59-A6C34878D82A}">
                        <a16:rowId xmlns:a16="http://schemas.microsoft.com/office/drawing/2014/main" val="3141669256"/>
                      </a:ext>
                    </a:extLst>
                  </a:tr>
                  <a:tr h="365760">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16</a:t>
                          </a:r>
                        </a:p>
                      </a:txBody>
                      <a:tcPr/>
                    </a:tc>
                    <a:extLst>
                      <a:ext uri="{0D108BD9-81ED-4DB2-BD59-A6C34878D82A}">
                        <a16:rowId xmlns:a16="http://schemas.microsoft.com/office/drawing/2014/main" val="3959219059"/>
                      </a:ext>
                    </a:extLst>
                  </a:tr>
                  <a:tr h="365760">
                    <a:tc>
                      <a:txBody>
                        <a:bodyPr/>
                        <a:lstStyle/>
                        <a:p>
                          <a:pPr algn="ctr"/>
                          <a:r>
                            <a:rPr lang="en-US" dirty="0">
                              <a:latin typeface="Arial" panose="020B0604020202020204" pitchFamily="34" charset="0"/>
                              <a:cs typeface="Arial" panose="020B0604020202020204" pitchFamily="34" charset="0"/>
                            </a:rPr>
                            <a:t>9</a:t>
                          </a:r>
                        </a:p>
                      </a:txBody>
                      <a:tcPr/>
                    </a:tc>
                    <a:tc>
                      <a:txBody>
                        <a:bodyPr/>
                        <a:lstStyle/>
                        <a:p>
                          <a:pPr algn="ctr"/>
                          <a:r>
                            <a:rPr lang="en-US" dirty="0">
                              <a:latin typeface="Arial" panose="020B0604020202020204" pitchFamily="34" charset="0"/>
                              <a:cs typeface="Arial" panose="020B0604020202020204" pitchFamily="34" charset="0"/>
                            </a:rPr>
                            <a:t>8</a:t>
                          </a:r>
                        </a:p>
                      </a:txBody>
                      <a:tcPr/>
                    </a:tc>
                    <a:tc>
                      <a:txBody>
                        <a:bodyPr/>
                        <a:lstStyle/>
                        <a:p>
                          <a:pPr algn="ctr"/>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152078585"/>
                      </a:ext>
                    </a:extLst>
                  </a:tr>
                  <a:tr h="365760">
                    <a:tc>
                      <a:txBody>
                        <a:bodyPr/>
                        <a:lstStyle/>
                        <a:p>
                          <a:pPr algn="ctr"/>
                          <a:r>
                            <a:rPr lang="en-US" dirty="0">
                              <a:latin typeface="Arial" panose="020B0604020202020204" pitchFamily="34" charset="0"/>
                              <a:cs typeface="Arial" panose="020B0604020202020204" pitchFamily="34" charset="0"/>
                            </a:rPr>
                            <a:t>10</a:t>
                          </a:r>
                        </a:p>
                      </a:txBody>
                      <a:tcPr/>
                    </a:tc>
                    <a:tc>
                      <a:txBody>
                        <a:bodyPr/>
                        <a:lstStyle/>
                        <a:p>
                          <a:pPr algn="ctr"/>
                          <a:r>
                            <a:rPr lang="en-US" dirty="0">
                              <a:latin typeface="Arial" panose="020B0604020202020204" pitchFamily="34" charset="0"/>
                              <a:cs typeface="Arial" panose="020B0604020202020204" pitchFamily="34" charset="0"/>
                            </a:rPr>
                            <a:t>12</a:t>
                          </a:r>
                        </a:p>
                      </a:txBody>
                      <a:tcPr/>
                    </a:tc>
                    <a:tc>
                      <a:txBody>
                        <a:bodyPr/>
                        <a:lstStyle/>
                        <a:p>
                          <a:pPr algn="ctr"/>
                          <a:r>
                            <a:rPr lang="en-US" dirty="0">
                              <a:latin typeface="Arial" panose="020B0604020202020204" pitchFamily="34" charset="0"/>
                              <a:cs typeface="Arial" panose="020B0604020202020204" pitchFamily="34" charset="0"/>
                            </a:rPr>
                            <a:t>3</a:t>
                          </a:r>
                        </a:p>
                      </a:txBody>
                      <a:tcPr/>
                    </a:tc>
                    <a:extLst>
                      <a:ext uri="{0D108BD9-81ED-4DB2-BD59-A6C34878D82A}">
                        <a16:rowId xmlns:a16="http://schemas.microsoft.com/office/drawing/2014/main" val="2902019267"/>
                      </a:ext>
                    </a:extLst>
                  </a:tr>
                  <a:tr h="365760">
                    <a:tc>
                      <a:txBody>
                        <a:bodyPr/>
                        <a:lstStyle/>
                        <a:p>
                          <a:pPr algn="ctr"/>
                          <a:r>
                            <a:rPr lang="en-US" dirty="0">
                              <a:latin typeface="Arial" panose="020B0604020202020204" pitchFamily="34" charset="0"/>
                              <a:cs typeface="Arial" panose="020B0604020202020204" pitchFamily="34" charset="0"/>
                            </a:rPr>
                            <a:t>Sum = </a:t>
                          </a:r>
                        </a:p>
                      </a:txBody>
                      <a:tcPr/>
                    </a:tc>
                    <a:tc>
                      <a:txBody>
                        <a:bodyPr/>
                        <a:lstStyle/>
                        <a:p>
                          <a:pPr algn="ctr"/>
                          <a:r>
                            <a:rPr lang="en-US" b="1" dirty="0">
                              <a:latin typeface="Arial" panose="020B0604020202020204" pitchFamily="34" charset="0"/>
                              <a:cs typeface="Arial" panose="020B0604020202020204" pitchFamily="34" charset="0"/>
                            </a:rPr>
                            <a:t>90</a:t>
                          </a:r>
                        </a:p>
                      </a:txBody>
                      <a:tcPr/>
                    </a:tc>
                    <a:tc>
                      <a:txBody>
                        <a:bodyPr/>
                        <a:lstStyle/>
                        <a:p>
                          <a:pPr algn="ctr"/>
                          <a:r>
                            <a:rPr lang="en-US" b="1" dirty="0">
                              <a:latin typeface="Arial" panose="020B0604020202020204" pitchFamily="34" charset="0"/>
                              <a:cs typeface="Arial" panose="020B0604020202020204" pitchFamily="34" charset="0"/>
                            </a:rPr>
                            <a:t>74</a:t>
                          </a:r>
                        </a:p>
                      </a:txBody>
                      <a:tcPr/>
                    </a:tc>
                    <a:extLst>
                      <a:ext uri="{0D108BD9-81ED-4DB2-BD59-A6C34878D82A}">
                        <a16:rowId xmlns:a16="http://schemas.microsoft.com/office/drawing/2014/main" val="2578744625"/>
                      </a:ext>
                    </a:extLst>
                  </a:tr>
                </a:tbl>
              </a:graphicData>
            </a:graphic>
          </p:graphicFrame>
        </mc:Fallback>
      </mc:AlternateContent>
    </p:spTree>
    <p:extLst>
      <p:ext uri="{BB962C8B-B14F-4D97-AF65-F5344CB8AC3E}">
        <p14:creationId xmlns:p14="http://schemas.microsoft.com/office/powerpoint/2010/main" val="16535517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74578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Standard Deviation or Variance as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515600" cy="5083175"/>
          </a:xfrm>
          <a:noFill/>
        </p:spPr>
        <p:txBody>
          <a:bodyPr>
            <a:normAutofit/>
          </a:bodyPr>
          <a:lstStyle/>
          <a:p>
            <a:pPr marL="0" indent="0" algn="just">
              <a:lnSpc>
                <a:spcPct val="90000"/>
              </a:lnSpc>
              <a:buNone/>
            </a:pPr>
            <a:r>
              <a:rPr lang="en-US" sz="2400" b="1" u="sng" dirty="0">
                <a:latin typeface="Arial" panose="020B0604020202020204" pitchFamily="34" charset="0"/>
                <a:cs typeface="Arial" panose="020B0604020202020204" pitchFamily="34" charset="0"/>
              </a:rPr>
              <a:t>Question</a:t>
            </a:r>
          </a:p>
          <a:p>
            <a:pPr algn="just">
              <a:lnSpc>
                <a:spcPct val="90000"/>
              </a:lnSpc>
            </a:pPr>
            <a:r>
              <a:rPr lang="en-US" sz="2400" dirty="0">
                <a:latin typeface="Arial" panose="020B0604020202020204" pitchFamily="34" charset="0"/>
                <a:cs typeface="Arial" panose="020B0604020202020204" pitchFamily="34" charset="0"/>
              </a:rPr>
              <a:t>An investment analyst wants to analyze risk and return on security A for which he has constructed the following return distribution</a:t>
            </a:r>
            <a:r>
              <a:rPr lang="en-US" sz="2400" dirty="0"/>
              <a:t>.</a:t>
            </a:r>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p>
          <a:p>
            <a:pPr algn="just">
              <a:lnSpc>
                <a:spcPct val="90000"/>
              </a:lnSpc>
            </a:pPr>
            <a:endParaRPr lang="en-US" sz="2400" dirty="0">
              <a:latin typeface="Arial" panose="020B0604020202020204" pitchFamily="34" charset="0"/>
              <a:cs typeface="Arial" panose="020B0604020202020204" pitchFamily="34" charset="0"/>
            </a:endParaRPr>
          </a:p>
          <a:p>
            <a:pPr algn="just">
              <a:lnSpc>
                <a:spcPct val="90000"/>
              </a:lnSpc>
            </a:pPr>
            <a:r>
              <a:rPr lang="en-US" sz="2400" dirty="0">
                <a:latin typeface="Arial" panose="020B0604020202020204" pitchFamily="34" charset="0"/>
                <a:cs typeface="Arial" panose="020B0604020202020204" pitchFamily="34" charset="0"/>
              </a:rPr>
              <a:t>Calculate expected return and total risk.</a:t>
            </a:r>
          </a:p>
          <a:p>
            <a:pPr algn="just">
              <a:lnSpc>
                <a:spcPct val="90000"/>
              </a:lnSpc>
            </a:pPr>
            <a:endParaRPr lang="en-US" sz="2400" dirty="0">
              <a:latin typeface="Arial" panose="020B0604020202020204" pitchFamily="34" charset="0"/>
              <a:cs typeface="Arial" panose="020B0604020202020204" pitchFamily="34" charset="0"/>
            </a:endParaRPr>
          </a:p>
          <a:p>
            <a:pPr marL="0" indent="0" algn="just">
              <a:lnSpc>
                <a:spcPct val="90000"/>
              </a:lnSpc>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37</a:t>
            </a:fld>
            <a:endParaRPr lang="en-US"/>
          </a:p>
        </p:txBody>
      </p:sp>
      <p:graphicFrame>
        <p:nvGraphicFramePr>
          <p:cNvPr id="8" name="Table 8">
            <a:extLst>
              <a:ext uri="{FF2B5EF4-FFF2-40B4-BE49-F238E27FC236}">
                <a16:creationId xmlns:a16="http://schemas.microsoft.com/office/drawing/2014/main" id="{2F0C609E-51A3-E703-31B8-1DC974E17D12}"/>
              </a:ext>
            </a:extLst>
          </p:cNvPr>
          <p:cNvGraphicFramePr>
            <a:graphicFrameLocks noGrp="1"/>
          </p:cNvGraphicFramePr>
          <p:nvPr>
            <p:extLst>
              <p:ext uri="{D42A27DB-BD31-4B8C-83A1-F6EECF244321}">
                <p14:modId xmlns:p14="http://schemas.microsoft.com/office/powerpoint/2010/main" val="574939879"/>
              </p:ext>
            </p:extLst>
          </p:nvPr>
        </p:nvGraphicFramePr>
        <p:xfrm>
          <a:off x="2971800" y="2667000"/>
          <a:ext cx="5418666" cy="2743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834103369"/>
                    </a:ext>
                  </a:extLst>
                </a:gridCol>
                <a:gridCol w="2709333">
                  <a:extLst>
                    <a:ext uri="{9D8B030D-6E8A-4147-A177-3AD203B41FA5}">
                      <a16:colId xmlns:a16="http://schemas.microsoft.com/office/drawing/2014/main" val="4064087187"/>
                    </a:ext>
                  </a:extLst>
                </a:gridCol>
              </a:tblGrid>
              <a:tr h="453231">
                <a:tc>
                  <a:txBody>
                    <a:bodyPr/>
                    <a:lstStyle/>
                    <a:p>
                      <a:pPr algn="ctr"/>
                      <a:r>
                        <a:rPr lang="en-US" sz="2400" dirty="0">
                          <a:latin typeface="Arial" panose="020B0604020202020204" pitchFamily="34" charset="0"/>
                          <a:cs typeface="Arial" panose="020B0604020202020204" pitchFamily="34" charset="0"/>
                        </a:rPr>
                        <a:t>Return (Ri)</a:t>
                      </a:r>
                    </a:p>
                  </a:txBody>
                  <a:tcPr/>
                </a:tc>
                <a:tc>
                  <a:txBody>
                    <a:bodyPr/>
                    <a:lstStyle/>
                    <a:p>
                      <a:pPr algn="ctr"/>
                      <a:r>
                        <a:rPr lang="en-US" sz="2400" dirty="0">
                          <a:latin typeface="Arial" panose="020B0604020202020204" pitchFamily="34" charset="0"/>
                          <a:cs typeface="Arial" panose="020B0604020202020204" pitchFamily="34" charset="0"/>
                        </a:rPr>
                        <a:t>Probability</a:t>
                      </a:r>
                    </a:p>
                  </a:txBody>
                  <a:tcPr/>
                </a:tc>
                <a:extLst>
                  <a:ext uri="{0D108BD9-81ED-4DB2-BD59-A6C34878D82A}">
                    <a16:rowId xmlns:a16="http://schemas.microsoft.com/office/drawing/2014/main" val="1649956803"/>
                  </a:ext>
                </a:extLst>
              </a:tr>
              <a:tr h="453231">
                <a:tc>
                  <a:txBody>
                    <a:bodyPr/>
                    <a:lstStyle/>
                    <a:p>
                      <a:pPr algn="ctr"/>
                      <a:r>
                        <a:rPr lang="en-US" sz="2400" dirty="0">
                          <a:latin typeface="Arial" panose="020B0604020202020204" pitchFamily="34" charset="0"/>
                          <a:cs typeface="Arial" panose="020B0604020202020204" pitchFamily="34" charset="0"/>
                        </a:rPr>
                        <a:t>20</a:t>
                      </a:r>
                    </a:p>
                  </a:txBody>
                  <a:tcPr/>
                </a:tc>
                <a:tc>
                  <a:txBody>
                    <a:bodyPr/>
                    <a:lstStyle/>
                    <a:p>
                      <a:pPr algn="ctr"/>
                      <a:r>
                        <a:rPr lang="en-US" sz="2400" dirty="0">
                          <a:latin typeface="Arial" panose="020B0604020202020204" pitchFamily="34" charset="0"/>
                          <a:cs typeface="Arial" panose="020B0604020202020204" pitchFamily="34" charset="0"/>
                        </a:rPr>
                        <a:t>0.1</a:t>
                      </a:r>
                    </a:p>
                  </a:txBody>
                  <a:tcPr/>
                </a:tc>
                <a:extLst>
                  <a:ext uri="{0D108BD9-81ED-4DB2-BD59-A6C34878D82A}">
                    <a16:rowId xmlns:a16="http://schemas.microsoft.com/office/drawing/2014/main" val="2864438922"/>
                  </a:ext>
                </a:extLst>
              </a:tr>
              <a:tr h="453231">
                <a:tc>
                  <a:txBody>
                    <a:bodyPr/>
                    <a:lstStyle/>
                    <a:p>
                      <a:pPr algn="ctr"/>
                      <a:r>
                        <a:rPr lang="en-US" sz="2400" dirty="0">
                          <a:latin typeface="Arial" panose="020B0604020202020204" pitchFamily="34" charset="0"/>
                          <a:cs typeface="Arial" panose="020B0604020202020204" pitchFamily="34" charset="0"/>
                        </a:rPr>
                        <a:t>15</a:t>
                      </a:r>
                    </a:p>
                  </a:txBody>
                  <a:tcPr/>
                </a:tc>
                <a:tc>
                  <a:txBody>
                    <a:bodyPr/>
                    <a:lstStyle/>
                    <a:p>
                      <a:pPr algn="ctr"/>
                      <a:r>
                        <a:rPr lang="en-US" sz="2400" dirty="0">
                          <a:latin typeface="Arial" panose="020B0604020202020204" pitchFamily="34" charset="0"/>
                          <a:cs typeface="Arial" panose="020B0604020202020204" pitchFamily="34" charset="0"/>
                        </a:rPr>
                        <a:t>0.2</a:t>
                      </a:r>
                    </a:p>
                  </a:txBody>
                  <a:tcPr/>
                </a:tc>
                <a:extLst>
                  <a:ext uri="{0D108BD9-81ED-4DB2-BD59-A6C34878D82A}">
                    <a16:rowId xmlns:a16="http://schemas.microsoft.com/office/drawing/2014/main" val="2755582174"/>
                  </a:ext>
                </a:extLst>
              </a:tr>
              <a:tr h="453231">
                <a:tc>
                  <a:txBody>
                    <a:bodyPr/>
                    <a:lstStyle/>
                    <a:p>
                      <a:pPr algn="ctr"/>
                      <a:r>
                        <a:rPr lang="en-US" sz="2400" dirty="0">
                          <a:latin typeface="Arial" panose="020B0604020202020204" pitchFamily="34" charset="0"/>
                          <a:cs typeface="Arial" panose="020B0604020202020204" pitchFamily="34" charset="0"/>
                        </a:rPr>
                        <a:t>-5</a:t>
                      </a:r>
                    </a:p>
                  </a:txBody>
                  <a:tcPr/>
                </a:tc>
                <a:tc>
                  <a:txBody>
                    <a:bodyPr/>
                    <a:lstStyle/>
                    <a:p>
                      <a:pPr algn="ctr"/>
                      <a:r>
                        <a:rPr lang="en-US" sz="2400" dirty="0">
                          <a:latin typeface="Arial" panose="020B0604020202020204" pitchFamily="34" charset="0"/>
                          <a:cs typeface="Arial" panose="020B0604020202020204" pitchFamily="34" charset="0"/>
                        </a:rPr>
                        <a:t>0.2</a:t>
                      </a:r>
                    </a:p>
                  </a:txBody>
                  <a:tcPr/>
                </a:tc>
                <a:extLst>
                  <a:ext uri="{0D108BD9-81ED-4DB2-BD59-A6C34878D82A}">
                    <a16:rowId xmlns:a16="http://schemas.microsoft.com/office/drawing/2014/main" val="2070300824"/>
                  </a:ext>
                </a:extLst>
              </a:tr>
              <a:tr h="453231">
                <a:tc>
                  <a:txBody>
                    <a:bodyPr/>
                    <a:lstStyle/>
                    <a:p>
                      <a:pPr algn="ctr"/>
                      <a:r>
                        <a:rPr lang="en-US" sz="2400" dirty="0">
                          <a:latin typeface="Arial" panose="020B0604020202020204" pitchFamily="34" charset="0"/>
                          <a:cs typeface="Arial" panose="020B0604020202020204" pitchFamily="34" charset="0"/>
                        </a:rPr>
                        <a:t>10</a:t>
                      </a:r>
                    </a:p>
                  </a:txBody>
                  <a:tcPr/>
                </a:tc>
                <a:tc>
                  <a:txBody>
                    <a:bodyPr/>
                    <a:lstStyle/>
                    <a:p>
                      <a:pPr algn="ctr"/>
                      <a:r>
                        <a:rPr lang="en-US" sz="2400" dirty="0">
                          <a:latin typeface="Arial" panose="020B0604020202020204" pitchFamily="34" charset="0"/>
                          <a:cs typeface="Arial" panose="020B0604020202020204" pitchFamily="34" charset="0"/>
                        </a:rPr>
                        <a:t>0.3</a:t>
                      </a:r>
                    </a:p>
                  </a:txBody>
                  <a:tcPr/>
                </a:tc>
                <a:extLst>
                  <a:ext uri="{0D108BD9-81ED-4DB2-BD59-A6C34878D82A}">
                    <a16:rowId xmlns:a16="http://schemas.microsoft.com/office/drawing/2014/main" val="962979411"/>
                  </a:ext>
                </a:extLst>
              </a:tr>
              <a:tr h="453231">
                <a:tc>
                  <a:txBody>
                    <a:bodyPr/>
                    <a:lstStyle/>
                    <a:p>
                      <a:pPr algn="ctr"/>
                      <a:r>
                        <a:rPr lang="en-US" sz="2400" dirty="0">
                          <a:latin typeface="Arial" panose="020B0604020202020204" pitchFamily="34" charset="0"/>
                          <a:cs typeface="Arial" panose="020B0604020202020204" pitchFamily="34" charset="0"/>
                        </a:rPr>
                        <a:t>25</a:t>
                      </a:r>
                    </a:p>
                  </a:txBody>
                  <a:tcPr/>
                </a:tc>
                <a:tc>
                  <a:txBody>
                    <a:bodyPr/>
                    <a:lstStyle/>
                    <a:p>
                      <a:pPr algn="ctr"/>
                      <a:r>
                        <a:rPr lang="en-US" sz="2400" dirty="0">
                          <a:latin typeface="Arial" panose="020B0604020202020204" pitchFamily="34" charset="0"/>
                          <a:cs typeface="Arial" panose="020B0604020202020204" pitchFamily="34" charset="0"/>
                        </a:rPr>
                        <a:t>0.2</a:t>
                      </a:r>
                    </a:p>
                  </a:txBody>
                  <a:tcPr/>
                </a:tc>
                <a:extLst>
                  <a:ext uri="{0D108BD9-81ED-4DB2-BD59-A6C34878D82A}">
                    <a16:rowId xmlns:a16="http://schemas.microsoft.com/office/drawing/2014/main" val="4007197487"/>
                  </a:ext>
                </a:extLst>
              </a:tr>
            </a:tbl>
          </a:graphicData>
        </a:graphic>
      </p:graphicFrame>
    </p:spTree>
    <p:extLst>
      <p:ext uri="{BB962C8B-B14F-4D97-AF65-F5344CB8AC3E}">
        <p14:creationId xmlns:p14="http://schemas.microsoft.com/office/powerpoint/2010/main" val="6891510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74578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Standard Deviation or Variance as Risk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3112" y="1143000"/>
                <a:ext cx="10972799" cy="5555778"/>
              </a:xfrm>
              <a:noFill/>
            </p:spPr>
            <p:txBody>
              <a:bodyPr>
                <a:normAutofit lnSpcReduction="10000"/>
              </a:bodyPr>
              <a:lstStyle/>
              <a:p>
                <a:pPr marL="0" indent="0" algn="just">
                  <a:lnSpc>
                    <a:spcPct val="90000"/>
                  </a:lnSpc>
                  <a:buNone/>
                </a:pPr>
                <a:r>
                  <a:rPr lang="en-US" sz="2400" b="1" u="sng" dirty="0">
                    <a:latin typeface="Arial" panose="020B0604020202020204" pitchFamily="34" charset="0"/>
                    <a:cs typeface="Arial" panose="020B0604020202020204" pitchFamily="34" charset="0"/>
                  </a:rPr>
                  <a:t>Solution</a:t>
                </a:r>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marL="0" indent="0" algn="just">
                  <a:lnSpc>
                    <a:spcPct val="90000"/>
                  </a:lnSpc>
                  <a:buNone/>
                </a:pPr>
                <a:endParaRPr lang="en-US" sz="2400" b="1" u="sng" dirty="0"/>
              </a:p>
              <a:p>
                <a:pPr algn="just">
                  <a:lnSpc>
                    <a:spcPct val="90000"/>
                  </a:lnSpc>
                </a:pP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𝑅</m:t>
                        </m:r>
                      </m:e>
                    </m:acc>
                  </m:oMath>
                </a14:m>
                <a:r>
                  <a:rPr lang="en-US" sz="2400" dirty="0">
                    <a:latin typeface="Arial" panose="020B0604020202020204" pitchFamily="34" charset="0"/>
                    <a:cs typeface="Arial" panose="020B0604020202020204" pitchFamily="34" charset="0"/>
                  </a:rPr>
                  <a:t> = Expected returns =  </a:t>
                </a:r>
                <a14:m>
                  <m:oMath xmlns:m="http://schemas.openxmlformats.org/officeDocument/2006/math">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𝑅𝑖𝑃𝑖</m:t>
                        </m:r>
                        <m:r>
                          <a:rPr lang="en-US" sz="2400" b="0" i="1" smtClean="0">
                            <a:latin typeface="Cambria Math" panose="02040503050406030204" pitchFamily="18" charset="0"/>
                          </a:rPr>
                          <m:t>=12%</m:t>
                        </m:r>
                      </m:e>
                    </m:nary>
                  </m:oMath>
                </a14:m>
                <a:endParaRPr lang="en-US" sz="2400" dirty="0">
                  <a:latin typeface="Arial" panose="020B0604020202020204" pitchFamily="34" charset="0"/>
                  <a:cs typeface="Arial" panose="020B0604020202020204" pitchFamily="34" charset="0"/>
                </a:endParaRPr>
              </a:p>
              <a:p>
                <a:pPr algn="just">
                  <a:lnSpc>
                    <a:spcPct val="90000"/>
                  </a:lnSpc>
                </a:pPr>
                <a:r>
                  <a:rPr lang="en-US" sz="2400" dirty="0">
                    <a:latin typeface="Arial" panose="020B0604020202020204" pitchFamily="34" charset="0"/>
                    <a:cs typeface="Arial" panose="020B0604020202020204" pitchFamily="34" charset="0"/>
                  </a:rPr>
                  <a:t>SD=</a:t>
                </a:r>
                <a14:m>
                  <m:oMath xmlns:m="http://schemas.openxmlformats.org/officeDocument/2006/math">
                    <m:rad>
                      <m:radPr>
                        <m:degHide m:val="on"/>
                        <m:ctrlPr>
                          <a:rPr lang="en-US" sz="2400" i="1">
                            <a:latin typeface="Cambria Math" panose="02040503050406030204" pitchFamily="18" charset="0"/>
                          </a:rPr>
                        </m:ctrlPr>
                      </m:radPr>
                      <m:deg/>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𝑖</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𝑖</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𝑅</m:t>
                                    </m:r>
                                  </m:e>
                                </m:acc>
                                <m:r>
                                  <a:rPr lang="en-US" sz="2400" i="1">
                                    <a:latin typeface="Cambria Math" panose="02040503050406030204" pitchFamily="18" charset="0"/>
                                  </a:rPr>
                                  <m:t>)</m:t>
                                </m:r>
                              </m:e>
                              <m:sup>
                                <m:r>
                                  <a:rPr lang="en-US" sz="2400" i="1">
                                    <a:latin typeface="Cambria Math" panose="02040503050406030204" pitchFamily="18" charset="0"/>
                                  </a:rPr>
                                  <m:t>2</m:t>
                                </m:r>
                              </m:sup>
                            </m:sSup>
                          </m:e>
                        </m:nary>
                      </m:e>
                    </m:rad>
                  </m:oMath>
                </a14:m>
                <a:r>
                  <a:rPr lang="en-US" sz="24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101</m:t>
                        </m:r>
                      </m:e>
                    </m:rad>
                  </m:oMath>
                </a14:m>
                <a:r>
                  <a:rPr lang="en-US" sz="2400" dirty="0">
                    <a:latin typeface="Arial" panose="020B0604020202020204" pitchFamily="34" charset="0"/>
                    <a:cs typeface="Arial" panose="020B0604020202020204" pitchFamily="34" charset="0"/>
                  </a:rPr>
                  <a:t> = 10.05% </a:t>
                </a:r>
              </a:p>
              <a:p>
                <a:pPr algn="just">
                  <a:lnSpc>
                    <a:spcPct val="90000"/>
                  </a:lnSpc>
                </a:pPr>
                <a:r>
                  <a:rPr lang="en-US" sz="2400" dirty="0">
                    <a:latin typeface="Arial" panose="020B0604020202020204" pitchFamily="34" charset="0"/>
                    <a:cs typeface="Arial" panose="020B0604020202020204" pitchFamily="34" charset="0"/>
                  </a:rPr>
                  <a:t>Hence security A has average return of 12% with a total risk of 10.05%. This security has very high risk due to very large variability in return (i.e. -5% to 25%)</a:t>
                </a:r>
              </a:p>
              <a:p>
                <a:pPr marL="0" indent="0" algn="just">
                  <a:lnSpc>
                    <a:spcPct val="90000"/>
                  </a:lnSpc>
                  <a:buNone/>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3112" y="1143000"/>
                <a:ext cx="10972799" cy="5555778"/>
              </a:xfrm>
              <a:blipFill>
                <a:blip r:embed="rId2"/>
                <a:stretch>
                  <a:fillRect l="-889" t="-2086" r="-833"/>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38</a:t>
            </a:fld>
            <a:endParaRPr lang="en-US"/>
          </a:p>
        </p:txBody>
      </p:sp>
      <mc:AlternateContent xmlns:mc="http://schemas.openxmlformats.org/markup-compatibility/2006" xmlns:a14="http://schemas.microsoft.com/office/drawing/2010/main">
        <mc:Choice Requires="a14">
          <p:graphicFrame>
            <p:nvGraphicFramePr>
              <p:cNvPr id="6" name="Table 8">
                <a:extLst>
                  <a:ext uri="{FF2B5EF4-FFF2-40B4-BE49-F238E27FC236}">
                    <a16:creationId xmlns:a16="http://schemas.microsoft.com/office/drawing/2014/main" id="{0EBE90AD-EED1-A2E5-53F4-564EEA0DF3CC}"/>
                  </a:ext>
                </a:extLst>
              </p:cNvPr>
              <p:cNvGraphicFramePr>
                <a:graphicFrameLocks noGrp="1"/>
              </p:cNvGraphicFramePr>
              <p:nvPr>
                <p:extLst>
                  <p:ext uri="{D42A27DB-BD31-4B8C-83A1-F6EECF244321}">
                    <p14:modId xmlns:p14="http://schemas.microsoft.com/office/powerpoint/2010/main" val="1813033194"/>
                  </p:ext>
                </p:extLst>
              </p:nvPr>
            </p:nvGraphicFramePr>
            <p:xfrm>
              <a:off x="3460885" y="1143001"/>
              <a:ext cx="5418668" cy="3128883"/>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834103369"/>
                        </a:ext>
                      </a:extLst>
                    </a:gridCol>
                    <a:gridCol w="1354667">
                      <a:extLst>
                        <a:ext uri="{9D8B030D-6E8A-4147-A177-3AD203B41FA5}">
                          <a16:colId xmlns:a16="http://schemas.microsoft.com/office/drawing/2014/main" val="4064087187"/>
                        </a:ext>
                      </a:extLst>
                    </a:gridCol>
                    <a:gridCol w="1354667">
                      <a:extLst>
                        <a:ext uri="{9D8B030D-6E8A-4147-A177-3AD203B41FA5}">
                          <a16:colId xmlns:a16="http://schemas.microsoft.com/office/drawing/2014/main" val="1758215307"/>
                        </a:ext>
                      </a:extLst>
                    </a:gridCol>
                    <a:gridCol w="1354667">
                      <a:extLst>
                        <a:ext uri="{9D8B030D-6E8A-4147-A177-3AD203B41FA5}">
                          <a16:colId xmlns:a16="http://schemas.microsoft.com/office/drawing/2014/main" val="2441425351"/>
                        </a:ext>
                      </a:extLst>
                    </a:gridCol>
                  </a:tblGrid>
                  <a:tr h="679900">
                    <a:tc>
                      <a:txBody>
                        <a:bodyPr/>
                        <a:lstStyle/>
                        <a:p>
                          <a:pPr algn="ctr"/>
                          <a:r>
                            <a:rPr lang="en-US" sz="2000" dirty="0">
                              <a:latin typeface="Arial" panose="020B0604020202020204" pitchFamily="34" charset="0"/>
                              <a:cs typeface="Arial" panose="020B0604020202020204" pitchFamily="34" charset="0"/>
                            </a:rPr>
                            <a:t>Return (Ri)</a:t>
                          </a:r>
                        </a:p>
                      </a:txBody>
                      <a:tcPr/>
                    </a:tc>
                    <a:tc>
                      <a:txBody>
                        <a:bodyPr/>
                        <a:lstStyle/>
                        <a:p>
                          <a:pPr algn="ctr"/>
                          <a:r>
                            <a:rPr lang="en-US" sz="2000" dirty="0">
                              <a:latin typeface="Arial" panose="020B0604020202020204" pitchFamily="34" charset="0"/>
                              <a:cs typeface="Arial" panose="020B0604020202020204" pitchFamily="34" charset="0"/>
                            </a:rPr>
                            <a:t>Probability (Pi)</a:t>
                          </a:r>
                        </a:p>
                      </a:txBody>
                      <a:tcPr/>
                    </a:tc>
                    <a:tc>
                      <a:txBody>
                        <a:bodyPr/>
                        <a:lstStyle/>
                        <a:p>
                          <a:pPr algn="ctr"/>
                          <a:r>
                            <a:rPr lang="en-US" sz="2000" dirty="0" err="1">
                              <a:latin typeface="Arial" panose="020B0604020202020204" pitchFamily="34" charset="0"/>
                              <a:cs typeface="Arial" panose="020B0604020202020204" pitchFamily="34" charset="0"/>
                            </a:rPr>
                            <a:t>RiPi</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b="0" dirty="0">
                              <a:latin typeface="Arial" panose="020B0604020202020204" pitchFamily="34" charset="0"/>
                              <a:cs typeface="Arial" panose="020B0604020202020204" pitchFamily="34" charset="0"/>
                            </a:rPr>
                            <a:t>Pi</a:t>
                          </a:r>
                          <a14:m>
                            <m:oMath xmlns:m="http://schemas.openxmlformats.org/officeDocument/2006/math">
                              <m:r>
                                <a:rPr lang="en-US" sz="2000" b="0" i="1" smtClean="0">
                                  <a:latin typeface="Cambria Math" panose="02040503050406030204" pitchFamily="18" charset="0"/>
                                </a:rPr>
                                <m:t>(</m:t>
                              </m:r>
                              <m:sSup>
                                <m:sSupPr>
                                  <m:ctrlPr>
                                    <a:rPr lang="en-US" sz="2000" i="1" smtClean="0">
                                      <a:latin typeface="Cambria Math" panose="02040503050406030204" pitchFamily="18" charset="0"/>
                                    </a:rPr>
                                  </m:ctrlPr>
                                </m:sSup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oMath>
                          </a14:m>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9956803"/>
                      </a:ext>
                    </a:extLst>
                  </a:tr>
                  <a:tr h="446643">
                    <a:tc>
                      <a:txBody>
                        <a:bodyPr/>
                        <a:lstStyle/>
                        <a:p>
                          <a:pPr algn="ctr"/>
                          <a:r>
                            <a:rPr lang="en-US" sz="2000" dirty="0">
                              <a:latin typeface="Arial" panose="020B0604020202020204" pitchFamily="34" charset="0"/>
                              <a:cs typeface="Arial" panose="020B0604020202020204" pitchFamily="34" charset="0"/>
                            </a:rPr>
                            <a:t>20</a:t>
                          </a:r>
                        </a:p>
                      </a:txBody>
                      <a:tcPr/>
                    </a:tc>
                    <a:tc>
                      <a:txBody>
                        <a:bodyPr/>
                        <a:lstStyle/>
                        <a:p>
                          <a:pPr algn="ctr"/>
                          <a:r>
                            <a:rPr lang="en-US" sz="2000" dirty="0">
                              <a:latin typeface="Arial" panose="020B0604020202020204" pitchFamily="34" charset="0"/>
                              <a:cs typeface="Arial" panose="020B0604020202020204" pitchFamily="34" charset="0"/>
                            </a:rPr>
                            <a:t>0.1</a:t>
                          </a:r>
                        </a:p>
                      </a:txBody>
                      <a:tcPr/>
                    </a:tc>
                    <a:tc>
                      <a:txBody>
                        <a:bodyPr/>
                        <a:lstStyle/>
                        <a:p>
                          <a:pPr algn="ctr"/>
                          <a:r>
                            <a:rPr lang="en-US" sz="2000" dirty="0">
                              <a:latin typeface="Arial" panose="020B0604020202020204" pitchFamily="34" charset="0"/>
                              <a:cs typeface="Arial" panose="020B0604020202020204" pitchFamily="34" charset="0"/>
                            </a:rPr>
                            <a:t>2</a:t>
                          </a:r>
                        </a:p>
                      </a:txBody>
                      <a:tcPr/>
                    </a:tc>
                    <a:tc>
                      <a:txBody>
                        <a:bodyPr/>
                        <a:lstStyle/>
                        <a:p>
                          <a:pPr algn="ctr"/>
                          <a:r>
                            <a:rPr lang="en-US" sz="2000" dirty="0">
                              <a:latin typeface="Arial" panose="020B0604020202020204" pitchFamily="34" charset="0"/>
                              <a:cs typeface="Arial" panose="020B0604020202020204" pitchFamily="34" charset="0"/>
                            </a:rPr>
                            <a:t>6.4</a:t>
                          </a:r>
                        </a:p>
                      </a:txBody>
                      <a:tcPr/>
                    </a:tc>
                    <a:extLst>
                      <a:ext uri="{0D108BD9-81ED-4DB2-BD59-A6C34878D82A}">
                        <a16:rowId xmlns:a16="http://schemas.microsoft.com/office/drawing/2014/main" val="2864438922"/>
                      </a:ext>
                    </a:extLst>
                  </a:tr>
                  <a:tr h="384292">
                    <a:tc>
                      <a:txBody>
                        <a:bodyPr/>
                        <a:lstStyle/>
                        <a:p>
                          <a:pPr algn="ctr"/>
                          <a:r>
                            <a:rPr lang="en-US" sz="2000" dirty="0">
                              <a:latin typeface="Arial" panose="020B0604020202020204" pitchFamily="34" charset="0"/>
                              <a:cs typeface="Arial" panose="020B0604020202020204" pitchFamily="34" charset="0"/>
                            </a:rPr>
                            <a:t>15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3</a:t>
                          </a:r>
                        </a:p>
                      </a:txBody>
                      <a:tcPr/>
                    </a:tc>
                    <a:tc>
                      <a:txBody>
                        <a:bodyPr/>
                        <a:lstStyle/>
                        <a:p>
                          <a:pPr algn="ctr"/>
                          <a:r>
                            <a:rPr lang="en-US" sz="2000" dirty="0">
                              <a:latin typeface="Arial" panose="020B0604020202020204" pitchFamily="34" charset="0"/>
                              <a:cs typeface="Arial" panose="020B0604020202020204" pitchFamily="34" charset="0"/>
                            </a:rPr>
                            <a:t>1.8</a:t>
                          </a:r>
                        </a:p>
                      </a:txBody>
                      <a:tcPr/>
                    </a:tc>
                    <a:extLst>
                      <a:ext uri="{0D108BD9-81ED-4DB2-BD59-A6C34878D82A}">
                        <a16:rowId xmlns:a16="http://schemas.microsoft.com/office/drawing/2014/main" val="2755582174"/>
                      </a:ext>
                    </a:extLst>
                  </a:tr>
                  <a:tr h="384292">
                    <a:tc>
                      <a:txBody>
                        <a:bodyPr/>
                        <a:lstStyle/>
                        <a:p>
                          <a:pPr algn="ctr"/>
                          <a:r>
                            <a:rPr lang="en-US" sz="2000" dirty="0">
                              <a:latin typeface="Arial" panose="020B0604020202020204" pitchFamily="34" charset="0"/>
                              <a:cs typeface="Arial" panose="020B0604020202020204" pitchFamily="34" charset="0"/>
                            </a:rPr>
                            <a:t>-5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-1</a:t>
                          </a:r>
                        </a:p>
                      </a:txBody>
                      <a:tcPr/>
                    </a:tc>
                    <a:tc>
                      <a:txBody>
                        <a:bodyPr/>
                        <a:lstStyle/>
                        <a:p>
                          <a:pPr algn="ctr"/>
                          <a:r>
                            <a:rPr lang="en-US" sz="2000" dirty="0">
                              <a:latin typeface="Arial" panose="020B0604020202020204" pitchFamily="34" charset="0"/>
                              <a:cs typeface="Arial" panose="020B0604020202020204" pitchFamily="34" charset="0"/>
                            </a:rPr>
                            <a:t>57.8</a:t>
                          </a:r>
                        </a:p>
                      </a:txBody>
                      <a:tcPr/>
                    </a:tc>
                    <a:extLst>
                      <a:ext uri="{0D108BD9-81ED-4DB2-BD59-A6C34878D82A}">
                        <a16:rowId xmlns:a16="http://schemas.microsoft.com/office/drawing/2014/main" val="2070300824"/>
                      </a:ext>
                    </a:extLst>
                  </a:tr>
                  <a:tr h="384292">
                    <a:tc>
                      <a:txBody>
                        <a:bodyPr/>
                        <a:lstStyle/>
                        <a:p>
                          <a:pPr algn="ctr"/>
                          <a:r>
                            <a:rPr lang="en-US" sz="2000" dirty="0">
                              <a:latin typeface="Arial" panose="020B0604020202020204" pitchFamily="34" charset="0"/>
                              <a:cs typeface="Arial" panose="020B0604020202020204" pitchFamily="34" charset="0"/>
                            </a:rPr>
                            <a:t>10</a:t>
                          </a:r>
                        </a:p>
                      </a:txBody>
                      <a:tcPr/>
                    </a:tc>
                    <a:tc>
                      <a:txBody>
                        <a:bodyPr/>
                        <a:lstStyle/>
                        <a:p>
                          <a:pPr algn="ctr"/>
                          <a:r>
                            <a:rPr lang="en-US" sz="2000" dirty="0">
                              <a:latin typeface="Arial" panose="020B0604020202020204" pitchFamily="34" charset="0"/>
                              <a:cs typeface="Arial" panose="020B0604020202020204" pitchFamily="34" charset="0"/>
                            </a:rPr>
                            <a:t>0.3</a:t>
                          </a:r>
                        </a:p>
                      </a:txBody>
                      <a:tcPr/>
                    </a:tc>
                    <a:tc>
                      <a:txBody>
                        <a:bodyPr/>
                        <a:lstStyle/>
                        <a:p>
                          <a:pPr algn="ctr"/>
                          <a:r>
                            <a:rPr lang="en-US" sz="2000" dirty="0">
                              <a:latin typeface="Arial" panose="020B0604020202020204" pitchFamily="34" charset="0"/>
                              <a:cs typeface="Arial" panose="020B0604020202020204" pitchFamily="34" charset="0"/>
                            </a:rPr>
                            <a:t>3</a:t>
                          </a:r>
                        </a:p>
                      </a:txBody>
                      <a:tcPr/>
                    </a:tc>
                    <a:tc>
                      <a:txBody>
                        <a:bodyPr/>
                        <a:lstStyle/>
                        <a:p>
                          <a:pPr algn="ctr"/>
                          <a:r>
                            <a:rPr lang="en-US" sz="2000" dirty="0">
                              <a:latin typeface="Arial" panose="020B0604020202020204" pitchFamily="34" charset="0"/>
                              <a:cs typeface="Arial" panose="020B0604020202020204" pitchFamily="34" charset="0"/>
                            </a:rPr>
                            <a:t>1.2</a:t>
                          </a:r>
                        </a:p>
                      </a:txBody>
                      <a:tcPr/>
                    </a:tc>
                    <a:extLst>
                      <a:ext uri="{0D108BD9-81ED-4DB2-BD59-A6C34878D82A}">
                        <a16:rowId xmlns:a16="http://schemas.microsoft.com/office/drawing/2014/main" val="962979411"/>
                      </a:ext>
                    </a:extLst>
                  </a:tr>
                  <a:tr h="384292">
                    <a:tc>
                      <a:txBody>
                        <a:bodyPr/>
                        <a:lstStyle/>
                        <a:p>
                          <a:pPr algn="ctr"/>
                          <a:r>
                            <a:rPr lang="en-US" sz="2000" dirty="0">
                              <a:latin typeface="Arial" panose="020B0604020202020204" pitchFamily="34" charset="0"/>
                              <a:cs typeface="Arial" panose="020B0604020202020204" pitchFamily="34" charset="0"/>
                            </a:rPr>
                            <a:t>25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5</a:t>
                          </a:r>
                        </a:p>
                      </a:txBody>
                      <a:tcPr/>
                    </a:tc>
                    <a:tc>
                      <a:txBody>
                        <a:bodyPr/>
                        <a:lstStyle/>
                        <a:p>
                          <a:pPr algn="ctr"/>
                          <a:r>
                            <a:rPr lang="en-US" sz="2000" dirty="0">
                              <a:latin typeface="Arial" panose="020B0604020202020204" pitchFamily="34" charset="0"/>
                              <a:cs typeface="Arial" panose="020B0604020202020204" pitchFamily="34" charset="0"/>
                            </a:rPr>
                            <a:t>33.8</a:t>
                          </a:r>
                        </a:p>
                      </a:txBody>
                      <a:tcPr/>
                    </a:tc>
                    <a:extLst>
                      <a:ext uri="{0D108BD9-81ED-4DB2-BD59-A6C34878D82A}">
                        <a16:rowId xmlns:a16="http://schemas.microsoft.com/office/drawing/2014/main" val="4007197487"/>
                      </a:ext>
                    </a:extLst>
                  </a:tr>
                  <a:tr h="384292">
                    <a:tc>
                      <a:txBody>
                        <a:bodyPr/>
                        <a:lstStyle/>
                        <a:p>
                          <a:pPr algn="ctr"/>
                          <a:r>
                            <a:rPr lang="en-US" sz="2000" dirty="0">
                              <a:latin typeface="Arial" panose="020B0604020202020204" pitchFamily="34" charset="0"/>
                              <a:cs typeface="Arial" panose="020B0604020202020204" pitchFamily="34" charset="0"/>
                            </a:rPr>
                            <a:t>Sum</a:t>
                          </a:r>
                        </a:p>
                      </a:txBody>
                      <a:tcPr/>
                    </a:tc>
                    <a:tc>
                      <a:txBody>
                        <a:bodyPr/>
                        <a:lstStyle/>
                        <a:p>
                          <a:pPr algn="ct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12</a:t>
                          </a:r>
                        </a:p>
                      </a:txBody>
                      <a:tcPr/>
                    </a:tc>
                    <a:tc>
                      <a:txBody>
                        <a:bodyPr/>
                        <a:lstStyle/>
                        <a:p>
                          <a:pPr algn="ctr"/>
                          <a:r>
                            <a:rPr lang="en-US" sz="2000" dirty="0">
                              <a:latin typeface="Arial" panose="020B0604020202020204" pitchFamily="34" charset="0"/>
                              <a:cs typeface="Arial" panose="020B0604020202020204" pitchFamily="34" charset="0"/>
                            </a:rPr>
                            <a:t>101.0</a:t>
                          </a:r>
                        </a:p>
                      </a:txBody>
                      <a:tcPr/>
                    </a:tc>
                    <a:extLst>
                      <a:ext uri="{0D108BD9-81ED-4DB2-BD59-A6C34878D82A}">
                        <a16:rowId xmlns:a16="http://schemas.microsoft.com/office/drawing/2014/main" val="1493603156"/>
                      </a:ext>
                    </a:extLst>
                  </a:tr>
                </a:tbl>
              </a:graphicData>
            </a:graphic>
          </p:graphicFrame>
        </mc:Choice>
        <mc:Fallback xmlns="">
          <p:graphicFrame>
            <p:nvGraphicFramePr>
              <p:cNvPr id="6" name="Table 8">
                <a:extLst>
                  <a:ext uri="{FF2B5EF4-FFF2-40B4-BE49-F238E27FC236}">
                    <a16:creationId xmlns:a16="http://schemas.microsoft.com/office/drawing/2014/main" id="{0EBE90AD-EED1-A2E5-53F4-564EEA0DF3CC}"/>
                  </a:ext>
                </a:extLst>
              </p:cNvPr>
              <p:cNvGraphicFramePr>
                <a:graphicFrameLocks noGrp="1"/>
              </p:cNvGraphicFramePr>
              <p:nvPr>
                <p:extLst>
                  <p:ext uri="{D42A27DB-BD31-4B8C-83A1-F6EECF244321}">
                    <p14:modId xmlns:p14="http://schemas.microsoft.com/office/powerpoint/2010/main" val="1813033194"/>
                  </p:ext>
                </p:extLst>
              </p:nvPr>
            </p:nvGraphicFramePr>
            <p:xfrm>
              <a:off x="3460885" y="1143001"/>
              <a:ext cx="5418668" cy="3128883"/>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834103369"/>
                        </a:ext>
                      </a:extLst>
                    </a:gridCol>
                    <a:gridCol w="1354667">
                      <a:extLst>
                        <a:ext uri="{9D8B030D-6E8A-4147-A177-3AD203B41FA5}">
                          <a16:colId xmlns:a16="http://schemas.microsoft.com/office/drawing/2014/main" val="4064087187"/>
                        </a:ext>
                      </a:extLst>
                    </a:gridCol>
                    <a:gridCol w="1354667">
                      <a:extLst>
                        <a:ext uri="{9D8B030D-6E8A-4147-A177-3AD203B41FA5}">
                          <a16:colId xmlns:a16="http://schemas.microsoft.com/office/drawing/2014/main" val="1758215307"/>
                        </a:ext>
                      </a:extLst>
                    </a:gridCol>
                    <a:gridCol w="1354667">
                      <a:extLst>
                        <a:ext uri="{9D8B030D-6E8A-4147-A177-3AD203B41FA5}">
                          <a16:colId xmlns:a16="http://schemas.microsoft.com/office/drawing/2014/main" val="2441425351"/>
                        </a:ext>
                      </a:extLst>
                    </a:gridCol>
                  </a:tblGrid>
                  <a:tr h="701040">
                    <a:tc>
                      <a:txBody>
                        <a:bodyPr/>
                        <a:lstStyle/>
                        <a:p>
                          <a:pPr algn="ctr"/>
                          <a:r>
                            <a:rPr lang="en-US" sz="2000" dirty="0">
                              <a:latin typeface="Arial" panose="020B0604020202020204" pitchFamily="34" charset="0"/>
                              <a:cs typeface="Arial" panose="020B0604020202020204" pitchFamily="34" charset="0"/>
                            </a:rPr>
                            <a:t>Return (Ri)</a:t>
                          </a:r>
                        </a:p>
                      </a:txBody>
                      <a:tcPr/>
                    </a:tc>
                    <a:tc>
                      <a:txBody>
                        <a:bodyPr/>
                        <a:lstStyle/>
                        <a:p>
                          <a:pPr algn="ctr"/>
                          <a:r>
                            <a:rPr lang="en-US" sz="2000" dirty="0">
                              <a:latin typeface="Arial" panose="020B0604020202020204" pitchFamily="34" charset="0"/>
                              <a:cs typeface="Arial" panose="020B0604020202020204" pitchFamily="34" charset="0"/>
                            </a:rPr>
                            <a:t>Probability (Pi)</a:t>
                          </a:r>
                        </a:p>
                      </a:txBody>
                      <a:tcPr/>
                    </a:tc>
                    <a:tc>
                      <a:txBody>
                        <a:bodyPr/>
                        <a:lstStyle/>
                        <a:p>
                          <a:pPr algn="ctr"/>
                          <a:r>
                            <a:rPr lang="en-US" sz="2000" dirty="0" err="1">
                              <a:latin typeface="Arial" panose="020B0604020202020204" pitchFamily="34" charset="0"/>
                              <a:cs typeface="Arial" panose="020B0604020202020204" pitchFamily="34" charset="0"/>
                            </a:rPr>
                            <a:t>RiPi</a:t>
                          </a:r>
                          <a:endParaRPr lang="en-US" sz="2000" dirty="0">
                            <a:latin typeface="Arial" panose="020B0604020202020204" pitchFamily="34" charset="0"/>
                            <a:cs typeface="Arial" panose="020B0604020202020204" pitchFamily="34" charset="0"/>
                          </a:endParaRPr>
                        </a:p>
                      </a:txBody>
                      <a:tcPr/>
                    </a:tc>
                    <a:tc>
                      <a:txBody>
                        <a:bodyPr/>
                        <a:lstStyle/>
                        <a:p>
                          <a:endParaRPr lang="en-US"/>
                        </a:p>
                      </a:txBody>
                      <a:tcPr>
                        <a:blipFill>
                          <a:blip r:embed="rId3"/>
                          <a:stretch>
                            <a:fillRect l="-301351" t="-3478" r="-1802" b="-363478"/>
                          </a:stretch>
                        </a:blipFill>
                      </a:tcPr>
                    </a:tc>
                    <a:extLst>
                      <a:ext uri="{0D108BD9-81ED-4DB2-BD59-A6C34878D82A}">
                        <a16:rowId xmlns:a16="http://schemas.microsoft.com/office/drawing/2014/main" val="1649956803"/>
                      </a:ext>
                    </a:extLst>
                  </a:tr>
                  <a:tr h="446643">
                    <a:tc>
                      <a:txBody>
                        <a:bodyPr/>
                        <a:lstStyle/>
                        <a:p>
                          <a:pPr algn="ctr"/>
                          <a:r>
                            <a:rPr lang="en-US" sz="2000" dirty="0">
                              <a:latin typeface="Arial" panose="020B0604020202020204" pitchFamily="34" charset="0"/>
                              <a:cs typeface="Arial" panose="020B0604020202020204" pitchFamily="34" charset="0"/>
                            </a:rPr>
                            <a:t>20</a:t>
                          </a:r>
                        </a:p>
                      </a:txBody>
                      <a:tcPr/>
                    </a:tc>
                    <a:tc>
                      <a:txBody>
                        <a:bodyPr/>
                        <a:lstStyle/>
                        <a:p>
                          <a:pPr algn="ctr"/>
                          <a:r>
                            <a:rPr lang="en-US" sz="2000" dirty="0">
                              <a:latin typeface="Arial" panose="020B0604020202020204" pitchFamily="34" charset="0"/>
                              <a:cs typeface="Arial" panose="020B0604020202020204" pitchFamily="34" charset="0"/>
                            </a:rPr>
                            <a:t>0.1</a:t>
                          </a:r>
                        </a:p>
                      </a:txBody>
                      <a:tcPr/>
                    </a:tc>
                    <a:tc>
                      <a:txBody>
                        <a:bodyPr/>
                        <a:lstStyle/>
                        <a:p>
                          <a:pPr algn="ctr"/>
                          <a:r>
                            <a:rPr lang="en-US" sz="2000" dirty="0">
                              <a:latin typeface="Arial" panose="020B0604020202020204" pitchFamily="34" charset="0"/>
                              <a:cs typeface="Arial" panose="020B0604020202020204" pitchFamily="34" charset="0"/>
                            </a:rPr>
                            <a:t>2</a:t>
                          </a:r>
                        </a:p>
                      </a:txBody>
                      <a:tcPr/>
                    </a:tc>
                    <a:tc>
                      <a:txBody>
                        <a:bodyPr/>
                        <a:lstStyle/>
                        <a:p>
                          <a:pPr algn="ctr"/>
                          <a:r>
                            <a:rPr lang="en-US" sz="2000" dirty="0">
                              <a:latin typeface="Arial" panose="020B0604020202020204" pitchFamily="34" charset="0"/>
                              <a:cs typeface="Arial" panose="020B0604020202020204" pitchFamily="34" charset="0"/>
                            </a:rPr>
                            <a:t>6.4</a:t>
                          </a:r>
                        </a:p>
                      </a:txBody>
                      <a:tcPr/>
                    </a:tc>
                    <a:extLst>
                      <a:ext uri="{0D108BD9-81ED-4DB2-BD59-A6C34878D82A}">
                        <a16:rowId xmlns:a16="http://schemas.microsoft.com/office/drawing/2014/main" val="2864438922"/>
                      </a:ext>
                    </a:extLst>
                  </a:tr>
                  <a:tr h="396240">
                    <a:tc>
                      <a:txBody>
                        <a:bodyPr/>
                        <a:lstStyle/>
                        <a:p>
                          <a:pPr algn="ctr"/>
                          <a:r>
                            <a:rPr lang="en-US" sz="2000" dirty="0">
                              <a:latin typeface="Arial" panose="020B0604020202020204" pitchFamily="34" charset="0"/>
                              <a:cs typeface="Arial" panose="020B0604020202020204" pitchFamily="34" charset="0"/>
                            </a:rPr>
                            <a:t>15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3</a:t>
                          </a:r>
                        </a:p>
                      </a:txBody>
                      <a:tcPr/>
                    </a:tc>
                    <a:tc>
                      <a:txBody>
                        <a:bodyPr/>
                        <a:lstStyle/>
                        <a:p>
                          <a:pPr algn="ctr"/>
                          <a:r>
                            <a:rPr lang="en-US" sz="2000" dirty="0">
                              <a:latin typeface="Arial" panose="020B0604020202020204" pitchFamily="34" charset="0"/>
                              <a:cs typeface="Arial" panose="020B0604020202020204" pitchFamily="34" charset="0"/>
                            </a:rPr>
                            <a:t>1.8</a:t>
                          </a:r>
                        </a:p>
                      </a:txBody>
                      <a:tcPr/>
                    </a:tc>
                    <a:extLst>
                      <a:ext uri="{0D108BD9-81ED-4DB2-BD59-A6C34878D82A}">
                        <a16:rowId xmlns:a16="http://schemas.microsoft.com/office/drawing/2014/main" val="2755582174"/>
                      </a:ext>
                    </a:extLst>
                  </a:tr>
                  <a:tr h="396240">
                    <a:tc>
                      <a:txBody>
                        <a:bodyPr/>
                        <a:lstStyle/>
                        <a:p>
                          <a:pPr algn="ctr"/>
                          <a:r>
                            <a:rPr lang="en-US" sz="2000" dirty="0">
                              <a:latin typeface="Arial" panose="020B0604020202020204" pitchFamily="34" charset="0"/>
                              <a:cs typeface="Arial" panose="020B0604020202020204" pitchFamily="34" charset="0"/>
                            </a:rPr>
                            <a:t>-5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-1</a:t>
                          </a:r>
                        </a:p>
                      </a:txBody>
                      <a:tcPr/>
                    </a:tc>
                    <a:tc>
                      <a:txBody>
                        <a:bodyPr/>
                        <a:lstStyle/>
                        <a:p>
                          <a:pPr algn="ctr"/>
                          <a:r>
                            <a:rPr lang="en-US" sz="2000" dirty="0">
                              <a:latin typeface="Arial" panose="020B0604020202020204" pitchFamily="34" charset="0"/>
                              <a:cs typeface="Arial" panose="020B0604020202020204" pitchFamily="34" charset="0"/>
                            </a:rPr>
                            <a:t>57.8</a:t>
                          </a:r>
                        </a:p>
                      </a:txBody>
                      <a:tcPr/>
                    </a:tc>
                    <a:extLst>
                      <a:ext uri="{0D108BD9-81ED-4DB2-BD59-A6C34878D82A}">
                        <a16:rowId xmlns:a16="http://schemas.microsoft.com/office/drawing/2014/main" val="2070300824"/>
                      </a:ext>
                    </a:extLst>
                  </a:tr>
                  <a:tr h="396240">
                    <a:tc>
                      <a:txBody>
                        <a:bodyPr/>
                        <a:lstStyle/>
                        <a:p>
                          <a:pPr algn="ctr"/>
                          <a:r>
                            <a:rPr lang="en-US" sz="2000" dirty="0">
                              <a:latin typeface="Arial" panose="020B0604020202020204" pitchFamily="34" charset="0"/>
                              <a:cs typeface="Arial" panose="020B0604020202020204" pitchFamily="34" charset="0"/>
                            </a:rPr>
                            <a:t>10</a:t>
                          </a:r>
                        </a:p>
                      </a:txBody>
                      <a:tcPr/>
                    </a:tc>
                    <a:tc>
                      <a:txBody>
                        <a:bodyPr/>
                        <a:lstStyle/>
                        <a:p>
                          <a:pPr algn="ctr"/>
                          <a:r>
                            <a:rPr lang="en-US" sz="2000" dirty="0">
                              <a:latin typeface="Arial" panose="020B0604020202020204" pitchFamily="34" charset="0"/>
                              <a:cs typeface="Arial" panose="020B0604020202020204" pitchFamily="34" charset="0"/>
                            </a:rPr>
                            <a:t>0.3</a:t>
                          </a:r>
                        </a:p>
                      </a:txBody>
                      <a:tcPr/>
                    </a:tc>
                    <a:tc>
                      <a:txBody>
                        <a:bodyPr/>
                        <a:lstStyle/>
                        <a:p>
                          <a:pPr algn="ctr"/>
                          <a:r>
                            <a:rPr lang="en-US" sz="2000" dirty="0">
                              <a:latin typeface="Arial" panose="020B0604020202020204" pitchFamily="34" charset="0"/>
                              <a:cs typeface="Arial" panose="020B0604020202020204" pitchFamily="34" charset="0"/>
                            </a:rPr>
                            <a:t>3</a:t>
                          </a:r>
                        </a:p>
                      </a:txBody>
                      <a:tcPr/>
                    </a:tc>
                    <a:tc>
                      <a:txBody>
                        <a:bodyPr/>
                        <a:lstStyle/>
                        <a:p>
                          <a:pPr algn="ctr"/>
                          <a:r>
                            <a:rPr lang="en-US" sz="2000" dirty="0">
                              <a:latin typeface="Arial" panose="020B0604020202020204" pitchFamily="34" charset="0"/>
                              <a:cs typeface="Arial" panose="020B0604020202020204" pitchFamily="34" charset="0"/>
                            </a:rPr>
                            <a:t>1.2</a:t>
                          </a:r>
                        </a:p>
                      </a:txBody>
                      <a:tcPr/>
                    </a:tc>
                    <a:extLst>
                      <a:ext uri="{0D108BD9-81ED-4DB2-BD59-A6C34878D82A}">
                        <a16:rowId xmlns:a16="http://schemas.microsoft.com/office/drawing/2014/main" val="962979411"/>
                      </a:ext>
                    </a:extLst>
                  </a:tr>
                  <a:tr h="396240">
                    <a:tc>
                      <a:txBody>
                        <a:bodyPr/>
                        <a:lstStyle/>
                        <a:p>
                          <a:pPr algn="ctr"/>
                          <a:r>
                            <a:rPr lang="en-US" sz="2000" dirty="0">
                              <a:latin typeface="Arial" panose="020B0604020202020204" pitchFamily="34" charset="0"/>
                              <a:cs typeface="Arial" panose="020B0604020202020204" pitchFamily="34" charset="0"/>
                            </a:rPr>
                            <a:t>25</a:t>
                          </a:r>
                        </a:p>
                      </a:txBody>
                      <a:tcPr/>
                    </a:tc>
                    <a:tc>
                      <a:txBody>
                        <a:bodyPr/>
                        <a:lstStyle/>
                        <a:p>
                          <a:pPr algn="ctr"/>
                          <a:r>
                            <a:rPr lang="en-US" sz="2000" dirty="0">
                              <a:latin typeface="Arial" panose="020B0604020202020204" pitchFamily="34" charset="0"/>
                              <a:cs typeface="Arial" panose="020B0604020202020204" pitchFamily="34" charset="0"/>
                            </a:rPr>
                            <a:t>0.2</a:t>
                          </a:r>
                        </a:p>
                      </a:txBody>
                      <a:tcPr/>
                    </a:tc>
                    <a:tc>
                      <a:txBody>
                        <a:bodyPr/>
                        <a:lstStyle/>
                        <a:p>
                          <a:pPr algn="ctr"/>
                          <a:r>
                            <a:rPr lang="en-US" sz="2000" dirty="0">
                              <a:latin typeface="Arial" panose="020B0604020202020204" pitchFamily="34" charset="0"/>
                              <a:cs typeface="Arial" panose="020B0604020202020204" pitchFamily="34" charset="0"/>
                            </a:rPr>
                            <a:t>5</a:t>
                          </a:r>
                        </a:p>
                      </a:txBody>
                      <a:tcPr/>
                    </a:tc>
                    <a:tc>
                      <a:txBody>
                        <a:bodyPr/>
                        <a:lstStyle/>
                        <a:p>
                          <a:pPr algn="ctr"/>
                          <a:r>
                            <a:rPr lang="en-US" sz="2000" dirty="0">
                              <a:latin typeface="Arial" panose="020B0604020202020204" pitchFamily="34" charset="0"/>
                              <a:cs typeface="Arial" panose="020B0604020202020204" pitchFamily="34" charset="0"/>
                            </a:rPr>
                            <a:t>33.8</a:t>
                          </a:r>
                        </a:p>
                      </a:txBody>
                      <a:tcPr/>
                    </a:tc>
                    <a:extLst>
                      <a:ext uri="{0D108BD9-81ED-4DB2-BD59-A6C34878D82A}">
                        <a16:rowId xmlns:a16="http://schemas.microsoft.com/office/drawing/2014/main" val="4007197487"/>
                      </a:ext>
                    </a:extLst>
                  </a:tr>
                  <a:tr h="396240">
                    <a:tc>
                      <a:txBody>
                        <a:bodyPr/>
                        <a:lstStyle/>
                        <a:p>
                          <a:pPr algn="ctr"/>
                          <a:r>
                            <a:rPr lang="en-US" sz="2000" dirty="0">
                              <a:latin typeface="Arial" panose="020B0604020202020204" pitchFamily="34" charset="0"/>
                              <a:cs typeface="Arial" panose="020B0604020202020204" pitchFamily="34" charset="0"/>
                            </a:rPr>
                            <a:t>Sum</a:t>
                          </a:r>
                        </a:p>
                      </a:txBody>
                      <a:tcPr/>
                    </a:tc>
                    <a:tc>
                      <a:txBody>
                        <a:bodyPr/>
                        <a:lstStyle/>
                        <a:p>
                          <a:pPr algn="ct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12</a:t>
                          </a:r>
                        </a:p>
                      </a:txBody>
                      <a:tcPr/>
                    </a:tc>
                    <a:tc>
                      <a:txBody>
                        <a:bodyPr/>
                        <a:lstStyle/>
                        <a:p>
                          <a:pPr algn="ctr"/>
                          <a:r>
                            <a:rPr lang="en-US" sz="2000" dirty="0">
                              <a:latin typeface="Arial" panose="020B0604020202020204" pitchFamily="34" charset="0"/>
                              <a:cs typeface="Arial" panose="020B0604020202020204" pitchFamily="34" charset="0"/>
                            </a:rPr>
                            <a:t>101.0</a:t>
                          </a:r>
                        </a:p>
                      </a:txBody>
                      <a:tcPr/>
                    </a:tc>
                    <a:extLst>
                      <a:ext uri="{0D108BD9-81ED-4DB2-BD59-A6C34878D82A}">
                        <a16:rowId xmlns:a16="http://schemas.microsoft.com/office/drawing/2014/main" val="1493603156"/>
                      </a:ext>
                    </a:extLst>
                  </a:tr>
                </a:tbl>
              </a:graphicData>
            </a:graphic>
          </p:graphicFrame>
        </mc:Fallback>
      </mc:AlternateContent>
    </p:spTree>
    <p:extLst>
      <p:ext uri="{BB962C8B-B14F-4D97-AF65-F5344CB8AC3E}">
        <p14:creationId xmlns:p14="http://schemas.microsoft.com/office/powerpoint/2010/main" val="966145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437322" y="308113"/>
            <a:ext cx="11449878" cy="771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Coefficient of Variation as a relative measure of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437322" y="1371600"/>
            <a:ext cx="11138589" cy="5327178"/>
          </a:xfrm>
          <a:noFill/>
        </p:spPr>
        <p:txBody>
          <a:bodyPr>
            <a:normAutofit/>
          </a:bodyPr>
          <a:lstStyle/>
          <a:p>
            <a:pPr algn="just">
              <a:lnSpc>
                <a:spcPct val="90000"/>
              </a:lnSpc>
            </a:pPr>
            <a:r>
              <a:rPr lang="en-US" sz="2400" dirty="0">
                <a:latin typeface="Arial" panose="020B0604020202020204" pitchFamily="34" charset="0"/>
                <a:cs typeface="Arial" panose="020B0604020202020204" pitchFamily="34" charset="0"/>
              </a:rPr>
              <a:t>The main limitation of standard deviation as a measure of total risk of a security is that it is an </a:t>
            </a:r>
            <a:r>
              <a:rPr lang="en-US" sz="2400" b="1" dirty="0">
                <a:latin typeface="Arial" panose="020B0604020202020204" pitchFamily="34" charset="0"/>
                <a:cs typeface="Arial" panose="020B0604020202020204" pitchFamily="34" charset="0"/>
              </a:rPr>
              <a:t>absolute measure </a:t>
            </a:r>
            <a:r>
              <a:rPr lang="en-US" sz="2400" dirty="0">
                <a:latin typeface="Arial" panose="020B0604020202020204" pitchFamily="34" charset="0"/>
                <a:cs typeface="Arial" panose="020B0604020202020204" pitchFamily="34" charset="0"/>
              </a:rPr>
              <a:t>of risk. </a:t>
            </a:r>
          </a:p>
          <a:p>
            <a:pPr algn="just">
              <a:lnSpc>
                <a:spcPct val="90000"/>
              </a:lnSpc>
            </a:pPr>
            <a:r>
              <a:rPr lang="en-US" sz="2400" dirty="0">
                <a:latin typeface="Arial" panose="020B0604020202020204" pitchFamily="34" charset="0"/>
                <a:cs typeface="Arial" panose="020B0604020202020204" pitchFamily="34" charset="0"/>
              </a:rPr>
              <a:t>Therefore, when expected returns are same for two investments then their risks can be compared using S.D. </a:t>
            </a:r>
          </a:p>
          <a:p>
            <a:pPr algn="just">
              <a:lnSpc>
                <a:spcPct val="90000"/>
              </a:lnSpc>
            </a:pPr>
            <a:r>
              <a:rPr lang="en-US" sz="2400" dirty="0">
                <a:latin typeface="Arial" panose="020B0604020202020204" pitchFamily="34" charset="0"/>
                <a:cs typeface="Arial" panose="020B0604020202020204" pitchFamily="34" charset="0"/>
              </a:rPr>
              <a:t>However, when we want to compare two or more securities having different average returns, we should not use S.D to conclude about the riskiness of securities. </a:t>
            </a:r>
          </a:p>
          <a:p>
            <a:pPr algn="just">
              <a:lnSpc>
                <a:spcPct val="90000"/>
              </a:lnSpc>
            </a:pPr>
            <a:r>
              <a:rPr lang="en-US" sz="2400" dirty="0">
                <a:latin typeface="Arial" panose="020B0604020202020204" pitchFamily="34" charset="0"/>
                <a:cs typeface="Arial" panose="020B0604020202020204" pitchFamily="34" charset="0"/>
              </a:rPr>
              <a:t>In such case we should use </a:t>
            </a:r>
            <a:r>
              <a:rPr lang="en-US" sz="2400" b="1" dirty="0">
                <a:latin typeface="Arial" panose="020B0604020202020204" pitchFamily="34" charset="0"/>
                <a:cs typeface="Arial" panose="020B0604020202020204" pitchFamily="34" charset="0"/>
              </a:rPr>
              <a:t>coefficient of variation</a:t>
            </a:r>
            <a:r>
              <a:rPr lang="en-US" sz="2400" dirty="0">
                <a:latin typeface="Arial" panose="020B0604020202020204" pitchFamily="34" charset="0"/>
                <a:cs typeface="Arial" panose="020B0604020202020204" pitchFamily="34" charset="0"/>
              </a:rPr>
              <a:t>. </a:t>
            </a:r>
          </a:p>
          <a:p>
            <a:pPr algn="just">
              <a:lnSpc>
                <a:spcPct val="90000"/>
              </a:lnSpc>
            </a:pPr>
            <a:r>
              <a:rPr lang="en-US" sz="2400" dirty="0">
                <a:latin typeface="Arial" panose="020B0604020202020204" pitchFamily="34" charset="0"/>
                <a:cs typeface="Arial" panose="020B0604020202020204" pitchFamily="34" charset="0"/>
              </a:rPr>
              <a:t>Coefficient of variation is a </a:t>
            </a:r>
            <a:r>
              <a:rPr lang="en-US" sz="2400" b="1" dirty="0">
                <a:latin typeface="Arial" panose="020B0604020202020204" pitchFamily="34" charset="0"/>
                <a:cs typeface="Arial" panose="020B0604020202020204" pitchFamily="34" charset="0"/>
              </a:rPr>
              <a:t>relative measure of risk</a:t>
            </a:r>
            <a:r>
              <a:rPr lang="en-US" sz="2400" dirty="0">
                <a:latin typeface="Arial" panose="020B0604020202020204" pitchFamily="34" charset="0"/>
                <a:cs typeface="Arial" panose="020B0604020202020204" pitchFamily="34" charset="0"/>
              </a:rPr>
              <a:t>. </a:t>
            </a:r>
          </a:p>
          <a:p>
            <a:pPr algn="just">
              <a:lnSpc>
                <a:spcPct val="90000"/>
              </a:lnSpc>
            </a:pPr>
            <a:r>
              <a:rPr lang="en-US" sz="2400" dirty="0">
                <a:latin typeface="Arial" panose="020B0604020202020204" pitchFamily="34" charset="0"/>
                <a:cs typeface="Arial" panose="020B0604020202020204" pitchFamily="34" charset="0"/>
              </a:rPr>
              <a:t>It can be calculated as given below :</a:t>
            </a:r>
          </a:p>
          <a:p>
            <a:pPr marL="0" indent="0" algn="just">
              <a:lnSpc>
                <a:spcPct val="90000"/>
              </a:lnSpc>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39</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F8EA3F-5359-3656-F773-409450A91565}"/>
                  </a:ext>
                </a:extLst>
              </p:cNvPr>
              <p:cNvSpPr txBox="1"/>
              <p:nvPr/>
            </p:nvSpPr>
            <p:spPr>
              <a:xfrm>
                <a:off x="2133600" y="5474999"/>
                <a:ext cx="8343245" cy="7036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𝐶𝑜𝑒𝑓𝑓𝑖𝑐𝑖𝑒𝑛𝑡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𝑉𝑎𝑟𝑖𝑎𝑡𝑖𝑜𝑛</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𝑆𝑡𝑎𝑛𝑑𝑎𝑟𝑑</m:t>
                          </m:r>
                          <m:r>
                            <a:rPr lang="en-US" b="0" i="1" smtClean="0">
                              <a:latin typeface="Cambria Math" panose="02040503050406030204" pitchFamily="18" charset="0"/>
                            </a:rPr>
                            <m:t> </m:t>
                          </m:r>
                          <m:r>
                            <a:rPr lang="en-US" b="0" i="1" smtClean="0">
                              <a:latin typeface="Cambria Math" panose="02040503050406030204" pitchFamily="18" charset="0"/>
                            </a:rPr>
                            <m:t>𝐷𝑒𝑣𝑖𝑎𝑡𝑖𝑜𝑛</m:t>
                          </m:r>
                          <m:r>
                            <a:rPr lang="en-US" b="0" i="1" smtClean="0">
                              <a:latin typeface="Cambria Math" panose="02040503050406030204" pitchFamily="18" charset="0"/>
                            </a:rPr>
                            <m:t> (</m:t>
                          </m:r>
                          <m:r>
                            <a:rPr lang="en-US" b="0" i="1" smtClean="0">
                              <a:latin typeface="Cambria Math" panose="02040503050406030204" pitchFamily="18" charset="0"/>
                            </a:rPr>
                            <m:t>𝑆𝐷</m:t>
                          </m:r>
                          <m:r>
                            <a:rPr lang="en-US" b="0" i="1" smtClean="0">
                              <a:latin typeface="Cambria Math" panose="02040503050406030204" pitchFamily="18" charset="0"/>
                            </a:rPr>
                            <m:t>)</m:t>
                          </m:r>
                        </m:num>
                        <m:den>
                          <m:r>
                            <a:rPr lang="en-US" b="0" i="1" smtClean="0">
                              <a:latin typeface="Cambria Math" panose="02040503050406030204" pitchFamily="18" charset="0"/>
                            </a:rPr>
                            <m:t>𝑀𝑒𝑎𝑛</m:t>
                          </m:r>
                          <m:r>
                            <a:rPr lang="en-US" b="0" i="1" smtClean="0">
                              <a:latin typeface="Cambria Math" panose="02040503050406030204" pitchFamily="18" charset="0"/>
                            </a:rPr>
                            <m:t> </m:t>
                          </m:r>
                          <m:r>
                            <a:rPr lang="en-US" b="0" i="1" smtClean="0">
                              <a:latin typeface="Cambria Math" panose="02040503050406030204" pitchFamily="18" charset="0"/>
                            </a:rPr>
                            <m:t>𝑅𝑒𝑡𝑢𝑟𝑛𝑠</m:t>
                          </m:r>
                        </m:den>
                      </m:f>
                    </m:oMath>
                  </m:oMathPara>
                </a14:m>
                <a:endParaRPr lang="en-US" dirty="0"/>
              </a:p>
            </p:txBody>
          </p:sp>
        </mc:Choice>
        <mc:Fallback xmlns="">
          <p:sp>
            <p:nvSpPr>
              <p:cNvPr id="7" name="TextBox 6">
                <a:extLst>
                  <a:ext uri="{FF2B5EF4-FFF2-40B4-BE49-F238E27FC236}">
                    <a16:creationId xmlns:a16="http://schemas.microsoft.com/office/drawing/2014/main" id="{BFF8EA3F-5359-3656-F773-409450A91565}"/>
                  </a:ext>
                </a:extLst>
              </p:cNvPr>
              <p:cNvSpPr txBox="1">
                <a:spLocks noRot="1" noChangeAspect="1" noMove="1" noResize="1" noEditPoints="1" noAdjustHandles="1" noChangeArrowheads="1" noChangeShapeType="1" noTextEdit="1"/>
              </p:cNvSpPr>
              <p:nvPr/>
            </p:nvSpPr>
            <p:spPr>
              <a:xfrm>
                <a:off x="2133600" y="5474999"/>
                <a:ext cx="8343245" cy="703654"/>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48650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921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Coefficient of Variation as a relative measure of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471612"/>
            <a:ext cx="10515600" cy="5249863"/>
          </a:xfrm>
          <a:noFill/>
        </p:spPr>
        <p:txBody>
          <a:bodyPr>
            <a:normAutofit/>
          </a:bodyPr>
          <a:lstStyle/>
          <a:p>
            <a:pPr marL="0" indent="0" algn="just">
              <a:lnSpc>
                <a:spcPct val="90000"/>
              </a:lnSpc>
              <a:buNone/>
            </a:pPr>
            <a:r>
              <a:rPr lang="en-US" sz="2400" b="1" u="sng" dirty="0">
                <a:latin typeface="Arial" panose="020B0604020202020204" pitchFamily="34" charset="0"/>
                <a:cs typeface="Arial" panose="020B0604020202020204" pitchFamily="34" charset="0"/>
              </a:rPr>
              <a:t>Illustration</a:t>
            </a:r>
          </a:p>
          <a:p>
            <a:pPr algn="just">
              <a:lnSpc>
                <a:spcPct val="90000"/>
              </a:lnSpc>
            </a:pPr>
            <a:r>
              <a:rPr lang="en-US" sz="2400" dirty="0">
                <a:latin typeface="Arial" panose="020B0604020202020204" pitchFamily="34" charset="0"/>
                <a:cs typeface="Arial" panose="020B0604020202020204" pitchFamily="34" charset="0"/>
              </a:rPr>
              <a:t>A security analyst wants to </a:t>
            </a:r>
            <a:r>
              <a:rPr lang="en-US" sz="2400" dirty="0" err="1">
                <a:latin typeface="Arial" panose="020B0604020202020204" pitchFamily="34" charset="0"/>
                <a:cs typeface="Arial" panose="020B0604020202020204" pitchFamily="34" charset="0"/>
              </a:rPr>
              <a:t>analyse</a:t>
            </a:r>
            <a:r>
              <a:rPr lang="en-US" sz="2400" dirty="0">
                <a:latin typeface="Arial" panose="020B0604020202020204" pitchFamily="34" charset="0"/>
                <a:cs typeface="Arial" panose="020B0604020202020204" pitchFamily="34" charset="0"/>
              </a:rPr>
              <a:t> the following two securities with respect to risk.</a:t>
            </a:r>
          </a:p>
          <a:p>
            <a:pPr algn="just">
              <a:lnSpc>
                <a:spcPct val="90000"/>
              </a:lnSpc>
            </a:pPr>
            <a:endParaRPr lang="en-US" sz="2400" dirty="0"/>
          </a:p>
          <a:p>
            <a:pPr algn="just">
              <a:lnSpc>
                <a:spcPct val="90000"/>
              </a:lnSpc>
            </a:pPr>
            <a:endParaRPr lang="en-US" sz="2400" dirty="0"/>
          </a:p>
          <a:p>
            <a:pPr marL="0" indent="0" algn="just">
              <a:lnSpc>
                <a:spcPct val="90000"/>
              </a:lnSpc>
              <a:buNone/>
            </a:pPr>
            <a:endParaRPr lang="en-US" sz="2400" dirty="0"/>
          </a:p>
          <a:p>
            <a:pPr algn="just">
              <a:lnSpc>
                <a:spcPct val="90000"/>
              </a:lnSpc>
            </a:pPr>
            <a:r>
              <a:rPr lang="en-US" sz="2400" dirty="0">
                <a:latin typeface="Arial" panose="020B0604020202020204" pitchFamily="34" charset="0"/>
                <a:cs typeface="Arial" panose="020B0604020202020204" pitchFamily="34" charset="0"/>
              </a:rPr>
              <a:t>Can it be concluded that security B is more risky than security A?</a:t>
            </a:r>
          </a:p>
          <a:p>
            <a:pPr marL="0" indent="0" algn="just">
              <a:lnSpc>
                <a:spcPct val="90000"/>
              </a:lnSpc>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40</a:t>
            </a:fld>
            <a:endParaRPr lang="en-US"/>
          </a:p>
        </p:txBody>
      </p:sp>
      <p:graphicFrame>
        <p:nvGraphicFramePr>
          <p:cNvPr id="7" name="Table 8">
            <a:extLst>
              <a:ext uri="{FF2B5EF4-FFF2-40B4-BE49-F238E27FC236}">
                <a16:creationId xmlns:a16="http://schemas.microsoft.com/office/drawing/2014/main" id="{5AF6840E-709D-1DC6-FFB9-393EE4D55426}"/>
              </a:ext>
            </a:extLst>
          </p:cNvPr>
          <p:cNvGraphicFramePr>
            <a:graphicFrameLocks noGrp="1"/>
          </p:cNvGraphicFramePr>
          <p:nvPr>
            <p:extLst>
              <p:ext uri="{D42A27DB-BD31-4B8C-83A1-F6EECF244321}">
                <p14:modId xmlns:p14="http://schemas.microsoft.com/office/powerpoint/2010/main" val="3528227920"/>
              </p:ext>
            </p:extLst>
          </p:nvPr>
        </p:nvGraphicFramePr>
        <p:xfrm>
          <a:off x="1803400" y="2590800"/>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4924726"/>
                    </a:ext>
                  </a:extLst>
                </a:gridCol>
                <a:gridCol w="2709333">
                  <a:extLst>
                    <a:ext uri="{9D8B030D-6E8A-4147-A177-3AD203B41FA5}">
                      <a16:colId xmlns:a16="http://schemas.microsoft.com/office/drawing/2014/main" val="2909882414"/>
                    </a:ext>
                  </a:extLst>
                </a:gridCol>
                <a:gridCol w="2709333">
                  <a:extLst>
                    <a:ext uri="{9D8B030D-6E8A-4147-A177-3AD203B41FA5}">
                      <a16:colId xmlns:a16="http://schemas.microsoft.com/office/drawing/2014/main" val="1479869325"/>
                    </a:ext>
                  </a:extLst>
                </a:gridCol>
              </a:tblGrid>
              <a:tr h="370840">
                <a:tc>
                  <a:txBody>
                    <a:bodyPr/>
                    <a:lstStyle/>
                    <a:p>
                      <a:r>
                        <a:rPr lang="en-US" dirty="0">
                          <a:latin typeface="Arial" panose="020B0604020202020204" pitchFamily="34" charset="0"/>
                          <a:cs typeface="Arial" panose="020B0604020202020204" pitchFamily="34" charset="0"/>
                        </a:rPr>
                        <a:t>Security</a:t>
                      </a:r>
                    </a:p>
                  </a:txBody>
                  <a:tcPr/>
                </a:tc>
                <a:tc>
                  <a:txBody>
                    <a:bodyPr/>
                    <a:lstStyle/>
                    <a:p>
                      <a:r>
                        <a:rPr lang="en-US" dirty="0">
                          <a:latin typeface="Arial" panose="020B0604020202020204" pitchFamily="34" charset="0"/>
                          <a:cs typeface="Arial" panose="020B0604020202020204" pitchFamily="34" charset="0"/>
                        </a:rPr>
                        <a:t>Expected Returns (%)</a:t>
                      </a:r>
                    </a:p>
                  </a:txBody>
                  <a:tcPr/>
                </a:tc>
                <a:tc>
                  <a:txBody>
                    <a:bodyPr/>
                    <a:lstStyle/>
                    <a:p>
                      <a:r>
                        <a:rPr lang="en-US" dirty="0">
                          <a:latin typeface="Arial" panose="020B0604020202020204" pitchFamily="34" charset="0"/>
                          <a:cs typeface="Arial" panose="020B0604020202020204" pitchFamily="34" charset="0"/>
                        </a:rPr>
                        <a:t>S.D. of Returns (%)</a:t>
                      </a:r>
                    </a:p>
                  </a:txBody>
                  <a:tcPr/>
                </a:tc>
                <a:extLst>
                  <a:ext uri="{0D108BD9-81ED-4DB2-BD59-A6C34878D82A}">
                    <a16:rowId xmlns:a16="http://schemas.microsoft.com/office/drawing/2014/main" val="2695402550"/>
                  </a:ext>
                </a:extLst>
              </a:tr>
              <a:tr h="370840">
                <a:tc>
                  <a:txBody>
                    <a:bodyPr/>
                    <a:lstStyle/>
                    <a:p>
                      <a:r>
                        <a:rPr lang="en-US" dirty="0">
                          <a:latin typeface="Arial" panose="020B0604020202020204" pitchFamily="34" charset="0"/>
                          <a:cs typeface="Arial" panose="020B0604020202020204" pitchFamily="34" charset="0"/>
                        </a:rPr>
                        <a:t>A</a:t>
                      </a:r>
                    </a:p>
                  </a:txBody>
                  <a:tcPr/>
                </a:tc>
                <a:tc>
                  <a:txBody>
                    <a:bodyPr/>
                    <a:lstStyle/>
                    <a:p>
                      <a:r>
                        <a:rPr lang="en-US" dirty="0">
                          <a:latin typeface="Arial" panose="020B0604020202020204" pitchFamily="34" charset="0"/>
                          <a:cs typeface="Arial" panose="020B0604020202020204" pitchFamily="34" charset="0"/>
                        </a:rPr>
                        <a:t>20</a:t>
                      </a:r>
                    </a:p>
                  </a:txBody>
                  <a:tcPr/>
                </a:tc>
                <a:tc>
                  <a:txBody>
                    <a:bodyPr/>
                    <a:lstStyle/>
                    <a:p>
                      <a:r>
                        <a:rPr lang="en-US" dirty="0">
                          <a:latin typeface="Arial" panose="020B0604020202020204" pitchFamily="34" charset="0"/>
                          <a:cs typeface="Arial" panose="020B0604020202020204" pitchFamily="34" charset="0"/>
                        </a:rPr>
                        <a:t>15</a:t>
                      </a:r>
                    </a:p>
                  </a:txBody>
                  <a:tcPr/>
                </a:tc>
                <a:extLst>
                  <a:ext uri="{0D108BD9-81ED-4DB2-BD59-A6C34878D82A}">
                    <a16:rowId xmlns:a16="http://schemas.microsoft.com/office/drawing/2014/main" val="2523888948"/>
                  </a:ext>
                </a:extLst>
              </a:tr>
              <a:tr h="370840">
                <a:tc>
                  <a:txBody>
                    <a:bodyPr/>
                    <a:lstStyle/>
                    <a:p>
                      <a:r>
                        <a:rPr lang="en-US" dirty="0">
                          <a:latin typeface="Arial" panose="020B0604020202020204" pitchFamily="34" charset="0"/>
                          <a:cs typeface="Arial" panose="020B0604020202020204" pitchFamily="34" charset="0"/>
                        </a:rPr>
                        <a:t>B</a:t>
                      </a:r>
                    </a:p>
                  </a:txBody>
                  <a:tcPr/>
                </a:tc>
                <a:tc>
                  <a:txBody>
                    <a:bodyPr/>
                    <a:lstStyle/>
                    <a:p>
                      <a:r>
                        <a:rPr lang="en-US" dirty="0">
                          <a:latin typeface="Arial" panose="020B0604020202020204" pitchFamily="34" charset="0"/>
                          <a:cs typeface="Arial" panose="020B0604020202020204" pitchFamily="34" charset="0"/>
                        </a:rPr>
                        <a:t>30</a:t>
                      </a:r>
                    </a:p>
                  </a:txBody>
                  <a:tcPr/>
                </a:tc>
                <a:tc>
                  <a:txBody>
                    <a:bodyPr/>
                    <a:lstStyle/>
                    <a:p>
                      <a:r>
                        <a:rPr lang="en-US" dirty="0">
                          <a:latin typeface="Arial" panose="020B0604020202020204" pitchFamily="34" charset="0"/>
                          <a:cs typeface="Arial" panose="020B0604020202020204" pitchFamily="34" charset="0"/>
                        </a:rPr>
                        <a:t>18</a:t>
                      </a:r>
                    </a:p>
                  </a:txBody>
                  <a:tcPr/>
                </a:tc>
                <a:extLst>
                  <a:ext uri="{0D108BD9-81ED-4DB2-BD59-A6C34878D82A}">
                    <a16:rowId xmlns:a16="http://schemas.microsoft.com/office/drawing/2014/main" val="747285440"/>
                  </a:ext>
                </a:extLst>
              </a:tr>
            </a:tbl>
          </a:graphicData>
        </a:graphic>
      </p:graphicFrame>
    </p:spTree>
    <p:extLst>
      <p:ext uri="{BB962C8B-B14F-4D97-AF65-F5344CB8AC3E}">
        <p14:creationId xmlns:p14="http://schemas.microsoft.com/office/powerpoint/2010/main" val="3534426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33400" y="274638"/>
            <a:ext cx="110490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Coefficient of Variation as a relative measure of Risk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33400" y="1219200"/>
                <a:ext cx="11049000" cy="5502275"/>
              </a:xfrm>
              <a:noFill/>
            </p:spPr>
            <p:txBody>
              <a:bodyPr>
                <a:normAutofit/>
              </a:bodyPr>
              <a:lstStyle/>
              <a:p>
                <a:pPr marL="0" indent="0" algn="just">
                  <a:lnSpc>
                    <a:spcPct val="90000"/>
                  </a:lnSpc>
                  <a:buNone/>
                </a:pPr>
                <a:r>
                  <a:rPr lang="en-US" sz="2400" b="1" u="sng" dirty="0">
                    <a:latin typeface="Arial" panose="020B0604020202020204" pitchFamily="34" charset="0"/>
                    <a:cs typeface="Arial" panose="020B0604020202020204" pitchFamily="34" charset="0"/>
                  </a:rPr>
                  <a:t>Solution</a:t>
                </a:r>
              </a:p>
              <a:p>
                <a:pPr marL="0" indent="0" algn="just">
                  <a:lnSpc>
                    <a:spcPct val="90000"/>
                  </a:lnSpc>
                  <a:buNone/>
                </a:pPr>
                <a:r>
                  <a:rPr lang="en-US" sz="2400" dirty="0">
                    <a:latin typeface="Arial" panose="020B0604020202020204" pitchFamily="34" charset="0"/>
                    <a:cs typeface="Arial" panose="020B0604020202020204" pitchFamily="34" charset="0"/>
                  </a:rPr>
                  <a:t>In the question although S.D. of returns of security B is higher than that of security A, it cannot be concluded that security B is more risky. This is because return on security B is also higher. In this case we should not assess riskiness of a security by S.D. which is an absolute measure of risk. Rather we should use coefficient of variation (C.V.) which is a relative measure of risk.</a:t>
                </a:r>
              </a:p>
              <a:p>
                <a:pPr algn="just">
                  <a:lnSpc>
                    <a:spcPct val="90000"/>
                  </a:lnSpc>
                </a:pPr>
                <a:endParaRPr lang="en-US" sz="2400" dirty="0">
                  <a:latin typeface="Arial" panose="020B0604020202020204" pitchFamily="34" charset="0"/>
                  <a:cs typeface="Arial" panose="020B0604020202020204" pitchFamily="34" charset="0"/>
                </a:endParaRPr>
              </a:p>
              <a:p>
                <a:pPr algn="just">
                  <a:lnSpc>
                    <a:spcPct val="90000"/>
                  </a:lnSpc>
                </a:pPr>
                <a:endParaRPr lang="en-US" sz="2400" dirty="0">
                  <a:latin typeface="Arial" panose="020B0604020202020204" pitchFamily="34" charset="0"/>
                  <a:cs typeface="Arial" panose="020B0604020202020204" pitchFamily="34" charset="0"/>
                </a:endParaRPr>
              </a:p>
              <a:p>
                <a:pPr marL="0" indent="0" algn="just">
                  <a:lnSpc>
                    <a:spcPct val="90000"/>
                  </a:lnSpc>
                  <a:buNone/>
                </a:pPr>
                <a:endParaRPr lang="en-US" sz="2400" dirty="0">
                  <a:latin typeface="Arial" panose="020B0604020202020204" pitchFamily="34" charset="0"/>
                  <a:cs typeface="Arial" panose="020B0604020202020204" pitchFamily="34" charset="0"/>
                </a:endParaRPr>
              </a:p>
              <a:p>
                <a:pPr algn="just">
                  <a:lnSpc>
                    <a:spcPct val="90000"/>
                  </a:lnSpc>
                </a:pPr>
                <a:r>
                  <a:rPr lang="en-US" sz="2400" dirty="0">
                    <a:latin typeface="Arial" panose="020B0604020202020204" pitchFamily="34" charset="0"/>
                    <a:cs typeface="Arial" panose="020B0604020202020204" pitchFamily="34" charset="0"/>
                  </a:rPr>
                  <a:t>Coefficient of Variation for security A =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15</m:t>
                        </m:r>
                      </m:num>
                      <m:den>
                        <m:r>
                          <a:rPr lang="en-US" sz="1800" b="0" i="1" smtClean="0">
                            <a:latin typeface="Cambria Math" panose="02040503050406030204" pitchFamily="18" charset="0"/>
                          </a:rPr>
                          <m:t>20</m:t>
                        </m:r>
                      </m:den>
                    </m:f>
                    <m:r>
                      <a:rPr lang="en-US" sz="1800" b="0" i="1" smtClean="0">
                        <a:latin typeface="Cambria Math" panose="02040503050406030204" pitchFamily="18" charset="0"/>
                      </a:rPr>
                      <m:t>=0.75</m:t>
                    </m:r>
                  </m:oMath>
                </a14:m>
                <a:endParaRPr lang="en-US" sz="2400" dirty="0">
                  <a:latin typeface="Arial" panose="020B0604020202020204" pitchFamily="34" charset="0"/>
                  <a:cs typeface="Arial" panose="020B0604020202020204" pitchFamily="34" charset="0"/>
                </a:endParaRPr>
              </a:p>
              <a:p>
                <a:pPr algn="just">
                  <a:lnSpc>
                    <a:spcPct val="90000"/>
                  </a:lnSpc>
                </a:pPr>
                <a:r>
                  <a:rPr lang="en-US" sz="2400" dirty="0">
                    <a:latin typeface="Arial" panose="020B0604020202020204" pitchFamily="34" charset="0"/>
                    <a:cs typeface="Arial" panose="020B0604020202020204" pitchFamily="34" charset="0"/>
                  </a:rPr>
                  <a:t>Coefficient of Variation for security B =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18</m:t>
                        </m:r>
                      </m:num>
                      <m:den>
                        <m:r>
                          <a:rPr lang="en-US" sz="1800" b="0" i="1" smtClean="0">
                            <a:latin typeface="Cambria Math" panose="02040503050406030204" pitchFamily="18" charset="0"/>
                          </a:rPr>
                          <m:t>30</m:t>
                        </m:r>
                      </m:den>
                    </m:f>
                    <m:r>
                      <a:rPr lang="en-US" sz="1800" b="0" i="1" smtClean="0">
                        <a:latin typeface="Cambria Math" panose="02040503050406030204" pitchFamily="18" charset="0"/>
                      </a:rPr>
                      <m:t>=0.60</m:t>
                    </m:r>
                  </m:oMath>
                </a14:m>
                <a:endParaRPr lang="en-US" sz="2400" dirty="0">
                  <a:latin typeface="Arial" panose="020B0604020202020204" pitchFamily="34" charset="0"/>
                  <a:cs typeface="Arial" panose="020B0604020202020204" pitchFamily="34" charset="0"/>
                </a:endParaRPr>
              </a:p>
              <a:p>
                <a:pPr algn="just">
                  <a:lnSpc>
                    <a:spcPct val="90000"/>
                  </a:lnSpc>
                </a:pPr>
                <a:r>
                  <a:rPr lang="en-US" sz="2400" dirty="0">
                    <a:latin typeface="Arial" panose="020B0604020202020204" pitchFamily="34" charset="0"/>
                    <a:cs typeface="Arial" panose="020B0604020202020204" pitchFamily="34" charset="0"/>
                  </a:rPr>
                  <a:t>Since C.V. of Security A is higher, we can say that Security A is riskier than security B.</a:t>
                </a:r>
              </a:p>
              <a:p>
                <a:pPr algn="just">
                  <a:lnSpc>
                    <a:spcPct val="90000"/>
                  </a:lnSpc>
                </a:pPr>
                <a:endParaRPr lang="en-US" sz="2400" dirty="0">
                  <a:latin typeface="Arial" panose="020B0604020202020204" pitchFamily="34" charset="0"/>
                  <a:cs typeface="Arial" panose="020B0604020202020204" pitchFamily="34" charset="0"/>
                </a:endParaRPr>
              </a:p>
              <a:p>
                <a:pPr marL="0" indent="0" algn="just">
                  <a:lnSpc>
                    <a:spcPct val="90000"/>
                  </a:lnSpc>
                  <a:buNone/>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533400" y="1219200"/>
                <a:ext cx="11049000" cy="5502275"/>
              </a:xfrm>
              <a:blipFill>
                <a:blip r:embed="rId2"/>
                <a:stretch>
                  <a:fillRect l="-883" t="-1440" r="-828"/>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41</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73A38B-0E44-8ED4-12D4-511BDC3EC17E}"/>
                  </a:ext>
                </a:extLst>
              </p:cNvPr>
              <p:cNvSpPr txBox="1"/>
              <p:nvPr/>
            </p:nvSpPr>
            <p:spPr>
              <a:xfrm>
                <a:off x="2055322" y="3745838"/>
                <a:ext cx="6682278" cy="701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𝐶𝑜𝑒𝑓𝑓𝑖𝑐𝑖𝑒𝑛𝑡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𝑉𝑎𝑟𝑖𝑎𝑡𝑖𝑜𝑛</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𝑆𝑡𝑎𝑛𝑑𝑎𝑟𝑑</m:t>
                          </m:r>
                          <m:r>
                            <a:rPr lang="en-US" b="0" i="1" smtClean="0">
                              <a:latin typeface="Cambria Math" panose="02040503050406030204" pitchFamily="18" charset="0"/>
                            </a:rPr>
                            <m:t> </m:t>
                          </m:r>
                          <m:r>
                            <a:rPr lang="en-US" b="0" i="1" smtClean="0">
                              <a:latin typeface="Cambria Math" panose="02040503050406030204" pitchFamily="18" charset="0"/>
                            </a:rPr>
                            <m:t>𝐷𝑒𝑣𝑖𝑎𝑡𝑖𝑜𝑛</m:t>
                          </m:r>
                        </m:num>
                        <m:den>
                          <m:r>
                            <a:rPr lang="en-US" b="0" i="1" smtClean="0">
                              <a:latin typeface="Cambria Math" panose="02040503050406030204" pitchFamily="18" charset="0"/>
                            </a:rPr>
                            <m:t>𝑀𝑒𝑎𝑛</m:t>
                          </m:r>
                          <m:r>
                            <a:rPr lang="en-US" b="0" i="1" smtClean="0">
                              <a:latin typeface="Cambria Math" panose="02040503050406030204" pitchFamily="18" charset="0"/>
                            </a:rPr>
                            <m:t> </m:t>
                          </m:r>
                          <m:r>
                            <a:rPr lang="en-US" b="0" i="1" smtClean="0">
                              <a:latin typeface="Cambria Math" panose="02040503050406030204" pitchFamily="18" charset="0"/>
                            </a:rPr>
                            <m:t>𝑅𝑒𝑡𝑢𝑟𝑛𝑠</m:t>
                          </m:r>
                        </m:den>
                      </m:f>
                    </m:oMath>
                  </m:oMathPara>
                </a14:m>
                <a:endParaRPr lang="en-US" dirty="0"/>
              </a:p>
            </p:txBody>
          </p:sp>
        </mc:Choice>
        <mc:Fallback xmlns="">
          <p:sp>
            <p:nvSpPr>
              <p:cNvPr id="6" name="TextBox 5">
                <a:extLst>
                  <a:ext uri="{FF2B5EF4-FFF2-40B4-BE49-F238E27FC236}">
                    <a16:creationId xmlns:a16="http://schemas.microsoft.com/office/drawing/2014/main" id="{2E73A38B-0E44-8ED4-12D4-511BDC3EC17E}"/>
                  </a:ext>
                </a:extLst>
              </p:cNvPr>
              <p:cNvSpPr txBox="1">
                <a:spLocks noRot="1" noChangeAspect="1" noMove="1" noResize="1" noEditPoints="1" noAdjustHandles="1" noChangeArrowheads="1" noChangeShapeType="1" noTextEdit="1"/>
              </p:cNvSpPr>
              <p:nvPr/>
            </p:nvSpPr>
            <p:spPr>
              <a:xfrm>
                <a:off x="2055322" y="3745838"/>
                <a:ext cx="6682278" cy="70141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6986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304800" y="267494"/>
            <a:ext cx="11049000" cy="715962"/>
          </a:xfrm>
          <a:solidFill>
            <a:schemeClr val="tx2">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Components of Risk</a:t>
            </a:r>
          </a:p>
        </p:txBody>
      </p:sp>
      <p:sp>
        <p:nvSpPr>
          <p:cNvPr id="4" name="Date Placeholder 3">
            <a:extLst>
              <a:ext uri="{FF2B5EF4-FFF2-40B4-BE49-F238E27FC236}">
                <a16:creationId xmlns:a16="http://schemas.microsoft.com/office/drawing/2014/main" id="{66095953-8823-3BBB-4F92-632027B903F9}"/>
              </a:ext>
            </a:extLst>
          </p:cNvPr>
          <p:cNvSpPr>
            <a:spLocks noGrp="1"/>
          </p:cNvSpPr>
          <p:nvPr>
            <p:ph type="dt" sz="half" idx="10"/>
          </p:nvPr>
        </p:nvSpPr>
        <p:spPr/>
        <p:txBody>
          <a:bodyPr/>
          <a:lstStyle/>
          <a:p>
            <a:fld id="{44E80842-0CCA-478A-B7AC-AF2BB5CD1E0A}" type="datetime1">
              <a:rPr lang="en-US" smtClean="0"/>
              <a:t>4/7/2026</a:t>
            </a:fld>
            <a:endParaRPr lang="en-US"/>
          </a:p>
        </p:txBody>
      </p:sp>
      <p:sp>
        <p:nvSpPr>
          <p:cNvPr id="5" name="Slide Number Placeholder 4">
            <a:extLst>
              <a:ext uri="{FF2B5EF4-FFF2-40B4-BE49-F238E27FC236}">
                <a16:creationId xmlns:a16="http://schemas.microsoft.com/office/drawing/2014/main" id="{BF9B17B2-E805-8B7C-AFB1-04D796C61527}"/>
              </a:ext>
            </a:extLst>
          </p:cNvPr>
          <p:cNvSpPr>
            <a:spLocks noGrp="1"/>
          </p:cNvSpPr>
          <p:nvPr>
            <p:ph type="sldNum" sz="quarter" idx="12"/>
          </p:nvPr>
        </p:nvSpPr>
        <p:spPr/>
        <p:txBody>
          <a:bodyPr/>
          <a:lstStyle/>
          <a:p>
            <a:fld id="{9A6574C6-EAF8-40F7-9181-B4B8ADC2AD82}" type="slidenum">
              <a:rPr lang="en-US" smtClean="0"/>
              <a:t>42</a:t>
            </a:fld>
            <a:endParaRPr lang="en-US"/>
          </a:p>
        </p:txBody>
      </p:sp>
      <p:graphicFrame>
        <p:nvGraphicFramePr>
          <p:cNvPr id="8" name="Diagram 7">
            <a:extLst>
              <a:ext uri="{FF2B5EF4-FFF2-40B4-BE49-F238E27FC236}">
                <a16:creationId xmlns:a16="http://schemas.microsoft.com/office/drawing/2014/main" id="{3DDA008F-2F11-7CA0-0AEC-8A1710877E10}"/>
              </a:ext>
            </a:extLst>
          </p:cNvPr>
          <p:cNvGraphicFramePr/>
          <p:nvPr>
            <p:extLst>
              <p:ext uri="{D42A27DB-BD31-4B8C-83A1-F6EECF244321}">
                <p14:modId xmlns:p14="http://schemas.microsoft.com/office/powerpoint/2010/main" val="396940727"/>
              </p:ext>
            </p:extLst>
          </p:nvPr>
        </p:nvGraphicFramePr>
        <p:xfrm>
          <a:off x="762000" y="983457"/>
          <a:ext cx="10515600" cy="5555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3764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br>
              <a:rPr lang="en-US" sz="4000" dirty="0"/>
            </a:br>
            <a:endParaRPr lang="en-US" sz="40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AF7357-A80E-1B2F-9977-B887E526F6E1}"/>
                  </a:ext>
                </a:extLst>
              </p:cNvPr>
              <p:cNvSpPr txBox="1"/>
              <p:nvPr/>
            </p:nvSpPr>
            <p:spPr>
              <a:xfrm>
                <a:off x="1219201" y="6061630"/>
                <a:ext cx="9753597" cy="369332"/>
              </a:xfrm>
              <a:prstGeom prst="rect">
                <a:avLst/>
              </a:prstGeom>
              <a:noFill/>
            </p:spPr>
            <p:txBody>
              <a:bodyPr wrap="square" lIns="0" tIns="0" rIns="0" bIns="0" rtlCol="0">
                <a:spAutoFit/>
              </a:bodyPr>
              <a:lstStyle/>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𝑅𝑖𝑠𝑘</m:t>
                      </m:r>
                      <m:r>
                        <m:rPr>
                          <m:nor/>
                        </m:rPr>
                        <a:rPr lang="en-US" dirty="0"/>
                        <m:t> </m:t>
                      </m:r>
                      <m:r>
                        <m:rPr>
                          <m:nor/>
                        </m:rPr>
                        <a:rPr lang="en-US" b="1" dirty="0"/>
                        <m:t>= </m:t>
                      </m:r>
                      <m:r>
                        <m:rPr>
                          <m:nor/>
                        </m:rPr>
                        <a:rPr lang="en-US" b="1" dirty="0"/>
                        <m:t>Systematic</m:t>
                      </m:r>
                      <m:r>
                        <m:rPr>
                          <m:nor/>
                        </m:rPr>
                        <a:rPr lang="en-US" b="1" dirty="0"/>
                        <m:t> </m:t>
                      </m:r>
                      <m:r>
                        <m:rPr>
                          <m:nor/>
                        </m:rPr>
                        <a:rPr lang="en-US" b="1" dirty="0"/>
                        <m:t>risk</m:t>
                      </m:r>
                      <m:r>
                        <m:rPr>
                          <m:nor/>
                        </m:rPr>
                        <a:rPr lang="en-US" b="1" dirty="0"/>
                        <m:t>  + </m:t>
                      </m:r>
                      <m:r>
                        <m:rPr>
                          <m:nor/>
                        </m:rPr>
                        <a:rPr lang="en-US" b="1" dirty="0"/>
                        <m:t>Unsystematic</m:t>
                      </m:r>
                      <m:r>
                        <m:rPr>
                          <m:nor/>
                        </m:rPr>
                        <a:rPr lang="en-US" b="1" dirty="0"/>
                        <m:t> </m:t>
                      </m:r>
                      <m:r>
                        <m:rPr>
                          <m:nor/>
                        </m:rPr>
                        <a:rPr lang="en-US" b="1" dirty="0"/>
                        <m:t>risk</m:t>
                      </m:r>
                    </m:oMath>
                  </m:oMathPara>
                </a14:m>
                <a:endParaRPr lang="en-US" b="1" dirty="0"/>
              </a:p>
            </p:txBody>
          </p:sp>
        </mc:Choice>
        <mc:Fallback xmlns="">
          <p:sp>
            <p:nvSpPr>
              <p:cNvPr id="11" name="TextBox 10">
                <a:extLst>
                  <a:ext uri="{FF2B5EF4-FFF2-40B4-BE49-F238E27FC236}">
                    <a16:creationId xmlns:a16="http://schemas.microsoft.com/office/drawing/2014/main" id="{E8AF7357-A80E-1B2F-9977-B887E526F6E1}"/>
                  </a:ext>
                </a:extLst>
              </p:cNvPr>
              <p:cNvSpPr txBox="1">
                <a:spLocks noRot="1" noChangeAspect="1" noMove="1" noResize="1" noEditPoints="1" noAdjustHandles="1" noChangeArrowheads="1" noChangeShapeType="1" noTextEdit="1"/>
              </p:cNvSpPr>
              <p:nvPr/>
            </p:nvSpPr>
            <p:spPr>
              <a:xfrm>
                <a:off x="1219201" y="6061630"/>
                <a:ext cx="9753597" cy="369332"/>
              </a:xfrm>
              <a:prstGeom prst="rect">
                <a:avLst/>
              </a:prstGeom>
              <a:blipFill>
                <a:blip r:embed="rId2"/>
                <a:stretch>
                  <a:fillRect b="-34426"/>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34213475-50FF-B5D5-7FB7-2F1DE48E94E9}"/>
              </a:ext>
            </a:extLst>
          </p:cNvPr>
          <p:cNvSpPr txBox="1">
            <a:spLocks/>
          </p:cNvSpPr>
          <p:nvPr/>
        </p:nvSpPr>
        <p:spPr>
          <a:xfrm>
            <a:off x="785190" y="129210"/>
            <a:ext cx="11102009" cy="632792"/>
          </a:xfrm>
          <a:prstGeom prst="rect">
            <a:avLst/>
          </a:prstGeom>
          <a:solidFill>
            <a:schemeClr val="accent1">
              <a:lumMod val="60000"/>
              <a:lumOff val="40000"/>
            </a:schemeClr>
          </a:solidFill>
        </p:spPr>
        <p:txBody>
          <a:bodyPr vert="horz" lIns="91440" tIns="45720" rIns="91440" bIns="45720" rtlCol="0" anchor="ctr">
            <a:normAutofit fontScale="5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b="1" dirty="0">
                <a:latin typeface="Arial" panose="020B0604020202020204" pitchFamily="34" charset="0"/>
                <a:cs typeface="Arial" panose="020B0604020202020204" pitchFamily="34" charset="0"/>
              </a:rPr>
              <a:t>Relation between Total Risk, Systematic Risk and Unsystematic Risk</a:t>
            </a:r>
          </a:p>
        </p:txBody>
      </p:sp>
      <p:pic>
        <p:nvPicPr>
          <p:cNvPr id="8" name="Content Placeholder 7">
            <a:extLst>
              <a:ext uri="{FF2B5EF4-FFF2-40B4-BE49-F238E27FC236}">
                <a16:creationId xmlns:a16="http://schemas.microsoft.com/office/drawing/2014/main" id="{665EB331-84E2-B155-5A6F-F87AEDF25C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9799" y="1166019"/>
            <a:ext cx="7772400" cy="4525962"/>
          </a:xfrm>
        </p:spPr>
      </p:pic>
    </p:spTree>
    <p:extLst>
      <p:ext uri="{BB962C8B-B14F-4D97-AF65-F5344CB8AC3E}">
        <p14:creationId xmlns:p14="http://schemas.microsoft.com/office/powerpoint/2010/main" val="9923449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381000" y="244820"/>
            <a:ext cx="11201400" cy="745780"/>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Systematic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228600" y="1295400"/>
            <a:ext cx="6248400" cy="5257687"/>
          </a:xfrm>
          <a:noFill/>
        </p:spPr>
        <p:txBody>
          <a:bodyPr>
            <a:normAutofit fontScale="92500" lnSpcReduction="10000"/>
          </a:bodyPr>
          <a:lstStyle/>
          <a:p>
            <a:pPr algn="just">
              <a:lnSpc>
                <a:spcPct val="110000"/>
              </a:lnSpc>
            </a:pPr>
            <a:r>
              <a:rPr lang="en-US" sz="2400" dirty="0">
                <a:latin typeface="Arial" panose="020B0604020202020204" pitchFamily="34" charset="0"/>
                <a:cs typeface="Arial" panose="020B0604020202020204" pitchFamily="34" charset="0"/>
              </a:rPr>
              <a:t>The portion of the variability of return of a security that is caused by </a:t>
            </a:r>
            <a:r>
              <a:rPr lang="en-US" sz="2400" b="1" dirty="0">
                <a:latin typeface="Arial" panose="020B0604020202020204" pitchFamily="34" charset="0"/>
                <a:cs typeface="Arial" panose="020B0604020202020204" pitchFamily="34" charset="0"/>
              </a:rPr>
              <a:t>external factors</a:t>
            </a:r>
            <a:r>
              <a:rPr lang="en-US" sz="2400" dirty="0">
                <a:latin typeface="Arial" panose="020B0604020202020204" pitchFamily="34" charset="0"/>
                <a:cs typeface="Arial" panose="020B0604020202020204" pitchFamily="34" charset="0"/>
              </a:rPr>
              <a:t>, is called systematic risk.</a:t>
            </a:r>
          </a:p>
          <a:p>
            <a:pPr algn="just">
              <a:lnSpc>
                <a:spcPct val="110000"/>
              </a:lnSpc>
            </a:pPr>
            <a:r>
              <a:rPr lang="en-US" sz="2400" dirty="0">
                <a:latin typeface="Arial" panose="020B0604020202020204" pitchFamily="34" charset="0"/>
                <a:cs typeface="Arial" panose="020B0604020202020204" pitchFamily="34" charset="0"/>
              </a:rPr>
              <a:t>It is also known as </a:t>
            </a:r>
            <a:r>
              <a:rPr lang="en-US" sz="2400" b="1" dirty="0">
                <a:latin typeface="Arial" panose="020B0604020202020204" pitchFamily="34" charset="0"/>
                <a:cs typeface="Arial" panose="020B0604020202020204" pitchFamily="34" charset="0"/>
              </a:rPr>
              <a:t>market risk </a:t>
            </a:r>
            <a:r>
              <a:rPr lang="en-US" sz="2400" dirty="0">
                <a:latin typeface="Arial" panose="020B0604020202020204" pitchFamily="34" charset="0"/>
                <a:cs typeface="Arial" panose="020B0604020202020204" pitchFamily="34" charset="0"/>
              </a:rPr>
              <a:t>or </a:t>
            </a:r>
            <a:r>
              <a:rPr lang="en-US" sz="2400" b="1" dirty="0">
                <a:latin typeface="Arial" panose="020B0604020202020204" pitchFamily="34" charset="0"/>
                <a:cs typeface="Arial" panose="020B0604020202020204" pitchFamily="34" charset="0"/>
              </a:rPr>
              <a:t>non-diversifiable risk</a:t>
            </a:r>
            <a:r>
              <a:rPr lang="en-US" sz="2400" dirty="0">
                <a:latin typeface="Arial" panose="020B0604020202020204" pitchFamily="34" charset="0"/>
                <a:cs typeface="Arial" panose="020B0604020202020204" pitchFamily="34" charset="0"/>
              </a:rPr>
              <a:t>.</a:t>
            </a:r>
          </a:p>
          <a:p>
            <a:pPr algn="just">
              <a:lnSpc>
                <a:spcPct val="110000"/>
              </a:lnSpc>
            </a:pPr>
            <a:r>
              <a:rPr lang="en-US" sz="2400" dirty="0">
                <a:latin typeface="Arial" panose="020B0604020202020204" pitchFamily="34" charset="0"/>
                <a:cs typeface="Arial" panose="020B0604020202020204" pitchFamily="34" charset="0"/>
              </a:rPr>
              <a:t>Systematic risk- uncontrollable by an organization and macro in nature.</a:t>
            </a:r>
          </a:p>
          <a:p>
            <a:pPr algn="just">
              <a:lnSpc>
                <a:spcPct val="110000"/>
              </a:lnSpc>
            </a:pPr>
            <a:r>
              <a:rPr lang="en-US" sz="2400" dirty="0">
                <a:latin typeface="Arial" panose="020B0604020202020204" pitchFamily="34" charset="0"/>
                <a:cs typeface="Arial" panose="020B0604020202020204" pitchFamily="34" charset="0"/>
              </a:rPr>
              <a:t>Economic and </a:t>
            </a:r>
            <a:r>
              <a:rPr lang="en-US" sz="2400" b="1" dirty="0">
                <a:latin typeface="Arial" panose="020B0604020202020204" pitchFamily="34" charset="0"/>
                <a:cs typeface="Arial" panose="020B0604020202020204" pitchFamily="34" charset="0"/>
              </a:rPr>
              <a:t>political instability</a:t>
            </a:r>
            <a:r>
              <a:rPr lang="en-US" sz="2400" dirty="0">
                <a:latin typeface="Arial" panose="020B0604020202020204" pitchFamily="34" charset="0"/>
                <a:cs typeface="Arial" panose="020B0604020202020204" pitchFamily="34" charset="0"/>
              </a:rPr>
              <a:t>, economic recession, </a:t>
            </a:r>
            <a:r>
              <a:rPr lang="en-US" sz="2400" b="1" dirty="0">
                <a:latin typeface="Arial" panose="020B0604020202020204" pitchFamily="34" charset="0"/>
                <a:cs typeface="Arial" panose="020B0604020202020204" pitchFamily="34" charset="0"/>
              </a:rPr>
              <a:t>macro poli</a:t>
            </a:r>
            <a:r>
              <a:rPr lang="en-US" sz="2400" dirty="0">
                <a:latin typeface="Arial" panose="020B0604020202020204" pitchFamily="34" charset="0"/>
                <a:cs typeface="Arial" panose="020B0604020202020204" pitchFamily="34" charset="0"/>
              </a:rPr>
              <a:t>cy of the government, etc. affect the price of all shares systematically. </a:t>
            </a:r>
          </a:p>
          <a:p>
            <a:pPr algn="just">
              <a:lnSpc>
                <a:spcPct val="110000"/>
              </a:lnSpc>
            </a:pPr>
            <a:r>
              <a:rPr lang="en-US" sz="2400" dirty="0">
                <a:latin typeface="Arial" panose="020B0604020202020204" pitchFamily="34" charset="0"/>
                <a:cs typeface="Arial" panose="020B0604020202020204" pitchFamily="34" charset="0"/>
              </a:rPr>
              <a:t>Thus, the variation of return in shares, which is caused by these factors, is called systematic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44</a:t>
            </a:fld>
            <a:endParaRPr lang="en-US"/>
          </a:p>
        </p:txBody>
      </p:sp>
      <p:pic>
        <p:nvPicPr>
          <p:cNvPr id="7" name="Picture 6">
            <a:extLst>
              <a:ext uri="{FF2B5EF4-FFF2-40B4-BE49-F238E27FC236}">
                <a16:creationId xmlns:a16="http://schemas.microsoft.com/office/drawing/2014/main" id="{FCDF9FEE-2C66-4A8B-DA9E-812055CF0E3E}"/>
              </a:ext>
            </a:extLst>
          </p:cNvPr>
          <p:cNvPicPr>
            <a:picLocks noChangeAspect="1"/>
          </p:cNvPicPr>
          <p:nvPr/>
        </p:nvPicPr>
        <p:blipFill>
          <a:blip r:embed="rId2"/>
          <a:stretch>
            <a:fillRect/>
          </a:stretch>
        </p:blipFill>
        <p:spPr>
          <a:xfrm>
            <a:off x="6705600" y="1669998"/>
            <a:ext cx="5162550" cy="1152525"/>
          </a:xfrm>
          <a:prstGeom prst="rect">
            <a:avLst/>
          </a:prstGeom>
        </p:spPr>
      </p:pic>
      <p:pic>
        <p:nvPicPr>
          <p:cNvPr id="9" name="Picture 8">
            <a:extLst>
              <a:ext uri="{FF2B5EF4-FFF2-40B4-BE49-F238E27FC236}">
                <a16:creationId xmlns:a16="http://schemas.microsoft.com/office/drawing/2014/main" id="{9C0922C7-BF81-FE3B-7C97-E882C9766274}"/>
              </a:ext>
            </a:extLst>
          </p:cNvPr>
          <p:cNvPicPr>
            <a:picLocks noChangeAspect="1"/>
          </p:cNvPicPr>
          <p:nvPr/>
        </p:nvPicPr>
        <p:blipFill>
          <a:blip r:embed="rId3"/>
          <a:stretch>
            <a:fillRect/>
          </a:stretch>
        </p:blipFill>
        <p:spPr>
          <a:xfrm>
            <a:off x="6685579" y="2971801"/>
            <a:ext cx="5182572" cy="1702442"/>
          </a:xfrm>
          <a:prstGeom prst="rect">
            <a:avLst/>
          </a:prstGeom>
        </p:spPr>
      </p:pic>
      <p:pic>
        <p:nvPicPr>
          <p:cNvPr id="11" name="Picture 10">
            <a:extLst>
              <a:ext uri="{FF2B5EF4-FFF2-40B4-BE49-F238E27FC236}">
                <a16:creationId xmlns:a16="http://schemas.microsoft.com/office/drawing/2014/main" id="{344EE7F3-4849-D6C7-61B8-B1D0FD063F4E}"/>
              </a:ext>
            </a:extLst>
          </p:cNvPr>
          <p:cNvPicPr>
            <a:picLocks noChangeAspect="1"/>
          </p:cNvPicPr>
          <p:nvPr/>
        </p:nvPicPr>
        <p:blipFill>
          <a:blip r:embed="rId4"/>
          <a:stretch>
            <a:fillRect/>
          </a:stretch>
        </p:blipFill>
        <p:spPr>
          <a:xfrm>
            <a:off x="6705601" y="4823522"/>
            <a:ext cx="5162550" cy="1532830"/>
          </a:xfrm>
          <a:prstGeom prst="rect">
            <a:avLst/>
          </a:prstGeom>
        </p:spPr>
      </p:pic>
    </p:spTree>
    <p:extLst>
      <p:ext uri="{BB962C8B-B14F-4D97-AF65-F5344CB8AC3E}">
        <p14:creationId xmlns:p14="http://schemas.microsoft.com/office/powerpoint/2010/main" val="3957695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921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Types of Systematic Risks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744200" cy="5551055"/>
          </a:xfrm>
          <a:noFill/>
        </p:spPr>
        <p:txBody>
          <a:bodyPr>
            <a:normAutofit/>
          </a:bodyPr>
          <a:lstStyle/>
          <a:p>
            <a:pPr marL="0" indent="0">
              <a:buNone/>
            </a:pPr>
            <a:r>
              <a:rPr lang="en-US" sz="2800" dirty="0">
                <a:latin typeface="Arial" panose="020B0604020202020204" pitchFamily="34" charset="0"/>
                <a:cs typeface="Arial" panose="020B0604020202020204" pitchFamily="34" charset="0"/>
              </a:rPr>
              <a:t>Different types of systematic risks are:</a:t>
            </a:r>
          </a:p>
        </p:txBody>
      </p:sp>
      <p:sp>
        <p:nvSpPr>
          <p:cNvPr id="4" name="Date Placeholder 3">
            <a:extLst>
              <a:ext uri="{FF2B5EF4-FFF2-40B4-BE49-F238E27FC236}">
                <a16:creationId xmlns:a16="http://schemas.microsoft.com/office/drawing/2014/main" id="{66095953-8823-3BBB-4F92-632027B903F9}"/>
              </a:ext>
            </a:extLst>
          </p:cNvPr>
          <p:cNvSpPr>
            <a:spLocks noGrp="1"/>
          </p:cNvSpPr>
          <p:nvPr>
            <p:ph type="dt" sz="half" idx="10"/>
          </p:nvPr>
        </p:nvSpPr>
        <p:spPr/>
        <p:txBody>
          <a:bodyPr/>
          <a:lstStyle/>
          <a:p>
            <a:fld id="{44E80842-0CCA-478A-B7AC-AF2BB5CD1E0A}" type="datetime1">
              <a:rPr lang="en-US" smtClean="0"/>
              <a:t>4/7/2026</a:t>
            </a:fld>
            <a:endParaRPr lang="en-US"/>
          </a:p>
        </p:txBody>
      </p:sp>
      <p:sp>
        <p:nvSpPr>
          <p:cNvPr id="5" name="Slide Number Placeholder 4">
            <a:extLst>
              <a:ext uri="{FF2B5EF4-FFF2-40B4-BE49-F238E27FC236}">
                <a16:creationId xmlns:a16="http://schemas.microsoft.com/office/drawing/2014/main" id="{BF9B17B2-E805-8B7C-AFB1-04D796C61527}"/>
              </a:ext>
            </a:extLst>
          </p:cNvPr>
          <p:cNvSpPr>
            <a:spLocks noGrp="1"/>
          </p:cNvSpPr>
          <p:nvPr>
            <p:ph type="sldNum" sz="quarter" idx="12"/>
          </p:nvPr>
        </p:nvSpPr>
        <p:spPr/>
        <p:txBody>
          <a:bodyPr/>
          <a:lstStyle/>
          <a:p>
            <a:fld id="{9A6574C6-EAF8-40F7-9181-B4B8ADC2AD82}" type="slidenum">
              <a:rPr lang="en-US" smtClean="0"/>
              <a:t>45</a:t>
            </a:fld>
            <a:endParaRPr lang="en-US"/>
          </a:p>
        </p:txBody>
      </p:sp>
      <p:graphicFrame>
        <p:nvGraphicFramePr>
          <p:cNvPr id="6" name="Diagram 5">
            <a:extLst>
              <a:ext uri="{FF2B5EF4-FFF2-40B4-BE49-F238E27FC236}">
                <a16:creationId xmlns:a16="http://schemas.microsoft.com/office/drawing/2014/main" id="{909063F6-982E-9E45-2B6D-996FB00B83CB}"/>
              </a:ext>
            </a:extLst>
          </p:cNvPr>
          <p:cNvGraphicFramePr/>
          <p:nvPr>
            <p:extLst>
              <p:ext uri="{D42A27DB-BD31-4B8C-83A1-F6EECF244321}">
                <p14:modId xmlns:p14="http://schemas.microsoft.com/office/powerpoint/2010/main" val="4084314333"/>
              </p:ext>
            </p:extLst>
          </p:nvPr>
        </p:nvGraphicFramePr>
        <p:xfrm>
          <a:off x="2032000" y="2057400"/>
          <a:ext cx="7472218"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1996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821980"/>
          </a:xfrm>
          <a:solidFill>
            <a:schemeClr val="accent1">
              <a:lumMod val="60000"/>
              <a:lumOff val="40000"/>
            </a:schemeClr>
          </a:solidFill>
          <a:ln>
            <a:noFill/>
          </a:ln>
        </p:spPr>
        <p:txBody>
          <a:bodyPr>
            <a:normAutofit/>
          </a:bodyPr>
          <a:lstStyle/>
          <a:p>
            <a:r>
              <a:rPr lang="en-US" sz="2800" b="1" u="sng" dirty="0">
                <a:latin typeface="Arial" panose="020B0604020202020204" pitchFamily="34" charset="0"/>
                <a:cs typeface="Arial" panose="020B0604020202020204" pitchFamily="34" charset="0"/>
              </a:rPr>
              <a:t>Market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95401"/>
            <a:ext cx="7696200" cy="5426076"/>
          </a:xfrm>
          <a:noFill/>
        </p:spPr>
        <p:txBody>
          <a:bodyPr>
            <a:normAutofit fontScale="77500" lnSpcReduction="20000"/>
          </a:bodyPr>
          <a:lstStyle/>
          <a:p>
            <a:pPr algn="just">
              <a:lnSpc>
                <a:spcPct val="120000"/>
              </a:lnSpc>
            </a:pPr>
            <a:r>
              <a:rPr lang="en-US" sz="2800" dirty="0">
                <a:latin typeface="Arial" panose="020B0604020202020204" pitchFamily="34" charset="0"/>
                <a:cs typeface="Arial" panose="020B0604020202020204" pitchFamily="34" charset="0"/>
              </a:rPr>
              <a:t>Market risk is associated with </a:t>
            </a:r>
            <a:r>
              <a:rPr lang="en-US" sz="2800" b="1" dirty="0">
                <a:latin typeface="Arial" panose="020B0604020202020204" pitchFamily="34" charset="0"/>
                <a:cs typeface="Arial" panose="020B0604020202020204" pitchFamily="34" charset="0"/>
              </a:rPr>
              <a:t>consistent fluctuations</a:t>
            </a:r>
            <a:r>
              <a:rPr lang="en-US" sz="2800" dirty="0">
                <a:latin typeface="Arial" panose="020B0604020202020204" pitchFamily="34" charset="0"/>
                <a:cs typeface="Arial" panose="020B0604020202020204" pitchFamily="34" charset="0"/>
              </a:rPr>
              <a:t> seen in the trading price of any particular shares or securities. </a:t>
            </a:r>
          </a:p>
          <a:p>
            <a:pPr algn="just">
              <a:lnSpc>
                <a:spcPct val="120000"/>
              </a:lnSpc>
            </a:pPr>
            <a:r>
              <a:rPr lang="en-US" sz="2800" dirty="0">
                <a:latin typeface="Arial" panose="020B0604020202020204" pitchFamily="34" charset="0"/>
                <a:cs typeface="Arial" panose="020B0604020202020204" pitchFamily="34" charset="0"/>
              </a:rPr>
              <a:t>That is, it arises due to </a:t>
            </a:r>
            <a:r>
              <a:rPr lang="en-US" sz="2800" b="1" dirty="0">
                <a:latin typeface="Arial" panose="020B0604020202020204" pitchFamily="34" charset="0"/>
                <a:cs typeface="Arial" panose="020B0604020202020204" pitchFamily="34" charset="0"/>
              </a:rPr>
              <a:t>rise or fall in the trading price of listed shares </a:t>
            </a:r>
            <a:r>
              <a:rPr lang="en-US" sz="2800" dirty="0">
                <a:latin typeface="Arial" panose="020B0604020202020204" pitchFamily="34" charset="0"/>
                <a:cs typeface="Arial" panose="020B0604020202020204" pitchFamily="34" charset="0"/>
              </a:rPr>
              <a:t>or securities in the stock market.</a:t>
            </a:r>
          </a:p>
          <a:p>
            <a:pPr algn="just">
              <a:lnSpc>
                <a:spcPct val="120000"/>
              </a:lnSpc>
            </a:pPr>
            <a:r>
              <a:rPr lang="en-US" sz="2800" dirty="0">
                <a:latin typeface="Arial" panose="020B0604020202020204" pitchFamily="34" charset="0"/>
                <a:cs typeface="Arial" panose="020B0604020202020204" pitchFamily="34" charset="0"/>
              </a:rPr>
              <a:t>Market risk is caused due to </a:t>
            </a:r>
            <a:r>
              <a:rPr lang="en-US" sz="2800" b="1" dirty="0">
                <a:latin typeface="Arial" panose="020B0604020202020204" pitchFamily="34" charset="0"/>
                <a:cs typeface="Arial" panose="020B0604020202020204" pitchFamily="34" charset="0"/>
              </a:rPr>
              <a:t>herd-mentality</a:t>
            </a:r>
            <a:r>
              <a:rPr lang="en-US" sz="2800" dirty="0">
                <a:latin typeface="Arial" panose="020B0604020202020204" pitchFamily="34" charset="0"/>
                <a:cs typeface="Arial" panose="020B0604020202020204" pitchFamily="34" charset="0"/>
              </a:rPr>
              <a:t> of investors i.e. the tendency of investors to follow the direction of the market. </a:t>
            </a:r>
          </a:p>
          <a:p>
            <a:pPr algn="just">
              <a:lnSpc>
                <a:spcPct val="120000"/>
              </a:lnSpc>
            </a:pPr>
            <a:r>
              <a:rPr lang="en-US" sz="2800" dirty="0">
                <a:latin typeface="Arial" panose="020B0604020202020204" pitchFamily="34" charset="0"/>
                <a:cs typeface="Arial" panose="020B0604020202020204" pitchFamily="34" charset="0"/>
              </a:rPr>
              <a:t>Hence market risk is the </a:t>
            </a:r>
            <a:r>
              <a:rPr lang="en-US" sz="2800" b="1" dirty="0">
                <a:latin typeface="Arial" panose="020B0604020202020204" pitchFamily="34" charset="0"/>
                <a:cs typeface="Arial" panose="020B0604020202020204" pitchFamily="34" charset="0"/>
              </a:rPr>
              <a:t>tendency of security prices to move together</a:t>
            </a:r>
            <a:r>
              <a:rPr lang="en-US" sz="2800" dirty="0">
                <a:latin typeface="Arial" panose="020B0604020202020204" pitchFamily="34" charset="0"/>
                <a:cs typeface="Arial" panose="020B0604020202020204" pitchFamily="34" charset="0"/>
              </a:rPr>
              <a:t>. </a:t>
            </a:r>
          </a:p>
          <a:p>
            <a:pPr algn="just">
              <a:lnSpc>
                <a:spcPct val="120000"/>
              </a:lnSpc>
            </a:pPr>
            <a:r>
              <a:rPr lang="en-US" sz="2800" dirty="0">
                <a:latin typeface="Arial" panose="020B0604020202020204" pitchFamily="34" charset="0"/>
                <a:cs typeface="Arial" panose="020B0604020202020204" pitchFamily="34" charset="0"/>
              </a:rPr>
              <a:t>If the </a:t>
            </a:r>
            <a:r>
              <a:rPr lang="en-US" sz="2800" b="1" dirty="0">
                <a:latin typeface="Arial" panose="020B0604020202020204" pitchFamily="34" charset="0"/>
                <a:cs typeface="Arial" panose="020B0604020202020204" pitchFamily="34" charset="0"/>
              </a:rPr>
              <a:t>market is falling </a:t>
            </a:r>
            <a:r>
              <a:rPr lang="en-US" sz="2800" dirty="0">
                <a:latin typeface="Arial" panose="020B0604020202020204" pitchFamily="34" charset="0"/>
                <a:cs typeface="Arial" panose="020B0604020202020204" pitchFamily="34" charset="0"/>
              </a:rPr>
              <a:t>then </a:t>
            </a:r>
            <a:r>
              <a:rPr lang="en-US" sz="2800" b="1" dirty="0">
                <a:latin typeface="Arial" panose="020B0604020202020204" pitchFamily="34" charset="0"/>
                <a:cs typeface="Arial" panose="020B0604020202020204" pitchFamily="34" charset="0"/>
              </a:rPr>
              <a:t>even good performing companies’ shares fall </a:t>
            </a:r>
            <a:r>
              <a:rPr lang="en-US" sz="2800" dirty="0">
                <a:latin typeface="Arial" panose="020B0604020202020204" pitchFamily="34" charset="0"/>
                <a:cs typeface="Arial" panose="020B0604020202020204" pitchFamily="34" charset="0"/>
              </a:rPr>
              <a:t>in prices. </a:t>
            </a:r>
          </a:p>
          <a:p>
            <a:pPr algn="just">
              <a:lnSpc>
                <a:spcPct val="120000"/>
              </a:lnSpc>
            </a:pPr>
            <a:r>
              <a:rPr lang="en-US" sz="2800" dirty="0">
                <a:latin typeface="Arial" panose="020B0604020202020204" pitchFamily="34" charset="0"/>
                <a:cs typeface="Arial" panose="020B0604020202020204" pitchFamily="34" charset="0"/>
              </a:rPr>
              <a:t>Thus, decline in share price due to market factors is termed as market risk. </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46</a:t>
            </a:fld>
            <a:endParaRPr lang="en-US" dirty="0"/>
          </a:p>
        </p:txBody>
      </p:sp>
      <p:pic>
        <p:nvPicPr>
          <p:cNvPr id="7" name="Picture 6">
            <a:extLst>
              <a:ext uri="{FF2B5EF4-FFF2-40B4-BE49-F238E27FC236}">
                <a16:creationId xmlns:a16="http://schemas.microsoft.com/office/drawing/2014/main" id="{0C6C8720-F8DA-06AA-906E-B697FBCECA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30721" y="2514600"/>
            <a:ext cx="3867764" cy="3169920"/>
          </a:xfrm>
          <a:prstGeom prst="rect">
            <a:avLst/>
          </a:prstGeom>
        </p:spPr>
      </p:pic>
    </p:spTree>
    <p:extLst>
      <p:ext uri="{BB962C8B-B14F-4D97-AF65-F5344CB8AC3E}">
        <p14:creationId xmlns:p14="http://schemas.microsoft.com/office/powerpoint/2010/main" val="50554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292432" y="244821"/>
            <a:ext cx="11289968" cy="5933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Interest Rate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292432" y="1066800"/>
            <a:ext cx="11289968" cy="5703455"/>
          </a:xfrm>
          <a:noFill/>
        </p:spPr>
        <p:txBody>
          <a:bodyPr>
            <a:normAutofit fontScale="70000" lnSpcReduction="20000"/>
          </a:bodyPr>
          <a:lstStyle/>
          <a:p>
            <a:pPr>
              <a:lnSpc>
                <a:spcPct val="170000"/>
              </a:lnSpc>
            </a:pPr>
            <a:r>
              <a:rPr lang="en-US" sz="2800" dirty="0">
                <a:latin typeface="Arial" panose="020B0604020202020204" pitchFamily="34" charset="0"/>
                <a:cs typeface="Arial" panose="020B0604020202020204" pitchFamily="34" charset="0"/>
              </a:rPr>
              <a:t>Interest-rate risk arises due to variability in the interest rates from time to time. </a:t>
            </a:r>
          </a:p>
          <a:p>
            <a:pPr>
              <a:lnSpc>
                <a:spcPct val="170000"/>
              </a:lnSpc>
            </a:pPr>
            <a:r>
              <a:rPr lang="en-US" sz="2800" dirty="0">
                <a:latin typeface="Arial" panose="020B0604020202020204" pitchFamily="34" charset="0"/>
                <a:cs typeface="Arial" panose="020B0604020202020204" pitchFamily="34" charset="0"/>
              </a:rPr>
              <a:t>It particularly affects debt securities as they carry the fixed rate of interest.</a:t>
            </a:r>
          </a:p>
          <a:p>
            <a:pPr>
              <a:lnSpc>
                <a:spcPct val="170000"/>
              </a:lnSpc>
            </a:pPr>
            <a:r>
              <a:rPr lang="en-US" sz="2800" dirty="0">
                <a:latin typeface="Arial" panose="020B0604020202020204" pitchFamily="34" charset="0"/>
                <a:cs typeface="Arial" panose="020B0604020202020204" pitchFamily="34" charset="0"/>
              </a:rPr>
              <a:t>Because fixed income securities like bonds and debentures have a negative relationship with the bond price.</a:t>
            </a:r>
          </a:p>
          <a:p>
            <a:pPr>
              <a:lnSpc>
                <a:spcPct val="170000"/>
              </a:lnSpc>
            </a:pPr>
            <a:r>
              <a:rPr lang="en-US" sz="2800" dirty="0">
                <a:latin typeface="Arial" panose="020B0604020202020204" pitchFamily="34" charset="0"/>
                <a:cs typeface="Arial" panose="020B0604020202020204" pitchFamily="34" charset="0"/>
              </a:rPr>
              <a:t>An increase in market interest rate causes bond prices to fall and vice versa.</a:t>
            </a:r>
          </a:p>
          <a:p>
            <a:pPr>
              <a:lnSpc>
                <a:spcPct val="170000"/>
              </a:lnSpc>
            </a:pPr>
            <a:r>
              <a:rPr lang="en-US" sz="2800" dirty="0">
                <a:latin typeface="Arial" panose="020B0604020202020204" pitchFamily="34" charset="0"/>
                <a:cs typeface="Arial" panose="020B0604020202020204" pitchFamily="34" charset="0"/>
              </a:rPr>
              <a:t>The types of interest-rate risk are depicted </a:t>
            </a:r>
          </a:p>
          <a:p>
            <a:pPr lvl="1">
              <a:lnSpc>
                <a:spcPct val="170000"/>
              </a:lnSpc>
            </a:pPr>
            <a:r>
              <a:rPr lang="en-US" sz="2000" b="1" dirty="0">
                <a:latin typeface="Arial" panose="020B0604020202020204" pitchFamily="34" charset="0"/>
                <a:cs typeface="Arial" panose="020B0604020202020204" pitchFamily="34" charset="0"/>
              </a:rPr>
              <a:t>Price risk and</a:t>
            </a:r>
          </a:p>
          <a:p>
            <a:pPr lvl="1">
              <a:lnSpc>
                <a:spcPct val="170000"/>
              </a:lnSpc>
            </a:pPr>
            <a:r>
              <a:rPr lang="en-US" sz="2000" b="1" dirty="0">
                <a:latin typeface="Arial" panose="020B0604020202020204" pitchFamily="34" charset="0"/>
                <a:cs typeface="Arial" panose="020B0604020202020204" pitchFamily="34" charset="0"/>
              </a:rPr>
              <a:t>Reinvestment rate risk.</a:t>
            </a:r>
          </a:p>
          <a:p>
            <a:pPr>
              <a:lnSpc>
                <a:spcPct val="170000"/>
              </a:lnSpc>
            </a:pPr>
            <a:r>
              <a:rPr lang="en-US" sz="2800" dirty="0">
                <a:latin typeface="Arial" panose="020B0604020202020204" pitchFamily="34" charset="0"/>
                <a:cs typeface="Arial" panose="020B0604020202020204" pitchFamily="34" charset="0"/>
              </a:rPr>
              <a:t>Price risk arises due to the possibility that the price of the securities, investments, etc. may decline or fall in the future.</a:t>
            </a:r>
          </a:p>
          <a:p>
            <a:pPr>
              <a:lnSpc>
                <a:spcPct val="170000"/>
              </a:lnSpc>
            </a:pPr>
            <a:r>
              <a:rPr lang="en-US" sz="2800" dirty="0">
                <a:latin typeface="Arial" panose="020B0604020202020204" pitchFamily="34" charset="0"/>
                <a:cs typeface="Arial" panose="020B0604020202020204" pitchFamily="34" charset="0"/>
              </a:rPr>
              <a:t>Reinvestment rate risk results from fact that the interest or dividend earned from an investment can't be reinvested with the same rate of return as it was acquiring earlier.</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47</a:t>
            </a:fld>
            <a:endParaRPr lang="en-US"/>
          </a:p>
        </p:txBody>
      </p:sp>
    </p:spTree>
    <p:extLst>
      <p:ext uri="{BB962C8B-B14F-4D97-AF65-F5344CB8AC3E}">
        <p14:creationId xmlns:p14="http://schemas.microsoft.com/office/powerpoint/2010/main" val="18353644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292432" y="244821"/>
            <a:ext cx="11289968" cy="8219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Interest Rate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48</a:t>
            </a:fld>
            <a:endParaRPr lang="en-US"/>
          </a:p>
        </p:txBody>
      </p:sp>
      <p:pic>
        <p:nvPicPr>
          <p:cNvPr id="4098" name="Picture 2" descr="Interest rates and stock markets - Rediff.com">
            <a:extLst>
              <a:ext uri="{FF2B5EF4-FFF2-40B4-BE49-F238E27FC236}">
                <a16:creationId xmlns:a16="http://schemas.microsoft.com/office/drawing/2014/main" id="{08B36E78-12ED-EBD6-02D9-0C6D2AD49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5400"/>
            <a:ext cx="8610600"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8737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304800"/>
            <a:ext cx="10972800" cy="609600"/>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Interest Rate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066800"/>
            <a:ext cx="10744200" cy="570345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If price risk is negative (i.e. fall in price), reinvestment risk would be positive (i.e. increase in earnings on reinvested money). </a:t>
            </a:r>
          </a:p>
          <a:p>
            <a:pPr algn="just">
              <a:lnSpc>
                <a:spcPct val="150000"/>
              </a:lnSpc>
            </a:pPr>
            <a:r>
              <a:rPr lang="en-US" sz="2400" dirty="0">
                <a:latin typeface="Arial" panose="020B0604020202020204" pitchFamily="34" charset="0"/>
                <a:cs typeface="Arial" panose="020B0604020202020204" pitchFamily="34" charset="0"/>
              </a:rPr>
              <a:t>Price risk is the risk associated with changes in the price of a security due to changes in interest rate. </a:t>
            </a:r>
          </a:p>
          <a:p>
            <a:pPr algn="just">
              <a:lnSpc>
                <a:spcPct val="150000"/>
              </a:lnSpc>
            </a:pPr>
            <a:r>
              <a:rPr lang="en-US" sz="2400" dirty="0">
                <a:latin typeface="Arial" panose="020B0604020202020204" pitchFamily="34" charset="0"/>
                <a:cs typeface="Arial" panose="020B0604020202020204" pitchFamily="34" charset="0"/>
              </a:rPr>
              <a:t>It must be noted that bond prices are inversely related to interest rates as given :</a:t>
            </a:r>
          </a:p>
          <a:p>
            <a:pPr algn="just">
              <a:lnSpc>
                <a:spcPct val="150000"/>
              </a:lnSpc>
            </a:pPr>
            <a:endParaRPr lang="en-US" sz="2400" dirty="0">
              <a:latin typeface="Arial" panose="020B0604020202020204" pitchFamily="34" charset="0"/>
              <a:cs typeface="Arial" panose="020B0604020202020204" pitchFamily="34" charset="0"/>
            </a:endParaRP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marL="0" indent="0" algn="just">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r>
              <a:rPr lang="en-US" dirty="0"/>
              <a:t>o</a:t>
            </a:r>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49</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40988A-1CDD-0483-E049-655EB92CF093}"/>
                  </a:ext>
                </a:extLst>
              </p:cNvPr>
              <p:cNvSpPr txBox="1"/>
              <p:nvPr/>
            </p:nvSpPr>
            <p:spPr>
              <a:xfrm>
                <a:off x="2057400" y="4343400"/>
                <a:ext cx="8153400" cy="6940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𝐵𝑜𝑛𝑑</m:t>
                      </m:r>
                      <m:r>
                        <a:rPr lang="en-US" b="0" i="1" smtClean="0">
                          <a:latin typeface="Cambria Math" panose="02040503050406030204" pitchFamily="18" charset="0"/>
                        </a:rPr>
                        <m:t> </m:t>
                      </m:r>
                      <m:r>
                        <a:rPr lang="en-US" b="0" i="1" smtClean="0">
                          <a:latin typeface="Cambria Math" panose="02040503050406030204" pitchFamily="18" charset="0"/>
                        </a:rPr>
                        <m:t>𝑃𝑟𝑖𝑐𝑒𝑠</m:t>
                      </m:r>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𝐶𝑜𝑢𝑝𝑜𝑛</m:t>
                          </m:r>
                          <m:r>
                            <a:rPr lang="en-US" b="0" i="1" smtClean="0">
                              <a:latin typeface="Cambria Math" panose="02040503050406030204" pitchFamily="18" charset="0"/>
                            </a:rPr>
                            <m:t> </m:t>
                          </m:r>
                          <m:r>
                            <a:rPr lang="en-US" b="0" i="1" smtClean="0">
                              <a:latin typeface="Cambria Math" panose="02040503050406030204" pitchFamily="18" charset="0"/>
                            </a:rPr>
                            <m:t>𝑟𝑎𝑡𝑒</m:t>
                          </m:r>
                        </m:num>
                        <m:den>
                          <m:r>
                            <a:rPr lang="en-US" b="0" i="1" smtClean="0">
                              <a:latin typeface="Cambria Math" panose="02040503050406030204" pitchFamily="18" charset="0"/>
                            </a:rPr>
                            <m:t>𝑀𝑎𝑟𝑘𝑒𝑡</m:t>
                          </m:r>
                          <m:r>
                            <a:rPr lang="en-US" b="0" i="1" smtClean="0">
                              <a:latin typeface="Cambria Math" panose="02040503050406030204" pitchFamily="18" charset="0"/>
                            </a:rPr>
                            <m:t> </m:t>
                          </m:r>
                          <m:r>
                            <a:rPr lang="en-US" b="0" i="1" smtClean="0">
                              <a:latin typeface="Cambria Math" panose="02040503050406030204" pitchFamily="18" charset="0"/>
                            </a:rPr>
                            <m:t>𝐼𝑛𝑡𝑒𝑟𝑒𝑠𝑡</m:t>
                          </m:r>
                          <m:r>
                            <a:rPr lang="en-US" b="0" i="1" smtClean="0">
                              <a:latin typeface="Cambria Math" panose="02040503050406030204" pitchFamily="18" charset="0"/>
                            </a:rPr>
                            <m:t> </m:t>
                          </m:r>
                          <m:r>
                            <a:rPr lang="en-US" b="0" i="1" smtClean="0">
                              <a:latin typeface="Cambria Math" panose="02040503050406030204" pitchFamily="18" charset="0"/>
                            </a:rPr>
                            <m:t>𝑅𝑎𝑡𝑒</m:t>
                          </m:r>
                        </m:den>
                      </m:f>
                      <m:r>
                        <a:rPr lang="en-US" b="0" i="1" smtClean="0">
                          <a:latin typeface="Cambria Math" panose="02040503050406030204" pitchFamily="18" charset="0"/>
                        </a:rPr>
                        <m:t>∗</m:t>
                      </m:r>
                      <m:r>
                        <a:rPr lang="en-US" b="0" i="1" smtClean="0">
                          <a:latin typeface="Cambria Math" panose="02040503050406030204" pitchFamily="18" charset="0"/>
                        </a:rPr>
                        <m:t>𝑃𝑎𝑟</m:t>
                      </m:r>
                      <m:r>
                        <a:rPr lang="en-US" b="0" i="1" smtClean="0">
                          <a:latin typeface="Cambria Math" panose="02040503050406030204" pitchFamily="18" charset="0"/>
                        </a:rPr>
                        <m:t> </m:t>
                      </m:r>
                      <m:r>
                        <a:rPr lang="en-US" b="0" i="1" smtClean="0">
                          <a:latin typeface="Cambria Math" panose="02040503050406030204" pitchFamily="18" charset="0"/>
                        </a:rPr>
                        <m:t>𝑉𝑎𝑙𝑢𝑒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𝐵𝑜𝑛𝑑</m:t>
                      </m:r>
                    </m:oMath>
                  </m:oMathPara>
                </a14:m>
                <a:endParaRPr lang="en-US" dirty="0"/>
              </a:p>
            </p:txBody>
          </p:sp>
        </mc:Choice>
        <mc:Fallback xmlns="">
          <p:sp>
            <p:nvSpPr>
              <p:cNvPr id="6" name="TextBox 5">
                <a:extLst>
                  <a:ext uri="{FF2B5EF4-FFF2-40B4-BE49-F238E27FC236}">
                    <a16:creationId xmlns:a16="http://schemas.microsoft.com/office/drawing/2014/main" id="{1F40988A-1CDD-0483-E049-655EB92CF093}"/>
                  </a:ext>
                </a:extLst>
              </p:cNvPr>
              <p:cNvSpPr txBox="1">
                <a:spLocks noRot="1" noChangeAspect="1" noMove="1" noResize="1" noEditPoints="1" noAdjustHandles="1" noChangeArrowheads="1" noChangeShapeType="1" noTextEdit="1"/>
              </p:cNvSpPr>
              <p:nvPr/>
            </p:nvSpPr>
            <p:spPr>
              <a:xfrm>
                <a:off x="2057400" y="4343400"/>
                <a:ext cx="8153400" cy="694036"/>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60930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304800"/>
            <a:ext cx="10972800" cy="609600"/>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Interest Rate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066800"/>
            <a:ext cx="10744200" cy="570345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For example, A bond issued at par Rs.1000 has 5 year maturity and a coupon rate of 10% p.a. Now, if the market interest rate increases to 12%, we will not find any buyer for this bond at Rs.1000 because the bond will provide interest income at 10% rate while the market interest rate is 12%. Therefore this bond becomes attractive only at a price lower than Rs.1000. Using the formula, the price if the bond will be Rs. 833.33. This fall in price is interest rate risk.</a:t>
            </a:r>
          </a:p>
          <a:p>
            <a:pPr algn="just">
              <a:lnSpc>
                <a:spcPct val="150000"/>
              </a:lnSpc>
            </a:pPr>
            <a:endParaRPr lang="en-US" sz="2400" dirty="0">
              <a:latin typeface="Arial" panose="020B0604020202020204" pitchFamily="34" charset="0"/>
              <a:cs typeface="Arial" panose="020B0604020202020204" pitchFamily="34" charset="0"/>
            </a:endParaRPr>
          </a:p>
          <a:p>
            <a:pPr algn="just"/>
            <a:endParaRPr lang="en-US" sz="2400" dirty="0"/>
          </a:p>
          <a:p>
            <a:pPr algn="just"/>
            <a:endParaRPr lang="en-US" sz="2400" dirty="0"/>
          </a:p>
          <a:p>
            <a:pPr algn="just"/>
            <a:endParaRPr lang="en-US" sz="2400" dirty="0"/>
          </a:p>
          <a:p>
            <a:pPr marL="0" indent="0" algn="just">
              <a:buNone/>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r>
              <a:rPr lang="en-US" dirty="0"/>
              <a:t>o</a:t>
            </a:r>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50</a:t>
            </a:fld>
            <a:endParaRPr lang="en-US"/>
          </a:p>
        </p:txBody>
      </p:sp>
    </p:spTree>
    <p:extLst>
      <p:ext uri="{BB962C8B-B14F-4D97-AF65-F5344CB8AC3E}">
        <p14:creationId xmlns:p14="http://schemas.microsoft.com/office/powerpoint/2010/main" val="26771380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304799" y="244821"/>
            <a:ext cx="11277601"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Purchasing Power or Inflationary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304799" y="1066800"/>
            <a:ext cx="6656789" cy="5703455"/>
          </a:xfrm>
          <a:noFill/>
        </p:spPr>
        <p:txBody>
          <a:bodyPr>
            <a:normAutofit fontScale="70000" lnSpcReduction="20000"/>
          </a:bodyPr>
          <a:lstStyle/>
          <a:p>
            <a:pPr algn="just">
              <a:lnSpc>
                <a:spcPct val="120000"/>
              </a:lnSpc>
            </a:pPr>
            <a:r>
              <a:rPr lang="en-US" sz="2800" dirty="0">
                <a:latin typeface="Arial" panose="020B0604020202020204" pitchFamily="34" charset="0"/>
                <a:cs typeface="Arial" panose="020B0604020202020204" pitchFamily="34" charset="0"/>
              </a:rPr>
              <a:t>Purchasing power risk arises due to </a:t>
            </a:r>
            <a:r>
              <a:rPr lang="en-US" sz="2800" b="1" dirty="0">
                <a:latin typeface="Arial" panose="020B0604020202020204" pitchFamily="34" charset="0"/>
                <a:cs typeface="Arial" panose="020B0604020202020204" pitchFamily="34" charset="0"/>
              </a:rPr>
              <a:t>inflation</a:t>
            </a:r>
            <a:r>
              <a:rPr lang="en-US" sz="2800" dirty="0">
                <a:latin typeface="Arial" panose="020B0604020202020204" pitchFamily="34" charset="0"/>
                <a:cs typeface="Arial" panose="020B0604020202020204" pitchFamily="34" charset="0"/>
              </a:rPr>
              <a:t>. </a:t>
            </a:r>
          </a:p>
          <a:p>
            <a:pPr algn="just">
              <a:lnSpc>
                <a:spcPct val="120000"/>
              </a:lnSpc>
            </a:pPr>
            <a:r>
              <a:rPr lang="en-US" sz="2800" dirty="0">
                <a:latin typeface="Arial" panose="020B0604020202020204" pitchFamily="34" charset="0"/>
                <a:cs typeface="Arial" panose="020B0604020202020204" pitchFamily="34" charset="0"/>
              </a:rPr>
              <a:t>Inflation is persistent and sustained increase in general price level. </a:t>
            </a:r>
          </a:p>
          <a:p>
            <a:pPr algn="just">
              <a:lnSpc>
                <a:spcPct val="120000"/>
              </a:lnSpc>
            </a:pPr>
            <a:r>
              <a:rPr lang="en-US" sz="2800" dirty="0">
                <a:latin typeface="Arial" panose="020B0604020202020204" pitchFamily="34" charset="0"/>
                <a:cs typeface="Arial" panose="020B0604020202020204" pitchFamily="34" charset="0"/>
              </a:rPr>
              <a:t>Inflation </a:t>
            </a:r>
            <a:r>
              <a:rPr lang="en-US" sz="2800" b="1" dirty="0">
                <a:latin typeface="Arial" panose="020B0604020202020204" pitchFamily="34" charset="0"/>
                <a:cs typeface="Arial" panose="020B0604020202020204" pitchFamily="34" charset="0"/>
              </a:rPr>
              <a:t>erodes the purchasing power of money </a:t>
            </a:r>
            <a:r>
              <a:rPr lang="en-US" sz="2800" dirty="0">
                <a:latin typeface="Arial" panose="020B0604020202020204" pitchFamily="34" charset="0"/>
                <a:cs typeface="Arial" panose="020B0604020202020204" pitchFamily="34" charset="0"/>
              </a:rPr>
              <a:t>i.e. the </a:t>
            </a:r>
            <a:r>
              <a:rPr lang="en-US" sz="2800" b="1" dirty="0">
                <a:latin typeface="Arial" panose="020B0604020202020204" pitchFamily="34" charset="0"/>
                <a:cs typeface="Arial" panose="020B0604020202020204" pitchFamily="34" charset="0"/>
              </a:rPr>
              <a:t>same amount of money can buy fewer goods and services</a:t>
            </a:r>
            <a:r>
              <a:rPr lang="en-US" sz="2800" dirty="0">
                <a:latin typeface="Arial" panose="020B0604020202020204" pitchFamily="34" charset="0"/>
                <a:cs typeface="Arial" panose="020B0604020202020204" pitchFamily="34" charset="0"/>
              </a:rPr>
              <a:t> due to increase in prices. </a:t>
            </a:r>
          </a:p>
          <a:p>
            <a:pPr algn="just">
              <a:lnSpc>
                <a:spcPct val="120000"/>
              </a:lnSpc>
            </a:pPr>
            <a:r>
              <a:rPr lang="en-US" sz="2800" dirty="0">
                <a:latin typeface="Arial" panose="020B0604020202020204" pitchFamily="34" charset="0"/>
                <a:cs typeface="Arial" panose="020B0604020202020204" pitchFamily="34" charset="0"/>
              </a:rPr>
              <a:t>Therefore if investor’s income does not increase in times of rising inflation, then the investor is actually getting lower and lower income in real terms. </a:t>
            </a:r>
          </a:p>
          <a:p>
            <a:pPr algn="just">
              <a:lnSpc>
                <a:spcPct val="120000"/>
              </a:lnSpc>
            </a:pPr>
            <a:r>
              <a:rPr lang="en-US" sz="2800" dirty="0">
                <a:latin typeface="Arial" panose="020B0604020202020204" pitchFamily="34" charset="0"/>
                <a:cs typeface="Arial" panose="020B0604020202020204" pitchFamily="34" charset="0"/>
              </a:rPr>
              <a:t>Fixed income securities are subject to high level of purchasing power risk because income from such securities is fixed in nominal terms.</a:t>
            </a:r>
          </a:p>
          <a:p>
            <a:pPr algn="just">
              <a:lnSpc>
                <a:spcPct val="120000"/>
              </a:lnSpc>
            </a:pPr>
            <a:r>
              <a:rPr lang="en-US" sz="2800" dirty="0">
                <a:latin typeface="Arial" panose="020B0604020202020204" pitchFamily="34" charset="0"/>
                <a:cs typeface="Arial" panose="020B0604020202020204" pitchFamily="34" charset="0"/>
              </a:rPr>
              <a:t>For example, if the interest from the debenture is 5% and the inflation rate in the economy is 8%, then the investor will generate a negative return of 3%.</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51</a:t>
            </a:fld>
            <a:endParaRPr lang="en-US" dirty="0"/>
          </a:p>
        </p:txBody>
      </p:sp>
      <p:pic>
        <p:nvPicPr>
          <p:cNvPr id="7" name="Picture 6">
            <a:extLst>
              <a:ext uri="{FF2B5EF4-FFF2-40B4-BE49-F238E27FC236}">
                <a16:creationId xmlns:a16="http://schemas.microsoft.com/office/drawing/2014/main" id="{091D558A-3355-8976-2956-87C6410C2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593112"/>
            <a:ext cx="2032000" cy="2177143"/>
          </a:xfrm>
          <a:prstGeom prst="rect">
            <a:avLst/>
          </a:prstGeom>
        </p:spPr>
      </p:pic>
      <p:pic>
        <p:nvPicPr>
          <p:cNvPr id="5122" name="Picture 2" descr="Is high inflation a big concern for equity investors? | Mint">
            <a:extLst>
              <a:ext uri="{FF2B5EF4-FFF2-40B4-BE49-F238E27FC236}">
                <a16:creationId xmlns:a16="http://schemas.microsoft.com/office/drawing/2014/main" id="{EE3380BF-090F-9A0F-91F0-B851771A7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4207" y="1066801"/>
            <a:ext cx="4790441" cy="3477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5027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825501"/>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Purchasing Power or Inflationary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990600" y="3429001"/>
            <a:ext cx="10515600" cy="2971800"/>
          </a:xfrm>
          <a:noFill/>
        </p:spPr>
        <p:txBody>
          <a:bodyPr>
            <a:normAutofit fontScale="92500" lnSpcReduction="10000"/>
          </a:bodyPr>
          <a:lstStyle/>
          <a:p>
            <a:pPr lvl="0" algn="just">
              <a:lnSpc>
                <a:spcPct val="150000"/>
              </a:lnSpc>
            </a:pPr>
            <a:r>
              <a:rPr lang="en-US" sz="2000" b="1" dirty="0">
                <a:latin typeface="Arial" panose="020B0604020202020204" pitchFamily="34" charset="0"/>
                <a:cs typeface="Arial" panose="020B0604020202020204" pitchFamily="34" charset="0"/>
              </a:rPr>
              <a:t>Demand inflation risk</a:t>
            </a:r>
            <a:r>
              <a:rPr lang="en-US" sz="2000" dirty="0">
                <a:latin typeface="Arial" panose="020B0604020202020204" pitchFamily="34" charset="0"/>
                <a:cs typeface="Arial" panose="020B0604020202020204" pitchFamily="34" charset="0"/>
              </a:rPr>
              <a:t> arises due to increase in price, which result from an excess of demand over supply. It occurs when supply fails to cope with the demand and hence cannot expand anymore. In other words, demand inflation occurs when production factors are under maximum utilization.</a:t>
            </a:r>
          </a:p>
          <a:p>
            <a:pPr lvl="0" algn="just">
              <a:lnSpc>
                <a:spcPct val="150000"/>
              </a:lnSpc>
            </a:pPr>
            <a:r>
              <a:rPr lang="en-US" sz="2000" b="1" dirty="0">
                <a:latin typeface="Arial" panose="020B0604020202020204" pitchFamily="34" charset="0"/>
                <a:cs typeface="Arial" panose="020B0604020202020204" pitchFamily="34" charset="0"/>
              </a:rPr>
              <a:t>Cost inflation risk </a:t>
            </a:r>
            <a:r>
              <a:rPr lang="en-US" sz="2000" dirty="0">
                <a:latin typeface="Arial" panose="020B0604020202020204" pitchFamily="34" charset="0"/>
                <a:cs typeface="Arial" panose="020B0604020202020204" pitchFamily="34" charset="0"/>
              </a:rPr>
              <a:t>arises due to sustained increase in the prices of goods and services. It is actually caused by higher production cost. A high cost of production inflates the final price of finished goods consumed by people.</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52</a:t>
            </a:fld>
            <a:endParaRPr lang="en-US" dirty="0"/>
          </a:p>
        </p:txBody>
      </p:sp>
      <p:pic>
        <p:nvPicPr>
          <p:cNvPr id="6" name="Picture 5" descr="inflationary risk">
            <a:hlinkClick r:id="rId2" tooltip="&quot;Purchasing power or inflationary risk&quot;"/>
            <a:extLst>
              <a:ext uri="{FF2B5EF4-FFF2-40B4-BE49-F238E27FC236}">
                <a16:creationId xmlns:a16="http://schemas.microsoft.com/office/drawing/2014/main" id="{9365F92A-79E4-289A-5272-0CC8356D7D44}"/>
              </a:ext>
            </a:extLst>
          </p:cNvPr>
          <p:cNvPicPr/>
          <p:nvPr/>
        </p:nvPicPr>
        <p:blipFill>
          <a:blip r:embed="rId3"/>
          <a:srcRect/>
          <a:stretch>
            <a:fillRect/>
          </a:stretch>
        </p:blipFill>
        <p:spPr bwMode="auto">
          <a:xfrm>
            <a:off x="2971800" y="1420814"/>
            <a:ext cx="6248400" cy="2008186"/>
          </a:xfrm>
          <a:prstGeom prst="rect">
            <a:avLst/>
          </a:prstGeom>
          <a:noFill/>
          <a:ln w="9525">
            <a:noFill/>
            <a:miter lim="800000"/>
            <a:headEnd/>
            <a:tailEnd/>
          </a:ln>
        </p:spPr>
      </p:pic>
    </p:spTree>
    <p:extLst>
      <p:ext uri="{BB962C8B-B14F-4D97-AF65-F5344CB8AC3E}">
        <p14:creationId xmlns:p14="http://schemas.microsoft.com/office/powerpoint/2010/main" val="1714346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8683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Unsystematic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53</a:t>
            </a:fld>
            <a:endParaRPr lang="en-US"/>
          </a:p>
        </p:txBody>
      </p:sp>
      <p:pic>
        <p:nvPicPr>
          <p:cNvPr id="7" name="Picture 6">
            <a:extLst>
              <a:ext uri="{FF2B5EF4-FFF2-40B4-BE49-F238E27FC236}">
                <a16:creationId xmlns:a16="http://schemas.microsoft.com/office/drawing/2014/main" id="{3DE7C9FA-A555-ABEA-6122-A6C47C3B2872}"/>
              </a:ext>
            </a:extLst>
          </p:cNvPr>
          <p:cNvPicPr>
            <a:picLocks noChangeAspect="1"/>
          </p:cNvPicPr>
          <p:nvPr/>
        </p:nvPicPr>
        <p:blipFill>
          <a:blip r:embed="rId2"/>
          <a:stretch>
            <a:fillRect/>
          </a:stretch>
        </p:blipFill>
        <p:spPr>
          <a:xfrm>
            <a:off x="573832" y="1558014"/>
            <a:ext cx="4760168" cy="1526507"/>
          </a:xfrm>
          <a:prstGeom prst="rect">
            <a:avLst/>
          </a:prstGeom>
        </p:spPr>
      </p:pic>
      <p:pic>
        <p:nvPicPr>
          <p:cNvPr id="9" name="Picture 8">
            <a:extLst>
              <a:ext uri="{FF2B5EF4-FFF2-40B4-BE49-F238E27FC236}">
                <a16:creationId xmlns:a16="http://schemas.microsoft.com/office/drawing/2014/main" id="{4EE950A0-557D-48B7-601B-4A8EDE02B3C7}"/>
              </a:ext>
            </a:extLst>
          </p:cNvPr>
          <p:cNvPicPr>
            <a:picLocks noChangeAspect="1"/>
          </p:cNvPicPr>
          <p:nvPr/>
        </p:nvPicPr>
        <p:blipFill>
          <a:blip r:embed="rId3"/>
          <a:stretch>
            <a:fillRect/>
          </a:stretch>
        </p:blipFill>
        <p:spPr>
          <a:xfrm>
            <a:off x="5584372" y="1556017"/>
            <a:ext cx="6033796" cy="1475989"/>
          </a:xfrm>
          <a:prstGeom prst="rect">
            <a:avLst/>
          </a:prstGeom>
        </p:spPr>
      </p:pic>
      <p:pic>
        <p:nvPicPr>
          <p:cNvPr id="11" name="Picture 10">
            <a:extLst>
              <a:ext uri="{FF2B5EF4-FFF2-40B4-BE49-F238E27FC236}">
                <a16:creationId xmlns:a16="http://schemas.microsoft.com/office/drawing/2014/main" id="{449D9A44-6BA5-2F64-5E49-FCA3DD9565ED}"/>
              </a:ext>
            </a:extLst>
          </p:cNvPr>
          <p:cNvPicPr>
            <a:picLocks noChangeAspect="1"/>
          </p:cNvPicPr>
          <p:nvPr/>
        </p:nvPicPr>
        <p:blipFill>
          <a:blip r:embed="rId4"/>
          <a:stretch>
            <a:fillRect/>
          </a:stretch>
        </p:blipFill>
        <p:spPr>
          <a:xfrm>
            <a:off x="609599" y="3238810"/>
            <a:ext cx="4724401" cy="2917400"/>
          </a:xfrm>
          <a:prstGeom prst="rect">
            <a:avLst/>
          </a:prstGeom>
        </p:spPr>
      </p:pic>
      <p:pic>
        <p:nvPicPr>
          <p:cNvPr id="6146" name="Picture 2" descr="Kingfisher timeline: How Vijay Mallya's bird fell sick">
            <a:extLst>
              <a:ext uri="{FF2B5EF4-FFF2-40B4-BE49-F238E27FC236}">
                <a16:creationId xmlns:a16="http://schemas.microsoft.com/office/drawing/2014/main" id="{10E3542E-BD7D-E858-2C33-A58083021D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3670" y="3174379"/>
            <a:ext cx="4401705" cy="29174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Kingfisher Airlines Collapse - Case Study || Finance by Shivam #vijaymalya # kingfisher #vijaymallya #casestudy #viralpost #businessnews  #businesscasestudy #mutualfunds #sharemarketsafeinvestment #sharebazaar  #marketcapitalization #viralnews #viralnews">
            <a:extLst>
              <a:ext uri="{FF2B5EF4-FFF2-40B4-BE49-F238E27FC236}">
                <a16:creationId xmlns:a16="http://schemas.microsoft.com/office/drawing/2014/main" id="{D0A8504F-FD70-6687-E622-4EF37A0D29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5347" y="3205667"/>
            <a:ext cx="2079209" cy="2882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384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8D3F1-4068-4636-6771-1D4EAEE42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F39F2-2BE9-4BA6-7A37-B2DE08762B25}"/>
              </a:ext>
            </a:extLst>
          </p:cNvPr>
          <p:cNvSpPr>
            <a:spLocks noGrp="1"/>
          </p:cNvSpPr>
          <p:nvPr>
            <p:ph type="title"/>
          </p:nvPr>
        </p:nvSpPr>
        <p:spPr>
          <a:xfrm>
            <a:off x="609600" y="274638"/>
            <a:ext cx="10972800" cy="8683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Unsystematic Risk</a:t>
            </a:r>
          </a:p>
        </p:txBody>
      </p:sp>
      <p:sp>
        <p:nvSpPr>
          <p:cNvPr id="3" name="Content Placeholder 2">
            <a:extLst>
              <a:ext uri="{FF2B5EF4-FFF2-40B4-BE49-F238E27FC236}">
                <a16:creationId xmlns:a16="http://schemas.microsoft.com/office/drawing/2014/main" id="{04608809-80A2-F719-BE71-1305BF67E017}"/>
              </a:ext>
            </a:extLst>
          </p:cNvPr>
          <p:cNvSpPr>
            <a:spLocks noGrp="1"/>
          </p:cNvSpPr>
          <p:nvPr>
            <p:ph idx="1"/>
          </p:nvPr>
        </p:nvSpPr>
        <p:spPr>
          <a:xfrm>
            <a:off x="609600" y="1219200"/>
            <a:ext cx="10972800" cy="5502277"/>
          </a:xfrm>
          <a:noFill/>
        </p:spPr>
        <p:txBody>
          <a:bodyPr>
            <a:normAutofit/>
          </a:bodyPr>
          <a:lstStyle/>
          <a:p>
            <a:pPr marL="533400" indent="-533400" algn="just">
              <a:lnSpc>
                <a:spcPct val="150000"/>
              </a:lnSpc>
            </a:pPr>
            <a:r>
              <a:rPr lang="en-US" sz="2400" dirty="0">
                <a:latin typeface="Arial" panose="020B0604020202020204" pitchFamily="34" charset="0"/>
                <a:cs typeface="Arial" panose="020B0604020202020204" pitchFamily="34" charset="0"/>
              </a:rPr>
              <a:t>The return from a security sometimes varies because of certain factors affecting only the company issuing such security. </a:t>
            </a:r>
          </a:p>
          <a:p>
            <a:pPr marL="533400" indent="-533400" algn="just">
              <a:lnSpc>
                <a:spcPct val="150000"/>
              </a:lnSpc>
            </a:pPr>
            <a:r>
              <a:rPr lang="en-US" sz="2400" dirty="0">
                <a:latin typeface="Arial" panose="020B0604020202020204" pitchFamily="34" charset="0"/>
                <a:cs typeface="Arial" panose="020B0604020202020204" pitchFamily="34" charset="0"/>
              </a:rPr>
              <a:t>Examples are raw material scarcity, </a:t>
            </a:r>
            <a:r>
              <a:rPr lang="en-US" sz="2400" dirty="0" err="1">
                <a:latin typeface="Arial" panose="020B0604020202020204" pitchFamily="34" charset="0"/>
                <a:cs typeface="Arial" panose="020B0604020202020204" pitchFamily="34" charset="0"/>
              </a:rPr>
              <a:t>Labour</a:t>
            </a:r>
            <a:r>
              <a:rPr lang="en-US" sz="2400" dirty="0">
                <a:latin typeface="Arial" panose="020B0604020202020204" pitchFamily="34" charset="0"/>
                <a:cs typeface="Arial" panose="020B0604020202020204" pitchFamily="34" charset="0"/>
              </a:rPr>
              <a:t> strike, management efficiency etc. </a:t>
            </a:r>
          </a:p>
          <a:p>
            <a:pPr marL="533400" indent="-533400" algn="just">
              <a:lnSpc>
                <a:spcPct val="150000"/>
              </a:lnSpc>
            </a:pPr>
            <a:r>
              <a:rPr lang="en-US" sz="2400" dirty="0">
                <a:latin typeface="Arial" panose="020B0604020202020204" pitchFamily="34" charset="0"/>
                <a:cs typeface="Arial" panose="020B0604020202020204" pitchFamily="34" charset="0"/>
              </a:rPr>
              <a:t>Unsystematic risk- controllable by an organization and micro in nature.</a:t>
            </a:r>
          </a:p>
          <a:p>
            <a:pPr marL="533400" indent="-533400" algn="just">
              <a:lnSpc>
                <a:spcPct val="150000"/>
              </a:lnSpc>
            </a:pPr>
            <a:r>
              <a:rPr lang="en-US" sz="2400" dirty="0">
                <a:latin typeface="Arial" panose="020B0604020202020204" pitchFamily="34" charset="0"/>
                <a:cs typeface="Arial" panose="020B0604020202020204" pitchFamily="34" charset="0"/>
              </a:rPr>
              <a:t>It is a micro in nature as it affects only a particular organization. </a:t>
            </a:r>
          </a:p>
          <a:p>
            <a:pPr marL="533400" indent="-533400" algn="just">
              <a:lnSpc>
                <a:spcPct val="150000"/>
              </a:lnSpc>
            </a:pPr>
            <a:r>
              <a:rPr lang="en-US" sz="2400" dirty="0">
                <a:latin typeface="Arial" panose="020B0604020202020204" pitchFamily="34" charset="0"/>
                <a:cs typeface="Arial" panose="020B0604020202020204" pitchFamily="34" charset="0"/>
              </a:rPr>
              <a:t>It can be planned, so that necessary actions can be taken by the organization to mitigate (reduce the effect of) the risk.</a:t>
            </a:r>
          </a:p>
          <a:p>
            <a:pPr marL="533400" indent="-533400" algn="just">
              <a:lnSpc>
                <a:spcPct val="90000"/>
              </a:lnSpc>
            </a:pPr>
            <a:endParaRPr lang="en-US" sz="2400" dirty="0"/>
          </a:p>
        </p:txBody>
      </p:sp>
      <p:sp>
        <p:nvSpPr>
          <p:cNvPr id="4" name="Date Placeholder 3">
            <a:extLst>
              <a:ext uri="{FF2B5EF4-FFF2-40B4-BE49-F238E27FC236}">
                <a16:creationId xmlns:a16="http://schemas.microsoft.com/office/drawing/2014/main" id="{0BCDFFC9-5705-F79B-4DA1-F76A020C2355}"/>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7C3F6F00-DF60-D78D-2127-52EA247D85C0}"/>
              </a:ext>
            </a:extLst>
          </p:cNvPr>
          <p:cNvSpPr>
            <a:spLocks noGrp="1"/>
          </p:cNvSpPr>
          <p:nvPr>
            <p:ph type="sldNum" sz="quarter" idx="12"/>
          </p:nvPr>
        </p:nvSpPr>
        <p:spPr/>
        <p:txBody>
          <a:bodyPr/>
          <a:lstStyle/>
          <a:p>
            <a:fld id="{9A6574C6-EAF8-40F7-9181-B4B8ADC2AD82}" type="slidenum">
              <a:rPr lang="en-US" smtClean="0"/>
              <a:t>54</a:t>
            </a:fld>
            <a:endParaRPr lang="en-US"/>
          </a:p>
        </p:txBody>
      </p:sp>
    </p:spTree>
    <p:extLst>
      <p:ext uri="{BB962C8B-B14F-4D97-AF65-F5344CB8AC3E}">
        <p14:creationId xmlns:p14="http://schemas.microsoft.com/office/powerpoint/2010/main" val="2451276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8D3F1-4068-4636-6771-1D4EAEE42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F39F2-2BE9-4BA6-7A37-B2DE08762B25}"/>
              </a:ext>
            </a:extLst>
          </p:cNvPr>
          <p:cNvSpPr>
            <a:spLocks noGrp="1"/>
          </p:cNvSpPr>
          <p:nvPr>
            <p:ph type="title"/>
          </p:nvPr>
        </p:nvSpPr>
        <p:spPr>
          <a:xfrm>
            <a:off x="609600" y="274638"/>
            <a:ext cx="10972800" cy="8683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Unsystematic Risk</a:t>
            </a:r>
          </a:p>
        </p:txBody>
      </p:sp>
      <p:sp>
        <p:nvSpPr>
          <p:cNvPr id="3" name="Content Placeholder 2">
            <a:extLst>
              <a:ext uri="{FF2B5EF4-FFF2-40B4-BE49-F238E27FC236}">
                <a16:creationId xmlns:a16="http://schemas.microsoft.com/office/drawing/2014/main" id="{04608809-80A2-F719-BE71-1305BF67E017}"/>
              </a:ext>
            </a:extLst>
          </p:cNvPr>
          <p:cNvSpPr>
            <a:spLocks noGrp="1"/>
          </p:cNvSpPr>
          <p:nvPr>
            <p:ph idx="1"/>
          </p:nvPr>
        </p:nvSpPr>
        <p:spPr>
          <a:xfrm>
            <a:off x="609600" y="1219200"/>
            <a:ext cx="10972800" cy="5502277"/>
          </a:xfrm>
          <a:noFill/>
        </p:spPr>
        <p:txBody>
          <a:bodyPr>
            <a:normAutofit/>
          </a:bodyPr>
          <a:lstStyle/>
          <a:p>
            <a:pPr marL="533400" indent="-533400" algn="just">
              <a:lnSpc>
                <a:spcPct val="150000"/>
              </a:lnSpc>
            </a:pPr>
            <a:r>
              <a:rPr lang="en-US" sz="2400" dirty="0">
                <a:latin typeface="Arial" panose="020B0604020202020204" pitchFamily="34" charset="0"/>
                <a:cs typeface="Arial" panose="020B0604020202020204" pitchFamily="34" charset="0"/>
              </a:rPr>
              <a:t>When variability of returns occurs because of such firm-specific factors, it is known as unsystematic risk.</a:t>
            </a:r>
          </a:p>
          <a:p>
            <a:pPr marL="533400" indent="-533400" algn="just">
              <a:lnSpc>
                <a:spcPct val="150000"/>
              </a:lnSpc>
            </a:pPr>
            <a:r>
              <a:rPr lang="en-IN" sz="2400" dirty="0">
                <a:latin typeface="Arial" panose="020B0604020202020204" pitchFamily="34" charset="0"/>
                <a:cs typeface="Arial" panose="020B0604020202020204" pitchFamily="34" charset="0"/>
              </a:rPr>
              <a:t>Examples of unsystematic risk include a new competitor in the marketplace with the potential to take significant market share from the company invested in, a regulatory change (which could drive down company sales), a shift in management, or a product recall.</a:t>
            </a:r>
            <a:endParaRPr lang="en-US" sz="2400" dirty="0">
              <a:latin typeface="Arial" panose="020B0604020202020204" pitchFamily="34" charset="0"/>
              <a:cs typeface="Arial" panose="020B0604020202020204" pitchFamily="34" charset="0"/>
            </a:endParaRPr>
          </a:p>
          <a:p>
            <a:pPr marL="533400" indent="-533400" algn="just">
              <a:lnSpc>
                <a:spcPct val="90000"/>
              </a:lnSpc>
            </a:pPr>
            <a:endParaRPr lang="en-US" sz="2400" dirty="0"/>
          </a:p>
        </p:txBody>
      </p:sp>
      <p:sp>
        <p:nvSpPr>
          <p:cNvPr id="4" name="Date Placeholder 3">
            <a:extLst>
              <a:ext uri="{FF2B5EF4-FFF2-40B4-BE49-F238E27FC236}">
                <a16:creationId xmlns:a16="http://schemas.microsoft.com/office/drawing/2014/main" id="{0BCDFFC9-5705-F79B-4DA1-F76A020C2355}"/>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7C3F6F00-DF60-D78D-2127-52EA247D85C0}"/>
              </a:ext>
            </a:extLst>
          </p:cNvPr>
          <p:cNvSpPr>
            <a:spLocks noGrp="1"/>
          </p:cNvSpPr>
          <p:nvPr>
            <p:ph type="sldNum" sz="quarter" idx="12"/>
          </p:nvPr>
        </p:nvSpPr>
        <p:spPr/>
        <p:txBody>
          <a:bodyPr/>
          <a:lstStyle/>
          <a:p>
            <a:fld id="{9A6574C6-EAF8-40F7-9181-B4B8ADC2AD82}" type="slidenum">
              <a:rPr lang="en-US" smtClean="0"/>
              <a:t>55</a:t>
            </a:fld>
            <a:endParaRPr lang="en-US"/>
          </a:p>
        </p:txBody>
      </p:sp>
    </p:spTree>
    <p:extLst>
      <p:ext uri="{BB962C8B-B14F-4D97-AF65-F5344CB8AC3E}">
        <p14:creationId xmlns:p14="http://schemas.microsoft.com/office/powerpoint/2010/main" val="15972076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6695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Business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914400"/>
            <a:ext cx="10745821" cy="5668962"/>
          </a:xfrm>
          <a:noFill/>
        </p:spPr>
        <p:txBody>
          <a:bodyPr>
            <a:normAutofit lnSpcReduction="10000"/>
          </a:bodyPr>
          <a:lstStyle/>
          <a:p>
            <a:pPr marL="0" indent="0" algn="just">
              <a:lnSpc>
                <a:spcPct val="170000"/>
              </a:lnSpc>
              <a:buNone/>
            </a:pPr>
            <a:endParaRPr lang="en-US" sz="2400" dirty="0">
              <a:latin typeface="Arial" panose="020B0604020202020204" pitchFamily="34" charset="0"/>
              <a:cs typeface="Arial" panose="020B0604020202020204" pitchFamily="34" charset="0"/>
            </a:endParaRPr>
          </a:p>
          <a:p>
            <a:pPr marL="533400" indent="-533400" algn="just">
              <a:lnSpc>
                <a:spcPct val="170000"/>
              </a:lnSpc>
            </a:pPr>
            <a:r>
              <a:rPr lang="en-US" sz="2400" dirty="0">
                <a:latin typeface="Arial" panose="020B0604020202020204" pitchFamily="34" charset="0"/>
                <a:cs typeface="Arial" panose="020B0604020202020204" pitchFamily="34" charset="0"/>
              </a:rPr>
              <a:t>Business risk is measured by the degree of operating leverage (DOL). Degree of operating leverage measures the resultant change in operating income due to a change in its sales revenue. </a:t>
            </a:r>
          </a:p>
          <a:p>
            <a:pPr marL="533400" indent="-533400" algn="just">
              <a:lnSpc>
                <a:spcPct val="170000"/>
              </a:lnSpc>
            </a:pPr>
            <a:r>
              <a:rPr lang="en-US" sz="2400" dirty="0">
                <a:latin typeface="Arial" panose="020B0604020202020204" pitchFamily="34" charset="0"/>
                <a:cs typeface="Arial" panose="020B0604020202020204" pitchFamily="34" charset="0"/>
              </a:rPr>
              <a:t>When fixed operating costs are present in the cost structure of a company then a given change in sales causes more than proportionate change in operating income.</a:t>
            </a:r>
          </a:p>
          <a:p>
            <a:pPr marL="533400" indent="-533400" algn="just">
              <a:lnSpc>
                <a:spcPct val="170000"/>
              </a:lnSpc>
            </a:pPr>
            <a:r>
              <a:rPr lang="en-US" sz="2400" dirty="0">
                <a:latin typeface="Arial" panose="020B0604020202020204" pitchFamily="34" charset="0"/>
                <a:cs typeface="Arial" panose="020B0604020202020204" pitchFamily="34" charset="0"/>
              </a:rPr>
              <a:t>Operating risk arises when DOL &gt; 1. The higher the degree of operating risk the greater will be the business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56</a:t>
            </a:fld>
            <a:endParaRPr lang="en-US"/>
          </a:p>
        </p:txBody>
      </p:sp>
    </p:spTree>
    <p:extLst>
      <p:ext uri="{BB962C8B-B14F-4D97-AF65-F5344CB8AC3E}">
        <p14:creationId xmlns:p14="http://schemas.microsoft.com/office/powerpoint/2010/main" val="11120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6695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Business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990600"/>
            <a:ext cx="10745821" cy="5592762"/>
          </a:xfrm>
          <a:noFill/>
        </p:spPr>
        <p:txBody>
          <a:bodyPr>
            <a:normAutofit/>
          </a:bodyPr>
          <a:lstStyle/>
          <a:p>
            <a:pPr marL="533400" indent="-533400" algn="just">
              <a:lnSpc>
                <a:spcPct val="170000"/>
              </a:lnSpc>
            </a:pPr>
            <a:r>
              <a:rPr lang="en-US" sz="2400" dirty="0">
                <a:latin typeface="Arial" panose="020B0604020202020204" pitchFamily="34" charset="0"/>
                <a:cs typeface="Arial" panose="020B0604020202020204" pitchFamily="34" charset="0"/>
              </a:rPr>
              <a:t>Business risk is measured by the degree of operating leverage (DOL). Degree of operating leverage measures the resultant change in operating income due to a change in its sales revenue. </a:t>
            </a:r>
          </a:p>
          <a:p>
            <a:pPr marL="533400" indent="-533400" algn="just">
              <a:lnSpc>
                <a:spcPct val="170000"/>
              </a:lnSpc>
            </a:pPr>
            <a:r>
              <a:rPr lang="en-US" sz="2400" dirty="0">
                <a:latin typeface="Arial" panose="020B0604020202020204" pitchFamily="34" charset="0"/>
                <a:cs typeface="Arial" panose="020B0604020202020204" pitchFamily="34" charset="0"/>
              </a:rPr>
              <a:t>When fixed operating costs are present in the cost structure of a company then a given change in sales causes more than proportionate change in operating income.</a:t>
            </a:r>
          </a:p>
          <a:p>
            <a:pPr marL="533400" indent="-533400" algn="just">
              <a:lnSpc>
                <a:spcPct val="170000"/>
              </a:lnSpc>
            </a:pPr>
            <a:r>
              <a:rPr lang="en-US" sz="2400" dirty="0">
                <a:latin typeface="Arial" panose="020B0604020202020204" pitchFamily="34" charset="0"/>
                <a:cs typeface="Arial" panose="020B0604020202020204" pitchFamily="34" charset="0"/>
              </a:rPr>
              <a:t>Operating risk arises when DOL &gt; 1. The higher the degree of operating risk the greater will be the business risk.</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57</a:t>
            </a:fld>
            <a:endParaRPr lang="en-US"/>
          </a:p>
        </p:txBody>
      </p:sp>
    </p:spTree>
    <p:extLst>
      <p:ext uri="{BB962C8B-B14F-4D97-AF65-F5344CB8AC3E}">
        <p14:creationId xmlns:p14="http://schemas.microsoft.com/office/powerpoint/2010/main" val="792600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Financial Risk</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85800" y="1143000"/>
            <a:ext cx="10669621" cy="5213352"/>
          </a:xfrm>
          <a:noFill/>
        </p:spPr>
        <p:txBody>
          <a:bodyPr>
            <a:normAutofit fontScale="85000" lnSpcReduction="10000"/>
          </a:bodyPr>
          <a:lstStyle/>
          <a:p>
            <a:pPr marL="533400" indent="-533400" algn="just">
              <a:lnSpc>
                <a:spcPct val="150000"/>
              </a:lnSpc>
            </a:pPr>
            <a:r>
              <a:rPr lang="en-US" sz="2400" dirty="0">
                <a:latin typeface="Arial" panose="020B0604020202020204" pitchFamily="34" charset="0"/>
                <a:cs typeface="Arial" panose="020B0604020202020204" pitchFamily="34" charset="0"/>
              </a:rPr>
              <a:t>Financial risk is associated with financing decision or capital structure of a company. </a:t>
            </a:r>
          </a:p>
          <a:p>
            <a:pPr marL="533400" indent="-533400" algn="just">
              <a:lnSpc>
                <a:spcPct val="150000"/>
              </a:lnSpc>
            </a:pPr>
            <a:r>
              <a:rPr lang="en-US" sz="2400" dirty="0">
                <a:latin typeface="Arial" panose="020B0604020202020204" pitchFamily="34" charset="0"/>
                <a:cs typeface="Arial" panose="020B0604020202020204" pitchFamily="34" charset="0"/>
              </a:rPr>
              <a:t>It arises due to the presence of interest component or fixed financial cost in the capital structure of a company. </a:t>
            </a:r>
          </a:p>
          <a:p>
            <a:pPr marL="533400" indent="-533400" algn="just">
              <a:lnSpc>
                <a:spcPct val="150000"/>
              </a:lnSpc>
            </a:pPr>
            <a:r>
              <a:rPr lang="en-US" sz="2400" dirty="0">
                <a:latin typeface="Arial" panose="020B0604020202020204" pitchFamily="34" charset="0"/>
                <a:cs typeface="Arial" panose="020B0604020202020204" pitchFamily="34" charset="0"/>
              </a:rPr>
              <a:t>As a result, a change in operating profit will have a more than proportionate change in its earnings per share (EPS). </a:t>
            </a:r>
          </a:p>
          <a:p>
            <a:pPr marL="533400" indent="-533400" algn="just">
              <a:lnSpc>
                <a:spcPct val="150000"/>
              </a:lnSpc>
            </a:pPr>
            <a:r>
              <a:rPr lang="en-US" sz="2400" dirty="0">
                <a:latin typeface="Arial" panose="020B0604020202020204" pitchFamily="34" charset="0"/>
                <a:cs typeface="Arial" panose="020B0604020202020204" pitchFamily="34" charset="0"/>
              </a:rPr>
              <a:t>It must be noted that interest cost must be paid by the company irrespective of the amount of its operating profit. </a:t>
            </a:r>
          </a:p>
          <a:p>
            <a:pPr marL="533400" indent="-533400" algn="just">
              <a:lnSpc>
                <a:spcPct val="150000"/>
              </a:lnSpc>
            </a:pPr>
            <a:r>
              <a:rPr lang="en-US" sz="2400" dirty="0">
                <a:latin typeface="Arial" panose="020B0604020202020204" pitchFamily="34" charset="0"/>
                <a:cs typeface="Arial" panose="020B0604020202020204" pitchFamily="34" charset="0"/>
              </a:rPr>
              <a:t>Financial risk is measured by the degree of financial leverage (DFL) which is the ratio of change in EPS to change in operating profit of a company.</a:t>
            </a:r>
          </a:p>
          <a:p>
            <a:pPr marL="533400" indent="-533400" algn="just">
              <a:lnSpc>
                <a:spcPct val="150000"/>
              </a:lnSpc>
            </a:pPr>
            <a:r>
              <a:rPr lang="en-US" sz="2400" dirty="0">
                <a:latin typeface="Arial" panose="020B0604020202020204" pitchFamily="34" charset="0"/>
                <a:cs typeface="Arial" panose="020B0604020202020204" pitchFamily="34" charset="0"/>
              </a:rPr>
              <a:t>Financial risk arises whenever DFL &gt; 1. </a:t>
            </a:r>
          </a:p>
          <a:p>
            <a:pPr marL="533400" indent="-533400" algn="just">
              <a:lnSpc>
                <a:spcPct val="150000"/>
              </a:lnSpc>
            </a:pPr>
            <a:r>
              <a:rPr lang="en-US" sz="2400" dirty="0">
                <a:latin typeface="Arial" panose="020B0604020202020204" pitchFamily="34" charset="0"/>
                <a:cs typeface="Arial" panose="020B0604020202020204" pitchFamily="34" charset="0"/>
              </a:rPr>
              <a:t>Therefore, companies using excessive debt capital are subject to high financial risk</a:t>
            </a:r>
            <a:r>
              <a:rPr lang="en-US" sz="1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58</a:t>
            </a:fld>
            <a:endParaRPr lang="en-US"/>
          </a:p>
        </p:txBody>
      </p:sp>
    </p:spTree>
    <p:extLst>
      <p:ext uri="{BB962C8B-B14F-4D97-AF65-F5344CB8AC3E}">
        <p14:creationId xmlns:p14="http://schemas.microsoft.com/office/powerpoint/2010/main" val="29708728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1120-07B5-101C-64D7-762A0D6EC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E9535-F93D-62FC-64BE-C7F03BAFCD4D}"/>
              </a:ext>
            </a:extLst>
          </p:cNvPr>
          <p:cNvSpPr>
            <a:spLocks noGrp="1"/>
          </p:cNvSpPr>
          <p:nvPr>
            <p:ph type="title"/>
          </p:nvPr>
        </p:nvSpPr>
        <p:spPr>
          <a:xfrm>
            <a:off x="609600" y="274638"/>
            <a:ext cx="10972800" cy="792162"/>
          </a:xfrm>
          <a:solidFill>
            <a:schemeClr val="accent1">
              <a:lumMod val="60000"/>
              <a:lumOff val="40000"/>
            </a:schemeClr>
          </a:solidFill>
        </p:spPr>
        <p:txBody>
          <a:bodyPr>
            <a:normAutofit/>
          </a:bodyPr>
          <a:lstStyle/>
          <a:p>
            <a:r>
              <a:rPr lang="en-US" sz="2400" b="1" dirty="0">
                <a:latin typeface="Arial" panose="020B0604020202020204" pitchFamily="34" charset="0"/>
                <a:cs typeface="Arial" panose="020B0604020202020204" pitchFamily="34" charset="0"/>
              </a:rPr>
              <a:t>Business Risk vs. Financial Risk</a:t>
            </a:r>
          </a:p>
        </p:txBody>
      </p:sp>
      <p:sp>
        <p:nvSpPr>
          <p:cNvPr id="4" name="Date Placeholder 3">
            <a:extLst>
              <a:ext uri="{FF2B5EF4-FFF2-40B4-BE49-F238E27FC236}">
                <a16:creationId xmlns:a16="http://schemas.microsoft.com/office/drawing/2014/main" id="{4C59B403-E4BC-3F33-87AB-3D6411B88F1C}"/>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EDDF3281-00AE-5C43-52EC-3D6B24B815FE}"/>
              </a:ext>
            </a:extLst>
          </p:cNvPr>
          <p:cNvSpPr>
            <a:spLocks noGrp="1"/>
          </p:cNvSpPr>
          <p:nvPr>
            <p:ph type="sldNum" sz="quarter" idx="12"/>
          </p:nvPr>
        </p:nvSpPr>
        <p:spPr/>
        <p:txBody>
          <a:bodyPr/>
          <a:lstStyle/>
          <a:p>
            <a:fld id="{9A6574C6-EAF8-40F7-9181-B4B8ADC2AD82}" type="slidenum">
              <a:rPr lang="en-US" smtClean="0"/>
              <a:t>59</a:t>
            </a:fld>
            <a:endParaRPr lang="en-US"/>
          </a:p>
        </p:txBody>
      </p:sp>
      <p:pic>
        <p:nvPicPr>
          <p:cNvPr id="3074" name="Picture 2" descr="What Is Financial Leverage / How To Calculate Financial Leverage /  Difference Between Operating Leverage Or Financial Leverage">
            <a:extLst>
              <a:ext uri="{FF2B5EF4-FFF2-40B4-BE49-F238E27FC236}">
                <a16:creationId xmlns:a16="http://schemas.microsoft.com/office/drawing/2014/main" id="{C979DA7B-81D1-170D-3591-014A8E0826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337" b="8757"/>
          <a:stretch>
            <a:fillRect/>
          </a:stretch>
        </p:blipFill>
        <p:spPr bwMode="auto">
          <a:xfrm>
            <a:off x="1828800" y="1371600"/>
            <a:ext cx="8534400" cy="4191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8207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82197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Question</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745821" cy="5166969"/>
          </a:xfrm>
          <a:noFill/>
        </p:spPr>
        <p:txBody>
          <a:bodyPr>
            <a:noAutofit/>
          </a:bodyPr>
          <a:lstStyle/>
          <a:p>
            <a:pPr marL="0" indent="0" algn="just">
              <a:buNone/>
            </a:pPr>
            <a:r>
              <a:rPr lang="en-US" sz="2000" b="1" u="sng" dirty="0">
                <a:latin typeface="Arial" panose="020B0604020202020204" pitchFamily="34" charset="0"/>
                <a:cs typeface="Arial" panose="020B0604020202020204" pitchFamily="34" charset="0"/>
              </a:rPr>
              <a:t>Question</a:t>
            </a:r>
          </a:p>
          <a:p>
            <a:pPr marL="0" indent="0" algn="just">
              <a:buNone/>
            </a:pPr>
            <a:r>
              <a:rPr lang="en-US" sz="2000" dirty="0">
                <a:latin typeface="Arial" panose="020B0604020202020204" pitchFamily="34" charset="0"/>
                <a:cs typeface="Arial" panose="020B0604020202020204" pitchFamily="34" charset="0"/>
              </a:rPr>
              <a:t>Specify whether the following events are the sources of systematic risk or unsystematic risk.</a:t>
            </a:r>
          </a:p>
          <a:p>
            <a:pPr algn="just"/>
            <a:endParaRPr lang="en-US" sz="2000" dirty="0">
              <a:latin typeface="Arial" panose="020B0604020202020204" pitchFamily="34" charset="0"/>
              <a:cs typeface="Arial" panose="020B0604020202020204" pitchFamily="34" charset="0"/>
            </a:endParaRPr>
          </a:p>
          <a:p>
            <a:pPr marL="514350" indent="-514350" algn="just">
              <a:buFont typeface="+mj-lt"/>
              <a:buAutoNum type="romanUcPeriod"/>
            </a:pPr>
            <a:r>
              <a:rPr lang="en-US" sz="2000" dirty="0">
                <a:latin typeface="Arial" panose="020B0604020202020204" pitchFamily="34" charset="0"/>
                <a:cs typeface="Arial" panose="020B0604020202020204" pitchFamily="34" charset="0"/>
              </a:rPr>
              <a:t>An increase in oil price by OECD</a:t>
            </a:r>
          </a:p>
          <a:p>
            <a:pPr marL="514350" indent="-514350" algn="just">
              <a:buFont typeface="+mj-lt"/>
              <a:buAutoNum type="romanUcPeriod"/>
            </a:pPr>
            <a:r>
              <a:rPr lang="en-US" sz="2000" dirty="0" err="1">
                <a:latin typeface="Arial" panose="020B0604020202020204" pitchFamily="34" charset="0"/>
                <a:cs typeface="Arial" panose="020B0604020202020204" pitchFamily="34" charset="0"/>
              </a:rPr>
              <a:t>Labour</a:t>
            </a:r>
            <a:r>
              <a:rPr lang="en-US" sz="2000" dirty="0">
                <a:latin typeface="Arial" panose="020B0604020202020204" pitchFamily="34" charset="0"/>
                <a:cs typeface="Arial" panose="020B0604020202020204" pitchFamily="34" charset="0"/>
              </a:rPr>
              <a:t> unrest at Maruti Udyog Ltd.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Break up of Bharati Walmart Joint Venture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Increase in repo rate by RBI.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Debt ridden Kingfisher airlines declares bankruptcy.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Decline in GDP growth rate.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A bad monsoon year.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Corporate mis-governance and management fraud at Satyam Ltd.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COVID-19 crisis. </a:t>
            </a:r>
          </a:p>
          <a:p>
            <a:pPr marL="514350" indent="-514350" algn="just">
              <a:buFont typeface="+mj-lt"/>
              <a:buAutoNum type="romanUcPeriod"/>
            </a:pPr>
            <a:r>
              <a:rPr lang="en-US" sz="2000" dirty="0">
                <a:latin typeface="Arial" panose="020B0604020202020204" pitchFamily="34" charset="0"/>
                <a:cs typeface="Arial" panose="020B0604020202020204" pitchFamily="34" charset="0"/>
              </a:rPr>
              <a:t>Depreciation of rupee.</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60</a:t>
            </a:fld>
            <a:endParaRPr lang="en-US"/>
          </a:p>
        </p:txBody>
      </p:sp>
    </p:spTree>
    <p:extLst>
      <p:ext uri="{BB962C8B-B14F-4D97-AF65-F5344CB8AC3E}">
        <p14:creationId xmlns:p14="http://schemas.microsoft.com/office/powerpoint/2010/main" val="12722300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194836"/>
            <a:ext cx="10972800" cy="719564"/>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Solution</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066800"/>
            <a:ext cx="10745821" cy="5289552"/>
          </a:xfrm>
          <a:noFill/>
        </p:spPr>
        <p:txBody>
          <a:bodyPr>
            <a:normAutofit fontScale="92500" lnSpcReduction="10000"/>
          </a:bodyPr>
          <a:lstStyle/>
          <a:p>
            <a:pPr marL="0" indent="0" algn="just">
              <a:lnSpc>
                <a:spcPct val="150000"/>
              </a:lnSpc>
              <a:buNone/>
            </a:pPr>
            <a:r>
              <a:rPr lang="en-US" sz="2000" dirty="0">
                <a:latin typeface="Arial" panose="020B0604020202020204" pitchFamily="34" charset="0"/>
                <a:cs typeface="Arial" panose="020B0604020202020204" pitchFamily="34" charset="0"/>
              </a:rPr>
              <a:t>Specify whether the following events are the sources of systematic risk or unsystematic risk.</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An increase in oil price by OECD. - </a:t>
            </a:r>
            <a:r>
              <a:rPr lang="en-US" sz="2000" b="1" dirty="0">
                <a:latin typeface="Arial" panose="020B0604020202020204" pitchFamily="34" charset="0"/>
                <a:cs typeface="Arial" panose="020B0604020202020204" pitchFamily="34" charset="0"/>
              </a:rPr>
              <a:t>Systematic</a:t>
            </a:r>
          </a:p>
          <a:p>
            <a:pPr marL="400050" indent="-400050" algn="just">
              <a:lnSpc>
                <a:spcPct val="150000"/>
              </a:lnSpc>
              <a:buFont typeface="+mj-lt"/>
              <a:buAutoNum type="romanLcPeriod"/>
            </a:pPr>
            <a:r>
              <a:rPr lang="en-US" sz="2000" dirty="0" err="1">
                <a:latin typeface="Arial" panose="020B0604020202020204" pitchFamily="34" charset="0"/>
                <a:cs typeface="Arial" panose="020B0604020202020204" pitchFamily="34" charset="0"/>
              </a:rPr>
              <a:t>Labour</a:t>
            </a:r>
            <a:r>
              <a:rPr lang="en-US" sz="2000" dirty="0">
                <a:latin typeface="Arial" panose="020B0604020202020204" pitchFamily="34" charset="0"/>
                <a:cs typeface="Arial" panose="020B0604020202020204" pitchFamily="34" charset="0"/>
              </a:rPr>
              <a:t> unrest at Maruti Udyog Ltd. - </a:t>
            </a:r>
            <a:r>
              <a:rPr lang="en-US" sz="2000" b="1" dirty="0">
                <a:latin typeface="Arial" panose="020B0604020202020204" pitchFamily="34" charset="0"/>
                <a:cs typeface="Arial" panose="020B0604020202020204" pitchFamily="34" charset="0"/>
              </a:rPr>
              <a:t>Unsystematic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Break up of Bharati Walmart Joint Venture - </a:t>
            </a:r>
            <a:r>
              <a:rPr lang="en-US" sz="2000" b="1" dirty="0">
                <a:latin typeface="Arial" panose="020B0604020202020204" pitchFamily="34" charset="0"/>
                <a:cs typeface="Arial" panose="020B0604020202020204" pitchFamily="34" charset="0"/>
              </a:rPr>
              <a:t>Unsystematic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Increase in repo rate by RBI. - </a:t>
            </a:r>
            <a:r>
              <a:rPr lang="en-US" sz="2000" b="1" dirty="0">
                <a:latin typeface="Arial" panose="020B0604020202020204" pitchFamily="34" charset="0"/>
                <a:cs typeface="Arial" panose="020B0604020202020204" pitchFamily="34" charset="0"/>
              </a:rPr>
              <a:t>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Debt ridden Kingfisher airlines declares bankruptcy. -</a:t>
            </a:r>
            <a:r>
              <a:rPr lang="en-US" sz="2000" b="1" dirty="0">
                <a:latin typeface="Arial" panose="020B0604020202020204" pitchFamily="34" charset="0"/>
                <a:cs typeface="Arial" panose="020B0604020202020204" pitchFamily="34" charset="0"/>
              </a:rPr>
              <a:t>Unsystematic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Decline in GDP growth rate. - </a:t>
            </a:r>
            <a:r>
              <a:rPr lang="en-US" sz="2000" b="1" dirty="0">
                <a:latin typeface="Arial" panose="020B0604020202020204" pitchFamily="34" charset="0"/>
                <a:cs typeface="Arial" panose="020B0604020202020204" pitchFamily="34" charset="0"/>
              </a:rPr>
              <a:t>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A bad monsoon year. - </a:t>
            </a:r>
            <a:r>
              <a:rPr lang="en-US" sz="2000" b="1" dirty="0">
                <a:latin typeface="Arial" panose="020B0604020202020204" pitchFamily="34" charset="0"/>
                <a:cs typeface="Arial" panose="020B0604020202020204" pitchFamily="34" charset="0"/>
              </a:rPr>
              <a:t>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Corporate mis-governance and management fraud at Satyam Ltd. - </a:t>
            </a:r>
            <a:r>
              <a:rPr lang="en-US" sz="2000" b="1" dirty="0">
                <a:latin typeface="Arial" panose="020B0604020202020204" pitchFamily="34" charset="0"/>
                <a:cs typeface="Arial" panose="020B0604020202020204" pitchFamily="34" charset="0"/>
              </a:rPr>
              <a:t>Unsystematic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COVID-19 crisis. -</a:t>
            </a:r>
            <a:r>
              <a:rPr lang="en-US" sz="2000" b="1" dirty="0">
                <a:latin typeface="Arial" panose="020B0604020202020204" pitchFamily="34" charset="0"/>
                <a:cs typeface="Arial" panose="020B0604020202020204" pitchFamily="34" charset="0"/>
              </a:rPr>
              <a:t>Systematic</a:t>
            </a:r>
          </a:p>
          <a:p>
            <a:pPr marL="400050" indent="-400050" algn="just">
              <a:lnSpc>
                <a:spcPct val="150000"/>
              </a:lnSpc>
              <a:buFont typeface="+mj-lt"/>
              <a:buAutoNum type="romanLcPeriod"/>
            </a:pPr>
            <a:r>
              <a:rPr lang="en-US" sz="2000" dirty="0">
                <a:latin typeface="Arial" panose="020B0604020202020204" pitchFamily="34" charset="0"/>
                <a:cs typeface="Arial" panose="020B0604020202020204" pitchFamily="34" charset="0"/>
              </a:rPr>
              <a:t>Depreciation of rupee.- </a:t>
            </a:r>
            <a:r>
              <a:rPr lang="en-US" sz="2000" b="1" dirty="0">
                <a:latin typeface="Arial" panose="020B0604020202020204" pitchFamily="34" charset="0"/>
                <a:cs typeface="Arial" panose="020B0604020202020204" pitchFamily="34" charset="0"/>
              </a:rPr>
              <a:t>Systematic</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61</a:t>
            </a:fld>
            <a:endParaRPr lang="en-US"/>
          </a:p>
        </p:txBody>
      </p:sp>
    </p:spTree>
    <p:extLst>
      <p:ext uri="{BB962C8B-B14F-4D97-AF65-F5344CB8AC3E}">
        <p14:creationId xmlns:p14="http://schemas.microsoft.com/office/powerpoint/2010/main" val="1318745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304800"/>
            <a:ext cx="10972800" cy="609600"/>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Systematic Risk (Beta)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143000"/>
                <a:ext cx="10668000" cy="5191295"/>
              </a:xfrm>
              <a:noFill/>
            </p:spPr>
            <p:txBody>
              <a:bodyPr>
                <a:normAutofit fontScale="85000" lnSpcReduction="10000"/>
              </a:bodyPr>
              <a:lstStyle/>
              <a:p>
                <a:pPr algn="just">
                  <a:lnSpc>
                    <a:spcPct val="150000"/>
                  </a:lnSpc>
                </a:pPr>
                <a:r>
                  <a:rPr lang="en-US" sz="2400" dirty="0">
                    <a:latin typeface="Arial" panose="020B0604020202020204" pitchFamily="34" charset="0"/>
                    <a:cs typeface="Arial" panose="020B0604020202020204" pitchFamily="34" charset="0"/>
                  </a:rPr>
                  <a:t>Total risk of a security comprises of two components – </a:t>
                </a:r>
                <a:r>
                  <a:rPr lang="en-US" sz="2400" b="1" dirty="0">
                    <a:latin typeface="Arial" panose="020B0604020202020204" pitchFamily="34" charset="0"/>
                    <a:cs typeface="Arial" panose="020B0604020202020204" pitchFamily="34" charset="0"/>
                  </a:rPr>
                  <a:t>systematic risk </a:t>
                </a:r>
                <a:r>
                  <a:rPr lang="en-US" sz="2400" dirty="0">
                    <a:latin typeface="Arial" panose="020B0604020202020204" pitchFamily="34" charset="0"/>
                    <a:cs typeface="Arial" panose="020B0604020202020204" pitchFamily="34" charset="0"/>
                  </a:rPr>
                  <a:t>and </a:t>
                </a:r>
                <a:r>
                  <a:rPr lang="en-US" sz="2400" b="1" dirty="0">
                    <a:latin typeface="Arial" panose="020B0604020202020204" pitchFamily="34" charset="0"/>
                    <a:cs typeface="Arial" panose="020B0604020202020204" pitchFamily="34" charset="0"/>
                  </a:rPr>
                  <a:t>unsystematic risk</a:t>
                </a:r>
                <a:r>
                  <a:rPr lang="en-US" sz="2400" dirty="0">
                    <a:latin typeface="Arial" panose="020B0604020202020204" pitchFamily="34" charset="0"/>
                    <a:cs typeface="Arial" panose="020B0604020202020204" pitchFamily="34" charset="0"/>
                  </a:rPr>
                  <a:t>. </a:t>
                </a:r>
              </a:p>
              <a:p>
                <a:pPr algn="just">
                  <a:lnSpc>
                    <a:spcPct val="150000"/>
                  </a:lnSpc>
                </a:pPr>
                <a:r>
                  <a:rPr lang="en-US" sz="2400" dirty="0">
                    <a:latin typeface="Arial" panose="020B0604020202020204" pitchFamily="34" charset="0"/>
                    <a:cs typeface="Arial" panose="020B0604020202020204" pitchFamily="34" charset="0"/>
                  </a:rPr>
                  <a:t>Systematic risk is that part of total risk which is caused by </a:t>
                </a:r>
                <a:r>
                  <a:rPr lang="en-US" sz="2400" b="1" dirty="0">
                    <a:latin typeface="Arial" panose="020B0604020202020204" pitchFamily="34" charset="0"/>
                    <a:cs typeface="Arial" panose="020B0604020202020204" pitchFamily="34" charset="0"/>
                  </a:rPr>
                  <a:t>factors beyond the control of a specific company</a:t>
                </a:r>
                <a:r>
                  <a:rPr lang="en-US" sz="2400" dirty="0">
                    <a:latin typeface="Arial" panose="020B0604020202020204" pitchFamily="34" charset="0"/>
                    <a:cs typeface="Arial" panose="020B0604020202020204" pitchFamily="34" charset="0"/>
                  </a:rPr>
                  <a:t>, such as economic, political and social factors. </a:t>
                </a:r>
              </a:p>
              <a:p>
                <a:pPr algn="just">
                  <a:lnSpc>
                    <a:spcPct val="150000"/>
                  </a:lnSpc>
                </a:pPr>
                <a:r>
                  <a:rPr lang="en-US" sz="2400" dirty="0">
                    <a:latin typeface="Arial" panose="020B0604020202020204" pitchFamily="34" charset="0"/>
                    <a:cs typeface="Arial" panose="020B0604020202020204" pitchFamily="34" charset="0"/>
                  </a:rPr>
                  <a:t>It can be captured by the s</a:t>
                </a:r>
                <a:r>
                  <a:rPr lang="en-US" sz="2400" b="1" dirty="0">
                    <a:latin typeface="Arial" panose="020B0604020202020204" pitchFamily="34" charset="0"/>
                    <a:cs typeface="Arial" panose="020B0604020202020204" pitchFamily="34" charset="0"/>
                  </a:rPr>
                  <a:t>ensitivity of a security’s return with respect to market return</a:t>
                </a:r>
                <a:r>
                  <a:rPr lang="en-US" sz="2400" dirty="0">
                    <a:latin typeface="Arial" panose="020B0604020202020204" pitchFamily="34" charset="0"/>
                    <a:cs typeface="Arial" panose="020B0604020202020204" pitchFamily="34" charset="0"/>
                  </a:rPr>
                  <a:t>. </a:t>
                </a:r>
              </a:p>
              <a:p>
                <a:pPr algn="just">
                  <a:lnSpc>
                    <a:spcPct val="150000"/>
                  </a:lnSpc>
                </a:pPr>
                <a:r>
                  <a:rPr lang="en-US" sz="2400" dirty="0">
                    <a:latin typeface="Arial" panose="020B0604020202020204" pitchFamily="34" charset="0"/>
                    <a:cs typeface="Arial" panose="020B0604020202020204" pitchFamily="34" charset="0"/>
                  </a:rPr>
                  <a:t>This sensitivity can be calculated by </a:t>
                </a:r>
                <a14:m>
                  <m:oMath xmlns:m="http://schemas.openxmlformats.org/officeDocument/2006/math">
                    <m:r>
                      <a:rPr lang="en-US" sz="2400" b="1" i="1" smtClean="0">
                        <a:latin typeface="Cambria Math" panose="02040503050406030204" pitchFamily="18" charset="0"/>
                        <a:ea typeface="Cambria Math" panose="02040503050406030204" pitchFamily="18" charset="0"/>
                      </a:rPr>
                      <m:t>𝜷</m:t>
                    </m:r>
                    <m:r>
                      <a:rPr lang="en-US" sz="2400" b="1" i="1" smtClean="0">
                        <a:latin typeface="Cambria Math" panose="02040503050406030204" pitchFamily="18" charset="0"/>
                        <a:ea typeface="Cambria Math" panose="02040503050406030204" pitchFamily="18" charset="0"/>
                      </a:rPr>
                      <m:t> </m:t>
                    </m:r>
                  </m:oMath>
                </a14:m>
                <a:r>
                  <a:rPr lang="en-US" sz="2400" b="1" dirty="0">
                    <a:latin typeface="Arial" panose="020B0604020202020204" pitchFamily="34" charset="0"/>
                    <a:cs typeface="Arial" panose="020B0604020202020204" pitchFamily="34" charset="0"/>
                  </a:rPr>
                  <a:t>(beta)</a:t>
                </a:r>
                <a:r>
                  <a:rPr lang="en-US" sz="2400" dirty="0">
                    <a:latin typeface="Arial" panose="020B0604020202020204" pitchFamily="34" charset="0"/>
                    <a:cs typeface="Arial" panose="020B0604020202020204" pitchFamily="34" charset="0"/>
                  </a:rPr>
                  <a:t> coefficient. </a:t>
                </a:r>
              </a:p>
              <a:p>
                <a:pPr algn="just">
                  <a:lnSpc>
                    <a:spcPct val="150000"/>
                  </a:lnSpc>
                </a:pPr>
                <a:r>
                  <a:rPr lang="en-IN" sz="2400" dirty="0">
                    <a:latin typeface="Arial" panose="020B0604020202020204" pitchFamily="34" charset="0"/>
                    <a:cs typeface="Arial" panose="020B0604020202020204" pitchFamily="34" charset="0"/>
                  </a:rPr>
                  <a:t>Beta is a measure of the </a:t>
                </a:r>
                <a:r>
                  <a:rPr lang="en-IN" sz="2400" b="1" dirty="0">
                    <a:latin typeface="Arial" panose="020B0604020202020204" pitchFamily="34" charset="0"/>
                    <a:cs typeface="Arial" panose="020B0604020202020204" pitchFamily="34" charset="0"/>
                  </a:rPr>
                  <a:t>volatility—or systematic risk—of a security or portfolio compared to the market as a whole</a:t>
                </a:r>
                <a:r>
                  <a:rPr lang="en-IN"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algn="just">
                  <a:lnSpc>
                    <a:spcPct val="150000"/>
                  </a:lnSpc>
                </a:pPr>
                <a:r>
                  <a:rPr lang="en-IN" sz="2400" dirty="0">
                    <a:latin typeface="Arial" panose="020B0604020202020204" pitchFamily="34" charset="0"/>
                    <a:cs typeface="Arial" panose="020B0604020202020204" pitchFamily="34" charset="0"/>
                  </a:rPr>
                  <a:t>Beta effectively describes the activity of a </a:t>
                </a:r>
                <a:r>
                  <a:rPr lang="en-IN" sz="2400" b="1" dirty="0">
                    <a:latin typeface="Arial" panose="020B0604020202020204" pitchFamily="34" charset="0"/>
                    <a:cs typeface="Arial" panose="020B0604020202020204" pitchFamily="34" charset="0"/>
                  </a:rPr>
                  <a:t>security's returns as it responds to swings in the market.</a:t>
                </a:r>
              </a:p>
              <a:p>
                <a:pPr algn="just">
                  <a:lnSpc>
                    <a:spcPct val="150000"/>
                  </a:lnSpc>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1143000"/>
                <a:ext cx="10668000" cy="5191295"/>
              </a:xfrm>
              <a:blipFill>
                <a:blip r:embed="rId2"/>
                <a:stretch>
                  <a:fillRect l="-514" r="-571"/>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62</a:t>
            </a:fld>
            <a:endParaRPr lang="en-US"/>
          </a:p>
        </p:txBody>
      </p:sp>
    </p:spTree>
    <p:extLst>
      <p:ext uri="{BB962C8B-B14F-4D97-AF65-F5344CB8AC3E}">
        <p14:creationId xmlns:p14="http://schemas.microsoft.com/office/powerpoint/2010/main" val="4485234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Calculation of Systematic Risk (Beta)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119037"/>
                <a:ext cx="10668000" cy="5215258"/>
              </a:xfrm>
              <a:noFill/>
            </p:spPr>
            <p:txBody>
              <a:bodyPr>
                <a:normAutofit/>
              </a:bodyPr>
              <a:lstStyle/>
              <a:p>
                <a:pPr algn="just">
                  <a:lnSpc>
                    <a:spcPct val="90000"/>
                  </a:lnSpc>
                </a:pP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t> </a:t>
                </a:r>
                <a:r>
                  <a:rPr lang="en-US" sz="2400" dirty="0">
                    <a:latin typeface="Arial" panose="020B0604020202020204" pitchFamily="34" charset="0"/>
                    <a:cs typeface="Arial" panose="020B0604020202020204" pitchFamily="34" charset="0"/>
                  </a:rPr>
                  <a:t>coefficient is calculated by regressing a security’s return on market return.</a:t>
                </a:r>
              </a:p>
              <a:p>
                <a:pPr algn="just">
                  <a:lnSpc>
                    <a:spcPct val="90000"/>
                  </a:lnSpc>
                </a:pPr>
                <a:endParaRPr lang="en-US" sz="2400" i="1" dirty="0">
                  <a:latin typeface="Arial" panose="020B0604020202020204" pitchFamily="34" charset="0"/>
                  <a:ea typeface="Cambria Math" panose="02040503050406030204" pitchFamily="18" charset="0"/>
                  <a:cs typeface="Arial" panose="020B0604020202020204" pitchFamily="34" charset="0"/>
                </a:endParaRPr>
              </a:p>
              <a:p>
                <a:pPr algn="just">
                  <a:lnSpc>
                    <a:spcPct val="90000"/>
                  </a:lnSpc>
                </a:pPr>
                <a:endParaRPr lang="en-US" sz="2400" i="1" dirty="0">
                  <a:latin typeface="Arial" panose="020B0604020202020204" pitchFamily="34" charset="0"/>
                  <a:ea typeface="Cambria Math" panose="02040503050406030204" pitchFamily="18" charset="0"/>
                  <a:cs typeface="Arial" panose="020B0604020202020204" pitchFamily="34" charset="0"/>
                </a:endParaRPr>
              </a:p>
              <a:p>
                <a:pPr lvl="1" algn="just">
                  <a:lnSpc>
                    <a:spcPct val="90000"/>
                  </a:lnSpc>
                </a:pPr>
                <a:r>
                  <a:rPr lang="en-US" sz="2400" dirty="0">
                    <a:latin typeface="Arial" panose="020B0604020202020204" pitchFamily="34" charset="0"/>
                    <a:ea typeface="Cambria Math" panose="02040503050406030204" pitchFamily="18" charset="0"/>
                    <a:cs typeface="Arial" panose="020B0604020202020204" pitchFamily="34" charset="0"/>
                  </a:rPr>
                  <a:t>Where,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𝑠</m:t>
                        </m:r>
                      </m:sub>
                    </m:sSub>
                  </m:oMath>
                </a14:m>
                <a:r>
                  <a:rPr lang="en-US" sz="2400" dirty="0">
                    <a:latin typeface="Arial" panose="020B0604020202020204" pitchFamily="34" charset="0"/>
                    <a:ea typeface="Cambria Math" panose="02040503050406030204" pitchFamily="18" charset="0"/>
                    <a:cs typeface="Arial" panose="020B0604020202020204" pitchFamily="34" charset="0"/>
                  </a:rPr>
                  <a:t> = Return on a particular security,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𝑅</m:t>
                        </m:r>
                      </m:e>
                      <m:sub>
                        <m:r>
                          <a:rPr lang="en-US" sz="2400">
                            <a:latin typeface="Cambria Math" panose="02040503050406030204" pitchFamily="18" charset="0"/>
                            <a:ea typeface="Cambria Math" panose="02040503050406030204" pitchFamily="18" charset="0"/>
                          </a:rPr>
                          <m:t>𝑚</m:t>
                        </m:r>
                      </m:sub>
                    </m:sSub>
                    <m:r>
                      <a:rPr lang="en-US" sz="2400" b="0" i="0" smtClean="0">
                        <a:latin typeface="Cambria Math" panose="02040503050406030204" pitchFamily="18" charset="0"/>
                        <a:ea typeface="Cambria Math" panose="02040503050406030204" pitchFamily="18" charset="0"/>
                      </a:rPr>
                      <m:t>=</m:t>
                    </m:r>
                  </m:oMath>
                </a14:m>
                <a:r>
                  <a:rPr lang="en-US" sz="2400" dirty="0">
                    <a:latin typeface="Arial" panose="020B0604020202020204" pitchFamily="34" charset="0"/>
                    <a:ea typeface="Cambria Math" panose="02040503050406030204" pitchFamily="18" charset="0"/>
                    <a:cs typeface="Arial" panose="020B0604020202020204" pitchFamily="34" charset="0"/>
                  </a:rPr>
                  <a:t> market returns</a:t>
                </a:r>
              </a:p>
              <a:p>
                <a:pPr lvl="1" algn="just">
                  <a:lnSpc>
                    <a:spcPct val="90000"/>
                  </a:lnSpc>
                </a:pPr>
                <a14:m>
                  <m:oMath xmlns:m="http://schemas.openxmlformats.org/officeDocument/2006/math">
                    <m:r>
                      <a:rPr lang="en-US" sz="2400">
                        <a:latin typeface="Cambria Math" panose="02040503050406030204" pitchFamily="18" charset="0"/>
                        <a:ea typeface="Cambria Math" panose="02040503050406030204" pitchFamily="18" charset="0"/>
                      </a:rPr>
                      <m:t>𝛽</m:t>
                    </m:r>
                    <m:r>
                      <a:rPr lang="en-US" sz="2400">
                        <a:latin typeface="Cambria Math" panose="02040503050406030204" pitchFamily="18" charset="0"/>
                        <a:ea typeface="Cambria Math" panose="02040503050406030204" pitchFamily="18" charset="0"/>
                      </a:rPr>
                      <m:t> </m:t>
                    </m:r>
                  </m:oMath>
                </a14:m>
                <a:r>
                  <a:rPr lang="en-US" sz="2400" dirty="0">
                    <a:latin typeface="Arial" panose="020B0604020202020204" pitchFamily="34" charset="0"/>
                    <a:ea typeface="Cambria Math" panose="02040503050406030204" pitchFamily="18" charset="0"/>
                    <a:cs typeface="Arial" panose="020B0604020202020204" pitchFamily="34" charset="0"/>
                  </a:rPr>
                  <a:t>is the regression coefficient of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𝑠</m:t>
                        </m:r>
                      </m:sub>
                    </m:sSub>
                  </m:oMath>
                </a14:m>
                <a:r>
                  <a:rPr lang="en-US" sz="2400" dirty="0">
                    <a:latin typeface="Arial" panose="020B0604020202020204" pitchFamily="34" charset="0"/>
                    <a:ea typeface="Cambria Math" panose="02040503050406030204" pitchFamily="18" charset="0"/>
                    <a:cs typeface="Arial" panose="020B0604020202020204" pitchFamily="34" charset="0"/>
                  </a:rPr>
                  <a:t> on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𝑅</m:t>
                        </m:r>
                      </m:e>
                      <m:sub>
                        <m:r>
                          <a:rPr lang="en-US" sz="2400">
                            <a:latin typeface="Cambria Math" panose="02040503050406030204" pitchFamily="18" charset="0"/>
                            <a:ea typeface="Cambria Math" panose="02040503050406030204" pitchFamily="18" charset="0"/>
                          </a:rPr>
                          <m:t>𝑚</m:t>
                        </m:r>
                      </m:sub>
                    </m:sSub>
                  </m:oMath>
                </a14:m>
                <a:endParaRPr lang="en-US" sz="2400" dirty="0">
                  <a:latin typeface="Arial" panose="020B0604020202020204" pitchFamily="34" charset="0"/>
                  <a:ea typeface="Cambria Math" panose="02040503050406030204" pitchFamily="18" charset="0"/>
                  <a:cs typeface="Arial" panose="020B0604020202020204" pitchFamily="34" charset="0"/>
                </a:endParaRPr>
              </a:p>
              <a:p>
                <a:pPr lvl="1" algn="just">
                  <a:lnSpc>
                    <a:spcPct val="90000"/>
                  </a:lnSpc>
                </a:pPr>
                <a14:m>
                  <m:oMath xmlns:m="http://schemas.openxmlformats.org/officeDocument/2006/math">
                    <m:r>
                      <a:rPr lang="en-US" sz="2400" b="0" i="1" smtClean="0">
                        <a:latin typeface="Cambria Math" panose="02040503050406030204" pitchFamily="18" charset="0"/>
                        <a:ea typeface="Cambria Math" panose="02040503050406030204" pitchFamily="18" charset="0"/>
                      </a:rPr>
                      <m:t>𝛼</m:t>
                    </m:r>
                  </m:oMath>
                </a14:m>
                <a:r>
                  <a:rPr lang="en-US" sz="2400" dirty="0">
                    <a:latin typeface="Arial" panose="020B0604020202020204" pitchFamily="34" charset="0"/>
                    <a:ea typeface="Cambria Math" panose="02040503050406030204" pitchFamily="18" charset="0"/>
                    <a:cs typeface="Arial" panose="020B0604020202020204" pitchFamily="34" charset="0"/>
                  </a:rPr>
                  <a:t> is the intercept showing a security’s return independent of market return</a:t>
                </a:r>
              </a:p>
              <a:p>
                <a:pPr marL="0" indent="0" algn="just">
                  <a:lnSpc>
                    <a:spcPct val="90000"/>
                  </a:lnSpc>
                  <a:buNone/>
                </a:pPr>
                <a:endParaRPr lang="en-US" sz="2400" i="1" dirty="0">
                  <a:latin typeface="Arial" panose="020B0604020202020204" pitchFamily="34" charset="0"/>
                  <a:ea typeface="Cambria Math" panose="02040503050406030204" pitchFamily="18" charset="0"/>
                  <a:cs typeface="Arial" panose="020B0604020202020204" pitchFamily="34" charset="0"/>
                </a:endParaRPr>
              </a:p>
              <a:p>
                <a:pPr algn="just">
                  <a:lnSpc>
                    <a:spcPct val="90000"/>
                  </a:lnSpc>
                </a:pP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of a security can also be calculated using equation:</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1119037"/>
                <a:ext cx="10668000" cy="5215258"/>
              </a:xfrm>
              <a:blipFill>
                <a:blip r:embed="rId2"/>
                <a:stretch>
                  <a:fillRect l="-743" t="-1754" r="-85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63</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F622DF-795D-5786-F5B0-378CCB40013D}"/>
                  </a:ext>
                </a:extLst>
              </p:cNvPr>
              <p:cNvSpPr txBox="1"/>
              <p:nvPr/>
            </p:nvSpPr>
            <p:spPr>
              <a:xfrm>
                <a:off x="3819710" y="4969970"/>
                <a:ext cx="4400179"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𝐵𝑒𝑡𝑎</m:t>
                      </m:r>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𝐶𝑜𝑣𝑎𝑟𝑖𝑎𝑛𝑐𝑒</m:t>
                          </m:r>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rPr>
                            <m:t>)</m:t>
                          </m:r>
                        </m:num>
                        <m:den>
                          <m:r>
                            <a:rPr lang="en-US" b="0" i="1" smtClean="0">
                              <a:latin typeface="Cambria Math" panose="02040503050406030204" pitchFamily="18" charset="0"/>
                            </a:rPr>
                            <m:t>𝑉𝑎𝑟𝑖𝑎𝑛𝑐𝑒</m:t>
                          </m:r>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rPr>
                            <m:t>)</m:t>
                          </m:r>
                        </m:den>
                      </m:f>
                    </m:oMath>
                  </m:oMathPara>
                </a14:m>
                <a:endParaRPr lang="en-US" dirty="0"/>
              </a:p>
            </p:txBody>
          </p:sp>
        </mc:Choice>
        <mc:Fallback xmlns="">
          <p:sp>
            <p:nvSpPr>
              <p:cNvPr id="6" name="TextBox 5">
                <a:extLst>
                  <a:ext uri="{FF2B5EF4-FFF2-40B4-BE49-F238E27FC236}">
                    <a16:creationId xmlns:a16="http://schemas.microsoft.com/office/drawing/2014/main" id="{25F622DF-795D-5786-F5B0-378CCB40013D}"/>
                  </a:ext>
                </a:extLst>
              </p:cNvPr>
              <p:cNvSpPr txBox="1">
                <a:spLocks noRot="1" noChangeAspect="1" noMove="1" noResize="1" noEditPoints="1" noAdjustHandles="1" noChangeArrowheads="1" noChangeShapeType="1" noTextEdit="1"/>
              </p:cNvSpPr>
              <p:nvPr/>
            </p:nvSpPr>
            <p:spPr>
              <a:xfrm>
                <a:off x="3819710" y="4969970"/>
                <a:ext cx="4400179" cy="7689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E1653A-263C-59ED-05FA-74F4985D5311}"/>
                  </a:ext>
                </a:extLst>
              </p:cNvPr>
              <p:cNvSpPr txBox="1"/>
              <p:nvPr/>
            </p:nvSpPr>
            <p:spPr>
              <a:xfrm>
                <a:off x="4419600" y="2057400"/>
                <a:ext cx="249074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𝑠</m:t>
                          </m:r>
                        </m:sub>
                      </m:sSub>
                      <m:r>
                        <a:rPr lang="en-US"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m:t>
                      </m:r>
                    </m:oMath>
                  </m:oMathPara>
                </a14:m>
                <a:endParaRPr lang="en-US" dirty="0"/>
              </a:p>
            </p:txBody>
          </p:sp>
        </mc:Choice>
        <mc:Fallback xmlns="">
          <p:sp>
            <p:nvSpPr>
              <p:cNvPr id="8" name="TextBox 7">
                <a:extLst>
                  <a:ext uri="{FF2B5EF4-FFF2-40B4-BE49-F238E27FC236}">
                    <a16:creationId xmlns:a16="http://schemas.microsoft.com/office/drawing/2014/main" id="{A4E1653A-263C-59ED-05FA-74F4985D5311}"/>
                  </a:ext>
                </a:extLst>
              </p:cNvPr>
              <p:cNvSpPr txBox="1">
                <a:spLocks noRot="1" noChangeAspect="1" noMove="1" noResize="1" noEditPoints="1" noAdjustHandles="1" noChangeArrowheads="1" noChangeShapeType="1" noTextEdit="1"/>
              </p:cNvSpPr>
              <p:nvPr/>
            </p:nvSpPr>
            <p:spPr>
              <a:xfrm>
                <a:off x="4419600" y="2057400"/>
                <a:ext cx="2490746" cy="369332"/>
              </a:xfrm>
              <a:prstGeom prst="rect">
                <a:avLst/>
              </a:prstGeom>
              <a:blipFill>
                <a:blip r:embed="rId4"/>
                <a:stretch>
                  <a:fillRect l="-2200" r="-489" b="-36667"/>
                </a:stretch>
              </a:blipFill>
            </p:spPr>
            <p:txBody>
              <a:bodyPr/>
              <a:lstStyle/>
              <a:p>
                <a:r>
                  <a:rPr lang="en-US">
                    <a:noFill/>
                  </a:rPr>
                  <a:t> </a:t>
                </a:r>
              </a:p>
            </p:txBody>
          </p:sp>
        </mc:Fallback>
      </mc:AlternateContent>
    </p:spTree>
    <p:extLst>
      <p:ext uri="{BB962C8B-B14F-4D97-AF65-F5344CB8AC3E}">
        <p14:creationId xmlns:p14="http://schemas.microsoft.com/office/powerpoint/2010/main" val="3643437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6397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Interpretation of Beta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914400"/>
                <a:ext cx="10668000" cy="5419895"/>
              </a:xfrm>
              <a:noFill/>
            </p:spPr>
            <p:txBody>
              <a:bodyPr>
                <a:normAutofit/>
              </a:bodyPr>
              <a:lstStyle/>
              <a:p>
                <a:pPr algn="just">
                  <a:lnSpc>
                    <a:spcPct val="150000"/>
                  </a:lnSpc>
                </a:pP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measures the resultant change in </a:t>
                </a:r>
                <a14:m>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𝑅</m:t>
                        </m:r>
                      </m:e>
                      <m:sub>
                        <m:r>
                          <a:rPr lang="en-US" sz="2400" b="0" i="1" smtClean="0">
                            <a:latin typeface="Cambria Math" panose="02040503050406030204" pitchFamily="18" charset="0"/>
                            <a:ea typeface="Cambria Math" panose="02040503050406030204" pitchFamily="18" charset="0"/>
                          </a:rPr>
                          <m:t>𝑠</m:t>
                        </m:r>
                      </m:sub>
                    </m:sSub>
                    <m:r>
                      <a:rPr lang="en-US" sz="2400" i="1" smtClean="0">
                        <a:latin typeface="Cambria Math" panose="02040503050406030204" pitchFamily="18" charset="0"/>
                        <a:ea typeface="Cambria Math" panose="02040503050406030204" pitchFamily="18" charset="0"/>
                      </a:rPr>
                      <m:t> </m:t>
                    </m:r>
                  </m:oMath>
                </a14:m>
                <a:r>
                  <a:rPr lang="en-US" sz="2400" dirty="0">
                    <a:latin typeface="Arial" panose="020B0604020202020204" pitchFamily="34" charset="0"/>
                    <a:cs typeface="Arial" panose="020B0604020202020204" pitchFamily="34" charset="0"/>
                  </a:rPr>
                  <a:t>(i.e. a security’s return) for a unit change in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𝑅</m:t>
                        </m:r>
                      </m:e>
                      <m:sub>
                        <m:r>
                          <a:rPr lang="en-US" sz="2400" b="0" i="1" smtClean="0">
                            <a:latin typeface="Cambria Math" panose="02040503050406030204" pitchFamily="18" charset="0"/>
                            <a:ea typeface="Cambria Math" panose="02040503050406030204" pitchFamily="18" charset="0"/>
                          </a:rPr>
                          <m:t>𝑚</m:t>
                        </m:r>
                      </m:sub>
                    </m:sSub>
                    <m:r>
                      <a:rPr lang="en-US" sz="2400" i="1">
                        <a:latin typeface="Cambria Math" panose="02040503050406030204" pitchFamily="18" charset="0"/>
                        <a:ea typeface="Cambria Math" panose="02040503050406030204" pitchFamily="18" charset="0"/>
                      </a:rPr>
                      <m:t> </m:t>
                    </m:r>
                  </m:oMath>
                </a14:m>
                <a:r>
                  <a:rPr lang="en-US" sz="2400" dirty="0">
                    <a:latin typeface="Arial" panose="020B0604020202020204" pitchFamily="34" charset="0"/>
                    <a:cs typeface="Arial" panose="020B0604020202020204" pitchFamily="34" charset="0"/>
                  </a:rPr>
                  <a:t>(i.e. market return). </a:t>
                </a:r>
              </a:p>
              <a:p>
                <a:pPr algn="just">
                  <a:lnSpc>
                    <a:spcPct val="150000"/>
                  </a:lnSpc>
                </a:pPr>
                <a:r>
                  <a:rPr lang="en-US" sz="2400" dirty="0">
                    <a:latin typeface="Arial" panose="020B0604020202020204" pitchFamily="34" charset="0"/>
                    <a:cs typeface="Arial" panose="020B0604020202020204" pitchFamily="34" charset="0"/>
                  </a:rPr>
                  <a:t>Hence, it is an indicator of systematic risk of a security. </a:t>
                </a:r>
              </a:p>
              <a:p>
                <a:pPr algn="just">
                  <a:lnSpc>
                    <a:spcPct val="150000"/>
                  </a:lnSpc>
                </a:pPr>
                <a:r>
                  <a:rPr lang="en-US" sz="2400" dirty="0">
                    <a:latin typeface="Arial" panose="020B0604020202020204" pitchFamily="34" charset="0"/>
                    <a:cs typeface="Arial" panose="020B0604020202020204" pitchFamily="34" charset="0"/>
                  </a:rPr>
                  <a:t>The higher the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r>
                      <a:rPr lang="en-US" sz="2400" i="1" smtClean="0">
                        <a:latin typeface="Cambria Math" panose="02040503050406030204" pitchFamily="18" charset="0"/>
                        <a:ea typeface="Cambria Math" panose="02040503050406030204" pitchFamily="18" charset="0"/>
                      </a:rPr>
                      <m:t> </m:t>
                    </m:r>
                  </m:oMath>
                </a14:m>
                <a:r>
                  <a:rPr lang="en-US" sz="2400" dirty="0">
                    <a:latin typeface="Arial" panose="020B0604020202020204" pitchFamily="34" charset="0"/>
                    <a:cs typeface="Arial" panose="020B0604020202020204" pitchFamily="34" charset="0"/>
                  </a:rPr>
                  <a:t>the greater is the systematic risk. </a:t>
                </a:r>
              </a:p>
              <a:p>
                <a:pPr lvl="1" algn="just">
                  <a:lnSpc>
                    <a:spcPct val="150000"/>
                  </a:lnSpc>
                </a:pP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smtClean="0">
                        <a:latin typeface="Cambria Math" panose="02040503050406030204" pitchFamily="18" charset="0"/>
                        <a:ea typeface="Cambria Math" panose="02040503050406030204" pitchFamily="18" charset="0"/>
                      </a:rPr>
                      <m:t>𝛽</m:t>
                    </m:r>
                  </m:oMath>
                </a14:m>
                <a:r>
                  <a:rPr lang="en-US" sz="2000" dirty="0">
                    <a:latin typeface="Arial" panose="020B0604020202020204" pitchFamily="34" charset="0"/>
                    <a:cs typeface="Arial" panose="020B0604020202020204" pitchFamily="34" charset="0"/>
                  </a:rPr>
                  <a:t> = 1 then the security is as risky as market portfolio or market-index. </a:t>
                </a:r>
              </a:p>
              <a:p>
                <a:pPr lvl="1" algn="just">
                  <a:lnSpc>
                    <a:spcPct val="150000"/>
                  </a:lnSpc>
                </a:pP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smtClean="0">
                        <a:latin typeface="Cambria Math" panose="02040503050406030204" pitchFamily="18" charset="0"/>
                        <a:ea typeface="Cambria Math" panose="02040503050406030204" pitchFamily="18" charset="0"/>
                      </a:rPr>
                      <m:t>𝛽</m:t>
                    </m:r>
                  </m:oMath>
                </a14:m>
                <a:r>
                  <a:rPr lang="en-US" sz="2000" dirty="0">
                    <a:latin typeface="Arial" panose="020B0604020202020204" pitchFamily="34" charset="0"/>
                    <a:cs typeface="Arial" panose="020B0604020202020204" pitchFamily="34" charset="0"/>
                  </a:rPr>
                  <a:t> &lt; 1 then the security is less sensitive risky than the market portfolio and hence termed as ‘defensive’ stock. </a:t>
                </a:r>
              </a:p>
              <a:p>
                <a:pPr lvl="1" algn="just">
                  <a:lnSpc>
                    <a:spcPct val="150000"/>
                  </a:lnSpc>
                </a:pP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smtClean="0">
                        <a:latin typeface="Cambria Math" panose="02040503050406030204" pitchFamily="18" charset="0"/>
                        <a:ea typeface="Cambria Math" panose="02040503050406030204" pitchFamily="18" charset="0"/>
                      </a:rPr>
                      <m:t>𝛽</m:t>
                    </m:r>
                  </m:oMath>
                </a14:m>
                <a:r>
                  <a:rPr lang="en-US" sz="2000" dirty="0">
                    <a:latin typeface="Arial" panose="020B0604020202020204" pitchFamily="34" charset="0"/>
                    <a:cs typeface="Arial" panose="020B0604020202020204" pitchFamily="34" charset="0"/>
                  </a:rPr>
                  <a:t> &gt; 1 then the security is more sensitive or risky than the market portfolio and hence termed as ‘aggressive’ security. </a:t>
                </a:r>
                <a:endParaRPr lang="en-US" sz="2400" dirty="0">
                  <a:latin typeface="Arial" panose="020B0604020202020204" pitchFamily="34" charset="0"/>
                  <a:cs typeface="Arial" panose="020B0604020202020204" pitchFamily="34" charset="0"/>
                </a:endParaRPr>
              </a:p>
              <a:p>
                <a:pPr algn="just">
                  <a:lnSpc>
                    <a:spcPct val="90000"/>
                  </a:lnSpc>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914400"/>
                <a:ext cx="10668000" cy="5419895"/>
              </a:xfrm>
              <a:blipFill>
                <a:blip r:embed="rId2"/>
                <a:stretch>
                  <a:fillRect l="-743" r="-85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64</a:t>
            </a:fld>
            <a:endParaRPr lang="en-US"/>
          </a:p>
        </p:txBody>
      </p:sp>
    </p:spTree>
    <p:extLst>
      <p:ext uri="{BB962C8B-B14F-4D97-AF65-F5344CB8AC3E}">
        <p14:creationId xmlns:p14="http://schemas.microsoft.com/office/powerpoint/2010/main" val="1077390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6397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Interpretation of Beta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914400"/>
                <a:ext cx="10668000" cy="5419895"/>
              </a:xfrm>
              <a:noFill/>
            </p:spPr>
            <p:txBody>
              <a:bodyPr>
                <a:normAutofit/>
              </a:bodyPr>
              <a:lstStyle/>
              <a:p>
                <a:pPr algn="just">
                  <a:lnSpc>
                    <a:spcPct val="150000"/>
                  </a:lnSpc>
                </a:pPr>
                <a:r>
                  <a:rPr lang="en-US" sz="2400" dirty="0">
                    <a:latin typeface="Arial" panose="020B0604020202020204" pitchFamily="34" charset="0"/>
                    <a:cs typeface="Arial" panose="020B0604020202020204" pitchFamily="34" charset="0"/>
                  </a:rPr>
                  <a:t>For example, if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 0.80, then a 10% change in market return will result in 8% change in security return in the same direction. </a:t>
                </a:r>
              </a:p>
              <a:p>
                <a:pPr algn="just">
                  <a:lnSpc>
                    <a:spcPct val="150000"/>
                  </a:lnSpc>
                </a:pPr>
                <a:r>
                  <a:rPr lang="en-US" sz="2400" dirty="0">
                    <a:latin typeface="Arial" panose="020B0604020202020204" pitchFamily="34" charset="0"/>
                    <a:cs typeface="Arial" panose="020B0604020202020204" pitchFamily="34" charset="0"/>
                  </a:rPr>
                  <a:t>On the other hand, if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 1.20, then a 10% change in market return will cause a 12% change in security’s return in the same direction</a:t>
                </a:r>
                <a:r>
                  <a:rPr lang="en-US" sz="2400" dirty="0"/>
                  <a:t>.</a:t>
                </a:r>
              </a:p>
              <a:p>
                <a:pPr algn="just">
                  <a:lnSpc>
                    <a:spcPct val="90000"/>
                  </a:lnSpc>
                </a:pPr>
                <a:endParaRPr lang="en-US" sz="2400" dirty="0"/>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914400"/>
                <a:ext cx="10668000" cy="5419895"/>
              </a:xfrm>
              <a:blipFill>
                <a:blip r:embed="rId2"/>
                <a:stretch>
                  <a:fillRect l="-743" r="-85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65</a:t>
            </a:fld>
            <a:endParaRPr lang="en-US"/>
          </a:p>
        </p:txBody>
      </p:sp>
    </p:spTree>
    <p:extLst>
      <p:ext uri="{BB962C8B-B14F-4D97-AF65-F5344CB8AC3E}">
        <p14:creationId xmlns:p14="http://schemas.microsoft.com/office/powerpoint/2010/main" val="27901803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921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Can Beta be negative?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219200"/>
                <a:ext cx="10668000" cy="5115095"/>
              </a:xfrm>
              <a:noFill/>
            </p:spPr>
            <p:txBody>
              <a:bodyPr>
                <a:normAutofit fontScale="92500" lnSpcReduction="10000"/>
              </a:bodyPr>
              <a:lstStyle/>
              <a:p>
                <a:pPr algn="just">
                  <a:lnSpc>
                    <a:spcPct val="150000"/>
                  </a:lnSpc>
                </a:pPr>
                <a:r>
                  <a:rPr lang="en-US" sz="2400" dirty="0">
                    <a:latin typeface="Arial" panose="020B0604020202020204" pitchFamily="34" charset="0"/>
                    <a:cs typeface="Arial" panose="020B0604020202020204" pitchFamily="34" charset="0"/>
                  </a:rPr>
                  <a:t>It must be noted that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can also be negative. </a:t>
                </a:r>
              </a:p>
              <a:p>
                <a:pPr algn="just">
                  <a:lnSpc>
                    <a:spcPct val="150000"/>
                  </a:lnSpc>
                </a:pPr>
                <a:r>
                  <a:rPr lang="en-US" sz="2400" dirty="0">
                    <a:latin typeface="Arial" panose="020B0604020202020204" pitchFamily="34" charset="0"/>
                    <a:cs typeface="Arial" panose="020B0604020202020204" pitchFamily="34" charset="0"/>
                  </a:rPr>
                  <a:t>If a security has negative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it implies that the security’s returns are moving in the opposite direction of the market return. </a:t>
                </a:r>
              </a:p>
              <a:p>
                <a:pPr algn="just">
                  <a:lnSpc>
                    <a:spcPct val="150000"/>
                  </a:lnSpc>
                </a:pPr>
                <a:r>
                  <a:rPr lang="en-US" sz="2400" dirty="0">
                    <a:latin typeface="Arial" panose="020B0604020202020204" pitchFamily="34" charset="0"/>
                    <a:cs typeface="Arial" panose="020B0604020202020204" pitchFamily="34" charset="0"/>
                  </a:rPr>
                  <a:t>When market returns are increasing security’s returns are decreasing and vice versa. </a:t>
                </a:r>
              </a:p>
              <a:p>
                <a:pPr algn="just">
                  <a:lnSpc>
                    <a:spcPct val="150000"/>
                  </a:lnSpc>
                </a:pPr>
                <a:r>
                  <a:rPr lang="en-US" sz="2400" dirty="0">
                    <a:latin typeface="Arial" panose="020B0604020202020204" pitchFamily="34" charset="0"/>
                    <a:cs typeface="Arial" panose="020B0604020202020204" pitchFamily="34" charset="0"/>
                  </a:rPr>
                  <a:t>This may be the case for certain stocks for some periods. </a:t>
                </a:r>
              </a:p>
              <a:p>
                <a:pPr algn="just">
                  <a:lnSpc>
                    <a:spcPct val="150000"/>
                  </a:lnSpc>
                </a:pPr>
                <a:r>
                  <a:rPr lang="en-US" sz="2400" dirty="0">
                    <a:latin typeface="Arial" panose="020B0604020202020204" pitchFamily="34" charset="0"/>
                    <a:cs typeface="Arial" panose="020B0604020202020204" pitchFamily="34" charset="0"/>
                  </a:rPr>
                  <a:t>For example, in times of rising oil prices the stocks of oil and petroleum companies show increase in returns even though the market as a whole is declining and providing negative returns. </a:t>
                </a:r>
              </a:p>
              <a:p>
                <a:pPr algn="just">
                  <a:lnSpc>
                    <a:spcPct val="150000"/>
                  </a:lnSpc>
                </a:pPr>
                <a:r>
                  <a:rPr lang="en-US" sz="2400" dirty="0">
                    <a:latin typeface="Arial" panose="020B0604020202020204" pitchFamily="34" charset="0"/>
                    <a:cs typeface="Arial" panose="020B0604020202020204" pitchFamily="34" charset="0"/>
                  </a:rPr>
                  <a:t>In such a case if we calculate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 of oil stocks we will get negative </a:t>
                </a:r>
                <a14:m>
                  <m:oMath xmlns:m="http://schemas.openxmlformats.org/officeDocument/2006/math">
                    <m:r>
                      <a:rPr lang="en-US" sz="2400" i="1">
                        <a:latin typeface="Cambria Math" panose="02040503050406030204" pitchFamily="18" charset="0"/>
                        <a:ea typeface="Cambria Math" panose="02040503050406030204" pitchFamily="18" charset="0"/>
                      </a:rPr>
                      <m:t>𝛽</m:t>
                    </m:r>
                  </m:oMath>
                </a14:m>
                <a:r>
                  <a:rPr lang="en-US" sz="2400" dirty="0">
                    <a:latin typeface="Arial" panose="020B0604020202020204" pitchFamily="34" charset="0"/>
                    <a:cs typeface="Arial" panose="020B0604020202020204" pitchFamily="34" charset="0"/>
                  </a:rPr>
                  <a:t>.</a:t>
                </a: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09600" y="1219200"/>
                <a:ext cx="10668000" cy="5115095"/>
              </a:xfrm>
              <a:blipFill>
                <a:blip r:embed="rId2"/>
                <a:stretch>
                  <a:fillRect l="-629" r="-743" b="-1549"/>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66</a:t>
            </a:fld>
            <a:endParaRPr lang="en-US"/>
          </a:p>
        </p:txBody>
      </p:sp>
    </p:spTree>
    <p:extLst>
      <p:ext uri="{BB962C8B-B14F-4D97-AF65-F5344CB8AC3E}">
        <p14:creationId xmlns:p14="http://schemas.microsoft.com/office/powerpoint/2010/main" val="5263802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1"/>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Significance of Beta</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143000"/>
            <a:ext cx="10668000" cy="5578475"/>
          </a:xfrm>
          <a:noFill/>
        </p:spPr>
        <p:txBody>
          <a:bodyPr>
            <a:normAutofit fontScale="62500" lnSpcReduction="20000"/>
          </a:bodyPr>
          <a:lstStyle/>
          <a:p>
            <a:pPr>
              <a:lnSpc>
                <a:spcPct val="170000"/>
              </a:lnSpc>
            </a:pPr>
            <a:r>
              <a:rPr lang="en-US" b="1" dirty="0">
                <a:latin typeface="Arial" panose="020B0604020202020204" pitchFamily="34" charset="0"/>
                <a:cs typeface="Arial" panose="020B0604020202020204" pitchFamily="34" charset="0"/>
              </a:rPr>
              <a:t>Risk measurement</a:t>
            </a:r>
            <a:r>
              <a:rPr lang="en-US" dirty="0">
                <a:latin typeface="Arial" panose="020B0604020202020204" pitchFamily="34" charset="0"/>
                <a:cs typeface="Arial" panose="020B0604020202020204" pitchFamily="34" charset="0"/>
              </a:rPr>
              <a:t>: Beta is primarily used to measure the risk associated with an investment. A high beta indicates a higher level of risk, while a low beta indicates lower risk. This information is useful for investors who want to manage their portfolio risk and avoid investments that are overly volatile.</a:t>
            </a:r>
          </a:p>
          <a:p>
            <a:pPr>
              <a:lnSpc>
                <a:spcPct val="170000"/>
              </a:lnSpc>
            </a:pPr>
            <a:r>
              <a:rPr lang="en-US" b="1" dirty="0">
                <a:latin typeface="Arial" panose="020B0604020202020204" pitchFamily="34" charset="0"/>
                <a:cs typeface="Arial" panose="020B0604020202020204" pitchFamily="34" charset="0"/>
              </a:rPr>
              <a:t>Portfolio construction</a:t>
            </a:r>
            <a:r>
              <a:rPr lang="en-US" dirty="0">
                <a:latin typeface="Arial" panose="020B0604020202020204" pitchFamily="34" charset="0"/>
                <a:cs typeface="Arial" panose="020B0604020202020204" pitchFamily="34" charset="0"/>
              </a:rPr>
              <a:t>: Beta can be used in portfolio construction to help investors diversify their investments. By selecting stocks with different betas, investors can create a diversified portfolio that balances risk and return.</a:t>
            </a:r>
          </a:p>
          <a:p>
            <a:pPr>
              <a:lnSpc>
                <a:spcPct val="170000"/>
              </a:lnSpc>
            </a:pPr>
            <a:r>
              <a:rPr lang="en-US" b="1" dirty="0">
                <a:latin typeface="Arial" panose="020B0604020202020204" pitchFamily="34" charset="0"/>
                <a:cs typeface="Arial" panose="020B0604020202020204" pitchFamily="34" charset="0"/>
              </a:rPr>
              <a:t>Performance evaluation</a:t>
            </a:r>
            <a:r>
              <a:rPr lang="en-US" dirty="0">
                <a:latin typeface="Arial" panose="020B0604020202020204" pitchFamily="34" charset="0"/>
                <a:cs typeface="Arial" panose="020B0604020202020204" pitchFamily="34" charset="0"/>
              </a:rPr>
              <a:t>: Beta can be used to evaluate the performance of an investment compared to the overall market. If an investment has a beta of 1, it is expected to move in line with the market. If the investment's beta is less than 1, it is less volatile than the market, and if the beta is greater than 1, it is more volatile than the market.</a:t>
            </a:r>
          </a:p>
          <a:p>
            <a:pPr algn="just">
              <a:lnSpc>
                <a:spcPct val="90000"/>
              </a:lnSpc>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67</a:t>
            </a:fld>
            <a:endParaRPr lang="en-US"/>
          </a:p>
        </p:txBody>
      </p:sp>
    </p:spTree>
    <p:extLst>
      <p:ext uri="{BB962C8B-B14F-4D97-AF65-F5344CB8AC3E}">
        <p14:creationId xmlns:p14="http://schemas.microsoft.com/office/powerpoint/2010/main" val="3255974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t>Significance of Beta</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143000"/>
            <a:ext cx="10668000" cy="5578475"/>
          </a:xfrm>
          <a:noFill/>
        </p:spPr>
        <p:txBody>
          <a:bodyPr>
            <a:normAutofit fontScale="92500" lnSpcReduction="20000"/>
          </a:bodyPr>
          <a:lstStyle/>
          <a:p>
            <a:pPr>
              <a:lnSpc>
                <a:spcPct val="170000"/>
              </a:lnSpc>
            </a:pPr>
            <a:r>
              <a:rPr lang="en-US" sz="2400" b="1" dirty="0">
                <a:latin typeface="Arial" panose="020B0604020202020204" pitchFamily="34" charset="0"/>
                <a:cs typeface="Arial" panose="020B0604020202020204" pitchFamily="34" charset="0"/>
              </a:rPr>
              <a:t>Determining the cost of equity</a:t>
            </a:r>
            <a:r>
              <a:rPr lang="en-US" sz="2400" dirty="0">
                <a:latin typeface="Arial" panose="020B0604020202020204" pitchFamily="34" charset="0"/>
                <a:cs typeface="Arial" panose="020B0604020202020204" pitchFamily="34" charset="0"/>
              </a:rPr>
              <a:t>: Beta is used in the Capital Asset Pricing Model (CAPM) to determine the cost of equity. The CAPM formula for the cost of equity is:</a:t>
            </a:r>
          </a:p>
          <a:p>
            <a:pPr lvl="1">
              <a:lnSpc>
                <a:spcPct val="170000"/>
              </a:lnSpc>
            </a:pPr>
            <a:r>
              <a:rPr lang="en-US" sz="2400" dirty="0">
                <a:latin typeface="Arial" panose="020B0604020202020204" pitchFamily="34" charset="0"/>
                <a:cs typeface="Arial" panose="020B0604020202020204" pitchFamily="34" charset="0"/>
              </a:rPr>
              <a:t>Cost of equity = Risk-free rate + Beta * (Expected market return - Risk-free rate)</a:t>
            </a:r>
          </a:p>
          <a:p>
            <a:pPr marL="400050" lvl="1" indent="0">
              <a:lnSpc>
                <a:spcPct val="170000"/>
              </a:lnSpc>
              <a:buNone/>
            </a:pPr>
            <a:r>
              <a:rPr lang="en-US" sz="2400" dirty="0">
                <a:latin typeface="Arial" panose="020B0604020202020204" pitchFamily="34" charset="0"/>
                <a:cs typeface="Arial" panose="020B0604020202020204" pitchFamily="34" charset="0"/>
              </a:rPr>
              <a:t>The beta coefficient measures the systematic risk of a company's equity shares, which is the risk associated with the overall market. The expected market return is the expected return of the market, and the risk-free rate is the rate of return on a risk-free investment, such as government bonds. By using beta in the CAPM formula, the cost of equity can be calculated.</a:t>
            </a:r>
          </a:p>
          <a:p>
            <a:pPr algn="just">
              <a:lnSpc>
                <a:spcPct val="90000"/>
              </a:lnSpc>
            </a:pPr>
            <a:endParaRPr lang="en-US" sz="2400" dirty="0"/>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68</a:t>
            </a:fld>
            <a:endParaRPr lang="en-US"/>
          </a:p>
        </p:txBody>
      </p:sp>
    </p:spTree>
    <p:extLst>
      <p:ext uri="{BB962C8B-B14F-4D97-AF65-F5344CB8AC3E}">
        <p14:creationId xmlns:p14="http://schemas.microsoft.com/office/powerpoint/2010/main" val="30316279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A21C3-EF17-D111-AC63-AFE418B08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5D5A-91AB-97D3-615D-8B5A1F4F5F3B}"/>
              </a:ext>
            </a:extLst>
          </p:cNvPr>
          <p:cNvSpPr>
            <a:spLocks noGrp="1"/>
          </p:cNvSpPr>
          <p:nvPr>
            <p:ph type="title"/>
          </p:nvPr>
        </p:nvSpPr>
        <p:spPr>
          <a:xfrm>
            <a:off x="609600" y="274638"/>
            <a:ext cx="10972800" cy="7159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p:sp>
        <p:nvSpPr>
          <p:cNvPr id="3" name="Content Placeholder 2">
            <a:extLst>
              <a:ext uri="{FF2B5EF4-FFF2-40B4-BE49-F238E27FC236}">
                <a16:creationId xmlns:a16="http://schemas.microsoft.com/office/drawing/2014/main" id="{024C14BD-1717-653B-CB40-6F985C05060D}"/>
              </a:ext>
            </a:extLst>
          </p:cNvPr>
          <p:cNvSpPr>
            <a:spLocks noGrp="1"/>
          </p:cNvSpPr>
          <p:nvPr>
            <p:ph idx="1"/>
          </p:nvPr>
        </p:nvSpPr>
        <p:spPr>
          <a:xfrm>
            <a:off x="609600" y="1295400"/>
            <a:ext cx="10744200" cy="5474855"/>
          </a:xfrm>
          <a:noFill/>
        </p:spPr>
        <p:txBody>
          <a:bodyPr>
            <a:normAutofit/>
          </a:bodyPr>
          <a:lstStyle/>
          <a:p>
            <a:pPr marL="0" indent="0">
              <a:buNone/>
            </a:pPr>
            <a:r>
              <a:rPr lang="en-US" sz="2400" dirty="0">
                <a:latin typeface="Arial" panose="020B0604020202020204" pitchFamily="34" charset="0"/>
                <a:cs typeface="Arial" panose="020B0604020202020204" pitchFamily="34" charset="0"/>
              </a:rPr>
              <a:t>Some of the popular risk-adjusted measures are:</a:t>
            </a:r>
          </a:p>
        </p:txBody>
      </p:sp>
      <p:sp>
        <p:nvSpPr>
          <p:cNvPr id="4" name="Date Placeholder 3">
            <a:extLst>
              <a:ext uri="{FF2B5EF4-FFF2-40B4-BE49-F238E27FC236}">
                <a16:creationId xmlns:a16="http://schemas.microsoft.com/office/drawing/2014/main" id="{851E1458-9BFE-AFBD-D27F-3D53B81E5A00}"/>
              </a:ext>
            </a:extLst>
          </p:cNvPr>
          <p:cNvSpPr>
            <a:spLocks noGrp="1"/>
          </p:cNvSpPr>
          <p:nvPr>
            <p:ph type="dt" sz="half" idx="10"/>
          </p:nvPr>
        </p:nvSpPr>
        <p:spPr/>
        <p:txBody>
          <a:bodyPr/>
          <a:lstStyle/>
          <a:p>
            <a:fld id="{44E80842-0CCA-478A-B7AC-AF2BB5CD1E0A}" type="datetime1">
              <a:rPr lang="en-US" smtClean="0"/>
              <a:t>4/7/2026</a:t>
            </a:fld>
            <a:endParaRPr lang="en-US"/>
          </a:p>
        </p:txBody>
      </p:sp>
      <p:sp>
        <p:nvSpPr>
          <p:cNvPr id="5" name="Slide Number Placeholder 4">
            <a:extLst>
              <a:ext uri="{FF2B5EF4-FFF2-40B4-BE49-F238E27FC236}">
                <a16:creationId xmlns:a16="http://schemas.microsoft.com/office/drawing/2014/main" id="{C042DFFF-6124-A0B4-176F-4E53E3EB5CCC}"/>
              </a:ext>
            </a:extLst>
          </p:cNvPr>
          <p:cNvSpPr>
            <a:spLocks noGrp="1"/>
          </p:cNvSpPr>
          <p:nvPr>
            <p:ph type="sldNum" sz="quarter" idx="12"/>
          </p:nvPr>
        </p:nvSpPr>
        <p:spPr/>
        <p:txBody>
          <a:bodyPr/>
          <a:lstStyle/>
          <a:p>
            <a:fld id="{9A6574C6-EAF8-40F7-9181-B4B8ADC2AD82}" type="slidenum">
              <a:rPr lang="en-US" smtClean="0"/>
              <a:t>69</a:t>
            </a:fld>
            <a:endParaRPr lang="en-US"/>
          </a:p>
        </p:txBody>
      </p:sp>
      <p:graphicFrame>
        <p:nvGraphicFramePr>
          <p:cNvPr id="6" name="Diagram 5">
            <a:extLst>
              <a:ext uri="{FF2B5EF4-FFF2-40B4-BE49-F238E27FC236}">
                <a16:creationId xmlns:a16="http://schemas.microsoft.com/office/drawing/2014/main" id="{13CA83CA-632F-D1D2-282E-9D65223ACA28}"/>
              </a:ext>
            </a:extLst>
          </p:cNvPr>
          <p:cNvGraphicFramePr/>
          <p:nvPr>
            <p:extLst>
              <p:ext uri="{D42A27DB-BD31-4B8C-83A1-F6EECF244321}">
                <p14:modId xmlns:p14="http://schemas.microsoft.com/office/powerpoint/2010/main" val="1037335478"/>
              </p:ext>
            </p:extLst>
          </p:nvPr>
        </p:nvGraphicFramePr>
        <p:xfrm>
          <a:off x="2032000" y="2447636"/>
          <a:ext cx="7472218" cy="36906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42121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26774" y="274638"/>
            <a:ext cx="11055626" cy="792162"/>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26774" y="1520688"/>
                <a:ext cx="10827026" cy="5249568"/>
              </a:xfrm>
              <a:noFill/>
            </p:spPr>
            <p:txBody>
              <a:bodyPr>
                <a:normAutofit/>
              </a:bodyPr>
              <a:lstStyle/>
              <a:p>
                <a:pPr marL="0" indent="0">
                  <a:buNone/>
                </a:pPr>
                <a:r>
                  <a:rPr lang="en-US" sz="2400" b="1" u="sng" dirty="0">
                    <a:latin typeface="Arial" panose="020B0604020202020204" pitchFamily="34" charset="0"/>
                    <a:cs typeface="Arial" panose="020B0604020202020204" pitchFamily="34" charset="0"/>
                  </a:rPr>
                  <a:t>Sharpe ratio</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Developed by </a:t>
                </a:r>
                <a:r>
                  <a:rPr lang="en-US" sz="2400" b="1" dirty="0">
                    <a:latin typeface="Arial" panose="020B0604020202020204" pitchFamily="34" charset="0"/>
                    <a:cs typeface="Arial" panose="020B0604020202020204" pitchFamily="34" charset="0"/>
                  </a:rPr>
                  <a:t>William Sharpe </a:t>
                </a:r>
                <a:r>
                  <a:rPr lang="en-US" sz="2400" dirty="0">
                    <a:latin typeface="Arial" panose="020B0604020202020204" pitchFamily="34" charset="0"/>
                    <a:cs typeface="Arial" panose="020B0604020202020204" pitchFamily="34" charset="0"/>
                  </a:rPr>
                  <a:t>in 1966.</a:t>
                </a:r>
              </a:p>
              <a:p>
                <a:r>
                  <a:rPr lang="en-US" sz="2400" dirty="0">
                    <a:latin typeface="Arial" panose="020B0604020202020204" pitchFamily="34" charset="0"/>
                    <a:cs typeface="Arial" panose="020B0604020202020204" pitchFamily="34" charset="0"/>
                  </a:rPr>
                  <a:t>It measures the </a:t>
                </a:r>
                <a:r>
                  <a:rPr lang="en-US" sz="2400" b="1" dirty="0">
                    <a:latin typeface="Arial" panose="020B0604020202020204" pitchFamily="34" charset="0"/>
                    <a:cs typeface="Arial" panose="020B0604020202020204" pitchFamily="34" charset="0"/>
                  </a:rPr>
                  <a:t>risk premium per unit of total risk</a:t>
                </a:r>
                <a:r>
                  <a:rPr lang="en-US" sz="2400" dirty="0">
                    <a:latin typeface="Arial" panose="020B0604020202020204" pitchFamily="34" charset="0"/>
                    <a:cs typeface="Arial" panose="020B0604020202020204" pitchFamily="34" charset="0"/>
                  </a:rPr>
                  <a:t>. </a:t>
                </a:r>
              </a:p>
              <a:p>
                <a:r>
                  <a:rPr lang="en-US" sz="2400" b="1" dirty="0">
                    <a:latin typeface="Arial" panose="020B0604020202020204" pitchFamily="34" charset="0"/>
                    <a:cs typeface="Arial" panose="020B0604020202020204" pitchFamily="34" charset="0"/>
                  </a:rPr>
                  <a:t>Risk premium is the excess return of the portfolio over risk-free returns</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Total risk is measured by the standard deviation of the portfolio returns.</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Formula,</a:t>
                </a:r>
              </a:p>
              <a:p>
                <a:pPr marL="457200" lvl="1" indent="0">
                  <a:buNone/>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𝐒</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𝒉𝒂𝒓𝒑</m:t>
                      </m:r>
                      <m:r>
                        <a:rPr lang="en-US" sz="2400" b="1" i="0" smtClean="0">
                          <a:effectLst/>
                          <a:latin typeface="Cambria Math" panose="02040503050406030204" pitchFamily="18" charset="0"/>
                          <a:ea typeface="Calibri" panose="020F0502020204030204" pitchFamily="34" charset="0"/>
                          <a:cs typeface="Times New Roman" panose="02020603050405020304" pitchFamily="18" charset="0"/>
                        </a:rPr>
                        <m:t>𝐞</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𝒓𝒂𝒕𝒊𝒐</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2400" b="1" i="1" smtClean="0">
                              <a:effectLst/>
                              <a:latin typeface="Cambria Math" panose="02040503050406030204" pitchFamily="18" charset="0"/>
                              <a:cs typeface="Times New Roman" panose="02020603050405020304" pitchFamily="18" charset="0"/>
                            </a:rPr>
                          </m:ctrlPr>
                        </m:fPr>
                        <m:num>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𝑷𝒐𝒓𝒕𝒇𝒐𝒍𝒊𝒐</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𝑹𝒊𝒔𝒌𝒇𝒓𝒆𝒆</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𝒓𝒆𝒕𝒖𝒓𝒏</m:t>
                          </m:r>
                        </m:num>
                        <m:den>
                          <m:r>
                            <a:rPr lang="en-US" sz="2400" b="1" i="1">
                              <a:effectLst/>
                              <a:latin typeface="Cambria Math" panose="02040503050406030204" pitchFamily="18" charset="0"/>
                              <a:ea typeface="Calibri" panose="020F0502020204030204" pitchFamily="34" charset="0"/>
                              <a:cs typeface="Times New Roman" panose="02020603050405020304" pitchFamily="18" charset="0"/>
                            </a:rPr>
                            <m:t>𝑺𝒕𝒂𝒏𝒅𝒂𝒓𝒅</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𝒅𝒆𝒗𝒊𝒂𝒕𝒊𝒐𝒏</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𝒐𝒇</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𝒑𝒐𝒓𝒕𝒇𝒐𝒍𝒊𝒐</m:t>
                          </m:r>
                        </m:den>
                      </m:f>
                    </m:oMath>
                  </m:oMathPara>
                </a14:m>
                <a:endParaRPr lang="en-ZA" sz="2400" b="1" dirty="0">
                  <a:solidFill>
                    <a:prstClr val="black"/>
                  </a:solidFill>
                  <a:latin typeface="Arial" panose="020B0604020202020204" pitchFamily="34" charset="0"/>
                  <a:cs typeface="Arial" panose="020B0604020202020204" pitchFamily="34" charset="0"/>
                </a:endParaRPr>
              </a:p>
              <a:p>
                <a:pPr marL="457200" lvl="1" indent="0">
                  <a:buNone/>
                </a:pPr>
                <a:endParaRPr lang="en-US" sz="2000" dirty="0">
                  <a:latin typeface="SourceSansPro"/>
                </a:endParaRP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526774" y="1520688"/>
                <a:ext cx="10827026" cy="5249568"/>
              </a:xfrm>
              <a:blipFill>
                <a:blip r:embed="rId2"/>
                <a:stretch>
                  <a:fillRect l="-844" t="-812"/>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3171641D-6A57-71B9-1BC6-11AE307FCFFD}"/>
              </a:ext>
            </a:extLst>
          </p:cNvPr>
          <p:cNvSpPr>
            <a:spLocks noGrp="1"/>
          </p:cNvSpPr>
          <p:nvPr>
            <p:ph type="dt" sz="half" idx="10"/>
          </p:nvPr>
        </p:nvSpPr>
        <p:spPr/>
        <p:txBody>
          <a:bodyPr/>
          <a:lstStyle/>
          <a:p>
            <a:fld id="{5B22C52E-2EF9-47AD-AED3-23B9CB3ECD5F}" type="datetime1">
              <a:rPr lang="en-US" smtClean="0"/>
              <a:t>4/7/2026</a:t>
            </a:fld>
            <a:endParaRPr lang="en-US"/>
          </a:p>
        </p:txBody>
      </p:sp>
      <p:sp>
        <p:nvSpPr>
          <p:cNvPr id="5" name="Slide Number Placeholder 4">
            <a:extLst>
              <a:ext uri="{FF2B5EF4-FFF2-40B4-BE49-F238E27FC236}">
                <a16:creationId xmlns:a16="http://schemas.microsoft.com/office/drawing/2014/main" id="{60FD6B87-63EF-7234-4842-AFE9810ACC5C}"/>
              </a:ext>
            </a:extLst>
          </p:cNvPr>
          <p:cNvSpPr>
            <a:spLocks noGrp="1"/>
          </p:cNvSpPr>
          <p:nvPr>
            <p:ph type="sldNum" sz="quarter" idx="12"/>
          </p:nvPr>
        </p:nvSpPr>
        <p:spPr/>
        <p:txBody>
          <a:bodyPr/>
          <a:lstStyle/>
          <a:p>
            <a:fld id="{9A6574C6-EAF8-40F7-9181-B4B8ADC2AD82}" type="slidenum">
              <a:rPr lang="en-US" smtClean="0"/>
              <a:t>70</a:t>
            </a:fld>
            <a:endParaRPr lang="en-US"/>
          </a:p>
        </p:txBody>
      </p:sp>
    </p:spTree>
    <p:extLst>
      <p:ext uri="{BB962C8B-B14F-4D97-AF65-F5344CB8AC3E}">
        <p14:creationId xmlns:p14="http://schemas.microsoft.com/office/powerpoint/2010/main" val="38902746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576470" y="218661"/>
            <a:ext cx="11005930" cy="771939"/>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76470" y="1219200"/>
                <a:ext cx="10777330" cy="5551055"/>
              </a:xfrm>
              <a:noFill/>
            </p:spPr>
            <p:txBody>
              <a:bodyPr>
                <a:normAutofit/>
              </a:bodyPr>
              <a:lstStyle/>
              <a:p>
                <a:pPr marL="0" indent="0">
                  <a:buNone/>
                </a:pPr>
                <a:r>
                  <a:rPr lang="en-US" sz="2400" b="1" u="sng" dirty="0">
                    <a:latin typeface="Arial" panose="020B0604020202020204" pitchFamily="34" charset="0"/>
                    <a:cs typeface="Arial" panose="020B0604020202020204" pitchFamily="34" charset="0"/>
                  </a:rPr>
                  <a:t>Treynor’s ratio</a:t>
                </a:r>
              </a:p>
              <a:p>
                <a:pPr marL="0" indent="0">
                  <a:buNone/>
                </a:pPr>
                <a:endParaRPr lang="en-US" sz="2400" b="1" u="sng"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Developed by </a:t>
                </a:r>
                <a:r>
                  <a:rPr lang="en-US" sz="2400" b="1" dirty="0">
                    <a:latin typeface="Arial" panose="020B0604020202020204" pitchFamily="34" charset="0"/>
                    <a:cs typeface="Arial" panose="020B0604020202020204" pitchFamily="34" charset="0"/>
                  </a:rPr>
                  <a:t>Jack Treynor </a:t>
                </a:r>
                <a:r>
                  <a:rPr lang="en-US" sz="2400" dirty="0">
                    <a:latin typeface="Arial" panose="020B0604020202020204" pitchFamily="34" charset="0"/>
                    <a:cs typeface="Arial" panose="020B0604020202020204" pitchFamily="34" charset="0"/>
                  </a:rPr>
                  <a:t>in 1965.</a:t>
                </a:r>
              </a:p>
              <a:p>
                <a:r>
                  <a:rPr lang="en-US" sz="2400" dirty="0">
                    <a:latin typeface="Arial" panose="020B0604020202020204" pitchFamily="34" charset="0"/>
                    <a:cs typeface="Arial" panose="020B0604020202020204" pitchFamily="34" charset="0"/>
                  </a:rPr>
                  <a:t>It measures the </a:t>
                </a:r>
                <a:r>
                  <a:rPr lang="en-US" sz="2400" b="1" dirty="0">
                    <a:latin typeface="Arial" panose="020B0604020202020204" pitchFamily="34" charset="0"/>
                    <a:cs typeface="Arial" panose="020B0604020202020204" pitchFamily="34" charset="0"/>
                  </a:rPr>
                  <a:t>risk premium per unit of systematic risk</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Risk premium is the excess return over risk-free return.</a:t>
                </a:r>
              </a:p>
              <a:p>
                <a:r>
                  <a:rPr lang="en-US" sz="2400" dirty="0">
                    <a:latin typeface="Arial" panose="020B0604020202020204" pitchFamily="34" charset="0"/>
                    <a:cs typeface="Arial" panose="020B0604020202020204" pitchFamily="34" charset="0"/>
                  </a:rPr>
                  <a:t>Systematic risk is measured by the </a:t>
                </a:r>
                <a:r>
                  <a:rPr lang="en-US" sz="2400" b="1" dirty="0">
                    <a:latin typeface="Arial" panose="020B0604020202020204" pitchFamily="34" charset="0"/>
                    <a:cs typeface="Arial" panose="020B0604020202020204" pitchFamily="34" charset="0"/>
                  </a:rPr>
                  <a:t>beta</a:t>
                </a:r>
                <a:r>
                  <a:rPr lang="en-US" sz="2400" dirty="0">
                    <a:latin typeface="Arial" panose="020B0604020202020204" pitchFamily="34" charset="0"/>
                    <a:cs typeface="Arial" panose="020B0604020202020204" pitchFamily="34" charset="0"/>
                  </a:rPr>
                  <a:t> of the portfolio.</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Formula,</a:t>
                </a:r>
              </a:p>
              <a:p>
                <a:pPr marL="457200" lvl="1" indent="0">
                  <a:buNone/>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𝑻𝒓𝒆𝒚𝒏𝒐𝒓</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𝒔</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𝒓𝒂𝒕𝒊𝒐</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2400" b="1" i="1" smtClean="0">
                              <a:effectLst/>
                              <a:latin typeface="Cambria Math" panose="02040503050406030204" pitchFamily="18" charset="0"/>
                              <a:cs typeface="Times New Roman" panose="02020603050405020304" pitchFamily="18" charset="0"/>
                            </a:rPr>
                          </m:ctrlPr>
                        </m:fPr>
                        <m:num>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𝑷𝒐𝒓𝒕𝒇𝒐𝒍𝒊𝒐</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𝑹𝒊𝒔𝒌𝒇𝒓𝒆𝒆</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𝒓𝒆𝒕𝒖𝒓𝒏</m:t>
                          </m:r>
                        </m:num>
                        <m:den>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𝑩𝒆𝒕𝒂</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𝒐𝒇</m:t>
                          </m:r>
                          <m:r>
                            <a:rPr lang="en-US" sz="2400" b="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𝒑𝒐𝒓𝒕𝒇𝒐𝒍𝒊𝒐</m:t>
                          </m:r>
                        </m:den>
                      </m:f>
                    </m:oMath>
                  </m:oMathPara>
                </a14:m>
                <a:endParaRPr lang="en-ZA" sz="2400" b="1" dirty="0">
                  <a:solidFill>
                    <a:prstClr val="black"/>
                  </a:solidFill>
                  <a:latin typeface="Arial" panose="020B0604020202020204" pitchFamily="34" charset="0"/>
                  <a:cs typeface="Arial" panose="020B0604020202020204" pitchFamily="34" charset="0"/>
                </a:endParaRPr>
              </a:p>
              <a:p>
                <a:pPr marL="457200" lvl="1" indent="0">
                  <a:buNone/>
                </a:pPr>
                <a:endParaRPr lang="en-US" sz="2000" dirty="0">
                  <a:latin typeface="SourceSansPro"/>
                </a:endParaRP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576470" y="1219200"/>
                <a:ext cx="10777330" cy="5551055"/>
              </a:xfrm>
              <a:blipFill>
                <a:blip r:embed="rId2"/>
                <a:stretch>
                  <a:fillRect l="-905" t="-768"/>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3ACA80F-1A9D-0B94-4624-8473A08DEC20}"/>
              </a:ext>
            </a:extLst>
          </p:cNvPr>
          <p:cNvSpPr>
            <a:spLocks noGrp="1"/>
          </p:cNvSpPr>
          <p:nvPr>
            <p:ph type="dt" sz="half" idx="10"/>
          </p:nvPr>
        </p:nvSpPr>
        <p:spPr/>
        <p:txBody>
          <a:bodyPr/>
          <a:lstStyle/>
          <a:p>
            <a:fld id="{B359A679-42F3-4D02-B031-BCCD7BBE5244}" type="datetime1">
              <a:rPr lang="en-US" smtClean="0"/>
              <a:t>4/7/2026</a:t>
            </a:fld>
            <a:endParaRPr lang="en-US"/>
          </a:p>
        </p:txBody>
      </p:sp>
      <p:sp>
        <p:nvSpPr>
          <p:cNvPr id="5" name="Slide Number Placeholder 4">
            <a:extLst>
              <a:ext uri="{FF2B5EF4-FFF2-40B4-BE49-F238E27FC236}">
                <a16:creationId xmlns:a16="http://schemas.microsoft.com/office/drawing/2014/main" id="{C21C789E-8BBA-6C19-BC7A-455DA0A314A8}"/>
              </a:ext>
            </a:extLst>
          </p:cNvPr>
          <p:cNvSpPr>
            <a:spLocks noGrp="1"/>
          </p:cNvSpPr>
          <p:nvPr>
            <p:ph type="sldNum" sz="quarter" idx="12"/>
          </p:nvPr>
        </p:nvSpPr>
        <p:spPr/>
        <p:txBody>
          <a:bodyPr/>
          <a:lstStyle/>
          <a:p>
            <a:fld id="{9A6574C6-EAF8-40F7-9181-B4B8ADC2AD82}" type="slidenum">
              <a:rPr lang="en-US" smtClean="0"/>
              <a:t>71</a:t>
            </a:fld>
            <a:endParaRPr lang="en-US"/>
          </a:p>
        </p:txBody>
      </p:sp>
    </p:spTree>
    <p:extLst>
      <p:ext uri="{BB962C8B-B14F-4D97-AF65-F5344CB8AC3E}">
        <p14:creationId xmlns:p14="http://schemas.microsoft.com/office/powerpoint/2010/main" val="1567182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16226" y="238539"/>
            <a:ext cx="10966174" cy="752061"/>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85800" y="1295400"/>
                <a:ext cx="10668000" cy="5474855"/>
              </a:xfrm>
              <a:noFill/>
            </p:spPr>
            <p:txBody>
              <a:bodyPr>
                <a:noAutofit/>
              </a:bodyPr>
              <a:lstStyle/>
              <a:p>
                <a:pPr marL="0" indent="0">
                  <a:lnSpc>
                    <a:spcPct val="150000"/>
                  </a:lnSpc>
                  <a:buNone/>
                </a:pPr>
                <a:r>
                  <a:rPr lang="en-US" sz="2400" b="1" u="sng" dirty="0">
                    <a:latin typeface="Arial" panose="020B0604020202020204" pitchFamily="34" charset="0"/>
                    <a:cs typeface="Arial" panose="020B0604020202020204" pitchFamily="34" charset="0"/>
                  </a:rPr>
                  <a:t>Jensen’s Alpha</a:t>
                </a:r>
              </a:p>
              <a:p>
                <a:pPr>
                  <a:lnSpc>
                    <a:spcPct val="150000"/>
                  </a:lnSpc>
                </a:pPr>
                <a:r>
                  <a:rPr lang="en-US" sz="2400" dirty="0">
                    <a:latin typeface="Arial" panose="020B0604020202020204" pitchFamily="34" charset="0"/>
                    <a:cs typeface="Arial" panose="020B0604020202020204" pitchFamily="34" charset="0"/>
                  </a:rPr>
                  <a:t>Developed by </a:t>
                </a:r>
                <a:r>
                  <a:rPr lang="en-US" sz="2400" b="1" dirty="0">
                    <a:latin typeface="Arial" panose="020B0604020202020204" pitchFamily="34" charset="0"/>
                    <a:cs typeface="Arial" panose="020B0604020202020204" pitchFamily="34" charset="0"/>
                  </a:rPr>
                  <a:t>Michael Jensen </a:t>
                </a:r>
                <a:r>
                  <a:rPr lang="en-US" sz="2400" dirty="0">
                    <a:latin typeface="Arial" panose="020B0604020202020204" pitchFamily="34" charset="0"/>
                    <a:cs typeface="Arial" panose="020B0604020202020204" pitchFamily="34" charset="0"/>
                  </a:rPr>
                  <a:t>in 1968.</a:t>
                </a:r>
              </a:p>
              <a:p>
                <a:pPr algn="just">
                  <a:lnSpc>
                    <a:spcPct val="150000"/>
                  </a:lnSpc>
                </a:pPr>
                <a:r>
                  <a:rPr lang="en-US" sz="2400" dirty="0">
                    <a:latin typeface="Arial" panose="020B0604020202020204" pitchFamily="34" charset="0"/>
                    <a:cs typeface="Arial" panose="020B0604020202020204" pitchFamily="34" charset="0"/>
                  </a:rPr>
                  <a:t>It measures the </a:t>
                </a:r>
                <a:r>
                  <a:rPr lang="en-US" sz="2400" b="1" dirty="0">
                    <a:latin typeface="Arial" panose="020B0604020202020204" pitchFamily="34" charset="0"/>
                    <a:cs typeface="Arial" panose="020B0604020202020204" pitchFamily="34" charset="0"/>
                  </a:rPr>
                  <a:t>actual return of the portfolio over and above the expected return </a:t>
                </a:r>
                <a:r>
                  <a:rPr lang="en-US" sz="2400" dirty="0">
                    <a:latin typeface="Arial" panose="020B0604020202020204" pitchFamily="34" charset="0"/>
                    <a:cs typeface="Arial" panose="020B0604020202020204" pitchFamily="34" charset="0"/>
                  </a:rPr>
                  <a:t>predicted by the Capital Asset Pricing Model (CAPM). </a:t>
                </a:r>
              </a:p>
              <a:p>
                <a:pPr>
                  <a:lnSpc>
                    <a:spcPct val="150000"/>
                  </a:lnSpc>
                </a:pPr>
                <a:endParaRPr lang="en-US" sz="2400" dirty="0">
                  <a:latin typeface="Arial" panose="020B0604020202020204" pitchFamily="34" charset="0"/>
                  <a:cs typeface="Arial" panose="020B0604020202020204" pitchFamily="34" charset="0"/>
                </a:endParaRPr>
              </a:p>
              <a:p>
                <a:pPr>
                  <a:lnSpc>
                    <a:spcPct val="150000"/>
                  </a:lnSpc>
                </a:pPr>
                <a:r>
                  <a:rPr lang="en-US" sz="2400" dirty="0">
                    <a:latin typeface="Arial" panose="020B0604020202020204" pitchFamily="34" charset="0"/>
                    <a:cs typeface="Arial" panose="020B0604020202020204" pitchFamily="34" charset="0"/>
                  </a:rPr>
                  <a:t>Formula,</a:t>
                </a: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𝑨𝒍𝒑𝒉𝒂</m:t>
                      </m:r>
                      <m:r>
                        <a:rPr lang="en-US" sz="2400" b="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𝑨</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𝒄𝒕𝒖𝒂𝒍</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𝑬𝒙𝒑𝒆𝒄𝒕𝒆𝒅</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𝒂𝒔</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𝒑𝒆𝒓</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𝑪𝑨𝑷𝑴</m:t>
                      </m:r>
                    </m:oMath>
                  </m:oMathPara>
                </a14:m>
                <a:endParaRPr lang="en-ZA" sz="2400" b="1" dirty="0">
                  <a:solidFill>
                    <a:prstClr val="black"/>
                  </a:solidFill>
                  <a:latin typeface="Arial" panose="020B0604020202020204" pitchFamily="34" charset="0"/>
                  <a:cs typeface="Arial" panose="020B0604020202020204" pitchFamily="34" charset="0"/>
                </a:endParaRPr>
              </a:p>
              <a:p>
                <a:pPr marL="457200" lvl="1" indent="0">
                  <a:lnSpc>
                    <a:spcPct val="150000"/>
                  </a:lnSpc>
                  <a:buNone/>
                </a:pPr>
                <a:endParaRPr lang="en-US" sz="2400" i="1" dirty="0">
                  <a:latin typeface="Arial" panose="020B0604020202020204" pitchFamily="34" charset="0"/>
                  <a:ea typeface="Calibri" panose="020F0502020204030204" pitchFamily="34" charset="0"/>
                  <a:cs typeface="Arial" panose="020B0604020202020204" pitchFamily="34" charset="0"/>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ea typeface="Calibri" panose="020F0502020204030204" pitchFamily="34" charset="0"/>
                          <a:cs typeface="Times New Roman" panose="02020603050405020304" pitchFamily="18" charset="0"/>
                        </a:rPr>
                        <m:t>𝑨𝒍𝒑𝒉𝒂</m:t>
                      </m:r>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𝒑𝒕</m:t>
                          </m:r>
                        </m:sub>
                      </m:sSub>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𝒇𝒕</m:t>
                          </m:r>
                        </m:sub>
                      </m:sSub>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a:latin typeface="Cambria Math" panose="02040503050406030204" pitchFamily="18" charset="0"/>
                          <a:ea typeface="Calibri" panose="020F0502020204030204" pitchFamily="34" charset="0"/>
                          <a:cs typeface="Times New Roman" panose="02020603050405020304" pitchFamily="18" charset="0"/>
                        </a:rPr>
                        <m:t>𝜷</m:t>
                      </m:r>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𝒎𝒕</m:t>
                          </m:r>
                        </m:sub>
                      </m:sSub>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𝒇𝒕</m:t>
                          </m:r>
                        </m:sub>
                      </m:sSub>
                      <m:r>
                        <a:rPr lang="en-US" sz="2400" b="1" i="1" smtClean="0">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2400" b="1" i="1" dirty="0">
                  <a:latin typeface="Arial" panose="020B0604020202020204" pitchFamily="34" charset="0"/>
                  <a:ea typeface="Calibri" panose="020F0502020204030204" pitchFamily="34" charset="0"/>
                  <a:cs typeface="Arial" panose="020B0604020202020204" pitchFamily="34" charset="0"/>
                </a:endParaRPr>
              </a:p>
              <a:p>
                <a:pPr marL="457200" lvl="1" indent="0">
                  <a:lnSpc>
                    <a:spcPct val="150000"/>
                  </a:lnSpc>
                  <a:buNone/>
                </a:pPr>
                <a:r>
                  <a:rPr lang="en-US" sz="2400" i="1" dirty="0">
                    <a:latin typeface="Arial" panose="020B0604020202020204" pitchFamily="34" charset="0"/>
                    <a:ea typeface="Calibri" panose="020F0502020204030204" pitchFamily="34" charset="0"/>
                    <a:cs typeface="Arial" panose="020B0604020202020204" pitchFamily="34" charset="0"/>
                  </a:rPr>
                  <a:t>Where, </a:t>
                </a:r>
              </a:p>
              <a:p>
                <a:pPr marL="457200" lvl="1" indent="0">
                  <a:lnSpc>
                    <a:spcPct val="150000"/>
                  </a:lnSpc>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𝑝𝑡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𝑃𝑜𝑟𝑡𝑓𝑜𝑙𝑖𝑜</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lnSpc>
                    <a:spcPct val="150000"/>
                  </a:lnSpc>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𝑓𝑡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𝑅𝑖𝑠𝑘</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𝑓𝑟𝑒𝑒</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lnSpc>
                    <a:spcPct val="150000"/>
                  </a:lnSpc>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𝑚</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𝑀𝑎𝑟𝑘𝑒𝑡</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lnSpc>
                    <a:spcPct val="150000"/>
                  </a:lnSpc>
                  <a:buNone/>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ea typeface="Calibri" panose="020F0502020204030204" pitchFamily="34" charset="0"/>
                          <a:cs typeface="Times New Roman" panose="02020603050405020304" pitchFamily="18" charset="0"/>
                        </a:rPr>
                        <m:t>𝛽</m:t>
                      </m:r>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𝐵𝑒𝑡𝑎</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𝑜𝑓</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𝑡h𝑒</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𝑝𝑜𝑟𝑡𝑓𝑜𝑙𝑖𝑜</m:t>
                      </m:r>
                    </m:oMath>
                  </m:oMathPara>
                </a14:m>
                <a:endParaRPr lang="en-ZA" sz="2400" i="1"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85800" y="1295400"/>
                <a:ext cx="10668000" cy="5474855"/>
              </a:xfrm>
              <a:blipFill>
                <a:blip r:embed="rId2"/>
                <a:stretch>
                  <a:fillRect l="-914" r="-857" b="-50334"/>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72</a:t>
            </a:fld>
            <a:endParaRPr lang="en-US"/>
          </a:p>
        </p:txBody>
      </p:sp>
    </p:spTree>
    <p:extLst>
      <p:ext uri="{BB962C8B-B14F-4D97-AF65-F5344CB8AC3E}">
        <p14:creationId xmlns:p14="http://schemas.microsoft.com/office/powerpoint/2010/main" val="35839578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16226" y="238539"/>
            <a:ext cx="10966174" cy="752061"/>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Risk-adjusted measures of portfolio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85800" y="1295400"/>
                <a:ext cx="10668000" cy="4419600"/>
              </a:xfrm>
              <a:noFill/>
            </p:spPr>
            <p:txBody>
              <a:bodyPr>
                <a:noAutofit/>
              </a:bodyPr>
              <a:lstStyle/>
              <a:p>
                <a:pPr marL="0" indent="0">
                  <a:lnSpc>
                    <a:spcPct val="150000"/>
                  </a:lnSpc>
                  <a:buNone/>
                </a:pP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Formula,</a:t>
                </a:r>
              </a:p>
              <a:p>
                <a:pPr marL="457200" lvl="1" indent="0">
                  <a:buNone/>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𝑨𝒍𝒑𝒉𝒂</m:t>
                      </m:r>
                      <m:r>
                        <a:rPr lang="en-US" sz="2400" b="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𝑨</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𝒄𝒕𝒖𝒂𝒍</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𝑬𝒙𝒑𝒆𝒄𝒕𝒆𝒅</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𝒓𝒆𝒕𝒖𝒓𝒏</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𝒂𝒔</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𝒑𝒆𝒓</m:t>
                      </m:r>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smtClean="0">
                          <a:latin typeface="Cambria Math" panose="02040503050406030204" pitchFamily="18" charset="0"/>
                          <a:ea typeface="Calibri" panose="020F0502020204030204" pitchFamily="34" charset="0"/>
                          <a:cs typeface="Times New Roman" panose="02020603050405020304" pitchFamily="18" charset="0"/>
                        </a:rPr>
                        <m:t>𝑪𝑨𝑷𝑴</m:t>
                      </m:r>
                    </m:oMath>
                  </m:oMathPara>
                </a14:m>
                <a:endParaRPr lang="en-ZA" sz="2400" b="1" dirty="0">
                  <a:solidFill>
                    <a:prstClr val="black"/>
                  </a:solidFill>
                  <a:latin typeface="Arial" panose="020B0604020202020204" pitchFamily="34" charset="0"/>
                  <a:cs typeface="Arial" panose="020B0604020202020204" pitchFamily="34" charset="0"/>
                </a:endParaRPr>
              </a:p>
              <a:p>
                <a:pPr marL="457200" lvl="1" indent="0">
                  <a:buNone/>
                </a:pPr>
                <a:endParaRPr lang="en-US" sz="2400" i="1" dirty="0">
                  <a:latin typeface="Arial" panose="020B0604020202020204" pitchFamily="34" charset="0"/>
                  <a:ea typeface="Calibri" panose="020F050202020403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ea typeface="Calibri" panose="020F0502020204030204" pitchFamily="34" charset="0"/>
                          <a:cs typeface="Times New Roman" panose="02020603050405020304" pitchFamily="18" charset="0"/>
                        </a:rPr>
                        <m:t>𝑨𝒍𝒑𝒉𝒂</m:t>
                      </m:r>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𝒑𝒕</m:t>
                          </m:r>
                        </m:sub>
                      </m:sSub>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𝒇𝒕</m:t>
                          </m:r>
                        </m:sub>
                      </m:sSub>
                      <m:r>
                        <a:rPr lang="en-US" sz="2400" b="1" i="1" smtClean="0">
                          <a:latin typeface="Cambria Math" panose="02040503050406030204" pitchFamily="18" charset="0"/>
                          <a:ea typeface="Calibri" panose="020F0502020204030204" pitchFamily="34" charset="0"/>
                          <a:cs typeface="Times New Roman" panose="02020603050405020304" pitchFamily="18" charset="0"/>
                        </a:rPr>
                        <m:t>+ </m:t>
                      </m:r>
                      <m:r>
                        <a:rPr lang="en-US" sz="2400" b="1" i="1">
                          <a:latin typeface="Cambria Math" panose="02040503050406030204" pitchFamily="18" charset="0"/>
                          <a:ea typeface="Calibri" panose="020F0502020204030204" pitchFamily="34" charset="0"/>
                          <a:cs typeface="Times New Roman" panose="02020603050405020304" pitchFamily="18" charset="0"/>
                        </a:rPr>
                        <m:t>𝜷</m:t>
                      </m:r>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𝒎𝒕</m:t>
                          </m:r>
                        </m:sub>
                      </m:sSub>
                      <m:r>
                        <a:rPr lang="en-US" sz="2400" b="1"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latin typeface="Cambria Math" panose="02040503050406030204" pitchFamily="18" charset="0"/>
                              <a:ea typeface="Calibri" panose="020F0502020204030204" pitchFamily="34" charset="0"/>
                              <a:cs typeface="Times New Roman" panose="02020603050405020304" pitchFamily="18" charset="0"/>
                            </a:rPr>
                            <m:t>𝑹</m:t>
                          </m:r>
                        </m:e>
                        <m:sub>
                          <m:r>
                            <a:rPr lang="en-US" sz="2400" b="1" i="1">
                              <a:latin typeface="Cambria Math" panose="02040503050406030204" pitchFamily="18" charset="0"/>
                              <a:ea typeface="Calibri" panose="020F0502020204030204" pitchFamily="34" charset="0"/>
                              <a:cs typeface="Times New Roman" panose="02020603050405020304" pitchFamily="18" charset="0"/>
                            </a:rPr>
                            <m:t>𝒇𝒕</m:t>
                          </m:r>
                        </m:sub>
                      </m:sSub>
                      <m:r>
                        <a:rPr lang="en-US" sz="2400" b="1" i="1" smtClean="0">
                          <a:latin typeface="Cambria Math" panose="02040503050406030204" pitchFamily="18" charset="0"/>
                          <a:ea typeface="Calibri" panose="020F0502020204030204" pitchFamily="34" charset="0"/>
                          <a:cs typeface="Times New Roman" panose="02020603050405020304" pitchFamily="18" charset="0"/>
                        </a:rPr>
                        <m:t>)</m:t>
                      </m:r>
                      <m:r>
                        <a:rPr lang="en-US" sz="2400" b="1" i="1">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2400" b="1" i="1" dirty="0">
                  <a:latin typeface="Arial" panose="020B0604020202020204" pitchFamily="34" charset="0"/>
                  <a:ea typeface="Calibri" panose="020F0502020204030204" pitchFamily="34" charset="0"/>
                  <a:cs typeface="Arial" panose="020B0604020202020204" pitchFamily="34" charset="0"/>
                </a:endParaRPr>
              </a:p>
              <a:p>
                <a:pPr marL="457200" lvl="1" indent="0">
                  <a:buNone/>
                </a:pPr>
                <a:r>
                  <a:rPr lang="en-US" sz="2400" i="1" dirty="0">
                    <a:latin typeface="Arial" panose="020B0604020202020204" pitchFamily="34" charset="0"/>
                    <a:ea typeface="Calibri" panose="020F0502020204030204" pitchFamily="34" charset="0"/>
                    <a:cs typeface="Arial" panose="020B0604020202020204" pitchFamily="34" charset="0"/>
                  </a:rPr>
                  <a:t>Where, </a:t>
                </a:r>
              </a:p>
              <a:p>
                <a:pPr marL="457200" lvl="1" indent="0">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𝑝𝑡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𝑃𝑜𝑟𝑡𝑓𝑜𝑙𝑖𝑜</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𝑓𝑡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𝑅𝑖𝑠𝑘</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𝑓𝑟𝑒𝑒</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buNone/>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latin typeface="Cambria Math" panose="02040503050406030204" pitchFamily="18" charset="0"/>
                              <a:ea typeface="Calibri" panose="020F0502020204030204" pitchFamily="34" charset="0"/>
                              <a:cs typeface="Times New Roman" panose="02020603050405020304" pitchFamily="18" charset="0"/>
                            </a:rPr>
                            <m:t>𝑚</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𝑀𝑎𝑟𝑘𝑒𝑡</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𝑟𝑒𝑡𝑢𝑟𝑛𝑠</m:t>
                      </m:r>
                    </m:oMath>
                  </m:oMathPara>
                </a14:m>
                <a:endParaRPr lang="en-US" sz="2400" b="0" i="1" dirty="0">
                  <a:latin typeface="Arial" panose="020B0604020202020204" pitchFamily="34" charset="0"/>
                  <a:ea typeface="Calibri" panose="020F0502020204030204" pitchFamily="34" charset="0"/>
                  <a:cs typeface="Arial" panose="020B0604020202020204" pitchFamily="34" charset="0"/>
                </a:endParaRPr>
              </a:p>
              <a:p>
                <a:pPr marL="457200" lvl="1" indent="0">
                  <a:buNone/>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ea typeface="Calibri" panose="020F0502020204030204" pitchFamily="34" charset="0"/>
                          <a:cs typeface="Times New Roman" panose="02020603050405020304" pitchFamily="18" charset="0"/>
                        </a:rPr>
                        <m:t>𝛽</m:t>
                      </m:r>
                      <m:r>
                        <a:rPr lang="en-US" sz="2400" b="0" i="1"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𝐵𝑒𝑡𝑎</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𝑜𝑓</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𝑡h𝑒</m:t>
                      </m:r>
                      <m:r>
                        <a:rPr lang="en-US" sz="2400" b="0" i="1"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smtClean="0">
                          <a:latin typeface="Cambria Math" panose="02040503050406030204" pitchFamily="18" charset="0"/>
                          <a:ea typeface="Calibri" panose="020F0502020204030204" pitchFamily="34" charset="0"/>
                          <a:cs typeface="Times New Roman" panose="02020603050405020304" pitchFamily="18" charset="0"/>
                        </a:rPr>
                        <m:t>𝑝𝑜𝑟𝑡𝑓𝑜𝑙𝑖𝑜</m:t>
                      </m:r>
                    </m:oMath>
                  </m:oMathPara>
                </a14:m>
                <a:endParaRPr lang="en-ZA" sz="2400" i="1"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2DE4308A-489A-4F4C-B171-C30435ED9CE5}"/>
                  </a:ext>
                </a:extLst>
              </p:cNvPr>
              <p:cNvSpPr>
                <a:spLocks noGrp="1" noRot="1" noChangeAspect="1" noMove="1" noResize="1" noEditPoints="1" noAdjustHandles="1" noChangeArrowheads="1" noChangeShapeType="1" noTextEdit="1"/>
              </p:cNvSpPr>
              <p:nvPr>
                <p:ph idx="1"/>
              </p:nvPr>
            </p:nvSpPr>
            <p:spPr>
              <a:xfrm>
                <a:off x="685800" y="1295400"/>
                <a:ext cx="10668000" cy="4419600"/>
              </a:xfrm>
              <a:blipFill>
                <a:blip r:embed="rId2"/>
                <a:stretch>
                  <a:fillRect l="-800"/>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73</a:t>
            </a:fld>
            <a:endParaRPr lang="en-US"/>
          </a:p>
        </p:txBody>
      </p:sp>
    </p:spTree>
    <p:extLst>
      <p:ext uri="{BB962C8B-B14F-4D97-AF65-F5344CB8AC3E}">
        <p14:creationId xmlns:p14="http://schemas.microsoft.com/office/powerpoint/2010/main" val="31297637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6287" y="268357"/>
            <a:ext cx="10976113" cy="798443"/>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Questions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66530" y="1123122"/>
            <a:ext cx="11015870" cy="5598353"/>
          </a:xfrm>
          <a:noFill/>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Specify whether </a:t>
            </a:r>
            <a:r>
              <a:rPr lang="en-US" sz="2400" b="1" dirty="0">
                <a:latin typeface="Arial" panose="020B0604020202020204" pitchFamily="34" charset="0"/>
                <a:cs typeface="Arial" panose="020B0604020202020204" pitchFamily="34" charset="0"/>
              </a:rPr>
              <a:t>True/False</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Return is the reward for investment. </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Risk may be ignored while making investments. </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Holding period return can be used to compare two or more investment options. </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Average return can be calculated using arithmetic mean. </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Calculation of Expected return requires assignment of probabilities to the expected outcomes. </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There is no difference between risk and uncertainty.</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74</a:t>
            </a:fld>
            <a:endParaRPr lang="en-US"/>
          </a:p>
        </p:txBody>
      </p:sp>
    </p:spTree>
    <p:extLst>
      <p:ext uri="{BB962C8B-B14F-4D97-AF65-F5344CB8AC3E}">
        <p14:creationId xmlns:p14="http://schemas.microsoft.com/office/powerpoint/2010/main" val="17105673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6287" y="268357"/>
            <a:ext cx="10976113" cy="798443"/>
          </a:xfrm>
          <a:solidFill>
            <a:schemeClr val="accent1">
              <a:lumMod val="60000"/>
              <a:lumOff val="40000"/>
            </a:schemeClr>
          </a:solidFill>
        </p:spPr>
        <p:txBody>
          <a:bodyPr>
            <a:normAutofit/>
          </a:bodyPr>
          <a:lstStyle/>
          <a:p>
            <a:r>
              <a:rPr lang="en-US" sz="2800" b="1" dirty="0">
                <a:latin typeface="Arial" panose="020B0604020202020204" pitchFamily="34" charset="0"/>
                <a:cs typeface="Arial" panose="020B0604020202020204" pitchFamily="34" charset="0"/>
              </a:rPr>
              <a:t>Questions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566530" y="1123122"/>
            <a:ext cx="11015870" cy="5598353"/>
          </a:xfrm>
          <a:noFill/>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Specify whether </a:t>
            </a:r>
            <a:r>
              <a:rPr lang="en-US" sz="2400" b="1" dirty="0">
                <a:latin typeface="Arial" panose="020B0604020202020204" pitchFamily="34" charset="0"/>
                <a:cs typeface="Arial" panose="020B0604020202020204" pitchFamily="34" charset="0"/>
              </a:rPr>
              <a:t>True/False</a:t>
            </a:r>
            <a:endParaRPr lang="en-US" sz="2400" dirty="0">
              <a:latin typeface="Arial" panose="020B0604020202020204" pitchFamily="34" charset="0"/>
              <a:cs typeface="Arial" panose="020B0604020202020204" pitchFamily="34" charset="0"/>
            </a:endParaRPr>
          </a:p>
          <a:p>
            <a:pPr marL="0" indent="0">
              <a:lnSpc>
                <a:spcPct val="150000"/>
              </a:lnSpc>
              <a:buNone/>
            </a:pPr>
            <a:r>
              <a:rPr lang="en-US" sz="2400" dirty="0">
                <a:latin typeface="Arial" panose="020B0604020202020204" pitchFamily="34" charset="0"/>
                <a:cs typeface="Arial" panose="020B0604020202020204" pitchFamily="34" charset="0"/>
              </a:rPr>
              <a:t>7.Beta is an indicator of unsystematic risk </a:t>
            </a:r>
          </a:p>
          <a:p>
            <a:pPr marL="0" indent="0">
              <a:lnSpc>
                <a:spcPct val="150000"/>
              </a:lnSpc>
              <a:buNone/>
            </a:pPr>
            <a:r>
              <a:rPr lang="en-US" sz="2400" dirty="0">
                <a:latin typeface="Arial" panose="020B0604020202020204" pitchFamily="34" charset="0"/>
                <a:cs typeface="Arial" panose="020B0604020202020204" pitchFamily="34" charset="0"/>
              </a:rPr>
              <a:t>8.Systematic risk is also termed as diversifiable risk.  </a:t>
            </a:r>
          </a:p>
          <a:p>
            <a:pPr marL="0" indent="0">
              <a:lnSpc>
                <a:spcPct val="150000"/>
              </a:lnSpc>
              <a:buNone/>
            </a:pPr>
            <a:r>
              <a:rPr lang="en-US" sz="2400" dirty="0">
                <a:latin typeface="Arial" panose="020B0604020202020204" pitchFamily="34" charset="0"/>
                <a:cs typeface="Arial" panose="020B0604020202020204" pitchFamily="34" charset="0"/>
              </a:rPr>
              <a:t>9.Financial risk is a component of systematic risk. </a:t>
            </a:r>
          </a:p>
          <a:p>
            <a:pPr marL="0" indent="0">
              <a:lnSpc>
                <a:spcPct val="150000"/>
              </a:lnSpc>
              <a:buNone/>
            </a:pPr>
            <a:r>
              <a:rPr lang="en-US" sz="2400" dirty="0">
                <a:latin typeface="Arial" panose="020B0604020202020204" pitchFamily="34" charset="0"/>
                <a:cs typeface="Arial" panose="020B0604020202020204" pitchFamily="34" charset="0"/>
              </a:rPr>
              <a:t>10.Inefficient management is a source of systematic risk.  </a:t>
            </a:r>
          </a:p>
          <a:p>
            <a:pPr marL="0" indent="0">
              <a:lnSpc>
                <a:spcPct val="150000"/>
              </a:lnSpc>
              <a:buNone/>
            </a:pPr>
            <a:r>
              <a:rPr lang="en-US" sz="2400" dirty="0">
                <a:latin typeface="Arial" panose="020B0604020202020204" pitchFamily="34" charset="0"/>
                <a:cs typeface="Arial" panose="020B0604020202020204" pitchFamily="34" charset="0"/>
              </a:rPr>
              <a:t>11.Beta of a security can never be negative or zero.</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75</a:t>
            </a:fld>
            <a:endParaRPr lang="en-US"/>
          </a:p>
        </p:txBody>
      </p:sp>
    </p:spTree>
    <p:extLst>
      <p:ext uri="{BB962C8B-B14F-4D97-AF65-F5344CB8AC3E}">
        <p14:creationId xmlns:p14="http://schemas.microsoft.com/office/powerpoint/2010/main" val="12335808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821980"/>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Questions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85800" y="1249019"/>
            <a:ext cx="10896600" cy="5476336"/>
          </a:xfrm>
          <a:noFill/>
        </p:spPr>
        <p:txBody>
          <a:bodyPr>
            <a:normAutofit/>
          </a:bodyPr>
          <a:lstStyle/>
          <a:p>
            <a:pPr marL="457200" indent="-457200">
              <a:lnSpc>
                <a:spcPct val="150000"/>
              </a:lnSpc>
              <a:buAutoNum type="arabicPeriod"/>
            </a:pPr>
            <a:r>
              <a:rPr lang="en-US" sz="2000" dirty="0">
                <a:latin typeface="Arial" panose="020B0604020202020204" pitchFamily="34" charset="0"/>
                <a:cs typeface="Arial" panose="020B0604020202020204" pitchFamily="34" charset="0"/>
              </a:rPr>
              <a:t>Twelve years ago, Anand paid Rs.12.25 a share for 100 shares of XYZ Ltd. Today, the stock is worth Rs.19 a share. What is Anand’s holding period return for the investment?</a:t>
            </a:r>
          </a:p>
          <a:p>
            <a:pPr marL="457200" indent="-457200">
              <a:lnSpc>
                <a:spcPct val="150000"/>
              </a:lnSpc>
              <a:buAutoNum type="arabicPeriod"/>
            </a:pPr>
            <a:r>
              <a:rPr lang="en-US" sz="2000" dirty="0">
                <a:latin typeface="Arial" panose="020B0604020202020204" pitchFamily="34" charset="0"/>
                <a:cs typeface="Arial" panose="020B0604020202020204" pitchFamily="34" charset="0"/>
              </a:rPr>
              <a:t>What is the HPR for an investor who bought a stock a year ago at Rs.100 and received Rs.15 in dividends over the year, if the stock is now trading at Rs.160?</a:t>
            </a:r>
          </a:p>
          <a:p>
            <a:pPr marL="457200" indent="-457200">
              <a:lnSpc>
                <a:spcPct val="150000"/>
              </a:lnSpc>
              <a:buAutoNum type="arabicPeriod"/>
            </a:pPr>
            <a:r>
              <a:rPr lang="en-US" sz="2000" dirty="0">
                <a:latin typeface="Arial" panose="020B0604020202020204" pitchFamily="34" charset="0"/>
                <a:cs typeface="Arial" panose="020B0604020202020204" pitchFamily="34" charset="0"/>
              </a:rPr>
              <a:t>Which investment performed better? Stock X that was held for three years, during which it appreciated from Rs. 200 to Rs. 250 and provided Rs. 30 in dividends, or Stock Y that went from Rs. 300 to Rs. 420 and generated Rs. 40 in dividends over four years?(Hint: calculate HPR and Annualized Returns)</a:t>
            </a:r>
          </a:p>
          <a:p>
            <a:pPr marL="457200" indent="-457200">
              <a:lnSpc>
                <a:spcPct val="150000"/>
              </a:lnSpc>
              <a:buAutoNum type="arabicPeriod"/>
            </a:pPr>
            <a:r>
              <a:rPr lang="en-US" sz="2000" dirty="0">
                <a:latin typeface="Arial" panose="020B0604020202020204" pitchFamily="34" charset="0"/>
                <a:cs typeface="Arial" panose="020B0604020202020204" pitchFamily="34" charset="0"/>
              </a:rPr>
              <a:t>Compute the expected return and risk for the following X and Y securities?</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76</a:t>
            </a:fld>
            <a:endParaRPr lang="en-US"/>
          </a:p>
        </p:txBody>
      </p:sp>
    </p:spTree>
    <p:extLst>
      <p:ext uri="{BB962C8B-B14F-4D97-AF65-F5344CB8AC3E}">
        <p14:creationId xmlns:p14="http://schemas.microsoft.com/office/powerpoint/2010/main" val="10065355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09600" y="244820"/>
            <a:ext cx="10972800" cy="821980"/>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Questions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85800" y="1249019"/>
            <a:ext cx="10896600" cy="4849690"/>
          </a:xfrm>
          <a:noFill/>
        </p:spPr>
        <p:txBody>
          <a:bodyPr>
            <a:normAutofit/>
          </a:bodyPr>
          <a:lstStyle/>
          <a:p>
            <a:pPr marL="0" indent="0">
              <a:lnSpc>
                <a:spcPct val="150000"/>
              </a:lnSpc>
              <a:buNone/>
            </a:pPr>
            <a:endParaRPr lang="en-US"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77</a:t>
            </a:fld>
            <a:endParaRPr lang="en-US"/>
          </a:p>
        </p:txBody>
      </p:sp>
      <p:pic>
        <p:nvPicPr>
          <p:cNvPr id="7" name="Picture 6">
            <a:extLst>
              <a:ext uri="{FF2B5EF4-FFF2-40B4-BE49-F238E27FC236}">
                <a16:creationId xmlns:a16="http://schemas.microsoft.com/office/drawing/2014/main" id="{2B53E618-996A-F607-2811-B973441D1B70}"/>
              </a:ext>
            </a:extLst>
          </p:cNvPr>
          <p:cNvPicPr>
            <a:picLocks noChangeAspect="1"/>
          </p:cNvPicPr>
          <p:nvPr/>
        </p:nvPicPr>
        <p:blipFill rotWithShape="1">
          <a:blip r:embed="rId2"/>
          <a:srcRect t="15267"/>
          <a:stretch/>
        </p:blipFill>
        <p:spPr>
          <a:xfrm>
            <a:off x="1447800" y="1828799"/>
            <a:ext cx="9296400" cy="2667001"/>
          </a:xfrm>
          <a:prstGeom prst="rect">
            <a:avLst/>
          </a:prstGeom>
        </p:spPr>
      </p:pic>
    </p:spTree>
    <p:extLst>
      <p:ext uri="{BB962C8B-B14F-4D97-AF65-F5344CB8AC3E}">
        <p14:creationId xmlns:p14="http://schemas.microsoft.com/office/powerpoint/2010/main" val="28600038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EEE6-E446-467B-96F9-F4D54C63D6CC}"/>
              </a:ext>
            </a:extLst>
          </p:cNvPr>
          <p:cNvSpPr>
            <a:spLocks noGrp="1"/>
          </p:cNvSpPr>
          <p:nvPr>
            <p:ph type="title"/>
          </p:nvPr>
        </p:nvSpPr>
        <p:spPr>
          <a:xfrm>
            <a:off x="626164" y="188844"/>
            <a:ext cx="10956235" cy="725556"/>
          </a:xfrm>
          <a:solidFill>
            <a:schemeClr val="accent1">
              <a:lumMod val="60000"/>
              <a:lumOff val="40000"/>
            </a:schemeClr>
          </a:solidFill>
          <a:ln>
            <a:solidFill>
              <a:schemeClr val="accent1">
                <a:lumMod val="60000"/>
                <a:lumOff val="40000"/>
              </a:schemeClr>
            </a:solidFill>
          </a:ln>
        </p:spPr>
        <p:txBody>
          <a:bodyPr>
            <a:normAutofit/>
          </a:bodyPr>
          <a:lstStyle/>
          <a:p>
            <a:r>
              <a:rPr lang="en-US" sz="2800" b="1" dirty="0">
                <a:latin typeface="Arial" panose="020B0604020202020204" pitchFamily="34" charset="0"/>
                <a:cs typeface="Arial" panose="020B0604020202020204" pitchFamily="34" charset="0"/>
              </a:rPr>
              <a:t>Questions</a:t>
            </a:r>
          </a:p>
        </p:txBody>
      </p:sp>
      <p:sp>
        <p:nvSpPr>
          <p:cNvPr id="3" name="Content Placeholder 2">
            <a:extLst>
              <a:ext uri="{FF2B5EF4-FFF2-40B4-BE49-F238E27FC236}">
                <a16:creationId xmlns:a16="http://schemas.microsoft.com/office/drawing/2014/main" id="{2DE4308A-489A-4F4C-B171-C30435ED9CE5}"/>
              </a:ext>
            </a:extLst>
          </p:cNvPr>
          <p:cNvSpPr>
            <a:spLocks noGrp="1"/>
          </p:cNvSpPr>
          <p:nvPr>
            <p:ph idx="1"/>
          </p:nvPr>
        </p:nvSpPr>
        <p:spPr>
          <a:xfrm>
            <a:off x="609600" y="1503532"/>
            <a:ext cx="10972800" cy="5217943"/>
          </a:xfrm>
          <a:noFill/>
        </p:spPr>
        <p:txBody>
          <a:bodyPr>
            <a:normAutofit/>
          </a:bodyPr>
          <a:lstStyle/>
          <a:p>
            <a:pPr marL="0" indent="0">
              <a:buNone/>
            </a:pPr>
            <a:r>
              <a:rPr lang="en-US" sz="2000" dirty="0">
                <a:latin typeface="Arial" panose="020B0604020202020204" pitchFamily="34" charset="0"/>
                <a:cs typeface="Arial" panose="020B0604020202020204" pitchFamily="34" charset="0"/>
              </a:rPr>
              <a:t>5</a:t>
            </a:r>
            <a:r>
              <a:rPr lang="en-US" sz="2400" dirty="0">
                <a:latin typeface="Arial" panose="020B0604020202020204" pitchFamily="34" charset="0"/>
                <a:cs typeface="Arial" panose="020B0604020202020204" pitchFamily="34" charset="0"/>
              </a:rPr>
              <a:t>.	Mr. Devang, a security analyst wants to analyze the following three securities with respect to 	risk and return</a:t>
            </a:r>
          </a:p>
          <a:p>
            <a:pPr marL="0" indent="0">
              <a:buNone/>
            </a:pPr>
            <a:endParaRPr lang="en-US" sz="2400" dirty="0">
              <a:latin typeface="Arial" panose="020B0604020202020204" pitchFamily="34" charset="0"/>
              <a:cs typeface="Arial" panose="020B0604020202020204" pitchFamily="34" charset="0"/>
            </a:endParaRP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Can it be concluded that security B is the most risky and security A is the least risky security.</a:t>
            </a:r>
          </a:p>
        </p:txBody>
      </p:sp>
      <p:sp>
        <p:nvSpPr>
          <p:cNvPr id="4" name="Date Placeholder 3">
            <a:extLst>
              <a:ext uri="{FF2B5EF4-FFF2-40B4-BE49-F238E27FC236}">
                <a16:creationId xmlns:a16="http://schemas.microsoft.com/office/drawing/2014/main" id="{6EB8D80A-0C83-02F7-94EE-01D701C8B848}"/>
              </a:ext>
            </a:extLst>
          </p:cNvPr>
          <p:cNvSpPr>
            <a:spLocks noGrp="1"/>
          </p:cNvSpPr>
          <p:nvPr>
            <p:ph type="dt" sz="half" idx="10"/>
          </p:nvPr>
        </p:nvSpPr>
        <p:spPr/>
        <p:txBody>
          <a:bodyPr/>
          <a:lstStyle/>
          <a:p>
            <a:fld id="{FAA708F4-200C-44F4-8928-D954A4712697}" type="datetime1">
              <a:rPr lang="en-US" smtClean="0"/>
              <a:t>4/7/2026</a:t>
            </a:fld>
            <a:endParaRPr lang="en-US" dirty="0"/>
          </a:p>
        </p:txBody>
      </p:sp>
      <p:sp>
        <p:nvSpPr>
          <p:cNvPr id="5" name="Slide Number Placeholder 4">
            <a:extLst>
              <a:ext uri="{FF2B5EF4-FFF2-40B4-BE49-F238E27FC236}">
                <a16:creationId xmlns:a16="http://schemas.microsoft.com/office/drawing/2014/main" id="{D8138B80-E700-7317-003A-14A4C967CAF3}"/>
              </a:ext>
            </a:extLst>
          </p:cNvPr>
          <p:cNvSpPr>
            <a:spLocks noGrp="1"/>
          </p:cNvSpPr>
          <p:nvPr>
            <p:ph type="sldNum" sz="quarter" idx="12"/>
          </p:nvPr>
        </p:nvSpPr>
        <p:spPr/>
        <p:txBody>
          <a:bodyPr/>
          <a:lstStyle/>
          <a:p>
            <a:fld id="{9A6574C6-EAF8-40F7-9181-B4B8ADC2AD82}" type="slidenum">
              <a:rPr lang="en-US" smtClean="0"/>
              <a:t>78</a:t>
            </a:fld>
            <a:endParaRPr lang="en-US"/>
          </a:p>
        </p:txBody>
      </p:sp>
      <p:graphicFrame>
        <p:nvGraphicFramePr>
          <p:cNvPr id="6" name="Table 8">
            <a:extLst>
              <a:ext uri="{FF2B5EF4-FFF2-40B4-BE49-F238E27FC236}">
                <a16:creationId xmlns:a16="http://schemas.microsoft.com/office/drawing/2014/main" id="{AEBE84A9-9E1E-DCE6-90D0-F05907BF7949}"/>
              </a:ext>
            </a:extLst>
          </p:cNvPr>
          <p:cNvGraphicFramePr>
            <a:graphicFrameLocks noGrp="1"/>
          </p:cNvGraphicFramePr>
          <p:nvPr>
            <p:extLst>
              <p:ext uri="{D42A27DB-BD31-4B8C-83A1-F6EECF244321}">
                <p14:modId xmlns:p14="http://schemas.microsoft.com/office/powerpoint/2010/main" val="4125567588"/>
              </p:ext>
            </p:extLst>
          </p:nvPr>
        </p:nvGraphicFramePr>
        <p:xfrm>
          <a:off x="1828800" y="2286000"/>
          <a:ext cx="8127999" cy="2301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4924726"/>
                    </a:ext>
                  </a:extLst>
                </a:gridCol>
                <a:gridCol w="2709333">
                  <a:extLst>
                    <a:ext uri="{9D8B030D-6E8A-4147-A177-3AD203B41FA5}">
                      <a16:colId xmlns:a16="http://schemas.microsoft.com/office/drawing/2014/main" val="2909882414"/>
                    </a:ext>
                  </a:extLst>
                </a:gridCol>
                <a:gridCol w="2709333">
                  <a:extLst>
                    <a:ext uri="{9D8B030D-6E8A-4147-A177-3AD203B41FA5}">
                      <a16:colId xmlns:a16="http://schemas.microsoft.com/office/drawing/2014/main" val="1479869325"/>
                    </a:ext>
                  </a:extLst>
                </a:gridCol>
              </a:tblGrid>
              <a:tr h="533400">
                <a:tc>
                  <a:txBody>
                    <a:bodyPr/>
                    <a:lstStyle/>
                    <a:p>
                      <a:r>
                        <a:rPr lang="en-US" sz="2000" dirty="0">
                          <a:latin typeface="Arial" panose="020B0604020202020204" pitchFamily="34" charset="0"/>
                          <a:cs typeface="Arial" panose="020B0604020202020204" pitchFamily="34" charset="0"/>
                        </a:rPr>
                        <a:t>Security</a:t>
                      </a:r>
                    </a:p>
                  </a:txBody>
                  <a:tcPr/>
                </a:tc>
                <a:tc>
                  <a:txBody>
                    <a:bodyPr/>
                    <a:lstStyle/>
                    <a:p>
                      <a:r>
                        <a:rPr lang="en-US" sz="2000" dirty="0">
                          <a:latin typeface="Arial" panose="020B0604020202020204" pitchFamily="34" charset="0"/>
                          <a:cs typeface="Arial" panose="020B0604020202020204" pitchFamily="34" charset="0"/>
                        </a:rPr>
                        <a:t>Expected Returns (%)</a:t>
                      </a:r>
                    </a:p>
                  </a:txBody>
                  <a:tcPr/>
                </a:tc>
                <a:tc>
                  <a:txBody>
                    <a:bodyPr/>
                    <a:lstStyle/>
                    <a:p>
                      <a:r>
                        <a:rPr lang="en-US" sz="2000" dirty="0">
                          <a:latin typeface="Arial" panose="020B0604020202020204" pitchFamily="34" charset="0"/>
                          <a:cs typeface="Arial" panose="020B0604020202020204" pitchFamily="34" charset="0"/>
                        </a:rPr>
                        <a:t>S.D. of Returns (%)</a:t>
                      </a:r>
                    </a:p>
                  </a:txBody>
                  <a:tcPr/>
                </a:tc>
                <a:extLst>
                  <a:ext uri="{0D108BD9-81ED-4DB2-BD59-A6C34878D82A}">
                    <a16:rowId xmlns:a16="http://schemas.microsoft.com/office/drawing/2014/main" val="2695402550"/>
                  </a:ext>
                </a:extLst>
              </a:tr>
              <a:tr h="533400">
                <a:tc>
                  <a:txBody>
                    <a:bodyPr/>
                    <a:lstStyle/>
                    <a:p>
                      <a:r>
                        <a:rPr lang="en-US" sz="2000" dirty="0">
                          <a:latin typeface="Arial" panose="020B0604020202020204" pitchFamily="34" charset="0"/>
                          <a:cs typeface="Arial" panose="020B0604020202020204" pitchFamily="34" charset="0"/>
                        </a:rPr>
                        <a:t>A</a:t>
                      </a:r>
                    </a:p>
                  </a:txBody>
                  <a:tcPr/>
                </a:tc>
                <a:tc>
                  <a:txBody>
                    <a:bodyPr/>
                    <a:lstStyle/>
                    <a:p>
                      <a:r>
                        <a:rPr lang="en-US" sz="2000" dirty="0">
                          <a:latin typeface="Arial" panose="020B0604020202020204" pitchFamily="34" charset="0"/>
                          <a:cs typeface="Arial" panose="020B0604020202020204" pitchFamily="34" charset="0"/>
                        </a:rPr>
                        <a:t>22</a:t>
                      </a:r>
                    </a:p>
                  </a:txBody>
                  <a:tcPr/>
                </a:tc>
                <a:tc>
                  <a:txBody>
                    <a:bodyPr/>
                    <a:lstStyle/>
                    <a:p>
                      <a:r>
                        <a:rPr lang="en-US" sz="2000" dirty="0">
                          <a:latin typeface="Arial" panose="020B0604020202020204" pitchFamily="34" charset="0"/>
                          <a:cs typeface="Arial" panose="020B0604020202020204" pitchFamily="34" charset="0"/>
                        </a:rPr>
                        <a:t>15</a:t>
                      </a:r>
                    </a:p>
                  </a:txBody>
                  <a:tcPr/>
                </a:tc>
                <a:extLst>
                  <a:ext uri="{0D108BD9-81ED-4DB2-BD59-A6C34878D82A}">
                    <a16:rowId xmlns:a16="http://schemas.microsoft.com/office/drawing/2014/main" val="2523888948"/>
                  </a:ext>
                </a:extLst>
              </a:tr>
              <a:tr h="533400">
                <a:tc>
                  <a:txBody>
                    <a:bodyPr/>
                    <a:lstStyle/>
                    <a:p>
                      <a:r>
                        <a:rPr lang="en-US" sz="2000" dirty="0">
                          <a:latin typeface="Arial" panose="020B0604020202020204" pitchFamily="34" charset="0"/>
                          <a:cs typeface="Arial" panose="020B0604020202020204" pitchFamily="34" charset="0"/>
                        </a:rPr>
                        <a:t>B</a:t>
                      </a:r>
                    </a:p>
                  </a:txBody>
                  <a:tcPr/>
                </a:tc>
                <a:tc>
                  <a:txBody>
                    <a:bodyPr/>
                    <a:lstStyle/>
                    <a:p>
                      <a:r>
                        <a:rPr lang="en-US" sz="2000" dirty="0">
                          <a:latin typeface="Arial" panose="020B0604020202020204" pitchFamily="34" charset="0"/>
                          <a:cs typeface="Arial" panose="020B0604020202020204" pitchFamily="34" charset="0"/>
                        </a:rPr>
                        <a:t>35</a:t>
                      </a:r>
                    </a:p>
                  </a:txBody>
                  <a:tcPr/>
                </a:tc>
                <a:tc>
                  <a:txBody>
                    <a:bodyPr/>
                    <a:lstStyle/>
                    <a:p>
                      <a:r>
                        <a:rPr lang="en-US" sz="2000" dirty="0">
                          <a:latin typeface="Arial" panose="020B0604020202020204" pitchFamily="34" charset="0"/>
                          <a:cs typeface="Arial" panose="020B0604020202020204" pitchFamily="34" charset="0"/>
                        </a:rPr>
                        <a:t>20</a:t>
                      </a:r>
                    </a:p>
                  </a:txBody>
                  <a:tcPr/>
                </a:tc>
                <a:extLst>
                  <a:ext uri="{0D108BD9-81ED-4DB2-BD59-A6C34878D82A}">
                    <a16:rowId xmlns:a16="http://schemas.microsoft.com/office/drawing/2014/main" val="747285440"/>
                  </a:ext>
                </a:extLst>
              </a:tr>
              <a:tr h="533400">
                <a:tc>
                  <a:txBody>
                    <a:bodyPr/>
                    <a:lstStyle/>
                    <a:p>
                      <a:r>
                        <a:rPr lang="en-US" sz="2000" dirty="0">
                          <a:latin typeface="Arial" panose="020B0604020202020204" pitchFamily="34" charset="0"/>
                          <a:cs typeface="Arial" panose="020B0604020202020204" pitchFamily="34" charset="0"/>
                        </a:rPr>
                        <a:t>C</a:t>
                      </a:r>
                    </a:p>
                  </a:txBody>
                  <a:tcPr/>
                </a:tc>
                <a:tc>
                  <a:txBody>
                    <a:bodyPr/>
                    <a:lstStyle/>
                    <a:p>
                      <a:r>
                        <a:rPr lang="en-US" sz="2000" dirty="0">
                          <a:latin typeface="Arial" panose="020B0604020202020204" pitchFamily="34" charset="0"/>
                          <a:cs typeface="Arial" panose="020B0604020202020204" pitchFamily="34" charset="0"/>
                        </a:rPr>
                        <a:t>30</a:t>
                      </a:r>
                    </a:p>
                  </a:txBody>
                  <a:tcPr/>
                </a:tc>
                <a:tc>
                  <a:txBody>
                    <a:bodyPr/>
                    <a:lstStyle/>
                    <a:p>
                      <a:r>
                        <a:rPr lang="en-US" sz="2000" dirty="0">
                          <a:latin typeface="Arial" panose="020B0604020202020204" pitchFamily="34" charset="0"/>
                          <a:cs typeface="Arial" panose="020B0604020202020204" pitchFamily="34" charset="0"/>
                        </a:rPr>
                        <a:t>18</a:t>
                      </a:r>
                    </a:p>
                  </a:txBody>
                  <a:tcPr/>
                </a:tc>
                <a:extLst>
                  <a:ext uri="{0D108BD9-81ED-4DB2-BD59-A6C34878D82A}">
                    <a16:rowId xmlns:a16="http://schemas.microsoft.com/office/drawing/2014/main" val="4067143462"/>
                  </a:ext>
                </a:extLst>
              </a:tr>
            </a:tbl>
          </a:graphicData>
        </a:graphic>
      </p:graphicFrame>
    </p:spTree>
    <p:extLst>
      <p:ext uri="{BB962C8B-B14F-4D97-AF65-F5344CB8AC3E}">
        <p14:creationId xmlns:p14="http://schemas.microsoft.com/office/powerpoint/2010/main" val="1795801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3899</TotalTime>
  <Words>5496</Words>
  <Application>Microsoft Office PowerPoint</Application>
  <PresentationFormat>Widescreen</PresentationFormat>
  <Paragraphs>821</Paragraphs>
  <Slides>78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78</vt:i4>
      </vt:variant>
    </vt:vector>
  </HeadingPairs>
  <TitlesOfParts>
    <vt:vector size="85" baseType="lpstr">
      <vt:lpstr>Arial</vt:lpstr>
      <vt:lpstr>Calibri</vt:lpstr>
      <vt:lpstr>Cambria Math</vt:lpstr>
      <vt:lpstr>SourceSansPro</vt:lpstr>
      <vt:lpstr>Times New Roman</vt:lpstr>
      <vt:lpstr>Office Theme</vt:lpstr>
      <vt:lpstr>CorelDRAW</vt:lpstr>
      <vt:lpstr>Risk &amp; Return</vt:lpstr>
      <vt:lpstr>You were given Rs. 1,00,000…..</vt:lpstr>
      <vt:lpstr>Risk-Return Relationship of Different Financial Assets</vt:lpstr>
      <vt:lpstr>PowerPoint Presentation</vt:lpstr>
      <vt:lpstr>PowerPoint Presentation</vt:lpstr>
      <vt:lpstr>Learning Objectives</vt:lpstr>
      <vt:lpstr>Introduction to Risk and Returns</vt:lpstr>
      <vt:lpstr>Introduction to Risk and Returns</vt:lpstr>
      <vt:lpstr>Introduction to Risk and Returns</vt:lpstr>
      <vt:lpstr>Returns</vt:lpstr>
      <vt:lpstr>Returns from equity</vt:lpstr>
      <vt:lpstr>Returns from equity</vt:lpstr>
      <vt:lpstr>Returns from bond</vt:lpstr>
      <vt:lpstr>Returns from bond</vt:lpstr>
      <vt:lpstr>Types of returns</vt:lpstr>
      <vt:lpstr>Holding period returns (HPR)</vt:lpstr>
      <vt:lpstr>Holding period returns (HPR)</vt:lpstr>
      <vt:lpstr>Average returns</vt:lpstr>
      <vt:lpstr>Average returns</vt:lpstr>
      <vt:lpstr>Average returns</vt:lpstr>
      <vt:lpstr>Annualized returns</vt:lpstr>
      <vt:lpstr>Annualized returns</vt:lpstr>
      <vt:lpstr>Historical returns</vt:lpstr>
      <vt:lpstr>Expected returns</vt:lpstr>
      <vt:lpstr>Expected returns</vt:lpstr>
      <vt:lpstr>Risk-adjusted returns</vt:lpstr>
      <vt:lpstr>Risk-adjusted measures of portfolio analysis</vt:lpstr>
      <vt:lpstr>Risk-adjusted measures of portfolio analysis</vt:lpstr>
      <vt:lpstr>PowerPoint Presentation</vt:lpstr>
      <vt:lpstr>Risk</vt:lpstr>
      <vt:lpstr>Measurement of Risk</vt:lpstr>
      <vt:lpstr>Measurement of Risk</vt:lpstr>
      <vt:lpstr>Range as Risk</vt:lpstr>
      <vt:lpstr>Standard Deviation or Variance as Risk</vt:lpstr>
      <vt:lpstr>Standard Deviation or Variance as Risk</vt:lpstr>
      <vt:lpstr>Standard Deviation or Variance as Risk</vt:lpstr>
      <vt:lpstr>Standard Deviation or Variance as Risk</vt:lpstr>
      <vt:lpstr>Standard Deviation or Variance as Risk</vt:lpstr>
      <vt:lpstr>Coefficient of Variation as a relative measure of Risk</vt:lpstr>
      <vt:lpstr>Coefficient of Variation as a relative measure of Risk</vt:lpstr>
      <vt:lpstr>Coefficient of Variation as a relative measure of Risk</vt:lpstr>
      <vt:lpstr>Components of Risk</vt:lpstr>
      <vt:lpstr> </vt:lpstr>
      <vt:lpstr>Systematic Risk</vt:lpstr>
      <vt:lpstr>Types of Systematic Risks</vt:lpstr>
      <vt:lpstr>Market Risk</vt:lpstr>
      <vt:lpstr>Interest Rate Risk</vt:lpstr>
      <vt:lpstr>Interest Rate Risk</vt:lpstr>
      <vt:lpstr>Interest Rate Risk</vt:lpstr>
      <vt:lpstr>Interest Rate Risk</vt:lpstr>
      <vt:lpstr>Purchasing Power or Inflationary Risk</vt:lpstr>
      <vt:lpstr>Purchasing Power or Inflationary Risk</vt:lpstr>
      <vt:lpstr>Unsystematic Risk</vt:lpstr>
      <vt:lpstr>Unsystematic Risk</vt:lpstr>
      <vt:lpstr>Unsystematic Risk</vt:lpstr>
      <vt:lpstr>Business Risk</vt:lpstr>
      <vt:lpstr>Business Risk</vt:lpstr>
      <vt:lpstr>Financial Risk</vt:lpstr>
      <vt:lpstr>Business Risk vs. Financial Risk</vt:lpstr>
      <vt:lpstr>Question</vt:lpstr>
      <vt:lpstr>Solution</vt:lpstr>
      <vt:lpstr>Systematic Risk (Beta)</vt:lpstr>
      <vt:lpstr>Calculation of Systematic Risk (Beta)</vt:lpstr>
      <vt:lpstr>Interpretation of Beta</vt:lpstr>
      <vt:lpstr>Interpretation of Beta</vt:lpstr>
      <vt:lpstr>Can Beta be negative?</vt:lpstr>
      <vt:lpstr>Significance of Beta</vt:lpstr>
      <vt:lpstr>Significance of Beta</vt:lpstr>
      <vt:lpstr>Risk-adjusted measures of portfolio analysis</vt:lpstr>
      <vt:lpstr>Risk-adjusted measures of portfolio analysis</vt:lpstr>
      <vt:lpstr>Risk-adjusted measures of portfolio analysis</vt:lpstr>
      <vt:lpstr>Risk-adjusted measures of portfolio analysis</vt:lpstr>
      <vt:lpstr>Risk-adjusted measures of portfolio analysis</vt:lpstr>
      <vt:lpstr>Questions</vt:lpstr>
      <vt:lpstr>Questions</vt:lpstr>
      <vt:lpstr>Questions</vt:lpstr>
      <vt:lpstr>Questions</vt:lpstr>
      <vt:lpstr>Questions</vt:lpstr>
    </vt:vector>
  </TitlesOfParts>
  <Company>ITS GZB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&amp; Return Analysis</dc:title>
  <dc:creator>Prafull Verma</dc:creator>
  <cp:lastModifiedBy>Subhasmita Parida</cp:lastModifiedBy>
  <cp:revision>133</cp:revision>
  <dcterms:created xsi:type="dcterms:W3CDTF">2007-12-16T17:56:38Z</dcterms:created>
  <dcterms:modified xsi:type="dcterms:W3CDTF">2026-04-07T05:14:50Z</dcterms:modified>
</cp:coreProperties>
</file>