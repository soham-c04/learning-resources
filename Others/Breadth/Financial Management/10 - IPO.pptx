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71" r:id="rId2"/>
    <p:sldId id="275" r:id="rId3"/>
    <p:sldId id="297" r:id="rId4"/>
    <p:sldId id="257" r:id="rId5"/>
    <p:sldId id="258" r:id="rId6"/>
    <p:sldId id="269" r:id="rId7"/>
    <p:sldId id="278" r:id="rId8"/>
    <p:sldId id="277" r:id="rId9"/>
    <p:sldId id="279" r:id="rId10"/>
    <p:sldId id="280" r:id="rId11"/>
    <p:sldId id="281" r:id="rId12"/>
    <p:sldId id="276" r:id="rId13"/>
    <p:sldId id="264" r:id="rId14"/>
    <p:sldId id="272" r:id="rId15"/>
    <p:sldId id="298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60" r:id="rId25"/>
    <p:sldId id="261" r:id="rId26"/>
    <p:sldId id="262" r:id="rId27"/>
    <p:sldId id="292" r:id="rId28"/>
    <p:sldId id="293" r:id="rId29"/>
    <p:sldId id="294" r:id="rId30"/>
    <p:sldId id="295" r:id="rId31"/>
    <p:sldId id="296" r:id="rId32"/>
    <p:sldId id="301" r:id="rId33"/>
    <p:sldId id="299" r:id="rId34"/>
    <p:sldId id="300" r:id="rId35"/>
    <p:sldId id="268" r:id="rId36"/>
    <p:sldId id="302" r:id="rId37"/>
    <p:sldId id="303" r:id="rId38"/>
    <p:sldId id="304" r:id="rId39"/>
    <p:sldId id="305" r:id="rId40"/>
    <p:sldId id="306" r:id="rId41"/>
    <p:sldId id="28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98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631327-F275-41F2-B070-6ED2C36A30F9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571A29-9FE6-4C62-BD95-7295C0DAE2A7}">
      <dgm:prSet custT="1"/>
      <dgm:spPr/>
      <dgm:t>
        <a:bodyPr/>
        <a:lstStyle/>
        <a:p>
          <a:r>
            <a:rPr lang="en-US" sz="2400" b="1" dirty="0"/>
            <a:t>Understand the Concept of IPO</a:t>
          </a:r>
          <a:endParaRPr lang="en-IN" sz="2400" b="1" dirty="0"/>
        </a:p>
      </dgm:t>
    </dgm:pt>
    <dgm:pt modelId="{839DEC1C-D691-4D5B-8C37-8B787DFE87F1}" type="parTrans" cxnId="{7753A25B-E2B6-4978-A8C3-0EA90E018C2F}">
      <dgm:prSet/>
      <dgm:spPr/>
      <dgm:t>
        <a:bodyPr/>
        <a:lstStyle/>
        <a:p>
          <a:endParaRPr lang="en-IN" sz="2400" b="1"/>
        </a:p>
      </dgm:t>
    </dgm:pt>
    <dgm:pt modelId="{19856949-6279-4F6E-A279-55799E5D7163}" type="sibTrans" cxnId="{7753A25B-E2B6-4978-A8C3-0EA90E018C2F}">
      <dgm:prSet/>
      <dgm:spPr/>
      <dgm:t>
        <a:bodyPr/>
        <a:lstStyle/>
        <a:p>
          <a:endParaRPr lang="en-IN" sz="2400" b="1"/>
        </a:p>
      </dgm:t>
    </dgm:pt>
    <dgm:pt modelId="{76FF71D4-5231-41BB-ADBE-0DB7416822BD}">
      <dgm:prSet custT="1"/>
      <dgm:spPr/>
      <dgm:t>
        <a:bodyPr/>
        <a:lstStyle/>
        <a:p>
          <a:r>
            <a:rPr lang="en-US" sz="2400" b="1" dirty="0"/>
            <a:t>Understanding IPO mechanics helps investors and companies make informed capital market decisions</a:t>
          </a:r>
          <a:endParaRPr lang="en-IN" sz="2400" b="1" dirty="0"/>
        </a:p>
      </dgm:t>
    </dgm:pt>
    <dgm:pt modelId="{53EC64B5-F629-4492-8442-6563468C65D6}" type="parTrans" cxnId="{169A5E22-DF87-445C-937B-5E9ABAAB7494}">
      <dgm:prSet/>
      <dgm:spPr/>
      <dgm:t>
        <a:bodyPr/>
        <a:lstStyle/>
        <a:p>
          <a:endParaRPr lang="en-IN" sz="2400" b="1"/>
        </a:p>
      </dgm:t>
    </dgm:pt>
    <dgm:pt modelId="{34AA7E88-0D67-45DA-8A45-9802068185CD}" type="sibTrans" cxnId="{169A5E22-DF87-445C-937B-5E9ABAAB7494}">
      <dgm:prSet/>
      <dgm:spPr/>
      <dgm:t>
        <a:bodyPr/>
        <a:lstStyle/>
        <a:p>
          <a:endParaRPr lang="en-IN" sz="2400" b="1"/>
        </a:p>
      </dgm:t>
    </dgm:pt>
    <dgm:pt modelId="{460B9E09-BD42-4CEE-B32D-E28A20CBE412}">
      <dgm:prSet custT="1"/>
      <dgm:spPr/>
      <dgm:t>
        <a:bodyPr/>
        <a:lstStyle/>
        <a:p>
          <a:r>
            <a:rPr lang="en-US" sz="2400" b="1" dirty="0"/>
            <a:t>Analyze the critical role of IPO processing steps</a:t>
          </a:r>
          <a:endParaRPr lang="en-IN" sz="2400" b="1" dirty="0"/>
        </a:p>
      </dgm:t>
    </dgm:pt>
    <dgm:pt modelId="{CB101C09-539D-49F6-9230-56EF1F6CE2BA}" type="parTrans" cxnId="{96C47BDB-3039-472E-9018-E72D475EB75C}">
      <dgm:prSet/>
      <dgm:spPr/>
      <dgm:t>
        <a:bodyPr/>
        <a:lstStyle/>
        <a:p>
          <a:endParaRPr lang="en-IN" sz="2400" b="1"/>
        </a:p>
      </dgm:t>
    </dgm:pt>
    <dgm:pt modelId="{4527C875-12AD-46B2-A6C7-67E8C686651D}" type="sibTrans" cxnId="{96C47BDB-3039-472E-9018-E72D475EB75C}">
      <dgm:prSet/>
      <dgm:spPr/>
      <dgm:t>
        <a:bodyPr/>
        <a:lstStyle/>
        <a:p>
          <a:endParaRPr lang="en-IN" sz="2400" b="1"/>
        </a:p>
      </dgm:t>
    </dgm:pt>
    <dgm:pt modelId="{12516289-D4F9-42F3-9912-C25F2B9B97FD}">
      <dgm:prSet custT="1"/>
      <dgm:spPr/>
      <dgm:t>
        <a:bodyPr/>
        <a:lstStyle/>
        <a:p>
          <a:r>
            <a:rPr lang="en-US" sz="2400" b="1" dirty="0"/>
            <a:t>Analyze the major IPO pricing methods </a:t>
          </a:r>
          <a:endParaRPr lang="en-IN" sz="2400" b="1" dirty="0"/>
        </a:p>
      </dgm:t>
    </dgm:pt>
    <dgm:pt modelId="{DC09A198-C541-4BB0-84A0-6C9BC8B23969}" type="parTrans" cxnId="{55D34631-0B50-46CA-A592-F324D31DD17F}">
      <dgm:prSet/>
      <dgm:spPr/>
      <dgm:t>
        <a:bodyPr/>
        <a:lstStyle/>
        <a:p>
          <a:endParaRPr lang="en-IN" sz="2400" b="1"/>
        </a:p>
      </dgm:t>
    </dgm:pt>
    <dgm:pt modelId="{1C0FC638-2D99-410C-A466-FEDD82BBF0BA}" type="sibTrans" cxnId="{55D34631-0B50-46CA-A592-F324D31DD17F}">
      <dgm:prSet/>
      <dgm:spPr/>
      <dgm:t>
        <a:bodyPr/>
        <a:lstStyle/>
        <a:p>
          <a:endParaRPr lang="en-IN" sz="2400" b="1"/>
        </a:p>
      </dgm:t>
    </dgm:pt>
    <dgm:pt modelId="{F074178A-4EFD-46E9-AA7F-86E7C8E75498}">
      <dgm:prSet custT="1"/>
      <dgm:spPr/>
      <dgm:t>
        <a:bodyPr/>
        <a:lstStyle/>
        <a:p>
          <a:r>
            <a:rPr lang="en-US" sz="2400" b="1" dirty="0"/>
            <a:t>Understanding the concept of Underpricing of IPO</a:t>
          </a:r>
          <a:endParaRPr lang="en-IN" sz="2400" b="1" dirty="0"/>
        </a:p>
      </dgm:t>
    </dgm:pt>
    <dgm:pt modelId="{7A180DFD-B381-4144-93CA-0F0EABA96560}" type="sibTrans" cxnId="{0424FCD5-5702-4644-B002-D58D437B9578}">
      <dgm:prSet/>
      <dgm:spPr/>
      <dgm:t>
        <a:bodyPr/>
        <a:lstStyle/>
        <a:p>
          <a:endParaRPr lang="en-IN" sz="2400" b="1"/>
        </a:p>
      </dgm:t>
    </dgm:pt>
    <dgm:pt modelId="{2FF5D50E-B60D-42FF-9C1E-EA0E7BF30D4A}" type="parTrans" cxnId="{0424FCD5-5702-4644-B002-D58D437B9578}">
      <dgm:prSet/>
      <dgm:spPr/>
      <dgm:t>
        <a:bodyPr/>
        <a:lstStyle/>
        <a:p>
          <a:endParaRPr lang="en-IN" sz="2400" b="1"/>
        </a:p>
      </dgm:t>
    </dgm:pt>
    <dgm:pt modelId="{FD015BE0-B2DE-4D0A-A4EC-C67E9D184D8C}" type="pres">
      <dgm:prSet presAssocID="{0C631327-F275-41F2-B070-6ED2C36A30F9}" presName="linear" presStyleCnt="0">
        <dgm:presLayoutVars>
          <dgm:animLvl val="lvl"/>
          <dgm:resizeHandles val="exact"/>
        </dgm:presLayoutVars>
      </dgm:prSet>
      <dgm:spPr/>
    </dgm:pt>
    <dgm:pt modelId="{EB3D0091-9205-42CB-8884-7E3A039745BE}" type="pres">
      <dgm:prSet presAssocID="{02571A29-9FE6-4C62-BD95-7295C0DAE2A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825B92A-8F9D-4901-938E-1C6EAA453CFC}" type="pres">
      <dgm:prSet presAssocID="{19856949-6279-4F6E-A279-55799E5D7163}" presName="spacer" presStyleCnt="0"/>
      <dgm:spPr/>
    </dgm:pt>
    <dgm:pt modelId="{75642127-8105-499E-8C78-3464939271BE}" type="pres">
      <dgm:prSet presAssocID="{76FF71D4-5231-41BB-ADBE-0DB7416822B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DB4D71-FFEA-4AFA-918D-FDFC3A7D67BE}" type="pres">
      <dgm:prSet presAssocID="{34AA7E88-0D67-45DA-8A45-9802068185CD}" presName="spacer" presStyleCnt="0"/>
      <dgm:spPr/>
    </dgm:pt>
    <dgm:pt modelId="{F813068D-1048-4945-82ED-3C657E573E24}" type="pres">
      <dgm:prSet presAssocID="{460B9E09-BD42-4CEE-B32D-E28A20CBE4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3851D6-EF52-4672-8C0A-322143A1A3F5}" type="pres">
      <dgm:prSet presAssocID="{4527C875-12AD-46B2-A6C7-67E8C686651D}" presName="spacer" presStyleCnt="0"/>
      <dgm:spPr/>
    </dgm:pt>
    <dgm:pt modelId="{A3675AE8-E636-4F95-B7B0-4EAAA0B0216C}" type="pres">
      <dgm:prSet presAssocID="{12516289-D4F9-42F3-9912-C25F2B9B97F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CB87AAE-F2AB-4A3A-AC32-2ACC59F2AAF6}" type="pres">
      <dgm:prSet presAssocID="{1C0FC638-2D99-410C-A466-FEDD82BBF0BA}" presName="spacer" presStyleCnt="0"/>
      <dgm:spPr/>
    </dgm:pt>
    <dgm:pt modelId="{F96A8CB6-B8FB-4518-97F1-4B1F7648D052}" type="pres">
      <dgm:prSet presAssocID="{F074178A-4EFD-46E9-AA7F-86E7C8E754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69A5E22-DF87-445C-937B-5E9ABAAB7494}" srcId="{0C631327-F275-41F2-B070-6ED2C36A30F9}" destId="{76FF71D4-5231-41BB-ADBE-0DB7416822BD}" srcOrd="1" destOrd="0" parTransId="{53EC64B5-F629-4492-8442-6563468C65D6}" sibTransId="{34AA7E88-0D67-45DA-8A45-9802068185CD}"/>
    <dgm:cxn modelId="{8F984C22-FC78-43BB-B487-1A5CFB36811D}" type="presOf" srcId="{460B9E09-BD42-4CEE-B32D-E28A20CBE412}" destId="{F813068D-1048-4945-82ED-3C657E573E24}" srcOrd="0" destOrd="0" presId="urn:microsoft.com/office/officeart/2005/8/layout/vList2"/>
    <dgm:cxn modelId="{5758D527-E650-4552-8FA5-CEF87EAECCB6}" type="presOf" srcId="{0C631327-F275-41F2-B070-6ED2C36A30F9}" destId="{FD015BE0-B2DE-4D0A-A4EC-C67E9D184D8C}" srcOrd="0" destOrd="0" presId="urn:microsoft.com/office/officeart/2005/8/layout/vList2"/>
    <dgm:cxn modelId="{55D34631-0B50-46CA-A592-F324D31DD17F}" srcId="{0C631327-F275-41F2-B070-6ED2C36A30F9}" destId="{12516289-D4F9-42F3-9912-C25F2B9B97FD}" srcOrd="3" destOrd="0" parTransId="{DC09A198-C541-4BB0-84A0-6C9BC8B23969}" sibTransId="{1C0FC638-2D99-410C-A466-FEDD82BBF0BA}"/>
    <dgm:cxn modelId="{7753A25B-E2B6-4978-A8C3-0EA90E018C2F}" srcId="{0C631327-F275-41F2-B070-6ED2C36A30F9}" destId="{02571A29-9FE6-4C62-BD95-7295C0DAE2A7}" srcOrd="0" destOrd="0" parTransId="{839DEC1C-D691-4D5B-8C37-8B787DFE87F1}" sibTransId="{19856949-6279-4F6E-A279-55799E5D7163}"/>
    <dgm:cxn modelId="{82B37445-EAD8-41FF-8C07-C89692438DBC}" type="presOf" srcId="{F074178A-4EFD-46E9-AA7F-86E7C8E75498}" destId="{F96A8CB6-B8FB-4518-97F1-4B1F7648D052}" srcOrd="0" destOrd="0" presId="urn:microsoft.com/office/officeart/2005/8/layout/vList2"/>
    <dgm:cxn modelId="{9C18DF65-89D6-44F4-AF10-0E2BB40D23BD}" type="presOf" srcId="{12516289-D4F9-42F3-9912-C25F2B9B97FD}" destId="{A3675AE8-E636-4F95-B7B0-4EAAA0B0216C}" srcOrd="0" destOrd="0" presId="urn:microsoft.com/office/officeart/2005/8/layout/vList2"/>
    <dgm:cxn modelId="{6E088659-DA76-48B9-887D-9F312572EC45}" type="presOf" srcId="{76FF71D4-5231-41BB-ADBE-0DB7416822BD}" destId="{75642127-8105-499E-8C78-3464939271BE}" srcOrd="0" destOrd="0" presId="urn:microsoft.com/office/officeart/2005/8/layout/vList2"/>
    <dgm:cxn modelId="{CFA661C2-2F2D-483D-A3AD-5DD47C6A015C}" type="presOf" srcId="{02571A29-9FE6-4C62-BD95-7295C0DAE2A7}" destId="{EB3D0091-9205-42CB-8884-7E3A039745BE}" srcOrd="0" destOrd="0" presId="urn:microsoft.com/office/officeart/2005/8/layout/vList2"/>
    <dgm:cxn modelId="{0424FCD5-5702-4644-B002-D58D437B9578}" srcId="{0C631327-F275-41F2-B070-6ED2C36A30F9}" destId="{F074178A-4EFD-46E9-AA7F-86E7C8E75498}" srcOrd="4" destOrd="0" parTransId="{2FF5D50E-B60D-42FF-9C1E-EA0E7BF30D4A}" sibTransId="{7A180DFD-B381-4144-93CA-0F0EABA96560}"/>
    <dgm:cxn modelId="{96C47BDB-3039-472E-9018-E72D475EB75C}" srcId="{0C631327-F275-41F2-B070-6ED2C36A30F9}" destId="{460B9E09-BD42-4CEE-B32D-E28A20CBE412}" srcOrd="2" destOrd="0" parTransId="{CB101C09-539D-49F6-9230-56EF1F6CE2BA}" sibTransId="{4527C875-12AD-46B2-A6C7-67E8C686651D}"/>
    <dgm:cxn modelId="{76ED61F3-8122-4613-8558-844703681F8C}" type="presParOf" srcId="{FD015BE0-B2DE-4D0A-A4EC-C67E9D184D8C}" destId="{EB3D0091-9205-42CB-8884-7E3A039745BE}" srcOrd="0" destOrd="0" presId="urn:microsoft.com/office/officeart/2005/8/layout/vList2"/>
    <dgm:cxn modelId="{EEF65FB7-89FE-4D77-9B9E-C5B7A0667B46}" type="presParOf" srcId="{FD015BE0-B2DE-4D0A-A4EC-C67E9D184D8C}" destId="{9825B92A-8F9D-4901-938E-1C6EAA453CFC}" srcOrd="1" destOrd="0" presId="urn:microsoft.com/office/officeart/2005/8/layout/vList2"/>
    <dgm:cxn modelId="{D9517184-84F5-4859-B62A-F594DF607D6C}" type="presParOf" srcId="{FD015BE0-B2DE-4D0A-A4EC-C67E9D184D8C}" destId="{75642127-8105-499E-8C78-3464939271BE}" srcOrd="2" destOrd="0" presId="urn:microsoft.com/office/officeart/2005/8/layout/vList2"/>
    <dgm:cxn modelId="{870D27CA-545B-48F0-BC40-D55F0F081856}" type="presParOf" srcId="{FD015BE0-B2DE-4D0A-A4EC-C67E9D184D8C}" destId="{EBDB4D71-FFEA-4AFA-918D-FDFC3A7D67BE}" srcOrd="3" destOrd="0" presId="urn:microsoft.com/office/officeart/2005/8/layout/vList2"/>
    <dgm:cxn modelId="{B5A7A28C-7F93-468B-BE3B-59A23E534440}" type="presParOf" srcId="{FD015BE0-B2DE-4D0A-A4EC-C67E9D184D8C}" destId="{F813068D-1048-4945-82ED-3C657E573E24}" srcOrd="4" destOrd="0" presId="urn:microsoft.com/office/officeart/2005/8/layout/vList2"/>
    <dgm:cxn modelId="{E7B57E34-66E6-47C0-9BE1-B429F33076DB}" type="presParOf" srcId="{FD015BE0-B2DE-4D0A-A4EC-C67E9D184D8C}" destId="{DB3851D6-EF52-4672-8C0A-322143A1A3F5}" srcOrd="5" destOrd="0" presId="urn:microsoft.com/office/officeart/2005/8/layout/vList2"/>
    <dgm:cxn modelId="{E6F03762-E0A2-479E-A202-AB6D8DB19B18}" type="presParOf" srcId="{FD015BE0-B2DE-4D0A-A4EC-C67E9D184D8C}" destId="{A3675AE8-E636-4F95-B7B0-4EAAA0B0216C}" srcOrd="6" destOrd="0" presId="urn:microsoft.com/office/officeart/2005/8/layout/vList2"/>
    <dgm:cxn modelId="{07F404F6-9057-4467-94A3-89D89A970788}" type="presParOf" srcId="{FD015BE0-B2DE-4D0A-A4EC-C67E9D184D8C}" destId="{FCB87AAE-F2AB-4A3A-AC32-2ACC59F2AAF6}" srcOrd="7" destOrd="0" presId="urn:microsoft.com/office/officeart/2005/8/layout/vList2"/>
    <dgm:cxn modelId="{F788FD33-C391-4B52-834D-800B6C7F6D79}" type="presParOf" srcId="{FD015BE0-B2DE-4D0A-A4EC-C67E9D184D8C}" destId="{F96A8CB6-B8FB-4518-97F1-4B1F7648D05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D0091-9205-42CB-8884-7E3A039745BE}">
      <dsp:nvSpPr>
        <dsp:cNvPr id="0" name=""/>
        <dsp:cNvSpPr/>
      </dsp:nvSpPr>
      <dsp:spPr>
        <a:xfrm>
          <a:off x="0" y="507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 the Concept of IPO</a:t>
          </a:r>
          <a:endParaRPr lang="en-IN" sz="2400" b="1" kern="1200" dirty="0"/>
        </a:p>
      </dsp:txBody>
      <dsp:txXfrm>
        <a:off x="41965" y="42472"/>
        <a:ext cx="10431670" cy="775717"/>
      </dsp:txXfrm>
    </dsp:sp>
    <dsp:sp modelId="{75642127-8105-499E-8C78-3464939271BE}">
      <dsp:nvSpPr>
        <dsp:cNvPr id="0" name=""/>
        <dsp:cNvSpPr/>
      </dsp:nvSpPr>
      <dsp:spPr>
        <a:xfrm>
          <a:off x="0" y="873176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Understanding IPO mechanics helps investors and companies make informed capital market decisions</a:t>
          </a:r>
          <a:endParaRPr lang="en-IN" sz="2400" b="1" kern="1200" dirty="0"/>
        </a:p>
      </dsp:txBody>
      <dsp:txXfrm>
        <a:off x="41965" y="915141"/>
        <a:ext cx="10431670" cy="775717"/>
      </dsp:txXfrm>
    </dsp:sp>
    <dsp:sp modelId="{F813068D-1048-4945-82ED-3C657E573E24}">
      <dsp:nvSpPr>
        <dsp:cNvPr id="0" name=""/>
        <dsp:cNvSpPr/>
      </dsp:nvSpPr>
      <dsp:spPr>
        <a:xfrm>
          <a:off x="0" y="1745845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Analyze the critical role of IPO processing steps</a:t>
          </a:r>
          <a:endParaRPr lang="en-IN" sz="2400" b="1" kern="1200" dirty="0"/>
        </a:p>
      </dsp:txBody>
      <dsp:txXfrm>
        <a:off x="41965" y="1787810"/>
        <a:ext cx="10431670" cy="775717"/>
      </dsp:txXfrm>
    </dsp:sp>
    <dsp:sp modelId="{A3675AE8-E636-4F95-B7B0-4EAAA0B0216C}">
      <dsp:nvSpPr>
        <dsp:cNvPr id="0" name=""/>
        <dsp:cNvSpPr/>
      </dsp:nvSpPr>
      <dsp:spPr>
        <a:xfrm>
          <a:off x="0" y="2618514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Analyze the major IPO pricing methods </a:t>
          </a:r>
          <a:endParaRPr lang="en-IN" sz="2400" b="1" kern="1200" dirty="0"/>
        </a:p>
      </dsp:txBody>
      <dsp:txXfrm>
        <a:off x="41965" y="2660479"/>
        <a:ext cx="10431670" cy="775717"/>
      </dsp:txXfrm>
    </dsp:sp>
    <dsp:sp modelId="{F96A8CB6-B8FB-4518-97F1-4B1F7648D052}">
      <dsp:nvSpPr>
        <dsp:cNvPr id="0" name=""/>
        <dsp:cNvSpPr/>
      </dsp:nvSpPr>
      <dsp:spPr>
        <a:xfrm>
          <a:off x="0" y="3491183"/>
          <a:ext cx="10515600" cy="8596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Understanding the concept of Underpricing of IPO</a:t>
          </a:r>
          <a:endParaRPr lang="en-IN" sz="2400" b="1" kern="1200" dirty="0"/>
        </a:p>
      </dsp:txBody>
      <dsp:txXfrm>
        <a:off x="41965" y="3533148"/>
        <a:ext cx="10431670" cy="775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D47A8-860D-42C0-BCC3-93D50B34CC3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A92D0-7059-49CE-9F37-F35901C0CC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01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960E-B987-3EEC-4B1F-D259525D3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AB9DC-8E03-4A30-A0E1-EBE6A4DE1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6AB1-7D3E-564F-C047-5B8833EB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3B78-786F-4E6E-8666-78832934A890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6E963-235E-6705-7964-B814C0B8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E6FC-35BB-31BE-F177-1F132AE9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E205-E70B-67B3-852F-04D7A33A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BAC5-EAB8-4D2F-5D74-B1A672F5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B1A43-753E-4D1B-0CAC-D32F1E1C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CE96-A11F-49A1-B16B-3D3935A10848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F7200-CA39-6F81-7693-C877EA80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E6B1-995E-0310-520E-72C769C0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7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9078-E860-B307-F362-C177EB1A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A32EA-FA8C-C7E2-F325-01C50D08A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49A0-23B3-1331-1D82-FA2D2FF4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464DB-C810-45F2-8458-B36FC4A32E7B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C6A1F-4281-3BB3-D993-5CF88403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A57CE-13EB-65FB-2DE3-D95A9372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7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52C8-4EC6-6165-3746-56081059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835C-27B5-3C89-BDC9-3214731A5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1F810-3E7D-5D06-D74C-3BE5C4E64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356F5-51DC-2AFE-C8BA-FEAD2C33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FDBD-22B3-433E-9DDD-320B8EFAAB29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890DE-9A9E-C533-86B5-ACDA8394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32EA-9272-E415-C1E9-C03CCC13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6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1514-2ED9-2647-D1AD-6F3DD320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DDC86-6317-66FB-E110-69F0C1F17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5AC76-E8E2-3D15-3F80-00ED4FB77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98E9E-66BF-D9BE-B153-705081DC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135D3-51B6-4B7C-7980-5C05C6EAA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719EC-D28D-9C5B-0721-1BC2EA73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B1B7-85C1-4255-A90A-91B75F548DBB}" type="datetime1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86A6F-BC18-2199-3ECB-2DAC0274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8278-7A41-4F39-85D3-67FBCDD4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9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F65C-8A50-CBD6-37E1-F145EE92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07E9F-1B10-FAD0-1C7D-53DC7522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7D5B-8FAA-4A49-B0A4-617DBDDF9C8B}" type="datetime1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26A4B-E916-BC3C-1F48-06ADFE12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203EC-EBD5-5C2C-9E25-A1A6D63F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9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7FE6C-6B99-46A5-CD99-994AA1D1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1DF84-FA69-4E4F-93B4-21AEC01515F4}" type="datetime1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C4399-E50D-E740-3F18-8CC590AF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0DE69-3292-DAB5-8989-C4420CCA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1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CB06-FF57-2F2C-2D55-87E61F53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464A-72FC-D46D-847F-311CCA0F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2A721-AF83-8A29-FB82-6D32A05B5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C46DA-B084-4AD0-A587-5E84028C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6A01-2E27-4FB1-ACFB-2789EA54122C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A3475-4C80-1324-B634-C8C62CBC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263F0-1313-6CA2-A93B-DCD76EA3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618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B260-0148-2C1F-4DE3-4E31F7CD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129E2-6D8F-2EBD-E568-5EB7839B7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26BFB-C979-87B0-8E6B-88562559F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EBF9C-F1A3-8020-89E3-AC473346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EA533-8243-4BE1-800D-0782B6852390}" type="datetime1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0FD8B-283D-3D13-AB91-0A966FA9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6D6B8-8D1A-59C3-A2E5-A35C2AE0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8F9E-B20F-DDFE-282A-FC389BBC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C1EF-2A56-B080-904A-70E978107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E56D-8B7F-F2F7-7E2E-5DAF189E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322F8-1A14-4B7B-97EA-E08AD1B7D268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7BB35-A699-42AD-E9DA-524DD8F1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D6A75-599F-2E64-B5EA-91092264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87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DE496-3372-67ED-B439-B8512FA38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187E2-2B7D-7913-4E8A-99456DA46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B498E-1751-0304-4D06-66C010EB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84B7-8B16-4A7B-B619-A4062E6CA3C6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790F-8FAE-474A-15BB-A04C7B46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9872-1EC9-12F0-3A83-364FB0F9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18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1027D-367D-D084-C8E6-C7B0D2E1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F4BBE-4D6F-0A2E-3A7A-8502EFC9A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41D72-1E4A-E8A8-891F-BA9E326C2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497FB-8743-4424-90E6-C4959E6E00D0}" type="datetime1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091A7-1418-2460-3813-076BAB65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E441A-0104-49C9-88C4-FDB9DF305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B8923-622D-4042-83D5-F58F36E54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4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2E4C7F-93B9-0C43-73FA-03D64E2C5467}"/>
              </a:ext>
            </a:extLst>
          </p:cNvPr>
          <p:cNvSpPr txBox="1">
            <a:spLocks/>
          </p:cNvSpPr>
          <p:nvPr/>
        </p:nvSpPr>
        <p:spPr>
          <a:xfrm>
            <a:off x="0" y="264540"/>
            <a:ext cx="12192000" cy="5943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  <a:cs typeface="Arial" panose="020B0604020202020204" pitchFamily="34" charset="0"/>
              </a:rPr>
              <a:t>Initial Public Offerings(IPOs)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78479D-BAC5-DA40-257A-54E350168ACE}"/>
              </a:ext>
            </a:extLst>
          </p:cNvPr>
          <p:cNvSpPr txBox="1">
            <a:spLocks/>
          </p:cNvSpPr>
          <p:nvPr/>
        </p:nvSpPr>
        <p:spPr>
          <a:xfrm>
            <a:off x="0" y="3684040"/>
            <a:ext cx="12192000" cy="286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Financial Management </a:t>
            </a:r>
          </a:p>
          <a:p>
            <a:r>
              <a:rPr lang="en-IN" dirty="0"/>
              <a:t>Code – HS4L003</a:t>
            </a:r>
          </a:p>
          <a:p>
            <a:r>
              <a:rPr lang="en-IN" b="1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and Management</a:t>
            </a: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01295D1-0905-2E9E-299B-21DE9E7CEB2D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BCF508-C8DC-2C74-D6A2-EAF468E5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806765-B78A-A3C5-A5D0-A106E4BF8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970" y="1214611"/>
            <a:ext cx="2062060" cy="189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942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3A5CBD-CA71-F5D6-DADA-042DFB9B8A0D}"/>
              </a:ext>
            </a:extLst>
          </p:cNvPr>
          <p:cNvSpPr txBox="1">
            <a:spLocks/>
          </p:cNvSpPr>
          <p:nvPr/>
        </p:nvSpPr>
        <p:spPr>
          <a:xfrm>
            <a:off x="490728" y="1161287"/>
            <a:ext cx="10911840" cy="5477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Meaning of Initial Public Offering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Why do companies go public?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Key parties involved in IPO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Steps of IPO process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Major pricing methods and  IPO pricing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Benefits of IPO and Disadvantages of IPO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Underpricing of IPO (Reasons, advantages, and disadvantages)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Major risk to be remembered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C818AD-97C7-6F33-41F3-06FC6ADE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2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D2AED-9BA8-ACA1-6FD6-EDDC2C701D85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F7A3F91-80D6-71C6-4EB3-F680300A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0"/>
            <a:ext cx="10515600" cy="75895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n-lt"/>
              </a:rPr>
              <a:t>Contents: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976782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848CC79-3B14-2827-109C-4FB8D9896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707429"/>
              </p:ext>
            </p:extLst>
          </p:nvPr>
        </p:nvGraphicFramePr>
        <p:xfrm>
          <a:off x="838200" y="135013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8779FB-C2F2-04E2-E3BB-D193E26E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mtClean="0"/>
              <a:t>3</a:t>
            </a:fld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D1D4A-5512-8EBA-C736-76686DD13A4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2EE8A5-98C0-3C9C-FAA6-7F82FB01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1"/>
            <a:ext cx="10515600" cy="685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n-lt"/>
              </a:rPr>
              <a:t>Learning Outcomes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019535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C353-2B2F-4B41-031A-ACC6653F1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72" y="925902"/>
            <a:ext cx="10916728" cy="525106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Meaning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 </a:t>
            </a:r>
            <a:r>
              <a:rPr lang="en-US" sz="2000" b="1" dirty="0"/>
              <a:t>Initial Public Offering (IPO)</a:t>
            </a:r>
            <a:r>
              <a:rPr lang="en-US" sz="2000" dirty="0"/>
              <a:t> is when a privately-held company offers its shares to the public for the first time and becomes listed on a stock exchange.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firm converts some (or all) of its ownership into tradable shares so outside investors can buy them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An IPO is the first sale of shares by a privately held company to general public investors, institutional investors, and high-net-worth individuals. Through this process, the company raises funds for purposes such as business expansion, repaying loans, future capital needs, or allowing initial investors to monetize their stake.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FA5D8-B22C-9D4A-8C94-383538A6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4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10FFA-AD0B-E987-D736-2A4B1AC59AE7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Initial public offering (IPO)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1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B10F-C6F5-7F31-6783-2F72EAF7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3DC6-8E79-0226-B8B6-BE7CFF7D5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11" y="1000664"/>
            <a:ext cx="10979989" cy="517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Raise capital</a:t>
            </a:r>
            <a:r>
              <a:rPr lang="en-US" sz="2000" dirty="0"/>
              <a:t> to fund growth, pay debt, finance acquisitions, or invest in R&amp;D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Create liquidity</a:t>
            </a:r>
            <a:r>
              <a:rPr lang="en-US" sz="2000" dirty="0"/>
              <a:t> for founders, early investors, and employees (so they can sell shares later)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Improve credibility &amp; visibility</a:t>
            </a:r>
            <a:r>
              <a:rPr lang="en-US" sz="2000" dirty="0"/>
              <a:t> — public firms gain brand recognition and easier access to capital markets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Use stock as currency</a:t>
            </a:r>
            <a:r>
              <a:rPr lang="en-US" sz="2000" dirty="0"/>
              <a:t> for acquisitions or employee compensation (stock options)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Trade-offs: </a:t>
            </a:r>
            <a:r>
              <a:rPr lang="en-US" sz="2000" dirty="0"/>
              <a:t>public companies face more disclosure, regulation, and short-term market pressure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Facilitates future mergers and acquisitions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 Allows for a wider choice of financing alternatives and enhances ability to borrow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0C1A-85FE-FB42-C2B4-35F5C4C7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4C73E-085F-6D23-1748-F9382C0E2AB9}"/>
              </a:ext>
            </a:extLst>
          </p:cNvPr>
          <p:cNvSpPr/>
          <p:nvPr/>
        </p:nvSpPr>
        <p:spPr>
          <a:xfrm>
            <a:off x="0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Why do companies go public?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363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893-1250-084D-E06A-030A9A6C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9420"/>
            <a:ext cx="10744201" cy="514754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900" b="1" dirty="0"/>
              <a:t>Issuing company/promoters</a:t>
            </a:r>
          </a:p>
          <a:p>
            <a:pPr>
              <a:lnSpc>
                <a:spcPct val="160000"/>
              </a:lnSpc>
            </a:pPr>
            <a:r>
              <a:rPr lang="en-US" dirty="0"/>
              <a:t>In an Initial Public Offering (IPO), the issuing company (also called the issuer) .</a:t>
            </a:r>
          </a:p>
          <a:p>
            <a:pPr>
              <a:lnSpc>
                <a:spcPct val="160000"/>
              </a:lnSpc>
            </a:pPr>
            <a:r>
              <a:rPr lang="en-US" dirty="0"/>
              <a:t>They initiate, coordinate, and authorize every stage of the transition from being a private entity to becoming a publicly traded company. </a:t>
            </a:r>
          </a:p>
          <a:p>
            <a:pPr>
              <a:lnSpc>
                <a:spcPct val="160000"/>
              </a:lnSpc>
            </a:pPr>
            <a:r>
              <a:rPr lang="en-US" dirty="0"/>
              <a:t>Their responsibilities span strategic, financial, regulatory, and communication functions throughout the IPO lifecycle.</a:t>
            </a:r>
            <a:endParaRPr lang="en-US" sz="2900" dirty="0"/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900" b="1" dirty="0"/>
              <a:t>Lead underwriter/investment banks</a:t>
            </a:r>
            <a:r>
              <a:rPr lang="en-US" sz="2900" dirty="0"/>
              <a:t> </a:t>
            </a:r>
          </a:p>
          <a:p>
            <a:pPr>
              <a:lnSpc>
                <a:spcPct val="160000"/>
              </a:lnSpc>
            </a:pPr>
            <a:r>
              <a:rPr lang="en-US" altLang="en-US" sz="2900" dirty="0"/>
              <a:t>An underwriter is an investment firm that acts as an intermediary between a company selling securities and the investing public</a:t>
            </a:r>
          </a:p>
          <a:p>
            <a:pPr>
              <a:lnSpc>
                <a:spcPct val="160000"/>
              </a:lnSpc>
            </a:pPr>
            <a:endParaRPr lang="en-US" altLang="en-US" sz="29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569CE-832F-060C-317A-D9300B6A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6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18B81-6BC9-7D45-F10A-B922864777A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615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F2EC7-C2FE-91E3-512D-45D8D305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00664"/>
            <a:ext cx="10744200" cy="517629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en-US" sz="2000" dirty="0"/>
              <a:t>The underwriter is the principal player in the IPO</a:t>
            </a:r>
          </a:p>
          <a:p>
            <a:pPr>
              <a:lnSpc>
                <a:spcPct val="160000"/>
              </a:lnSpc>
            </a:pPr>
            <a:r>
              <a:rPr lang="en-US" altLang="en-US" sz="2000" dirty="0"/>
              <a:t>Typically, the underwriter buys the securities for less than the offering price and accepts the risk of not being able to sell them, manage the offering, stabilize the price, and </a:t>
            </a:r>
            <a:r>
              <a:rPr lang="en-US" sz="2000" dirty="0"/>
              <a:t>allocate shares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en-US" sz="2000" b="1" dirty="0"/>
              <a:t>Types of Underwriting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Firm commitment underwriting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000" dirty="0"/>
              <a:t>The underwriter buys the entire issue, assuming full financial responsibility for any unsold shares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Best efforts underwriting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000" dirty="0"/>
              <a:t>The underwriter sells as much of the issue as possible, but can return any unsold shares to the issuer without financial responsibility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FF353-411B-B67E-A0E2-B00840C4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43CD-BC1A-1C48-4E6C-BD2F2552FBE9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439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AE2F2-5A05-18B9-9ADE-02B42DAB9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57" y="1029419"/>
            <a:ext cx="10703943" cy="5147544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Regulators &amp; stock exchange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200" dirty="0"/>
              <a:t>  Securities regulators, such as SEBI (India) or the SEC- </a:t>
            </a:r>
            <a:r>
              <a:rPr lang="en-IN" sz="2200" dirty="0"/>
              <a:t>Securities and Exchange Commission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200" dirty="0"/>
              <a:t>(U.S.), along with stock exchanges like the NYSE- </a:t>
            </a:r>
            <a:r>
              <a:rPr lang="en-IN" sz="2200" dirty="0"/>
              <a:t>New York Stock Exchange and </a:t>
            </a:r>
            <a:r>
              <a:rPr lang="en-US" sz="2200" dirty="0"/>
              <a:t>NSE/BSE.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Ensure rules and disclosures. Review and approve the prospectus to ensure all material information is disclosed.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Enforce investor protection laws and verify compliance with listing and disclosure requirements.</a:t>
            </a:r>
          </a:p>
          <a:p>
            <a:pPr lvl="1">
              <a:lnSpc>
                <a:spcPct val="160000"/>
              </a:lnSpc>
            </a:pPr>
            <a:r>
              <a:rPr lang="en-US" sz="2200" dirty="0"/>
              <a:t>The stock exchange lists the shares, provides an electronic platform for trading, and ensures the issuer meets listing standards (minimum capital, governance, etc.).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F8B03-F351-4F78-9102-00933E2C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6BAAF-AD9E-ED29-AEFB-4CCDC386AECE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500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6730-5566-731F-B05F-8C3E227E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09" y="1006416"/>
            <a:ext cx="10686691" cy="51705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Lawyers &amp; auditors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Prepare legal/financial disclosures.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Ensure legal compliance and draft the prospectus and other SEC/SEBI filings.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Conduct due diligence to confirm there are no material misstatements or omissions.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Review contracts, intellectual property rights, and corporate governance structures.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Institutional &amp; retail investors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Institutional investors</a:t>
            </a:r>
            <a:r>
              <a:rPr lang="en-US" sz="2000" dirty="0"/>
              <a:t>:  Pension funds, mutual funds, insurance companies, and hedge funds that buy large blocks of shares during the offering.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1FF84-6298-25BA-9C31-DCEA67D6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EB153F-53A5-E9A6-B2B5-EC924CD3D19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31162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4757-BCFE-8291-CCE6-77A0E3E2F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13" y="1259457"/>
            <a:ext cx="10663687" cy="49175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Their demand helps determine the IPO price through a process called book building.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They often get priority allocations due to their scale and reliability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Retail investors: </a:t>
            </a:r>
            <a:r>
              <a:rPr lang="en-US" sz="2000" dirty="0"/>
              <a:t>Individual investors applying for smaller quantities of shares.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Provide breadth of participation in the market.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Usually receive a smaller portion of the allocation, but their enthusiasm can drive aftermarket performance.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BAAE3-FAFF-0C0C-C26E-1B277619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20E86-99B2-43B2-6B71-73541D2ACDC0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174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D6D2-1809-7F6C-55D2-9338AD10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075426"/>
            <a:ext cx="10818962" cy="51015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Market makers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Brokerage firms or dealer banks are authorized to continuously buy and sell an issuer’s shares on the exchange.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Provide liquidity and ensure that the new shares can always be bought or sold at market prices.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Help stabilize the stock price in early trading, especially if the IPO is volatile.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lead underwriter sometimes acts as a market maker during the initial period after listing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0B818-26D1-584B-D849-F4C0C418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95834-D986-233B-ABBE-B72C3FD44C5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Key parties involved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155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81403-D44D-7E94-92D1-85FD827D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12</a:t>
            </a:fld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284C21-9DFC-D5D3-D926-760D0A373FF4}"/>
              </a:ext>
            </a:extLst>
          </p:cNvPr>
          <p:cNvGrpSpPr/>
          <p:nvPr/>
        </p:nvGrpSpPr>
        <p:grpSpPr>
          <a:xfrm>
            <a:off x="1679275" y="1282461"/>
            <a:ext cx="8931216" cy="5073889"/>
            <a:chOff x="0" y="0"/>
            <a:chExt cx="9445287" cy="5486336"/>
          </a:xfrm>
        </p:grpSpPr>
        <p:sp>
          <p:nvSpPr>
            <p:cNvPr id="6" name="Shape 1607">
              <a:extLst>
                <a:ext uri="{FF2B5EF4-FFF2-40B4-BE49-F238E27FC236}">
                  <a16:creationId xmlns:a16="http://schemas.microsoft.com/office/drawing/2014/main" id="{C9B1C3D3-228E-FE70-7412-BDEFB5516118}"/>
                </a:ext>
              </a:extLst>
            </p:cNvPr>
            <p:cNvSpPr/>
            <p:nvPr/>
          </p:nvSpPr>
          <p:spPr>
            <a:xfrm>
              <a:off x="457200" y="4800537"/>
              <a:ext cx="7924800" cy="0"/>
            </a:xfrm>
            <a:custGeom>
              <a:avLst/>
              <a:gdLst/>
              <a:ahLst/>
              <a:cxnLst/>
              <a:rect l="0" t="0" r="0" b="0"/>
              <a:pathLst>
                <a:path w="792480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ln w="12700" cap="flat">
              <a:round/>
            </a:ln>
          </p:spPr>
          <p:style>
            <a:lnRef idx="1">
              <a:srgbClr val="CC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Shape 28467">
              <a:extLst>
                <a:ext uri="{FF2B5EF4-FFF2-40B4-BE49-F238E27FC236}">
                  <a16:creationId xmlns:a16="http://schemas.microsoft.com/office/drawing/2014/main" id="{F59C6734-D135-3159-4A2C-BA0485CFAB2C}"/>
                </a:ext>
              </a:extLst>
            </p:cNvPr>
            <p:cNvSpPr/>
            <p:nvPr/>
          </p:nvSpPr>
          <p:spPr>
            <a:xfrm>
              <a:off x="76200" y="638111"/>
              <a:ext cx="8686800" cy="4848225"/>
            </a:xfrm>
            <a:custGeom>
              <a:avLst/>
              <a:gdLst/>
              <a:ahLst/>
              <a:cxnLst/>
              <a:rect l="0" t="0" r="0" b="0"/>
              <a:pathLst>
                <a:path w="8686800" h="4848225">
                  <a:moveTo>
                    <a:pt x="0" y="0"/>
                  </a:moveTo>
                  <a:lnTo>
                    <a:pt x="8686800" y="0"/>
                  </a:lnTo>
                  <a:lnTo>
                    <a:pt x="8686800" y="4848225"/>
                  </a:lnTo>
                  <a:lnTo>
                    <a:pt x="0" y="4848225"/>
                  </a:lnTo>
                  <a:lnTo>
                    <a:pt x="0" y="0"/>
                  </a:lnTo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DDDD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Shape 1612">
              <a:extLst>
                <a:ext uri="{FF2B5EF4-FFF2-40B4-BE49-F238E27FC236}">
                  <a16:creationId xmlns:a16="http://schemas.microsoft.com/office/drawing/2014/main" id="{1C77B7A4-822D-5058-DAEE-25F98C2D49B7}"/>
                </a:ext>
              </a:extLst>
            </p:cNvPr>
            <p:cNvSpPr/>
            <p:nvPr/>
          </p:nvSpPr>
          <p:spPr>
            <a:xfrm>
              <a:off x="0" y="0"/>
              <a:ext cx="1930146" cy="5077587"/>
            </a:xfrm>
            <a:custGeom>
              <a:avLst/>
              <a:gdLst/>
              <a:ahLst/>
              <a:cxnLst/>
              <a:rect l="0" t="0" r="0" b="0"/>
              <a:pathLst>
                <a:path w="1930146" h="5077587">
                  <a:moveTo>
                    <a:pt x="0" y="5077587"/>
                  </a:moveTo>
                  <a:lnTo>
                    <a:pt x="1930146" y="5077587"/>
                  </a:lnTo>
                  <a:lnTo>
                    <a:pt x="193014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Shape 28468">
              <a:extLst>
                <a:ext uri="{FF2B5EF4-FFF2-40B4-BE49-F238E27FC236}">
                  <a16:creationId xmlns:a16="http://schemas.microsoft.com/office/drawing/2014/main" id="{A5EC42DE-69FD-46F8-5A41-83967ACE97D4}"/>
                </a:ext>
              </a:extLst>
            </p:cNvPr>
            <p:cNvSpPr/>
            <p:nvPr/>
          </p:nvSpPr>
          <p:spPr>
            <a:xfrm>
              <a:off x="85065" y="207764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Shape 1614">
              <a:extLst>
                <a:ext uri="{FF2B5EF4-FFF2-40B4-BE49-F238E27FC236}">
                  <a16:creationId xmlns:a16="http://schemas.microsoft.com/office/drawing/2014/main" id="{E47604DD-642A-5274-954C-1DA36BD3F349}"/>
                </a:ext>
              </a:extLst>
            </p:cNvPr>
            <p:cNvSpPr/>
            <p:nvPr/>
          </p:nvSpPr>
          <p:spPr>
            <a:xfrm>
              <a:off x="85065" y="207764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9015E8-172E-3C78-4DF1-93AC33DE3D70}"/>
                </a:ext>
              </a:extLst>
            </p:cNvPr>
            <p:cNvSpPr/>
            <p:nvPr/>
          </p:nvSpPr>
          <p:spPr>
            <a:xfrm>
              <a:off x="427025" y="2324179"/>
              <a:ext cx="142329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Due diligence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2" name="Shape 28469">
              <a:extLst>
                <a:ext uri="{FF2B5EF4-FFF2-40B4-BE49-F238E27FC236}">
                  <a16:creationId xmlns:a16="http://schemas.microsoft.com/office/drawing/2014/main" id="{A648AC80-EC68-E238-4373-209849B17AB2}"/>
                </a:ext>
              </a:extLst>
            </p:cNvPr>
            <p:cNvSpPr/>
            <p:nvPr/>
          </p:nvSpPr>
          <p:spPr>
            <a:xfrm>
              <a:off x="85065" y="1101268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Shape 1617">
              <a:extLst>
                <a:ext uri="{FF2B5EF4-FFF2-40B4-BE49-F238E27FC236}">
                  <a16:creationId xmlns:a16="http://schemas.microsoft.com/office/drawing/2014/main" id="{882D1483-06A8-9784-36A4-D35D68A62E74}"/>
                </a:ext>
              </a:extLst>
            </p:cNvPr>
            <p:cNvSpPr/>
            <p:nvPr/>
          </p:nvSpPr>
          <p:spPr>
            <a:xfrm>
              <a:off x="85065" y="1101268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B0A6C9-599B-2BAA-F341-F4E6E57FB011}"/>
                </a:ext>
              </a:extLst>
            </p:cNvPr>
            <p:cNvSpPr/>
            <p:nvPr/>
          </p:nvSpPr>
          <p:spPr>
            <a:xfrm>
              <a:off x="350825" y="1129617"/>
              <a:ext cx="1685368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Appointment of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C09C45-1734-3A6C-77FF-A7302CF7D0F7}"/>
                </a:ext>
              </a:extLst>
            </p:cNvPr>
            <p:cNvSpPr/>
            <p:nvPr/>
          </p:nvSpPr>
          <p:spPr>
            <a:xfrm>
              <a:off x="343205" y="1347549"/>
              <a:ext cx="1708572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BRLM and legal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5C55FD-4B54-D4A3-F77A-32060C87ECEB}"/>
                </a:ext>
              </a:extLst>
            </p:cNvPr>
            <p:cNvSpPr/>
            <p:nvPr/>
          </p:nvSpPr>
          <p:spPr>
            <a:xfrm>
              <a:off x="651053" y="1565481"/>
              <a:ext cx="82663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counsel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7" name="Shape 28470">
              <a:extLst>
                <a:ext uri="{FF2B5EF4-FFF2-40B4-BE49-F238E27FC236}">
                  <a16:creationId xmlns:a16="http://schemas.microsoft.com/office/drawing/2014/main" id="{18AFF53D-1CF6-8EA3-A54C-BE85D1C2388B}"/>
                </a:ext>
              </a:extLst>
            </p:cNvPr>
            <p:cNvSpPr/>
            <p:nvPr/>
          </p:nvSpPr>
          <p:spPr>
            <a:xfrm>
              <a:off x="85065" y="3054020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Shape 1622">
              <a:extLst>
                <a:ext uri="{FF2B5EF4-FFF2-40B4-BE49-F238E27FC236}">
                  <a16:creationId xmlns:a16="http://schemas.microsoft.com/office/drawing/2014/main" id="{3C336FF7-80B7-BAF1-881F-7EEEC1356952}"/>
                </a:ext>
              </a:extLst>
            </p:cNvPr>
            <p:cNvSpPr/>
            <p:nvPr/>
          </p:nvSpPr>
          <p:spPr>
            <a:xfrm>
              <a:off x="85065" y="3054020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C59119-83E7-3CDA-A784-132A5D4EBB18}"/>
                </a:ext>
              </a:extLst>
            </p:cNvPr>
            <p:cNvSpPr/>
            <p:nvPr/>
          </p:nvSpPr>
          <p:spPr>
            <a:xfrm>
              <a:off x="329489" y="3191589"/>
              <a:ext cx="1745081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Drafting of Draft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44A187-754B-4D3C-0267-D2A375B0A3F9}"/>
                </a:ext>
              </a:extLst>
            </p:cNvPr>
            <p:cNvSpPr/>
            <p:nvPr/>
          </p:nvSpPr>
          <p:spPr>
            <a:xfrm>
              <a:off x="491033" y="3409521"/>
              <a:ext cx="125260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Red Herring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Shape 28471">
              <a:extLst>
                <a:ext uri="{FF2B5EF4-FFF2-40B4-BE49-F238E27FC236}">
                  <a16:creationId xmlns:a16="http://schemas.microsoft.com/office/drawing/2014/main" id="{6DB72B0B-A4F5-C412-4B9D-9AFD98914E5C}"/>
                </a:ext>
              </a:extLst>
            </p:cNvPr>
            <p:cNvSpPr/>
            <p:nvPr/>
          </p:nvSpPr>
          <p:spPr>
            <a:xfrm>
              <a:off x="85065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Shape 1626">
              <a:extLst>
                <a:ext uri="{FF2B5EF4-FFF2-40B4-BE49-F238E27FC236}">
                  <a16:creationId xmlns:a16="http://schemas.microsoft.com/office/drawing/2014/main" id="{5E7941A5-7183-9F1E-2E90-F4947FFC8B56}"/>
                </a:ext>
              </a:extLst>
            </p:cNvPr>
            <p:cNvSpPr/>
            <p:nvPr/>
          </p:nvSpPr>
          <p:spPr>
            <a:xfrm>
              <a:off x="85065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A876FE2-46B2-A78C-BC7D-89F28622844C}"/>
                </a:ext>
              </a:extLst>
            </p:cNvPr>
            <p:cNvSpPr/>
            <p:nvPr/>
          </p:nvSpPr>
          <p:spPr>
            <a:xfrm>
              <a:off x="254813" y="4168168"/>
              <a:ext cx="194149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Filing with SEBI &amp;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C410B5-33FB-5FD2-FA03-6759F4226EA7}"/>
                </a:ext>
              </a:extLst>
            </p:cNvPr>
            <p:cNvSpPr/>
            <p:nvPr/>
          </p:nvSpPr>
          <p:spPr>
            <a:xfrm>
              <a:off x="280721" y="4386100"/>
              <a:ext cx="1814304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Stock Exchanges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Shape 28472">
              <a:extLst>
                <a:ext uri="{FF2B5EF4-FFF2-40B4-BE49-F238E27FC236}">
                  <a16:creationId xmlns:a16="http://schemas.microsoft.com/office/drawing/2014/main" id="{16414762-DF08-6A9B-49D0-B00DA66C9CB8}"/>
                </a:ext>
              </a:extLst>
            </p:cNvPr>
            <p:cNvSpPr/>
            <p:nvPr/>
          </p:nvSpPr>
          <p:spPr>
            <a:xfrm>
              <a:off x="3770503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Shape 1630">
              <a:extLst>
                <a:ext uri="{FF2B5EF4-FFF2-40B4-BE49-F238E27FC236}">
                  <a16:creationId xmlns:a16="http://schemas.microsoft.com/office/drawing/2014/main" id="{D8B5B7CE-E302-5BA5-7EA8-15B37CC5A0D9}"/>
                </a:ext>
              </a:extLst>
            </p:cNvPr>
            <p:cNvSpPr/>
            <p:nvPr/>
          </p:nvSpPr>
          <p:spPr>
            <a:xfrm>
              <a:off x="3770503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14905A-1165-6D74-3055-3CBA2BC9F8FF}"/>
                </a:ext>
              </a:extLst>
            </p:cNvPr>
            <p:cNvSpPr/>
            <p:nvPr/>
          </p:nvSpPr>
          <p:spPr>
            <a:xfrm>
              <a:off x="3893566" y="4184932"/>
              <a:ext cx="1676794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SEBI Clearance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420A4CB-0DBB-5E37-0173-029D9C1A064F}"/>
                </a:ext>
              </a:extLst>
            </p:cNvPr>
            <p:cNvSpPr/>
            <p:nvPr/>
          </p:nvSpPr>
          <p:spPr>
            <a:xfrm>
              <a:off x="3994150" y="4383052"/>
              <a:ext cx="141060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&amp; ROC Filing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9" name="Shape 28473">
              <a:extLst>
                <a:ext uri="{FF2B5EF4-FFF2-40B4-BE49-F238E27FC236}">
                  <a16:creationId xmlns:a16="http://schemas.microsoft.com/office/drawing/2014/main" id="{E8B85EDB-BB1B-1101-C0E4-E0245A960E28}"/>
                </a:ext>
              </a:extLst>
            </p:cNvPr>
            <p:cNvSpPr/>
            <p:nvPr/>
          </p:nvSpPr>
          <p:spPr>
            <a:xfrm>
              <a:off x="2075434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1634">
              <a:extLst>
                <a:ext uri="{FF2B5EF4-FFF2-40B4-BE49-F238E27FC236}">
                  <a16:creationId xmlns:a16="http://schemas.microsoft.com/office/drawing/2014/main" id="{636268AD-99DA-3860-5E48-725F1F33B24F}"/>
                </a:ext>
              </a:extLst>
            </p:cNvPr>
            <p:cNvSpPr/>
            <p:nvPr/>
          </p:nvSpPr>
          <p:spPr>
            <a:xfrm>
              <a:off x="2075434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70FFD0-412C-E13E-4550-1A48069BF134}"/>
                </a:ext>
              </a:extLst>
            </p:cNvPr>
            <p:cNvSpPr/>
            <p:nvPr/>
          </p:nvSpPr>
          <p:spPr>
            <a:xfrm>
              <a:off x="2256155" y="4277286"/>
              <a:ext cx="35276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7E21AE-DCCC-4B70-32AD-F8F32B44DF03}"/>
                </a:ext>
              </a:extLst>
            </p:cNvPr>
            <p:cNvSpPr/>
            <p:nvPr/>
          </p:nvSpPr>
          <p:spPr>
            <a:xfrm>
              <a:off x="2521331" y="4277286"/>
              <a:ext cx="72898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-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34665B4-B827-B942-6DE8-742CC9A7B684}"/>
                </a:ext>
              </a:extLst>
            </p:cNvPr>
            <p:cNvSpPr/>
            <p:nvPr/>
          </p:nvSpPr>
          <p:spPr>
            <a:xfrm>
              <a:off x="2576195" y="4277286"/>
              <a:ext cx="1035870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Marketing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4" name="Shape 28474">
              <a:extLst>
                <a:ext uri="{FF2B5EF4-FFF2-40B4-BE49-F238E27FC236}">
                  <a16:creationId xmlns:a16="http://schemas.microsoft.com/office/drawing/2014/main" id="{D78C2292-47C9-6286-8C50-D31D67F5274B}"/>
                </a:ext>
              </a:extLst>
            </p:cNvPr>
            <p:cNvSpPr/>
            <p:nvPr/>
          </p:nvSpPr>
          <p:spPr>
            <a:xfrm>
              <a:off x="85065" y="124892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Shape 1639">
              <a:extLst>
                <a:ext uri="{FF2B5EF4-FFF2-40B4-BE49-F238E27FC236}">
                  <a16:creationId xmlns:a16="http://schemas.microsoft.com/office/drawing/2014/main" id="{9D651C03-B71D-27EE-43BF-9BB2ABBD4930}"/>
                </a:ext>
              </a:extLst>
            </p:cNvPr>
            <p:cNvSpPr/>
            <p:nvPr/>
          </p:nvSpPr>
          <p:spPr>
            <a:xfrm>
              <a:off x="85065" y="124892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985B8A-63A9-0AC9-905B-00DF3A2766CF}"/>
                </a:ext>
              </a:extLst>
            </p:cNvPr>
            <p:cNvSpPr/>
            <p:nvPr/>
          </p:nvSpPr>
          <p:spPr>
            <a:xfrm>
              <a:off x="259385" y="261826"/>
              <a:ext cx="193120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Decision to go for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DFAAFF-C436-139C-F346-08F44070675D}"/>
                </a:ext>
              </a:extLst>
            </p:cNvPr>
            <p:cNvSpPr/>
            <p:nvPr/>
          </p:nvSpPr>
          <p:spPr>
            <a:xfrm>
              <a:off x="820217" y="479758"/>
              <a:ext cx="377043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IPO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Shape 1642">
              <a:extLst>
                <a:ext uri="{FF2B5EF4-FFF2-40B4-BE49-F238E27FC236}">
                  <a16:creationId xmlns:a16="http://schemas.microsoft.com/office/drawing/2014/main" id="{F4B2518E-D7AB-59DD-324A-5B02F730A656}"/>
                </a:ext>
              </a:extLst>
            </p:cNvPr>
            <p:cNvSpPr/>
            <p:nvPr/>
          </p:nvSpPr>
          <p:spPr>
            <a:xfrm>
              <a:off x="851599" y="806514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Shape 1643">
              <a:extLst>
                <a:ext uri="{FF2B5EF4-FFF2-40B4-BE49-F238E27FC236}">
                  <a16:creationId xmlns:a16="http://schemas.microsoft.com/office/drawing/2014/main" id="{3D96F1DB-DFD6-912F-2575-E1A612C1932C}"/>
                </a:ext>
              </a:extLst>
            </p:cNvPr>
            <p:cNvSpPr/>
            <p:nvPr/>
          </p:nvSpPr>
          <p:spPr>
            <a:xfrm>
              <a:off x="851599" y="1782890"/>
              <a:ext cx="222250" cy="295529"/>
            </a:xfrm>
            <a:custGeom>
              <a:avLst/>
              <a:gdLst/>
              <a:ahLst/>
              <a:cxnLst/>
              <a:rect l="0" t="0" r="0" b="0"/>
              <a:pathLst>
                <a:path w="222250" h="295529">
                  <a:moveTo>
                    <a:pt x="88900" y="0"/>
                  </a:moveTo>
                  <a:lnTo>
                    <a:pt x="133350" y="0"/>
                  </a:lnTo>
                  <a:lnTo>
                    <a:pt x="133350" y="206629"/>
                  </a:lnTo>
                  <a:lnTo>
                    <a:pt x="222250" y="206629"/>
                  </a:lnTo>
                  <a:lnTo>
                    <a:pt x="111125" y="295529"/>
                  </a:lnTo>
                  <a:lnTo>
                    <a:pt x="0" y="206629"/>
                  </a:lnTo>
                  <a:lnTo>
                    <a:pt x="88900" y="206629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Shape 1644">
              <a:extLst>
                <a:ext uri="{FF2B5EF4-FFF2-40B4-BE49-F238E27FC236}">
                  <a16:creationId xmlns:a16="http://schemas.microsoft.com/office/drawing/2014/main" id="{ABAAA01E-87ED-CEB0-A865-262CDACD7FF3}"/>
                </a:ext>
              </a:extLst>
            </p:cNvPr>
            <p:cNvSpPr/>
            <p:nvPr/>
          </p:nvSpPr>
          <p:spPr>
            <a:xfrm>
              <a:off x="851599" y="3735515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Shape 1645">
              <a:extLst>
                <a:ext uri="{FF2B5EF4-FFF2-40B4-BE49-F238E27FC236}">
                  <a16:creationId xmlns:a16="http://schemas.microsoft.com/office/drawing/2014/main" id="{B3E99501-CDBE-A625-685B-6034C5FA3F44}"/>
                </a:ext>
              </a:extLst>
            </p:cNvPr>
            <p:cNvSpPr/>
            <p:nvPr/>
          </p:nvSpPr>
          <p:spPr>
            <a:xfrm>
              <a:off x="851599" y="2759139"/>
              <a:ext cx="222250" cy="295656"/>
            </a:xfrm>
            <a:custGeom>
              <a:avLst/>
              <a:gdLst/>
              <a:ahLst/>
              <a:cxnLst/>
              <a:rect l="0" t="0" r="0" b="0"/>
              <a:pathLst>
                <a:path w="222250" h="295656">
                  <a:moveTo>
                    <a:pt x="88900" y="0"/>
                  </a:moveTo>
                  <a:lnTo>
                    <a:pt x="133350" y="0"/>
                  </a:lnTo>
                  <a:lnTo>
                    <a:pt x="133350" y="206756"/>
                  </a:lnTo>
                  <a:lnTo>
                    <a:pt x="222250" y="206756"/>
                  </a:lnTo>
                  <a:lnTo>
                    <a:pt x="111125" y="295656"/>
                  </a:lnTo>
                  <a:lnTo>
                    <a:pt x="0" y="206756"/>
                  </a:lnTo>
                  <a:lnTo>
                    <a:pt x="88900" y="206756"/>
                  </a:lnTo>
                  <a:lnTo>
                    <a:pt x="88900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Shape 1646">
              <a:extLst>
                <a:ext uri="{FF2B5EF4-FFF2-40B4-BE49-F238E27FC236}">
                  <a16:creationId xmlns:a16="http://schemas.microsoft.com/office/drawing/2014/main" id="{7EC478B0-4224-BD73-0AF3-9C74603E7AD2}"/>
                </a:ext>
              </a:extLst>
            </p:cNvPr>
            <p:cNvSpPr/>
            <p:nvPr/>
          </p:nvSpPr>
          <p:spPr>
            <a:xfrm>
              <a:off x="1840357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Shape 1647">
              <a:extLst>
                <a:ext uri="{FF2B5EF4-FFF2-40B4-BE49-F238E27FC236}">
                  <a16:creationId xmlns:a16="http://schemas.microsoft.com/office/drawing/2014/main" id="{7EA2DEF1-2475-BADD-7A38-392C8EF9BDB5}"/>
                </a:ext>
              </a:extLst>
            </p:cNvPr>
            <p:cNvSpPr/>
            <p:nvPr/>
          </p:nvSpPr>
          <p:spPr>
            <a:xfrm>
              <a:off x="5230368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Shape 1648">
              <a:extLst>
                <a:ext uri="{FF2B5EF4-FFF2-40B4-BE49-F238E27FC236}">
                  <a16:creationId xmlns:a16="http://schemas.microsoft.com/office/drawing/2014/main" id="{906D5524-BABD-6199-0FD7-5637D2659700}"/>
                </a:ext>
              </a:extLst>
            </p:cNvPr>
            <p:cNvSpPr/>
            <p:nvPr/>
          </p:nvSpPr>
          <p:spPr>
            <a:xfrm>
              <a:off x="7061454" y="0"/>
              <a:ext cx="1930146" cy="5077587"/>
            </a:xfrm>
            <a:custGeom>
              <a:avLst/>
              <a:gdLst/>
              <a:ahLst/>
              <a:cxnLst/>
              <a:rect l="0" t="0" r="0" b="0"/>
              <a:pathLst>
                <a:path w="1930146" h="5077587">
                  <a:moveTo>
                    <a:pt x="0" y="5077587"/>
                  </a:moveTo>
                  <a:lnTo>
                    <a:pt x="1930146" y="5077587"/>
                  </a:lnTo>
                  <a:lnTo>
                    <a:pt x="193014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Shape 28475">
              <a:extLst>
                <a:ext uri="{FF2B5EF4-FFF2-40B4-BE49-F238E27FC236}">
                  <a16:creationId xmlns:a16="http://schemas.microsoft.com/office/drawing/2014/main" id="{70CAA028-A12F-2B62-2CE7-067B0F58E146}"/>
                </a:ext>
              </a:extLst>
            </p:cNvPr>
            <p:cNvSpPr/>
            <p:nvPr/>
          </p:nvSpPr>
          <p:spPr>
            <a:xfrm>
              <a:off x="5465445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0"/>
                  </a:moveTo>
                  <a:lnTo>
                    <a:pt x="1459992" y="0"/>
                  </a:lnTo>
                  <a:lnTo>
                    <a:pt x="1459992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Shape 1650">
              <a:extLst>
                <a:ext uri="{FF2B5EF4-FFF2-40B4-BE49-F238E27FC236}">
                  <a16:creationId xmlns:a16="http://schemas.microsoft.com/office/drawing/2014/main" id="{EA281B24-8AD5-3737-D123-B975C5280125}"/>
                </a:ext>
              </a:extLst>
            </p:cNvPr>
            <p:cNvSpPr/>
            <p:nvPr/>
          </p:nvSpPr>
          <p:spPr>
            <a:xfrm>
              <a:off x="5465445" y="4030294"/>
              <a:ext cx="1459992" cy="680733"/>
            </a:xfrm>
            <a:custGeom>
              <a:avLst/>
              <a:gdLst/>
              <a:ahLst/>
              <a:cxnLst/>
              <a:rect l="0" t="0" r="0" b="0"/>
              <a:pathLst>
                <a:path w="1459992" h="680733">
                  <a:moveTo>
                    <a:pt x="0" y="680733"/>
                  </a:moveTo>
                  <a:lnTo>
                    <a:pt x="1459992" y="680733"/>
                  </a:lnTo>
                  <a:lnTo>
                    <a:pt x="1459992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BAD3824-7C66-A6A3-8419-BC7F1D7AE9D7}"/>
                </a:ext>
              </a:extLst>
            </p:cNvPr>
            <p:cNvSpPr/>
            <p:nvPr/>
          </p:nvSpPr>
          <p:spPr>
            <a:xfrm>
              <a:off x="5733542" y="4277286"/>
              <a:ext cx="1232181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Roadshows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Shape 1652">
              <a:extLst>
                <a:ext uri="{FF2B5EF4-FFF2-40B4-BE49-F238E27FC236}">
                  <a16:creationId xmlns:a16="http://schemas.microsoft.com/office/drawing/2014/main" id="{99CDC6E9-195A-AED8-53D5-6C114D8C9620}"/>
                </a:ext>
              </a:extLst>
            </p:cNvPr>
            <p:cNvSpPr/>
            <p:nvPr/>
          </p:nvSpPr>
          <p:spPr>
            <a:xfrm>
              <a:off x="6925437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Shape 1653">
              <a:extLst>
                <a:ext uri="{FF2B5EF4-FFF2-40B4-BE49-F238E27FC236}">
                  <a16:creationId xmlns:a16="http://schemas.microsoft.com/office/drawing/2014/main" id="{993988FF-7A98-8574-F61D-388DA72C3121}"/>
                </a:ext>
              </a:extLst>
            </p:cNvPr>
            <p:cNvSpPr/>
            <p:nvPr/>
          </p:nvSpPr>
          <p:spPr>
            <a:xfrm>
              <a:off x="3535426" y="4260381"/>
              <a:ext cx="235077" cy="222250"/>
            </a:xfrm>
            <a:custGeom>
              <a:avLst/>
              <a:gdLst/>
              <a:ahLst/>
              <a:cxnLst/>
              <a:rect l="0" t="0" r="0" b="0"/>
              <a:pathLst>
                <a:path w="235077" h="222250">
                  <a:moveTo>
                    <a:pt x="146177" y="0"/>
                  </a:moveTo>
                  <a:lnTo>
                    <a:pt x="235077" y="111125"/>
                  </a:lnTo>
                  <a:lnTo>
                    <a:pt x="146177" y="222250"/>
                  </a:lnTo>
                  <a:lnTo>
                    <a:pt x="146177" y="133350"/>
                  </a:lnTo>
                  <a:lnTo>
                    <a:pt x="0" y="133350"/>
                  </a:lnTo>
                  <a:lnTo>
                    <a:pt x="0" y="88900"/>
                  </a:lnTo>
                  <a:lnTo>
                    <a:pt x="146177" y="88900"/>
                  </a:lnTo>
                  <a:lnTo>
                    <a:pt x="146177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0" name="Shape 28476">
              <a:extLst>
                <a:ext uri="{FF2B5EF4-FFF2-40B4-BE49-F238E27FC236}">
                  <a16:creationId xmlns:a16="http://schemas.microsoft.com/office/drawing/2014/main" id="{C2FB518C-F916-D9E8-EDA2-3A09D6B3A6E2}"/>
                </a:ext>
              </a:extLst>
            </p:cNvPr>
            <p:cNvSpPr/>
            <p:nvPr/>
          </p:nvSpPr>
          <p:spPr>
            <a:xfrm>
              <a:off x="3598799" y="1332751"/>
              <a:ext cx="1781556" cy="856412"/>
            </a:xfrm>
            <a:custGeom>
              <a:avLst/>
              <a:gdLst/>
              <a:ahLst/>
              <a:cxnLst/>
              <a:rect l="0" t="0" r="0" b="0"/>
              <a:pathLst>
                <a:path w="1781556" h="856412">
                  <a:moveTo>
                    <a:pt x="0" y="0"/>
                  </a:moveTo>
                  <a:lnTo>
                    <a:pt x="1781556" y="0"/>
                  </a:lnTo>
                  <a:lnTo>
                    <a:pt x="1781556" y="856412"/>
                  </a:lnTo>
                  <a:lnTo>
                    <a:pt x="0" y="856412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1F61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Shape 1655">
              <a:extLst>
                <a:ext uri="{FF2B5EF4-FFF2-40B4-BE49-F238E27FC236}">
                  <a16:creationId xmlns:a16="http://schemas.microsoft.com/office/drawing/2014/main" id="{E15412EE-80F4-590C-BE79-572D37A6689A}"/>
                </a:ext>
              </a:extLst>
            </p:cNvPr>
            <p:cNvSpPr/>
            <p:nvPr/>
          </p:nvSpPr>
          <p:spPr>
            <a:xfrm>
              <a:off x="3598799" y="1332751"/>
              <a:ext cx="1781556" cy="856412"/>
            </a:xfrm>
            <a:custGeom>
              <a:avLst/>
              <a:gdLst/>
              <a:ahLst/>
              <a:cxnLst/>
              <a:rect l="0" t="0" r="0" b="0"/>
              <a:pathLst>
                <a:path w="1781556" h="856412">
                  <a:moveTo>
                    <a:pt x="0" y="856412"/>
                  </a:moveTo>
                  <a:lnTo>
                    <a:pt x="1781556" y="856412"/>
                  </a:lnTo>
                  <a:lnTo>
                    <a:pt x="1781556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505E156-7E2E-7A94-2239-AC9DA83779F9}"/>
                </a:ext>
              </a:extLst>
            </p:cNvPr>
            <p:cNvSpPr/>
            <p:nvPr/>
          </p:nvSpPr>
          <p:spPr>
            <a:xfrm>
              <a:off x="4227322" y="1665844"/>
              <a:ext cx="698206" cy="2644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Issuer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Shape 28477">
              <a:extLst>
                <a:ext uri="{FF2B5EF4-FFF2-40B4-BE49-F238E27FC236}">
                  <a16:creationId xmlns:a16="http://schemas.microsoft.com/office/drawing/2014/main" id="{A1E7527A-45F2-486B-93AF-79348B633CC9}"/>
                </a:ext>
              </a:extLst>
            </p:cNvPr>
            <p:cNvSpPr/>
            <p:nvPr/>
          </p:nvSpPr>
          <p:spPr>
            <a:xfrm>
              <a:off x="7160514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Shape 1658">
              <a:extLst>
                <a:ext uri="{FF2B5EF4-FFF2-40B4-BE49-F238E27FC236}">
                  <a16:creationId xmlns:a16="http://schemas.microsoft.com/office/drawing/2014/main" id="{FE172AF6-AB2D-E0EF-7B31-D49E6127EC67}"/>
                </a:ext>
              </a:extLst>
            </p:cNvPr>
            <p:cNvSpPr/>
            <p:nvPr/>
          </p:nvSpPr>
          <p:spPr>
            <a:xfrm>
              <a:off x="7160514" y="403029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F1A5654-7821-FA98-527D-186FF63206AB}"/>
                </a:ext>
              </a:extLst>
            </p:cNvPr>
            <p:cNvSpPr/>
            <p:nvPr/>
          </p:nvSpPr>
          <p:spPr>
            <a:xfrm>
              <a:off x="7489825" y="4277286"/>
              <a:ext cx="1461207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Book building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Shape 28478">
              <a:extLst>
                <a:ext uri="{FF2B5EF4-FFF2-40B4-BE49-F238E27FC236}">
                  <a16:creationId xmlns:a16="http://schemas.microsoft.com/office/drawing/2014/main" id="{57D5ED04-8AE0-7A84-5B68-B8837491FEDB}"/>
                </a:ext>
              </a:extLst>
            </p:cNvPr>
            <p:cNvSpPr/>
            <p:nvPr/>
          </p:nvSpPr>
          <p:spPr>
            <a:xfrm>
              <a:off x="7160514" y="206240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Shape 1661">
              <a:extLst>
                <a:ext uri="{FF2B5EF4-FFF2-40B4-BE49-F238E27FC236}">
                  <a16:creationId xmlns:a16="http://schemas.microsoft.com/office/drawing/2014/main" id="{8A3F05B5-526B-C925-63C2-356144B95405}"/>
                </a:ext>
              </a:extLst>
            </p:cNvPr>
            <p:cNvSpPr/>
            <p:nvPr/>
          </p:nvSpPr>
          <p:spPr>
            <a:xfrm>
              <a:off x="7160514" y="2062404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0B5F11-3877-7F4F-4C87-8D40E467521D}"/>
                </a:ext>
              </a:extLst>
            </p:cNvPr>
            <p:cNvSpPr/>
            <p:nvPr/>
          </p:nvSpPr>
          <p:spPr>
            <a:xfrm>
              <a:off x="7354189" y="2199719"/>
              <a:ext cx="1880900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RoC filing of final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9D75BC2-3794-D8F7-6877-675AA3C95588}"/>
                </a:ext>
              </a:extLst>
            </p:cNvPr>
            <p:cNvSpPr/>
            <p:nvPr/>
          </p:nvSpPr>
          <p:spPr>
            <a:xfrm>
              <a:off x="7590409" y="2417756"/>
              <a:ext cx="1191730" cy="24453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Prospectus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0" name="Shape 28479">
              <a:extLst>
                <a:ext uri="{FF2B5EF4-FFF2-40B4-BE49-F238E27FC236}">
                  <a16:creationId xmlns:a16="http://schemas.microsoft.com/office/drawing/2014/main" id="{C28CBF11-2C6B-9C33-7899-7F6F52DF33D3}"/>
                </a:ext>
              </a:extLst>
            </p:cNvPr>
            <p:cNvSpPr/>
            <p:nvPr/>
          </p:nvSpPr>
          <p:spPr>
            <a:xfrm>
              <a:off x="7160514" y="3045511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Shape 1665">
              <a:extLst>
                <a:ext uri="{FF2B5EF4-FFF2-40B4-BE49-F238E27FC236}">
                  <a16:creationId xmlns:a16="http://schemas.microsoft.com/office/drawing/2014/main" id="{21D118AD-8C4C-9BA4-1B0C-498DB4061F57}"/>
                </a:ext>
              </a:extLst>
            </p:cNvPr>
            <p:cNvSpPr/>
            <p:nvPr/>
          </p:nvSpPr>
          <p:spPr>
            <a:xfrm>
              <a:off x="7160514" y="3045511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1840C96-0667-E561-73D6-26E67C89FC05}"/>
                </a:ext>
              </a:extLst>
            </p:cNvPr>
            <p:cNvSpPr/>
            <p:nvPr/>
          </p:nvSpPr>
          <p:spPr>
            <a:xfrm>
              <a:off x="7259701" y="3292173"/>
              <a:ext cx="2072726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Pricing &amp; Allocation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3" name="Shape 28480">
              <a:extLst>
                <a:ext uri="{FF2B5EF4-FFF2-40B4-BE49-F238E27FC236}">
                  <a16:creationId xmlns:a16="http://schemas.microsoft.com/office/drawing/2014/main" id="{56F1B6D6-B8A2-F556-8847-FD748B59934C}"/>
                </a:ext>
              </a:extLst>
            </p:cNvPr>
            <p:cNvSpPr/>
            <p:nvPr/>
          </p:nvSpPr>
          <p:spPr>
            <a:xfrm>
              <a:off x="7160514" y="1079297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Shape 1668">
              <a:extLst>
                <a:ext uri="{FF2B5EF4-FFF2-40B4-BE49-F238E27FC236}">
                  <a16:creationId xmlns:a16="http://schemas.microsoft.com/office/drawing/2014/main" id="{B5CB07AC-C58C-1506-410C-D0B727CA8FCF}"/>
                </a:ext>
              </a:extLst>
            </p:cNvPr>
            <p:cNvSpPr/>
            <p:nvPr/>
          </p:nvSpPr>
          <p:spPr>
            <a:xfrm>
              <a:off x="7160514" y="1079297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28BB20B-EA80-D6BE-96BC-888DB4811F70}"/>
                </a:ext>
              </a:extLst>
            </p:cNvPr>
            <p:cNvSpPr/>
            <p:nvPr/>
          </p:nvSpPr>
          <p:spPr>
            <a:xfrm>
              <a:off x="7768718" y="1325578"/>
              <a:ext cx="717689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Listing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6" name="Shape 28481">
              <a:extLst>
                <a:ext uri="{FF2B5EF4-FFF2-40B4-BE49-F238E27FC236}">
                  <a16:creationId xmlns:a16="http://schemas.microsoft.com/office/drawing/2014/main" id="{715B1C0B-CE3D-67B2-AF9E-0BB2FACBCF22}"/>
                </a:ext>
              </a:extLst>
            </p:cNvPr>
            <p:cNvSpPr/>
            <p:nvPr/>
          </p:nvSpPr>
          <p:spPr>
            <a:xfrm>
              <a:off x="7160514" y="96189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0"/>
                  </a:moveTo>
                  <a:lnTo>
                    <a:pt x="1755267" y="0"/>
                  </a:lnTo>
                  <a:lnTo>
                    <a:pt x="1755267" y="680733"/>
                  </a:lnTo>
                  <a:lnTo>
                    <a:pt x="0" y="680733"/>
                  </a:lnTo>
                  <a:lnTo>
                    <a:pt x="0" y="0"/>
                  </a:lnTo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33669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Shape 1671">
              <a:extLst>
                <a:ext uri="{FF2B5EF4-FFF2-40B4-BE49-F238E27FC236}">
                  <a16:creationId xmlns:a16="http://schemas.microsoft.com/office/drawing/2014/main" id="{1CF5D2ED-2144-65AD-A521-A10A35AF3E53}"/>
                </a:ext>
              </a:extLst>
            </p:cNvPr>
            <p:cNvSpPr/>
            <p:nvPr/>
          </p:nvSpPr>
          <p:spPr>
            <a:xfrm>
              <a:off x="7160514" y="96189"/>
              <a:ext cx="1755267" cy="680733"/>
            </a:xfrm>
            <a:custGeom>
              <a:avLst/>
              <a:gdLst/>
              <a:ahLst/>
              <a:cxnLst/>
              <a:rect l="0" t="0" r="0" b="0"/>
              <a:pathLst>
                <a:path w="1755267" h="680733">
                  <a:moveTo>
                    <a:pt x="0" y="680733"/>
                  </a:moveTo>
                  <a:lnTo>
                    <a:pt x="1755267" y="680733"/>
                  </a:lnTo>
                  <a:lnTo>
                    <a:pt x="1755267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0486BA9-C259-3B50-9201-D9B6E2701BD5}"/>
                </a:ext>
              </a:extLst>
            </p:cNvPr>
            <p:cNvSpPr/>
            <p:nvPr/>
          </p:nvSpPr>
          <p:spPr>
            <a:xfrm>
              <a:off x="7332853" y="233251"/>
              <a:ext cx="1937768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Funds transferred 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A9C9FC9-EF95-C5E4-5D85-0088A5332DF2}"/>
                </a:ext>
              </a:extLst>
            </p:cNvPr>
            <p:cNvSpPr/>
            <p:nvPr/>
          </p:nvSpPr>
          <p:spPr>
            <a:xfrm>
              <a:off x="7695565" y="451183"/>
              <a:ext cx="91244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 dirty="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to issuer</a:t>
              </a:r>
              <a:endParaRPr lang="en-IN" sz="11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0" name="Shape 1674">
              <a:extLst>
                <a:ext uri="{FF2B5EF4-FFF2-40B4-BE49-F238E27FC236}">
                  <a16:creationId xmlns:a16="http://schemas.microsoft.com/office/drawing/2014/main" id="{2AD76D41-CCC0-9923-E948-B4D71B163532}"/>
                </a:ext>
              </a:extLst>
            </p:cNvPr>
            <p:cNvSpPr/>
            <p:nvPr/>
          </p:nvSpPr>
          <p:spPr>
            <a:xfrm>
              <a:off x="7927848" y="3726244"/>
              <a:ext cx="222250" cy="304038"/>
            </a:xfrm>
            <a:custGeom>
              <a:avLst/>
              <a:gdLst/>
              <a:ahLst/>
              <a:cxnLst/>
              <a:rect l="0" t="0" r="0" b="0"/>
              <a:pathLst>
                <a:path w="222250" h="304038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4038"/>
                  </a:lnTo>
                  <a:lnTo>
                    <a:pt x="88900" y="304038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Shape 1675">
              <a:extLst>
                <a:ext uri="{FF2B5EF4-FFF2-40B4-BE49-F238E27FC236}">
                  <a16:creationId xmlns:a16="http://schemas.microsoft.com/office/drawing/2014/main" id="{ECB2B40A-B7E9-94F8-32E6-5D92B12CEB0C}"/>
                </a:ext>
              </a:extLst>
            </p:cNvPr>
            <p:cNvSpPr/>
            <p:nvPr/>
          </p:nvSpPr>
          <p:spPr>
            <a:xfrm>
              <a:off x="7927086" y="1760919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Shape 1676">
              <a:extLst>
                <a:ext uri="{FF2B5EF4-FFF2-40B4-BE49-F238E27FC236}">
                  <a16:creationId xmlns:a16="http://schemas.microsoft.com/office/drawing/2014/main" id="{0B9B8E7E-6EE3-15DC-AD0F-6E214E2D1357}"/>
                </a:ext>
              </a:extLst>
            </p:cNvPr>
            <p:cNvSpPr/>
            <p:nvPr/>
          </p:nvSpPr>
          <p:spPr>
            <a:xfrm>
              <a:off x="7927086" y="2744026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Shape 1677">
              <a:extLst>
                <a:ext uri="{FF2B5EF4-FFF2-40B4-BE49-F238E27FC236}">
                  <a16:creationId xmlns:a16="http://schemas.microsoft.com/office/drawing/2014/main" id="{724A24C6-FB94-2522-E001-F2403DA415AB}"/>
                </a:ext>
              </a:extLst>
            </p:cNvPr>
            <p:cNvSpPr/>
            <p:nvPr/>
          </p:nvSpPr>
          <p:spPr>
            <a:xfrm>
              <a:off x="7927086" y="777811"/>
              <a:ext cx="222250" cy="302387"/>
            </a:xfrm>
            <a:custGeom>
              <a:avLst/>
              <a:gdLst/>
              <a:ahLst/>
              <a:cxnLst/>
              <a:rect l="0" t="0" r="0" b="0"/>
              <a:pathLst>
                <a:path w="222250" h="302387">
                  <a:moveTo>
                    <a:pt x="111125" y="0"/>
                  </a:moveTo>
                  <a:lnTo>
                    <a:pt x="222250" y="88900"/>
                  </a:lnTo>
                  <a:lnTo>
                    <a:pt x="133350" y="88900"/>
                  </a:lnTo>
                  <a:lnTo>
                    <a:pt x="133350" y="302387"/>
                  </a:lnTo>
                  <a:lnTo>
                    <a:pt x="88900" y="302387"/>
                  </a:lnTo>
                  <a:lnTo>
                    <a:pt x="88900" y="88900"/>
                  </a:lnTo>
                  <a:lnTo>
                    <a:pt x="0" y="88900"/>
                  </a:lnTo>
                  <a:lnTo>
                    <a:pt x="111125" y="0"/>
                  </a:lnTo>
                  <a:close/>
                </a:path>
              </a:pathLst>
            </a:custGeom>
            <a:ln w="0" cap="flat">
              <a:miter lim="1016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9FCA8CC-16BA-055B-AAF2-7B196FDAB703}"/>
                </a:ext>
              </a:extLst>
            </p:cNvPr>
            <p:cNvSpPr/>
            <p:nvPr/>
          </p:nvSpPr>
          <p:spPr>
            <a:xfrm>
              <a:off x="459943" y="4811601"/>
              <a:ext cx="1402466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Preparation / 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C641691-6942-F9DA-6E76-5A845C515CBD}"/>
                </a:ext>
              </a:extLst>
            </p:cNvPr>
            <p:cNvSpPr/>
            <p:nvPr/>
          </p:nvSpPr>
          <p:spPr>
            <a:xfrm>
              <a:off x="563575" y="5009721"/>
              <a:ext cx="1066112" cy="24408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Approvals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AFC8E40-0798-E1E8-0CB5-4A0A52BC6BAA}"/>
                </a:ext>
              </a:extLst>
            </p:cNvPr>
            <p:cNvSpPr/>
            <p:nvPr/>
          </p:nvSpPr>
          <p:spPr>
            <a:xfrm>
              <a:off x="2863342" y="4811601"/>
              <a:ext cx="4275480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Marketing and Estimation of Price Range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97D2EEE-AC27-37C4-AFA8-609FF078D2B5}"/>
                </a:ext>
              </a:extLst>
            </p:cNvPr>
            <p:cNvSpPr/>
            <p:nvPr/>
          </p:nvSpPr>
          <p:spPr>
            <a:xfrm>
              <a:off x="7177406" y="4811601"/>
              <a:ext cx="2267881" cy="24408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300" b="1" kern="1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Launch &amp; Completion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78" name="Shape 1682">
              <a:extLst>
                <a:ext uri="{FF2B5EF4-FFF2-40B4-BE49-F238E27FC236}">
                  <a16:creationId xmlns:a16="http://schemas.microsoft.com/office/drawing/2014/main" id="{8167A2A4-7C9F-3028-BD5C-6636C7BAC77C}"/>
                </a:ext>
              </a:extLst>
            </p:cNvPr>
            <p:cNvSpPr/>
            <p:nvPr/>
          </p:nvSpPr>
          <p:spPr>
            <a:xfrm>
              <a:off x="1990344" y="3634994"/>
              <a:ext cx="4961255" cy="1442593"/>
            </a:xfrm>
            <a:custGeom>
              <a:avLst/>
              <a:gdLst/>
              <a:ahLst/>
              <a:cxnLst/>
              <a:rect l="0" t="0" r="0" b="0"/>
              <a:pathLst>
                <a:path w="4961255" h="1442593">
                  <a:moveTo>
                    <a:pt x="0" y="1442593"/>
                  </a:moveTo>
                  <a:lnTo>
                    <a:pt x="4961255" y="1442593"/>
                  </a:lnTo>
                  <a:lnTo>
                    <a:pt x="4961255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custDash>
                <a:ds d="400000" sp="300000"/>
              </a:custDash>
              <a:miter lim="101600"/>
            </a:ln>
          </p:spPr>
          <p:style>
            <a:lnRef idx="1">
              <a:srgbClr val="336699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46BD1B42-6E77-F1CB-FBA3-3CA2D41A551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450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D0FC7-66EF-E109-BDD5-695A90D7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66" y="1127185"/>
            <a:ext cx="10646433" cy="504977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Decision &amp; preparation:</a:t>
            </a:r>
            <a:r>
              <a:rPr lang="en-US" sz="2200" dirty="0"/>
              <a:t> Board approves IPO; assemble advisors (investment banks, lawyers, auditors).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Due diligence &amp; financials:</a:t>
            </a:r>
            <a:r>
              <a:rPr lang="en-US" sz="2200" dirty="0"/>
              <a:t> Audit historical financials, prepare disclosures, corporate housekeeping (governance).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Draft prospectus / registration statement:</a:t>
            </a:r>
            <a:r>
              <a:rPr lang="en-US" sz="2200" dirty="0"/>
              <a:t> Public disclosure document describing business, risks, financials (called S-1 in US; prospectus/DRHP in India).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Regulatory review:</a:t>
            </a:r>
            <a:r>
              <a:rPr lang="en-US" sz="2200" dirty="0"/>
              <a:t> Submit to securities regulator and stock exchange; respond to questions.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Marketing / roadshow:</a:t>
            </a:r>
            <a:r>
              <a:rPr lang="en-US" sz="2200" dirty="0"/>
              <a:t> Management + underwriters present to institutional investors to generate demand.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5A64B-E359-9A06-845C-5B8A8888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52C71-4D7C-3E07-25B0-571895A82107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7772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D544-C10B-85BB-A63F-0288E04F7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28" y="1167442"/>
            <a:ext cx="10571672" cy="50095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Book-building &amp; pricing:</a:t>
            </a:r>
            <a:r>
              <a:rPr lang="en-US" sz="2000" dirty="0"/>
              <a:t> Underwriters gauge demand and set the offer price and size.</a:t>
            </a:r>
            <a:endParaRPr lang="en-US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Allocation &amp; subscription:</a:t>
            </a:r>
            <a:r>
              <a:rPr lang="en-US" sz="2000" dirty="0"/>
              <a:t> Shares allocated among institutional, retail, and employee tranches. Payment and allotment follow.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Listing / first trading day:</a:t>
            </a:r>
            <a:r>
              <a:rPr lang="en-US" sz="2000" dirty="0"/>
              <a:t> Shares begin trading on the exchange.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Post-IPO:</a:t>
            </a:r>
            <a:r>
              <a:rPr lang="en-US" sz="2000" dirty="0"/>
              <a:t> Lock-up periods, possible greenshoe overallotment exercised, and follow-on offerings later.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FFBA-BDE1-81C9-4D39-4875DD91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CAA32-84C1-08AF-B0FE-38018906084D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Steps of IPO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425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F2C97D-529D-9626-3DEA-052E15CFD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547727"/>
              </p:ext>
            </p:extLst>
          </p:nvPr>
        </p:nvGraphicFramePr>
        <p:xfrm>
          <a:off x="1006415" y="1374475"/>
          <a:ext cx="10777266" cy="49550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9910">
                  <a:extLst>
                    <a:ext uri="{9D8B030D-6E8A-4147-A177-3AD203B41FA5}">
                      <a16:colId xmlns:a16="http://schemas.microsoft.com/office/drawing/2014/main" val="1637270188"/>
                    </a:ext>
                  </a:extLst>
                </a:gridCol>
                <a:gridCol w="945562">
                  <a:extLst>
                    <a:ext uri="{9D8B030D-6E8A-4147-A177-3AD203B41FA5}">
                      <a16:colId xmlns:a16="http://schemas.microsoft.com/office/drawing/2014/main" val="2926970557"/>
                    </a:ext>
                  </a:extLst>
                </a:gridCol>
                <a:gridCol w="1389302">
                  <a:extLst>
                    <a:ext uri="{9D8B030D-6E8A-4147-A177-3AD203B41FA5}">
                      <a16:colId xmlns:a16="http://schemas.microsoft.com/office/drawing/2014/main" val="1020743128"/>
                    </a:ext>
                  </a:extLst>
                </a:gridCol>
                <a:gridCol w="1336986">
                  <a:extLst>
                    <a:ext uri="{9D8B030D-6E8A-4147-A177-3AD203B41FA5}">
                      <a16:colId xmlns:a16="http://schemas.microsoft.com/office/drawing/2014/main" val="620494373"/>
                    </a:ext>
                  </a:extLst>
                </a:gridCol>
                <a:gridCol w="1523001">
                  <a:extLst>
                    <a:ext uri="{9D8B030D-6E8A-4147-A177-3AD203B41FA5}">
                      <a16:colId xmlns:a16="http://schemas.microsoft.com/office/drawing/2014/main" val="3328343967"/>
                    </a:ext>
                  </a:extLst>
                </a:gridCol>
                <a:gridCol w="1354425">
                  <a:extLst>
                    <a:ext uri="{9D8B030D-6E8A-4147-A177-3AD203B41FA5}">
                      <a16:colId xmlns:a16="http://schemas.microsoft.com/office/drawing/2014/main" val="3425601033"/>
                    </a:ext>
                  </a:extLst>
                </a:gridCol>
                <a:gridCol w="1028111">
                  <a:extLst>
                    <a:ext uri="{9D8B030D-6E8A-4147-A177-3AD203B41FA5}">
                      <a16:colId xmlns:a16="http://schemas.microsoft.com/office/drawing/2014/main" val="91415783"/>
                    </a:ext>
                  </a:extLst>
                </a:gridCol>
                <a:gridCol w="709969">
                  <a:extLst>
                    <a:ext uri="{9D8B030D-6E8A-4147-A177-3AD203B41FA5}">
                      <a16:colId xmlns:a16="http://schemas.microsoft.com/office/drawing/2014/main" val="52744753"/>
                    </a:ext>
                  </a:extLst>
                </a:gridCol>
              </a:tblGrid>
              <a:tr h="4578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50" kern="100" dirty="0">
                          <a:effectLst/>
                        </a:rPr>
                        <a:t>Activity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gridSpan="7">
                  <a:txBody>
                    <a:bodyPr/>
                    <a:lstStyle/>
                    <a:p>
                      <a:pPr marL="6223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50" kern="100">
                          <a:effectLst/>
                        </a:rPr>
                        <a:t>IPO Process - 23 weeks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0062"/>
                  </a:ext>
                </a:extLst>
              </a:tr>
              <a:tr h="542753">
                <a:tc rowSpan="7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Preparation Phase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Due Diligence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Filing of Draft Document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Sebi Observation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5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Finalization &amp; filing of the offer Document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156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Issue Period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Post Issue Activities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extLst>
                  <a:ext uri="{0D108BD9-81ED-4DB2-BD59-A6C34878D82A}">
                    <a16:rowId xmlns:a16="http://schemas.microsoft.com/office/drawing/2014/main" val="1566972210"/>
                  </a:ext>
                </a:extLst>
              </a:tr>
              <a:tr h="5419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4 - 5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7763"/>
                  </a:ext>
                </a:extLst>
              </a:tr>
              <a:tr h="70415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    1  week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310689"/>
                  </a:ext>
                </a:extLst>
              </a:tr>
              <a:tr h="5419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4 - 8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791133"/>
                  </a:ext>
                </a:extLst>
              </a:tr>
              <a:tr h="7769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2 - 3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758803"/>
                  </a:ext>
                </a:extLst>
              </a:tr>
              <a:tr h="63447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Min. 3 Days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35564"/>
                  </a:ext>
                </a:extLst>
              </a:tr>
              <a:tr h="75170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 </a:t>
                      </a:r>
                      <a:endParaRPr lang="en-IN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/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2 - 3 weeks</a:t>
                      </a:r>
                      <a:endParaRPr lang="en-IN" sz="20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955" marR="4445" marT="0" marB="0" anchor="ctr"/>
                </a:tc>
                <a:extLst>
                  <a:ext uri="{0D108BD9-81ED-4DB2-BD59-A6C34878D82A}">
                    <a16:rowId xmlns:a16="http://schemas.microsoft.com/office/drawing/2014/main" val="23107554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AC2C5-769B-3BC8-C695-4BFC84B7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3FAAF-2E5F-E4F0-D105-C9BDC1B07C34}"/>
              </a:ext>
            </a:extLst>
          </p:cNvPr>
          <p:cNvSpPr/>
          <p:nvPr/>
        </p:nvSpPr>
        <p:spPr>
          <a:xfrm>
            <a:off x="46008" y="0"/>
            <a:ext cx="12145992" cy="6843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Execution process timeline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802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29C16-B253-BD3E-B4AA-5F2E5023C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67" y="1063924"/>
            <a:ext cx="11110823" cy="52924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When a company decides to go public through an Initial Public Offering (IPO), the crucial step is determining the offer price at which shares will be sold to investors.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Two major pricing methods are used worldwide: </a:t>
            </a:r>
            <a:r>
              <a:rPr lang="en-US" sz="2000" b="1" dirty="0"/>
              <a:t> the Book Building Mechanism and the Fixed Price Regime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03CB6-2331-65A7-4530-F237FC6A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D828B-7A91-B0B9-A6D9-7A17CAD684B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8633CFD-4679-FFC9-3BE7-CAA3E11479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556891"/>
              </p:ext>
            </p:extLst>
          </p:nvPr>
        </p:nvGraphicFramePr>
        <p:xfrm>
          <a:off x="6142008" y="3620444"/>
          <a:ext cx="3959764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Microsoft ClipArt Gallery" r:id="rId3" imgW="4209840" imgH="2057400" progId="MS_ClipArt_Gallery">
                  <p:embed/>
                </p:oleObj>
              </mc:Choice>
              <mc:Fallback>
                <p:oleObj name="Microsoft ClipArt Gallery" r:id="rId3" imgW="4209840" imgH="2057400" progId="MS_ClipArt_Gallery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58633CFD-4679-FFC9-3BE7-CAA3E11479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08" y="3620444"/>
                        <a:ext cx="3959764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099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4DF18-B065-8F52-E48D-58DF358B9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1052423"/>
            <a:ext cx="10870721" cy="512454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Book Building Mechanism</a:t>
            </a:r>
            <a:br>
              <a:rPr lang="en-US" sz="2000" dirty="0"/>
            </a:br>
            <a:r>
              <a:rPr lang="en-US" sz="2000" dirty="0"/>
              <a:t>Book building is a dynamic price discovery process where investors bid for shares within a specified price range (price band) during the IPO period. The final issue price, called the </a:t>
            </a:r>
            <a:r>
              <a:rPr lang="en-US" sz="2000" b="1" dirty="0"/>
              <a:t>cut-off price</a:t>
            </a:r>
            <a:r>
              <a:rPr lang="en-US" sz="2000" dirty="0"/>
              <a:t>, is determined based on the demand generated across bids.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is considered the most efficient, transparent, and market-driven method for pricing IPOs.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Key steps in  book building mechanism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Appointment of Book Runners (Lead Managers)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The issuing company appoints one or more Book Running Lead Managers (BRLMs to handle the book building and issue management.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A880C-EE9E-95FE-EDBF-5C9D474D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96C76-B23D-43C0-FD81-876BD5025DAD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59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4991-9D6D-7107-D3F5-1D5F78057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64" y="1127186"/>
            <a:ext cx="10657936" cy="504977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Filing of Draft Red Herring Prospectus (DRHP)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issuer files a DRHP with SEBI containing all information about the IPO except for the final price.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 price band is specified — for example, ₹120–₹144 per share — with the lower limit (floor price) and upper limit (cap price).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Bidding Phase (Book Building Period)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Institutional, retail, and high-net-worth investors (HNIs) place bids within this price band.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Investors state the number of shares they want and the price they are willing to pay.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Retail investors can simply bid at the “cut-off price”, meaning they agree to buy at whatever price is finalized through demand aggregation.​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CA24F-E367-4B7A-3FC1-5A23D5F5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4F3D0-DAB6-8D16-5BF3-68B167188559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4485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BB68-9CC2-2DC9-3D8A-28941002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33" y="1058174"/>
            <a:ext cx="11064815" cy="5204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Price determination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After the bidding closes, demand is aggregated to form an order book.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The </a:t>
            </a:r>
            <a:r>
              <a:rPr lang="en-US" sz="2000" b="1" dirty="0"/>
              <a:t>cut-off price </a:t>
            </a:r>
            <a:r>
              <a:rPr lang="en-US" sz="2000" dirty="0"/>
              <a:t>is determined, it is the price at which the total demand equals the issue size.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Shares are then allotted to investors who bid at or above this cut-off level.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Allotment and Listing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Once the cut-off price is finalized, shares are allotted to successful applicants and credited to their demat accounts.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The IPO is then listed on the stock exchange for public trading.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1454A-3297-A71B-0C73-7295CDFF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19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ADCE8-A982-9A46-CC38-50BC4F4DCE0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595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9AEFB-616B-84E7-14C1-24AAF0929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9" y="1161691"/>
            <a:ext cx="10870721" cy="501527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Advantages of Book building mechanism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Efficient Price Discovery</a:t>
            </a:r>
            <a:r>
              <a:rPr lang="en-US" sz="2200" dirty="0"/>
              <a:t>: Reflects real market demand as institutional and retail investors bid competitively.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Transparency</a:t>
            </a:r>
            <a:r>
              <a:rPr lang="en-US" sz="2200" dirty="0"/>
              <a:t>: Investors can see demand patterns during the issue.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Flexibility</a:t>
            </a:r>
            <a:r>
              <a:rPr lang="en-US" sz="2200" dirty="0"/>
              <a:t>: Price band allows adjustment based on investor appetite.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Disadvantages of Book building mechanism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Complexity</a:t>
            </a:r>
            <a:r>
              <a:rPr lang="en-US" sz="2200" dirty="0"/>
              <a:t>: Requires sophisticated investors and active underwriter involvement.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Potential Bias: </a:t>
            </a:r>
            <a:r>
              <a:rPr lang="en-US" sz="2200" dirty="0"/>
              <a:t>Institutional investors may have an advantage over retail investors in allocation.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Consultation Costs</a:t>
            </a:r>
            <a:r>
              <a:rPr lang="en-US" sz="2200" dirty="0"/>
              <a:t>: Higher expenses for roadshows, marketing, and record-keeping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ACCD-89D4-C6FB-9F91-FC42682B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73C2D8-ECC7-6802-7E0C-02AEDE672EA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9103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F556F-20FE-6F00-8D06-ABD4C2CDB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931653"/>
            <a:ext cx="11352362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600" b="1" dirty="0"/>
              <a:t>Fixed price regime</a:t>
            </a:r>
          </a:p>
          <a:p>
            <a:pPr>
              <a:lnSpc>
                <a:spcPct val="170000"/>
              </a:lnSpc>
            </a:pPr>
            <a:r>
              <a:rPr lang="en-US" sz="2200" dirty="0"/>
              <a:t>Under the fixed price issue, the company predetermines the IPO price of the shares before the issue opens. </a:t>
            </a:r>
          </a:p>
          <a:p>
            <a:pPr>
              <a:lnSpc>
                <a:spcPct val="170000"/>
              </a:lnSpc>
            </a:pPr>
            <a:r>
              <a:rPr lang="en-US" sz="2200" dirty="0"/>
              <a:t>This method is simpler but less reflective of real-time market demand.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b="1" dirty="0"/>
              <a:t>Steps in the fixed price IPO</a:t>
            </a:r>
          </a:p>
          <a:p>
            <a:pPr>
              <a:lnSpc>
                <a:spcPct val="170000"/>
              </a:lnSpc>
            </a:pPr>
            <a:r>
              <a:rPr lang="en-US" sz="2200" b="1" dirty="0"/>
              <a:t>Price Determination Before Issue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sz="2200" dirty="0"/>
              <a:t>The issuer and underwriters determine a single offer price based on internal valuation methods, market conditions, and a comparative analysis of similar companies.</a:t>
            </a:r>
          </a:p>
          <a:p>
            <a:pPr>
              <a:lnSpc>
                <a:spcPct val="170000"/>
              </a:lnSpc>
            </a:pPr>
            <a:r>
              <a:rPr lang="en-US" sz="2200" b="1" dirty="0"/>
              <a:t>Announcement and Subscription</a:t>
            </a:r>
          </a:p>
          <a:p>
            <a:pPr lvl="1">
              <a:lnSpc>
                <a:spcPct val="170000"/>
              </a:lnSpc>
            </a:pPr>
            <a:r>
              <a:rPr lang="en-US" sz="2200" dirty="0"/>
              <a:t>The fixed price is published in the prospectus before subscriptions open, and Investors apply for shares at that fixed price.</a:t>
            </a:r>
            <a:endParaRPr lang="en-IN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FD1F5-1C61-E036-7BC7-C4141C65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FD93DE-4C17-D274-979A-62424506596B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9002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5DA0C-2645-5B8D-CF6F-B085E3E45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332" y="1187269"/>
            <a:ext cx="11077755" cy="52652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Demand Disclosure Post‑Closure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Unlike book building, demand data is available only after the issue closes.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Allotment and Listing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Once subscriptions are collected and verified, shares are allotted to applicants (fully or partially, if oversubscribed) and then listed on the exchange.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Advantages of Fixed Price Regime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Simplicity: Easier for small and retail investors to understand.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Certainty: Price is predetermined; no confusion regarding bidding.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Low Cost: Less administrative and marketing work than book building.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FC8A9-A2DD-4259-EBF3-6C0B08AF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69E1C-DA46-545B-51C6-29AB101C9F3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3079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4567D-4BD2-BE3E-1201-2CB3C723A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45" y="1161692"/>
            <a:ext cx="10772955" cy="501527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Disadvantages of fixed price regime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 Price Discovery: Price decided without market feedback may be inaccurately set.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Lower Transparency: Investors can’t gauge demand until the issue closes.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High Risk of Under‑ or Over‑pricing: Might lead to undersubscription or reduced post‑listing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AC115-9942-F73C-B386-0128C134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7FCE1-068E-E9FB-A144-62CC358138F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Major pricing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9581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E8B7-2AE1-EB05-1779-66F95098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309B7-80B8-0CDE-6018-B92A59436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02" y="1040921"/>
            <a:ext cx="10732698" cy="5136042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/>
              <a:t>For Companies: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Capital for growth/expansion without incurring debt.​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Liquidity and exit opportunities for early investors and founders.​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Enhanced prestige, public profile, and ability to attract top talent.​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Ability to issue more shares and raise further capital (follow-on offerings).​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Transparent corporate governance and increased discipline.​</a:t>
            </a:r>
          </a:p>
          <a:p>
            <a:pPr>
              <a:lnSpc>
                <a:spcPct val="16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80E98-5AE2-4EC1-C6E7-7109A3D9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24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8FDAC-8512-4FFE-9252-D8AB7D0891A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 Benefits of IPOs 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4985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7845-FF17-5A74-966C-EA9DD684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65C3-E516-1079-CD8A-C6528410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04" y="1104182"/>
            <a:ext cx="10721196" cy="507278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For Investors: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Opportunity to invest in potentially high-growth companies early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Zero cost for initial application, unlike secondary market trades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Access to detailed information via the prospectus for informed decision-making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Possibility for quick gains if the stock lists at a premium, or long-term wealth creation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A492-CBCE-37BF-1D97-3490F44F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C2790-4284-F8DD-D39F-14C78B1CAEC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Benefits of IPOs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5780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0E1B-0E6C-3638-E40F-9FB2AA4C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42EF-CEC2-216F-FB5B-31805583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132936"/>
            <a:ext cx="10675189" cy="50440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IPOs involve considerable regulatory scrutiny, increased public disclosure, and management burden.​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Market volatility -</a:t>
            </a:r>
            <a:r>
              <a:rPr lang="en-US" sz="2000" dirty="0"/>
              <a:t>Share prices can fluctuate sharply, especially post-IPO.​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Significant costs in underwriting, compliance, and reporting.​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Early investors may lose some control and influence over company management.​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Not every IPO is successful </a:t>
            </a:r>
            <a:r>
              <a:rPr lang="en-US" sz="2000" dirty="0"/>
              <a:t>- Investors should carefully study the prospectus and company fundamentals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B1FD-1E88-C9F4-241B-80D83CCD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26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D54C3-B54B-E731-131E-6BEF803E7C71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Disadvantages  of IPOs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3343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2617B-7BE9-68A3-637F-87786FB0B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585" y="1144438"/>
                <a:ext cx="11225841" cy="510683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IPO underpricing occurs when the offer price of a stock during an Initial Public Offering (IPO) is set below its market value, resulting in the stock’s price rising significantly on the first day of trading and leading to a </a:t>
                </a:r>
                <a:r>
                  <a:rPr lang="en-US" sz="2000" b="1" dirty="0"/>
                  <a:t>“listing gain” </a:t>
                </a:r>
                <a:r>
                  <a:rPr lang="en-US" sz="2000" dirty="0"/>
                  <a:t>for those who were allocated shares at the IPO price.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/>
                  <a:t>It is typically measured as the percentage difference between the first-day closing price and the offer price, calculated as: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n-IN" sz="2000" b="1"/>
                      <m:t>Underpricing</m:t>
                    </m:r>
                    <m:r>
                      <m:rPr>
                        <m:nor/>
                      </m:rPr>
                      <a:rPr lang="en-IN" sz="2000" b="1"/>
                      <m:t> (%)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ar-AE" sz="200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en-IN" sz="2000" dirty="0"/>
              </a:p>
              <a:p>
                <a:pPr>
                  <a:lnSpc>
                    <a:spcPct val="150000"/>
                  </a:lnSpc>
                </a:pPr>
                <a:r>
                  <a:rPr lang="en-IN" sz="2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000" dirty="0"/>
                  <a:t> = </a:t>
                </a:r>
                <a:r>
                  <a:rPr lang="en-IN" sz="2000" dirty="0"/>
                  <a:t>Market price at the end of the first trading day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/>
                  <a:t> = </a:t>
                </a:r>
                <a:r>
                  <a:rPr lang="en-IN" sz="2000" dirty="0"/>
                  <a:t>IPO offer (issue) price​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/>
                  <a:t>For example, if a company issues shares at ₹100 and the price closes at ₹160 on listing day, the IPO is underpriced by 60</a:t>
                </a:r>
              </a:p>
              <a:p>
                <a:pPr>
                  <a:lnSpc>
                    <a:spcPct val="170000"/>
                  </a:lnSpc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2617B-7BE9-68A3-637F-87786FB0B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585" y="1144438"/>
                <a:ext cx="11225841" cy="5106837"/>
              </a:xfrm>
              <a:blipFill>
                <a:blip r:embed="rId2"/>
                <a:stretch>
                  <a:fillRect l="-489" r="-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8B2F2-C56D-1BDB-E3EF-502E830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27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A1CCE-FDA2-B75F-EC9E-F96EA1472B3C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3667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579A-A254-D245-1F17-F75CCDD40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833888"/>
            <a:ext cx="11438627" cy="55224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/>
              <a:t>Why does  underpricing happen?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Underpricing can be intentional (strategically set by the issuer and underwriters) or unintentional (arising from misjudging market demand).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 </a:t>
            </a:r>
            <a:r>
              <a:rPr lang="en-US" sz="2000" b="1" dirty="0"/>
              <a:t>Information Asymmetry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There is often a gap between the information known to the company/underwriters and what investors know and to attract uninformed retail investors who may perceive the IPO as risky, underwriters set a lower offer price to ensure oversubscription and the successful selling of all shares.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Winner’s Curse Theory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Sophisticated (informed) investors avoid overpriced IPOs, while less informed investors end up investing more in poor-quality IPOs the “winners” in allocation, but the “losers” in return.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761A-A636-5D8B-16D6-71A9C5D4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28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A97B5-6D75-07A8-5677-C9C437C1B817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18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1973D-8739-4260-8D50-144A3C3A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96" y="1058174"/>
            <a:ext cx="10767204" cy="511878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Risk Compensation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Since newly listed companies have no previous market track record, underpricing acts as compensation for investors’ uncertainty or risk-taking.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 Agency Conflicts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Underwriters might prefer slight underpricing because it helps ensure full subscription (making their job easier) and can increase trading volume and their commission fees.​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/>
              <a:t>Legal or Market Strategy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Setting a lower price reduces the risk of lawsuits by early investors claiming overpricing.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volatile or weak markets, underpricing encourages participation despite uncertainty.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7D0DB-C005-AFA1-7DD0-DDF1BF3A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29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080A12-4650-68D7-ADCD-C2326E2C60CF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0486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01B5-A296-683D-DC2C-9BD04FF7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55" y="1311215"/>
            <a:ext cx="10715445" cy="48657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companies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Ensures full subscription and successful market entry.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Builds goodwill, visibility, and positive media coverage.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Reduces legal and reputational risks from failed issues.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Investors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Creates instant gains (“listing profit”) if the share price rises post-listing.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Boosts investor confidence in the market for future IPOs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5F4BC-10F9-1AD8-C57B-E1212154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30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47513-F7E6-0D04-6472-AA4BB56C1E0E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Benefits of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70564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6A41C-D62B-46E3-3106-8CB2BBD4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1" y="1236453"/>
            <a:ext cx="10801709" cy="494051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companies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Money left on the table – by pricing too low, firms raise less capital than they could have.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May suggest weak internal confidence in valuation.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Temporary trading enthusiasm may fade, leading to price correction later.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For investors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Encourages speculation and short-termism rather than long-term investment.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Skews valuation signals for subsequent offerings.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F535C-F171-67AB-4370-7B2A342D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147A5-FECC-0503-C332-E5E60636887C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Disadvantages of Underpricing of IPO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77768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D92A-B847-0632-7DDF-8AD6ECB73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41" y="1196196"/>
            <a:ext cx="10807460" cy="4980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Reasons behind raising capital by a company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finance business expansion, enter new markets, or launch new products.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invest in research and development, fostering innovation and long-term growth.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acquire fixed assets such as equipment, property, and inventory needed for operations.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increase working capital for smooth daily operations and meet short-term obligations.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restructure existing debt or improve the financial stability of the business.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fund mergers, acquisitions, or strategic initiatives that enhance competitiveness.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2E265-F2D9-CE21-AAF2-DB612272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2CB7C-CCC9-14DD-918D-C28C5BEAB9FA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441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A9D94-9F2A-366F-79A6-6CEC1DCF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589" y="1173193"/>
            <a:ext cx="10606177" cy="45897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Equity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Selling ownership shares to investors. Examples include venture capital, angel investors, equity crowdfunding, and IPOs. It does not require repayment but dilutes ownership.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Debt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Borrowing funds from banks, financial institutions, or issuing bonds. Debt must be repaid with interest, preserving ownership.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Hybrid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Combines debt and equity features, such as convertible debentures or preferred shares.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BD1DA-851A-7A97-FF2F-DEE26763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33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0D10D-FFCC-85B9-422E-3BB33D62C7BA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6200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25BB-6D26-663D-66FF-A14321B02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92" y="1132936"/>
            <a:ext cx="10790209" cy="504402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Internal Financing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Using retained earnings or owner’s funds without outside contribution.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Alternative Methods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Crowdfunding, grants, government schemes, and revenue-based financing offer flexible options for startups and SMEs.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Rights Issues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Existing shareholders are offered additional shares to raise more capital without going public.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6541B-A9A1-A5E1-AA8D-B002D151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CE590-0673-CACC-9EB7-CC4B9D00ABA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Methods of raising capital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1016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17CF-6239-8BFC-F3FA-005CA587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864" y="1127186"/>
            <a:ext cx="10657936" cy="50497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Information asymmetry &amp; hype</a:t>
            </a:r>
            <a:r>
              <a:rPr lang="en-US" sz="2000" dirty="0"/>
              <a:t> - Retail investors may lack the full picture.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Overvaluation</a:t>
            </a:r>
            <a:r>
              <a:rPr lang="en-US" sz="2000" dirty="0"/>
              <a:t> - Pricing driven by demand rather than fundamentals.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Lock-up expirations</a:t>
            </a:r>
            <a:r>
              <a:rPr lang="en-US" sz="2000" dirty="0"/>
              <a:t> can trigger selling pressure.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Post-IPO dilution</a:t>
            </a:r>
            <a:r>
              <a:rPr lang="en-US" sz="2000" dirty="0"/>
              <a:t> from follow-on offerings or option exercises.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Operational risks</a:t>
            </a:r>
            <a:r>
              <a:rPr lang="en-US" sz="2000" dirty="0"/>
              <a:t> disclosed in prospectus.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72D75-436A-293B-6563-9A3CC2A0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35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56C11-2240-99B6-16EA-298A27F8FF75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Major risks to be remembered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9841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89A2-157B-E420-BB47-9543FD2C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78" y="1115683"/>
            <a:ext cx="11461630" cy="531962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Meaning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IPO grading is the process of evaluating a company's fundamentals when planning to go public and assigning it a grade </a:t>
            </a:r>
            <a:r>
              <a:rPr lang="en-US" sz="2000" b="1" dirty="0"/>
              <a:t>(on a scale of 1 to 5) </a:t>
            </a:r>
            <a:r>
              <a:rPr lang="en-US" sz="2000" dirty="0"/>
              <a:t>by a credit rating agency approved by the</a:t>
            </a:r>
            <a:r>
              <a:rPr lang="en-US" sz="2000" b="1" dirty="0"/>
              <a:t> Securities and Exchange Board of India (SEBI).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helps investors understand the quality of the company and its prospects before investing.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Purpose of IPO Grading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</a:t>
            </a:r>
            <a:r>
              <a:rPr lang="en-US" sz="2000" b="1" dirty="0"/>
              <a:t>guide investors</a:t>
            </a:r>
            <a:r>
              <a:rPr lang="en-US" sz="2000" dirty="0"/>
              <a:t> (especially retail investors) about the </a:t>
            </a:r>
            <a:r>
              <a:rPr lang="en-US" sz="2000" b="1" dirty="0"/>
              <a:t>fundamentals of the company</a:t>
            </a:r>
            <a:r>
              <a:rPr lang="en-US" sz="2000" dirty="0"/>
              <a:t>, not the market price.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</a:t>
            </a:r>
            <a:r>
              <a:rPr lang="en-US" sz="2000" b="1" dirty="0"/>
              <a:t>enhance transparency and confidence</a:t>
            </a:r>
            <a:r>
              <a:rPr lang="en-US" sz="2000" dirty="0"/>
              <a:t> in the IPO market.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provide an </a:t>
            </a:r>
            <a:r>
              <a:rPr lang="en-US" sz="2000" b="1" dirty="0"/>
              <a:t>independent, third-party opinion</a:t>
            </a:r>
            <a:r>
              <a:rPr lang="en-US" sz="2000" dirty="0"/>
              <a:t> about the company's financial and managerial strength.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0DCBD-1F5F-C019-90BE-E99B13EC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36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D6D2B-F4A6-CF07-B88C-F65BF24F1B42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906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CF22C8-C9B4-AE78-E239-B35F1FDCA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37099"/>
              </p:ext>
            </p:extLst>
          </p:nvPr>
        </p:nvGraphicFramePr>
        <p:xfrm>
          <a:off x="851140" y="2904014"/>
          <a:ext cx="35052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57144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89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172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8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42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2762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A7596-9D78-DB8A-FED8-71940223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37</a:t>
            </a:fld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B3E3D2-E97B-2EEF-A62F-E041517C0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73190"/>
              </p:ext>
            </p:extLst>
          </p:nvPr>
        </p:nvGraphicFramePr>
        <p:xfrm>
          <a:off x="1236453" y="1800046"/>
          <a:ext cx="9891622" cy="40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079">
                  <a:extLst>
                    <a:ext uri="{9D8B030D-6E8A-4147-A177-3AD203B41FA5}">
                      <a16:colId xmlns:a16="http://schemas.microsoft.com/office/drawing/2014/main" val="1040834179"/>
                    </a:ext>
                  </a:extLst>
                </a:gridCol>
                <a:gridCol w="4123475">
                  <a:extLst>
                    <a:ext uri="{9D8B030D-6E8A-4147-A177-3AD203B41FA5}">
                      <a16:colId xmlns:a16="http://schemas.microsoft.com/office/drawing/2014/main" val="1371797741"/>
                    </a:ext>
                  </a:extLst>
                </a:gridCol>
                <a:gridCol w="3731068">
                  <a:extLst>
                    <a:ext uri="{9D8B030D-6E8A-4147-A177-3AD203B41FA5}">
                      <a16:colId xmlns:a16="http://schemas.microsoft.com/office/drawing/2014/main" val="245612843"/>
                    </a:ext>
                  </a:extLst>
                </a:gridCol>
              </a:tblGrid>
              <a:tr h="43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253809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5/5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company prospects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719767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4/5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Above-average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performance expected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788985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3/5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investment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32168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2/5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Below-average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fundamentals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993772"/>
                  </a:ext>
                </a:extLst>
              </a:tr>
              <a:tr h="73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Grade 1/5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risk, not 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6525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81BF577-4A51-6B4A-5420-2489D6501484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28655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48B51-BE28-52CA-D2BA-E5D366DCD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81" y="1017917"/>
            <a:ext cx="11565147" cy="53384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/>
              <a:t>IPO Grading Process (Step-by-Step)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Application for </a:t>
            </a:r>
            <a:r>
              <a:rPr lang="en-US" sz="3200" b="1" dirty="0"/>
              <a:t>grading</a:t>
            </a:r>
            <a:r>
              <a:rPr lang="en-US" sz="2900" b="1" dirty="0"/>
              <a:t>: </a:t>
            </a:r>
            <a:r>
              <a:rPr lang="en-US" sz="2900" dirty="0"/>
              <a:t>The issuing company or lead manager applies to a SEBI-registered credit rating agency.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Information sharing: </a:t>
            </a:r>
            <a:r>
              <a:rPr lang="en-US" sz="2900" dirty="0"/>
              <a:t>The company submits detailed documents — financial statements, business model, management structure, risk factors, and industry analysis.</a:t>
            </a:r>
          </a:p>
          <a:p>
            <a:pPr>
              <a:lnSpc>
                <a:spcPct val="160000"/>
              </a:lnSpc>
            </a:pPr>
            <a:r>
              <a:rPr lang="en-US" sz="2900" b="1" dirty="0"/>
              <a:t>Evaluation:</a:t>
            </a:r>
            <a:endParaRPr lang="en-US" sz="2900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2900" dirty="0"/>
              <a:t>The rating agency analyzes the company based on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Business prospects  and Financial performance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Corporate governance and Management quality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Legal and regulatory compliance</a:t>
            </a:r>
          </a:p>
          <a:p>
            <a:pPr lvl="2">
              <a:lnSpc>
                <a:spcPct val="160000"/>
              </a:lnSpc>
            </a:pPr>
            <a:r>
              <a:rPr lang="en-US" sz="2900" dirty="0"/>
              <a:t>Competitive environment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DB490-D9A5-F593-50DB-4B1E4A96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38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20EDD-0083-79AC-D0C7-15453AC7B4B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767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44D0-32ED-CCA1-525C-DDA53B7C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02" y="1115682"/>
            <a:ext cx="11312106" cy="52406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Assigning Grade: </a:t>
            </a:r>
            <a:r>
              <a:rPr lang="en-US" sz="2000" dirty="0"/>
              <a:t>The agency assigns a grade (1 to 5) reflecting the company’s fundamentals.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Disclosure: </a:t>
            </a:r>
            <a:r>
              <a:rPr lang="en-US" sz="2000" dirty="0"/>
              <a:t>The grading and detailed rationale are disclosed in the </a:t>
            </a:r>
            <a:r>
              <a:rPr lang="en-US" sz="2000" b="1" dirty="0"/>
              <a:t>Red Herring Prospectus (RHP)</a:t>
            </a:r>
            <a:r>
              <a:rPr lang="en-US" sz="2000" dirty="0"/>
              <a:t> and filed with </a:t>
            </a:r>
            <a:r>
              <a:rPr lang="en-US" sz="2000" b="1" dirty="0"/>
              <a:t>SEBI</a:t>
            </a:r>
            <a:r>
              <a:rPr lang="en-US" sz="2000" dirty="0"/>
              <a:t> and the </a:t>
            </a:r>
            <a:r>
              <a:rPr lang="en-US" sz="2000" b="1" dirty="0"/>
              <a:t>stock exchanges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Publication: </a:t>
            </a:r>
            <a:r>
              <a:rPr lang="en-US" sz="2000" dirty="0"/>
              <a:t>The grading is published in newspapers and on the agency’s and company’s websites for investor awareness.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Agencies Authorized by SEBI to Grade IPOs: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CRISIL</a:t>
            </a:r>
            <a:r>
              <a:rPr lang="en-US" sz="2000" dirty="0"/>
              <a:t> (Credit Rating Information Services of India Ltd.)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ICRA</a:t>
            </a:r>
            <a:r>
              <a:rPr lang="en-US" sz="2000" dirty="0"/>
              <a:t> (Investment Information and Credit Rating Agency of India Ltd.)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CARE Ratings </a:t>
            </a:r>
            <a:r>
              <a:rPr lang="en-US" sz="2000" dirty="0"/>
              <a:t>(Credit Analysis and Research Limited)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Fitch India</a:t>
            </a:r>
            <a:r>
              <a:rPr lang="en-US" sz="2000" dirty="0"/>
              <a:t> (India Ratings &amp; Research)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F204A-FBB9-EFA3-8EEF-09B936D5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39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F1996-C0F6-E6B5-EFBB-3C2E6B5AE106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IPO grading</a:t>
            </a:r>
            <a:br>
              <a:rPr lang="en-US" sz="2800" b="1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77174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FDED573-E648-B0C3-EE02-0964E83502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992206"/>
              </p:ext>
            </p:extLst>
          </p:nvPr>
        </p:nvGraphicFramePr>
        <p:xfrm>
          <a:off x="1736785" y="3797862"/>
          <a:ext cx="9995138" cy="3039662"/>
        </p:xfrm>
        <a:graphic>
          <a:graphicData uri="http://schemas.openxmlformats.org/drawingml/2006/table">
            <a:tbl>
              <a:tblPr/>
              <a:tblGrid>
                <a:gridCol w="3315696">
                  <a:extLst>
                    <a:ext uri="{9D8B030D-6E8A-4147-A177-3AD203B41FA5}">
                      <a16:colId xmlns:a16="http://schemas.microsoft.com/office/drawing/2014/main" val="2804209081"/>
                    </a:ext>
                  </a:extLst>
                </a:gridCol>
                <a:gridCol w="3339721">
                  <a:extLst>
                    <a:ext uri="{9D8B030D-6E8A-4147-A177-3AD203B41FA5}">
                      <a16:colId xmlns:a16="http://schemas.microsoft.com/office/drawing/2014/main" val="2556989930"/>
                    </a:ext>
                  </a:extLst>
                </a:gridCol>
                <a:gridCol w="3339721">
                  <a:extLst>
                    <a:ext uri="{9D8B030D-6E8A-4147-A177-3AD203B41FA5}">
                      <a16:colId xmlns:a16="http://schemas.microsoft.com/office/drawing/2014/main" val="3035244282"/>
                    </a:ext>
                  </a:extLst>
                </a:gridCol>
              </a:tblGrid>
              <a:tr h="8940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65866"/>
                  </a:ext>
                </a:extLst>
              </a:tr>
              <a:tr h="625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98289"/>
                  </a:ext>
                </a:extLst>
              </a:tr>
              <a:tr h="8940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968027"/>
                  </a:ext>
                </a:extLst>
              </a:tr>
              <a:tr h="6258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4765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A4A58-AA8A-E563-9E52-001AF19C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8923-622D-4042-83D5-F58F36E54171}" type="slidenum">
              <a:rPr lang="en-IN" smtClean="0"/>
              <a:t>40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DD201-52E5-1A9D-90F1-25E9E0987ABB}"/>
              </a:ext>
            </a:extLst>
          </p:cNvPr>
          <p:cNvSpPr/>
          <p:nvPr/>
        </p:nvSpPr>
        <p:spPr>
          <a:xfrm>
            <a:off x="46008" y="0"/>
            <a:ext cx="12192000" cy="6949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/>
          </a:p>
          <a:p>
            <a:r>
              <a:rPr lang="en-US" sz="2800" b="1" dirty="0"/>
              <a:t>  Major Acts Governing IPO</a:t>
            </a:r>
            <a:br>
              <a:rPr lang="en-US" sz="2800" b="1" dirty="0"/>
            </a:br>
            <a:endParaRPr lang="en-US" sz="2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DFB650-89F8-7DD3-96CE-61009597C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67884"/>
              </p:ext>
            </p:extLst>
          </p:nvPr>
        </p:nvGraphicFramePr>
        <p:xfrm>
          <a:off x="1662024" y="1512495"/>
          <a:ext cx="9080738" cy="471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21">
                  <a:extLst>
                    <a:ext uri="{9D8B030D-6E8A-4147-A177-3AD203B41FA5}">
                      <a16:colId xmlns:a16="http://schemas.microsoft.com/office/drawing/2014/main" val="2507795411"/>
                    </a:ext>
                  </a:extLst>
                </a:gridCol>
                <a:gridCol w="3097921">
                  <a:extLst>
                    <a:ext uri="{9D8B030D-6E8A-4147-A177-3AD203B41FA5}">
                      <a16:colId xmlns:a16="http://schemas.microsoft.com/office/drawing/2014/main" val="3036239225"/>
                    </a:ext>
                  </a:extLst>
                </a:gridCol>
                <a:gridCol w="2884896">
                  <a:extLst>
                    <a:ext uri="{9D8B030D-6E8A-4147-A177-3AD203B41FA5}">
                      <a16:colId xmlns:a16="http://schemas.microsoft.com/office/drawing/2014/main" val="1194293680"/>
                    </a:ext>
                  </a:extLst>
                </a:gridCol>
              </a:tblGrid>
              <a:tr h="333889">
                <a:tc>
                  <a:txBody>
                    <a:bodyPr/>
                    <a:lstStyle/>
                    <a:p>
                      <a:r>
                        <a:rPr lang="en-US" dirty="0"/>
                        <a:t>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06398"/>
                  </a:ext>
                </a:extLst>
              </a:tr>
              <a:tr h="1123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Securities Contracts (Regulation) Act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1956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how companies issue shares, prepare prospectus, and obtain approvals.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791237"/>
                  </a:ext>
                </a:extLst>
              </a:tr>
              <a:tr h="945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SEBI 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1992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Regulates trading and listing of securities on stock exchanges.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448050"/>
                  </a:ext>
                </a:extLst>
              </a:tr>
              <a:tr h="130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Depositories Act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1996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Establishes SEBI and gives it authority to regulate the securities market, including IPOs.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488972"/>
                  </a:ext>
                </a:extLst>
              </a:tr>
              <a:tr h="8454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Companies Act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2013</a:t>
                      </a: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for dematerialization (electronic form) of shares.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440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962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E3A84A-C55F-FA33-69BD-DBB83A57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6470"/>
            <a:ext cx="12192000" cy="110799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NAMASKAR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7D4A4-3C0A-AF4E-7730-8F35D3D35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02" y="1488197"/>
            <a:ext cx="3199995" cy="3851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C40ED-3821-1CB9-F78D-43663FCC5D55}"/>
              </a:ext>
            </a:extLst>
          </p:cNvPr>
          <p:cNvSpPr txBox="1"/>
          <p:nvPr/>
        </p:nvSpPr>
        <p:spPr>
          <a:xfrm>
            <a:off x="0" y="5595256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2716E-4CA1-9079-7205-9D57C744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F119E-D379-4BF1-8F16-5498F2FE73E1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3502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3279</Words>
  <Application>Microsoft Office PowerPoint</Application>
  <PresentationFormat>Widescreen</PresentationFormat>
  <Paragraphs>422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Wingdings</vt:lpstr>
      <vt:lpstr>Office Theme</vt:lpstr>
      <vt:lpstr>Microsoft ClipArt Gallery</vt:lpstr>
      <vt:lpstr>PowerPoint Presentation</vt:lpstr>
      <vt:lpstr>Contents: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Deepak Sahu</dc:creator>
  <cp:lastModifiedBy>Subhasmita Parida</cp:lastModifiedBy>
  <cp:revision>12</cp:revision>
  <dcterms:created xsi:type="dcterms:W3CDTF">2025-10-10T13:57:59Z</dcterms:created>
  <dcterms:modified xsi:type="dcterms:W3CDTF">2025-11-04T04:27:38Z</dcterms:modified>
</cp:coreProperties>
</file>