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625" r:id="rId2"/>
    <p:sldId id="612" r:id="rId3"/>
    <p:sldId id="666" r:id="rId4"/>
    <p:sldId id="667" r:id="rId5"/>
    <p:sldId id="696" r:id="rId6"/>
    <p:sldId id="669" r:id="rId7"/>
    <p:sldId id="325" r:id="rId8"/>
    <p:sldId id="312" r:id="rId9"/>
    <p:sldId id="258" r:id="rId10"/>
    <p:sldId id="686" r:id="rId11"/>
    <p:sldId id="269" r:id="rId12"/>
    <p:sldId id="270" r:id="rId13"/>
    <p:sldId id="284" r:id="rId14"/>
    <p:sldId id="670" r:id="rId15"/>
    <p:sldId id="285" r:id="rId16"/>
    <p:sldId id="671" r:id="rId17"/>
    <p:sldId id="672" r:id="rId18"/>
    <p:sldId id="673" r:id="rId19"/>
    <p:sldId id="685" r:id="rId20"/>
    <p:sldId id="311" r:id="rId21"/>
    <p:sldId id="261" r:id="rId22"/>
    <p:sldId id="272" r:id="rId23"/>
    <p:sldId id="273" r:id="rId24"/>
    <p:sldId id="274" r:id="rId25"/>
    <p:sldId id="275" r:id="rId26"/>
    <p:sldId id="276" r:id="rId27"/>
    <p:sldId id="277" r:id="rId28"/>
    <p:sldId id="278" r:id="rId29"/>
    <p:sldId id="279" r:id="rId30"/>
    <p:sldId id="280" r:id="rId31"/>
    <p:sldId id="281" r:id="rId32"/>
    <p:sldId id="653" r:id="rId33"/>
  </p:sldIdLst>
  <p:sldSz cx="9144000" cy="5143500" type="screen16x9"/>
  <p:notesSz cx="6858000" cy="9144000"/>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2B1A"/>
    <a:srgbClr val="FFC000"/>
    <a:srgbClr val="C09200"/>
    <a:srgbClr val="F6BB00"/>
    <a:srgbClr val="4F4F4F"/>
    <a:srgbClr val="303030"/>
    <a:srgbClr val="A22706"/>
    <a:srgbClr val="C9600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4" autoAdjust="0"/>
    <p:restoredTop sz="95326" autoAdjust="0"/>
  </p:normalViewPr>
  <p:slideViewPr>
    <p:cSldViewPr>
      <p:cViewPr varScale="1">
        <p:scale>
          <a:sx n="116" d="100"/>
          <a:sy n="116" d="100"/>
        </p:scale>
        <p:origin x="518" y="77"/>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56" d="100"/>
          <a:sy n="56" d="100"/>
        </p:scale>
        <p:origin x="-186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image" Target="../media/image6.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image" Target="../media/image6.png"/><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D4DC61-B21F-4D2C-9273-0BBFBB7D397F}" type="doc">
      <dgm:prSet loTypeId="urn:microsoft.com/office/officeart/2009/layout/CirclePictureHierarchy" loCatId="hierarchy" qsTypeId="urn:microsoft.com/office/officeart/2005/8/quickstyle/simple1" qsCatId="simple" csTypeId="urn:microsoft.com/office/officeart/2005/8/colors/accent1_1" csCatId="accent1" phldr="1"/>
      <dgm:spPr/>
      <dgm:t>
        <a:bodyPr/>
        <a:lstStyle/>
        <a:p>
          <a:endParaRPr lang="en-IN"/>
        </a:p>
      </dgm:t>
    </dgm:pt>
    <dgm:pt modelId="{F65EBC6D-11DB-4F7A-BE07-22D059F882C1}">
      <dgm:prSet phldrT="[Text]" custT="1"/>
      <dgm:spPr/>
      <dgm:t>
        <a:bodyPr/>
        <a:lstStyle/>
        <a:p>
          <a:r>
            <a:rPr lang="en-IN" sz="1400" dirty="0">
              <a:latin typeface="Calibri Light" panose="020F0302020204030204" pitchFamily="34" charset="0"/>
              <a:cs typeface="Calibri Light" panose="020F0302020204030204" pitchFamily="34" charset="0"/>
            </a:rPr>
            <a:t>Market Regulator SEBI</a:t>
          </a:r>
        </a:p>
      </dgm:t>
    </dgm:pt>
    <dgm:pt modelId="{DF182200-BFC1-48E3-8C6C-956F14925B43}" type="parTrans" cxnId="{F5CCC3D3-A1B9-41D2-9B69-02668B9F440E}">
      <dgm:prSet/>
      <dgm:spPr/>
      <dgm:t>
        <a:bodyPr/>
        <a:lstStyle/>
        <a:p>
          <a:endParaRPr lang="en-IN" sz="1400">
            <a:latin typeface="Calibri Light" panose="020F0302020204030204" pitchFamily="34" charset="0"/>
            <a:cs typeface="Calibri Light" panose="020F0302020204030204" pitchFamily="34" charset="0"/>
          </a:endParaRPr>
        </a:p>
      </dgm:t>
    </dgm:pt>
    <dgm:pt modelId="{57B95219-3EEE-4BA4-9383-48E91E1B268A}" type="sibTrans" cxnId="{F5CCC3D3-A1B9-41D2-9B69-02668B9F440E}">
      <dgm:prSet/>
      <dgm:spPr/>
      <dgm:t>
        <a:bodyPr/>
        <a:lstStyle/>
        <a:p>
          <a:endParaRPr lang="en-IN" sz="1400">
            <a:latin typeface="Calibri Light" panose="020F0302020204030204" pitchFamily="34" charset="0"/>
            <a:cs typeface="Calibri Light" panose="020F0302020204030204" pitchFamily="34" charset="0"/>
          </a:endParaRPr>
        </a:p>
      </dgm:t>
    </dgm:pt>
    <dgm:pt modelId="{56267649-F7DE-4155-9681-C3DE30F40B62}">
      <dgm:prSet phldrT="[Text]" custT="1"/>
      <dgm:spPr/>
      <dgm:t>
        <a:bodyPr/>
        <a:lstStyle/>
        <a:p>
          <a:r>
            <a:rPr lang="en-US" altLang="en-US" sz="1400" dirty="0">
              <a:latin typeface="Calibri Light" panose="020F0302020204030204" pitchFamily="34" charset="0"/>
              <a:cs typeface="Calibri Light" panose="020F0302020204030204" pitchFamily="34" charset="0"/>
            </a:rPr>
            <a:t>Stocks and Commodities Derivative </a:t>
          </a:r>
          <a:r>
            <a:rPr lang="en-US" sz="1400" dirty="0">
              <a:latin typeface="Calibri Light" panose="020F0302020204030204" pitchFamily="34" charset="0"/>
              <a:cs typeface="Calibri Light" panose="020F0302020204030204" pitchFamily="34" charset="0"/>
            </a:rPr>
            <a:t>Exchanges</a:t>
          </a:r>
          <a:endParaRPr lang="en-IN" sz="1400" dirty="0">
            <a:latin typeface="Calibri Light" panose="020F0302020204030204" pitchFamily="34" charset="0"/>
            <a:cs typeface="Calibri Light" panose="020F0302020204030204" pitchFamily="34" charset="0"/>
          </a:endParaRPr>
        </a:p>
      </dgm:t>
    </dgm:pt>
    <dgm:pt modelId="{0FB1979D-A2C5-4DDB-AB8D-784E808AB121}" type="parTrans" cxnId="{7857367A-2079-4941-A385-4980E5DDA2EA}">
      <dgm:prSet/>
      <dgm:spPr>
        <a:ln>
          <a:solidFill>
            <a:schemeClr val="bg2">
              <a:lumMod val="50000"/>
            </a:schemeClr>
          </a:solidFill>
        </a:ln>
      </dgm:spPr>
      <dgm:t>
        <a:bodyPr/>
        <a:lstStyle/>
        <a:p>
          <a:endParaRPr lang="en-IN" sz="1400">
            <a:latin typeface="Calibri Light" panose="020F0302020204030204" pitchFamily="34" charset="0"/>
            <a:cs typeface="Calibri Light" panose="020F0302020204030204" pitchFamily="34" charset="0"/>
          </a:endParaRPr>
        </a:p>
      </dgm:t>
    </dgm:pt>
    <dgm:pt modelId="{F53DC7CC-B66B-432C-B45A-5D2BF023F304}" type="sibTrans" cxnId="{7857367A-2079-4941-A385-4980E5DDA2EA}">
      <dgm:prSet/>
      <dgm:spPr/>
      <dgm:t>
        <a:bodyPr/>
        <a:lstStyle/>
        <a:p>
          <a:endParaRPr lang="en-IN" sz="1400">
            <a:latin typeface="Calibri Light" panose="020F0302020204030204" pitchFamily="34" charset="0"/>
            <a:cs typeface="Calibri Light" panose="020F0302020204030204" pitchFamily="34" charset="0"/>
          </a:endParaRPr>
        </a:p>
      </dgm:t>
    </dgm:pt>
    <dgm:pt modelId="{F7739D43-831F-4915-B822-79C4DB9D465F}">
      <dgm:prSet phldrT="[Text]" custT="1"/>
      <dgm:spPr/>
      <dgm:t>
        <a:bodyPr/>
        <a:lstStyle/>
        <a:p>
          <a:r>
            <a:rPr lang="en-US" altLang="en-US" sz="1400" dirty="0">
              <a:latin typeface="Calibri Light" panose="020F0302020204030204" pitchFamily="34" charset="0"/>
              <a:cs typeface="Calibri Light" panose="020F0302020204030204" pitchFamily="34" charset="0"/>
            </a:rPr>
            <a:t>Depositories</a:t>
          </a:r>
          <a:endParaRPr lang="en-IN" sz="1400" dirty="0">
            <a:latin typeface="Calibri Light" panose="020F0302020204030204" pitchFamily="34" charset="0"/>
            <a:cs typeface="Calibri Light" panose="020F0302020204030204" pitchFamily="34" charset="0"/>
          </a:endParaRPr>
        </a:p>
      </dgm:t>
    </dgm:pt>
    <dgm:pt modelId="{3B17A441-AA5E-404F-B595-7E0FAE870944}" type="parTrans" cxnId="{3A25A3F5-614D-40E0-8A4A-073518E65269}">
      <dgm:prSet/>
      <dgm:spPr/>
      <dgm:t>
        <a:bodyPr/>
        <a:lstStyle/>
        <a:p>
          <a:endParaRPr lang="en-IN" sz="1400">
            <a:latin typeface="Calibri Light" panose="020F0302020204030204" pitchFamily="34" charset="0"/>
            <a:cs typeface="Calibri Light" panose="020F0302020204030204" pitchFamily="34" charset="0"/>
          </a:endParaRPr>
        </a:p>
      </dgm:t>
    </dgm:pt>
    <dgm:pt modelId="{0E46D9E9-7E21-4142-A42A-AC6B125498A8}" type="sibTrans" cxnId="{3A25A3F5-614D-40E0-8A4A-073518E65269}">
      <dgm:prSet/>
      <dgm:spPr/>
      <dgm:t>
        <a:bodyPr/>
        <a:lstStyle/>
        <a:p>
          <a:endParaRPr lang="en-IN" sz="1400">
            <a:latin typeface="Calibri Light" panose="020F0302020204030204" pitchFamily="34" charset="0"/>
            <a:cs typeface="Calibri Light" panose="020F0302020204030204" pitchFamily="34" charset="0"/>
          </a:endParaRPr>
        </a:p>
      </dgm:t>
    </dgm:pt>
    <dgm:pt modelId="{B3B8D527-0E32-4303-AB7E-8F818DA9CF72}">
      <dgm:prSet phldrT="[Text]" custT="1"/>
      <dgm:spPr/>
      <dgm:t>
        <a:bodyPr/>
        <a:lstStyle/>
        <a:p>
          <a:r>
            <a:rPr lang="en-US" altLang="en-US" sz="1400" dirty="0">
              <a:latin typeface="Calibri Light" panose="020F0302020204030204" pitchFamily="34" charset="0"/>
              <a:cs typeface="Calibri Light" panose="020F0302020204030204" pitchFamily="34" charset="0"/>
            </a:rPr>
            <a:t>Other Intermediaries</a:t>
          </a:r>
          <a:endParaRPr lang="en-IN" sz="1400" dirty="0">
            <a:latin typeface="Calibri Light" panose="020F0302020204030204" pitchFamily="34" charset="0"/>
            <a:cs typeface="Calibri Light" panose="020F0302020204030204" pitchFamily="34" charset="0"/>
          </a:endParaRPr>
        </a:p>
      </dgm:t>
    </dgm:pt>
    <dgm:pt modelId="{4904B4C6-4B7D-455B-AF20-67A83AB033D4}" type="parTrans" cxnId="{D42EA9E9-56BA-471D-9C09-A10629B1C42E}">
      <dgm:prSet/>
      <dgm:spPr>
        <a:ln>
          <a:solidFill>
            <a:schemeClr val="bg2">
              <a:lumMod val="50000"/>
            </a:schemeClr>
          </a:solidFill>
        </a:ln>
      </dgm:spPr>
      <dgm:t>
        <a:bodyPr/>
        <a:lstStyle/>
        <a:p>
          <a:endParaRPr lang="en-IN" sz="1400">
            <a:latin typeface="Calibri Light" panose="020F0302020204030204" pitchFamily="34" charset="0"/>
            <a:cs typeface="Calibri Light" panose="020F0302020204030204" pitchFamily="34" charset="0"/>
          </a:endParaRPr>
        </a:p>
      </dgm:t>
    </dgm:pt>
    <dgm:pt modelId="{563A7954-6183-4050-B389-2648E5E4C37C}" type="sibTrans" cxnId="{D42EA9E9-56BA-471D-9C09-A10629B1C42E}">
      <dgm:prSet/>
      <dgm:spPr/>
      <dgm:t>
        <a:bodyPr/>
        <a:lstStyle/>
        <a:p>
          <a:endParaRPr lang="en-IN" sz="1400">
            <a:latin typeface="Calibri Light" panose="020F0302020204030204" pitchFamily="34" charset="0"/>
            <a:cs typeface="Calibri Light" panose="020F0302020204030204" pitchFamily="34" charset="0"/>
          </a:endParaRPr>
        </a:p>
      </dgm:t>
    </dgm:pt>
    <dgm:pt modelId="{BCF33756-ECF2-43BE-9F07-D5183F19B0EB}">
      <dgm:prSet custT="1"/>
      <dgm:spPr/>
      <dgm:t>
        <a:bodyPr/>
        <a:lstStyle/>
        <a:p>
          <a:endParaRPr lang="en-IN" sz="1400">
            <a:latin typeface="Calibri Light" panose="020F0302020204030204" pitchFamily="34" charset="0"/>
            <a:cs typeface="Calibri Light" panose="020F0302020204030204" pitchFamily="34" charset="0"/>
          </a:endParaRPr>
        </a:p>
      </dgm:t>
    </dgm:pt>
    <dgm:pt modelId="{809A4111-0E01-4569-A835-AD413E43B707}" type="parTrans" cxnId="{D99B2C92-0183-4FEE-8575-667DB68647FD}">
      <dgm:prSet/>
      <dgm:spPr>
        <a:ln>
          <a:solidFill>
            <a:schemeClr val="bg2">
              <a:lumMod val="50000"/>
            </a:schemeClr>
          </a:solidFill>
        </a:ln>
      </dgm:spPr>
      <dgm:t>
        <a:bodyPr/>
        <a:lstStyle/>
        <a:p>
          <a:endParaRPr lang="en-IN" sz="1400">
            <a:latin typeface="Calibri Light" panose="020F0302020204030204" pitchFamily="34" charset="0"/>
            <a:cs typeface="Calibri Light" panose="020F0302020204030204" pitchFamily="34" charset="0"/>
          </a:endParaRPr>
        </a:p>
      </dgm:t>
    </dgm:pt>
    <dgm:pt modelId="{B797CA46-03EB-4270-861D-34A4BB017DAF}" type="sibTrans" cxnId="{D99B2C92-0183-4FEE-8575-667DB68647FD}">
      <dgm:prSet/>
      <dgm:spPr/>
      <dgm:t>
        <a:bodyPr/>
        <a:lstStyle/>
        <a:p>
          <a:endParaRPr lang="en-IN" sz="1400">
            <a:latin typeface="Calibri Light" panose="020F0302020204030204" pitchFamily="34" charset="0"/>
            <a:cs typeface="Calibri Light" panose="020F0302020204030204" pitchFamily="34" charset="0"/>
          </a:endParaRPr>
        </a:p>
      </dgm:t>
    </dgm:pt>
    <dgm:pt modelId="{D803D8FF-A244-4193-85A9-F34589EEB4E6}">
      <dgm:prSet custT="1"/>
      <dgm:spPr/>
      <dgm:t>
        <a:bodyPr/>
        <a:lstStyle/>
        <a:p>
          <a:endParaRPr lang="en-IN" sz="1400">
            <a:latin typeface="Calibri Light" panose="020F0302020204030204" pitchFamily="34" charset="0"/>
            <a:cs typeface="Calibri Light" panose="020F0302020204030204" pitchFamily="34" charset="0"/>
          </a:endParaRPr>
        </a:p>
      </dgm:t>
    </dgm:pt>
    <dgm:pt modelId="{6C4FF778-5958-491F-8712-FC5317337103}" type="parTrans" cxnId="{63145544-E8F8-4794-9084-27DAF270858F}">
      <dgm:prSet/>
      <dgm:spPr>
        <a:ln>
          <a:solidFill>
            <a:schemeClr val="bg2">
              <a:lumMod val="50000"/>
            </a:schemeClr>
          </a:solidFill>
        </a:ln>
      </dgm:spPr>
      <dgm:t>
        <a:bodyPr/>
        <a:lstStyle/>
        <a:p>
          <a:endParaRPr lang="en-IN" sz="1400">
            <a:latin typeface="Calibri Light" panose="020F0302020204030204" pitchFamily="34" charset="0"/>
            <a:cs typeface="Calibri Light" panose="020F0302020204030204" pitchFamily="34" charset="0"/>
          </a:endParaRPr>
        </a:p>
      </dgm:t>
    </dgm:pt>
    <dgm:pt modelId="{EAC3EE20-5409-44D7-9C75-57D29D400206}" type="sibTrans" cxnId="{63145544-E8F8-4794-9084-27DAF270858F}">
      <dgm:prSet/>
      <dgm:spPr/>
      <dgm:t>
        <a:bodyPr/>
        <a:lstStyle/>
        <a:p>
          <a:endParaRPr lang="en-IN" sz="1400">
            <a:latin typeface="Calibri Light" panose="020F0302020204030204" pitchFamily="34" charset="0"/>
            <a:cs typeface="Calibri Light" panose="020F0302020204030204" pitchFamily="34" charset="0"/>
          </a:endParaRPr>
        </a:p>
      </dgm:t>
    </dgm:pt>
    <dgm:pt modelId="{E955BE59-A78A-4FEB-8498-5655A7017E17}">
      <dgm:prSet custT="1"/>
      <dgm:spPr/>
      <dgm:t>
        <a:bodyPr/>
        <a:lstStyle/>
        <a:p>
          <a:endParaRPr lang="en-IN" sz="1400">
            <a:latin typeface="Calibri Light" panose="020F0302020204030204" pitchFamily="34" charset="0"/>
            <a:cs typeface="Calibri Light" panose="020F0302020204030204" pitchFamily="34" charset="0"/>
          </a:endParaRPr>
        </a:p>
      </dgm:t>
    </dgm:pt>
    <dgm:pt modelId="{30BB7A41-2137-4D16-B0E3-89A537D04C24}" type="parTrans" cxnId="{2CECC0FF-DB1B-40F6-8949-8646F9037763}">
      <dgm:prSet/>
      <dgm:spPr>
        <a:ln>
          <a:solidFill>
            <a:schemeClr val="bg2">
              <a:lumMod val="50000"/>
            </a:schemeClr>
          </a:solidFill>
        </a:ln>
      </dgm:spPr>
      <dgm:t>
        <a:bodyPr/>
        <a:lstStyle/>
        <a:p>
          <a:endParaRPr lang="en-IN" sz="1400">
            <a:latin typeface="Calibri Light" panose="020F0302020204030204" pitchFamily="34" charset="0"/>
            <a:cs typeface="Calibri Light" panose="020F0302020204030204" pitchFamily="34" charset="0"/>
          </a:endParaRPr>
        </a:p>
      </dgm:t>
    </dgm:pt>
    <dgm:pt modelId="{4936B723-2A1B-4EB0-87F8-F4C458B575C7}" type="sibTrans" cxnId="{2CECC0FF-DB1B-40F6-8949-8646F9037763}">
      <dgm:prSet/>
      <dgm:spPr/>
      <dgm:t>
        <a:bodyPr/>
        <a:lstStyle/>
        <a:p>
          <a:endParaRPr lang="en-IN" sz="1400">
            <a:latin typeface="Calibri Light" panose="020F0302020204030204" pitchFamily="34" charset="0"/>
            <a:cs typeface="Calibri Light" panose="020F0302020204030204" pitchFamily="34" charset="0"/>
          </a:endParaRPr>
        </a:p>
      </dgm:t>
    </dgm:pt>
    <dgm:pt modelId="{3965C5CB-97AA-4B8A-A209-A6EBCF9188E9}" type="pres">
      <dgm:prSet presAssocID="{F5D4DC61-B21F-4D2C-9273-0BBFBB7D397F}" presName="hierChild1" presStyleCnt="0">
        <dgm:presLayoutVars>
          <dgm:chPref val="1"/>
          <dgm:dir/>
          <dgm:animOne val="branch"/>
          <dgm:animLvl val="lvl"/>
          <dgm:resizeHandles/>
        </dgm:presLayoutVars>
      </dgm:prSet>
      <dgm:spPr/>
    </dgm:pt>
    <dgm:pt modelId="{4FF10367-16DC-4FE2-BC18-03B4CEFE38EA}" type="pres">
      <dgm:prSet presAssocID="{F65EBC6D-11DB-4F7A-BE07-22D059F882C1}" presName="hierRoot1" presStyleCnt="0"/>
      <dgm:spPr/>
    </dgm:pt>
    <dgm:pt modelId="{12CEDB08-415D-40DD-BAFF-1CD0B9BABD17}" type="pres">
      <dgm:prSet presAssocID="{F65EBC6D-11DB-4F7A-BE07-22D059F882C1}" presName="composite" presStyleCnt="0"/>
      <dgm:spPr/>
    </dgm:pt>
    <dgm:pt modelId="{CB10DDB0-B878-44C4-89D0-989C7CD51797}" type="pres">
      <dgm:prSet presAssocID="{F65EBC6D-11DB-4F7A-BE07-22D059F882C1}" presName="image" presStyleLbl="node0" presStyleIdx="0" presStyleCnt="1"/>
      <dgm:spPr>
        <a:blipFill rotWithShape="1">
          <a:blip xmlns:r="http://schemas.openxmlformats.org/officeDocument/2006/relationships" r:embed="rId1" cstate="email">
            <a:extLst>
              <a:ext uri="{28A0092B-C50C-407E-A947-70E740481C1C}">
                <a14:useLocalDpi xmlns:a14="http://schemas.microsoft.com/office/drawing/2010/main"/>
              </a:ext>
            </a:extLst>
          </a:blip>
          <a:stretch>
            <a:fillRect/>
          </a:stretch>
        </a:blipFill>
        <a:ln>
          <a:noFill/>
        </a:ln>
      </dgm:spPr>
    </dgm:pt>
    <dgm:pt modelId="{58681E65-1037-4552-A5A8-089B23E463A5}" type="pres">
      <dgm:prSet presAssocID="{F65EBC6D-11DB-4F7A-BE07-22D059F882C1}" presName="text" presStyleLbl="revTx" presStyleIdx="0" presStyleCnt="7" custLinFactNeighborX="7981">
        <dgm:presLayoutVars>
          <dgm:chPref val="3"/>
        </dgm:presLayoutVars>
      </dgm:prSet>
      <dgm:spPr/>
    </dgm:pt>
    <dgm:pt modelId="{5EE13695-8706-4DD2-9317-0C8B790C378B}" type="pres">
      <dgm:prSet presAssocID="{F65EBC6D-11DB-4F7A-BE07-22D059F882C1}" presName="hierChild2" presStyleCnt="0"/>
      <dgm:spPr/>
    </dgm:pt>
    <dgm:pt modelId="{9DCBFDE7-C7B8-4585-9E1C-4DAF62BE4ACF}" type="pres">
      <dgm:prSet presAssocID="{0FB1979D-A2C5-4DDB-AB8D-784E808AB121}" presName="Name10" presStyleLbl="parChTrans1D2" presStyleIdx="0" presStyleCnt="3"/>
      <dgm:spPr/>
    </dgm:pt>
    <dgm:pt modelId="{882C5098-EF61-40E4-9EDE-80A90603F402}" type="pres">
      <dgm:prSet presAssocID="{56267649-F7DE-4155-9681-C3DE30F40B62}" presName="hierRoot2" presStyleCnt="0"/>
      <dgm:spPr/>
    </dgm:pt>
    <dgm:pt modelId="{828A2AE2-3574-4DFF-9572-49C0F04993BF}" type="pres">
      <dgm:prSet presAssocID="{56267649-F7DE-4155-9681-C3DE30F40B62}" presName="composite2" presStyleCnt="0"/>
      <dgm:spPr/>
    </dgm:pt>
    <dgm:pt modelId="{3C12F549-37E6-41D4-A089-44B6B5F8B822}" type="pres">
      <dgm:prSet presAssocID="{56267649-F7DE-4155-9681-C3DE30F40B62}" presName="image2" presStyleLbl="node2" presStyleIdx="0" presStyleCnt="3"/>
      <dgm:spPr>
        <a:blipFill rotWithShape="1">
          <a:blip xmlns:r="http://schemas.openxmlformats.org/officeDocument/2006/relationships" r:embed="rId2" cstate="email">
            <a:extLst>
              <a:ext uri="{28A0092B-C50C-407E-A947-70E740481C1C}">
                <a14:useLocalDpi xmlns:a14="http://schemas.microsoft.com/office/drawing/2010/main"/>
              </a:ext>
            </a:extLst>
          </a:blip>
          <a:stretch>
            <a:fillRect/>
          </a:stretch>
        </a:blipFill>
        <a:ln>
          <a:noFill/>
        </a:ln>
      </dgm:spPr>
    </dgm:pt>
    <dgm:pt modelId="{E3A39A82-DF8D-47AD-8C7E-804CB95AA49A}" type="pres">
      <dgm:prSet presAssocID="{56267649-F7DE-4155-9681-C3DE30F40B62}" presName="text2" presStyleLbl="revTx" presStyleIdx="1" presStyleCnt="7" custLinFactNeighborX="8686">
        <dgm:presLayoutVars>
          <dgm:chPref val="3"/>
        </dgm:presLayoutVars>
      </dgm:prSet>
      <dgm:spPr/>
    </dgm:pt>
    <dgm:pt modelId="{C5DE2F7E-FABC-4AEA-9A98-789CE5F21AC7}" type="pres">
      <dgm:prSet presAssocID="{56267649-F7DE-4155-9681-C3DE30F40B62}" presName="hierChild3" presStyleCnt="0"/>
      <dgm:spPr/>
    </dgm:pt>
    <dgm:pt modelId="{D3258297-51B1-4C94-865E-F906009C41A7}" type="pres">
      <dgm:prSet presAssocID="{809A4111-0E01-4569-A835-AD413E43B707}" presName="Name17" presStyleLbl="parChTrans1D3" presStyleIdx="0" presStyleCnt="3"/>
      <dgm:spPr/>
    </dgm:pt>
    <dgm:pt modelId="{B2507DB0-A3E9-43A0-A75B-225E3995EB10}" type="pres">
      <dgm:prSet presAssocID="{BCF33756-ECF2-43BE-9F07-D5183F19B0EB}" presName="hierRoot3" presStyleCnt="0"/>
      <dgm:spPr/>
    </dgm:pt>
    <dgm:pt modelId="{28E6C0E4-D678-469D-8E40-41FB06823EB7}" type="pres">
      <dgm:prSet presAssocID="{BCF33756-ECF2-43BE-9F07-D5183F19B0EB}" presName="composite3" presStyleCnt="0"/>
      <dgm:spPr/>
    </dgm:pt>
    <dgm:pt modelId="{9221BB73-536D-4C19-AA25-C21E1641C276}" type="pres">
      <dgm:prSet presAssocID="{BCF33756-ECF2-43BE-9F07-D5183F19B0EB}" presName="image3" presStyleLbl="node3" presStyleIdx="0" presStyleCnt="3"/>
      <dgm:spPr>
        <a:blipFill rotWithShape="1">
          <a:blip xmlns:r="http://schemas.openxmlformats.org/officeDocument/2006/relationships" r:embed="rId3" cstate="email">
            <a:extLst>
              <a:ext uri="{28A0092B-C50C-407E-A947-70E740481C1C}">
                <a14:useLocalDpi xmlns:a14="http://schemas.microsoft.com/office/drawing/2010/main"/>
              </a:ext>
            </a:extLst>
          </a:blip>
          <a:stretch>
            <a:fillRect/>
          </a:stretch>
        </a:blipFill>
        <a:ln>
          <a:noFill/>
        </a:ln>
      </dgm:spPr>
    </dgm:pt>
    <dgm:pt modelId="{189B5E17-3247-42B6-8D90-6686CB6DA8DA}" type="pres">
      <dgm:prSet presAssocID="{BCF33756-ECF2-43BE-9F07-D5183F19B0EB}" presName="text3" presStyleLbl="revTx" presStyleIdx="2" presStyleCnt="7">
        <dgm:presLayoutVars>
          <dgm:chPref val="3"/>
        </dgm:presLayoutVars>
      </dgm:prSet>
      <dgm:spPr/>
    </dgm:pt>
    <dgm:pt modelId="{610028CD-07A3-41C2-9D3E-4F63765F2F54}" type="pres">
      <dgm:prSet presAssocID="{BCF33756-ECF2-43BE-9F07-D5183F19B0EB}" presName="hierChild4" presStyleCnt="0"/>
      <dgm:spPr/>
    </dgm:pt>
    <dgm:pt modelId="{2CB56BE5-5331-4668-B5C5-EC1B42454D0C}" type="pres">
      <dgm:prSet presAssocID="{3B17A441-AA5E-404F-B595-7E0FAE870944}" presName="Name10" presStyleLbl="parChTrans1D2" presStyleIdx="1" presStyleCnt="3"/>
      <dgm:spPr/>
    </dgm:pt>
    <dgm:pt modelId="{BEE8CCD5-EAD4-4024-8DE3-D65E5D5EE098}" type="pres">
      <dgm:prSet presAssocID="{F7739D43-831F-4915-B822-79C4DB9D465F}" presName="hierRoot2" presStyleCnt="0"/>
      <dgm:spPr/>
    </dgm:pt>
    <dgm:pt modelId="{601DEC8C-E3F2-45B1-A4E7-B365A55BF126}" type="pres">
      <dgm:prSet presAssocID="{F7739D43-831F-4915-B822-79C4DB9D465F}" presName="composite2" presStyleCnt="0"/>
      <dgm:spPr/>
    </dgm:pt>
    <dgm:pt modelId="{19836D26-1DFE-4BA9-98F2-5348A92F1818}" type="pres">
      <dgm:prSet presAssocID="{F7739D43-831F-4915-B822-79C4DB9D465F}" presName="image2" presStyleLbl="node2" presStyleIdx="1" presStyleCnt="3"/>
      <dgm:spPr>
        <a:blipFill rotWithShape="1">
          <a:blip xmlns:r="http://schemas.openxmlformats.org/officeDocument/2006/relationships" r:embed="rId4" cstate="email">
            <a:extLst>
              <a:ext uri="{28A0092B-C50C-407E-A947-70E740481C1C}">
                <a14:useLocalDpi xmlns:a14="http://schemas.microsoft.com/office/drawing/2010/main"/>
              </a:ext>
            </a:extLst>
          </a:blip>
          <a:stretch>
            <a:fillRect/>
          </a:stretch>
        </a:blipFill>
        <a:ln>
          <a:noFill/>
        </a:ln>
      </dgm:spPr>
    </dgm:pt>
    <dgm:pt modelId="{038DF02B-E3C9-4FF7-B77B-57DA43B17D47}" type="pres">
      <dgm:prSet presAssocID="{F7739D43-831F-4915-B822-79C4DB9D465F}" presName="text2" presStyleLbl="revTx" presStyleIdx="3" presStyleCnt="7" custLinFactNeighborX="7981">
        <dgm:presLayoutVars>
          <dgm:chPref val="3"/>
        </dgm:presLayoutVars>
      </dgm:prSet>
      <dgm:spPr/>
    </dgm:pt>
    <dgm:pt modelId="{1A279641-78C4-4A8A-B217-CC39BBA50C62}" type="pres">
      <dgm:prSet presAssocID="{F7739D43-831F-4915-B822-79C4DB9D465F}" presName="hierChild3" presStyleCnt="0"/>
      <dgm:spPr/>
    </dgm:pt>
    <dgm:pt modelId="{D22C102A-D78D-4985-B77D-0919FFB353D4}" type="pres">
      <dgm:prSet presAssocID="{6C4FF778-5958-491F-8712-FC5317337103}" presName="Name17" presStyleLbl="parChTrans1D3" presStyleIdx="1" presStyleCnt="3"/>
      <dgm:spPr/>
    </dgm:pt>
    <dgm:pt modelId="{210FE99B-65B9-45A8-B786-8DD4976CE1A2}" type="pres">
      <dgm:prSet presAssocID="{D803D8FF-A244-4193-85A9-F34589EEB4E6}" presName="hierRoot3" presStyleCnt="0"/>
      <dgm:spPr/>
    </dgm:pt>
    <dgm:pt modelId="{CE284273-68CD-44D6-94A2-7F431DBC6C5E}" type="pres">
      <dgm:prSet presAssocID="{D803D8FF-A244-4193-85A9-F34589EEB4E6}" presName="composite3" presStyleCnt="0"/>
      <dgm:spPr/>
    </dgm:pt>
    <dgm:pt modelId="{A281CAC5-3902-4C3B-B396-A80E7AE7CEBD}" type="pres">
      <dgm:prSet presAssocID="{D803D8FF-A244-4193-85A9-F34589EEB4E6}" presName="image3" presStyleLbl="node3" presStyleIdx="1" presStyleCnt="3"/>
      <dgm:spPr>
        <a:blipFill rotWithShape="1">
          <a:blip xmlns:r="http://schemas.openxmlformats.org/officeDocument/2006/relationships" r:embed="rId5"/>
          <a:stretch>
            <a:fillRect/>
          </a:stretch>
        </a:blipFill>
        <a:ln>
          <a:noFill/>
        </a:ln>
      </dgm:spPr>
    </dgm:pt>
    <dgm:pt modelId="{04DC350B-3562-4A61-AC3F-6BAF497E7F52}" type="pres">
      <dgm:prSet presAssocID="{D803D8FF-A244-4193-85A9-F34589EEB4E6}" presName="text3" presStyleLbl="revTx" presStyleIdx="4" presStyleCnt="7">
        <dgm:presLayoutVars>
          <dgm:chPref val="3"/>
        </dgm:presLayoutVars>
      </dgm:prSet>
      <dgm:spPr/>
    </dgm:pt>
    <dgm:pt modelId="{6DDC9189-6DF0-4734-9358-C72CFC6854BD}" type="pres">
      <dgm:prSet presAssocID="{D803D8FF-A244-4193-85A9-F34589EEB4E6}" presName="hierChild4" presStyleCnt="0"/>
      <dgm:spPr/>
    </dgm:pt>
    <dgm:pt modelId="{865F1FEF-85EE-4C81-A70E-950421217F6D}" type="pres">
      <dgm:prSet presAssocID="{4904B4C6-4B7D-455B-AF20-67A83AB033D4}" presName="Name10" presStyleLbl="parChTrans1D2" presStyleIdx="2" presStyleCnt="3"/>
      <dgm:spPr/>
    </dgm:pt>
    <dgm:pt modelId="{C71A3EDB-6DEC-458C-A699-B2673B4A9C4A}" type="pres">
      <dgm:prSet presAssocID="{B3B8D527-0E32-4303-AB7E-8F818DA9CF72}" presName="hierRoot2" presStyleCnt="0"/>
      <dgm:spPr/>
    </dgm:pt>
    <dgm:pt modelId="{342D1206-4F58-4382-A86B-087E2892B956}" type="pres">
      <dgm:prSet presAssocID="{B3B8D527-0E32-4303-AB7E-8F818DA9CF72}" presName="composite2" presStyleCnt="0"/>
      <dgm:spPr/>
    </dgm:pt>
    <dgm:pt modelId="{7FB13D78-2EAC-43C1-884D-8608C4BAC230}" type="pres">
      <dgm:prSet presAssocID="{B3B8D527-0E32-4303-AB7E-8F818DA9CF72}" presName="image2" presStyleLbl="node2" presStyleIdx="2" presStyleCnt="3"/>
      <dgm:spPr>
        <a:blipFill rotWithShape="1">
          <a:blip xmlns:r="http://schemas.openxmlformats.org/officeDocument/2006/relationships" r:embed="rId6" cstate="email">
            <a:extLst>
              <a:ext uri="{28A0092B-C50C-407E-A947-70E740481C1C}">
                <a14:useLocalDpi xmlns:a14="http://schemas.microsoft.com/office/drawing/2010/main"/>
              </a:ext>
            </a:extLst>
          </a:blip>
          <a:stretch>
            <a:fillRect/>
          </a:stretch>
        </a:blipFill>
        <a:ln>
          <a:noFill/>
        </a:ln>
      </dgm:spPr>
    </dgm:pt>
    <dgm:pt modelId="{9F61267B-3A0C-437D-AF6A-5A4C9FB0E60B}" type="pres">
      <dgm:prSet presAssocID="{B3B8D527-0E32-4303-AB7E-8F818DA9CF72}" presName="text2" presStyleLbl="revTx" presStyleIdx="5" presStyleCnt="7" custLinFactNeighborX="7277">
        <dgm:presLayoutVars>
          <dgm:chPref val="3"/>
        </dgm:presLayoutVars>
      </dgm:prSet>
      <dgm:spPr/>
    </dgm:pt>
    <dgm:pt modelId="{AFE8FAE2-6A42-4811-8E72-941CD67E1E34}" type="pres">
      <dgm:prSet presAssocID="{B3B8D527-0E32-4303-AB7E-8F818DA9CF72}" presName="hierChild3" presStyleCnt="0"/>
      <dgm:spPr/>
    </dgm:pt>
    <dgm:pt modelId="{82A3466D-0DDA-4DB7-8857-B9A27A9BBA22}" type="pres">
      <dgm:prSet presAssocID="{30BB7A41-2137-4D16-B0E3-89A537D04C24}" presName="Name17" presStyleLbl="parChTrans1D3" presStyleIdx="2" presStyleCnt="3"/>
      <dgm:spPr/>
    </dgm:pt>
    <dgm:pt modelId="{06F155D5-36BE-4840-A7A4-2F0874921076}" type="pres">
      <dgm:prSet presAssocID="{E955BE59-A78A-4FEB-8498-5655A7017E17}" presName="hierRoot3" presStyleCnt="0"/>
      <dgm:spPr/>
    </dgm:pt>
    <dgm:pt modelId="{40158F0D-3482-4B76-969A-118A5BEAC19D}" type="pres">
      <dgm:prSet presAssocID="{E955BE59-A78A-4FEB-8498-5655A7017E17}" presName="composite3" presStyleCnt="0"/>
      <dgm:spPr/>
    </dgm:pt>
    <dgm:pt modelId="{712A72F6-66BD-4844-B558-2E19FD60987A}" type="pres">
      <dgm:prSet presAssocID="{E955BE59-A78A-4FEB-8498-5655A7017E17}" presName="image3" presStyleLbl="node3" presStyleIdx="2" presStyleCnt="3"/>
      <dgm:spPr>
        <a:blipFill rotWithShape="1">
          <a:blip xmlns:r="http://schemas.openxmlformats.org/officeDocument/2006/relationships" r:embed="rId7" cstate="email">
            <a:extLst>
              <a:ext uri="{28A0092B-C50C-407E-A947-70E740481C1C}">
                <a14:useLocalDpi xmlns:a14="http://schemas.microsoft.com/office/drawing/2010/main"/>
              </a:ext>
            </a:extLst>
          </a:blip>
          <a:stretch>
            <a:fillRect/>
          </a:stretch>
        </a:blipFill>
        <a:ln>
          <a:noFill/>
        </a:ln>
      </dgm:spPr>
    </dgm:pt>
    <dgm:pt modelId="{092191D2-94B6-41A9-B9D3-F24B31E5EE72}" type="pres">
      <dgm:prSet presAssocID="{E955BE59-A78A-4FEB-8498-5655A7017E17}" presName="text3" presStyleLbl="revTx" presStyleIdx="6" presStyleCnt="7">
        <dgm:presLayoutVars>
          <dgm:chPref val="3"/>
        </dgm:presLayoutVars>
      </dgm:prSet>
      <dgm:spPr/>
    </dgm:pt>
    <dgm:pt modelId="{DF9130CF-337F-4F3F-8737-71341C4BA04F}" type="pres">
      <dgm:prSet presAssocID="{E955BE59-A78A-4FEB-8498-5655A7017E17}" presName="hierChild4" presStyleCnt="0"/>
      <dgm:spPr/>
    </dgm:pt>
  </dgm:ptLst>
  <dgm:cxnLst>
    <dgm:cxn modelId="{EFCAD503-4128-4255-8872-974708B06EBD}" type="presOf" srcId="{F5D4DC61-B21F-4D2C-9273-0BBFBB7D397F}" destId="{3965C5CB-97AA-4B8A-A209-A6EBCF9188E9}" srcOrd="0" destOrd="0" presId="urn:microsoft.com/office/officeart/2009/layout/CirclePictureHierarchy"/>
    <dgm:cxn modelId="{AEF9DE13-1991-4C5A-A738-EB3639B0554B}" type="presOf" srcId="{4904B4C6-4B7D-455B-AF20-67A83AB033D4}" destId="{865F1FEF-85EE-4C81-A70E-950421217F6D}" srcOrd="0" destOrd="0" presId="urn:microsoft.com/office/officeart/2009/layout/CirclePictureHierarchy"/>
    <dgm:cxn modelId="{266D4822-D378-4548-8F3A-C76F2F1748C6}" type="presOf" srcId="{BCF33756-ECF2-43BE-9F07-D5183F19B0EB}" destId="{189B5E17-3247-42B6-8D90-6686CB6DA8DA}" srcOrd="0" destOrd="0" presId="urn:microsoft.com/office/officeart/2009/layout/CirclePictureHierarchy"/>
    <dgm:cxn modelId="{6774D029-3804-4F9F-932D-56371C310B9D}" type="presOf" srcId="{E955BE59-A78A-4FEB-8498-5655A7017E17}" destId="{092191D2-94B6-41A9-B9D3-F24B31E5EE72}" srcOrd="0" destOrd="0" presId="urn:microsoft.com/office/officeart/2009/layout/CirclePictureHierarchy"/>
    <dgm:cxn modelId="{A9DFB832-6F9E-4210-A5E9-F45A6FF7EF7E}" type="presOf" srcId="{30BB7A41-2137-4D16-B0E3-89A537D04C24}" destId="{82A3466D-0DDA-4DB7-8857-B9A27A9BBA22}" srcOrd="0" destOrd="0" presId="urn:microsoft.com/office/officeart/2009/layout/CirclePictureHierarchy"/>
    <dgm:cxn modelId="{2A8DD13F-0FEF-4C89-AC52-C1BF86EDC841}" type="presOf" srcId="{F7739D43-831F-4915-B822-79C4DB9D465F}" destId="{038DF02B-E3C9-4FF7-B77B-57DA43B17D47}" srcOrd="0" destOrd="0" presId="urn:microsoft.com/office/officeart/2009/layout/CirclePictureHierarchy"/>
    <dgm:cxn modelId="{AC3AAE42-6DFD-430A-91C7-4A7ECFF9ECB7}" type="presOf" srcId="{D803D8FF-A244-4193-85A9-F34589EEB4E6}" destId="{04DC350B-3562-4A61-AC3F-6BAF497E7F52}" srcOrd="0" destOrd="0" presId="urn:microsoft.com/office/officeart/2009/layout/CirclePictureHierarchy"/>
    <dgm:cxn modelId="{63145544-E8F8-4794-9084-27DAF270858F}" srcId="{F7739D43-831F-4915-B822-79C4DB9D465F}" destId="{D803D8FF-A244-4193-85A9-F34589EEB4E6}" srcOrd="0" destOrd="0" parTransId="{6C4FF778-5958-491F-8712-FC5317337103}" sibTransId="{EAC3EE20-5409-44D7-9C75-57D29D400206}"/>
    <dgm:cxn modelId="{7C22774F-A1FB-48AB-B3FB-1256B7007570}" type="presOf" srcId="{3B17A441-AA5E-404F-B595-7E0FAE870944}" destId="{2CB56BE5-5331-4668-B5C5-EC1B42454D0C}" srcOrd="0" destOrd="0" presId="urn:microsoft.com/office/officeart/2009/layout/CirclePictureHierarchy"/>
    <dgm:cxn modelId="{7857367A-2079-4941-A385-4980E5DDA2EA}" srcId="{F65EBC6D-11DB-4F7A-BE07-22D059F882C1}" destId="{56267649-F7DE-4155-9681-C3DE30F40B62}" srcOrd="0" destOrd="0" parTransId="{0FB1979D-A2C5-4DDB-AB8D-784E808AB121}" sibTransId="{F53DC7CC-B66B-432C-B45A-5D2BF023F304}"/>
    <dgm:cxn modelId="{3638A985-69A4-4E29-B577-8B8C48833946}" type="presOf" srcId="{0FB1979D-A2C5-4DDB-AB8D-784E808AB121}" destId="{9DCBFDE7-C7B8-4585-9E1C-4DAF62BE4ACF}" srcOrd="0" destOrd="0" presId="urn:microsoft.com/office/officeart/2009/layout/CirclePictureHierarchy"/>
    <dgm:cxn modelId="{7458D88D-BC72-4A91-A3DA-429A0A7B9B6D}" type="presOf" srcId="{56267649-F7DE-4155-9681-C3DE30F40B62}" destId="{E3A39A82-DF8D-47AD-8C7E-804CB95AA49A}" srcOrd="0" destOrd="0" presId="urn:microsoft.com/office/officeart/2009/layout/CirclePictureHierarchy"/>
    <dgm:cxn modelId="{D99B2C92-0183-4FEE-8575-667DB68647FD}" srcId="{56267649-F7DE-4155-9681-C3DE30F40B62}" destId="{BCF33756-ECF2-43BE-9F07-D5183F19B0EB}" srcOrd="0" destOrd="0" parTransId="{809A4111-0E01-4569-A835-AD413E43B707}" sibTransId="{B797CA46-03EB-4270-861D-34A4BB017DAF}"/>
    <dgm:cxn modelId="{C2EB26AB-31F7-49F5-84F0-31743FA6A97C}" type="presOf" srcId="{809A4111-0E01-4569-A835-AD413E43B707}" destId="{D3258297-51B1-4C94-865E-F906009C41A7}" srcOrd="0" destOrd="0" presId="urn:microsoft.com/office/officeart/2009/layout/CirclePictureHierarchy"/>
    <dgm:cxn modelId="{96C65AC4-07A6-4BC7-83C0-97F554F992F5}" type="presOf" srcId="{B3B8D527-0E32-4303-AB7E-8F818DA9CF72}" destId="{9F61267B-3A0C-437D-AF6A-5A4C9FB0E60B}" srcOrd="0" destOrd="0" presId="urn:microsoft.com/office/officeart/2009/layout/CirclePictureHierarchy"/>
    <dgm:cxn modelId="{DE1A1CC6-4952-4F77-B715-6429638B65AB}" type="presOf" srcId="{6C4FF778-5958-491F-8712-FC5317337103}" destId="{D22C102A-D78D-4985-B77D-0919FFB353D4}" srcOrd="0" destOrd="0" presId="urn:microsoft.com/office/officeart/2009/layout/CirclePictureHierarchy"/>
    <dgm:cxn modelId="{F5CCC3D3-A1B9-41D2-9B69-02668B9F440E}" srcId="{F5D4DC61-B21F-4D2C-9273-0BBFBB7D397F}" destId="{F65EBC6D-11DB-4F7A-BE07-22D059F882C1}" srcOrd="0" destOrd="0" parTransId="{DF182200-BFC1-48E3-8C6C-956F14925B43}" sibTransId="{57B95219-3EEE-4BA4-9383-48E91E1B268A}"/>
    <dgm:cxn modelId="{4186A0E1-39F3-40C9-BE35-00FAAD814ED5}" type="presOf" srcId="{F65EBC6D-11DB-4F7A-BE07-22D059F882C1}" destId="{58681E65-1037-4552-A5A8-089B23E463A5}" srcOrd="0" destOrd="0" presId="urn:microsoft.com/office/officeart/2009/layout/CirclePictureHierarchy"/>
    <dgm:cxn modelId="{D42EA9E9-56BA-471D-9C09-A10629B1C42E}" srcId="{F65EBC6D-11DB-4F7A-BE07-22D059F882C1}" destId="{B3B8D527-0E32-4303-AB7E-8F818DA9CF72}" srcOrd="2" destOrd="0" parTransId="{4904B4C6-4B7D-455B-AF20-67A83AB033D4}" sibTransId="{563A7954-6183-4050-B389-2648E5E4C37C}"/>
    <dgm:cxn modelId="{3A25A3F5-614D-40E0-8A4A-073518E65269}" srcId="{F65EBC6D-11DB-4F7A-BE07-22D059F882C1}" destId="{F7739D43-831F-4915-B822-79C4DB9D465F}" srcOrd="1" destOrd="0" parTransId="{3B17A441-AA5E-404F-B595-7E0FAE870944}" sibTransId="{0E46D9E9-7E21-4142-A42A-AC6B125498A8}"/>
    <dgm:cxn modelId="{2CECC0FF-DB1B-40F6-8949-8646F9037763}" srcId="{B3B8D527-0E32-4303-AB7E-8F818DA9CF72}" destId="{E955BE59-A78A-4FEB-8498-5655A7017E17}" srcOrd="0" destOrd="0" parTransId="{30BB7A41-2137-4D16-B0E3-89A537D04C24}" sibTransId="{4936B723-2A1B-4EB0-87F8-F4C458B575C7}"/>
    <dgm:cxn modelId="{E6B16A11-56D6-4000-BBE9-7E22A0089B7F}" type="presParOf" srcId="{3965C5CB-97AA-4B8A-A209-A6EBCF9188E9}" destId="{4FF10367-16DC-4FE2-BC18-03B4CEFE38EA}" srcOrd="0" destOrd="0" presId="urn:microsoft.com/office/officeart/2009/layout/CirclePictureHierarchy"/>
    <dgm:cxn modelId="{FE620F4F-D877-4062-9812-A6B5CABBBADE}" type="presParOf" srcId="{4FF10367-16DC-4FE2-BC18-03B4CEFE38EA}" destId="{12CEDB08-415D-40DD-BAFF-1CD0B9BABD17}" srcOrd="0" destOrd="0" presId="urn:microsoft.com/office/officeart/2009/layout/CirclePictureHierarchy"/>
    <dgm:cxn modelId="{5C1DC9FE-7020-45FE-A512-807DA4396D59}" type="presParOf" srcId="{12CEDB08-415D-40DD-BAFF-1CD0B9BABD17}" destId="{CB10DDB0-B878-44C4-89D0-989C7CD51797}" srcOrd="0" destOrd="0" presId="urn:microsoft.com/office/officeart/2009/layout/CirclePictureHierarchy"/>
    <dgm:cxn modelId="{B6C8DCDB-2B57-4C9E-B99F-01AEBFB60DD1}" type="presParOf" srcId="{12CEDB08-415D-40DD-BAFF-1CD0B9BABD17}" destId="{58681E65-1037-4552-A5A8-089B23E463A5}" srcOrd="1" destOrd="0" presId="urn:microsoft.com/office/officeart/2009/layout/CirclePictureHierarchy"/>
    <dgm:cxn modelId="{37A6DACE-D3D6-4AE0-B3D7-EBE14F9FB1C2}" type="presParOf" srcId="{4FF10367-16DC-4FE2-BC18-03B4CEFE38EA}" destId="{5EE13695-8706-4DD2-9317-0C8B790C378B}" srcOrd="1" destOrd="0" presId="urn:microsoft.com/office/officeart/2009/layout/CirclePictureHierarchy"/>
    <dgm:cxn modelId="{4864BE18-6A5B-4252-8CB5-DB9DF54ADD1E}" type="presParOf" srcId="{5EE13695-8706-4DD2-9317-0C8B790C378B}" destId="{9DCBFDE7-C7B8-4585-9E1C-4DAF62BE4ACF}" srcOrd="0" destOrd="0" presId="urn:microsoft.com/office/officeart/2009/layout/CirclePictureHierarchy"/>
    <dgm:cxn modelId="{F518B267-243F-4FA4-BE56-357C28441B06}" type="presParOf" srcId="{5EE13695-8706-4DD2-9317-0C8B790C378B}" destId="{882C5098-EF61-40E4-9EDE-80A90603F402}" srcOrd="1" destOrd="0" presId="urn:microsoft.com/office/officeart/2009/layout/CirclePictureHierarchy"/>
    <dgm:cxn modelId="{247328D4-BF6A-44BA-A254-801C243BAA73}" type="presParOf" srcId="{882C5098-EF61-40E4-9EDE-80A90603F402}" destId="{828A2AE2-3574-4DFF-9572-49C0F04993BF}" srcOrd="0" destOrd="0" presId="urn:microsoft.com/office/officeart/2009/layout/CirclePictureHierarchy"/>
    <dgm:cxn modelId="{FC8B1929-A003-4ECF-A08E-6668FA46F928}" type="presParOf" srcId="{828A2AE2-3574-4DFF-9572-49C0F04993BF}" destId="{3C12F549-37E6-41D4-A089-44B6B5F8B822}" srcOrd="0" destOrd="0" presId="urn:microsoft.com/office/officeart/2009/layout/CirclePictureHierarchy"/>
    <dgm:cxn modelId="{FF4D9463-F3F0-423B-8CEE-E12FB8955D97}" type="presParOf" srcId="{828A2AE2-3574-4DFF-9572-49C0F04993BF}" destId="{E3A39A82-DF8D-47AD-8C7E-804CB95AA49A}" srcOrd="1" destOrd="0" presId="urn:microsoft.com/office/officeart/2009/layout/CirclePictureHierarchy"/>
    <dgm:cxn modelId="{E123F3CB-7BE3-4435-9EFE-5A28BD5B6C17}" type="presParOf" srcId="{882C5098-EF61-40E4-9EDE-80A90603F402}" destId="{C5DE2F7E-FABC-4AEA-9A98-789CE5F21AC7}" srcOrd="1" destOrd="0" presId="urn:microsoft.com/office/officeart/2009/layout/CirclePictureHierarchy"/>
    <dgm:cxn modelId="{93EDC3FB-4A7A-4BD9-A1CA-61EC773B57C8}" type="presParOf" srcId="{C5DE2F7E-FABC-4AEA-9A98-789CE5F21AC7}" destId="{D3258297-51B1-4C94-865E-F906009C41A7}" srcOrd="0" destOrd="0" presId="urn:microsoft.com/office/officeart/2009/layout/CirclePictureHierarchy"/>
    <dgm:cxn modelId="{BD7CE0C2-407E-46CD-A235-1FE81337F67A}" type="presParOf" srcId="{C5DE2F7E-FABC-4AEA-9A98-789CE5F21AC7}" destId="{B2507DB0-A3E9-43A0-A75B-225E3995EB10}" srcOrd="1" destOrd="0" presId="urn:microsoft.com/office/officeart/2009/layout/CirclePictureHierarchy"/>
    <dgm:cxn modelId="{070C1BCF-13BD-409C-AD39-64E31C6DB93B}" type="presParOf" srcId="{B2507DB0-A3E9-43A0-A75B-225E3995EB10}" destId="{28E6C0E4-D678-469D-8E40-41FB06823EB7}" srcOrd="0" destOrd="0" presId="urn:microsoft.com/office/officeart/2009/layout/CirclePictureHierarchy"/>
    <dgm:cxn modelId="{EDF07319-8DE4-440E-A2C0-1AEB03623D43}" type="presParOf" srcId="{28E6C0E4-D678-469D-8E40-41FB06823EB7}" destId="{9221BB73-536D-4C19-AA25-C21E1641C276}" srcOrd="0" destOrd="0" presId="urn:microsoft.com/office/officeart/2009/layout/CirclePictureHierarchy"/>
    <dgm:cxn modelId="{F22EA8B3-FD0A-4147-9D4F-92BEC21FAA4A}" type="presParOf" srcId="{28E6C0E4-D678-469D-8E40-41FB06823EB7}" destId="{189B5E17-3247-42B6-8D90-6686CB6DA8DA}" srcOrd="1" destOrd="0" presId="urn:microsoft.com/office/officeart/2009/layout/CirclePictureHierarchy"/>
    <dgm:cxn modelId="{A0D505CA-2D13-4773-AED7-454EB4E6271D}" type="presParOf" srcId="{B2507DB0-A3E9-43A0-A75B-225E3995EB10}" destId="{610028CD-07A3-41C2-9D3E-4F63765F2F54}" srcOrd="1" destOrd="0" presId="urn:microsoft.com/office/officeart/2009/layout/CirclePictureHierarchy"/>
    <dgm:cxn modelId="{7970B344-9719-4BCC-9FA5-EA6BDD7EECC5}" type="presParOf" srcId="{5EE13695-8706-4DD2-9317-0C8B790C378B}" destId="{2CB56BE5-5331-4668-B5C5-EC1B42454D0C}" srcOrd="2" destOrd="0" presId="urn:microsoft.com/office/officeart/2009/layout/CirclePictureHierarchy"/>
    <dgm:cxn modelId="{624F253F-94B6-48DA-AC9D-7D99A75E026D}" type="presParOf" srcId="{5EE13695-8706-4DD2-9317-0C8B790C378B}" destId="{BEE8CCD5-EAD4-4024-8DE3-D65E5D5EE098}" srcOrd="3" destOrd="0" presId="urn:microsoft.com/office/officeart/2009/layout/CirclePictureHierarchy"/>
    <dgm:cxn modelId="{777E8488-AB13-4E81-A7C7-3ABC3C6B069D}" type="presParOf" srcId="{BEE8CCD5-EAD4-4024-8DE3-D65E5D5EE098}" destId="{601DEC8C-E3F2-45B1-A4E7-B365A55BF126}" srcOrd="0" destOrd="0" presId="urn:microsoft.com/office/officeart/2009/layout/CirclePictureHierarchy"/>
    <dgm:cxn modelId="{B16100E5-BEE9-45A3-A454-953B4CBD55DE}" type="presParOf" srcId="{601DEC8C-E3F2-45B1-A4E7-B365A55BF126}" destId="{19836D26-1DFE-4BA9-98F2-5348A92F1818}" srcOrd="0" destOrd="0" presId="urn:microsoft.com/office/officeart/2009/layout/CirclePictureHierarchy"/>
    <dgm:cxn modelId="{A2F6462B-5240-4FF6-9F76-DD360B94D8A6}" type="presParOf" srcId="{601DEC8C-E3F2-45B1-A4E7-B365A55BF126}" destId="{038DF02B-E3C9-4FF7-B77B-57DA43B17D47}" srcOrd="1" destOrd="0" presId="urn:microsoft.com/office/officeart/2009/layout/CirclePictureHierarchy"/>
    <dgm:cxn modelId="{989AF1FC-96AD-462E-BF30-7226D7E71C85}" type="presParOf" srcId="{BEE8CCD5-EAD4-4024-8DE3-D65E5D5EE098}" destId="{1A279641-78C4-4A8A-B217-CC39BBA50C62}" srcOrd="1" destOrd="0" presId="urn:microsoft.com/office/officeart/2009/layout/CirclePictureHierarchy"/>
    <dgm:cxn modelId="{8EEF94C5-F5A2-406D-AB92-8833699ACB87}" type="presParOf" srcId="{1A279641-78C4-4A8A-B217-CC39BBA50C62}" destId="{D22C102A-D78D-4985-B77D-0919FFB353D4}" srcOrd="0" destOrd="0" presId="urn:microsoft.com/office/officeart/2009/layout/CirclePictureHierarchy"/>
    <dgm:cxn modelId="{F9426DBA-4665-48C4-B902-3AA9057EFF35}" type="presParOf" srcId="{1A279641-78C4-4A8A-B217-CC39BBA50C62}" destId="{210FE99B-65B9-45A8-B786-8DD4976CE1A2}" srcOrd="1" destOrd="0" presId="urn:microsoft.com/office/officeart/2009/layout/CirclePictureHierarchy"/>
    <dgm:cxn modelId="{DFF8911F-140D-4733-B2C6-AA9E652A6394}" type="presParOf" srcId="{210FE99B-65B9-45A8-B786-8DD4976CE1A2}" destId="{CE284273-68CD-44D6-94A2-7F431DBC6C5E}" srcOrd="0" destOrd="0" presId="urn:microsoft.com/office/officeart/2009/layout/CirclePictureHierarchy"/>
    <dgm:cxn modelId="{53D77ACE-CB8B-4DAC-B842-75E2035CE389}" type="presParOf" srcId="{CE284273-68CD-44D6-94A2-7F431DBC6C5E}" destId="{A281CAC5-3902-4C3B-B396-A80E7AE7CEBD}" srcOrd="0" destOrd="0" presId="urn:microsoft.com/office/officeart/2009/layout/CirclePictureHierarchy"/>
    <dgm:cxn modelId="{BB3D889C-9D35-4569-AA19-79479846AA69}" type="presParOf" srcId="{CE284273-68CD-44D6-94A2-7F431DBC6C5E}" destId="{04DC350B-3562-4A61-AC3F-6BAF497E7F52}" srcOrd="1" destOrd="0" presId="urn:microsoft.com/office/officeart/2009/layout/CirclePictureHierarchy"/>
    <dgm:cxn modelId="{45DB9444-F2FA-4967-BE21-40F78CC0B6EA}" type="presParOf" srcId="{210FE99B-65B9-45A8-B786-8DD4976CE1A2}" destId="{6DDC9189-6DF0-4734-9358-C72CFC6854BD}" srcOrd="1" destOrd="0" presId="urn:microsoft.com/office/officeart/2009/layout/CirclePictureHierarchy"/>
    <dgm:cxn modelId="{5DAAE18A-1A59-4442-95B0-F237971DB88A}" type="presParOf" srcId="{5EE13695-8706-4DD2-9317-0C8B790C378B}" destId="{865F1FEF-85EE-4C81-A70E-950421217F6D}" srcOrd="4" destOrd="0" presId="urn:microsoft.com/office/officeart/2009/layout/CirclePictureHierarchy"/>
    <dgm:cxn modelId="{C61656C6-AA85-44BF-9F43-D69F49484D78}" type="presParOf" srcId="{5EE13695-8706-4DD2-9317-0C8B790C378B}" destId="{C71A3EDB-6DEC-458C-A699-B2673B4A9C4A}" srcOrd="5" destOrd="0" presId="urn:microsoft.com/office/officeart/2009/layout/CirclePictureHierarchy"/>
    <dgm:cxn modelId="{A33B4650-A297-41AC-B990-10002AA40831}" type="presParOf" srcId="{C71A3EDB-6DEC-458C-A699-B2673B4A9C4A}" destId="{342D1206-4F58-4382-A86B-087E2892B956}" srcOrd="0" destOrd="0" presId="urn:microsoft.com/office/officeart/2009/layout/CirclePictureHierarchy"/>
    <dgm:cxn modelId="{9B7D9C6A-9EFF-4CEE-A4A3-782416D89CEE}" type="presParOf" srcId="{342D1206-4F58-4382-A86B-087E2892B956}" destId="{7FB13D78-2EAC-43C1-884D-8608C4BAC230}" srcOrd="0" destOrd="0" presId="urn:microsoft.com/office/officeart/2009/layout/CirclePictureHierarchy"/>
    <dgm:cxn modelId="{96E2602A-FE87-4932-8144-CD1B567D3FD9}" type="presParOf" srcId="{342D1206-4F58-4382-A86B-087E2892B956}" destId="{9F61267B-3A0C-437D-AF6A-5A4C9FB0E60B}" srcOrd="1" destOrd="0" presId="urn:microsoft.com/office/officeart/2009/layout/CirclePictureHierarchy"/>
    <dgm:cxn modelId="{4582702F-EF9E-4EDA-87B2-285B91962744}" type="presParOf" srcId="{C71A3EDB-6DEC-458C-A699-B2673B4A9C4A}" destId="{AFE8FAE2-6A42-4811-8E72-941CD67E1E34}" srcOrd="1" destOrd="0" presId="urn:microsoft.com/office/officeart/2009/layout/CirclePictureHierarchy"/>
    <dgm:cxn modelId="{45DF856A-C04B-4451-A377-90A2D127765E}" type="presParOf" srcId="{AFE8FAE2-6A42-4811-8E72-941CD67E1E34}" destId="{82A3466D-0DDA-4DB7-8857-B9A27A9BBA22}" srcOrd="0" destOrd="0" presId="urn:microsoft.com/office/officeart/2009/layout/CirclePictureHierarchy"/>
    <dgm:cxn modelId="{B5442D1E-5757-4E80-9176-B26F48B7BD95}" type="presParOf" srcId="{AFE8FAE2-6A42-4811-8E72-941CD67E1E34}" destId="{06F155D5-36BE-4840-A7A4-2F0874921076}" srcOrd="1" destOrd="0" presId="urn:microsoft.com/office/officeart/2009/layout/CirclePictureHierarchy"/>
    <dgm:cxn modelId="{7E35CE4E-EA07-4D1A-BE3A-0EE7311C2F2E}" type="presParOf" srcId="{06F155D5-36BE-4840-A7A4-2F0874921076}" destId="{40158F0D-3482-4B76-969A-118A5BEAC19D}" srcOrd="0" destOrd="0" presId="urn:microsoft.com/office/officeart/2009/layout/CirclePictureHierarchy"/>
    <dgm:cxn modelId="{2AB85552-5C62-4B79-A96A-80026851E76D}" type="presParOf" srcId="{40158F0D-3482-4B76-969A-118A5BEAC19D}" destId="{712A72F6-66BD-4844-B558-2E19FD60987A}" srcOrd="0" destOrd="0" presId="urn:microsoft.com/office/officeart/2009/layout/CirclePictureHierarchy"/>
    <dgm:cxn modelId="{02EDA5C8-63B7-4A45-9B1A-888EA059791F}" type="presParOf" srcId="{40158F0D-3482-4B76-969A-118A5BEAC19D}" destId="{092191D2-94B6-41A9-B9D3-F24B31E5EE72}" srcOrd="1" destOrd="0" presId="urn:microsoft.com/office/officeart/2009/layout/CirclePictureHierarchy"/>
    <dgm:cxn modelId="{697F3C2E-009C-4C91-B7AC-06E6063C3CD5}" type="presParOf" srcId="{06F155D5-36BE-4840-A7A4-2F0874921076}" destId="{DF9130CF-337F-4F3F-8737-71341C4BA04F}" srcOrd="1" destOrd="0" presId="urn:microsoft.com/office/officeart/2009/layout/CirclePicture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A3466D-0DDA-4DB7-8857-B9A27A9BBA22}">
      <dsp:nvSpPr>
        <dsp:cNvPr id="0" name=""/>
        <dsp:cNvSpPr/>
      </dsp:nvSpPr>
      <dsp:spPr>
        <a:xfrm>
          <a:off x="6241762" y="2420882"/>
          <a:ext cx="91440" cy="324195"/>
        </a:xfrm>
        <a:custGeom>
          <a:avLst/>
          <a:gdLst/>
          <a:ahLst/>
          <a:cxnLst/>
          <a:rect l="0" t="0" r="0" b="0"/>
          <a:pathLst>
            <a:path>
              <a:moveTo>
                <a:pt x="45720" y="0"/>
              </a:moveTo>
              <a:lnTo>
                <a:pt x="45720" y="324195"/>
              </a:lnTo>
            </a:path>
          </a:pathLst>
        </a:custGeom>
        <a:noFill/>
        <a:ln w="25400" cap="flat" cmpd="sng" algn="ctr">
          <a:solidFill>
            <a:schemeClr val="bg2">
              <a:lumMod val="50000"/>
            </a:schemeClr>
          </a:solidFill>
          <a:prstDash val="solid"/>
        </a:ln>
        <a:effectLst/>
      </dsp:spPr>
      <dsp:style>
        <a:lnRef idx="2">
          <a:scrgbClr r="0" g="0" b="0"/>
        </a:lnRef>
        <a:fillRef idx="0">
          <a:scrgbClr r="0" g="0" b="0"/>
        </a:fillRef>
        <a:effectRef idx="0">
          <a:scrgbClr r="0" g="0" b="0"/>
        </a:effectRef>
        <a:fontRef idx="minor"/>
      </dsp:style>
    </dsp:sp>
    <dsp:sp modelId="{865F1FEF-85EE-4C81-A70E-950421217F6D}">
      <dsp:nvSpPr>
        <dsp:cNvPr id="0" name=""/>
        <dsp:cNvSpPr/>
      </dsp:nvSpPr>
      <dsp:spPr>
        <a:xfrm>
          <a:off x="3457206" y="1067495"/>
          <a:ext cx="2830275" cy="324195"/>
        </a:xfrm>
        <a:custGeom>
          <a:avLst/>
          <a:gdLst/>
          <a:ahLst/>
          <a:cxnLst/>
          <a:rect l="0" t="0" r="0" b="0"/>
          <a:pathLst>
            <a:path>
              <a:moveTo>
                <a:pt x="0" y="0"/>
              </a:moveTo>
              <a:lnTo>
                <a:pt x="0" y="163384"/>
              </a:lnTo>
              <a:lnTo>
                <a:pt x="2830275" y="163384"/>
              </a:lnTo>
              <a:lnTo>
                <a:pt x="2830275" y="324195"/>
              </a:lnTo>
            </a:path>
          </a:pathLst>
        </a:custGeom>
        <a:noFill/>
        <a:ln w="25400" cap="flat" cmpd="sng" algn="ctr">
          <a:solidFill>
            <a:schemeClr val="bg2">
              <a:lumMod val="50000"/>
            </a:schemeClr>
          </a:solidFill>
          <a:prstDash val="solid"/>
        </a:ln>
        <a:effectLst/>
      </dsp:spPr>
      <dsp:style>
        <a:lnRef idx="2">
          <a:scrgbClr r="0" g="0" b="0"/>
        </a:lnRef>
        <a:fillRef idx="0">
          <a:scrgbClr r="0" g="0" b="0"/>
        </a:fillRef>
        <a:effectRef idx="0">
          <a:scrgbClr r="0" g="0" b="0"/>
        </a:effectRef>
        <a:fontRef idx="minor"/>
      </dsp:style>
    </dsp:sp>
    <dsp:sp modelId="{D22C102A-D78D-4985-B77D-0919FFB353D4}">
      <dsp:nvSpPr>
        <dsp:cNvPr id="0" name=""/>
        <dsp:cNvSpPr/>
      </dsp:nvSpPr>
      <dsp:spPr>
        <a:xfrm>
          <a:off x="3411486" y="2420882"/>
          <a:ext cx="91440" cy="324195"/>
        </a:xfrm>
        <a:custGeom>
          <a:avLst/>
          <a:gdLst/>
          <a:ahLst/>
          <a:cxnLst/>
          <a:rect l="0" t="0" r="0" b="0"/>
          <a:pathLst>
            <a:path>
              <a:moveTo>
                <a:pt x="45720" y="0"/>
              </a:moveTo>
              <a:lnTo>
                <a:pt x="45720" y="324195"/>
              </a:lnTo>
            </a:path>
          </a:pathLst>
        </a:custGeom>
        <a:noFill/>
        <a:ln w="25400" cap="flat" cmpd="sng" algn="ctr">
          <a:solidFill>
            <a:schemeClr val="bg2">
              <a:lumMod val="50000"/>
            </a:schemeClr>
          </a:solidFill>
          <a:prstDash val="solid"/>
        </a:ln>
        <a:effectLst/>
      </dsp:spPr>
      <dsp:style>
        <a:lnRef idx="2">
          <a:scrgbClr r="0" g="0" b="0"/>
        </a:lnRef>
        <a:fillRef idx="0">
          <a:scrgbClr r="0" g="0" b="0"/>
        </a:fillRef>
        <a:effectRef idx="0">
          <a:scrgbClr r="0" g="0" b="0"/>
        </a:effectRef>
        <a:fontRef idx="minor"/>
      </dsp:style>
    </dsp:sp>
    <dsp:sp modelId="{2CB56BE5-5331-4668-B5C5-EC1B42454D0C}">
      <dsp:nvSpPr>
        <dsp:cNvPr id="0" name=""/>
        <dsp:cNvSpPr/>
      </dsp:nvSpPr>
      <dsp:spPr>
        <a:xfrm>
          <a:off x="3411486" y="1067495"/>
          <a:ext cx="91440" cy="324195"/>
        </a:xfrm>
        <a:custGeom>
          <a:avLst/>
          <a:gdLst/>
          <a:ahLst/>
          <a:cxnLst/>
          <a:rect l="0" t="0" r="0" b="0"/>
          <a:pathLst>
            <a:path>
              <a:moveTo>
                <a:pt x="45720" y="0"/>
              </a:moveTo>
              <a:lnTo>
                <a:pt x="45720" y="32419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258297-51B1-4C94-865E-F906009C41A7}">
      <dsp:nvSpPr>
        <dsp:cNvPr id="0" name=""/>
        <dsp:cNvSpPr/>
      </dsp:nvSpPr>
      <dsp:spPr>
        <a:xfrm>
          <a:off x="581211" y="2420882"/>
          <a:ext cx="91440" cy="324195"/>
        </a:xfrm>
        <a:custGeom>
          <a:avLst/>
          <a:gdLst/>
          <a:ahLst/>
          <a:cxnLst/>
          <a:rect l="0" t="0" r="0" b="0"/>
          <a:pathLst>
            <a:path>
              <a:moveTo>
                <a:pt x="45720" y="0"/>
              </a:moveTo>
              <a:lnTo>
                <a:pt x="45720" y="324195"/>
              </a:lnTo>
            </a:path>
          </a:pathLst>
        </a:custGeom>
        <a:noFill/>
        <a:ln w="25400" cap="flat" cmpd="sng" algn="ctr">
          <a:solidFill>
            <a:schemeClr val="bg2">
              <a:lumMod val="50000"/>
            </a:schemeClr>
          </a:solidFill>
          <a:prstDash val="solid"/>
        </a:ln>
        <a:effectLst/>
      </dsp:spPr>
      <dsp:style>
        <a:lnRef idx="2">
          <a:scrgbClr r="0" g="0" b="0"/>
        </a:lnRef>
        <a:fillRef idx="0">
          <a:scrgbClr r="0" g="0" b="0"/>
        </a:fillRef>
        <a:effectRef idx="0">
          <a:scrgbClr r="0" g="0" b="0"/>
        </a:effectRef>
        <a:fontRef idx="minor"/>
      </dsp:style>
    </dsp:sp>
    <dsp:sp modelId="{9DCBFDE7-C7B8-4585-9E1C-4DAF62BE4ACF}">
      <dsp:nvSpPr>
        <dsp:cNvPr id="0" name=""/>
        <dsp:cNvSpPr/>
      </dsp:nvSpPr>
      <dsp:spPr>
        <a:xfrm>
          <a:off x="626931" y="1067495"/>
          <a:ext cx="2830275" cy="324195"/>
        </a:xfrm>
        <a:custGeom>
          <a:avLst/>
          <a:gdLst/>
          <a:ahLst/>
          <a:cxnLst/>
          <a:rect l="0" t="0" r="0" b="0"/>
          <a:pathLst>
            <a:path>
              <a:moveTo>
                <a:pt x="2830275" y="0"/>
              </a:moveTo>
              <a:lnTo>
                <a:pt x="2830275" y="163384"/>
              </a:lnTo>
              <a:lnTo>
                <a:pt x="0" y="163384"/>
              </a:lnTo>
              <a:lnTo>
                <a:pt x="0" y="324195"/>
              </a:lnTo>
            </a:path>
          </a:pathLst>
        </a:custGeom>
        <a:noFill/>
        <a:ln w="25400" cap="flat" cmpd="sng" algn="ctr">
          <a:solidFill>
            <a:schemeClr val="bg2">
              <a:lumMod val="50000"/>
            </a:schemeClr>
          </a:solidFill>
          <a:prstDash val="solid"/>
        </a:ln>
        <a:effectLst/>
      </dsp:spPr>
      <dsp:style>
        <a:lnRef idx="2">
          <a:scrgbClr r="0" g="0" b="0"/>
        </a:lnRef>
        <a:fillRef idx="0">
          <a:scrgbClr r="0" g="0" b="0"/>
        </a:fillRef>
        <a:effectRef idx="0">
          <a:scrgbClr r="0" g="0" b="0"/>
        </a:effectRef>
        <a:fontRef idx="minor"/>
      </dsp:style>
    </dsp:sp>
    <dsp:sp modelId="{CB10DDB0-B878-44C4-89D0-989C7CD51797}">
      <dsp:nvSpPr>
        <dsp:cNvPr id="0" name=""/>
        <dsp:cNvSpPr/>
      </dsp:nvSpPr>
      <dsp:spPr>
        <a:xfrm>
          <a:off x="2942611" y="38304"/>
          <a:ext cx="1029191" cy="1029191"/>
        </a:xfrm>
        <a:prstGeom prst="ellipse">
          <a:avLst/>
        </a:prstGeom>
        <a:blipFill rotWithShape="1">
          <a:blip xmlns:r="http://schemas.openxmlformats.org/officeDocument/2006/relationships" r:embed="rId1" cstate="email">
            <a:extLst>
              <a:ext uri="{28A0092B-C50C-407E-A947-70E740481C1C}">
                <a14:useLocalDpi xmlns:a14="http://schemas.microsoft.com/office/drawing/2010/main"/>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681E65-1037-4552-A5A8-089B23E463A5}">
      <dsp:nvSpPr>
        <dsp:cNvPr id="0" name=""/>
        <dsp:cNvSpPr/>
      </dsp:nvSpPr>
      <dsp:spPr>
        <a:xfrm>
          <a:off x="4095011" y="35731"/>
          <a:ext cx="1543786" cy="1029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IN" sz="1400" kern="1200" dirty="0">
              <a:latin typeface="Calibri Light" panose="020F0302020204030204" pitchFamily="34" charset="0"/>
              <a:cs typeface="Calibri Light" panose="020F0302020204030204" pitchFamily="34" charset="0"/>
            </a:rPr>
            <a:t>Market Regulator SEBI</a:t>
          </a:r>
        </a:p>
      </dsp:txBody>
      <dsp:txXfrm>
        <a:off x="4095011" y="35731"/>
        <a:ext cx="1543786" cy="1029191"/>
      </dsp:txXfrm>
    </dsp:sp>
    <dsp:sp modelId="{3C12F549-37E6-41D4-A089-44B6B5F8B822}">
      <dsp:nvSpPr>
        <dsp:cNvPr id="0" name=""/>
        <dsp:cNvSpPr/>
      </dsp:nvSpPr>
      <dsp:spPr>
        <a:xfrm>
          <a:off x="112335" y="1391690"/>
          <a:ext cx="1029191" cy="1029191"/>
        </a:xfrm>
        <a:prstGeom prst="ellipse">
          <a:avLst/>
        </a:prstGeom>
        <a:blipFill rotWithShape="1">
          <a:blip xmlns:r="http://schemas.openxmlformats.org/officeDocument/2006/relationships" r:embed="rId2" cstate="email">
            <a:extLst>
              <a:ext uri="{28A0092B-C50C-407E-A947-70E740481C1C}">
                <a14:useLocalDpi xmlns:a14="http://schemas.microsoft.com/office/drawing/2010/main"/>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A39A82-DF8D-47AD-8C7E-804CB95AA49A}">
      <dsp:nvSpPr>
        <dsp:cNvPr id="0" name=""/>
        <dsp:cNvSpPr/>
      </dsp:nvSpPr>
      <dsp:spPr>
        <a:xfrm>
          <a:off x="1275619" y="1389117"/>
          <a:ext cx="1543786" cy="1029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altLang="en-US" sz="1400" kern="1200" dirty="0">
              <a:latin typeface="Calibri Light" panose="020F0302020204030204" pitchFamily="34" charset="0"/>
              <a:cs typeface="Calibri Light" panose="020F0302020204030204" pitchFamily="34" charset="0"/>
            </a:rPr>
            <a:t>Stocks and Commodities Derivative </a:t>
          </a:r>
          <a:r>
            <a:rPr lang="en-US" sz="1400" kern="1200" dirty="0">
              <a:latin typeface="Calibri Light" panose="020F0302020204030204" pitchFamily="34" charset="0"/>
              <a:cs typeface="Calibri Light" panose="020F0302020204030204" pitchFamily="34" charset="0"/>
            </a:rPr>
            <a:t>Exchanges</a:t>
          </a:r>
          <a:endParaRPr lang="en-IN" sz="1400" kern="1200" dirty="0">
            <a:latin typeface="Calibri Light" panose="020F0302020204030204" pitchFamily="34" charset="0"/>
            <a:cs typeface="Calibri Light" panose="020F0302020204030204" pitchFamily="34" charset="0"/>
          </a:endParaRPr>
        </a:p>
      </dsp:txBody>
      <dsp:txXfrm>
        <a:off x="1275619" y="1389117"/>
        <a:ext cx="1543786" cy="1029191"/>
      </dsp:txXfrm>
    </dsp:sp>
    <dsp:sp modelId="{9221BB73-536D-4C19-AA25-C21E1641C276}">
      <dsp:nvSpPr>
        <dsp:cNvPr id="0" name=""/>
        <dsp:cNvSpPr/>
      </dsp:nvSpPr>
      <dsp:spPr>
        <a:xfrm>
          <a:off x="112335" y="2745077"/>
          <a:ext cx="1029191" cy="1029191"/>
        </a:xfrm>
        <a:prstGeom prst="ellipse">
          <a:avLst/>
        </a:prstGeom>
        <a:blipFill rotWithShape="1">
          <a:blip xmlns:r="http://schemas.openxmlformats.org/officeDocument/2006/relationships" r:embed="rId3" cstate="email">
            <a:extLst>
              <a:ext uri="{28A0092B-C50C-407E-A947-70E740481C1C}">
                <a14:useLocalDpi xmlns:a14="http://schemas.microsoft.com/office/drawing/2010/main"/>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89B5E17-3247-42B6-8D90-6686CB6DA8DA}">
      <dsp:nvSpPr>
        <dsp:cNvPr id="0" name=""/>
        <dsp:cNvSpPr/>
      </dsp:nvSpPr>
      <dsp:spPr>
        <a:xfrm>
          <a:off x="1141526" y="2742504"/>
          <a:ext cx="1543786" cy="1029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endParaRPr lang="en-IN" sz="1400" kern="1200">
            <a:latin typeface="Calibri Light" panose="020F0302020204030204" pitchFamily="34" charset="0"/>
            <a:cs typeface="Calibri Light" panose="020F0302020204030204" pitchFamily="34" charset="0"/>
          </a:endParaRPr>
        </a:p>
      </dsp:txBody>
      <dsp:txXfrm>
        <a:off x="1141526" y="2742504"/>
        <a:ext cx="1543786" cy="1029191"/>
      </dsp:txXfrm>
    </dsp:sp>
    <dsp:sp modelId="{19836D26-1DFE-4BA9-98F2-5348A92F1818}">
      <dsp:nvSpPr>
        <dsp:cNvPr id="0" name=""/>
        <dsp:cNvSpPr/>
      </dsp:nvSpPr>
      <dsp:spPr>
        <a:xfrm>
          <a:off x="2942611" y="1391690"/>
          <a:ext cx="1029191" cy="1029191"/>
        </a:xfrm>
        <a:prstGeom prst="ellipse">
          <a:avLst/>
        </a:prstGeom>
        <a:blipFill rotWithShape="1">
          <a:blip xmlns:r="http://schemas.openxmlformats.org/officeDocument/2006/relationships" r:embed="rId4" cstate="email">
            <a:extLst>
              <a:ext uri="{28A0092B-C50C-407E-A947-70E740481C1C}">
                <a14:useLocalDpi xmlns:a14="http://schemas.microsoft.com/office/drawing/2010/main"/>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38DF02B-E3C9-4FF7-B77B-57DA43B17D47}">
      <dsp:nvSpPr>
        <dsp:cNvPr id="0" name=""/>
        <dsp:cNvSpPr/>
      </dsp:nvSpPr>
      <dsp:spPr>
        <a:xfrm>
          <a:off x="4095011" y="1389117"/>
          <a:ext cx="1543786" cy="1029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altLang="en-US" sz="1400" kern="1200" dirty="0">
              <a:latin typeface="Calibri Light" panose="020F0302020204030204" pitchFamily="34" charset="0"/>
              <a:cs typeface="Calibri Light" panose="020F0302020204030204" pitchFamily="34" charset="0"/>
            </a:rPr>
            <a:t>Depositories</a:t>
          </a:r>
          <a:endParaRPr lang="en-IN" sz="1400" kern="1200" dirty="0">
            <a:latin typeface="Calibri Light" panose="020F0302020204030204" pitchFamily="34" charset="0"/>
            <a:cs typeface="Calibri Light" panose="020F0302020204030204" pitchFamily="34" charset="0"/>
          </a:endParaRPr>
        </a:p>
      </dsp:txBody>
      <dsp:txXfrm>
        <a:off x="4095011" y="1389117"/>
        <a:ext cx="1543786" cy="1029191"/>
      </dsp:txXfrm>
    </dsp:sp>
    <dsp:sp modelId="{A281CAC5-3902-4C3B-B396-A80E7AE7CEBD}">
      <dsp:nvSpPr>
        <dsp:cNvPr id="0" name=""/>
        <dsp:cNvSpPr/>
      </dsp:nvSpPr>
      <dsp:spPr>
        <a:xfrm>
          <a:off x="2942611" y="2745077"/>
          <a:ext cx="1029191" cy="1029191"/>
        </a:xfrm>
        <a:prstGeom prst="ellipse">
          <a:avLst/>
        </a:prstGeom>
        <a:blipFill rotWithShape="1">
          <a:blip xmlns:r="http://schemas.openxmlformats.org/officeDocument/2006/relationships" r:embed="rId5"/>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4DC350B-3562-4A61-AC3F-6BAF497E7F52}">
      <dsp:nvSpPr>
        <dsp:cNvPr id="0" name=""/>
        <dsp:cNvSpPr/>
      </dsp:nvSpPr>
      <dsp:spPr>
        <a:xfrm>
          <a:off x="3971802" y="2742504"/>
          <a:ext cx="1543786" cy="1029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endParaRPr lang="en-IN" sz="1400" kern="1200">
            <a:latin typeface="Calibri Light" panose="020F0302020204030204" pitchFamily="34" charset="0"/>
            <a:cs typeface="Calibri Light" panose="020F0302020204030204" pitchFamily="34" charset="0"/>
          </a:endParaRPr>
        </a:p>
      </dsp:txBody>
      <dsp:txXfrm>
        <a:off x="3971802" y="2742504"/>
        <a:ext cx="1543786" cy="1029191"/>
      </dsp:txXfrm>
    </dsp:sp>
    <dsp:sp modelId="{7FB13D78-2EAC-43C1-884D-8608C4BAC230}">
      <dsp:nvSpPr>
        <dsp:cNvPr id="0" name=""/>
        <dsp:cNvSpPr/>
      </dsp:nvSpPr>
      <dsp:spPr>
        <a:xfrm>
          <a:off x="5772886" y="1391690"/>
          <a:ext cx="1029191" cy="1029191"/>
        </a:xfrm>
        <a:prstGeom prst="ellipse">
          <a:avLst/>
        </a:prstGeom>
        <a:blipFill rotWithShape="1">
          <a:blip xmlns:r="http://schemas.openxmlformats.org/officeDocument/2006/relationships" r:embed="rId6" cstate="email">
            <a:extLst>
              <a:ext uri="{28A0092B-C50C-407E-A947-70E740481C1C}">
                <a14:useLocalDpi xmlns:a14="http://schemas.microsoft.com/office/drawing/2010/main"/>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F61267B-3A0C-437D-AF6A-5A4C9FB0E60B}">
      <dsp:nvSpPr>
        <dsp:cNvPr id="0" name=""/>
        <dsp:cNvSpPr/>
      </dsp:nvSpPr>
      <dsp:spPr>
        <a:xfrm>
          <a:off x="6914413" y="1389117"/>
          <a:ext cx="1543786" cy="1029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altLang="en-US" sz="1400" kern="1200" dirty="0">
              <a:latin typeface="Calibri Light" panose="020F0302020204030204" pitchFamily="34" charset="0"/>
              <a:cs typeface="Calibri Light" panose="020F0302020204030204" pitchFamily="34" charset="0"/>
            </a:rPr>
            <a:t>Other Intermediaries</a:t>
          </a:r>
          <a:endParaRPr lang="en-IN" sz="1400" kern="1200" dirty="0">
            <a:latin typeface="Calibri Light" panose="020F0302020204030204" pitchFamily="34" charset="0"/>
            <a:cs typeface="Calibri Light" panose="020F0302020204030204" pitchFamily="34" charset="0"/>
          </a:endParaRPr>
        </a:p>
      </dsp:txBody>
      <dsp:txXfrm>
        <a:off x="6914413" y="1389117"/>
        <a:ext cx="1543786" cy="1029191"/>
      </dsp:txXfrm>
    </dsp:sp>
    <dsp:sp modelId="{712A72F6-66BD-4844-B558-2E19FD60987A}">
      <dsp:nvSpPr>
        <dsp:cNvPr id="0" name=""/>
        <dsp:cNvSpPr/>
      </dsp:nvSpPr>
      <dsp:spPr>
        <a:xfrm>
          <a:off x="5772886" y="2745077"/>
          <a:ext cx="1029191" cy="1029191"/>
        </a:xfrm>
        <a:prstGeom prst="ellipse">
          <a:avLst/>
        </a:prstGeom>
        <a:blipFill rotWithShape="1">
          <a:blip xmlns:r="http://schemas.openxmlformats.org/officeDocument/2006/relationships" r:embed="rId7" cstate="email">
            <a:extLst>
              <a:ext uri="{28A0092B-C50C-407E-A947-70E740481C1C}">
                <a14:useLocalDpi xmlns:a14="http://schemas.microsoft.com/office/drawing/2010/main"/>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92191D2-94B6-41A9-B9D3-F24B31E5EE72}">
      <dsp:nvSpPr>
        <dsp:cNvPr id="0" name=""/>
        <dsp:cNvSpPr/>
      </dsp:nvSpPr>
      <dsp:spPr>
        <a:xfrm>
          <a:off x="6802077" y="2742504"/>
          <a:ext cx="1543786" cy="10291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endParaRPr lang="en-IN" sz="1400" kern="1200">
            <a:latin typeface="Calibri Light" panose="020F0302020204030204" pitchFamily="34" charset="0"/>
            <a:cs typeface="Calibri Light" panose="020F0302020204030204" pitchFamily="34" charset="0"/>
          </a:endParaRPr>
        </a:p>
      </dsp:txBody>
      <dsp:txXfrm>
        <a:off x="6802077" y="2742504"/>
        <a:ext cx="1543786" cy="1029191"/>
      </dsp:txXfrm>
    </dsp:sp>
  </dsp:spTree>
</dsp:drawing>
</file>

<file path=ppt/diagrams/layout1.xml><?xml version="1.0" encoding="utf-8"?>
<dgm:layoutDef xmlns:dgm="http://schemas.openxmlformats.org/drawingml/2006/diagram" xmlns:a="http://schemas.openxmlformats.org/drawingml/2006/main" uniqueId="urn:microsoft.com/office/officeart/2009/layout/CirclePictureHierarchy">
  <dgm:title val=""/>
  <dgm:desc val=""/>
  <dgm:catLst>
    <dgm:cat type="hierarchy" pri="1750"/>
    <dgm:cat type="picture" pri="23000"/>
    <dgm:cat type="pictureconvert" pri="2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5"/>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h" for="ch" forName="image" refType="h" fact="0.8"/>
              <dgm:constr type="w" for="ch" forName="image" refType="h" refFor="ch" refForName="image"/>
              <dgm:constr type="t" for="ch" forName="image" refType="h" fact="0.1"/>
              <dgm:constr type="l" for="ch" forName="image"/>
              <dgm:constr type="w" for="ch" forName="text" refType="w" fact="0.6"/>
              <dgm:constr type="h" for="ch" forName="text" refType="h" fact="0.8"/>
              <dgm:constr type="t" for="ch" forName="text" refType="w" fact="0.04"/>
              <dgm:constr type="l" for="ch" forName="text" refType="w" fact="0.4"/>
            </dgm:constrLst>
            <dgm:ruleLst/>
            <dgm:layoutNode name="image" styleLbl="node0">
              <dgm:alg type="sp"/>
              <dgm:shape xmlns:r="http://schemas.openxmlformats.org/officeDocument/2006/relationships" type="ellipse" r:blip="" blipPhldr="1">
                <dgm:adjLst/>
              </dgm:shape>
              <dgm:presOf/>
              <dgm:constrLst/>
              <dgm:ruleLst/>
            </dgm:layoutNode>
            <dgm:layoutNode name="text"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image"/>
                    <dgm:param type="dstNode" val="image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h" for="ch" forName="image2" refType="h" fact="0.8"/>
                      <dgm:constr type="w" for="ch" forName="image2" refType="h" refFor="ch" refForName="image2"/>
                      <dgm:constr type="t" for="ch" forName="image2" refType="h" fact="0.1"/>
                      <dgm:constr type="l" for="ch" forName="image2"/>
                      <dgm:constr type="w" for="ch" forName="text2" refType="w" fact="0.6"/>
                      <dgm:constr type="h" for="ch" forName="text2" refType="h" fact="0.8"/>
                      <dgm:constr type="t" for="ch" forName="text2" refType="w" fact="0.04"/>
                      <dgm:constr type="l" for="ch" forName="text2" refType="w" fact="0.4"/>
                    </dgm:constrLst>
                    <dgm:ruleLst/>
                    <dgm:layoutNode name="image2">
                      <dgm:alg type="sp"/>
                      <dgm:shape xmlns:r="http://schemas.openxmlformats.org/officeDocument/2006/relationships" type="ellipse" r:blip="" blipPhldr="1">
                        <dgm:adjLst/>
                      </dgm:shape>
                      <dgm:presOf/>
                      <dgm:constrLst/>
                      <dgm:ruleLst/>
                    </dgm:layoutNode>
                    <dgm:layoutNode name="text2"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image2"/>
                            <dgm:param type="dstNode" val="image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h" for="ch" forName="image3" refType="h" fact="0.8"/>
                              <dgm:constr type="w" for="ch" forName="image3" refType="h" refFor="ch" refForName="image3"/>
                              <dgm:constr type="t" for="ch" forName="image3" refType="h" fact="0.1"/>
                              <dgm:constr type="l" for="ch" forName="image3"/>
                              <dgm:constr type="w" for="ch" forName="text3" refType="w" fact="0.6"/>
                              <dgm:constr type="h" for="ch" forName="text3" refType="h" fact="0.8"/>
                              <dgm:constr type="t" for="ch" forName="text3" refType="w" fact="0.04"/>
                              <dgm:constr type="l" for="ch" forName="text3" refType="w" fact="0.4"/>
                            </dgm:constrLst>
                            <dgm:ruleLst/>
                            <dgm:layoutNode name="image3">
                              <dgm:alg type="sp"/>
                              <dgm:shape xmlns:r="http://schemas.openxmlformats.org/officeDocument/2006/relationships" type="ellipse" r:blip="" blipPhldr="1">
                                <dgm:adjLst/>
                              </dgm:shape>
                              <dgm:presOf/>
                              <dgm:constrLst/>
                              <dgm:ruleLst/>
                            </dgm:layoutNode>
                            <dgm:layoutNode name="text3"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image3"/>
                                        <dgm:param type="dstNode" val="image4"/>
                                      </dgm:alg>
                                    </dgm:if>
                                    <dgm:else name="Name26">
                                      <dgm:alg type="conn">
                                        <dgm:param type="dim" val="1D"/>
                                        <dgm:param type="endSty" val="noArr"/>
                                        <dgm:param type="connRout" val="bend"/>
                                        <dgm:param type="bendPt" val="end"/>
                                        <dgm:param type="begPts" val="bCtr"/>
                                        <dgm:param type="endPts" val="tCtr"/>
                                        <dgm:param type="srcNode" val="image4"/>
                                        <dgm:param type="dstNode" val="image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h" for="ch" forName="image4" refType="h" fact="0.8"/>
                                      <dgm:constr type="w" for="ch" forName="image4" refType="h" refFor="ch" refForName="image4"/>
                                      <dgm:constr type="t" for="ch" forName="image4" refType="h" fact="0.1"/>
                                      <dgm:constr type="l" for="ch" forName="image4"/>
                                      <dgm:constr type="w" for="ch" forName="text4" refType="w" fact="0.6"/>
                                      <dgm:constr type="h" for="ch" forName="text4" refType="h" fact="0.8"/>
                                      <dgm:constr type="t" for="ch" forName="text4" refType="w" fact="0.04"/>
                                      <dgm:constr type="l" for="ch" forName="text4" refType="w" fact="0.4"/>
                                    </dgm:constrLst>
                                    <dgm:ruleLst/>
                                    <dgm:layoutNode name="image4">
                                      <dgm:alg type="sp"/>
                                      <dgm:shape xmlns:r="http://schemas.openxmlformats.org/officeDocument/2006/relationships" type="ellipse" r:blip="" blipPhldr="1">
                                        <dgm:adjLst/>
                                      </dgm:shape>
                                      <dgm:presOf/>
                                      <dgm:constrLst/>
                                      <dgm:ruleLst/>
                                    </dgm:layoutNode>
                                    <dgm:layoutNode name="text4" styleLbl="revTx">
                                      <dgm:varLst>
                                        <dgm:chPref val="3"/>
                                      </dgm:varLst>
                                      <dgm:alg type="tx">
                                        <dgm:param type="parTxLTRAlign" val="l"/>
                                        <dgm:param type="parTxRTLAlign" val="r"/>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FF47FFE4-692E-4BF7-AEE1-9D9EBCBAC443}" type="datetimeFigureOut">
              <a:rPr lang="en-US"/>
              <a:pPr>
                <a:defRPr/>
              </a:pPr>
              <a:t>24-Apr-26</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6F706240-1B6E-4173-865C-D33EC62B86FD}" type="slidenum">
              <a:rPr lang="en-US"/>
              <a:pPr>
                <a:defRPr/>
              </a:pPr>
              <a:t>‹#›</a:t>
            </a:fld>
            <a:endParaRPr lang="en-US" dirty="0"/>
          </a:p>
        </p:txBody>
      </p:sp>
    </p:spTree>
    <p:extLst>
      <p:ext uri="{BB962C8B-B14F-4D97-AF65-F5344CB8AC3E}">
        <p14:creationId xmlns:p14="http://schemas.microsoft.com/office/powerpoint/2010/main" val="1682801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9CAD57B4-844E-4B27-9230-8B7BF14F7A59}" type="datetimeFigureOut">
              <a:rPr lang="en-US"/>
              <a:pPr>
                <a:defRPr/>
              </a:pPr>
              <a:t>24-Apr-26</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6C745BF0-06A2-4ED0-844F-001E42911183}" type="slidenum">
              <a:rPr lang="en-US"/>
              <a:pPr>
                <a:defRPr/>
              </a:pPr>
              <a:t>‹#›</a:t>
            </a:fld>
            <a:endParaRPr lang="en-US" dirty="0"/>
          </a:p>
        </p:txBody>
      </p:sp>
    </p:spTree>
    <p:extLst>
      <p:ext uri="{BB962C8B-B14F-4D97-AF65-F5344CB8AC3E}">
        <p14:creationId xmlns:p14="http://schemas.microsoft.com/office/powerpoint/2010/main" val="21470002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pPr>
              <a:defRPr/>
            </a:pPr>
            <a:fld id="{E079B9BC-49FF-4436-BDF5-04695D736B86}" type="datetime1">
              <a:rPr lang="en-US"/>
              <a:pPr>
                <a:defRPr/>
              </a:pPr>
              <a:t>24-Apr-26</a:t>
            </a:fld>
            <a:endParaRPr lang="en-US" dirty="0"/>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r>
              <a:rPr lang="en-US" dirty="0"/>
              <a:t>IEPF</a:t>
            </a:r>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pPr>
              <a:defRPr/>
            </a:pPr>
            <a:fld id="{3211D409-6EFF-4815-8706-2440C58D7450}" type="slidenum">
              <a:rPr lang="en-US"/>
              <a:pPr>
                <a:defRPr/>
              </a:pPr>
              <a:t>‹#›</a:t>
            </a:fld>
            <a:endParaRPr lang="en-US" dirty="0"/>
          </a:p>
        </p:txBody>
      </p:sp>
    </p:spTree>
    <p:extLst>
      <p:ext uri="{BB962C8B-B14F-4D97-AF65-F5344CB8AC3E}">
        <p14:creationId xmlns:p14="http://schemas.microsoft.com/office/powerpoint/2010/main" val="2305805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200151"/>
            <a:ext cx="8229600" cy="33944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pPr>
              <a:defRPr/>
            </a:pPr>
            <a:fld id="{2B652E92-D11A-44BD-BFBD-2B87ED315783}" type="datetime1">
              <a:rPr lang="en-US"/>
              <a:pPr>
                <a:defRPr/>
              </a:pPr>
              <a:t>24-Apr-26</a:t>
            </a:fld>
            <a:endParaRPr lang="en-US" dirty="0"/>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r>
              <a:rPr lang="en-US" dirty="0"/>
              <a:t>IEPF</a:t>
            </a:r>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pPr>
              <a:defRPr/>
            </a:pPr>
            <a:fld id="{5EA3BAC6-B571-4D38-B1C5-79977AF2BE12}" type="slidenum">
              <a:rPr lang="en-US"/>
              <a:pPr>
                <a:defRPr/>
              </a:pPr>
              <a:t>‹#›</a:t>
            </a:fld>
            <a:endParaRPr lang="en-US" dirty="0"/>
          </a:p>
        </p:txBody>
      </p:sp>
    </p:spTree>
    <p:extLst>
      <p:ext uri="{BB962C8B-B14F-4D97-AF65-F5344CB8AC3E}">
        <p14:creationId xmlns:p14="http://schemas.microsoft.com/office/powerpoint/2010/main" val="2663510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3" name="Picture 4" descr="Image result for securities market"/>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0" y="2571750"/>
            <a:ext cx="9144000" cy="914400"/>
          </a:xfrm>
          <a:prstGeom prst="rect">
            <a:avLst/>
          </a:prstGeom>
          <a:solidFill>
            <a:schemeClr val="bg1"/>
          </a:solidFill>
          <a:ln>
            <a:solidFill>
              <a:schemeClr val="bg1">
                <a:lumMod val="95000"/>
              </a:schemeClr>
            </a:solidFill>
            <a:prstDash val="solid"/>
          </a:ln>
        </p:spPr>
        <p:txBody>
          <a:bodyPr anchor="t"/>
          <a:lstStyle>
            <a:lvl1pPr algn="l">
              <a:defRPr sz="4000" b="1" cap="all"/>
            </a:lvl1pPr>
          </a:lstStyle>
          <a:p>
            <a:r>
              <a:rPr lang="en-US"/>
              <a:t>Click to edit Master title style</a:t>
            </a:r>
            <a:endParaRPr lang="en-US" dirty="0"/>
          </a:p>
        </p:txBody>
      </p:sp>
    </p:spTree>
    <p:extLst>
      <p:ext uri="{BB962C8B-B14F-4D97-AF65-F5344CB8AC3E}">
        <p14:creationId xmlns:p14="http://schemas.microsoft.com/office/powerpoint/2010/main" val="2463914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pPr>
              <a:defRPr/>
            </a:pPr>
            <a:fld id="{CF39940D-1C62-4AAF-8DA3-48AF0F354D8F}" type="datetime1">
              <a:rPr lang="en-US"/>
              <a:pPr>
                <a:defRPr/>
              </a:pPr>
              <a:t>24-Apr-26</a:t>
            </a:fld>
            <a:endParaRPr lang="en-US" dirty="0"/>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r>
              <a:rPr lang="en-US" dirty="0"/>
              <a:t>IEPF</a:t>
            </a:r>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pPr>
              <a:defRPr/>
            </a:pPr>
            <a:fld id="{465A0110-574C-4242-8B4E-2881CE72E045}" type="slidenum">
              <a:rPr lang="en-US"/>
              <a:pPr>
                <a:defRPr/>
              </a:pPr>
              <a:t>‹#›</a:t>
            </a:fld>
            <a:endParaRPr lang="en-US" dirty="0"/>
          </a:p>
        </p:txBody>
      </p:sp>
    </p:spTree>
    <p:extLst>
      <p:ext uri="{BB962C8B-B14F-4D97-AF65-F5344CB8AC3E}">
        <p14:creationId xmlns:p14="http://schemas.microsoft.com/office/powerpoint/2010/main" val="37714826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457200" y="4767263"/>
            <a:ext cx="2133600" cy="274637"/>
          </a:xfrm>
          <a:prstGeom prst="rect">
            <a:avLst/>
          </a:prstGeom>
        </p:spPr>
        <p:txBody>
          <a:bodyPr/>
          <a:lstStyle>
            <a:lvl1pPr>
              <a:defRPr/>
            </a:lvl1pPr>
          </a:lstStyle>
          <a:p>
            <a:pPr>
              <a:defRPr/>
            </a:pPr>
            <a:fld id="{ABD5293C-1A7C-4886-9169-FA50DEEBF82D}" type="datetime1">
              <a:rPr lang="en-US"/>
              <a:pPr>
                <a:defRPr/>
              </a:pPr>
              <a:t>24-Apr-26</a:t>
            </a:fld>
            <a:endParaRPr lang="en-US" dirty="0"/>
          </a:p>
        </p:txBody>
      </p:sp>
      <p:sp>
        <p:nvSpPr>
          <p:cNvPr id="8"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r>
              <a:rPr lang="en-US" dirty="0"/>
              <a:t>IEPF</a:t>
            </a:r>
          </a:p>
        </p:txBody>
      </p:sp>
      <p:sp>
        <p:nvSpPr>
          <p:cNvPr id="9"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pPr>
              <a:defRPr/>
            </a:pPr>
            <a:fld id="{E2493F31-8F36-4AF3-AD0D-09161C04948D}" type="slidenum">
              <a:rPr lang="en-US"/>
              <a:pPr>
                <a:defRPr/>
              </a:pPr>
              <a:t>‹#›</a:t>
            </a:fld>
            <a:endParaRPr lang="en-US" dirty="0"/>
          </a:p>
        </p:txBody>
      </p:sp>
    </p:spTree>
    <p:extLst>
      <p:ext uri="{BB962C8B-B14F-4D97-AF65-F5344CB8AC3E}">
        <p14:creationId xmlns:p14="http://schemas.microsoft.com/office/powerpoint/2010/main" val="137223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4"/>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0" y="5013325"/>
            <a:ext cx="9144000" cy="134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5"/>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0" y="0"/>
            <a:ext cx="152400" cy="66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228600" y="102989"/>
            <a:ext cx="7086600" cy="460771"/>
          </a:xfrm>
          <a:prstGeom prst="rect">
            <a:avLst/>
          </a:prstGeom>
        </p:spPr>
        <p:txBody>
          <a:bodyPr/>
          <a:lstStyle>
            <a:lvl1pPr algn="l">
              <a:defRPr sz="2800">
                <a:latin typeface="+mj-lt"/>
              </a:defRPr>
            </a:lvl1pPr>
          </a:lstStyle>
          <a:p>
            <a:r>
              <a:rPr lang="en-US" dirty="0"/>
              <a:t>Click to edit Master title style</a:t>
            </a:r>
          </a:p>
        </p:txBody>
      </p:sp>
    </p:spTree>
    <p:extLst>
      <p:ext uri="{BB962C8B-B14F-4D97-AF65-F5344CB8AC3E}">
        <p14:creationId xmlns:p14="http://schemas.microsoft.com/office/powerpoint/2010/main" val="708708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046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pPr>
              <a:defRPr/>
            </a:pPr>
            <a:fld id="{844C40DF-32B2-4DEB-9C8F-520EDEA84248}" type="datetime1">
              <a:rPr lang="en-US"/>
              <a:pPr>
                <a:defRPr/>
              </a:pPr>
              <a:t>24-Apr-26</a:t>
            </a:fld>
            <a:endParaRPr lang="en-US" dirty="0"/>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r>
              <a:rPr lang="en-US" dirty="0"/>
              <a:t>IEPF</a:t>
            </a:r>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pPr>
              <a:defRPr/>
            </a:pPr>
            <a:fld id="{FF9E98B2-7D76-4550-9BAD-40895CB0AA74}" type="slidenum">
              <a:rPr lang="en-US"/>
              <a:pPr>
                <a:defRPr/>
              </a:pPr>
              <a:t>‹#›</a:t>
            </a:fld>
            <a:endParaRPr lang="en-US" dirty="0"/>
          </a:p>
        </p:txBody>
      </p:sp>
    </p:spTree>
    <p:extLst>
      <p:ext uri="{BB962C8B-B14F-4D97-AF65-F5344CB8AC3E}">
        <p14:creationId xmlns:p14="http://schemas.microsoft.com/office/powerpoint/2010/main" val="539694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a:xfrm>
            <a:off x="457200" y="4767263"/>
            <a:ext cx="2133600" cy="274637"/>
          </a:xfrm>
          <a:prstGeom prst="rect">
            <a:avLst/>
          </a:prstGeom>
        </p:spPr>
        <p:txBody>
          <a:bodyPr/>
          <a:lstStyle>
            <a:lvl1pPr>
              <a:defRPr/>
            </a:lvl1pPr>
          </a:lstStyle>
          <a:p>
            <a:pPr>
              <a:defRPr/>
            </a:pPr>
            <a:fld id="{C1AA0110-5B31-425E-95B9-6D37547639CC}" type="datetime1">
              <a:rPr lang="en-US"/>
              <a:pPr>
                <a:defRPr/>
              </a:pPr>
              <a:t>24-Apr-26</a:t>
            </a:fld>
            <a:endParaRPr lang="en-US" dirty="0"/>
          </a:p>
        </p:txBody>
      </p:sp>
      <p:sp>
        <p:nvSpPr>
          <p:cNvPr id="6"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r>
              <a:rPr lang="en-US" dirty="0"/>
              <a:t>IEPF</a:t>
            </a:r>
          </a:p>
        </p:txBody>
      </p:sp>
      <p:sp>
        <p:nvSpPr>
          <p:cNvPr id="7"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pPr>
              <a:defRPr/>
            </a:pPr>
            <a:fld id="{E9E2A00F-2B79-44A2-A558-E0E492332536}" type="slidenum">
              <a:rPr lang="en-US"/>
              <a:pPr>
                <a:defRPr/>
              </a:pPr>
              <a:t>‹#›</a:t>
            </a:fld>
            <a:endParaRPr lang="en-US" dirty="0"/>
          </a:p>
        </p:txBody>
      </p:sp>
    </p:spTree>
    <p:extLst>
      <p:ext uri="{BB962C8B-B14F-4D97-AF65-F5344CB8AC3E}">
        <p14:creationId xmlns:p14="http://schemas.microsoft.com/office/powerpoint/2010/main" val="2614302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pPr>
              <a:defRPr/>
            </a:pPr>
            <a:fld id="{9A31642E-D217-4DAA-A767-30F7C1BB8ABA}" type="datetime1">
              <a:rPr lang="en-US"/>
              <a:pPr>
                <a:defRPr/>
              </a:pPr>
              <a:t>24-Apr-26</a:t>
            </a:fld>
            <a:endParaRPr lang="en-US" dirty="0"/>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r>
              <a:rPr lang="en-US" dirty="0"/>
              <a:t>IEPF</a:t>
            </a:r>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pPr>
              <a:defRPr/>
            </a:pPr>
            <a:fld id="{4255E81A-7693-4445-A303-A5E81DD6ED5B}" type="slidenum">
              <a:rPr lang="en-US"/>
              <a:pPr>
                <a:defRPr/>
              </a:pPr>
              <a:t>‹#›</a:t>
            </a:fld>
            <a:endParaRPr lang="en-US" dirty="0"/>
          </a:p>
        </p:txBody>
      </p:sp>
    </p:spTree>
    <p:extLst>
      <p:ext uri="{BB962C8B-B14F-4D97-AF65-F5344CB8AC3E}">
        <p14:creationId xmlns:p14="http://schemas.microsoft.com/office/powerpoint/2010/main" val="3811760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4637"/>
          </a:xfrm>
          <a:prstGeom prst="rect">
            <a:avLst/>
          </a:prstGeom>
        </p:spPr>
        <p:txBody>
          <a:bodyPr/>
          <a:lstStyle>
            <a:lvl1pPr>
              <a:defRPr/>
            </a:lvl1pPr>
          </a:lstStyle>
          <a:p>
            <a:pPr>
              <a:defRPr/>
            </a:pPr>
            <a:fld id="{DC12A5E3-3A6C-416B-B89B-98325E7CA8D8}" type="datetime1">
              <a:rPr lang="en-US"/>
              <a:pPr>
                <a:defRPr/>
              </a:pPr>
              <a:t>24-Apr-26</a:t>
            </a:fld>
            <a:endParaRPr lang="en-US" dirty="0"/>
          </a:p>
        </p:txBody>
      </p:sp>
      <p:sp>
        <p:nvSpPr>
          <p:cNvPr id="5" name="Footer Placeholder 4"/>
          <p:cNvSpPr>
            <a:spLocks noGrp="1"/>
          </p:cNvSpPr>
          <p:nvPr>
            <p:ph type="ftr" sz="quarter" idx="11"/>
          </p:nvPr>
        </p:nvSpPr>
        <p:spPr>
          <a:xfrm>
            <a:off x="3124200" y="4767263"/>
            <a:ext cx="2895600" cy="274637"/>
          </a:xfrm>
          <a:prstGeom prst="rect">
            <a:avLst/>
          </a:prstGeom>
        </p:spPr>
        <p:txBody>
          <a:bodyPr/>
          <a:lstStyle>
            <a:lvl1pPr>
              <a:defRPr/>
            </a:lvl1pPr>
          </a:lstStyle>
          <a:p>
            <a:pPr>
              <a:defRPr/>
            </a:pPr>
            <a:r>
              <a:rPr lang="en-US" dirty="0"/>
              <a:t>IEPF</a:t>
            </a:r>
          </a:p>
        </p:txBody>
      </p:sp>
      <p:sp>
        <p:nvSpPr>
          <p:cNvPr id="6" name="Slide Number Placeholder 5"/>
          <p:cNvSpPr>
            <a:spLocks noGrp="1"/>
          </p:cNvSpPr>
          <p:nvPr>
            <p:ph type="sldNum" sz="quarter" idx="12"/>
          </p:nvPr>
        </p:nvSpPr>
        <p:spPr>
          <a:xfrm>
            <a:off x="6553200" y="4767263"/>
            <a:ext cx="2133600" cy="274637"/>
          </a:xfrm>
          <a:prstGeom prst="rect">
            <a:avLst/>
          </a:prstGeom>
        </p:spPr>
        <p:txBody>
          <a:bodyPr/>
          <a:lstStyle>
            <a:lvl1pPr>
              <a:defRPr/>
            </a:lvl1pPr>
          </a:lstStyle>
          <a:p>
            <a:pPr>
              <a:defRPr/>
            </a:pPr>
            <a:fld id="{1EA27359-DD62-4617-88BA-148C161942CE}" type="slidenum">
              <a:rPr lang="en-US"/>
              <a:pPr>
                <a:defRPr/>
              </a:pPr>
              <a:t>‹#›</a:t>
            </a:fld>
            <a:endParaRPr lang="en-US" dirty="0"/>
          </a:p>
        </p:txBody>
      </p:sp>
    </p:spTree>
    <p:extLst>
      <p:ext uri="{BB962C8B-B14F-4D97-AF65-F5344CB8AC3E}">
        <p14:creationId xmlns:p14="http://schemas.microsoft.com/office/powerpoint/2010/main" val="2115597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userDrawn="1"/>
        </p:nvPicPr>
        <p:blipFill>
          <a:blip r:embed="rId13" cstate="email">
            <a:extLst>
              <a:ext uri="{28A0092B-C50C-407E-A947-70E740481C1C}">
                <a14:useLocalDpi xmlns:a14="http://schemas.microsoft.com/office/drawing/2010/main"/>
              </a:ext>
            </a:extLst>
          </a:blip>
          <a:srcRect/>
          <a:stretch>
            <a:fillRect/>
          </a:stretch>
        </p:blipFill>
        <p:spPr bwMode="auto">
          <a:xfrm>
            <a:off x="0" y="5013325"/>
            <a:ext cx="9144000" cy="136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userDrawn="1"/>
        </p:nvPicPr>
        <p:blipFill>
          <a:blip r:embed="rId14">
            <a:extLst>
              <a:ext uri="{28A0092B-C50C-407E-A947-70E740481C1C}">
                <a14:useLocalDpi xmlns:a14="http://schemas.microsoft.com/office/drawing/2010/main"/>
              </a:ext>
            </a:extLst>
          </a:blip>
          <a:srcRect/>
          <a:stretch>
            <a:fillRect/>
          </a:stretch>
        </p:blipFill>
        <p:spPr bwMode="auto">
          <a:xfrm>
            <a:off x="0" y="0"/>
            <a:ext cx="152400" cy="666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29"/>
          <p:cNvPicPr>
            <a:picLocks noChangeAspect="1" noChangeArrowheads="1"/>
          </p:cNvPicPr>
          <p:nvPr userDrawn="1"/>
        </p:nvPicPr>
        <p:blipFill>
          <a:blip r:embed="rId15" cstate="email">
            <a:extLst>
              <a:ext uri="{28A0092B-C50C-407E-A947-70E740481C1C}">
                <a14:useLocalDpi xmlns:a14="http://schemas.microsoft.com/office/drawing/2010/main"/>
              </a:ext>
            </a:extLst>
          </a:blip>
          <a:srcRect/>
          <a:stretch>
            <a:fillRect/>
          </a:stretch>
        </p:blipFill>
        <p:spPr bwMode="auto">
          <a:xfrm>
            <a:off x="7772400" y="134938"/>
            <a:ext cx="1211263" cy="50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6836" r:id="rId1"/>
    <p:sldLayoutId id="2147486837" r:id="rId2"/>
    <p:sldLayoutId id="2147486838" r:id="rId3"/>
    <p:sldLayoutId id="2147486839" r:id="rId4"/>
    <p:sldLayoutId id="2147486840" r:id="rId5"/>
    <p:sldLayoutId id="2147486841" r:id="rId6"/>
    <p:sldLayoutId id="2147486827" r:id="rId7"/>
    <p:sldLayoutId id="2147486842" r:id="rId8"/>
    <p:sldLayoutId id="2147486843" r:id="rId9"/>
    <p:sldLayoutId id="2147486844" r:id="rId10"/>
    <p:sldLayoutId id="2147486845"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2098948"/>
            <a:ext cx="9144000" cy="666526"/>
          </a:xfrm>
          <a:prstGeom prst="rect">
            <a:avLst/>
          </a:prstGeom>
          <a:solidFill>
            <a:schemeClr val="bg1"/>
          </a:solidFill>
          <a:ln>
            <a:solidFill>
              <a:schemeClr val="bg1">
                <a:lumMod val="95000"/>
              </a:schemeClr>
            </a:solidFill>
            <a:prstDash val="solid"/>
          </a:ln>
        </p:spPr>
        <p:txBody>
          <a:bodyPr anchor="t"/>
          <a:lstStyle>
            <a:lvl1pPr algn="l" rtl="0" eaLnBrk="0" fontAlgn="base" hangingPunct="0">
              <a:spcBef>
                <a:spcPct val="0"/>
              </a:spcBef>
              <a:spcAft>
                <a:spcPct val="0"/>
              </a:spcAft>
              <a:defRPr sz="4000" b="1" kern="1200" cap="all">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ctr">
              <a:defRPr/>
            </a:pPr>
            <a:endParaRPr lang="en-US" sz="3200" dirty="0"/>
          </a:p>
        </p:txBody>
      </p:sp>
      <p:sp>
        <p:nvSpPr>
          <p:cNvPr id="10" name="TextBox 9"/>
          <p:cNvSpPr txBox="1"/>
          <p:nvPr/>
        </p:nvSpPr>
        <p:spPr>
          <a:xfrm>
            <a:off x="381000" y="2240505"/>
            <a:ext cx="8077200" cy="461665"/>
          </a:xfrm>
          <a:prstGeom prst="rect">
            <a:avLst/>
          </a:prstGeom>
          <a:noFill/>
        </p:spPr>
        <p:txBody>
          <a:bodyPr wrap="square" rtlCol="0">
            <a:spAutoFit/>
          </a:bodyPr>
          <a:lstStyle/>
          <a:p>
            <a:pPr algn="ctr"/>
            <a:r>
              <a:rPr lang="en-US" sz="2400" b="1" dirty="0"/>
              <a:t>Basics of Stock Selection through Fundamental Analysis</a:t>
            </a:r>
          </a:p>
        </p:txBody>
      </p:sp>
      <p:sp>
        <p:nvSpPr>
          <p:cNvPr id="7" name="Explosion 1 6"/>
          <p:cNvSpPr/>
          <p:nvPr/>
        </p:nvSpPr>
        <p:spPr>
          <a:xfrm>
            <a:off x="76200" y="0"/>
            <a:ext cx="2286000" cy="1508983"/>
          </a:xfrm>
          <a:prstGeom prst="irregularSeal1">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TextBox 7"/>
          <p:cNvSpPr txBox="1"/>
          <p:nvPr/>
        </p:nvSpPr>
        <p:spPr>
          <a:xfrm>
            <a:off x="495300" y="488475"/>
            <a:ext cx="1447800" cy="646331"/>
          </a:xfrm>
          <a:prstGeom prst="rect">
            <a:avLst/>
          </a:prstGeom>
          <a:noFill/>
        </p:spPr>
        <p:txBody>
          <a:bodyPr wrap="square" rtlCol="0">
            <a:spAutoFit/>
          </a:bodyPr>
          <a:lstStyle/>
          <a:p>
            <a:pPr algn="ctr"/>
            <a:r>
              <a:rPr lang="en-US" dirty="0"/>
              <a:t>Be A Prudent Investor</a:t>
            </a:r>
          </a:p>
        </p:txBody>
      </p:sp>
    </p:spTree>
    <p:extLst>
      <p:ext uri="{BB962C8B-B14F-4D97-AF65-F5344CB8AC3E}">
        <p14:creationId xmlns:p14="http://schemas.microsoft.com/office/powerpoint/2010/main" val="2828222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altLang="en-US" sz="2400" dirty="0"/>
              <a:t>Indian Securities Market - Overview</a:t>
            </a:r>
            <a:endParaRPr lang="mr-IN" altLang="en-US" sz="2400" dirty="0"/>
          </a:p>
        </p:txBody>
      </p:sp>
      <p:graphicFrame>
        <p:nvGraphicFramePr>
          <p:cNvPr id="2" name="Diagram 1"/>
          <p:cNvGraphicFramePr/>
          <p:nvPr/>
        </p:nvGraphicFramePr>
        <p:xfrm>
          <a:off x="381000" y="895350"/>
          <a:ext cx="8458200" cy="381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10" name="Group 9"/>
          <p:cNvGrpSpPr/>
          <p:nvPr/>
        </p:nvGrpSpPr>
        <p:grpSpPr>
          <a:xfrm>
            <a:off x="1524000" y="3714752"/>
            <a:ext cx="1600200" cy="1029191"/>
            <a:chOff x="1141526" y="1389117"/>
            <a:chExt cx="1600200" cy="1029191"/>
          </a:xfrm>
        </p:grpSpPr>
        <p:sp>
          <p:nvSpPr>
            <p:cNvPr id="11" name="Rectangle 10"/>
            <p:cNvSpPr/>
            <p:nvPr/>
          </p:nvSpPr>
          <p:spPr>
            <a:xfrm>
              <a:off x="1141526" y="1389117"/>
              <a:ext cx="1543786" cy="102919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2" name="Rectangle 11"/>
            <p:cNvSpPr/>
            <p:nvPr/>
          </p:nvSpPr>
          <p:spPr>
            <a:xfrm>
              <a:off x="1197940" y="1389117"/>
              <a:ext cx="1543786" cy="102919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60960" tIns="60960" rIns="60960" bIns="60960" numCol="1" spcCol="1270" anchor="ctr" anchorCtr="0">
              <a:noAutofit/>
            </a:bodyPr>
            <a:lstStyle/>
            <a:p>
              <a:pPr lvl="0"/>
              <a:r>
                <a:rPr lang="en-US" altLang="en-US" sz="1400" dirty="0"/>
                <a:t>NSE, BSE, MSE, MCX etc.</a:t>
              </a:r>
              <a:endParaRPr lang="en-US" sz="1400" dirty="0"/>
            </a:p>
          </p:txBody>
        </p:sp>
      </p:grpSp>
      <p:grpSp>
        <p:nvGrpSpPr>
          <p:cNvPr id="13" name="Group 12"/>
          <p:cNvGrpSpPr/>
          <p:nvPr/>
        </p:nvGrpSpPr>
        <p:grpSpPr>
          <a:xfrm>
            <a:off x="4343400" y="3714752"/>
            <a:ext cx="1600200" cy="1029191"/>
            <a:chOff x="1141526" y="1389117"/>
            <a:chExt cx="1600200" cy="1029191"/>
          </a:xfrm>
        </p:grpSpPr>
        <p:sp>
          <p:nvSpPr>
            <p:cNvPr id="14" name="Rectangle 13"/>
            <p:cNvSpPr/>
            <p:nvPr/>
          </p:nvSpPr>
          <p:spPr>
            <a:xfrm>
              <a:off x="1141526" y="1389117"/>
              <a:ext cx="1543786" cy="102919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5" name="Rectangle 14"/>
            <p:cNvSpPr/>
            <p:nvPr/>
          </p:nvSpPr>
          <p:spPr>
            <a:xfrm>
              <a:off x="1197940" y="1389117"/>
              <a:ext cx="1543786" cy="102919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60960" tIns="60960" rIns="60960" bIns="60960" numCol="1" spcCol="1270" anchor="ctr" anchorCtr="0">
              <a:noAutofit/>
            </a:bodyPr>
            <a:lstStyle/>
            <a:p>
              <a:pPr lvl="0"/>
              <a:r>
                <a:rPr lang="en-US" altLang="en-US" sz="1400" dirty="0"/>
                <a:t>NSDL, CDSL</a:t>
              </a:r>
              <a:endParaRPr lang="en-US" sz="1400" dirty="0"/>
            </a:p>
          </p:txBody>
        </p:sp>
      </p:grpSp>
      <p:grpSp>
        <p:nvGrpSpPr>
          <p:cNvPr id="16" name="Group 15"/>
          <p:cNvGrpSpPr/>
          <p:nvPr/>
        </p:nvGrpSpPr>
        <p:grpSpPr>
          <a:xfrm>
            <a:off x="7315200" y="3714752"/>
            <a:ext cx="1600200" cy="1029191"/>
            <a:chOff x="1141526" y="1389117"/>
            <a:chExt cx="1600200" cy="1029191"/>
          </a:xfrm>
        </p:grpSpPr>
        <p:sp>
          <p:nvSpPr>
            <p:cNvPr id="17" name="Rectangle 16"/>
            <p:cNvSpPr/>
            <p:nvPr/>
          </p:nvSpPr>
          <p:spPr>
            <a:xfrm>
              <a:off x="1141526" y="1389117"/>
              <a:ext cx="1543786" cy="1029191"/>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18" name="Rectangle 17"/>
            <p:cNvSpPr/>
            <p:nvPr/>
          </p:nvSpPr>
          <p:spPr>
            <a:xfrm>
              <a:off x="1197940" y="1389117"/>
              <a:ext cx="1543786" cy="1029191"/>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60960" tIns="60960" rIns="60960" bIns="60960" numCol="1" spcCol="1270" anchor="ctr" anchorCtr="0">
              <a:noAutofit/>
            </a:bodyPr>
            <a:lstStyle/>
            <a:p>
              <a:pPr lvl="0"/>
              <a:r>
                <a:rPr lang="en-US" altLang="en-US" sz="1400" dirty="0"/>
                <a:t>Stock Brokers, RTAs, Mutual Funds, Investment Advisors etc.</a:t>
              </a:r>
              <a:endParaRPr lang="en-US" sz="1400" dirty="0"/>
            </a:p>
          </p:txBody>
        </p:sp>
      </p:grpSp>
      <p:sp>
        <p:nvSpPr>
          <p:cNvPr id="3" name="Rectangle 2">
            <a:extLst>
              <a:ext uri="{FF2B5EF4-FFF2-40B4-BE49-F238E27FC236}">
                <a16:creationId xmlns:a16="http://schemas.microsoft.com/office/drawing/2014/main" id="{A6D8AB8E-1AFC-4B5E-A793-7FBB4FFFBE28}"/>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1227365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Users\Admin\Downloads\Investment data-pana.png"/>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5685026" y="1581151"/>
            <a:ext cx="3458973" cy="28956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IN" dirty="0"/>
              <a:t>Why Do We Invest?</a:t>
            </a:r>
            <a:endParaRPr lang="hi-IN" dirty="0"/>
          </a:p>
        </p:txBody>
      </p:sp>
      <p:sp>
        <p:nvSpPr>
          <p:cNvPr id="3" name="TextBox 2"/>
          <p:cNvSpPr txBox="1"/>
          <p:nvPr/>
        </p:nvSpPr>
        <p:spPr>
          <a:xfrm>
            <a:off x="218760" y="1733550"/>
            <a:ext cx="5801040" cy="3139321"/>
          </a:xfrm>
          <a:prstGeom prst="rect">
            <a:avLst/>
          </a:prstGeom>
          <a:noFill/>
        </p:spPr>
        <p:txBody>
          <a:bodyPr wrap="square" rtlCol="0">
            <a:spAutoFit/>
          </a:bodyPr>
          <a:lstStyle/>
          <a:p>
            <a:pPr marL="342900" indent="-342900" algn="just">
              <a:buFont typeface="+mj-lt"/>
              <a:buAutoNum type="arabicPeriod"/>
            </a:pPr>
            <a:r>
              <a:rPr lang="en-IN" dirty="0">
                <a:latin typeface="Calibri Light" panose="020F0302020204030204" pitchFamily="34" charset="0"/>
                <a:ea typeface="Cambria" panose="02040503050406030204" pitchFamily="18" charset="0"/>
                <a:cs typeface="Calibri Light" panose="020F0302020204030204" pitchFamily="34" charset="0"/>
              </a:rPr>
              <a:t>By investing a portion of your income you allow money to grow and work for you.</a:t>
            </a:r>
          </a:p>
          <a:p>
            <a:pPr marL="342900" indent="-342900" algn="just">
              <a:buFont typeface="+mj-lt"/>
              <a:buAutoNum type="arabicPeriod"/>
            </a:pPr>
            <a:r>
              <a:rPr lang="en-IN" dirty="0">
                <a:latin typeface="Calibri Light" panose="020F0302020204030204" pitchFamily="34" charset="0"/>
                <a:ea typeface="Cambria" panose="02040503050406030204" pitchFamily="18" charset="0"/>
                <a:cs typeface="Calibri Light" panose="020F0302020204030204" pitchFamily="34" charset="0"/>
              </a:rPr>
              <a:t>3 parameters to assess suitability of any investment avenue are –</a:t>
            </a:r>
          </a:p>
          <a:p>
            <a:pPr marL="857250" lvl="1" indent="-400050" algn="just">
              <a:buFont typeface="+mj-lt"/>
              <a:buAutoNum type="romanLcPeriod"/>
            </a:pPr>
            <a:r>
              <a:rPr lang="en-IN" dirty="0">
                <a:latin typeface="Calibri Light" panose="020F0302020204030204" pitchFamily="34" charset="0"/>
                <a:ea typeface="Cambria" panose="02040503050406030204" pitchFamily="18" charset="0"/>
                <a:cs typeface="Calibri Light" panose="020F0302020204030204" pitchFamily="34" charset="0"/>
              </a:rPr>
              <a:t>Return potential</a:t>
            </a:r>
          </a:p>
          <a:p>
            <a:pPr marL="857250" lvl="1" indent="-400050" algn="just">
              <a:buFont typeface="+mj-lt"/>
              <a:buAutoNum type="romanLcPeriod"/>
            </a:pPr>
            <a:r>
              <a:rPr lang="en-IN" dirty="0">
                <a:latin typeface="Calibri Light" panose="020F0302020204030204" pitchFamily="34" charset="0"/>
                <a:ea typeface="Cambria" panose="02040503050406030204" pitchFamily="18" charset="0"/>
                <a:cs typeface="Calibri Light" panose="020F0302020204030204" pitchFamily="34" charset="0"/>
              </a:rPr>
              <a:t>Safety</a:t>
            </a:r>
          </a:p>
          <a:p>
            <a:pPr marL="857250" lvl="1" indent="-400050" algn="just">
              <a:buFont typeface="+mj-lt"/>
              <a:buAutoNum type="romanLcPeriod"/>
            </a:pPr>
            <a:r>
              <a:rPr lang="en-IN" dirty="0">
                <a:latin typeface="Calibri Light" panose="020F0302020204030204" pitchFamily="34" charset="0"/>
                <a:ea typeface="Cambria" panose="02040503050406030204" pitchFamily="18" charset="0"/>
                <a:cs typeface="Calibri Light" panose="020F0302020204030204" pitchFamily="34" charset="0"/>
              </a:rPr>
              <a:t>Liquidity</a:t>
            </a:r>
          </a:p>
          <a:p>
            <a:pPr marL="342900" indent="-342900" algn="just">
              <a:buFont typeface="+mj-lt"/>
              <a:buAutoNum type="arabicPeriod"/>
            </a:pPr>
            <a:r>
              <a:rPr lang="en-IN" dirty="0">
                <a:latin typeface="Calibri Light" panose="020F0302020204030204" pitchFamily="34" charset="0"/>
                <a:ea typeface="Cambria" panose="02040503050406030204" pitchFamily="18" charset="0"/>
                <a:cs typeface="Calibri Light" panose="020F0302020204030204" pitchFamily="34" charset="0"/>
              </a:rPr>
              <a:t>Various avenues where money can be invested, are broadly classified into some groups, known as ‘Asset Class’. Stocks or Equity shares are most popular class of assets.  </a:t>
            </a:r>
          </a:p>
        </p:txBody>
      </p:sp>
      <p:sp>
        <p:nvSpPr>
          <p:cNvPr id="6" name="Rounded Rectangle 5"/>
          <p:cNvSpPr/>
          <p:nvPr/>
        </p:nvSpPr>
        <p:spPr>
          <a:xfrm>
            <a:off x="218760" y="838090"/>
            <a:ext cx="8772840" cy="74306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chemeClr val="tx1"/>
                </a:solidFill>
                <a:latin typeface="Calibri Light" panose="020F0302020204030204" pitchFamily="34" charset="0"/>
                <a:ea typeface="Cambria" panose="02040503050406030204" pitchFamily="18" charset="0"/>
                <a:cs typeface="Calibri Light" panose="020F0302020204030204" pitchFamily="34" charset="0"/>
              </a:rPr>
              <a:t>Investment is necessary to support your financial needs when you do not earn money.</a:t>
            </a:r>
          </a:p>
        </p:txBody>
      </p:sp>
      <p:sp>
        <p:nvSpPr>
          <p:cNvPr id="7" name="Rectangle 6">
            <a:extLst>
              <a:ext uri="{FF2B5EF4-FFF2-40B4-BE49-F238E27FC236}">
                <a16:creationId xmlns:a16="http://schemas.microsoft.com/office/drawing/2014/main" id="{063C90E6-36CD-4CF9-8115-26C88280FC3B}"/>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146399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228600" y="102989"/>
            <a:ext cx="7086600" cy="460771"/>
          </a:xfrm>
        </p:spPr>
        <p:txBody>
          <a:bodyPr/>
          <a:lstStyle/>
          <a:p>
            <a:r>
              <a:rPr lang="en-IN" dirty="0"/>
              <a:t>What is meant by Stock Selection?</a:t>
            </a:r>
            <a:endParaRPr lang="hi-IN" dirty="0"/>
          </a:p>
        </p:txBody>
      </p:sp>
      <p:sp>
        <p:nvSpPr>
          <p:cNvPr id="5" name="Rectangle 4"/>
          <p:cNvSpPr/>
          <p:nvPr/>
        </p:nvSpPr>
        <p:spPr>
          <a:xfrm>
            <a:off x="1066800" y="1230273"/>
            <a:ext cx="5480860" cy="684000"/>
          </a:xfrm>
          <a:prstGeom prst="rect">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9" name="TextBox 8"/>
          <p:cNvSpPr txBox="1"/>
          <p:nvPr/>
        </p:nvSpPr>
        <p:spPr bwMode="auto">
          <a:xfrm>
            <a:off x="1035900" y="1164595"/>
            <a:ext cx="5472000" cy="774383"/>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IN" altLang="ko-KR" sz="1400" dirty="0">
                <a:solidFill>
                  <a:schemeClr val="tx1">
                    <a:lumMod val="65000"/>
                    <a:lumOff val="35000"/>
                  </a:schemeClr>
                </a:solidFill>
                <a:latin typeface="Calibri Light" panose="020F0302020204030204" pitchFamily="34" charset="0"/>
                <a:cs typeface="Calibri Light" panose="020F0302020204030204" pitchFamily="34" charset="0"/>
              </a:rPr>
              <a:t>Stock selection is the selection of one or more stock (or shares) based on certain set of criteria in order to maximise the probability of meeting the trading or investment objective. </a:t>
            </a:r>
          </a:p>
        </p:txBody>
      </p:sp>
      <p:sp>
        <p:nvSpPr>
          <p:cNvPr id="10" name="Chevron 9"/>
          <p:cNvSpPr/>
          <p:nvPr/>
        </p:nvSpPr>
        <p:spPr>
          <a:xfrm rot="16200000">
            <a:off x="103098" y="1096716"/>
            <a:ext cx="838984" cy="792088"/>
          </a:xfrm>
          <a:prstGeom prst="chevron">
            <a:avLst>
              <a:gd name="adj" fmla="val 3391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Arial" pitchFamily="34" charset="0"/>
              <a:cs typeface="Arial" pitchFamily="34" charset="0"/>
            </a:endParaRPr>
          </a:p>
        </p:txBody>
      </p:sp>
      <p:sp>
        <p:nvSpPr>
          <p:cNvPr id="12" name="Rectangle 11"/>
          <p:cNvSpPr/>
          <p:nvPr/>
        </p:nvSpPr>
        <p:spPr>
          <a:xfrm>
            <a:off x="1066800" y="2095983"/>
            <a:ext cx="5480860" cy="684000"/>
          </a:xfrm>
          <a:prstGeom prst="rect">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15" name="TextBox 14"/>
          <p:cNvSpPr txBox="1"/>
          <p:nvPr/>
        </p:nvSpPr>
        <p:spPr bwMode="auto">
          <a:xfrm>
            <a:off x="1066800" y="2116475"/>
            <a:ext cx="5257800" cy="548521"/>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IN" altLang="ko-KR" sz="1400" dirty="0">
                <a:solidFill>
                  <a:schemeClr val="tx1">
                    <a:lumMod val="65000"/>
                    <a:lumOff val="35000"/>
                  </a:schemeClr>
                </a:solidFill>
                <a:latin typeface="Calibri Light" panose="020F0302020204030204" pitchFamily="34" charset="0"/>
                <a:cs typeface="Calibri Light" panose="020F0302020204030204" pitchFamily="34" charset="0"/>
              </a:rPr>
              <a:t>There are more than 5000 stocks available for trading or investment. None can trade or invest in all at the same time. </a:t>
            </a:r>
          </a:p>
        </p:txBody>
      </p:sp>
      <p:sp>
        <p:nvSpPr>
          <p:cNvPr id="16" name="Chevron 15"/>
          <p:cNvSpPr/>
          <p:nvPr/>
        </p:nvSpPr>
        <p:spPr>
          <a:xfrm rot="16200000">
            <a:off x="103098" y="1962426"/>
            <a:ext cx="838984" cy="792088"/>
          </a:xfrm>
          <a:prstGeom prst="chevron">
            <a:avLst>
              <a:gd name="adj" fmla="val 3391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Arial" pitchFamily="34" charset="0"/>
              <a:cs typeface="Arial" pitchFamily="34" charset="0"/>
            </a:endParaRPr>
          </a:p>
        </p:txBody>
      </p:sp>
      <p:sp>
        <p:nvSpPr>
          <p:cNvPr id="18" name="Rectangle 17"/>
          <p:cNvSpPr/>
          <p:nvPr/>
        </p:nvSpPr>
        <p:spPr>
          <a:xfrm>
            <a:off x="1066800" y="2961693"/>
            <a:ext cx="5480860" cy="684000"/>
          </a:xfrm>
          <a:prstGeom prst="rect">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21" name="TextBox 20"/>
          <p:cNvSpPr txBox="1"/>
          <p:nvPr/>
        </p:nvSpPr>
        <p:spPr bwMode="auto">
          <a:xfrm>
            <a:off x="1104900" y="3142363"/>
            <a:ext cx="5040560" cy="322659"/>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IN" altLang="ko-KR" sz="1400" dirty="0">
                <a:solidFill>
                  <a:schemeClr val="tx1">
                    <a:lumMod val="65000"/>
                    <a:lumOff val="35000"/>
                  </a:schemeClr>
                </a:solidFill>
                <a:latin typeface="Calibri Light" panose="020F0302020204030204" pitchFamily="34" charset="0"/>
                <a:cs typeface="Calibri Light" panose="020F0302020204030204" pitchFamily="34" charset="0"/>
              </a:rPr>
              <a:t>Hence, one needs to select a manageable number of stocks. </a:t>
            </a:r>
          </a:p>
        </p:txBody>
      </p:sp>
      <p:sp>
        <p:nvSpPr>
          <p:cNvPr id="22" name="Chevron 21"/>
          <p:cNvSpPr/>
          <p:nvPr/>
        </p:nvSpPr>
        <p:spPr>
          <a:xfrm rot="16200000">
            <a:off x="103098" y="2828136"/>
            <a:ext cx="838984" cy="792088"/>
          </a:xfrm>
          <a:prstGeom prst="chevron">
            <a:avLst>
              <a:gd name="adj" fmla="val 3391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Arial" pitchFamily="34" charset="0"/>
              <a:cs typeface="Arial" pitchFamily="34" charset="0"/>
            </a:endParaRPr>
          </a:p>
        </p:txBody>
      </p:sp>
      <p:sp>
        <p:nvSpPr>
          <p:cNvPr id="24" name="Rectangle 23"/>
          <p:cNvSpPr/>
          <p:nvPr/>
        </p:nvSpPr>
        <p:spPr>
          <a:xfrm>
            <a:off x="1066800" y="3827403"/>
            <a:ext cx="5480860" cy="684000"/>
          </a:xfrm>
          <a:prstGeom prst="rect">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27" name="TextBox 26"/>
          <p:cNvSpPr txBox="1"/>
          <p:nvPr/>
        </p:nvSpPr>
        <p:spPr bwMode="auto">
          <a:xfrm>
            <a:off x="1066800" y="3891384"/>
            <a:ext cx="5040560" cy="548521"/>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IN" altLang="ko-KR" sz="1400" dirty="0">
                <a:solidFill>
                  <a:schemeClr val="tx1">
                    <a:lumMod val="65000"/>
                    <a:lumOff val="35000"/>
                  </a:schemeClr>
                </a:solidFill>
                <a:latin typeface="Calibri Light" panose="020F0302020204030204" pitchFamily="34" charset="0"/>
                <a:cs typeface="Calibri Light" panose="020F0302020204030204" pitchFamily="34" charset="0"/>
              </a:rPr>
              <a:t>Fundamental and Technical Analysis are the two most preferred tools for stock selection. </a:t>
            </a:r>
          </a:p>
        </p:txBody>
      </p:sp>
      <p:sp>
        <p:nvSpPr>
          <p:cNvPr id="28" name="Chevron 27"/>
          <p:cNvSpPr/>
          <p:nvPr/>
        </p:nvSpPr>
        <p:spPr>
          <a:xfrm rot="16200000">
            <a:off x="103098" y="3693846"/>
            <a:ext cx="838984" cy="792088"/>
          </a:xfrm>
          <a:prstGeom prst="chevron">
            <a:avLst>
              <a:gd name="adj" fmla="val 3391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Arial" pitchFamily="34" charset="0"/>
              <a:cs typeface="Arial" pitchFamily="34" charset="0"/>
            </a:endParaRPr>
          </a:p>
        </p:txBody>
      </p:sp>
      <p:pic>
        <p:nvPicPr>
          <p:cNvPr id="1026" name="Picture 2" descr="C:\Users\Admin\Downloads\Select-bro (1).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435598" y="1247945"/>
            <a:ext cx="3990805" cy="3990805"/>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A5A0356C-3748-435B-9DC7-8588456A3EF2}"/>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2777964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977E110-F11A-4CEB-B263-C015AF3D545B}"/>
              </a:ext>
            </a:extLst>
          </p:cNvPr>
          <p:cNvCxnSpPr>
            <a:cxnSpLocks/>
          </p:cNvCxnSpPr>
          <p:nvPr/>
        </p:nvCxnSpPr>
        <p:spPr>
          <a:xfrm>
            <a:off x="441251" y="1793352"/>
            <a:ext cx="7920000" cy="1048"/>
          </a:xfrm>
          <a:prstGeom prst="line">
            <a:avLst/>
          </a:prstGeom>
          <a:ln w="15875">
            <a:solidFill>
              <a:schemeClr val="accent2">
                <a:lumMod val="60000"/>
                <a:lumOff val="4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F91D629-B134-4B25-BA82-20D55D482F0D}"/>
              </a:ext>
            </a:extLst>
          </p:cNvPr>
          <p:cNvCxnSpPr/>
          <p:nvPr/>
        </p:nvCxnSpPr>
        <p:spPr>
          <a:xfrm flipH="1" flipV="1">
            <a:off x="4401251" y="742950"/>
            <a:ext cx="16645" cy="1039926"/>
          </a:xfrm>
          <a:prstGeom prst="line">
            <a:avLst/>
          </a:prstGeom>
          <a:ln w="15875">
            <a:solidFill>
              <a:schemeClr val="accent2">
                <a:lumMod val="60000"/>
                <a:lumOff val="40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488642" y="209550"/>
            <a:ext cx="1911805" cy="400110"/>
          </a:xfrm>
          <a:prstGeom prst="rect">
            <a:avLst/>
          </a:prstGeom>
        </p:spPr>
        <p:txBody>
          <a:bodyPr wrap="none">
            <a:spAutoFit/>
          </a:bodyPr>
          <a:lstStyle/>
          <a:p>
            <a:r>
              <a:rPr lang="en-IN" sz="2000" dirty="0">
                <a:latin typeface="Calibri Light" panose="020F0302020204030204" pitchFamily="34" charset="0"/>
                <a:cs typeface="Calibri Light" panose="020F0302020204030204" pitchFamily="34" charset="0"/>
              </a:rPr>
              <a:t>Types of Analysis</a:t>
            </a:r>
          </a:p>
        </p:txBody>
      </p:sp>
      <p:sp>
        <p:nvSpPr>
          <p:cNvPr id="10" name="Rectangle 9"/>
          <p:cNvSpPr/>
          <p:nvPr/>
        </p:nvSpPr>
        <p:spPr>
          <a:xfrm>
            <a:off x="0" y="1937906"/>
            <a:ext cx="1406924" cy="646331"/>
          </a:xfrm>
          <a:prstGeom prst="rect">
            <a:avLst/>
          </a:prstGeom>
        </p:spPr>
        <p:txBody>
          <a:bodyPr wrap="none">
            <a:spAutoFit/>
          </a:bodyPr>
          <a:lstStyle/>
          <a:p>
            <a:r>
              <a:rPr lang="en-IN" dirty="0">
                <a:latin typeface="Calibri Light" panose="020F0302020204030204" pitchFamily="34" charset="0"/>
                <a:cs typeface="Calibri Light" panose="020F0302020204030204" pitchFamily="34" charset="0"/>
              </a:rPr>
              <a:t>Fundamental</a:t>
            </a:r>
          </a:p>
          <a:p>
            <a:pPr algn="ctr"/>
            <a:r>
              <a:rPr lang="en-IN" dirty="0">
                <a:latin typeface="Calibri Light" panose="020F0302020204030204" pitchFamily="34" charset="0"/>
                <a:cs typeface="Calibri Light" panose="020F0302020204030204" pitchFamily="34" charset="0"/>
              </a:rPr>
              <a:t>Analysis</a:t>
            </a:r>
          </a:p>
        </p:txBody>
      </p:sp>
      <p:sp>
        <p:nvSpPr>
          <p:cNvPr id="11" name="Rectangle 10"/>
          <p:cNvSpPr/>
          <p:nvPr/>
        </p:nvSpPr>
        <p:spPr>
          <a:xfrm>
            <a:off x="7843641" y="1937906"/>
            <a:ext cx="1035220" cy="646331"/>
          </a:xfrm>
          <a:prstGeom prst="rect">
            <a:avLst/>
          </a:prstGeom>
        </p:spPr>
        <p:txBody>
          <a:bodyPr wrap="none">
            <a:spAutoFit/>
          </a:bodyPr>
          <a:lstStyle/>
          <a:p>
            <a:r>
              <a:rPr lang="en-IN" dirty="0">
                <a:latin typeface="Calibri Light" panose="020F0302020204030204" pitchFamily="34" charset="0"/>
                <a:cs typeface="Calibri Light" panose="020F0302020204030204" pitchFamily="34" charset="0"/>
              </a:rPr>
              <a:t>Technical</a:t>
            </a:r>
          </a:p>
          <a:p>
            <a:pPr algn="ctr"/>
            <a:r>
              <a:rPr lang="en-IN" dirty="0">
                <a:latin typeface="Calibri Light" panose="020F0302020204030204" pitchFamily="34" charset="0"/>
                <a:cs typeface="Calibri Light" panose="020F0302020204030204" pitchFamily="34" charset="0"/>
              </a:rPr>
              <a:t>Analysis</a:t>
            </a:r>
          </a:p>
        </p:txBody>
      </p:sp>
      <p:sp>
        <p:nvSpPr>
          <p:cNvPr id="14" name="Rectangle 13">
            <a:extLst>
              <a:ext uri="{FF2B5EF4-FFF2-40B4-BE49-F238E27FC236}">
                <a16:creationId xmlns:a16="http://schemas.microsoft.com/office/drawing/2014/main" id="{DCE0783F-2A16-4E6B-86BA-5250B3B88E72}"/>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197676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218760" y="895350"/>
            <a:ext cx="8620440" cy="44124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2" name="Title 1"/>
          <p:cNvSpPr>
            <a:spLocks noGrp="1"/>
          </p:cNvSpPr>
          <p:nvPr>
            <p:ph type="title"/>
          </p:nvPr>
        </p:nvSpPr>
        <p:spPr/>
        <p:txBody>
          <a:bodyPr/>
          <a:lstStyle/>
          <a:p>
            <a:r>
              <a:rPr lang="en-IN" dirty="0"/>
              <a:t>Fundamental Analysis</a:t>
            </a:r>
            <a:endParaRPr lang="hi-IN" dirty="0"/>
          </a:p>
        </p:txBody>
      </p:sp>
      <p:sp>
        <p:nvSpPr>
          <p:cNvPr id="4" name="Rectangle 3"/>
          <p:cNvSpPr/>
          <p:nvPr/>
        </p:nvSpPr>
        <p:spPr>
          <a:xfrm>
            <a:off x="142561" y="1581150"/>
            <a:ext cx="5953439" cy="3139321"/>
          </a:xfrm>
          <a:prstGeom prst="rect">
            <a:avLst/>
          </a:prstGeom>
        </p:spPr>
        <p:txBody>
          <a:bodyPr wrap="square">
            <a:spAutoFit/>
          </a:bodyPr>
          <a:lstStyle/>
          <a:p>
            <a:pPr marL="342900" indent="-342900" algn="just">
              <a:buFont typeface="+mj-lt"/>
              <a:buAutoNum type="arabicPeriod"/>
            </a:pPr>
            <a:r>
              <a:rPr lang="en-IN" dirty="0">
                <a:latin typeface="Calibri Light" panose="020F0302020204030204" pitchFamily="34" charset="0"/>
                <a:cs typeface="Calibri Light" panose="020F0302020204030204" pitchFamily="34" charset="0"/>
              </a:rPr>
              <a:t>The current price of a stock may not reflect the actual value of the stock. The stock may be overvalued or undervalued in the market. </a:t>
            </a:r>
          </a:p>
          <a:p>
            <a:pPr marL="342900" indent="-342900" algn="just">
              <a:buFont typeface="+mj-lt"/>
              <a:buAutoNum type="arabicPeriod"/>
            </a:pPr>
            <a:r>
              <a:rPr lang="en-IN" dirty="0">
                <a:latin typeface="Calibri Light" panose="020F0302020204030204" pitchFamily="34" charset="0"/>
                <a:cs typeface="Calibri Light" panose="020F0302020204030204" pitchFamily="34" charset="0"/>
              </a:rPr>
              <a:t>Fundamental analysis helps investors to study the health of the company, and thus leading to the actual value of the stock.</a:t>
            </a:r>
          </a:p>
          <a:p>
            <a:pPr marL="342900" indent="-342900" algn="just">
              <a:buFont typeface="+mj-lt"/>
              <a:buAutoNum type="arabicPeriod"/>
            </a:pPr>
            <a:r>
              <a:rPr lang="en-IN" dirty="0">
                <a:latin typeface="Calibri Light" panose="020F0302020204030204" pitchFamily="34" charset="0"/>
                <a:cs typeface="Calibri Light" panose="020F0302020204030204" pitchFamily="34" charset="0"/>
              </a:rPr>
              <a:t>This is done by using various qualitative and quantitative factors.</a:t>
            </a:r>
          </a:p>
          <a:p>
            <a:pPr marL="342900" indent="-342900" algn="just">
              <a:buFont typeface="+mj-lt"/>
              <a:buAutoNum type="arabicPeriod"/>
            </a:pPr>
            <a:r>
              <a:rPr lang="en-IN" dirty="0">
                <a:latin typeface="Calibri Light" panose="020F0302020204030204" pitchFamily="34" charset="0"/>
                <a:cs typeface="Calibri Light" panose="020F0302020204030204" pitchFamily="34" charset="0"/>
              </a:rPr>
              <a:t>The main purpose of this method is to identify companies that that are fundamentally strong in order to invest in them for the long term.</a:t>
            </a:r>
          </a:p>
        </p:txBody>
      </p:sp>
      <p:sp>
        <p:nvSpPr>
          <p:cNvPr id="5" name="Rectangle 4"/>
          <p:cNvSpPr/>
          <p:nvPr/>
        </p:nvSpPr>
        <p:spPr>
          <a:xfrm>
            <a:off x="320360" y="895350"/>
            <a:ext cx="8391840" cy="400110"/>
          </a:xfrm>
          <a:prstGeom prst="rect">
            <a:avLst/>
          </a:prstGeom>
        </p:spPr>
        <p:txBody>
          <a:bodyPr wrap="square">
            <a:spAutoFit/>
          </a:bodyPr>
          <a:lstStyle/>
          <a:p>
            <a:r>
              <a:rPr lang="en-IN" sz="2000" dirty="0">
                <a:latin typeface="Calibri Light" panose="020F0302020204030204" pitchFamily="34" charset="0"/>
                <a:cs typeface="Calibri Light" panose="020F0302020204030204" pitchFamily="34" charset="0"/>
              </a:rPr>
              <a:t>Fundamental analysis is a method used to identify the true value of a stock.</a:t>
            </a:r>
          </a:p>
        </p:txBody>
      </p:sp>
      <p:pic>
        <p:nvPicPr>
          <p:cNvPr id="2050" name="Picture 2" descr="C:\Users\Admin\Downloads\Sentiment analysis-rafiki.png"/>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715000" y="1322010"/>
            <a:ext cx="3657600" cy="36576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26621872-FDE6-4C5F-B25D-380F7DB8E951}"/>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3132805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04A18-6774-4232-B3BE-7803514A8936}"/>
              </a:ext>
            </a:extLst>
          </p:cNvPr>
          <p:cNvSpPr>
            <a:spLocks noGrp="1"/>
          </p:cNvSpPr>
          <p:nvPr>
            <p:ph type="title"/>
          </p:nvPr>
        </p:nvSpPr>
        <p:spPr>
          <a:xfrm>
            <a:off x="480060" y="1540231"/>
            <a:ext cx="2751871" cy="2070074"/>
          </a:xfrm>
        </p:spPr>
        <p:txBody>
          <a:bodyPr>
            <a:normAutofit/>
          </a:bodyPr>
          <a:lstStyle/>
          <a:p>
            <a:r>
              <a:rPr lang="en-US" sz="3300" dirty="0">
                <a:solidFill>
                  <a:srgbClr val="FFFFFF"/>
                </a:solidFill>
              </a:rPr>
              <a:t>Fundamental Analysis</a:t>
            </a:r>
          </a:p>
        </p:txBody>
      </p:sp>
      <p:sp>
        <p:nvSpPr>
          <p:cNvPr id="3" name="Content Placeholder 2">
            <a:extLst>
              <a:ext uri="{FF2B5EF4-FFF2-40B4-BE49-F238E27FC236}">
                <a16:creationId xmlns:a16="http://schemas.microsoft.com/office/drawing/2014/main" id="{363B1323-FD5C-493B-8A8D-A439485BAF8B}"/>
              </a:ext>
            </a:extLst>
          </p:cNvPr>
          <p:cNvSpPr>
            <a:spLocks noGrp="1"/>
          </p:cNvSpPr>
          <p:nvPr>
            <p:ph idx="1"/>
          </p:nvPr>
        </p:nvSpPr>
        <p:spPr>
          <a:xfrm>
            <a:off x="381000" y="590550"/>
            <a:ext cx="8180408" cy="4422996"/>
          </a:xfrm>
        </p:spPr>
        <p:txBody>
          <a:bodyPr anchor="ctr">
            <a:normAutofit/>
          </a:bodyPr>
          <a:lstStyle/>
          <a:p>
            <a:pPr eaLnBrk="1" hangingPunct="1">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Fundamental analysis (FA) is a </a:t>
            </a: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long-run analysis</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a:t>
            </a:r>
          </a:p>
          <a:p>
            <a:pPr eaLnBrk="1" hangingPunct="1">
              <a:buFont typeface="+mj-lt"/>
              <a:buAutoNum type="arabicPeriod"/>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algn="just" eaLnBrk="1" hangingPunct="1">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Fundamental Analysis is a method of measuring the </a:t>
            </a: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intrinsic value </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of a security by examining the </a:t>
            </a: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economic and financial factors.</a:t>
            </a:r>
          </a:p>
          <a:p>
            <a:pPr algn="just" eaLnBrk="1" hangingPunct="1">
              <a:buFont typeface="+mj-lt"/>
              <a:buAutoNum type="arabicPeriod"/>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algn="just" eaLnBrk="1" hangingPunct="1">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Fundamental analysts study the factors that can affect the </a:t>
            </a: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security's value</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from macroeconomic factors such as the </a:t>
            </a: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state of the economy </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and </a:t>
            </a: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industry conditions </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to microeconomic factors like the </a:t>
            </a: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effectiveness of the company's management</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a:t>
            </a:r>
          </a:p>
          <a:p>
            <a:pPr algn="just" eaLnBrk="1" hangingPunct="1">
              <a:buFont typeface="+mj-lt"/>
              <a:buAutoNum type="arabicPeriod"/>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algn="just" eaLnBrk="1" hangingPunct="1">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The end goal is to arrive at a number that an investor can compare with a </a:t>
            </a: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security's current price </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in order to see whether the security is </a:t>
            </a: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undervalued</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or </a:t>
            </a: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overvalued</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a:t>
            </a:r>
          </a:p>
          <a:p>
            <a:pPr algn="just" eaLnBrk="1" hangingPunct="1">
              <a:buFont typeface="+mj-lt"/>
              <a:buAutoNum type="arabicPeriod"/>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algn="just" eaLnBrk="1" hangingPunct="1">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Strategy is-</a:t>
            </a:r>
          </a:p>
          <a:p>
            <a:pPr eaLnBrk="1" hangingPunct="1">
              <a:buFont typeface="+mj-lt"/>
              <a:buAutoNum type="arabicPeriod"/>
            </a:pP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Buy</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when the security is undervalued</a:t>
            </a:r>
          </a:p>
          <a:p>
            <a:pPr eaLnBrk="1" hangingPunct="1">
              <a:buFont typeface="+mj-lt"/>
              <a:buAutoNum type="arabicPeriod"/>
            </a:pP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Sell-</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when the security is overvalued</a:t>
            </a:r>
          </a:p>
        </p:txBody>
      </p:sp>
      <p:sp>
        <p:nvSpPr>
          <p:cNvPr id="4" name="Title 1">
            <a:extLst>
              <a:ext uri="{FF2B5EF4-FFF2-40B4-BE49-F238E27FC236}">
                <a16:creationId xmlns:a16="http://schemas.microsoft.com/office/drawing/2014/main" id="{66762CF5-CB2A-4D63-B185-0576C183341F}"/>
              </a:ext>
            </a:extLst>
          </p:cNvPr>
          <p:cNvSpPr txBox="1">
            <a:spLocks/>
          </p:cNvSpPr>
          <p:nvPr/>
        </p:nvSpPr>
        <p:spPr>
          <a:xfrm>
            <a:off x="228600" y="102989"/>
            <a:ext cx="4191000" cy="487561"/>
          </a:xfrm>
          <a:prstGeom prst="rect">
            <a:avLst/>
          </a:prstGeom>
        </p:spPr>
        <p:txBody>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IN" sz="3200" dirty="0"/>
              <a:t>Fundamental Analysis</a:t>
            </a:r>
            <a:endParaRPr lang="hi-IN" sz="3200" dirty="0"/>
          </a:p>
        </p:txBody>
      </p:sp>
      <p:sp>
        <p:nvSpPr>
          <p:cNvPr id="5" name="Rectangle 4">
            <a:extLst>
              <a:ext uri="{FF2B5EF4-FFF2-40B4-BE49-F238E27FC236}">
                <a16:creationId xmlns:a16="http://schemas.microsoft.com/office/drawing/2014/main" id="{9194EA31-3C83-4DFD-9CA8-BE49E6337017}"/>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3634513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864704"/>
            <a:ext cx="5562600" cy="2545246"/>
          </a:xfrm>
          <a:prstGeom prst="rect">
            <a:avLst/>
          </a:prstGeom>
        </p:spPr>
      </p:pic>
      <p:sp>
        <p:nvSpPr>
          <p:cNvPr id="5" name="Rectangle 4"/>
          <p:cNvSpPr/>
          <p:nvPr/>
        </p:nvSpPr>
        <p:spPr>
          <a:xfrm>
            <a:off x="943223" y="3562350"/>
            <a:ext cx="7257554" cy="1310972"/>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  -  Economic Analysis</a:t>
            </a:r>
          </a:p>
          <a:p>
            <a:pPr algn="ctr"/>
            <a:r>
              <a:rPr lang="en-US" sz="2400" b="1" dirty="0">
                <a:solidFill>
                  <a:schemeClr val="tx1"/>
                </a:solidFill>
              </a:rPr>
              <a:t>I  -  Industry Analysis</a:t>
            </a:r>
          </a:p>
          <a:p>
            <a:pPr algn="ctr"/>
            <a:r>
              <a:rPr lang="en-US" sz="2400" b="1" dirty="0">
                <a:solidFill>
                  <a:schemeClr val="tx1"/>
                </a:solidFill>
              </a:rPr>
              <a:t>C  -  Company Analysis</a:t>
            </a:r>
          </a:p>
        </p:txBody>
      </p:sp>
      <p:sp>
        <p:nvSpPr>
          <p:cNvPr id="6" name="Rectangle 5">
            <a:extLst>
              <a:ext uri="{FF2B5EF4-FFF2-40B4-BE49-F238E27FC236}">
                <a16:creationId xmlns:a16="http://schemas.microsoft.com/office/drawing/2014/main" id="{E8FF7790-7AE6-4C65-AACC-E16275791D7F}"/>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4" name="Rectangle 3"/>
          <p:cNvSpPr/>
          <p:nvPr/>
        </p:nvSpPr>
        <p:spPr>
          <a:xfrm>
            <a:off x="1089823" y="133350"/>
            <a:ext cx="7045851" cy="64405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Approaches to Fundamental Analysis</a:t>
            </a:r>
          </a:p>
        </p:txBody>
      </p:sp>
    </p:spTree>
    <p:extLst>
      <p:ext uri="{BB962C8B-B14F-4D97-AF65-F5344CB8AC3E}">
        <p14:creationId xmlns:p14="http://schemas.microsoft.com/office/powerpoint/2010/main" val="197513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9DC68-9A2B-4CCF-A54C-524F5E9CE9ED}"/>
              </a:ext>
            </a:extLst>
          </p:cNvPr>
          <p:cNvSpPr>
            <a:spLocks noGrp="1"/>
          </p:cNvSpPr>
          <p:nvPr>
            <p:ph type="title"/>
          </p:nvPr>
        </p:nvSpPr>
        <p:spPr>
          <a:xfrm>
            <a:off x="628650" y="273845"/>
            <a:ext cx="4005454" cy="859632"/>
          </a:xfrm>
        </p:spPr>
        <p:txBody>
          <a:bodyPr>
            <a:normAutofit/>
          </a:bodyPr>
          <a:lstStyle/>
          <a:p>
            <a:r>
              <a:rPr lang="en-US" sz="2775" b="1" u="sng" dirty="0"/>
              <a:t>Economic Analysis </a:t>
            </a:r>
          </a:p>
        </p:txBody>
      </p:sp>
      <p:sp>
        <p:nvSpPr>
          <p:cNvPr id="3" name="Content Placeholder 2">
            <a:extLst>
              <a:ext uri="{FF2B5EF4-FFF2-40B4-BE49-F238E27FC236}">
                <a16:creationId xmlns:a16="http://schemas.microsoft.com/office/drawing/2014/main" id="{FD336CDD-F2C2-4BAA-B40D-4E4760AAE1DA}"/>
              </a:ext>
            </a:extLst>
          </p:cNvPr>
          <p:cNvSpPr>
            <a:spLocks noGrp="1"/>
          </p:cNvSpPr>
          <p:nvPr>
            <p:ph idx="1"/>
          </p:nvPr>
        </p:nvSpPr>
        <p:spPr>
          <a:xfrm>
            <a:off x="76200" y="746391"/>
            <a:ext cx="8727831" cy="4451648"/>
          </a:xfrm>
        </p:spPr>
        <p:txBody>
          <a:bodyPr anchor="ctr">
            <a:normAutofit/>
          </a:bodyPr>
          <a:lstStyle/>
          <a:p>
            <a:pPr marL="0" indent="0" algn="just">
              <a:buNone/>
            </a:pPr>
            <a:endParaRPr lang="en-US" sz="1600" dirty="0">
              <a:latin typeface="Calibri Light" panose="020F0302020204030204" pitchFamily="34" charset="0"/>
              <a:ea typeface="Cambria" panose="02040503050406030204" pitchFamily="18" charset="0"/>
              <a:cs typeface="Calibri Light" panose="020F0302020204030204" pitchFamily="34" charset="0"/>
            </a:endParaRPr>
          </a:p>
          <a:p>
            <a:pPr algn="just">
              <a:buFont typeface="+mj-lt"/>
              <a:buAutoNum type="arabicPeriod"/>
            </a:pPr>
            <a:r>
              <a:rPr lang="en-US" sz="1600" dirty="0">
                <a:latin typeface="Calibri Light" panose="020F0302020204030204" pitchFamily="34" charset="0"/>
                <a:ea typeface="Cambria" panose="02040503050406030204" pitchFamily="18" charset="0"/>
                <a:cs typeface="Calibri Light" panose="020F0302020204030204" pitchFamily="34" charset="0"/>
              </a:rPr>
              <a:t>Economic analysis is the process of analyzing the whole economy and the factors affecting it.</a:t>
            </a:r>
          </a:p>
          <a:p>
            <a:pPr algn="just">
              <a:buFont typeface="+mj-lt"/>
              <a:buAutoNum type="arabicPeriod"/>
            </a:pPr>
            <a:endParaRPr lang="en-US" sz="1600" dirty="0">
              <a:latin typeface="Calibri Light" panose="020F0302020204030204" pitchFamily="34" charset="0"/>
              <a:ea typeface="Cambria" panose="02040503050406030204" pitchFamily="18" charset="0"/>
              <a:cs typeface="Calibri Light" panose="020F0302020204030204" pitchFamily="34" charset="0"/>
            </a:endParaRPr>
          </a:p>
          <a:p>
            <a:pPr algn="just">
              <a:buFont typeface="+mj-lt"/>
              <a:buAutoNum type="arabicPeriod"/>
            </a:pPr>
            <a:r>
              <a:rPr lang="en-US" sz="1600" dirty="0">
                <a:latin typeface="Calibri Light" panose="020F0302020204030204" pitchFamily="34" charset="0"/>
                <a:ea typeface="Cambria" panose="02040503050406030204" pitchFamily="18" charset="0"/>
                <a:cs typeface="Calibri Light" panose="020F0302020204030204" pitchFamily="34" charset="0"/>
              </a:rPr>
              <a:t>Economic analysis overlooks all the </a:t>
            </a:r>
            <a:r>
              <a:rPr lang="en-US" sz="1600" b="1" dirty="0">
                <a:latin typeface="Calibri Light" panose="020F0302020204030204" pitchFamily="34" charset="0"/>
                <a:ea typeface="Cambria" panose="02040503050406030204" pitchFamily="18" charset="0"/>
                <a:cs typeface="Calibri Light" panose="020F0302020204030204" pitchFamily="34" charset="0"/>
              </a:rPr>
              <a:t>economic conditions </a:t>
            </a:r>
            <a:r>
              <a:rPr lang="en-US" sz="1600" dirty="0">
                <a:latin typeface="Calibri Light" panose="020F0302020204030204" pitchFamily="34" charset="0"/>
                <a:ea typeface="Cambria" panose="02040503050406030204" pitchFamily="18" charset="0"/>
                <a:cs typeface="Calibri Light" panose="020F0302020204030204" pitchFamily="34" charset="0"/>
              </a:rPr>
              <a:t>and economic activities which affect the profit of the company.</a:t>
            </a:r>
          </a:p>
          <a:p>
            <a:pPr algn="just">
              <a:buFont typeface="+mj-lt"/>
              <a:buAutoNum type="arabicPeriod"/>
            </a:pPr>
            <a:endParaRPr lang="en-US" sz="1600" dirty="0">
              <a:latin typeface="Calibri Light" panose="020F0302020204030204" pitchFamily="34" charset="0"/>
              <a:ea typeface="Cambria" panose="02040503050406030204" pitchFamily="18" charset="0"/>
              <a:cs typeface="Calibri Light" panose="020F0302020204030204" pitchFamily="34" charset="0"/>
            </a:endParaRPr>
          </a:p>
          <a:p>
            <a:pPr algn="just">
              <a:buFont typeface="+mj-lt"/>
              <a:buAutoNum type="arabicPeriod"/>
            </a:pPr>
            <a:r>
              <a:rPr lang="en-US" sz="1600" dirty="0">
                <a:latin typeface="Calibri Light" panose="020F0302020204030204" pitchFamily="34" charset="0"/>
                <a:ea typeface="Cambria" panose="02040503050406030204" pitchFamily="18" charset="0"/>
                <a:cs typeface="Calibri Light" panose="020F0302020204030204" pitchFamily="34" charset="0"/>
              </a:rPr>
              <a:t>It helps in determining whether the factors have a </a:t>
            </a:r>
            <a:r>
              <a:rPr lang="en-US" sz="1600" b="1" dirty="0">
                <a:latin typeface="Calibri Light" panose="020F0302020204030204" pitchFamily="34" charset="0"/>
                <a:ea typeface="Cambria" panose="02040503050406030204" pitchFamily="18" charset="0"/>
                <a:cs typeface="Calibri Light" panose="020F0302020204030204" pitchFamily="34" charset="0"/>
              </a:rPr>
              <a:t>favorable</a:t>
            </a:r>
            <a:r>
              <a:rPr lang="en-US" sz="1600" dirty="0">
                <a:latin typeface="Calibri Light" panose="020F0302020204030204" pitchFamily="34" charset="0"/>
                <a:ea typeface="Cambria" panose="02040503050406030204" pitchFamily="18" charset="0"/>
                <a:cs typeface="Calibri Light" panose="020F0302020204030204" pitchFamily="34" charset="0"/>
              </a:rPr>
              <a:t> or </a:t>
            </a:r>
            <a:r>
              <a:rPr lang="en-US" sz="1600" b="1" dirty="0">
                <a:latin typeface="Calibri Light" panose="020F0302020204030204" pitchFamily="34" charset="0"/>
                <a:ea typeface="Cambria" panose="02040503050406030204" pitchFamily="18" charset="0"/>
                <a:cs typeface="Calibri Light" panose="020F0302020204030204" pitchFamily="34" charset="0"/>
              </a:rPr>
              <a:t>unfavorable</a:t>
            </a:r>
            <a:r>
              <a:rPr lang="en-US" sz="1600" dirty="0">
                <a:latin typeface="Calibri Light" panose="020F0302020204030204" pitchFamily="34" charset="0"/>
                <a:ea typeface="Cambria" panose="02040503050406030204" pitchFamily="18" charset="0"/>
                <a:cs typeface="Calibri Light" panose="020F0302020204030204" pitchFamily="34" charset="0"/>
              </a:rPr>
              <a:t> impact on the economy.</a:t>
            </a:r>
          </a:p>
          <a:p>
            <a:pPr algn="just">
              <a:buFont typeface="+mj-lt"/>
              <a:buAutoNum type="arabicPeriod"/>
            </a:pPr>
            <a:endParaRPr lang="en-IN" sz="1600" dirty="0">
              <a:latin typeface="Calibri Light" panose="020F0302020204030204" pitchFamily="34" charset="0"/>
              <a:ea typeface="Cambria" panose="02040503050406030204" pitchFamily="18" charset="0"/>
              <a:cs typeface="Calibri Light" panose="020F0302020204030204" pitchFamily="34" charset="0"/>
            </a:endParaRPr>
          </a:p>
          <a:p>
            <a:pPr algn="just">
              <a:buFont typeface="+mj-lt"/>
              <a:buAutoNum type="arabicPeriod"/>
            </a:pPr>
            <a:r>
              <a:rPr lang="en-IN" sz="1600" dirty="0">
                <a:latin typeface="Calibri Light" panose="020F0302020204030204" pitchFamily="34" charset="0"/>
                <a:ea typeface="Cambria" panose="02040503050406030204" pitchFamily="18" charset="0"/>
                <a:cs typeface="Calibri Light" panose="020F0302020204030204" pitchFamily="34" charset="0"/>
              </a:rPr>
              <a:t>This allows investors to </a:t>
            </a:r>
            <a:r>
              <a:rPr lang="en-IN" sz="1600" dirty="0" err="1">
                <a:latin typeface="Calibri Light" panose="020F0302020204030204" pitchFamily="34" charset="0"/>
                <a:ea typeface="Cambria" panose="02040503050406030204" pitchFamily="18" charset="0"/>
                <a:cs typeface="Calibri Light" panose="020F0302020204030204" pitchFamily="34" charset="0"/>
              </a:rPr>
              <a:t>analyze</a:t>
            </a:r>
            <a:r>
              <a:rPr lang="en-IN" sz="1600" dirty="0">
                <a:latin typeface="Calibri Light" panose="020F0302020204030204" pitchFamily="34" charset="0"/>
                <a:ea typeface="Cambria" panose="02040503050406030204" pitchFamily="18" charset="0"/>
                <a:cs typeface="Calibri Light" panose="020F0302020204030204" pitchFamily="34" charset="0"/>
              </a:rPr>
              <a:t> the market from the big picture all the way down to individual stocks. </a:t>
            </a:r>
          </a:p>
          <a:p>
            <a:pPr algn="just">
              <a:buFont typeface="+mj-lt"/>
              <a:buAutoNum type="arabicPeriod"/>
            </a:pPr>
            <a:endParaRPr lang="en-IN" sz="1600" dirty="0">
              <a:latin typeface="Calibri Light" panose="020F0302020204030204" pitchFamily="34" charset="0"/>
              <a:ea typeface="Cambria" panose="02040503050406030204" pitchFamily="18" charset="0"/>
              <a:cs typeface="Calibri Light" panose="020F0302020204030204" pitchFamily="34" charset="0"/>
            </a:endParaRPr>
          </a:p>
          <a:p>
            <a:pPr algn="just">
              <a:buFont typeface="+mj-lt"/>
              <a:buAutoNum type="arabicPeriod"/>
            </a:pPr>
            <a:r>
              <a:rPr lang="en-IN" sz="1600" dirty="0">
                <a:latin typeface="Calibri Light" panose="020F0302020204030204" pitchFamily="34" charset="0"/>
                <a:ea typeface="Cambria" panose="02040503050406030204" pitchFamily="18" charset="0"/>
                <a:cs typeface="Calibri Light" panose="020F0302020204030204" pitchFamily="34" charset="0"/>
              </a:rPr>
              <a:t>By examining the economic numbers one can determine the current market strength and have a better idea of what the future holds.</a:t>
            </a:r>
            <a:endParaRPr lang="en-US" sz="1600" dirty="0">
              <a:latin typeface="Calibri Light" panose="020F0302020204030204" pitchFamily="34" charset="0"/>
              <a:ea typeface="Cambria" panose="02040503050406030204" pitchFamily="18" charset="0"/>
              <a:cs typeface="Calibri Light" panose="020F0302020204030204" pitchFamily="34" charset="0"/>
            </a:endParaRPr>
          </a:p>
          <a:p>
            <a:pPr algn="just">
              <a:buFont typeface="+mj-lt"/>
              <a:buAutoNum type="arabicPeriod"/>
            </a:pPr>
            <a:endParaRPr lang="en-US" sz="1600" dirty="0">
              <a:latin typeface="Calibri Light" panose="020F0302020204030204" pitchFamily="34" charset="0"/>
              <a:ea typeface="Cambria" panose="02040503050406030204" pitchFamily="18" charset="0"/>
              <a:cs typeface="Calibri Light" panose="020F0302020204030204" pitchFamily="34" charset="0"/>
            </a:endParaRPr>
          </a:p>
          <a:p>
            <a:pPr algn="just">
              <a:buFont typeface="+mj-lt"/>
              <a:buAutoNum type="arabicPeriod"/>
            </a:pPr>
            <a:r>
              <a:rPr lang="en-US" sz="1600" dirty="0">
                <a:latin typeface="Calibri Light" panose="020F0302020204030204" pitchFamily="34" charset="0"/>
                <a:ea typeface="Cambria" panose="02040503050406030204" pitchFamily="18" charset="0"/>
                <a:cs typeface="Calibri Light" panose="020F0302020204030204" pitchFamily="34" charset="0"/>
              </a:rPr>
              <a:t>Expectation of a </a:t>
            </a:r>
            <a:r>
              <a:rPr lang="en-US" sz="1600" b="1" dirty="0">
                <a:latin typeface="Calibri Light" panose="020F0302020204030204" pitchFamily="34" charset="0"/>
                <a:ea typeface="Cambria" panose="02040503050406030204" pitchFamily="18" charset="0"/>
                <a:cs typeface="Calibri Light" panose="020F0302020204030204" pitchFamily="34" charset="0"/>
              </a:rPr>
              <a:t>booming economy </a:t>
            </a:r>
            <a:r>
              <a:rPr lang="en-US" sz="1600" dirty="0">
                <a:latin typeface="Calibri Light" panose="020F0302020204030204" pitchFamily="34" charset="0"/>
                <a:ea typeface="Cambria" panose="02040503050406030204" pitchFamily="18" charset="0"/>
                <a:cs typeface="Calibri Light" panose="020F0302020204030204" pitchFamily="34" charset="0"/>
              </a:rPr>
              <a:t>can lead to </a:t>
            </a:r>
            <a:r>
              <a:rPr lang="en-US" sz="1600" b="1" dirty="0">
                <a:latin typeface="Calibri Light" panose="020F0302020204030204" pitchFamily="34" charset="0"/>
                <a:ea typeface="Cambria" panose="02040503050406030204" pitchFamily="18" charset="0"/>
                <a:cs typeface="Calibri Light" panose="020F0302020204030204" pitchFamily="34" charset="0"/>
              </a:rPr>
              <a:t>an increase in company profit </a:t>
            </a:r>
            <a:r>
              <a:rPr lang="en-US" sz="1600" dirty="0">
                <a:latin typeface="Calibri Light" panose="020F0302020204030204" pitchFamily="34" charset="0"/>
                <a:ea typeface="Cambria" panose="02040503050406030204" pitchFamily="18" charset="0"/>
                <a:cs typeface="Calibri Light" panose="020F0302020204030204" pitchFamily="34" charset="0"/>
              </a:rPr>
              <a:t>and </a:t>
            </a:r>
            <a:r>
              <a:rPr lang="en-US" sz="1600" b="1" dirty="0">
                <a:latin typeface="Calibri Light" panose="020F0302020204030204" pitchFamily="34" charset="0"/>
                <a:ea typeface="Cambria" panose="02040503050406030204" pitchFamily="18" charset="0"/>
                <a:cs typeface="Calibri Light" panose="020F0302020204030204" pitchFamily="34" charset="0"/>
              </a:rPr>
              <a:t>security prices </a:t>
            </a:r>
            <a:r>
              <a:rPr lang="en-US" sz="1600" dirty="0">
                <a:latin typeface="Calibri Light" panose="020F0302020204030204" pitchFamily="34" charset="0"/>
                <a:ea typeface="Cambria" panose="02040503050406030204" pitchFamily="18" charset="0"/>
                <a:cs typeface="Calibri Light" panose="020F0302020204030204" pitchFamily="34" charset="0"/>
              </a:rPr>
              <a:t>will rise due to </a:t>
            </a:r>
            <a:r>
              <a:rPr lang="en-US" sz="1600" b="1" dirty="0">
                <a:latin typeface="Calibri Light" panose="020F0302020204030204" pitchFamily="34" charset="0"/>
                <a:ea typeface="Cambria" panose="02040503050406030204" pitchFamily="18" charset="0"/>
                <a:cs typeface="Calibri Light" panose="020F0302020204030204" pitchFamily="34" charset="0"/>
              </a:rPr>
              <a:t>buying pressure</a:t>
            </a:r>
            <a:r>
              <a:rPr lang="en-US" sz="1600" dirty="0">
                <a:latin typeface="Calibri Light" panose="020F0302020204030204" pitchFamily="34" charset="0"/>
                <a:ea typeface="Cambria" panose="02040503050406030204" pitchFamily="18" charset="0"/>
                <a:cs typeface="Calibri Light" panose="020F0302020204030204" pitchFamily="34" charset="0"/>
              </a:rPr>
              <a:t>.</a:t>
            </a:r>
            <a:endParaRPr lang="en-IN" sz="1600" dirty="0">
              <a:latin typeface="Calibri Light" panose="020F0302020204030204" pitchFamily="34" charset="0"/>
              <a:ea typeface="Cambria" panose="02040503050406030204" pitchFamily="18" charset="0"/>
              <a:cs typeface="Calibri Light" panose="020F0302020204030204" pitchFamily="34" charset="0"/>
            </a:endParaRPr>
          </a:p>
          <a:p>
            <a:pPr algn="just"/>
            <a:endParaRPr lang="en-US" sz="1425" dirty="0"/>
          </a:p>
          <a:p>
            <a:pPr algn="just"/>
            <a:endParaRPr lang="en-US" sz="1425" dirty="0"/>
          </a:p>
        </p:txBody>
      </p:sp>
      <p:sp>
        <p:nvSpPr>
          <p:cNvPr id="7" name="Content Placeholder 2">
            <a:extLst>
              <a:ext uri="{FF2B5EF4-FFF2-40B4-BE49-F238E27FC236}">
                <a16:creationId xmlns:a16="http://schemas.microsoft.com/office/drawing/2014/main" id="{16D09AD3-B696-49DD-89F0-FB6F3A7BC1CC}"/>
              </a:ext>
            </a:extLst>
          </p:cNvPr>
          <p:cNvSpPr txBox="1">
            <a:spLocks/>
          </p:cNvSpPr>
          <p:nvPr/>
        </p:nvSpPr>
        <p:spPr>
          <a:xfrm>
            <a:off x="152400" y="345926"/>
            <a:ext cx="8727831" cy="4451648"/>
          </a:xfrm>
          <a:prstGeom prst="rect">
            <a:avLst/>
          </a:prstGeom>
        </p:spPr>
        <p:txBody>
          <a:bodyPr anchor="ctr">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mj-lt"/>
              <a:buAutoNum type="arabicPeriod"/>
            </a:pPr>
            <a:endParaRPr lang="en-US" sz="1600" dirty="0">
              <a:latin typeface="Calibri Light" panose="020F0302020204030204" pitchFamily="34" charset="0"/>
              <a:ea typeface="Cambria" panose="02040503050406030204" pitchFamily="18" charset="0"/>
              <a:cs typeface="Calibri Light" panose="020F0302020204030204" pitchFamily="34" charset="0"/>
            </a:endParaRPr>
          </a:p>
          <a:p>
            <a:pPr algn="just">
              <a:buFont typeface="+mj-lt"/>
              <a:buAutoNum type="arabicPeriod"/>
            </a:pPr>
            <a:endParaRPr lang="en-US" sz="1600" dirty="0">
              <a:latin typeface="Calibri Light" panose="020F0302020204030204" pitchFamily="34" charset="0"/>
              <a:ea typeface="Cambria" panose="02040503050406030204" pitchFamily="18" charset="0"/>
              <a:cs typeface="Calibri Light" panose="020F0302020204030204" pitchFamily="34" charset="0"/>
            </a:endParaRPr>
          </a:p>
          <a:p>
            <a:pPr algn="just">
              <a:buFont typeface="+mj-lt"/>
              <a:buAutoNum type="arabicPeriod"/>
            </a:pPr>
            <a:endParaRPr lang="en-US" sz="1600" dirty="0">
              <a:latin typeface="Calibri Light" panose="020F0302020204030204" pitchFamily="34" charset="0"/>
              <a:ea typeface="Cambria" panose="02040503050406030204" pitchFamily="18" charset="0"/>
              <a:cs typeface="Calibri Light" panose="020F0302020204030204" pitchFamily="34" charset="0"/>
            </a:endParaRPr>
          </a:p>
          <a:p>
            <a:pPr algn="just">
              <a:buFont typeface="+mj-lt"/>
              <a:buAutoNum type="arabicPeriod"/>
            </a:pPr>
            <a:endParaRPr lang="en-US" sz="1600" dirty="0">
              <a:latin typeface="Calibri Light" panose="020F0302020204030204" pitchFamily="34" charset="0"/>
              <a:ea typeface="Cambria" panose="02040503050406030204" pitchFamily="18" charset="0"/>
              <a:cs typeface="Calibri Light" panose="020F0302020204030204" pitchFamily="34" charset="0"/>
            </a:endParaRPr>
          </a:p>
          <a:p>
            <a:pPr marL="0" indent="0" algn="just">
              <a:buFont typeface="Arial" charset="0"/>
              <a:buNone/>
            </a:pPr>
            <a:endParaRPr lang="en-US" sz="1600" dirty="0">
              <a:latin typeface="Calibri Light" panose="020F0302020204030204" pitchFamily="34" charset="0"/>
              <a:ea typeface="Cambria" panose="02040503050406030204" pitchFamily="18" charset="0"/>
              <a:cs typeface="Calibri Light" panose="020F0302020204030204" pitchFamily="34" charset="0"/>
            </a:endParaRPr>
          </a:p>
          <a:p>
            <a:pPr algn="just"/>
            <a:endParaRPr lang="en-US" sz="1425" dirty="0"/>
          </a:p>
          <a:p>
            <a:pPr algn="just"/>
            <a:endParaRPr lang="en-US" sz="1425" dirty="0"/>
          </a:p>
        </p:txBody>
      </p:sp>
      <p:sp>
        <p:nvSpPr>
          <p:cNvPr id="8" name="Rectangle 7">
            <a:extLst>
              <a:ext uri="{FF2B5EF4-FFF2-40B4-BE49-F238E27FC236}">
                <a16:creationId xmlns:a16="http://schemas.microsoft.com/office/drawing/2014/main" id="{A837543D-5957-4A6B-999F-E54E8536AABC}"/>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3725086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Economic Analysis</a:t>
            </a:r>
          </a:p>
        </p:txBody>
      </p:sp>
      <p:sp>
        <p:nvSpPr>
          <p:cNvPr id="4" name="Rectangle 3"/>
          <p:cNvSpPr/>
          <p:nvPr/>
        </p:nvSpPr>
        <p:spPr>
          <a:xfrm>
            <a:off x="266700" y="895350"/>
            <a:ext cx="8407400" cy="3970318"/>
          </a:xfrm>
          <a:prstGeom prst="rect">
            <a:avLst/>
          </a:prstGeom>
        </p:spPr>
        <p:txBody>
          <a:bodyPr wrap="square">
            <a:spAutoFit/>
          </a:bodyPr>
          <a:lstStyle/>
          <a:p>
            <a:pPr algn="just"/>
            <a:r>
              <a:rPr lang="en-IN" dirty="0">
                <a:latin typeface="Calibri Light" panose="020F0302020204030204" pitchFamily="34" charset="0"/>
                <a:ea typeface="Cambria" panose="02040503050406030204" pitchFamily="18" charset="0"/>
                <a:cs typeface="Calibri Light" panose="020F0302020204030204" pitchFamily="34" charset="0"/>
              </a:rPr>
              <a:t>Key Economic indicators investors must incorporate while selecting stocks:</a:t>
            </a:r>
          </a:p>
          <a:p>
            <a:pPr marL="857250" lvl="1" indent="-400050" algn="just">
              <a:buFont typeface="+mj-lt"/>
              <a:buAutoNum type="romanLcPeriod"/>
            </a:pPr>
            <a:endParaRPr lang="en-IN" dirty="0">
              <a:latin typeface="Calibri Light" panose="020F0302020204030204" pitchFamily="34" charset="0"/>
              <a:ea typeface="Cambria" panose="02040503050406030204" pitchFamily="18" charset="0"/>
              <a:cs typeface="Calibri Light" panose="020F0302020204030204" pitchFamily="34" charset="0"/>
            </a:endParaRPr>
          </a:p>
          <a:p>
            <a:pPr marL="800100" lvl="1" indent="-342900" algn="just">
              <a:buFont typeface="+mj-lt"/>
              <a:buAutoNum type="arabicPeriod"/>
            </a:pPr>
            <a:r>
              <a:rPr lang="en-US" dirty="0">
                <a:latin typeface="Calibri Light" panose="020F0302020204030204" pitchFamily="34" charset="0"/>
                <a:ea typeface="Cambria" panose="02040503050406030204" pitchFamily="18" charset="0"/>
                <a:cs typeface="Calibri Light" panose="020F0302020204030204" pitchFamily="34" charset="0"/>
              </a:rPr>
              <a:t>GDP of a nation</a:t>
            </a:r>
          </a:p>
          <a:p>
            <a:pPr marL="800100" lvl="1" indent="-342900" algn="just">
              <a:buFont typeface="+mj-lt"/>
              <a:buAutoNum type="arabicPeriod"/>
            </a:pPr>
            <a:r>
              <a:rPr lang="en-US" dirty="0">
                <a:latin typeface="Calibri Light" panose="020F0302020204030204" pitchFamily="34" charset="0"/>
                <a:ea typeface="Cambria" panose="02040503050406030204" pitchFamily="18" charset="0"/>
                <a:cs typeface="Calibri Light" panose="020F0302020204030204" pitchFamily="34" charset="0"/>
              </a:rPr>
              <a:t>Interest rate</a:t>
            </a:r>
          </a:p>
          <a:p>
            <a:pPr marL="800100" lvl="1" indent="-342900" algn="just">
              <a:buFont typeface="+mj-lt"/>
              <a:buAutoNum type="arabicPeriod"/>
            </a:pPr>
            <a:r>
              <a:rPr lang="en-US" dirty="0">
                <a:latin typeface="Calibri Light" panose="020F0302020204030204" pitchFamily="34" charset="0"/>
                <a:ea typeface="Cambria" panose="02040503050406030204" pitchFamily="18" charset="0"/>
                <a:cs typeface="Calibri Light" panose="020F0302020204030204" pitchFamily="34" charset="0"/>
              </a:rPr>
              <a:t>Fiscal policy</a:t>
            </a:r>
          </a:p>
          <a:p>
            <a:pPr marL="800100" lvl="1" indent="-342900" algn="just">
              <a:buFont typeface="+mj-lt"/>
              <a:buAutoNum type="arabicPeriod"/>
            </a:pPr>
            <a:r>
              <a:rPr lang="en-US" dirty="0">
                <a:latin typeface="Calibri Light" panose="020F0302020204030204" pitchFamily="34" charset="0"/>
                <a:ea typeface="Cambria" panose="02040503050406030204" pitchFamily="18" charset="0"/>
                <a:cs typeface="Calibri Light" panose="020F0302020204030204" pitchFamily="34" charset="0"/>
              </a:rPr>
              <a:t>Monetary policy</a:t>
            </a:r>
          </a:p>
          <a:p>
            <a:pPr marL="800100" lvl="1" indent="-342900" algn="just">
              <a:buFont typeface="+mj-lt"/>
              <a:buAutoNum type="arabicPeriod"/>
            </a:pPr>
            <a:r>
              <a:rPr lang="en-US" dirty="0">
                <a:latin typeface="Calibri Light" panose="020F0302020204030204" pitchFamily="34" charset="0"/>
                <a:ea typeface="Cambria" panose="02040503050406030204" pitchFamily="18" charset="0"/>
                <a:cs typeface="Calibri Light" panose="020F0302020204030204" pitchFamily="34" charset="0"/>
              </a:rPr>
              <a:t>Business cycle</a:t>
            </a:r>
          </a:p>
          <a:p>
            <a:pPr marL="800100" lvl="1" indent="-342900" algn="just">
              <a:buFont typeface="+mj-lt"/>
              <a:buAutoNum type="arabicPeriod"/>
            </a:pPr>
            <a:r>
              <a:rPr lang="en-US" dirty="0">
                <a:latin typeface="Calibri Light" panose="020F0302020204030204" pitchFamily="34" charset="0"/>
                <a:ea typeface="Cambria" panose="02040503050406030204" pitchFamily="18" charset="0"/>
                <a:cs typeface="Calibri Light" panose="020F0302020204030204" pitchFamily="34" charset="0"/>
              </a:rPr>
              <a:t>Exchange rate</a:t>
            </a:r>
          </a:p>
          <a:p>
            <a:pPr marL="800100" lvl="1" indent="-342900" algn="just">
              <a:buFont typeface="+mj-lt"/>
              <a:buAutoNum type="arabicPeriod"/>
            </a:pPr>
            <a:r>
              <a:rPr lang="en-IN" dirty="0">
                <a:latin typeface="Calibri Light" panose="020F0302020204030204" pitchFamily="34" charset="0"/>
                <a:ea typeface="Cambria" panose="02040503050406030204" pitchFamily="18" charset="0"/>
                <a:cs typeface="Calibri Light" panose="020F0302020204030204" pitchFamily="34" charset="0"/>
              </a:rPr>
              <a:t>Indices (e.g. Nifty, Sensex)</a:t>
            </a:r>
          </a:p>
          <a:p>
            <a:pPr marL="800100" lvl="1" indent="-342900" algn="just">
              <a:buFont typeface="+mj-lt"/>
              <a:buAutoNum type="arabicPeriod"/>
            </a:pPr>
            <a:r>
              <a:rPr lang="en-IN" dirty="0">
                <a:latin typeface="Calibri Light" panose="020F0302020204030204" pitchFamily="34" charset="0"/>
                <a:ea typeface="Cambria" panose="02040503050406030204" pitchFamily="18" charset="0"/>
                <a:cs typeface="Calibri Light" panose="020F0302020204030204" pitchFamily="34" charset="0"/>
              </a:rPr>
              <a:t>Gross Domestic Product (GDP)</a:t>
            </a:r>
          </a:p>
          <a:p>
            <a:pPr marL="800100" lvl="1" indent="-342900" algn="just">
              <a:buFont typeface="+mj-lt"/>
              <a:buAutoNum type="arabicPeriod"/>
            </a:pPr>
            <a:r>
              <a:rPr lang="en-IN" dirty="0">
                <a:latin typeface="Calibri Light" panose="020F0302020204030204" pitchFamily="34" charset="0"/>
                <a:ea typeface="Cambria" panose="02040503050406030204" pitchFamily="18" charset="0"/>
                <a:cs typeface="Calibri Light" panose="020F0302020204030204" pitchFamily="34" charset="0"/>
              </a:rPr>
              <a:t>Unemployment rate</a:t>
            </a:r>
          </a:p>
          <a:p>
            <a:pPr marL="800100" lvl="1" indent="-342900" algn="just">
              <a:buFont typeface="+mj-lt"/>
              <a:buAutoNum type="arabicPeriod"/>
            </a:pPr>
            <a:r>
              <a:rPr lang="en-IN" dirty="0">
                <a:latin typeface="Calibri Light" panose="020F0302020204030204" pitchFamily="34" charset="0"/>
                <a:ea typeface="Cambria" panose="02040503050406030204" pitchFamily="18" charset="0"/>
                <a:cs typeface="Calibri Light" panose="020F0302020204030204" pitchFamily="34" charset="0"/>
              </a:rPr>
              <a:t>Inflation rate</a:t>
            </a:r>
          </a:p>
          <a:p>
            <a:pPr marL="800100" lvl="1" indent="-342900" algn="just">
              <a:buFont typeface="+mj-lt"/>
              <a:buAutoNum type="arabicPeriod"/>
            </a:pPr>
            <a:r>
              <a:rPr lang="en-IN" dirty="0">
                <a:latin typeface="Calibri Light" panose="020F0302020204030204" pitchFamily="34" charset="0"/>
                <a:ea typeface="Cambria" panose="02040503050406030204" pitchFamily="18" charset="0"/>
                <a:cs typeface="Calibri Light" panose="020F0302020204030204" pitchFamily="34" charset="0"/>
              </a:rPr>
              <a:t>Consumer Confidence</a:t>
            </a:r>
          </a:p>
          <a:p>
            <a:pPr marL="800100" lvl="1" indent="-342900" algn="just">
              <a:buFont typeface="+mj-lt"/>
              <a:buAutoNum type="arabicPeriod"/>
            </a:pPr>
            <a:r>
              <a:rPr lang="en-IN" dirty="0">
                <a:latin typeface="Calibri Light" panose="020F0302020204030204" pitchFamily="34" charset="0"/>
                <a:ea typeface="Cambria" panose="02040503050406030204" pitchFamily="18" charset="0"/>
                <a:cs typeface="Calibri Light" panose="020F0302020204030204" pitchFamily="34" charset="0"/>
              </a:rPr>
              <a:t>Purchase Managers' Index</a:t>
            </a:r>
            <a:endParaRPr lang="en-IN" dirty="0">
              <a:solidFill>
                <a:srgbClr val="FF0000"/>
              </a:solidFill>
              <a:latin typeface="Calibri Light" panose="020F0302020204030204" pitchFamily="34" charset="0"/>
              <a:ea typeface="Cambria" panose="02040503050406030204" pitchFamily="18" charset="0"/>
              <a:cs typeface="Calibri Light" panose="020F0302020204030204" pitchFamily="34" charset="0"/>
            </a:endParaRPr>
          </a:p>
        </p:txBody>
      </p:sp>
      <p:sp>
        <p:nvSpPr>
          <p:cNvPr id="5" name="Rectangle 4">
            <a:extLst>
              <a:ext uri="{FF2B5EF4-FFF2-40B4-BE49-F238E27FC236}">
                <a16:creationId xmlns:a16="http://schemas.microsoft.com/office/drawing/2014/main" id="{9B8CDF76-C84A-427D-B8A5-93EC850B6196}"/>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pic>
        <p:nvPicPr>
          <p:cNvPr id="6" name="Picture 5">
            <a:extLst>
              <a:ext uri="{FF2B5EF4-FFF2-40B4-BE49-F238E27FC236}">
                <a16:creationId xmlns:a16="http://schemas.microsoft.com/office/drawing/2014/main" id="{AFD9CDA1-65C3-4B29-9708-DE4F94BF6D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70720" y="1962150"/>
            <a:ext cx="3472732" cy="1709411"/>
          </a:xfrm>
          <a:prstGeom prst="rect">
            <a:avLst/>
          </a:prstGeom>
        </p:spPr>
      </p:pic>
    </p:spTree>
    <p:extLst>
      <p:ext uri="{BB962C8B-B14F-4D97-AF65-F5344CB8AC3E}">
        <p14:creationId xmlns:p14="http://schemas.microsoft.com/office/powerpoint/2010/main" val="3991770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9DC68-9A2B-4CCF-A54C-524F5E9CE9ED}"/>
              </a:ext>
            </a:extLst>
          </p:cNvPr>
          <p:cNvSpPr>
            <a:spLocks noGrp="1"/>
          </p:cNvSpPr>
          <p:nvPr>
            <p:ph type="title"/>
          </p:nvPr>
        </p:nvSpPr>
        <p:spPr>
          <a:xfrm>
            <a:off x="628650" y="280223"/>
            <a:ext cx="4005454" cy="859632"/>
          </a:xfrm>
        </p:spPr>
        <p:txBody>
          <a:bodyPr>
            <a:normAutofit/>
          </a:bodyPr>
          <a:lstStyle/>
          <a:p>
            <a:r>
              <a:rPr lang="en-US" sz="2775" b="1" dirty="0"/>
              <a:t>Industry Analysis </a:t>
            </a:r>
          </a:p>
        </p:txBody>
      </p:sp>
      <p:sp>
        <p:nvSpPr>
          <p:cNvPr id="3" name="Content Placeholder 2">
            <a:extLst>
              <a:ext uri="{FF2B5EF4-FFF2-40B4-BE49-F238E27FC236}">
                <a16:creationId xmlns:a16="http://schemas.microsoft.com/office/drawing/2014/main" id="{FD336CDD-F2C2-4BAA-B40D-4E4760AAE1DA}"/>
              </a:ext>
            </a:extLst>
          </p:cNvPr>
          <p:cNvSpPr>
            <a:spLocks noGrp="1"/>
          </p:cNvSpPr>
          <p:nvPr>
            <p:ph idx="1"/>
          </p:nvPr>
        </p:nvSpPr>
        <p:spPr>
          <a:xfrm>
            <a:off x="1" y="1311966"/>
            <a:ext cx="5867399" cy="3047764"/>
          </a:xfrm>
        </p:spPr>
        <p:txBody>
          <a:bodyPr anchor="ctr">
            <a:normAutofit/>
          </a:bodyPr>
          <a:lstStyle/>
          <a:p>
            <a:pPr algn="just">
              <a:buFont typeface="+mj-lt"/>
              <a:buAutoNum type="arabicPeriod"/>
            </a:pPr>
            <a:r>
              <a:rPr lang="en-US" sz="1600" dirty="0">
                <a:latin typeface="Calibri Light" panose="020F0302020204030204" pitchFamily="34" charset="0"/>
                <a:ea typeface="Cambria" panose="02040503050406030204" pitchFamily="18" charset="0"/>
                <a:cs typeface="Calibri Light" panose="020F0302020204030204" pitchFamily="34" charset="0"/>
              </a:rPr>
              <a:t>Industry may be defined as a </a:t>
            </a:r>
            <a:r>
              <a:rPr lang="en-US" sz="1600" b="1" dirty="0">
                <a:latin typeface="Calibri Light" panose="020F0302020204030204" pitchFamily="34" charset="0"/>
                <a:ea typeface="Cambria" panose="02040503050406030204" pitchFamily="18" charset="0"/>
                <a:cs typeface="Calibri Light" panose="020F0302020204030204" pitchFamily="34" charset="0"/>
              </a:rPr>
              <a:t>homogeneous group</a:t>
            </a:r>
            <a:r>
              <a:rPr lang="en-US" sz="1600" dirty="0">
                <a:latin typeface="Calibri Light" panose="020F0302020204030204" pitchFamily="34" charset="0"/>
                <a:ea typeface="Cambria" panose="02040503050406030204" pitchFamily="18" charset="0"/>
                <a:cs typeface="Calibri Light" panose="020F0302020204030204" pitchFamily="34" charset="0"/>
              </a:rPr>
              <a:t> of firms providing a similar type of goods or services.</a:t>
            </a:r>
          </a:p>
          <a:p>
            <a:pPr algn="just">
              <a:buFont typeface="+mj-lt"/>
              <a:buAutoNum type="arabicPeriod"/>
            </a:pPr>
            <a:r>
              <a:rPr lang="en-US" sz="1600" dirty="0">
                <a:latin typeface="Calibri Light" panose="020F0302020204030204" pitchFamily="34" charset="0"/>
                <a:ea typeface="Cambria" panose="02040503050406030204" pitchFamily="18" charset="0"/>
                <a:cs typeface="Calibri Light" panose="020F0302020204030204" pitchFamily="34" charset="0"/>
              </a:rPr>
              <a:t>For example- The auto-mobile industry, IT industry, FMCG industry, etc.</a:t>
            </a:r>
          </a:p>
          <a:p>
            <a:pPr algn="just">
              <a:buFont typeface="+mj-lt"/>
              <a:buAutoNum type="arabicPeriod"/>
            </a:pPr>
            <a:r>
              <a:rPr lang="en-US" sz="1600" dirty="0">
                <a:latin typeface="Calibri Light" panose="020F0302020204030204" pitchFamily="34" charset="0"/>
                <a:ea typeface="Cambria" panose="02040503050406030204" pitchFamily="18" charset="0"/>
                <a:cs typeface="Calibri Light" panose="020F0302020204030204" pitchFamily="34" charset="0"/>
              </a:rPr>
              <a:t>Since the economic conditions and policies do not affect all the industries equally it becomes necessary to analyze every industry.</a:t>
            </a:r>
          </a:p>
          <a:p>
            <a:pPr algn="just">
              <a:buFont typeface="+mj-lt"/>
              <a:buAutoNum type="arabicPeriod"/>
            </a:pPr>
            <a:r>
              <a:rPr lang="en-US" sz="1600" dirty="0">
                <a:latin typeface="Calibri Light" panose="020F0302020204030204" pitchFamily="34" charset="0"/>
                <a:ea typeface="Cambria" panose="02040503050406030204" pitchFamily="18" charset="0"/>
                <a:cs typeface="Calibri Light" panose="020F0302020204030204" pitchFamily="34" charset="0"/>
              </a:rPr>
              <a:t>For example- Food and spices industry is less affected by business-cycle, whereas luxury products are highly volatile to business-cycle.</a:t>
            </a:r>
          </a:p>
        </p:txBody>
      </p:sp>
      <p:sp>
        <p:nvSpPr>
          <p:cNvPr id="8" name="Content Placeholder 2">
            <a:extLst>
              <a:ext uri="{FF2B5EF4-FFF2-40B4-BE49-F238E27FC236}">
                <a16:creationId xmlns:a16="http://schemas.microsoft.com/office/drawing/2014/main" id="{FD336CDD-F2C2-4BAA-B40D-4E4760AAE1DA}"/>
              </a:ext>
            </a:extLst>
          </p:cNvPr>
          <p:cNvSpPr txBox="1">
            <a:spLocks/>
          </p:cNvSpPr>
          <p:nvPr/>
        </p:nvSpPr>
        <p:spPr>
          <a:xfrm>
            <a:off x="6152995" y="1962150"/>
            <a:ext cx="2834960" cy="2057400"/>
          </a:xfrm>
          <a:prstGeom prst="rect">
            <a:avLst/>
          </a:prstGeom>
        </p:spPr>
        <p:txBody>
          <a:bodyPr vert="horz" lIns="68580" tIns="34290" rIns="68580" bIns="3429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425" dirty="0">
                <a:ln>
                  <a:solidFill>
                    <a:schemeClr val="tx1"/>
                  </a:solidFill>
                </a:ln>
                <a:solidFill>
                  <a:schemeClr val="tx1">
                    <a:lumMod val="65000"/>
                    <a:lumOff val="35000"/>
                  </a:schemeClr>
                </a:solidFill>
              </a:rPr>
              <a:t>Key factors of Industry analysis-</a:t>
            </a:r>
          </a:p>
          <a:p>
            <a:pPr lvl="1"/>
            <a:r>
              <a:rPr lang="en-US" sz="1125" dirty="0">
                <a:ln>
                  <a:solidFill>
                    <a:schemeClr val="tx1"/>
                  </a:solidFill>
                </a:ln>
                <a:solidFill>
                  <a:schemeClr val="tx1">
                    <a:lumMod val="65000"/>
                    <a:lumOff val="35000"/>
                  </a:schemeClr>
                </a:solidFill>
              </a:rPr>
              <a:t>Past performance of the industry</a:t>
            </a:r>
          </a:p>
          <a:p>
            <a:pPr lvl="1"/>
            <a:r>
              <a:rPr lang="en-US" sz="1125" dirty="0">
                <a:ln>
                  <a:solidFill>
                    <a:schemeClr val="tx1"/>
                  </a:solidFill>
                </a:ln>
                <a:solidFill>
                  <a:schemeClr val="tx1">
                    <a:lumMod val="65000"/>
                    <a:lumOff val="35000"/>
                  </a:schemeClr>
                </a:solidFill>
              </a:rPr>
              <a:t>The performance of the product and the technology</a:t>
            </a:r>
          </a:p>
          <a:p>
            <a:pPr lvl="1"/>
            <a:r>
              <a:rPr lang="en-US" sz="1125" dirty="0">
                <a:ln>
                  <a:solidFill>
                    <a:schemeClr val="tx1"/>
                  </a:solidFill>
                </a:ln>
                <a:solidFill>
                  <a:schemeClr val="tx1">
                    <a:lumMod val="65000"/>
                    <a:lumOff val="35000"/>
                  </a:schemeClr>
                </a:solidFill>
              </a:rPr>
              <a:t>Role of government</a:t>
            </a:r>
          </a:p>
          <a:p>
            <a:pPr lvl="1"/>
            <a:r>
              <a:rPr lang="en-US" sz="1125" dirty="0">
                <a:ln>
                  <a:solidFill>
                    <a:schemeClr val="tx1"/>
                  </a:solidFill>
                </a:ln>
                <a:solidFill>
                  <a:schemeClr val="tx1">
                    <a:lumMod val="65000"/>
                    <a:lumOff val="35000"/>
                  </a:schemeClr>
                </a:solidFill>
              </a:rPr>
              <a:t>Labor conditions</a:t>
            </a:r>
          </a:p>
          <a:p>
            <a:pPr lvl="1"/>
            <a:r>
              <a:rPr lang="en-US" sz="1125" dirty="0">
                <a:ln>
                  <a:solidFill>
                    <a:schemeClr val="tx1"/>
                  </a:solidFill>
                </a:ln>
                <a:solidFill>
                  <a:schemeClr val="tx1">
                    <a:lumMod val="65000"/>
                    <a:lumOff val="35000"/>
                  </a:schemeClr>
                </a:solidFill>
              </a:rPr>
              <a:t>Competitive conditions</a:t>
            </a:r>
          </a:p>
          <a:p>
            <a:pPr lvl="1"/>
            <a:r>
              <a:rPr lang="en-US" sz="1125" dirty="0">
                <a:ln>
                  <a:solidFill>
                    <a:schemeClr val="tx1"/>
                  </a:solidFill>
                </a:ln>
                <a:solidFill>
                  <a:schemeClr val="tx1">
                    <a:lumMod val="65000"/>
                    <a:lumOff val="35000"/>
                  </a:schemeClr>
                </a:solidFill>
              </a:rPr>
              <a:t>Industry life cycle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52995" y="0"/>
            <a:ext cx="2985538" cy="1562432"/>
          </a:xfrm>
          <a:prstGeom prst="rect">
            <a:avLst/>
          </a:prstGeom>
        </p:spPr>
      </p:pic>
    </p:spTree>
    <p:extLst>
      <p:ext uri="{BB962C8B-B14F-4D97-AF65-F5344CB8AC3E}">
        <p14:creationId xmlns:p14="http://schemas.microsoft.com/office/powerpoint/2010/main" val="3921874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9DC68-9A2B-4CCF-A54C-524F5E9CE9ED}"/>
              </a:ext>
            </a:extLst>
          </p:cNvPr>
          <p:cNvSpPr>
            <a:spLocks noGrp="1"/>
          </p:cNvSpPr>
          <p:nvPr>
            <p:ph type="title"/>
          </p:nvPr>
        </p:nvSpPr>
        <p:spPr>
          <a:xfrm>
            <a:off x="628650" y="273845"/>
            <a:ext cx="4005454" cy="859632"/>
          </a:xfrm>
        </p:spPr>
        <p:txBody>
          <a:bodyPr>
            <a:normAutofit/>
          </a:bodyPr>
          <a:lstStyle/>
          <a:p>
            <a:r>
              <a:rPr lang="en-US" sz="2775" b="1" dirty="0"/>
              <a:t>Company Analysis </a:t>
            </a:r>
          </a:p>
        </p:txBody>
      </p:sp>
      <p:sp>
        <p:nvSpPr>
          <p:cNvPr id="3" name="Content Placeholder 2">
            <a:extLst>
              <a:ext uri="{FF2B5EF4-FFF2-40B4-BE49-F238E27FC236}">
                <a16:creationId xmlns:a16="http://schemas.microsoft.com/office/drawing/2014/main" id="{FD336CDD-F2C2-4BAA-B40D-4E4760AAE1DA}"/>
              </a:ext>
            </a:extLst>
          </p:cNvPr>
          <p:cNvSpPr>
            <a:spLocks noGrp="1"/>
          </p:cNvSpPr>
          <p:nvPr>
            <p:ph idx="1"/>
          </p:nvPr>
        </p:nvSpPr>
        <p:spPr>
          <a:xfrm>
            <a:off x="0" y="1311966"/>
            <a:ext cx="6095999" cy="3317184"/>
          </a:xfrm>
        </p:spPr>
        <p:txBody>
          <a:bodyPr anchor="ctr">
            <a:normAutofit/>
          </a:bodyPr>
          <a:lstStyle/>
          <a:p>
            <a:pPr algn="just">
              <a:buFont typeface="+mj-lt"/>
              <a:buAutoNum type="arabicPeriod"/>
            </a:pPr>
            <a:r>
              <a:rPr lang="en-US" sz="1600" dirty="0">
                <a:latin typeface="Calibri Light" panose="020F0302020204030204" pitchFamily="34" charset="0"/>
                <a:ea typeface="Cambria" panose="02040503050406030204" pitchFamily="18" charset="0"/>
                <a:cs typeface="Calibri Light" panose="020F0302020204030204" pitchFamily="34" charset="0"/>
              </a:rPr>
              <a:t>Company analysis deals with the </a:t>
            </a:r>
            <a:r>
              <a:rPr lang="en-US" sz="1600" b="1" dirty="0">
                <a:latin typeface="Calibri Light" panose="020F0302020204030204" pitchFamily="34" charset="0"/>
                <a:ea typeface="Cambria" panose="02040503050406030204" pitchFamily="18" charset="0"/>
                <a:cs typeface="Calibri Light" panose="020F0302020204030204" pitchFamily="34" charset="0"/>
              </a:rPr>
              <a:t>performance of the company</a:t>
            </a:r>
            <a:r>
              <a:rPr lang="en-US" sz="1600" dirty="0">
                <a:latin typeface="Calibri Light" panose="020F0302020204030204" pitchFamily="34" charset="0"/>
                <a:ea typeface="Cambria" panose="02040503050406030204" pitchFamily="18" charset="0"/>
                <a:cs typeface="Calibri Light" panose="020F0302020204030204" pitchFamily="34" charset="0"/>
              </a:rPr>
              <a:t>.</a:t>
            </a:r>
          </a:p>
          <a:p>
            <a:pPr algn="just">
              <a:buFont typeface="+mj-lt"/>
              <a:buAutoNum type="arabicPeriod"/>
            </a:pPr>
            <a:endParaRPr lang="en-US" sz="1600" dirty="0">
              <a:latin typeface="Calibri Light" panose="020F0302020204030204" pitchFamily="34" charset="0"/>
              <a:ea typeface="Cambria" panose="02040503050406030204" pitchFamily="18" charset="0"/>
              <a:cs typeface="Calibri Light" panose="020F0302020204030204" pitchFamily="34" charset="0"/>
            </a:endParaRPr>
          </a:p>
          <a:p>
            <a:pPr algn="just">
              <a:buFont typeface="+mj-lt"/>
              <a:buAutoNum type="arabicPeriod"/>
            </a:pPr>
            <a:r>
              <a:rPr lang="en-US" sz="1600" dirty="0">
                <a:latin typeface="Calibri Light" panose="020F0302020204030204" pitchFamily="34" charset="0"/>
                <a:ea typeface="Cambria" panose="02040503050406030204" pitchFamily="18" charset="0"/>
                <a:cs typeface="Calibri Light" panose="020F0302020204030204" pitchFamily="34" charset="0"/>
              </a:rPr>
              <a:t>The basic objective of company analysis is to identify specific companies or specific shares which are expected to perform well in the future.</a:t>
            </a:r>
          </a:p>
          <a:p>
            <a:pPr algn="just">
              <a:buFont typeface="+mj-lt"/>
              <a:buAutoNum type="arabicPeriod"/>
            </a:pPr>
            <a:endParaRPr lang="en-US" sz="1600" dirty="0">
              <a:latin typeface="Calibri Light" panose="020F0302020204030204" pitchFamily="34" charset="0"/>
              <a:ea typeface="Cambria" panose="02040503050406030204" pitchFamily="18" charset="0"/>
              <a:cs typeface="Calibri Light" panose="020F0302020204030204" pitchFamily="34" charset="0"/>
            </a:endParaRPr>
          </a:p>
          <a:p>
            <a:pPr algn="just">
              <a:buFont typeface="+mj-lt"/>
              <a:buAutoNum type="arabicPeriod"/>
            </a:pPr>
            <a:r>
              <a:rPr lang="en-US" sz="1600" dirty="0">
                <a:latin typeface="Calibri Light" panose="020F0302020204030204" pitchFamily="34" charset="0"/>
                <a:ea typeface="Cambria" panose="02040503050406030204" pitchFamily="18" charset="0"/>
                <a:cs typeface="Calibri Light" panose="020F0302020204030204" pitchFamily="34" charset="0"/>
              </a:rPr>
              <a:t>Information is needed for company analysis.</a:t>
            </a:r>
          </a:p>
          <a:p>
            <a:pPr algn="just">
              <a:buFont typeface="+mj-lt"/>
              <a:buAutoNum type="arabicPeriod"/>
            </a:pPr>
            <a:endParaRPr lang="en-US" sz="1600" dirty="0">
              <a:latin typeface="Calibri Light" panose="020F0302020204030204" pitchFamily="34" charset="0"/>
              <a:ea typeface="Cambria" panose="02040503050406030204" pitchFamily="18" charset="0"/>
              <a:cs typeface="Calibri Light" panose="020F0302020204030204" pitchFamily="34" charset="0"/>
            </a:endParaRPr>
          </a:p>
          <a:p>
            <a:pPr algn="just">
              <a:buFont typeface="+mj-lt"/>
              <a:buAutoNum type="arabicPeriod"/>
            </a:pPr>
            <a:r>
              <a:rPr lang="en-US" sz="1600" dirty="0">
                <a:latin typeface="Calibri Light" panose="020F0302020204030204" pitchFamily="34" charset="0"/>
                <a:ea typeface="Cambria" panose="02040503050406030204" pitchFamily="18" charset="0"/>
                <a:cs typeface="Calibri Light" panose="020F0302020204030204" pitchFamily="34" charset="0"/>
              </a:rPr>
              <a:t>Information may be:</a:t>
            </a:r>
          </a:p>
          <a:p>
            <a:pPr marL="342900" lvl="1" indent="-342900" algn="just">
              <a:buFont typeface="Arial" panose="020B0604020202020204" pitchFamily="34" charset="0"/>
              <a:buChar char="•"/>
            </a:pPr>
            <a:r>
              <a:rPr lang="en-US" sz="1600" b="1" dirty="0">
                <a:latin typeface="Calibri Light" panose="020F0302020204030204" pitchFamily="34" charset="0"/>
                <a:ea typeface="Cambria" panose="02040503050406030204" pitchFamily="18" charset="0"/>
                <a:cs typeface="Calibri Light" panose="020F0302020204030204" pitchFamily="34" charset="0"/>
              </a:rPr>
              <a:t>Qualitative </a:t>
            </a:r>
          </a:p>
          <a:p>
            <a:pPr marL="342900" lvl="1" indent="-342900" algn="just">
              <a:buFont typeface="Arial" panose="020B0604020202020204" pitchFamily="34" charset="0"/>
              <a:buChar char="•"/>
            </a:pPr>
            <a:r>
              <a:rPr lang="en-US" sz="1600" b="1" dirty="0">
                <a:latin typeface="Calibri Light" panose="020F0302020204030204" pitchFamily="34" charset="0"/>
                <a:ea typeface="Cambria" panose="02040503050406030204" pitchFamily="18" charset="0"/>
                <a:cs typeface="Calibri Light" panose="020F0302020204030204" pitchFamily="34" charset="0"/>
              </a:rPr>
              <a:t>Quantitative</a:t>
            </a:r>
          </a:p>
        </p:txBody>
      </p:sp>
      <p:sp>
        <p:nvSpPr>
          <p:cNvPr id="8" name="Content Placeholder 2">
            <a:extLst>
              <a:ext uri="{FF2B5EF4-FFF2-40B4-BE49-F238E27FC236}">
                <a16:creationId xmlns:a16="http://schemas.microsoft.com/office/drawing/2014/main" id="{FD336CDD-F2C2-4BAA-B40D-4E4760AAE1DA}"/>
              </a:ext>
            </a:extLst>
          </p:cNvPr>
          <p:cNvSpPr txBox="1">
            <a:spLocks/>
          </p:cNvSpPr>
          <p:nvPr/>
        </p:nvSpPr>
        <p:spPr>
          <a:xfrm>
            <a:off x="4526280" y="1268730"/>
            <a:ext cx="4461675" cy="3460308"/>
          </a:xfrm>
          <a:prstGeom prst="rect">
            <a:avLst/>
          </a:prstGeom>
        </p:spPr>
        <p:txBody>
          <a:bodyPr vert="horz" lIns="68580" tIns="34290" rIns="68580" bIns="3429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mj-lt"/>
              <a:buAutoNum type="arabicPeriod"/>
            </a:pPr>
            <a:endParaRPr lang="en-US" sz="1125" dirty="0">
              <a:solidFill>
                <a:schemeClr val="tx1">
                  <a:lumMod val="65000"/>
                  <a:lumOff val="35000"/>
                </a:schemeClr>
              </a:solidFill>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199" y="1657350"/>
            <a:ext cx="2971799" cy="2120705"/>
          </a:xfrm>
          <a:prstGeom prst="rect">
            <a:avLst/>
          </a:prstGeom>
        </p:spPr>
      </p:pic>
      <p:sp>
        <p:nvSpPr>
          <p:cNvPr id="6" name="Rectangle 5">
            <a:extLst>
              <a:ext uri="{FF2B5EF4-FFF2-40B4-BE49-F238E27FC236}">
                <a16:creationId xmlns:a16="http://schemas.microsoft.com/office/drawing/2014/main" id="{8A941247-0EF6-4BCE-85AD-5138CF8A7094}"/>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39854567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9DC68-9A2B-4CCF-A54C-524F5E9CE9ED}"/>
              </a:ext>
            </a:extLst>
          </p:cNvPr>
          <p:cNvSpPr>
            <a:spLocks noGrp="1"/>
          </p:cNvSpPr>
          <p:nvPr>
            <p:ph type="title"/>
          </p:nvPr>
        </p:nvSpPr>
        <p:spPr>
          <a:xfrm>
            <a:off x="156045" y="103709"/>
            <a:ext cx="4005454" cy="621505"/>
          </a:xfrm>
        </p:spPr>
        <p:txBody>
          <a:bodyPr>
            <a:normAutofit/>
          </a:bodyPr>
          <a:lstStyle/>
          <a:p>
            <a:r>
              <a:rPr lang="en-US" sz="2775" b="1" dirty="0"/>
              <a:t>Company Analysis </a:t>
            </a:r>
          </a:p>
        </p:txBody>
      </p:sp>
      <p:sp>
        <p:nvSpPr>
          <p:cNvPr id="3" name="Content Placeholder 2">
            <a:extLst>
              <a:ext uri="{FF2B5EF4-FFF2-40B4-BE49-F238E27FC236}">
                <a16:creationId xmlns:a16="http://schemas.microsoft.com/office/drawing/2014/main" id="{FD336CDD-F2C2-4BAA-B40D-4E4760AAE1DA}"/>
              </a:ext>
            </a:extLst>
          </p:cNvPr>
          <p:cNvSpPr>
            <a:spLocks noGrp="1"/>
          </p:cNvSpPr>
          <p:nvPr>
            <p:ph idx="1"/>
          </p:nvPr>
        </p:nvSpPr>
        <p:spPr>
          <a:xfrm>
            <a:off x="156045" y="1352550"/>
            <a:ext cx="3196755" cy="2209800"/>
          </a:xfrm>
          <a:ln>
            <a:solidFill>
              <a:schemeClr val="tx1"/>
            </a:solidFill>
          </a:ln>
        </p:spPr>
        <p:txBody>
          <a:bodyPr anchor="ctr">
            <a:normAutofit/>
          </a:bodyPr>
          <a:lstStyle/>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Qualitative Factors of Company Analysis are:-</a:t>
            </a:r>
          </a:p>
          <a:p>
            <a:pPr marL="0" indent="0" eaLnBrk="1" hangingPunct="1">
              <a:lnSpc>
                <a:spcPct val="90000"/>
              </a:lnSpc>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eaLnBrk="1" hangingPunct="1">
              <a:lnSpc>
                <a:spcPct val="90000"/>
              </a:lnSpc>
              <a:buFont typeface="Wingdings" pitchFamily="2" charset="2"/>
              <a:buChar char="Ø"/>
            </a:pP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Management of the company</a:t>
            </a:r>
          </a:p>
          <a:p>
            <a:pPr eaLnBrk="1" hangingPunct="1">
              <a:lnSpc>
                <a:spcPct val="90000"/>
              </a:lnSpc>
              <a:buFont typeface="Wingdings" pitchFamily="2" charset="2"/>
              <a:buChar char="Ø"/>
            </a:pP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Corporate governance</a:t>
            </a:r>
          </a:p>
          <a:p>
            <a:pPr eaLnBrk="1" hangingPunct="1">
              <a:lnSpc>
                <a:spcPct val="90000"/>
              </a:lnSpc>
              <a:buFont typeface="Wingdings" pitchFamily="2" charset="2"/>
              <a:buChar char="Ø"/>
            </a:pP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Competitive advantage</a:t>
            </a:r>
          </a:p>
          <a:p>
            <a:pPr eaLnBrk="1" hangingPunct="1">
              <a:lnSpc>
                <a:spcPct val="90000"/>
              </a:lnSpc>
              <a:buFont typeface="Wingdings" pitchFamily="2" charset="2"/>
              <a:buChar char="Ø"/>
            </a:pP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Business Model</a:t>
            </a:r>
          </a:p>
        </p:txBody>
      </p:sp>
      <p:sp>
        <p:nvSpPr>
          <p:cNvPr id="8" name="Content Placeholder 2">
            <a:extLst>
              <a:ext uri="{FF2B5EF4-FFF2-40B4-BE49-F238E27FC236}">
                <a16:creationId xmlns:a16="http://schemas.microsoft.com/office/drawing/2014/main" id="{FD336CDD-F2C2-4BAA-B40D-4E4760AAE1DA}"/>
              </a:ext>
            </a:extLst>
          </p:cNvPr>
          <p:cNvSpPr txBox="1">
            <a:spLocks/>
          </p:cNvSpPr>
          <p:nvPr/>
        </p:nvSpPr>
        <p:spPr>
          <a:xfrm>
            <a:off x="3581400" y="971550"/>
            <a:ext cx="5406555" cy="3757488"/>
          </a:xfrm>
          <a:prstGeom prst="rect">
            <a:avLst/>
          </a:prstGeom>
        </p:spPr>
        <p:txBody>
          <a:bodyPr vert="horz" lIns="68580" tIns="34290" rIns="68580" bIns="3429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ct val="20000"/>
              </a:spcBef>
              <a:buFont typeface="Wingdings" pitchFamily="2" charset="2"/>
              <a:buChar char="Ø"/>
            </a:pP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Management of the Company-</a:t>
            </a:r>
          </a:p>
          <a:p>
            <a:pPr marL="0" indent="0" algn="just">
              <a:spcBef>
                <a:spcPct val="20000"/>
              </a:spcBef>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Questions like how efficient the management is, who are the key personnel officers, the working of the management, etc. can help in finding out a suitable company.</a:t>
            </a:r>
          </a:p>
          <a:p>
            <a:pPr>
              <a:lnSpc>
                <a:spcPct val="100000"/>
              </a:lnSpc>
              <a:spcBef>
                <a:spcPct val="20000"/>
              </a:spcBef>
              <a:buFont typeface="Wingdings" pitchFamily="2" charset="2"/>
              <a:buChar char="Ø"/>
            </a:pP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Corporate Governance-</a:t>
            </a:r>
          </a:p>
          <a:p>
            <a:pPr marL="0" indent="0" algn="just">
              <a:spcBef>
                <a:spcPct val="20000"/>
              </a:spcBef>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How is the governance of the company, how the BOD is doing, how much is the transparency, how the duties and responsibilities have been assigned etc.?</a:t>
            </a:r>
          </a:p>
          <a:p>
            <a:pPr>
              <a:lnSpc>
                <a:spcPct val="100000"/>
              </a:lnSpc>
              <a:spcBef>
                <a:spcPct val="20000"/>
              </a:spcBef>
              <a:buFont typeface="Wingdings" pitchFamily="2" charset="2"/>
              <a:buChar char="Ø"/>
            </a:pP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Competitive advantage-</a:t>
            </a:r>
          </a:p>
          <a:p>
            <a:pPr marL="0" indent="0" algn="just">
              <a:spcBef>
                <a:spcPct val="20000"/>
              </a:spcBef>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what competitive advantage does the company is having over other companies?</a:t>
            </a:r>
          </a:p>
          <a:p>
            <a:pPr>
              <a:lnSpc>
                <a:spcPct val="100000"/>
              </a:lnSpc>
              <a:spcBef>
                <a:spcPct val="20000"/>
              </a:spcBef>
              <a:buFont typeface="Wingdings" pitchFamily="2" charset="2"/>
              <a:buChar char="Ø"/>
            </a:pPr>
            <a:r>
              <a:rPr lang="en-US" sz="1425" b="1" dirty="0">
                <a:solidFill>
                  <a:schemeClr val="tx1">
                    <a:lumMod val="65000"/>
                    <a:lumOff val="35000"/>
                  </a:schemeClr>
                </a:solidFill>
                <a:latin typeface="Calibri Light" panose="020F0302020204030204" pitchFamily="34" charset="0"/>
                <a:cs typeface="Calibri Light" panose="020F0302020204030204" pitchFamily="34" charset="0"/>
              </a:rPr>
              <a:t>Business model-</a:t>
            </a:r>
          </a:p>
          <a:p>
            <a:pPr marL="0" indent="0" algn="just">
              <a:spcBef>
                <a:spcPct val="20000"/>
              </a:spcBef>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what is the business model of the company i.e. source of revenue of the company</a:t>
            </a:r>
          </a:p>
          <a:p>
            <a:pPr marL="0" indent="0" algn="just">
              <a:spcBef>
                <a:spcPct val="20000"/>
              </a:spcBef>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a:t>
            </a:r>
          </a:p>
        </p:txBody>
      </p:sp>
      <p:sp>
        <p:nvSpPr>
          <p:cNvPr id="5" name="Rectangle 4">
            <a:extLst>
              <a:ext uri="{FF2B5EF4-FFF2-40B4-BE49-F238E27FC236}">
                <a16:creationId xmlns:a16="http://schemas.microsoft.com/office/drawing/2014/main" id="{EF031703-A32B-4FF9-B1BF-FB6DF6F37906}"/>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3331464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747" y="102989"/>
            <a:ext cx="7086600" cy="460771"/>
          </a:xfrm>
        </p:spPr>
        <p:txBody>
          <a:bodyPr/>
          <a:lstStyle/>
          <a:p>
            <a:r>
              <a:rPr lang="en-IN" dirty="0"/>
              <a:t>Company Analysis</a:t>
            </a:r>
          </a:p>
        </p:txBody>
      </p:sp>
      <p:sp>
        <p:nvSpPr>
          <p:cNvPr id="4" name="Rectangle 3"/>
          <p:cNvSpPr/>
          <p:nvPr/>
        </p:nvSpPr>
        <p:spPr>
          <a:xfrm>
            <a:off x="202885" y="1657350"/>
            <a:ext cx="6883715" cy="2308324"/>
          </a:xfrm>
          <a:prstGeom prst="rect">
            <a:avLst/>
          </a:prstGeom>
        </p:spPr>
        <p:txBody>
          <a:bodyPr wrap="square">
            <a:spAutoFit/>
          </a:bodyPr>
          <a:lstStyle/>
          <a:p>
            <a:r>
              <a:rPr lang="en-IN" dirty="0">
                <a:latin typeface="Calibri Light" panose="020F0302020204030204" pitchFamily="34" charset="0"/>
                <a:cs typeface="Calibri Light" panose="020F0302020204030204" pitchFamily="34" charset="0"/>
              </a:rPr>
              <a:t> It takes into account information that can not be expressed in numbers.</a:t>
            </a:r>
          </a:p>
          <a:p>
            <a:endParaRPr lang="en-IN" dirty="0">
              <a:latin typeface="Calibri Light" panose="020F0302020204030204" pitchFamily="34" charset="0"/>
              <a:cs typeface="Calibri Light" panose="020F0302020204030204" pitchFamily="34" charset="0"/>
            </a:endParaRPr>
          </a:p>
          <a:p>
            <a:pPr marL="400050" indent="-400050" algn="just">
              <a:buFont typeface="+mj-lt"/>
              <a:buAutoNum type="romanLcPeriod"/>
            </a:pPr>
            <a:r>
              <a:rPr lang="en-IN" dirty="0">
                <a:latin typeface="Calibri Light" panose="020F0302020204030204" pitchFamily="34" charset="0"/>
                <a:cs typeface="Calibri Light" panose="020F0302020204030204" pitchFamily="34" charset="0"/>
              </a:rPr>
              <a:t>It relates to the company itself. </a:t>
            </a:r>
          </a:p>
          <a:p>
            <a:pPr marL="400050" indent="-400050" algn="just">
              <a:buFont typeface="+mj-lt"/>
              <a:buAutoNum type="romanLcPeriod"/>
            </a:pPr>
            <a:r>
              <a:rPr lang="en-IN" dirty="0">
                <a:latin typeface="Calibri Light" panose="020F0302020204030204" pitchFamily="34" charset="0"/>
                <a:cs typeface="Calibri Light" panose="020F0302020204030204" pitchFamily="34" charset="0"/>
              </a:rPr>
              <a:t>Factors – examples – </a:t>
            </a:r>
          </a:p>
          <a:p>
            <a:pPr marL="400050" indent="-400050" algn="just">
              <a:buFont typeface="+mj-lt"/>
              <a:buAutoNum type="romanLcPeriod"/>
            </a:pPr>
            <a:endParaRPr lang="en-IN" dirty="0">
              <a:latin typeface="Calibri Light" panose="020F0302020204030204" pitchFamily="34" charset="0"/>
              <a:cs typeface="Calibri Light" panose="020F0302020204030204" pitchFamily="34" charset="0"/>
            </a:endParaRPr>
          </a:p>
          <a:p>
            <a:pPr marL="800100" lvl="1" indent="-342900" algn="just">
              <a:buFont typeface="+mj-lt"/>
              <a:buAutoNum type="alphaLcParenR"/>
            </a:pPr>
            <a:r>
              <a:rPr lang="en-IN" dirty="0">
                <a:latin typeface="Calibri Light" panose="020F0302020204030204" pitchFamily="34" charset="0"/>
                <a:cs typeface="Calibri Light" panose="020F0302020204030204" pitchFamily="34" charset="0"/>
              </a:rPr>
              <a:t>Management experience and performance</a:t>
            </a:r>
          </a:p>
          <a:p>
            <a:pPr marL="800100" lvl="1" indent="-342900" algn="just">
              <a:buFont typeface="+mj-lt"/>
              <a:buAutoNum type="alphaLcParenR"/>
            </a:pPr>
            <a:r>
              <a:rPr lang="en-IN" dirty="0">
                <a:latin typeface="Calibri Light" panose="020F0302020204030204" pitchFamily="34" charset="0"/>
                <a:cs typeface="Calibri Light" panose="020F0302020204030204" pitchFamily="34" charset="0"/>
              </a:rPr>
              <a:t>Corporate governance</a:t>
            </a:r>
          </a:p>
          <a:p>
            <a:pPr marL="800100" lvl="1" indent="-342900" algn="just">
              <a:buFont typeface="+mj-lt"/>
              <a:buAutoNum type="alphaLcParenR"/>
            </a:pPr>
            <a:r>
              <a:rPr lang="en-IN" dirty="0">
                <a:latin typeface="Calibri Light" panose="020F0302020204030204" pitchFamily="34" charset="0"/>
                <a:cs typeface="Calibri Light" panose="020F0302020204030204" pitchFamily="34" charset="0"/>
              </a:rPr>
              <a:t>Industry and competition etc.</a:t>
            </a:r>
          </a:p>
        </p:txBody>
      </p:sp>
      <p:sp>
        <p:nvSpPr>
          <p:cNvPr id="5" name="Rounded Rectangle 4"/>
          <p:cNvSpPr/>
          <p:nvPr/>
        </p:nvSpPr>
        <p:spPr>
          <a:xfrm>
            <a:off x="218760" y="838091"/>
            <a:ext cx="8620440" cy="44124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latin typeface="Calibri Light" panose="020F0302020204030204" pitchFamily="34" charset="0"/>
                <a:cs typeface="Calibri Light" panose="020F0302020204030204" pitchFamily="34" charset="0"/>
              </a:rPr>
              <a:t>Qualitative Analysis</a:t>
            </a:r>
          </a:p>
        </p:txBody>
      </p:sp>
      <p:pic>
        <p:nvPicPr>
          <p:cNvPr id="4098" name="Picture 2" descr="Preparing agreement on management of Company | Lawyer in Vietnam - Help  doing business in Vietnam"/>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5943600" y="2114550"/>
            <a:ext cx="2667000" cy="2667000"/>
          </a:xfrm>
          <a:prstGeom prst="ellipse">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67028D57-F316-4EAC-A2A9-F92DB1F8121E}"/>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4148358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9DC68-9A2B-4CCF-A54C-524F5E9CE9ED}"/>
              </a:ext>
            </a:extLst>
          </p:cNvPr>
          <p:cNvSpPr>
            <a:spLocks noGrp="1"/>
          </p:cNvSpPr>
          <p:nvPr>
            <p:ph type="title"/>
          </p:nvPr>
        </p:nvSpPr>
        <p:spPr>
          <a:xfrm>
            <a:off x="609600" y="236934"/>
            <a:ext cx="4005454" cy="859632"/>
          </a:xfrm>
        </p:spPr>
        <p:txBody>
          <a:bodyPr>
            <a:normAutofit/>
          </a:bodyPr>
          <a:lstStyle/>
          <a:p>
            <a:r>
              <a:rPr lang="en-US" sz="2775" b="1" dirty="0"/>
              <a:t>Company Analysis </a:t>
            </a:r>
          </a:p>
        </p:txBody>
      </p:sp>
      <p:sp>
        <p:nvSpPr>
          <p:cNvPr id="3" name="Content Placeholder 2">
            <a:extLst>
              <a:ext uri="{FF2B5EF4-FFF2-40B4-BE49-F238E27FC236}">
                <a16:creationId xmlns:a16="http://schemas.microsoft.com/office/drawing/2014/main" id="{FD336CDD-F2C2-4BAA-B40D-4E4760AAE1DA}"/>
              </a:ext>
            </a:extLst>
          </p:cNvPr>
          <p:cNvSpPr>
            <a:spLocks noGrp="1"/>
          </p:cNvSpPr>
          <p:nvPr>
            <p:ph idx="1"/>
          </p:nvPr>
        </p:nvSpPr>
        <p:spPr>
          <a:xfrm>
            <a:off x="381000" y="1311966"/>
            <a:ext cx="3048000" cy="2478984"/>
          </a:xfrm>
          <a:ln>
            <a:solidFill>
              <a:schemeClr val="tx1"/>
            </a:solidFill>
          </a:ln>
        </p:spPr>
        <p:txBody>
          <a:bodyPr anchor="ctr">
            <a:normAutofit/>
          </a:bodyPr>
          <a:lstStyle/>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Quantitative Factors of Company Analysis </a:t>
            </a:r>
          </a:p>
          <a:p>
            <a:pPr marL="0" indent="0" eaLnBrk="1" hangingPunct="1">
              <a:lnSpc>
                <a:spcPct val="90000"/>
              </a:lnSpc>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Sources are the following:-</a:t>
            </a:r>
          </a:p>
          <a:p>
            <a:pPr marL="685800" lvl="1" indent="-342900" eaLnBrk="1" hangingPunct="1">
              <a:lnSpc>
                <a:spcPct val="90000"/>
              </a:lnSpc>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Balance sheet</a:t>
            </a:r>
          </a:p>
          <a:p>
            <a:pPr marL="685800" lvl="1" indent="-342900" eaLnBrk="1" hangingPunct="1">
              <a:lnSpc>
                <a:spcPct val="90000"/>
              </a:lnSpc>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Profit and loss account</a:t>
            </a:r>
          </a:p>
          <a:p>
            <a:pPr marL="685800" lvl="1" indent="-342900" eaLnBrk="1" hangingPunct="1">
              <a:lnSpc>
                <a:spcPct val="90000"/>
              </a:lnSpc>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Cash flow statement</a:t>
            </a:r>
          </a:p>
          <a:p>
            <a:pPr marL="685800" lvl="1" indent="-342900" eaLnBrk="1" hangingPunct="1">
              <a:lnSpc>
                <a:spcPct val="90000"/>
              </a:lnSpc>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Notes to accounts</a:t>
            </a:r>
          </a:p>
        </p:txBody>
      </p:sp>
      <p:sp>
        <p:nvSpPr>
          <p:cNvPr id="8" name="Content Placeholder 2">
            <a:extLst>
              <a:ext uri="{FF2B5EF4-FFF2-40B4-BE49-F238E27FC236}">
                <a16:creationId xmlns:a16="http://schemas.microsoft.com/office/drawing/2014/main" id="{FD336CDD-F2C2-4BAA-B40D-4E4760AAE1DA}"/>
              </a:ext>
            </a:extLst>
          </p:cNvPr>
          <p:cNvSpPr txBox="1">
            <a:spLocks/>
          </p:cNvSpPr>
          <p:nvPr/>
        </p:nvSpPr>
        <p:spPr>
          <a:xfrm>
            <a:off x="3962400" y="895351"/>
            <a:ext cx="5025555" cy="3833688"/>
          </a:xfrm>
          <a:prstGeom prst="rect">
            <a:avLst/>
          </a:prstGeom>
        </p:spPr>
        <p:txBody>
          <a:bodyPr vert="horz" lIns="68580" tIns="34290" rIns="68580" bIns="3429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Analyzing the company’s earnings through:</a:t>
            </a:r>
          </a:p>
          <a:p>
            <a:pPr marL="0" indent="0">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lvl="1">
              <a:buFont typeface="Wingdings" pitchFamily="2" charset="2"/>
              <a:buChar char="Ø"/>
            </a:pPr>
            <a:r>
              <a:rPr lang="en-US" sz="1125" dirty="0">
                <a:solidFill>
                  <a:schemeClr val="tx1">
                    <a:lumMod val="65000"/>
                    <a:lumOff val="35000"/>
                  </a:schemeClr>
                </a:solidFill>
                <a:latin typeface="Calibri Light" panose="020F0302020204030204" pitchFamily="34" charset="0"/>
                <a:cs typeface="Calibri Light" panose="020F0302020204030204" pitchFamily="34" charset="0"/>
              </a:rPr>
              <a:t>Financial Statement Analysis</a:t>
            </a:r>
          </a:p>
          <a:p>
            <a:pPr lvl="2">
              <a:buFont typeface="Wingdings" pitchFamily="2" charset="2"/>
              <a:buChar char="ü"/>
            </a:pPr>
            <a:r>
              <a:rPr lang="en-US" sz="1050" dirty="0">
                <a:solidFill>
                  <a:schemeClr val="tx1">
                    <a:lumMod val="65000"/>
                    <a:lumOff val="35000"/>
                  </a:schemeClr>
                </a:solidFill>
                <a:latin typeface="Calibri Light" panose="020F0302020204030204" pitchFamily="34" charset="0"/>
                <a:cs typeface="Calibri Light" panose="020F0302020204030204" pitchFamily="34" charset="0"/>
              </a:rPr>
              <a:t>Cash Flow Analysis</a:t>
            </a:r>
          </a:p>
          <a:p>
            <a:pPr lvl="2">
              <a:buFont typeface="Wingdings" pitchFamily="2" charset="2"/>
              <a:buChar char="ü"/>
            </a:pPr>
            <a:r>
              <a:rPr lang="en-US" sz="1050" dirty="0">
                <a:solidFill>
                  <a:schemeClr val="tx1">
                    <a:lumMod val="65000"/>
                    <a:lumOff val="35000"/>
                  </a:schemeClr>
                </a:solidFill>
                <a:latin typeface="Calibri Light" panose="020F0302020204030204" pitchFamily="34" charset="0"/>
                <a:cs typeface="Calibri Light" panose="020F0302020204030204" pitchFamily="34" charset="0"/>
              </a:rPr>
              <a:t>Fund flow analysis</a:t>
            </a:r>
          </a:p>
          <a:p>
            <a:pPr lvl="2">
              <a:buFont typeface="Wingdings" pitchFamily="2" charset="2"/>
              <a:buChar char="ü"/>
            </a:pPr>
            <a:r>
              <a:rPr lang="en-US" sz="1050" dirty="0">
                <a:solidFill>
                  <a:schemeClr val="tx1">
                    <a:lumMod val="65000"/>
                    <a:lumOff val="35000"/>
                  </a:schemeClr>
                </a:solidFill>
                <a:latin typeface="Calibri Light" panose="020F0302020204030204" pitchFamily="34" charset="0"/>
                <a:cs typeface="Calibri Light" panose="020F0302020204030204" pitchFamily="34" charset="0"/>
              </a:rPr>
              <a:t>Comparative statement</a:t>
            </a:r>
          </a:p>
          <a:p>
            <a:pPr lvl="2">
              <a:buFont typeface="Wingdings" pitchFamily="2" charset="2"/>
              <a:buChar char="ü"/>
            </a:pPr>
            <a:r>
              <a:rPr lang="en-US" sz="1050" dirty="0">
                <a:solidFill>
                  <a:schemeClr val="tx1">
                    <a:lumMod val="65000"/>
                    <a:lumOff val="35000"/>
                  </a:schemeClr>
                </a:solidFill>
                <a:latin typeface="Calibri Light" panose="020F0302020204030204" pitchFamily="34" charset="0"/>
                <a:cs typeface="Calibri Light" panose="020F0302020204030204" pitchFamily="34" charset="0"/>
              </a:rPr>
              <a:t>Common size statement</a:t>
            </a:r>
          </a:p>
          <a:p>
            <a:pPr lvl="1">
              <a:buFont typeface="Wingdings" pitchFamily="2" charset="2"/>
              <a:buChar char="Ø"/>
            </a:pPr>
            <a:r>
              <a:rPr lang="en-US" sz="1125" dirty="0">
                <a:solidFill>
                  <a:schemeClr val="tx1">
                    <a:lumMod val="65000"/>
                    <a:lumOff val="35000"/>
                  </a:schemeClr>
                </a:solidFill>
                <a:latin typeface="Calibri Light" panose="020F0302020204030204" pitchFamily="34" charset="0"/>
                <a:cs typeface="Calibri Light" panose="020F0302020204030204" pitchFamily="34" charset="0"/>
              </a:rPr>
              <a:t>Ratio Analysis</a:t>
            </a:r>
          </a:p>
          <a:p>
            <a:pPr lvl="2">
              <a:buFont typeface="Wingdings" pitchFamily="2" charset="2"/>
              <a:buChar char="ü"/>
            </a:pPr>
            <a:r>
              <a:rPr lang="en-US" sz="1050" dirty="0">
                <a:solidFill>
                  <a:schemeClr val="tx1">
                    <a:lumMod val="65000"/>
                    <a:lumOff val="35000"/>
                  </a:schemeClr>
                </a:solidFill>
                <a:latin typeface="Calibri Light" panose="020F0302020204030204" pitchFamily="34" charset="0"/>
                <a:cs typeface="Calibri Light" panose="020F0302020204030204" pitchFamily="34" charset="0"/>
              </a:rPr>
              <a:t>Profitability Ratio</a:t>
            </a:r>
          </a:p>
          <a:p>
            <a:pPr lvl="2">
              <a:buFont typeface="Wingdings" pitchFamily="2" charset="2"/>
              <a:buChar char="ü"/>
            </a:pPr>
            <a:r>
              <a:rPr lang="en-US" sz="1050" dirty="0">
                <a:solidFill>
                  <a:schemeClr val="tx1">
                    <a:lumMod val="65000"/>
                    <a:lumOff val="35000"/>
                  </a:schemeClr>
                </a:solidFill>
                <a:latin typeface="Calibri Light" panose="020F0302020204030204" pitchFamily="34" charset="0"/>
                <a:cs typeface="Calibri Light" panose="020F0302020204030204" pitchFamily="34" charset="0"/>
              </a:rPr>
              <a:t>Liquidity ratio</a:t>
            </a:r>
          </a:p>
          <a:p>
            <a:pPr lvl="2">
              <a:buFont typeface="Wingdings" pitchFamily="2" charset="2"/>
              <a:buChar char="ü"/>
            </a:pPr>
            <a:r>
              <a:rPr lang="en-US" sz="1050" dirty="0">
                <a:solidFill>
                  <a:schemeClr val="tx1">
                    <a:lumMod val="65000"/>
                    <a:lumOff val="35000"/>
                  </a:schemeClr>
                </a:solidFill>
                <a:latin typeface="Calibri Light" panose="020F0302020204030204" pitchFamily="34" charset="0"/>
                <a:cs typeface="Calibri Light" panose="020F0302020204030204" pitchFamily="34" charset="0"/>
              </a:rPr>
              <a:t>Activity Ratio</a:t>
            </a:r>
          </a:p>
          <a:p>
            <a:pPr lvl="2">
              <a:buFont typeface="Wingdings" pitchFamily="2" charset="2"/>
              <a:buChar char="ü"/>
            </a:pPr>
            <a:r>
              <a:rPr lang="en-US" sz="1050" dirty="0">
                <a:solidFill>
                  <a:schemeClr val="tx1">
                    <a:lumMod val="65000"/>
                    <a:lumOff val="35000"/>
                  </a:schemeClr>
                </a:solidFill>
                <a:latin typeface="Calibri Light" panose="020F0302020204030204" pitchFamily="34" charset="0"/>
                <a:cs typeface="Calibri Light" panose="020F0302020204030204" pitchFamily="34" charset="0"/>
              </a:rPr>
              <a:t>Solvency Ratio</a:t>
            </a:r>
          </a:p>
          <a:p>
            <a:pPr lvl="1">
              <a:buFont typeface="Wingdings" pitchFamily="2" charset="2"/>
              <a:buChar char="Ø"/>
            </a:pPr>
            <a:r>
              <a:rPr lang="en-US" sz="1125" dirty="0">
                <a:solidFill>
                  <a:schemeClr val="tx1">
                    <a:lumMod val="65000"/>
                    <a:lumOff val="35000"/>
                  </a:schemeClr>
                </a:solidFill>
                <a:latin typeface="Calibri Light" panose="020F0302020204030204" pitchFamily="34" charset="0"/>
                <a:cs typeface="Calibri Light" panose="020F0302020204030204" pitchFamily="34" charset="0"/>
              </a:rPr>
              <a:t>Equity Valuation Model</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9400" y="2952750"/>
            <a:ext cx="2514600" cy="1989756"/>
          </a:xfrm>
          <a:prstGeom prst="rect">
            <a:avLst/>
          </a:prstGeom>
        </p:spPr>
      </p:pic>
      <p:sp>
        <p:nvSpPr>
          <p:cNvPr id="6" name="Rectangle 5">
            <a:extLst>
              <a:ext uri="{FF2B5EF4-FFF2-40B4-BE49-F238E27FC236}">
                <a16:creationId xmlns:a16="http://schemas.microsoft.com/office/drawing/2014/main" id="{81024768-EC35-48DA-B3D4-014C06C65BDC}"/>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1728489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18760" y="838091"/>
            <a:ext cx="8620440" cy="441246"/>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000" dirty="0">
                <a:solidFill>
                  <a:schemeClr val="tx1"/>
                </a:solidFill>
                <a:latin typeface="Calibri Light" panose="020F0302020204030204" pitchFamily="34" charset="0"/>
                <a:cs typeface="Calibri Light" panose="020F0302020204030204" pitchFamily="34" charset="0"/>
              </a:rPr>
              <a:t>Quantitative Analysis</a:t>
            </a:r>
          </a:p>
        </p:txBody>
      </p:sp>
      <p:sp>
        <p:nvSpPr>
          <p:cNvPr id="2" name="Title 1"/>
          <p:cNvSpPr>
            <a:spLocks noGrp="1"/>
          </p:cNvSpPr>
          <p:nvPr>
            <p:ph type="title"/>
          </p:nvPr>
        </p:nvSpPr>
        <p:spPr/>
        <p:txBody>
          <a:bodyPr/>
          <a:lstStyle/>
          <a:p>
            <a:r>
              <a:rPr lang="en-IN" dirty="0"/>
              <a:t>Company Analysis</a:t>
            </a:r>
          </a:p>
        </p:txBody>
      </p:sp>
      <p:sp>
        <p:nvSpPr>
          <p:cNvPr id="4" name="Rectangle 3"/>
          <p:cNvSpPr/>
          <p:nvPr/>
        </p:nvSpPr>
        <p:spPr>
          <a:xfrm>
            <a:off x="218760" y="1504950"/>
            <a:ext cx="8623615" cy="2862322"/>
          </a:xfrm>
          <a:prstGeom prst="rect">
            <a:avLst/>
          </a:prstGeom>
        </p:spPr>
        <p:txBody>
          <a:bodyPr wrap="square">
            <a:spAutoFit/>
          </a:bodyPr>
          <a:lstStyle/>
          <a:p>
            <a:pPr marL="400050" indent="-400050" algn="just">
              <a:buFont typeface="+mj-lt"/>
              <a:buAutoNum type="romanLcPeriod"/>
            </a:pPr>
            <a:r>
              <a:rPr lang="en-IN" dirty="0">
                <a:latin typeface="Calibri Light" panose="020F0302020204030204" pitchFamily="34" charset="0"/>
                <a:ea typeface="Cambria" panose="02040503050406030204" pitchFamily="18" charset="0"/>
                <a:cs typeface="Calibri Light" panose="020F0302020204030204" pitchFamily="34" charset="0"/>
              </a:rPr>
              <a:t>It is related to information that is shown in company’s financial statements. It involves measuring simple statistical data to complex calculations. </a:t>
            </a:r>
          </a:p>
          <a:p>
            <a:pPr marL="400050" indent="-400050" algn="just">
              <a:buFont typeface="+mj-lt"/>
              <a:buAutoNum type="romanLcPeriod"/>
            </a:pPr>
            <a:r>
              <a:rPr lang="en-IN" dirty="0">
                <a:latin typeface="Calibri Light" panose="020F0302020204030204" pitchFamily="34" charset="0"/>
                <a:ea typeface="Cambria" panose="02040503050406030204" pitchFamily="18" charset="0"/>
                <a:cs typeface="Calibri Light" panose="020F0302020204030204" pitchFamily="34" charset="0"/>
              </a:rPr>
              <a:t>This analysis helps you to evaluate investment opportunities such as when to buy and sell securities.</a:t>
            </a:r>
          </a:p>
          <a:p>
            <a:pPr marL="400050" indent="-400050" algn="just">
              <a:buFont typeface="+mj-lt"/>
              <a:buAutoNum type="romanLcPeriod"/>
            </a:pPr>
            <a:r>
              <a:rPr lang="en-IN" dirty="0">
                <a:latin typeface="Calibri Light" panose="020F0302020204030204" pitchFamily="34" charset="0"/>
                <a:ea typeface="Cambria" panose="02040503050406030204" pitchFamily="18" charset="0"/>
                <a:cs typeface="Calibri Light" panose="020F0302020204030204" pitchFamily="34" charset="0"/>
              </a:rPr>
              <a:t>Factors – examples -  </a:t>
            </a:r>
          </a:p>
          <a:p>
            <a:pPr marL="857250" lvl="1" indent="-400050" algn="just">
              <a:buFont typeface="+mj-lt"/>
              <a:buAutoNum type="alphaLcParenR"/>
            </a:pPr>
            <a:r>
              <a:rPr lang="en-IN" dirty="0">
                <a:latin typeface="Calibri Light" panose="020F0302020204030204" pitchFamily="34" charset="0"/>
                <a:ea typeface="Cambria" panose="02040503050406030204" pitchFamily="18" charset="0"/>
                <a:cs typeface="Calibri Light" panose="020F0302020204030204" pitchFamily="34" charset="0"/>
              </a:rPr>
              <a:t>Company’s revenues </a:t>
            </a:r>
          </a:p>
          <a:p>
            <a:pPr marL="857250" lvl="1" indent="-400050" algn="just">
              <a:buFont typeface="+mj-lt"/>
              <a:buAutoNum type="alphaLcParenR"/>
            </a:pPr>
            <a:r>
              <a:rPr lang="en-IN" dirty="0">
                <a:latin typeface="Calibri Light" panose="020F0302020204030204" pitchFamily="34" charset="0"/>
                <a:ea typeface="Cambria" panose="02040503050406030204" pitchFamily="18" charset="0"/>
                <a:cs typeface="Calibri Light" panose="020F0302020204030204" pitchFamily="34" charset="0"/>
              </a:rPr>
              <a:t>Profit margins</a:t>
            </a:r>
          </a:p>
          <a:p>
            <a:pPr marL="857250" lvl="1" indent="-400050" algn="just">
              <a:buFont typeface="+mj-lt"/>
              <a:buAutoNum type="alphaLcParenR"/>
            </a:pPr>
            <a:r>
              <a:rPr lang="en-IN" dirty="0">
                <a:latin typeface="Calibri Light" panose="020F0302020204030204" pitchFamily="34" charset="0"/>
                <a:ea typeface="Cambria" panose="02040503050406030204" pitchFamily="18" charset="0"/>
                <a:cs typeface="Calibri Light" panose="020F0302020204030204" pitchFamily="34" charset="0"/>
              </a:rPr>
              <a:t>Return on equity </a:t>
            </a:r>
          </a:p>
          <a:p>
            <a:pPr marL="857250" lvl="1" indent="-400050" algn="just">
              <a:buFont typeface="+mj-lt"/>
              <a:buAutoNum type="alphaLcParenR"/>
            </a:pPr>
            <a:r>
              <a:rPr lang="en-IN" dirty="0">
                <a:latin typeface="Calibri Light" panose="020F0302020204030204" pitchFamily="34" charset="0"/>
                <a:ea typeface="Cambria" panose="02040503050406030204" pitchFamily="18" charset="0"/>
                <a:cs typeface="Calibri Light" panose="020F0302020204030204" pitchFamily="34" charset="0"/>
              </a:rPr>
              <a:t>Future growth potential </a:t>
            </a:r>
          </a:p>
          <a:p>
            <a:pPr marL="857250" lvl="1" indent="-400050" algn="just">
              <a:buFont typeface="+mj-lt"/>
              <a:buAutoNum type="alphaLcParenR"/>
            </a:pPr>
            <a:r>
              <a:rPr lang="en-IN" dirty="0">
                <a:latin typeface="Calibri Light" panose="020F0302020204030204" pitchFamily="34" charset="0"/>
                <a:ea typeface="Cambria" panose="02040503050406030204" pitchFamily="18" charset="0"/>
                <a:cs typeface="Calibri Light" panose="020F0302020204030204" pitchFamily="34" charset="0"/>
              </a:rPr>
              <a:t>Financial ratios</a:t>
            </a:r>
          </a:p>
        </p:txBody>
      </p:sp>
      <p:pic>
        <p:nvPicPr>
          <p:cNvPr id="3076" name="Picture 4" descr="Qualitative Data Collection &amp;amp; Survey Services | KGS Research"/>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bwMode="auto">
          <a:xfrm>
            <a:off x="5257800" y="2419350"/>
            <a:ext cx="2971800" cy="263555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405FAF4-F954-481C-BA35-B9ACD25958FE}"/>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477944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77538" y="2800350"/>
            <a:ext cx="3119191" cy="381000"/>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5" name="Rounded Rectangle 4"/>
          <p:cNvSpPr/>
          <p:nvPr/>
        </p:nvSpPr>
        <p:spPr>
          <a:xfrm>
            <a:off x="240324" y="921300"/>
            <a:ext cx="3119191" cy="381000"/>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2" name="Title 1"/>
          <p:cNvSpPr>
            <a:spLocks noGrp="1"/>
          </p:cNvSpPr>
          <p:nvPr>
            <p:ph type="title"/>
          </p:nvPr>
        </p:nvSpPr>
        <p:spPr/>
        <p:txBody>
          <a:bodyPr/>
          <a:lstStyle/>
          <a:p>
            <a:r>
              <a:rPr lang="en-IN" dirty="0"/>
              <a:t>Using Financial Ratios for Fundamental Analysis</a:t>
            </a:r>
            <a:endParaRPr lang="hi-IN" dirty="0"/>
          </a:p>
        </p:txBody>
      </p:sp>
      <p:sp>
        <p:nvSpPr>
          <p:cNvPr id="4" name="Rectangle 3"/>
          <p:cNvSpPr/>
          <p:nvPr/>
        </p:nvSpPr>
        <p:spPr>
          <a:xfrm>
            <a:off x="240324" y="908030"/>
            <a:ext cx="8418342" cy="3416320"/>
          </a:xfrm>
          <a:prstGeom prst="rect">
            <a:avLst/>
          </a:prstGeom>
        </p:spPr>
        <p:txBody>
          <a:bodyPr wrap="square">
            <a:spAutoFit/>
          </a:bodyPr>
          <a:lstStyle/>
          <a:p>
            <a:pPr algn="just"/>
            <a:r>
              <a:rPr lang="en-IN" dirty="0">
                <a:latin typeface="Calibri Light" panose="020F0302020204030204" pitchFamily="34" charset="0"/>
                <a:ea typeface="Cambria" panose="02040503050406030204" pitchFamily="18" charset="0"/>
                <a:cs typeface="Calibri Light" panose="020F0302020204030204" pitchFamily="34" charset="0"/>
              </a:rPr>
              <a:t>1. Price To Earnings Ratio</a:t>
            </a:r>
          </a:p>
          <a:p>
            <a:pPr algn="just"/>
            <a:endParaRPr lang="en-IN" dirty="0">
              <a:latin typeface="Calibri Light" panose="020F0302020204030204" pitchFamily="34" charset="0"/>
              <a:ea typeface="Cambria" panose="02040503050406030204" pitchFamily="18" charset="0"/>
              <a:cs typeface="Calibri Light" panose="020F0302020204030204" pitchFamily="34" charset="0"/>
            </a:endParaRPr>
          </a:p>
          <a:p>
            <a:pPr marL="400050" indent="-400050" algn="just">
              <a:buFont typeface="+mj-lt"/>
              <a:buAutoNum type="romanLcPeriod"/>
            </a:pPr>
            <a:r>
              <a:rPr lang="en-IN" dirty="0">
                <a:latin typeface="Calibri Light" panose="020F0302020204030204" pitchFamily="34" charset="0"/>
                <a:ea typeface="Cambria" panose="02040503050406030204" pitchFamily="18" charset="0"/>
                <a:cs typeface="Calibri Light" panose="020F0302020204030204" pitchFamily="34" charset="0"/>
              </a:rPr>
              <a:t>It is one of the most widely used financial ratio analysis. </a:t>
            </a:r>
          </a:p>
          <a:p>
            <a:pPr marL="400050" indent="-400050" algn="just">
              <a:buFont typeface="+mj-lt"/>
              <a:buAutoNum type="romanLcPeriod"/>
            </a:pPr>
            <a:r>
              <a:rPr lang="en-IN" dirty="0">
                <a:latin typeface="Calibri Light" panose="020F0302020204030204" pitchFamily="34" charset="0"/>
                <a:ea typeface="Cambria" panose="02040503050406030204" pitchFamily="18" charset="0"/>
                <a:cs typeface="Calibri Light" panose="020F0302020204030204" pitchFamily="34" charset="0"/>
              </a:rPr>
              <a:t>Computation - Price Per Share / Earnings Per Share.</a:t>
            </a:r>
          </a:p>
          <a:p>
            <a:pPr marL="400050" indent="-400050" algn="just">
              <a:buFont typeface="+mj-lt"/>
              <a:buAutoNum type="romanLcPeriod"/>
            </a:pPr>
            <a:r>
              <a:rPr lang="en-IN" dirty="0">
                <a:latin typeface="Calibri Light" panose="020F0302020204030204" pitchFamily="34" charset="0"/>
                <a:ea typeface="Cambria" panose="02040503050406030204" pitchFamily="18" charset="0"/>
                <a:cs typeface="Calibri Light" panose="020F0302020204030204" pitchFamily="34" charset="0"/>
              </a:rPr>
              <a:t>As a thumb rule, a low P/E ratio is preferred while buying a stock.</a:t>
            </a:r>
          </a:p>
          <a:p>
            <a:pPr algn="just"/>
            <a:endParaRPr lang="en-IN" dirty="0">
              <a:latin typeface="Calibri Light" panose="020F0302020204030204" pitchFamily="34" charset="0"/>
              <a:ea typeface="Cambria" panose="02040503050406030204" pitchFamily="18" charset="0"/>
              <a:cs typeface="Calibri Light" panose="020F0302020204030204" pitchFamily="34" charset="0"/>
            </a:endParaRPr>
          </a:p>
          <a:p>
            <a:pPr algn="just"/>
            <a:endParaRPr lang="en-IN" b="1" dirty="0">
              <a:latin typeface="Calibri Light" panose="020F0302020204030204" pitchFamily="34" charset="0"/>
              <a:ea typeface="Cambria" panose="02040503050406030204" pitchFamily="18" charset="0"/>
              <a:cs typeface="Calibri Light" panose="020F0302020204030204" pitchFamily="34" charset="0"/>
            </a:endParaRPr>
          </a:p>
          <a:p>
            <a:pPr algn="just"/>
            <a:r>
              <a:rPr lang="en-IN" dirty="0">
                <a:latin typeface="Calibri Light" panose="020F0302020204030204" pitchFamily="34" charset="0"/>
                <a:ea typeface="Cambria" panose="02040503050406030204" pitchFamily="18" charset="0"/>
                <a:cs typeface="Calibri Light" panose="020F0302020204030204" pitchFamily="34" charset="0"/>
              </a:rPr>
              <a:t>2. Price To Book Value</a:t>
            </a:r>
          </a:p>
          <a:p>
            <a:pPr algn="just"/>
            <a:endParaRPr lang="en-IN" dirty="0">
              <a:latin typeface="Calibri Light" panose="020F0302020204030204" pitchFamily="34" charset="0"/>
              <a:ea typeface="Cambria" panose="02040503050406030204" pitchFamily="18" charset="0"/>
              <a:cs typeface="Calibri Light" panose="020F0302020204030204" pitchFamily="34" charset="0"/>
            </a:endParaRPr>
          </a:p>
          <a:p>
            <a:pPr marL="400050" indent="-400050" algn="just">
              <a:buFont typeface="+mj-lt"/>
              <a:buAutoNum type="romanLcPeriod"/>
            </a:pPr>
            <a:r>
              <a:rPr lang="en-IN" dirty="0">
                <a:latin typeface="Calibri Light" panose="020F0302020204030204" pitchFamily="34" charset="0"/>
                <a:ea typeface="Cambria" panose="02040503050406030204" pitchFamily="18" charset="0"/>
                <a:cs typeface="Calibri Light" panose="020F0302020204030204" pitchFamily="34" charset="0"/>
              </a:rPr>
              <a:t>Computation - Current price of the stock / Book value per share. </a:t>
            </a:r>
          </a:p>
          <a:p>
            <a:pPr marL="400050" indent="-400050" algn="just">
              <a:buFont typeface="+mj-lt"/>
              <a:buAutoNum type="romanLcPeriod"/>
            </a:pPr>
            <a:r>
              <a:rPr lang="en-IN" dirty="0">
                <a:latin typeface="Calibri Light" panose="020F0302020204030204" pitchFamily="34" charset="0"/>
                <a:ea typeface="Cambria" panose="02040503050406030204" pitchFamily="18" charset="0"/>
                <a:cs typeface="Calibri Light" panose="020F0302020204030204" pitchFamily="34" charset="0"/>
              </a:rPr>
              <a:t>A lower P/BV ratio could mean that the stock is undervalued.</a:t>
            </a:r>
          </a:p>
          <a:p>
            <a:pPr marL="400050" indent="-400050" algn="just">
              <a:buFont typeface="+mj-lt"/>
              <a:buAutoNum type="romanLcPeriod"/>
            </a:pPr>
            <a:r>
              <a:rPr lang="en-IN" dirty="0">
                <a:latin typeface="Calibri Light" panose="020F0302020204030204" pitchFamily="34" charset="0"/>
                <a:ea typeface="Cambria" panose="02040503050406030204" pitchFamily="18" charset="0"/>
                <a:cs typeface="Calibri Light" panose="020F0302020204030204" pitchFamily="34" charset="0"/>
              </a:rPr>
              <a:t>However, the definition of lower varies from sector to sector.</a:t>
            </a:r>
          </a:p>
        </p:txBody>
      </p:sp>
      <p:sp>
        <p:nvSpPr>
          <p:cNvPr id="7" name="Rectangle 6">
            <a:extLst>
              <a:ext uri="{FF2B5EF4-FFF2-40B4-BE49-F238E27FC236}">
                <a16:creationId xmlns:a16="http://schemas.microsoft.com/office/drawing/2014/main" id="{1A0B214C-24BB-4BC3-ACB9-3D1C16B65565}"/>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3144195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33608" y="2536120"/>
            <a:ext cx="3119191" cy="381000"/>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3" name="Rounded Rectangle 2"/>
          <p:cNvSpPr/>
          <p:nvPr/>
        </p:nvSpPr>
        <p:spPr>
          <a:xfrm>
            <a:off x="233609" y="895350"/>
            <a:ext cx="3119191" cy="381000"/>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2" name="Title 1"/>
          <p:cNvSpPr>
            <a:spLocks noGrp="1"/>
          </p:cNvSpPr>
          <p:nvPr>
            <p:ph type="title"/>
          </p:nvPr>
        </p:nvSpPr>
        <p:spPr/>
        <p:txBody>
          <a:bodyPr/>
          <a:lstStyle/>
          <a:p>
            <a:r>
              <a:rPr lang="en-IN" dirty="0"/>
              <a:t>Financial Ratios</a:t>
            </a:r>
            <a:endParaRPr lang="hi-IN" dirty="0"/>
          </a:p>
        </p:txBody>
      </p:sp>
      <p:sp>
        <p:nvSpPr>
          <p:cNvPr id="4" name="Rectangle 3"/>
          <p:cNvSpPr/>
          <p:nvPr/>
        </p:nvSpPr>
        <p:spPr>
          <a:xfrm>
            <a:off x="233609" y="895350"/>
            <a:ext cx="8623615" cy="3662541"/>
          </a:xfrm>
          <a:prstGeom prst="rect">
            <a:avLst/>
          </a:prstGeom>
        </p:spPr>
        <p:txBody>
          <a:bodyPr wrap="square">
            <a:spAutoFit/>
          </a:bodyPr>
          <a:lstStyle/>
          <a:p>
            <a:pPr algn="just"/>
            <a:r>
              <a:rPr lang="en-IN" dirty="0">
                <a:latin typeface="Calibri Light" panose="020F0302020204030204" pitchFamily="34" charset="0"/>
                <a:cs typeface="Calibri Light" panose="020F0302020204030204" pitchFamily="34" charset="0"/>
              </a:rPr>
              <a:t>3. Return On Equity (ROE) </a:t>
            </a:r>
          </a:p>
          <a:p>
            <a:pPr algn="just"/>
            <a:r>
              <a:rPr lang="en-IN" dirty="0">
                <a:latin typeface="Calibri Light" panose="020F0302020204030204" pitchFamily="34" charset="0"/>
                <a:cs typeface="Calibri Light" panose="020F0302020204030204" pitchFamily="34" charset="0"/>
              </a:rPr>
              <a:t> </a:t>
            </a:r>
          </a:p>
          <a:p>
            <a:pPr marL="400050" indent="-400050" algn="just">
              <a:buFont typeface="+mj-lt"/>
              <a:buAutoNum type="romanLcPeriod"/>
            </a:pPr>
            <a:r>
              <a:rPr lang="en-IN" dirty="0">
                <a:latin typeface="Calibri Light" panose="020F0302020204030204" pitchFamily="34" charset="0"/>
                <a:cs typeface="Calibri Light" panose="020F0302020204030204" pitchFamily="34" charset="0"/>
              </a:rPr>
              <a:t>It is the amount of net income returned as a percentage of shareholders equity. </a:t>
            </a:r>
          </a:p>
          <a:p>
            <a:pPr marL="400050" indent="-400050" algn="just">
              <a:buFont typeface="+mj-lt"/>
              <a:buAutoNum type="romanLcPeriod"/>
            </a:pPr>
            <a:r>
              <a:rPr lang="en-IN" dirty="0">
                <a:latin typeface="Calibri Light" panose="020F0302020204030204" pitchFamily="34" charset="0"/>
                <a:cs typeface="Calibri Light" panose="020F0302020204030204" pitchFamily="34" charset="0"/>
              </a:rPr>
              <a:t>Computation - Return on Equity (Net Income) / Average Stockholder Equity. </a:t>
            </a:r>
          </a:p>
          <a:p>
            <a:pPr marL="400050" indent="-400050" algn="just">
              <a:buFont typeface="+mj-lt"/>
              <a:buAutoNum type="romanLcPeriod"/>
            </a:pPr>
            <a:endParaRPr lang="en-IN" dirty="0">
              <a:latin typeface="Calibri Light" panose="020F0302020204030204" pitchFamily="34" charset="0"/>
              <a:cs typeface="Calibri Light" panose="020F0302020204030204" pitchFamily="34" charset="0"/>
            </a:endParaRPr>
          </a:p>
          <a:p>
            <a:pPr algn="just"/>
            <a:endParaRPr lang="en-IN" dirty="0">
              <a:latin typeface="Calibri Light" panose="020F0302020204030204" pitchFamily="34" charset="0"/>
              <a:cs typeface="Calibri Light" panose="020F0302020204030204" pitchFamily="34" charset="0"/>
            </a:endParaRPr>
          </a:p>
          <a:p>
            <a:pPr algn="just"/>
            <a:r>
              <a:rPr lang="en-IN" dirty="0">
                <a:latin typeface="Calibri Light" panose="020F0302020204030204" pitchFamily="34" charset="0"/>
                <a:cs typeface="Calibri Light" panose="020F0302020204030204" pitchFamily="34" charset="0"/>
              </a:rPr>
              <a:t>4. Debt To Equity Ratio</a:t>
            </a:r>
          </a:p>
          <a:p>
            <a:pPr algn="just"/>
            <a:endParaRPr lang="en-IN" dirty="0">
              <a:latin typeface="Calibri Light" panose="020F0302020204030204" pitchFamily="34" charset="0"/>
              <a:cs typeface="Calibri Light" panose="020F0302020204030204" pitchFamily="34" charset="0"/>
            </a:endParaRPr>
          </a:p>
          <a:p>
            <a:pPr marL="400050" indent="-400050" algn="just">
              <a:buFont typeface="+mj-lt"/>
              <a:buAutoNum type="romanLcPeriod"/>
            </a:pPr>
            <a:r>
              <a:rPr lang="en-IN" dirty="0">
                <a:latin typeface="Calibri Light" panose="020F0302020204030204" pitchFamily="34" charset="0"/>
                <a:cs typeface="Calibri Light" panose="020F0302020204030204" pitchFamily="34" charset="0"/>
              </a:rPr>
              <a:t>It measures the relationship between the borrowed capital (i.e. debt) and the capital contributed by shareholders (i.e. equity).</a:t>
            </a:r>
          </a:p>
          <a:p>
            <a:pPr marL="400050" indent="-400050" algn="just">
              <a:buFont typeface="+mj-lt"/>
              <a:buAutoNum type="romanLcPeriod"/>
            </a:pPr>
            <a:r>
              <a:rPr lang="en-IN" dirty="0">
                <a:latin typeface="Calibri Light" panose="020F0302020204030204" pitchFamily="34" charset="0"/>
                <a:cs typeface="Calibri Light" panose="020F0302020204030204" pitchFamily="34" charset="0"/>
              </a:rPr>
              <a:t>Computation - Total Liabilities / Total Shareholder Equity.</a:t>
            </a:r>
          </a:p>
          <a:p>
            <a:pPr marL="400050" indent="-400050" algn="just">
              <a:buFont typeface="+mj-lt"/>
              <a:buAutoNum type="romanLcPeriod"/>
            </a:pPr>
            <a:r>
              <a:rPr lang="en-IN" dirty="0">
                <a:latin typeface="Calibri Light" panose="020F0302020204030204" pitchFamily="34" charset="0"/>
                <a:cs typeface="Calibri Light" panose="020F0302020204030204" pitchFamily="34" charset="0"/>
              </a:rPr>
              <a:t>As a thumb of rule, companies with a debt-to equity ratio more than 1 are riskier.</a:t>
            </a:r>
          </a:p>
          <a:p>
            <a:endParaRPr lang="en-IN" sz="1600" dirty="0">
              <a:latin typeface="Calibri Light" panose="020F0302020204030204" pitchFamily="34" charset="0"/>
              <a:cs typeface="Calibri Light" panose="020F0302020204030204" pitchFamily="34" charset="0"/>
            </a:endParaRPr>
          </a:p>
        </p:txBody>
      </p:sp>
      <p:sp>
        <p:nvSpPr>
          <p:cNvPr id="6" name="Rectangle 5">
            <a:extLst>
              <a:ext uri="{FF2B5EF4-FFF2-40B4-BE49-F238E27FC236}">
                <a16:creationId xmlns:a16="http://schemas.microsoft.com/office/drawing/2014/main" id="{180B1E77-A4C1-4AE2-B083-2E6226E926D7}"/>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1465563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240324" y="1047750"/>
            <a:ext cx="3119191" cy="381000"/>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i-IN"/>
          </a:p>
        </p:txBody>
      </p:sp>
      <p:sp>
        <p:nvSpPr>
          <p:cNvPr id="2" name="Title 1"/>
          <p:cNvSpPr>
            <a:spLocks noGrp="1"/>
          </p:cNvSpPr>
          <p:nvPr>
            <p:ph type="title"/>
          </p:nvPr>
        </p:nvSpPr>
        <p:spPr/>
        <p:txBody>
          <a:bodyPr/>
          <a:lstStyle/>
          <a:p>
            <a:r>
              <a:rPr lang="en-IN" dirty="0"/>
              <a:t>Financial Ratios</a:t>
            </a:r>
            <a:endParaRPr lang="hi-IN" dirty="0"/>
          </a:p>
        </p:txBody>
      </p:sp>
      <p:sp>
        <p:nvSpPr>
          <p:cNvPr id="4" name="Rectangle 3"/>
          <p:cNvSpPr/>
          <p:nvPr/>
        </p:nvSpPr>
        <p:spPr>
          <a:xfrm>
            <a:off x="244160" y="1047750"/>
            <a:ext cx="8623615" cy="1754326"/>
          </a:xfrm>
          <a:prstGeom prst="rect">
            <a:avLst/>
          </a:prstGeom>
        </p:spPr>
        <p:txBody>
          <a:bodyPr wrap="square">
            <a:spAutoFit/>
          </a:bodyPr>
          <a:lstStyle/>
          <a:p>
            <a:pPr algn="just"/>
            <a:r>
              <a:rPr lang="en-IN" dirty="0">
                <a:latin typeface="Calibri Light" panose="020F0302020204030204" pitchFamily="34" charset="0"/>
                <a:cs typeface="Calibri Light" panose="020F0302020204030204" pitchFamily="34" charset="0"/>
              </a:rPr>
              <a:t>5. Current Ratio</a:t>
            </a:r>
          </a:p>
          <a:p>
            <a:pPr algn="just"/>
            <a:endParaRPr lang="en-IN" dirty="0">
              <a:latin typeface="Calibri Light" panose="020F0302020204030204" pitchFamily="34" charset="0"/>
              <a:cs typeface="Calibri Light" panose="020F0302020204030204" pitchFamily="34" charset="0"/>
            </a:endParaRPr>
          </a:p>
          <a:p>
            <a:pPr marL="400050" indent="-400050" algn="just">
              <a:buFont typeface="+mj-lt"/>
              <a:buAutoNum type="romanLcPeriod"/>
            </a:pPr>
            <a:r>
              <a:rPr lang="en-IN" dirty="0">
                <a:latin typeface="Calibri Light" panose="020F0302020204030204" pitchFamily="34" charset="0"/>
                <a:cs typeface="Calibri Light" panose="020F0302020204030204" pitchFamily="34" charset="0"/>
              </a:rPr>
              <a:t>It is a key financial ratio for evaluating a company's liquidity. </a:t>
            </a:r>
          </a:p>
          <a:p>
            <a:pPr marL="400050" indent="-400050" algn="just">
              <a:buFont typeface="+mj-lt"/>
              <a:buAutoNum type="romanLcPeriod"/>
            </a:pPr>
            <a:r>
              <a:rPr lang="en-IN" dirty="0">
                <a:latin typeface="Calibri Light" panose="020F0302020204030204" pitchFamily="34" charset="0"/>
                <a:cs typeface="Calibri Light" panose="020F0302020204030204" pitchFamily="34" charset="0"/>
              </a:rPr>
              <a:t>Computation - Current Assets / Current Liabilities.</a:t>
            </a:r>
          </a:p>
          <a:p>
            <a:pPr marL="400050" indent="-400050" algn="just">
              <a:buFont typeface="+mj-lt"/>
              <a:buAutoNum type="romanLcPeriod"/>
            </a:pPr>
            <a:r>
              <a:rPr lang="en-IN" dirty="0">
                <a:latin typeface="Calibri Light" panose="020F0302020204030204" pitchFamily="34" charset="0"/>
                <a:cs typeface="Calibri Light" panose="020F0302020204030204" pitchFamily="34" charset="0"/>
              </a:rPr>
              <a:t>As a thumb rule, a company with a current ratio greater than 1 is better.</a:t>
            </a:r>
          </a:p>
          <a:p>
            <a:pPr algn="just"/>
            <a:endParaRPr lang="en-IN" dirty="0">
              <a:latin typeface="Calibri Light" panose="020F0302020204030204" pitchFamily="34" charset="0"/>
              <a:cs typeface="Calibri Light" panose="020F0302020204030204" pitchFamily="34" charset="0"/>
            </a:endParaRPr>
          </a:p>
        </p:txBody>
      </p:sp>
      <p:sp>
        <p:nvSpPr>
          <p:cNvPr id="6" name="Rectangle 5">
            <a:extLst>
              <a:ext uri="{FF2B5EF4-FFF2-40B4-BE49-F238E27FC236}">
                <a16:creationId xmlns:a16="http://schemas.microsoft.com/office/drawing/2014/main" id="{1A04764C-847E-47CA-8CFF-3616BD420F7F}"/>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1524113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675" y="209550"/>
            <a:ext cx="5486650" cy="4119287"/>
          </a:xfrm>
          <a:prstGeom prst="rect">
            <a:avLst/>
          </a:prstGeom>
        </p:spPr>
      </p:pic>
      <p:sp>
        <p:nvSpPr>
          <p:cNvPr id="3" name="Rectangle 2">
            <a:extLst>
              <a:ext uri="{FF2B5EF4-FFF2-40B4-BE49-F238E27FC236}">
                <a16:creationId xmlns:a16="http://schemas.microsoft.com/office/drawing/2014/main" id="{F2B6AEF0-DD9A-401B-B0D4-8BA34CEE1ED1}"/>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4" name="Rectangle 3">
            <a:extLst>
              <a:ext uri="{FF2B5EF4-FFF2-40B4-BE49-F238E27FC236}">
                <a16:creationId xmlns:a16="http://schemas.microsoft.com/office/drawing/2014/main" id="{4C5CA7BF-578A-4438-A8FE-C241E7614E07}"/>
              </a:ext>
            </a:extLst>
          </p:cNvPr>
          <p:cNvSpPr/>
          <p:nvPr/>
        </p:nvSpPr>
        <p:spPr>
          <a:xfrm>
            <a:off x="3657600" y="3943350"/>
            <a:ext cx="35052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11008869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4115-2CCB-443D-87C9-0CB7CE513A39}"/>
              </a:ext>
            </a:extLst>
          </p:cNvPr>
          <p:cNvSpPr>
            <a:spLocks noGrp="1"/>
          </p:cNvSpPr>
          <p:nvPr>
            <p:ph type="title"/>
          </p:nvPr>
        </p:nvSpPr>
        <p:spPr/>
        <p:txBody>
          <a:bodyPr/>
          <a:lstStyle/>
          <a:p>
            <a:r>
              <a:rPr lang="en-US" b="1" dirty="0">
                <a:solidFill>
                  <a:schemeClr val="accent1">
                    <a:lumMod val="75000"/>
                  </a:schemeClr>
                </a:solidFill>
              </a:rPr>
              <a:t>Equity Valuation Model</a:t>
            </a:r>
          </a:p>
        </p:txBody>
      </p:sp>
      <p:sp>
        <p:nvSpPr>
          <p:cNvPr id="3" name="Content Placeholder 2">
            <a:extLst>
              <a:ext uri="{FF2B5EF4-FFF2-40B4-BE49-F238E27FC236}">
                <a16:creationId xmlns:a16="http://schemas.microsoft.com/office/drawing/2014/main" id="{0CAFA7FF-57A5-4A02-AAF0-B19E94A267F3}"/>
              </a:ext>
            </a:extLst>
          </p:cNvPr>
          <p:cNvSpPr>
            <a:spLocks noGrp="1"/>
          </p:cNvSpPr>
          <p:nvPr>
            <p:ph idx="1"/>
          </p:nvPr>
        </p:nvSpPr>
        <p:spPr>
          <a:xfrm>
            <a:off x="628650" y="1098612"/>
            <a:ext cx="7886700" cy="3116062"/>
          </a:xfrm>
        </p:spPr>
        <p:txBody>
          <a:bodyPr>
            <a:normAutofit/>
          </a:bodyPr>
          <a:lstStyle/>
          <a:p>
            <a:pPr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Equity valuation helps in determining the </a:t>
            </a:r>
            <a:r>
              <a:rPr lang="en-US" sz="1425" b="1" dirty="0">
                <a:solidFill>
                  <a:schemeClr val="accent1">
                    <a:lumMod val="75000"/>
                  </a:schemeClr>
                </a:solidFill>
                <a:latin typeface="Calibri Light" panose="020F0302020204030204" pitchFamily="34" charset="0"/>
                <a:cs typeface="Calibri Light" panose="020F0302020204030204" pitchFamily="34" charset="0"/>
              </a:rPr>
              <a:t>true</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a:t>
            </a:r>
            <a:r>
              <a:rPr lang="en-US" sz="1425" b="1" dirty="0">
                <a:solidFill>
                  <a:schemeClr val="accent1">
                    <a:lumMod val="75000"/>
                  </a:schemeClr>
                </a:solidFill>
                <a:latin typeface="Calibri Light" panose="020F0302020204030204" pitchFamily="34" charset="0"/>
                <a:cs typeface="Calibri Light" panose="020F0302020204030204" pitchFamily="34" charset="0"/>
              </a:rPr>
              <a:t>intrinsic</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or </a:t>
            </a:r>
            <a:r>
              <a:rPr lang="en-US" sz="1425" b="1" dirty="0">
                <a:solidFill>
                  <a:schemeClr val="accent1">
                    <a:lumMod val="75000"/>
                  </a:schemeClr>
                </a:solidFill>
                <a:latin typeface="Calibri Light" panose="020F0302020204030204" pitchFamily="34" charset="0"/>
                <a:cs typeface="Calibri Light" panose="020F0302020204030204" pitchFamily="34" charset="0"/>
              </a:rPr>
              <a:t>fair value </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of the share of the company. </a:t>
            </a:r>
          </a:p>
          <a:p>
            <a:pPr eaLnBrk="1" hangingPunct="1">
              <a:lnSpc>
                <a:spcPct val="90000"/>
              </a:lnSpc>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eaLnBrk="1" hangingPunct="1">
              <a:lnSpc>
                <a:spcPct val="90000"/>
              </a:lnSpc>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Equity valuation is important for every investor as it </a:t>
            </a:r>
            <a:r>
              <a:rPr lang="en-US" sz="1425" b="1" dirty="0">
                <a:solidFill>
                  <a:schemeClr val="accent1">
                    <a:lumMod val="75000"/>
                  </a:schemeClr>
                </a:solidFill>
                <a:latin typeface="Calibri Light" panose="020F0302020204030204" pitchFamily="34" charset="0"/>
                <a:cs typeface="Calibri Light" panose="020F0302020204030204" pitchFamily="34" charset="0"/>
              </a:rPr>
              <a:t>prescribes whether to buy the security or sell the security or stay invested</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a:t>
            </a:r>
          </a:p>
          <a:p>
            <a:pPr eaLnBrk="1" hangingPunct="1">
              <a:lnSpc>
                <a:spcPct val="90000"/>
              </a:lnSpc>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eaLnBrk="1" hangingPunct="1">
              <a:lnSpc>
                <a:spcPct val="90000"/>
              </a:lnSpc>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The strategy here is –  </a:t>
            </a:r>
          </a:p>
          <a:p>
            <a:pPr lvl="1" eaLnBrk="1" hangingPunct="1">
              <a:lnSpc>
                <a:spcPct val="90000"/>
              </a:lnSpc>
              <a:buFont typeface="Wingdings" pitchFamily="2" charset="2"/>
              <a:buChar char="Ø"/>
            </a:pPr>
            <a:r>
              <a:rPr lang="en-US" sz="1425" b="1" dirty="0">
                <a:solidFill>
                  <a:schemeClr val="accent1">
                    <a:lumMod val="75000"/>
                  </a:schemeClr>
                </a:solidFill>
                <a:latin typeface="Calibri Light" panose="020F0302020204030204" pitchFamily="34" charset="0"/>
                <a:cs typeface="Calibri Light" panose="020F0302020204030204" pitchFamily="34" charset="0"/>
              </a:rPr>
              <a:t>Buy</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when the </a:t>
            </a:r>
            <a:r>
              <a:rPr lang="en-US" sz="1425" b="1" dirty="0">
                <a:solidFill>
                  <a:schemeClr val="accent1">
                    <a:lumMod val="75000"/>
                  </a:schemeClr>
                </a:solidFill>
                <a:latin typeface="Calibri Light" panose="020F0302020204030204" pitchFamily="34" charset="0"/>
                <a:cs typeface="Calibri Light" panose="020F0302020204030204" pitchFamily="34" charset="0"/>
              </a:rPr>
              <a:t>intrinsic value &gt; Market value   </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and,</a:t>
            </a:r>
          </a:p>
          <a:p>
            <a:pPr lvl="1" eaLnBrk="1" hangingPunct="1">
              <a:lnSpc>
                <a:spcPct val="90000"/>
              </a:lnSpc>
              <a:buFont typeface="Wingdings" pitchFamily="2" charset="2"/>
              <a:buChar char="Ø"/>
            </a:pPr>
            <a:r>
              <a:rPr lang="en-US" sz="1425" b="1" dirty="0">
                <a:solidFill>
                  <a:schemeClr val="accent1">
                    <a:lumMod val="75000"/>
                  </a:schemeClr>
                </a:solidFill>
                <a:latin typeface="Calibri Light" panose="020F0302020204030204" pitchFamily="34" charset="0"/>
                <a:cs typeface="Calibri Light" panose="020F0302020204030204" pitchFamily="34" charset="0"/>
              </a:rPr>
              <a:t>Sell</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when the </a:t>
            </a:r>
            <a:r>
              <a:rPr lang="en-US" sz="1425" b="1" dirty="0">
                <a:solidFill>
                  <a:schemeClr val="accent1">
                    <a:lumMod val="75000"/>
                  </a:schemeClr>
                </a:solidFill>
                <a:latin typeface="Calibri Light" panose="020F0302020204030204" pitchFamily="34" charset="0"/>
                <a:cs typeface="Calibri Light" panose="020F0302020204030204" pitchFamily="34" charset="0"/>
              </a:rPr>
              <a:t>intrinsic value  &lt; Market Value</a:t>
            </a:r>
          </a:p>
          <a:p>
            <a:pPr marL="1028700" lvl="3" indent="0">
              <a:buNone/>
            </a:pPr>
            <a:endParaRPr lang="en-US" sz="675"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7149" y="2795995"/>
            <a:ext cx="3516851" cy="2327770"/>
          </a:xfrm>
          <a:prstGeom prst="rect">
            <a:avLst/>
          </a:prstGeom>
        </p:spPr>
      </p:pic>
      <p:sp>
        <p:nvSpPr>
          <p:cNvPr id="6" name="Rectangle 5">
            <a:extLst>
              <a:ext uri="{FF2B5EF4-FFF2-40B4-BE49-F238E27FC236}">
                <a16:creationId xmlns:a16="http://schemas.microsoft.com/office/drawing/2014/main" id="{5F4BD542-AF9C-4ADC-87AF-C1F606CC91CD}"/>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19485052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4115-2CCB-443D-87C9-0CB7CE513A39}"/>
              </a:ext>
            </a:extLst>
          </p:cNvPr>
          <p:cNvSpPr>
            <a:spLocks noGrp="1"/>
          </p:cNvSpPr>
          <p:nvPr>
            <p:ph type="title"/>
          </p:nvPr>
        </p:nvSpPr>
        <p:spPr/>
        <p:txBody>
          <a:bodyPr/>
          <a:lstStyle/>
          <a:p>
            <a:r>
              <a:rPr lang="en-US" b="1" dirty="0">
                <a:solidFill>
                  <a:schemeClr val="accent5">
                    <a:lumMod val="75000"/>
                  </a:schemeClr>
                </a:solidFill>
              </a:rPr>
              <a:t>Equity Valuation Model</a:t>
            </a:r>
          </a:p>
        </p:txBody>
      </p:sp>
      <p:sp>
        <p:nvSpPr>
          <p:cNvPr id="3" name="Content Placeholder 2">
            <a:extLst>
              <a:ext uri="{FF2B5EF4-FFF2-40B4-BE49-F238E27FC236}">
                <a16:creationId xmlns:a16="http://schemas.microsoft.com/office/drawing/2014/main" id="{0CAFA7FF-57A5-4A02-AAF0-B19E94A267F3}"/>
              </a:ext>
            </a:extLst>
          </p:cNvPr>
          <p:cNvSpPr>
            <a:spLocks noGrp="1"/>
          </p:cNvSpPr>
          <p:nvPr>
            <p:ph idx="1"/>
          </p:nvPr>
        </p:nvSpPr>
        <p:spPr>
          <a:xfrm>
            <a:off x="628650" y="1098612"/>
            <a:ext cx="7886700" cy="3116062"/>
          </a:xfrm>
        </p:spPr>
        <p:txBody>
          <a:bodyPr>
            <a:normAutofit/>
          </a:bodyPr>
          <a:lstStyle/>
          <a:p>
            <a:pPr eaLnBrk="1" hangingPunct="1">
              <a:lnSpc>
                <a:spcPct val="90000"/>
              </a:lnSpc>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Dividend Discount Model</a:t>
            </a:r>
          </a:p>
          <a:p>
            <a:pPr lvl="1"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Constant Dividend Model</a:t>
            </a:r>
          </a:p>
          <a:p>
            <a:pPr lvl="1"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Constant Growth Model</a:t>
            </a:r>
          </a:p>
          <a:p>
            <a:pPr lvl="1"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Multi Stage Growth Model</a:t>
            </a:r>
          </a:p>
          <a:p>
            <a:pPr marL="1028700" lvl="3" indent="0">
              <a:buNone/>
            </a:pPr>
            <a:endParaRPr lang="en-US" sz="45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1261772"/>
            <a:ext cx="4572000" cy="22860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353" y="2354332"/>
            <a:ext cx="2286000" cy="1520190"/>
          </a:xfrm>
          <a:prstGeom prst="rect">
            <a:avLst/>
          </a:prstGeom>
        </p:spPr>
      </p:pic>
      <p:sp>
        <p:nvSpPr>
          <p:cNvPr id="6" name="Rectangle 5">
            <a:extLst>
              <a:ext uri="{FF2B5EF4-FFF2-40B4-BE49-F238E27FC236}">
                <a16:creationId xmlns:a16="http://schemas.microsoft.com/office/drawing/2014/main" id="{52D57102-FB15-4172-AF81-9FE47A5F93D1}"/>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2387112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4115-2CCB-443D-87C9-0CB7CE513A39}"/>
              </a:ext>
            </a:extLst>
          </p:cNvPr>
          <p:cNvSpPr>
            <a:spLocks noGrp="1"/>
          </p:cNvSpPr>
          <p:nvPr>
            <p:ph type="title"/>
          </p:nvPr>
        </p:nvSpPr>
        <p:spPr/>
        <p:txBody>
          <a:bodyPr/>
          <a:lstStyle/>
          <a:p>
            <a:r>
              <a:rPr lang="en-US" b="1" dirty="0">
                <a:solidFill>
                  <a:schemeClr val="bg2">
                    <a:lumMod val="50000"/>
                  </a:schemeClr>
                </a:solidFill>
              </a:rPr>
              <a:t>Dividend Discount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AFA7FF-57A5-4A02-AAF0-B19E94A267F3}"/>
                  </a:ext>
                </a:extLst>
              </p:cNvPr>
              <p:cNvSpPr>
                <a:spLocks noGrp="1"/>
              </p:cNvSpPr>
              <p:nvPr>
                <p:ph idx="1"/>
              </p:nvPr>
            </p:nvSpPr>
            <p:spPr>
              <a:xfrm>
                <a:off x="628650" y="1098612"/>
                <a:ext cx="7886700" cy="3618500"/>
              </a:xfrm>
            </p:spPr>
            <p:txBody>
              <a:bodyPr>
                <a:normAutofit fontScale="92500" lnSpcReduction="10000"/>
              </a:bodyPr>
              <a:lstStyle/>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Assumptions:</a:t>
                </a:r>
              </a:p>
              <a:p>
                <a:pPr marL="257175" indent="-257175" eaLnBrk="1" hangingPunct="1">
                  <a:lnSpc>
                    <a:spcPct val="90000"/>
                  </a:lnSpc>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The dividends are payable annually.</a:t>
                </a:r>
              </a:p>
              <a:p>
                <a:pPr marL="257175" indent="-257175" eaLnBrk="1" hangingPunct="1">
                  <a:lnSpc>
                    <a:spcPct val="90000"/>
                  </a:lnSpc>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The first dividend is received one year from  the date of acquisition. </a:t>
                </a:r>
              </a:p>
              <a:p>
                <a:pPr marL="257175" indent="-257175" eaLnBrk="1" hangingPunct="1">
                  <a:lnSpc>
                    <a:spcPct val="90000"/>
                  </a:lnSpc>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The sale of equity share occurs only at the end of the year.</a:t>
                </a:r>
              </a:p>
              <a:p>
                <a:pPr marL="0" indent="0" eaLnBrk="1" hangingPunct="1">
                  <a:lnSpc>
                    <a:spcPct val="90000"/>
                  </a:lnSpc>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An investor buys an equity share in an expectation of </a:t>
                </a:r>
              </a:p>
              <a:p>
                <a:pPr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Future dividend</a:t>
                </a:r>
              </a:p>
              <a:p>
                <a:pPr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Future capital gain</a:t>
                </a:r>
              </a:p>
              <a:p>
                <a:pPr marL="0" indent="0" eaLnBrk="1" hangingPunct="1">
                  <a:lnSpc>
                    <a:spcPct val="90000"/>
                  </a:lnSpc>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These 2 future cash flows are used for the valuation of equity share by discounting them at an appropriate discount rate.</a:t>
                </a: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The value of the equity share is the sum of the present value of future cash flows discounted at the required rate of return. </a:t>
                </a:r>
              </a:p>
              <a:p>
                <a:pPr marL="0" indent="0" eaLnBrk="1" hangingPunct="1">
                  <a:lnSpc>
                    <a:spcPct val="90000"/>
                  </a:lnSpc>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So the basic equation for the valuation is,</a:t>
                </a:r>
              </a:p>
              <a:p>
                <a:pPr marL="0" indent="0" eaLnBrk="1" hangingPunct="1">
                  <a:lnSpc>
                    <a:spcPct val="90000"/>
                  </a:lnSpc>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14:m>
                  <m:oMathPara xmlns:m="http://schemas.openxmlformats.org/officeDocument/2006/math">
                    <m:oMathParaPr>
                      <m:jc m:val="centerGroup"/>
                    </m:oMathParaPr>
                    <m:oMath xmlns:m="http://schemas.openxmlformats.org/officeDocument/2006/math">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𝑃</m:t>
                          </m:r>
                        </m:e>
                        <m:sup>
                          <m:r>
                            <a:rPr lang="en-US" sz="1425">
                              <a:solidFill>
                                <a:schemeClr val="tx1">
                                  <a:lumMod val="65000"/>
                                  <a:lumOff val="35000"/>
                                </a:schemeClr>
                              </a:solidFill>
                              <a:latin typeface="Cambria Math" panose="02040503050406030204" pitchFamily="18" charset="0"/>
                            </a:rPr>
                            <m:t>0</m:t>
                          </m:r>
                        </m:sup>
                      </m:sSup>
                      <m:r>
                        <a:rPr lang="en-US" sz="1425">
                          <a:solidFill>
                            <a:schemeClr val="tx1">
                              <a:lumMod val="65000"/>
                              <a:lumOff val="35000"/>
                            </a:schemeClr>
                          </a:solidFill>
                          <a:latin typeface="Cambria Math" panose="02040503050406030204" pitchFamily="18" charset="0"/>
                        </a:rPr>
                        <m:t>=</m:t>
                      </m:r>
                      <m:f>
                        <m:fPr>
                          <m:ctrlPr>
                            <a:rPr lang="en-US" sz="1425" i="1">
                              <a:solidFill>
                                <a:schemeClr val="tx1">
                                  <a:lumMod val="65000"/>
                                  <a:lumOff val="35000"/>
                                </a:schemeClr>
                              </a:solidFill>
                              <a:latin typeface="Cambria Math" panose="02040503050406030204" pitchFamily="18" charset="0"/>
                            </a:rPr>
                          </m:ctrlPr>
                        </m:fPr>
                        <m:num>
                          <m:r>
                            <a:rPr lang="en-US" sz="1425">
                              <a:solidFill>
                                <a:schemeClr val="tx1">
                                  <a:lumMod val="65000"/>
                                  <a:lumOff val="35000"/>
                                </a:schemeClr>
                              </a:solidFill>
                              <a:latin typeface="Cambria Math" panose="02040503050406030204" pitchFamily="18" charset="0"/>
                            </a:rPr>
                            <m:t>𝐷</m:t>
                          </m:r>
                          <m:r>
                            <a:rPr lang="en-US" sz="1425">
                              <a:solidFill>
                                <a:schemeClr val="tx1">
                                  <a:lumMod val="65000"/>
                                  <a:lumOff val="35000"/>
                                </a:schemeClr>
                              </a:solidFill>
                              <a:latin typeface="Cambria Math" panose="02040503050406030204" pitchFamily="18" charset="0"/>
                            </a:rPr>
                            <m:t>1</m:t>
                          </m:r>
                        </m:num>
                        <m:den>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(1+</m:t>
                              </m:r>
                              <m:r>
                                <a:rPr lang="en-US" sz="1425">
                                  <a:solidFill>
                                    <a:schemeClr val="tx1">
                                      <a:lumMod val="65000"/>
                                      <a:lumOff val="35000"/>
                                    </a:schemeClr>
                                  </a:solidFill>
                                  <a:latin typeface="Cambria Math" panose="02040503050406030204" pitchFamily="18" charset="0"/>
                                </a:rPr>
                                <m:t>𝑘</m:t>
                              </m:r>
                              <m:r>
                                <a:rPr lang="en-US" sz="1425">
                                  <a:solidFill>
                                    <a:schemeClr val="tx1">
                                      <a:lumMod val="65000"/>
                                      <a:lumOff val="35000"/>
                                    </a:schemeClr>
                                  </a:solidFill>
                                  <a:latin typeface="Cambria Math" panose="02040503050406030204" pitchFamily="18" charset="0"/>
                                </a:rPr>
                                <m:t>)</m:t>
                              </m:r>
                            </m:e>
                            <m:sup>
                              <m:r>
                                <a:rPr lang="en-US" sz="1425">
                                  <a:solidFill>
                                    <a:schemeClr val="tx1">
                                      <a:lumMod val="65000"/>
                                      <a:lumOff val="35000"/>
                                    </a:schemeClr>
                                  </a:solidFill>
                                  <a:latin typeface="Cambria Math" panose="02040503050406030204" pitchFamily="18" charset="0"/>
                                </a:rPr>
                                <m:t>1</m:t>
                              </m:r>
                            </m:sup>
                          </m:sSup>
                        </m:den>
                      </m:f>
                      <m:r>
                        <a:rPr lang="en-US" sz="1425">
                          <a:solidFill>
                            <a:schemeClr val="tx1">
                              <a:lumMod val="65000"/>
                              <a:lumOff val="35000"/>
                            </a:schemeClr>
                          </a:solidFill>
                          <a:latin typeface="Cambria Math" panose="02040503050406030204" pitchFamily="18" charset="0"/>
                        </a:rPr>
                        <m:t>+</m:t>
                      </m:r>
                      <m:f>
                        <m:fPr>
                          <m:ctrlPr>
                            <a:rPr lang="en-US" sz="1425" i="1">
                              <a:solidFill>
                                <a:schemeClr val="tx1">
                                  <a:lumMod val="65000"/>
                                  <a:lumOff val="35000"/>
                                </a:schemeClr>
                              </a:solidFill>
                              <a:latin typeface="Cambria Math" panose="02040503050406030204" pitchFamily="18" charset="0"/>
                            </a:rPr>
                          </m:ctrlPr>
                        </m:fPr>
                        <m:num>
                          <m:r>
                            <a:rPr lang="en-US" sz="1425">
                              <a:solidFill>
                                <a:schemeClr val="tx1">
                                  <a:lumMod val="65000"/>
                                  <a:lumOff val="35000"/>
                                </a:schemeClr>
                              </a:solidFill>
                              <a:latin typeface="Cambria Math" panose="02040503050406030204" pitchFamily="18" charset="0"/>
                            </a:rPr>
                            <m:t>𝐷</m:t>
                          </m:r>
                          <m:r>
                            <a:rPr lang="en-US" sz="1425">
                              <a:solidFill>
                                <a:schemeClr val="tx1">
                                  <a:lumMod val="65000"/>
                                  <a:lumOff val="35000"/>
                                </a:schemeClr>
                              </a:solidFill>
                              <a:latin typeface="Cambria Math" panose="02040503050406030204" pitchFamily="18" charset="0"/>
                            </a:rPr>
                            <m:t>2</m:t>
                          </m:r>
                        </m:num>
                        <m:den>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(1+</m:t>
                              </m:r>
                              <m:r>
                                <a:rPr lang="en-US" sz="1425">
                                  <a:solidFill>
                                    <a:schemeClr val="tx1">
                                      <a:lumMod val="65000"/>
                                      <a:lumOff val="35000"/>
                                    </a:schemeClr>
                                  </a:solidFill>
                                  <a:latin typeface="Cambria Math" panose="02040503050406030204" pitchFamily="18" charset="0"/>
                                </a:rPr>
                                <m:t>𝑘</m:t>
                              </m:r>
                              <m:r>
                                <a:rPr lang="en-US" sz="1425">
                                  <a:solidFill>
                                    <a:schemeClr val="tx1">
                                      <a:lumMod val="65000"/>
                                      <a:lumOff val="35000"/>
                                    </a:schemeClr>
                                  </a:solidFill>
                                  <a:latin typeface="Cambria Math" panose="02040503050406030204" pitchFamily="18" charset="0"/>
                                </a:rPr>
                                <m:t>)</m:t>
                              </m:r>
                            </m:e>
                            <m:sup>
                              <m:r>
                                <a:rPr lang="en-US" sz="1425">
                                  <a:solidFill>
                                    <a:schemeClr val="tx1">
                                      <a:lumMod val="65000"/>
                                      <a:lumOff val="35000"/>
                                    </a:schemeClr>
                                  </a:solidFill>
                                  <a:latin typeface="Cambria Math" panose="02040503050406030204" pitchFamily="18" charset="0"/>
                                </a:rPr>
                                <m:t>2</m:t>
                              </m:r>
                            </m:sup>
                          </m:sSup>
                        </m:den>
                      </m:f>
                      <m:r>
                        <a:rPr lang="en-US" sz="1425">
                          <a:solidFill>
                            <a:schemeClr val="tx1">
                              <a:lumMod val="65000"/>
                              <a:lumOff val="35000"/>
                            </a:schemeClr>
                          </a:solidFill>
                          <a:latin typeface="Cambria Math" panose="02040503050406030204" pitchFamily="18" charset="0"/>
                        </a:rPr>
                        <m:t>+</m:t>
                      </m:r>
                      <m:f>
                        <m:fPr>
                          <m:ctrlPr>
                            <a:rPr lang="en-US" sz="1425" i="1">
                              <a:solidFill>
                                <a:schemeClr val="tx1">
                                  <a:lumMod val="65000"/>
                                  <a:lumOff val="35000"/>
                                </a:schemeClr>
                              </a:solidFill>
                              <a:latin typeface="Cambria Math" panose="02040503050406030204" pitchFamily="18" charset="0"/>
                            </a:rPr>
                          </m:ctrlPr>
                        </m:fPr>
                        <m:num>
                          <m:r>
                            <a:rPr lang="en-US" sz="1425">
                              <a:solidFill>
                                <a:schemeClr val="tx1">
                                  <a:lumMod val="65000"/>
                                  <a:lumOff val="35000"/>
                                </a:schemeClr>
                              </a:solidFill>
                              <a:latin typeface="Cambria Math" panose="02040503050406030204" pitchFamily="18" charset="0"/>
                            </a:rPr>
                            <m:t>𝐷</m:t>
                          </m:r>
                          <m:r>
                            <a:rPr lang="en-US" sz="1425">
                              <a:solidFill>
                                <a:schemeClr val="tx1">
                                  <a:lumMod val="65000"/>
                                  <a:lumOff val="35000"/>
                                </a:schemeClr>
                              </a:solidFill>
                              <a:latin typeface="Cambria Math" panose="02040503050406030204" pitchFamily="18" charset="0"/>
                            </a:rPr>
                            <m:t>3</m:t>
                          </m:r>
                        </m:num>
                        <m:den>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(1+</m:t>
                              </m:r>
                              <m:r>
                                <a:rPr lang="en-US" sz="1425">
                                  <a:solidFill>
                                    <a:schemeClr val="tx1">
                                      <a:lumMod val="65000"/>
                                      <a:lumOff val="35000"/>
                                    </a:schemeClr>
                                  </a:solidFill>
                                  <a:latin typeface="Cambria Math" panose="02040503050406030204" pitchFamily="18" charset="0"/>
                                </a:rPr>
                                <m:t>𝑘</m:t>
                              </m:r>
                              <m:r>
                                <a:rPr lang="en-US" sz="1425">
                                  <a:solidFill>
                                    <a:schemeClr val="tx1">
                                      <a:lumMod val="65000"/>
                                      <a:lumOff val="35000"/>
                                    </a:schemeClr>
                                  </a:solidFill>
                                  <a:latin typeface="Cambria Math" panose="02040503050406030204" pitchFamily="18" charset="0"/>
                                </a:rPr>
                                <m:t>)</m:t>
                              </m:r>
                            </m:e>
                            <m:sup>
                              <m:r>
                                <a:rPr lang="en-US" sz="1425">
                                  <a:solidFill>
                                    <a:schemeClr val="tx1">
                                      <a:lumMod val="65000"/>
                                      <a:lumOff val="35000"/>
                                    </a:schemeClr>
                                  </a:solidFill>
                                  <a:latin typeface="Cambria Math" panose="02040503050406030204" pitchFamily="18" charset="0"/>
                                </a:rPr>
                                <m:t>3</m:t>
                              </m:r>
                            </m:sup>
                          </m:sSup>
                        </m:den>
                      </m:f>
                      <m:r>
                        <a:rPr lang="en-US" sz="1425">
                          <a:solidFill>
                            <a:schemeClr val="tx1">
                              <a:lumMod val="65000"/>
                              <a:lumOff val="35000"/>
                            </a:schemeClr>
                          </a:solidFill>
                          <a:latin typeface="Cambria Math" panose="02040503050406030204" pitchFamily="18" charset="0"/>
                        </a:rPr>
                        <m:t>+</m:t>
                      </m:r>
                      <m:f>
                        <m:fPr>
                          <m:ctrlPr>
                            <a:rPr lang="en-US" sz="1425" i="1">
                              <a:solidFill>
                                <a:schemeClr val="tx1">
                                  <a:lumMod val="65000"/>
                                  <a:lumOff val="35000"/>
                                </a:schemeClr>
                              </a:solidFill>
                              <a:latin typeface="Cambria Math" panose="02040503050406030204" pitchFamily="18" charset="0"/>
                            </a:rPr>
                          </m:ctrlPr>
                        </m:fPr>
                        <m:num>
                          <m:r>
                            <a:rPr lang="en-US" sz="1425">
                              <a:solidFill>
                                <a:schemeClr val="tx1">
                                  <a:lumMod val="65000"/>
                                  <a:lumOff val="35000"/>
                                </a:schemeClr>
                              </a:solidFill>
                              <a:latin typeface="Cambria Math" panose="02040503050406030204" pitchFamily="18" charset="0"/>
                            </a:rPr>
                            <m:t>𝐷</m:t>
                          </m:r>
                          <m:r>
                            <a:rPr lang="en-US" sz="1425">
                              <a:solidFill>
                                <a:schemeClr val="tx1">
                                  <a:lumMod val="65000"/>
                                  <a:lumOff val="35000"/>
                                </a:schemeClr>
                              </a:solidFill>
                              <a:latin typeface="Cambria Math" panose="02040503050406030204" pitchFamily="18" charset="0"/>
                            </a:rPr>
                            <m:t>4</m:t>
                          </m:r>
                        </m:num>
                        <m:den>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(1+</m:t>
                              </m:r>
                              <m:r>
                                <a:rPr lang="en-US" sz="1425">
                                  <a:solidFill>
                                    <a:schemeClr val="tx1">
                                      <a:lumMod val="65000"/>
                                      <a:lumOff val="35000"/>
                                    </a:schemeClr>
                                  </a:solidFill>
                                  <a:latin typeface="Cambria Math" panose="02040503050406030204" pitchFamily="18" charset="0"/>
                                </a:rPr>
                                <m:t>𝑘</m:t>
                              </m:r>
                              <m:r>
                                <a:rPr lang="en-US" sz="1425">
                                  <a:solidFill>
                                    <a:schemeClr val="tx1">
                                      <a:lumMod val="65000"/>
                                      <a:lumOff val="35000"/>
                                    </a:schemeClr>
                                  </a:solidFill>
                                  <a:latin typeface="Cambria Math" panose="02040503050406030204" pitchFamily="18" charset="0"/>
                                </a:rPr>
                                <m:t>)</m:t>
                              </m:r>
                            </m:e>
                            <m:sup>
                              <m:r>
                                <a:rPr lang="en-US" sz="1425">
                                  <a:solidFill>
                                    <a:schemeClr val="tx1">
                                      <a:lumMod val="65000"/>
                                      <a:lumOff val="35000"/>
                                    </a:schemeClr>
                                  </a:solidFill>
                                  <a:latin typeface="Cambria Math" panose="02040503050406030204" pitchFamily="18" charset="0"/>
                                </a:rPr>
                                <m:t>4</m:t>
                              </m:r>
                            </m:sup>
                          </m:sSup>
                        </m:den>
                      </m:f>
                      <m:r>
                        <a:rPr lang="en-US" sz="1425">
                          <a:solidFill>
                            <a:schemeClr val="tx1">
                              <a:lumMod val="65000"/>
                              <a:lumOff val="35000"/>
                            </a:schemeClr>
                          </a:solidFill>
                          <a:latin typeface="Cambria Math" panose="02040503050406030204" pitchFamily="18" charset="0"/>
                        </a:rPr>
                        <m:t>   ………………+</m:t>
                      </m:r>
                      <m:f>
                        <m:fPr>
                          <m:ctrlPr>
                            <a:rPr lang="en-US" sz="1425" i="1">
                              <a:solidFill>
                                <a:schemeClr val="tx1">
                                  <a:lumMod val="65000"/>
                                  <a:lumOff val="35000"/>
                                </a:schemeClr>
                              </a:solidFill>
                              <a:latin typeface="Cambria Math" panose="02040503050406030204" pitchFamily="18" charset="0"/>
                            </a:rPr>
                          </m:ctrlPr>
                        </m:fPr>
                        <m:num>
                          <m:r>
                            <a:rPr lang="en-US" sz="1425">
                              <a:solidFill>
                                <a:schemeClr val="tx1">
                                  <a:lumMod val="65000"/>
                                  <a:lumOff val="35000"/>
                                </a:schemeClr>
                              </a:solidFill>
                              <a:latin typeface="Cambria Math" panose="02040503050406030204" pitchFamily="18" charset="0"/>
                            </a:rPr>
                            <m:t>𝐷𝑛</m:t>
                          </m:r>
                        </m:num>
                        <m:den>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(1+</m:t>
                              </m:r>
                              <m:r>
                                <a:rPr lang="en-US" sz="1425">
                                  <a:solidFill>
                                    <a:schemeClr val="tx1">
                                      <a:lumMod val="65000"/>
                                      <a:lumOff val="35000"/>
                                    </a:schemeClr>
                                  </a:solidFill>
                                  <a:latin typeface="Cambria Math" panose="02040503050406030204" pitchFamily="18" charset="0"/>
                                </a:rPr>
                                <m:t>𝑘</m:t>
                              </m:r>
                              <m:r>
                                <a:rPr lang="en-US" sz="1425">
                                  <a:solidFill>
                                    <a:schemeClr val="tx1">
                                      <a:lumMod val="65000"/>
                                      <a:lumOff val="35000"/>
                                    </a:schemeClr>
                                  </a:solidFill>
                                  <a:latin typeface="Cambria Math" panose="02040503050406030204" pitchFamily="18" charset="0"/>
                                </a:rPr>
                                <m:t>)</m:t>
                              </m:r>
                            </m:e>
                            <m:sup>
                              <m:r>
                                <a:rPr lang="en-US" sz="1425">
                                  <a:solidFill>
                                    <a:schemeClr val="tx1">
                                      <a:lumMod val="65000"/>
                                      <a:lumOff val="35000"/>
                                    </a:schemeClr>
                                  </a:solidFill>
                                  <a:latin typeface="Cambria Math" panose="02040503050406030204" pitchFamily="18" charset="0"/>
                                </a:rPr>
                                <m:t>𝑛</m:t>
                              </m:r>
                            </m:sup>
                          </m:sSup>
                        </m:den>
                      </m:f>
                    </m:oMath>
                  </m:oMathPara>
                </a14:m>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p:txBody>
          </p:sp>
        </mc:Choice>
        <mc:Fallback xmlns="">
          <p:sp>
            <p:nvSpPr>
              <p:cNvPr id="3" name="Content Placeholder 2">
                <a:extLst>
                  <a:ext uri="{FF2B5EF4-FFF2-40B4-BE49-F238E27FC236}">
                    <a16:creationId xmlns:a16="http://schemas.microsoft.com/office/drawing/2014/main" id="{0CAFA7FF-57A5-4A02-AAF0-B19E94A267F3}"/>
                  </a:ext>
                </a:extLst>
              </p:cNvPr>
              <p:cNvSpPr>
                <a:spLocks noGrp="1" noRot="1" noChangeAspect="1" noMove="1" noResize="1" noEditPoints="1" noAdjustHandles="1" noChangeArrowheads="1" noChangeShapeType="1" noTextEdit="1"/>
              </p:cNvSpPr>
              <p:nvPr>
                <p:ph idx="1"/>
              </p:nvPr>
            </p:nvSpPr>
            <p:spPr>
              <a:xfrm>
                <a:off x="628650" y="1098612"/>
                <a:ext cx="7886700" cy="3618500"/>
              </a:xfrm>
              <a:blipFill>
                <a:blip r:embed="rId2"/>
                <a:stretch>
                  <a:fillRect l="-155" t="-1010"/>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A6D17181-4818-4BCD-BAD1-A63D637EA8B7}"/>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470516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4115-2CCB-443D-87C9-0CB7CE513A39}"/>
              </a:ext>
            </a:extLst>
          </p:cNvPr>
          <p:cNvSpPr>
            <a:spLocks noGrp="1"/>
          </p:cNvSpPr>
          <p:nvPr>
            <p:ph type="title"/>
          </p:nvPr>
        </p:nvSpPr>
        <p:spPr/>
        <p:txBody>
          <a:bodyPr/>
          <a:lstStyle/>
          <a:p>
            <a:r>
              <a:rPr lang="en-US" b="1" dirty="0">
                <a:solidFill>
                  <a:schemeClr val="accent2"/>
                </a:solidFill>
              </a:rPr>
              <a:t>Constant Dividend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AFA7FF-57A5-4A02-AAF0-B19E94A267F3}"/>
                  </a:ext>
                </a:extLst>
              </p:cNvPr>
              <p:cNvSpPr>
                <a:spLocks noGrp="1"/>
              </p:cNvSpPr>
              <p:nvPr>
                <p:ph idx="1"/>
              </p:nvPr>
            </p:nvSpPr>
            <p:spPr>
              <a:xfrm>
                <a:off x="628650" y="1098612"/>
                <a:ext cx="7886700" cy="3618500"/>
              </a:xfrm>
            </p:spPr>
            <p:txBody>
              <a:bodyPr>
                <a:normAutofit/>
              </a:bodyPr>
              <a:lstStyle/>
              <a:p>
                <a:pPr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This is the simplest type of dividend pattern.</a:t>
                </a:r>
              </a:p>
              <a:p>
                <a:pPr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The dividend remains </a:t>
                </a:r>
                <a:r>
                  <a:rPr lang="en-US" sz="1425" b="1" dirty="0">
                    <a:solidFill>
                      <a:schemeClr val="accent2"/>
                    </a:solidFill>
                    <a:latin typeface="Calibri Light" panose="020F0302020204030204" pitchFamily="34" charset="0"/>
                    <a:cs typeface="Calibri Light" panose="020F0302020204030204" pitchFamily="34" charset="0"/>
                  </a:rPr>
                  <a:t>constant</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over years.</a:t>
                </a:r>
              </a:p>
              <a:p>
                <a:pPr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Symbolically,</a:t>
                </a:r>
              </a:p>
              <a:p>
                <a:pPr marL="0" indent="0" eaLnBrk="1" hangingPunct="1">
                  <a:lnSpc>
                    <a:spcPct val="90000"/>
                  </a:lnSpc>
                  <a:buNone/>
                </a:pPr>
                <a:r>
                  <a:rPr lang="en-US" sz="1425" b="1" dirty="0">
                    <a:solidFill>
                      <a:schemeClr val="accent2"/>
                    </a:solidFill>
                    <a:latin typeface="Calibri Light" panose="020F0302020204030204" pitchFamily="34" charset="0"/>
                    <a:cs typeface="Calibri Light" panose="020F0302020204030204" pitchFamily="34" charset="0"/>
                  </a:rPr>
                  <a:t>Dividend at year 1    =    Dividend at year 2    = Dividend at year 3    =  …………………= Dividend at year n</a:t>
                </a:r>
              </a:p>
              <a:p>
                <a:pPr marL="0" indent="0" eaLnBrk="1" hangingPunct="1">
                  <a:lnSpc>
                    <a:spcPct val="90000"/>
                  </a:lnSpc>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So the equation for the valuation is,</a:t>
                </a:r>
              </a:p>
              <a:p>
                <a:pPr marL="0" indent="0" eaLnBrk="1" hangingPunct="1">
                  <a:lnSpc>
                    <a:spcPct val="90000"/>
                  </a:lnSpc>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r>
                  <a:rPr lang="en-US" sz="1425" b="1" dirty="0">
                    <a:solidFill>
                      <a:schemeClr val="accent2"/>
                    </a:solidFill>
                    <a:cs typeface="Calibri Light" panose="020F0302020204030204" pitchFamily="34" charset="0"/>
                  </a:rPr>
                  <a:t>				</a:t>
                </a:r>
                <a:r>
                  <a:rPr lang="en-US" sz="1800" b="1" dirty="0">
                    <a:solidFill>
                      <a:schemeClr val="accent2"/>
                    </a:solidFill>
                    <a:cs typeface="Calibri Light" panose="020F0302020204030204" pitchFamily="34" charset="0"/>
                  </a:rPr>
                  <a:t>P0</a:t>
                </a:r>
                <a14:m>
                  <m:oMath xmlns:m="http://schemas.openxmlformats.org/officeDocument/2006/math">
                    <m:r>
                      <a:rPr lang="en-US" sz="1800" b="1">
                        <a:solidFill>
                          <a:schemeClr val="accent2"/>
                        </a:solidFill>
                        <a:latin typeface="Cambria Math" panose="02040503050406030204" pitchFamily="18" charset="0"/>
                        <a:cs typeface="Calibri Light" panose="020F0302020204030204" pitchFamily="34" charset="0"/>
                      </a:rPr>
                      <m:t>=</m:t>
                    </m:r>
                    <m:f>
                      <m:fPr>
                        <m:ctrlPr>
                          <a:rPr lang="en-US" sz="1800" b="1" i="1">
                            <a:solidFill>
                              <a:schemeClr val="accent2"/>
                            </a:solidFill>
                            <a:latin typeface="Cambria Math" panose="02040503050406030204" pitchFamily="18" charset="0"/>
                            <a:cs typeface="Calibri Light" panose="020F0302020204030204" pitchFamily="34" charset="0"/>
                          </a:rPr>
                        </m:ctrlPr>
                      </m:fPr>
                      <m:num>
                        <m:r>
                          <a:rPr lang="en-US" sz="1800" b="1">
                            <a:solidFill>
                              <a:schemeClr val="accent2"/>
                            </a:solidFill>
                            <a:latin typeface="Cambria Math" panose="02040503050406030204" pitchFamily="18" charset="0"/>
                            <a:cs typeface="Calibri Light" panose="020F0302020204030204" pitchFamily="34" charset="0"/>
                          </a:rPr>
                          <m:t>𝐷</m:t>
                        </m:r>
                      </m:num>
                      <m:den>
                        <m:r>
                          <a:rPr lang="en-US" sz="1800" b="1">
                            <a:solidFill>
                              <a:schemeClr val="accent2"/>
                            </a:solidFill>
                            <a:latin typeface="Cambria Math" panose="02040503050406030204" pitchFamily="18" charset="0"/>
                            <a:cs typeface="Calibri Light" panose="020F0302020204030204" pitchFamily="34" charset="0"/>
                          </a:rPr>
                          <m:t>𝑘</m:t>
                        </m:r>
                      </m:den>
                    </m:f>
                  </m:oMath>
                </a14:m>
                <a:endParaRPr lang="en-US" sz="1425" b="1" dirty="0">
                  <a:solidFill>
                    <a:schemeClr val="accent2"/>
                  </a:solidFill>
                  <a:latin typeface="Calibri Light" panose="020F0302020204030204" pitchFamily="34" charset="0"/>
                  <a:cs typeface="Calibri Light" panose="020F0302020204030204" pitchFamily="34" charset="0"/>
                </a:endParaRPr>
              </a:p>
              <a:p>
                <a:pPr marL="0" indent="0" eaLnBrk="1" hangingPunct="1">
                  <a:lnSpc>
                    <a:spcPct val="90000"/>
                  </a:lnSpc>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Where      P0  = Value of the equity share</a:t>
                </a: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D   = Annual Dividend</a:t>
                </a: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K   = Required rate of return</a:t>
                </a:r>
              </a:p>
            </p:txBody>
          </p:sp>
        </mc:Choice>
        <mc:Fallback xmlns="">
          <p:sp>
            <p:nvSpPr>
              <p:cNvPr id="3" name="Content Placeholder 2">
                <a:extLst>
                  <a:ext uri="{FF2B5EF4-FFF2-40B4-BE49-F238E27FC236}">
                    <a16:creationId xmlns:a16="http://schemas.microsoft.com/office/drawing/2014/main" id="{0CAFA7FF-57A5-4A02-AAF0-B19E94A267F3}"/>
                  </a:ext>
                </a:extLst>
              </p:cNvPr>
              <p:cNvSpPr>
                <a:spLocks noGrp="1" noRot="1" noChangeAspect="1" noMove="1" noResize="1" noEditPoints="1" noAdjustHandles="1" noChangeArrowheads="1" noChangeShapeType="1" noTextEdit="1"/>
              </p:cNvSpPr>
              <p:nvPr>
                <p:ph idx="1"/>
              </p:nvPr>
            </p:nvSpPr>
            <p:spPr>
              <a:xfrm>
                <a:off x="628650" y="1098612"/>
                <a:ext cx="7886700" cy="3618500"/>
              </a:xfrm>
              <a:blipFill>
                <a:blip r:embed="rId2"/>
                <a:stretch>
                  <a:fillRect l="-232" t="-1010"/>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E5C8C9E3-9743-413D-A505-E15921362302}"/>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1900719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4115-2CCB-443D-87C9-0CB7CE513A39}"/>
              </a:ext>
            </a:extLst>
          </p:cNvPr>
          <p:cNvSpPr>
            <a:spLocks noGrp="1"/>
          </p:cNvSpPr>
          <p:nvPr>
            <p:ph type="title"/>
          </p:nvPr>
        </p:nvSpPr>
        <p:spPr/>
        <p:txBody>
          <a:bodyPr/>
          <a:lstStyle/>
          <a:p>
            <a:r>
              <a:rPr lang="en-US" b="1" dirty="0">
                <a:solidFill>
                  <a:schemeClr val="accent6">
                    <a:lumMod val="75000"/>
                  </a:schemeClr>
                </a:solidFill>
              </a:rPr>
              <a:t>Constant Dividend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AFA7FF-57A5-4A02-AAF0-B19E94A267F3}"/>
                  </a:ext>
                </a:extLst>
              </p:cNvPr>
              <p:cNvSpPr>
                <a:spLocks noGrp="1"/>
              </p:cNvSpPr>
              <p:nvPr>
                <p:ph idx="1"/>
              </p:nvPr>
            </p:nvSpPr>
            <p:spPr>
              <a:xfrm>
                <a:off x="628650" y="1098612"/>
                <a:ext cx="7886700" cy="3618500"/>
              </a:xfrm>
            </p:spPr>
            <p:txBody>
              <a:bodyPr>
                <a:normAutofit/>
              </a:bodyPr>
              <a:lstStyle/>
              <a:p>
                <a:r>
                  <a:rPr lang="en-US" sz="1200" dirty="0"/>
                  <a:t>Numerical Example</a:t>
                </a:r>
              </a:p>
              <a:p>
                <a:pPr marL="0" indent="0">
                  <a:buNone/>
                </a:pPr>
                <a:r>
                  <a:rPr lang="en-US" sz="1200" dirty="0"/>
                  <a:t>	A firm pays a dividend of 20% on the equity shares of the face value of </a:t>
                </a:r>
                <a:r>
                  <a:rPr lang="en-US" sz="1200" dirty="0" err="1"/>
                  <a:t>Rs</a:t>
                </a:r>
                <a:r>
                  <a:rPr lang="en-US" sz="1200" dirty="0"/>
                  <a:t>. 100 each. Find out the value of the equity share given that the dividend is expected to remain same and the required rate of return of the investor is 15%.</a:t>
                </a:r>
              </a:p>
              <a:p>
                <a:pPr marL="0" indent="0">
                  <a:buNone/>
                </a:pPr>
                <a:endParaRPr lang="en-US" sz="1200" dirty="0"/>
              </a:p>
              <a:p>
                <a:pPr marL="0" indent="0">
                  <a:buNone/>
                </a:pPr>
                <a:r>
                  <a:rPr lang="en-US" sz="1200" dirty="0"/>
                  <a:t>Ans.</a:t>
                </a:r>
              </a:p>
              <a:p>
                <a:pPr marL="0" indent="0">
                  <a:buNone/>
                </a:pPr>
                <a:r>
                  <a:rPr lang="en-US" sz="1200" dirty="0"/>
                  <a:t>	K = 15% or .15</a:t>
                </a:r>
              </a:p>
              <a:p>
                <a:pPr marL="0" indent="0">
                  <a:buNone/>
                </a:pPr>
                <a:r>
                  <a:rPr lang="en-US" sz="1200" dirty="0"/>
                  <a:t>	D = 20% of 100    or    </a:t>
                </a:r>
                <a:r>
                  <a:rPr lang="en-US" sz="1200" dirty="0" err="1"/>
                  <a:t>Rs</a:t>
                </a:r>
                <a:r>
                  <a:rPr lang="en-US" sz="1200" dirty="0"/>
                  <a:t>. 20</a:t>
                </a:r>
              </a:p>
              <a:p>
                <a:pPr marL="0" indent="0">
                  <a:buNone/>
                </a:pPr>
                <a:endParaRPr lang="en-US" sz="1200" dirty="0"/>
              </a:p>
              <a:p>
                <a:pPr marL="0" indent="0">
                  <a:buNone/>
                </a:pPr>
                <a:r>
                  <a:rPr lang="en-US" sz="1200" dirty="0"/>
                  <a:t>	Applying the formula,</a:t>
                </a:r>
                <a14:m>
                  <m:oMath xmlns:m="http://schemas.openxmlformats.org/officeDocument/2006/math">
                    <m:r>
                      <a:rPr lang="en-US" sz="1200">
                        <a:latin typeface="Cambria Math"/>
                      </a:rPr>
                      <m:t>             </m:t>
                    </m:r>
                    <m:sSup>
                      <m:sSupPr>
                        <m:ctrlPr>
                          <a:rPr lang="en-US" sz="1200" i="1">
                            <a:latin typeface="Cambria Math" panose="02040503050406030204" pitchFamily="18" charset="0"/>
                          </a:rPr>
                        </m:ctrlPr>
                      </m:sSupPr>
                      <m:e>
                        <m:r>
                          <a:rPr lang="en-US" sz="1200" i="1">
                            <a:latin typeface="Cambria Math"/>
                          </a:rPr>
                          <m:t>𝑃</m:t>
                        </m:r>
                      </m:e>
                      <m:sup>
                        <m:r>
                          <a:rPr lang="en-US" sz="1200" i="1">
                            <a:latin typeface="Cambria Math"/>
                          </a:rPr>
                          <m:t>0</m:t>
                        </m:r>
                      </m:sup>
                    </m:sSup>
                    <m:r>
                      <a:rPr lang="en-US" sz="1200" i="1">
                        <a:latin typeface="Cambria Math"/>
                      </a:rPr>
                      <m:t>=</m:t>
                    </m:r>
                    <m:f>
                      <m:fPr>
                        <m:ctrlPr>
                          <a:rPr lang="en-US" sz="1200" i="1">
                            <a:latin typeface="Cambria Math" panose="02040503050406030204" pitchFamily="18" charset="0"/>
                          </a:rPr>
                        </m:ctrlPr>
                      </m:fPr>
                      <m:num>
                        <m:r>
                          <a:rPr lang="en-US" sz="1200" i="1">
                            <a:latin typeface="Cambria Math"/>
                          </a:rPr>
                          <m:t>𝐷</m:t>
                        </m:r>
                      </m:num>
                      <m:den>
                        <m:r>
                          <a:rPr lang="en-US" sz="1200" i="1">
                            <a:latin typeface="Cambria Math"/>
                          </a:rPr>
                          <m:t>𝑘</m:t>
                        </m:r>
                      </m:den>
                    </m:f>
                  </m:oMath>
                </a14:m>
                <a:endParaRPr lang="en-US" sz="1200" dirty="0"/>
              </a:p>
              <a:p>
                <a:pPr marL="0" indent="0">
                  <a:buNone/>
                </a:pPr>
                <a:endParaRPr lang="en-US" sz="1200" dirty="0"/>
              </a:p>
              <a:p>
                <a:pPr marL="0" indent="0">
                  <a:buNone/>
                </a:pPr>
                <a:r>
                  <a:rPr lang="en-US" sz="1200" dirty="0"/>
                  <a:t>	we will get                               </a:t>
                </a:r>
                <a14:m>
                  <m:oMath xmlns:m="http://schemas.openxmlformats.org/officeDocument/2006/math">
                    <m:sSup>
                      <m:sSupPr>
                        <m:ctrlPr>
                          <a:rPr lang="en-US" sz="1200" i="1">
                            <a:latin typeface="Cambria Math" panose="02040503050406030204" pitchFamily="18" charset="0"/>
                          </a:rPr>
                        </m:ctrlPr>
                      </m:sSupPr>
                      <m:e>
                        <m:r>
                          <a:rPr lang="en-US" sz="1200" i="1">
                            <a:latin typeface="Cambria Math"/>
                          </a:rPr>
                          <m:t>𝑃</m:t>
                        </m:r>
                      </m:e>
                      <m:sup>
                        <m:r>
                          <a:rPr lang="en-US" sz="1200" i="1">
                            <a:latin typeface="Cambria Math"/>
                          </a:rPr>
                          <m:t>0</m:t>
                        </m:r>
                      </m:sup>
                    </m:sSup>
                    <m:r>
                      <a:rPr lang="en-US" sz="1200" i="1">
                        <a:latin typeface="Cambria Math"/>
                      </a:rPr>
                      <m:t>=</m:t>
                    </m:r>
                    <m:f>
                      <m:fPr>
                        <m:ctrlPr>
                          <a:rPr lang="en-US" sz="1200" i="1">
                            <a:latin typeface="Cambria Math" panose="02040503050406030204" pitchFamily="18" charset="0"/>
                          </a:rPr>
                        </m:ctrlPr>
                      </m:fPr>
                      <m:num>
                        <m:r>
                          <a:rPr lang="en-US" sz="1200" i="1">
                            <a:latin typeface="Cambria Math"/>
                          </a:rPr>
                          <m:t>20</m:t>
                        </m:r>
                      </m:num>
                      <m:den>
                        <m:r>
                          <a:rPr lang="en-US" sz="1200" i="1">
                            <a:latin typeface="Cambria Math"/>
                          </a:rPr>
                          <m:t>.15</m:t>
                        </m:r>
                      </m:den>
                    </m:f>
                    <m:r>
                      <a:rPr lang="en-US" sz="1200" i="1">
                        <a:latin typeface="Cambria Math"/>
                      </a:rPr>
                      <m:t> </m:t>
                    </m:r>
                    <m:r>
                      <a:rPr lang="en-US" sz="1200">
                        <a:latin typeface="Cambria Math"/>
                      </a:rPr>
                      <m:t>  </m:t>
                    </m:r>
                  </m:oMath>
                </a14:m>
                <a:r>
                  <a:rPr lang="en-US" sz="1200" dirty="0"/>
                  <a:t>=   133.33</a:t>
                </a:r>
              </a:p>
              <a:p>
                <a:pPr marL="0" indent="0">
                  <a:buNone/>
                </a:pPr>
                <a:endParaRPr lang="en-US" sz="1200" dirty="0"/>
              </a:p>
              <a:p>
                <a:pPr marL="0" indent="0">
                  <a:buNone/>
                </a:pPr>
                <a:r>
                  <a:rPr lang="en-US" sz="1200" dirty="0"/>
                  <a:t>	so the value of the equity share is </a:t>
                </a:r>
                <a:r>
                  <a:rPr lang="en-US" sz="1200" dirty="0" err="1"/>
                  <a:t>Rs</a:t>
                </a:r>
                <a:r>
                  <a:rPr lang="en-US" sz="1200" dirty="0"/>
                  <a:t>. 133.33.</a:t>
                </a:r>
              </a:p>
            </p:txBody>
          </p:sp>
        </mc:Choice>
        <mc:Fallback xmlns="">
          <p:sp>
            <p:nvSpPr>
              <p:cNvPr id="3" name="Content Placeholder 2">
                <a:extLst>
                  <a:ext uri="{FF2B5EF4-FFF2-40B4-BE49-F238E27FC236}">
                    <a16:creationId xmlns:a16="http://schemas.microsoft.com/office/drawing/2014/main" id="{0CAFA7FF-57A5-4A02-AAF0-B19E94A267F3}"/>
                  </a:ext>
                </a:extLst>
              </p:cNvPr>
              <p:cNvSpPr>
                <a:spLocks noGrp="1" noRot="1" noChangeAspect="1" noMove="1" noResize="1" noEditPoints="1" noAdjustHandles="1" noChangeArrowheads="1" noChangeShapeType="1" noTextEdit="1"/>
              </p:cNvSpPr>
              <p:nvPr>
                <p:ph idx="1"/>
              </p:nvPr>
            </p:nvSpPr>
            <p:spPr>
              <a:xfrm>
                <a:off x="628650" y="1098612"/>
                <a:ext cx="7886700" cy="3618500"/>
              </a:xfrm>
              <a:blipFill>
                <a:blip r:embed="rId2"/>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BAF1C3E8-39B0-4150-88CB-C781773E8D8A}"/>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1106362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4115-2CCB-443D-87C9-0CB7CE513A39}"/>
              </a:ext>
            </a:extLst>
          </p:cNvPr>
          <p:cNvSpPr>
            <a:spLocks noGrp="1"/>
          </p:cNvSpPr>
          <p:nvPr>
            <p:ph type="title"/>
          </p:nvPr>
        </p:nvSpPr>
        <p:spPr>
          <a:xfrm>
            <a:off x="457200" y="388699"/>
            <a:ext cx="7315200" cy="857250"/>
          </a:xfrm>
        </p:spPr>
        <p:txBody>
          <a:bodyPr/>
          <a:lstStyle/>
          <a:p>
            <a:r>
              <a:rPr lang="en-US" sz="3600" b="1" dirty="0">
                <a:solidFill>
                  <a:schemeClr val="accent1">
                    <a:lumMod val="75000"/>
                  </a:schemeClr>
                </a:solidFill>
              </a:rPr>
              <a:t>Constant Growth in Dividend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AFA7FF-57A5-4A02-AAF0-B19E94A267F3}"/>
                  </a:ext>
                </a:extLst>
              </p:cNvPr>
              <p:cNvSpPr>
                <a:spLocks noGrp="1"/>
              </p:cNvSpPr>
              <p:nvPr>
                <p:ph idx="1"/>
              </p:nvPr>
            </p:nvSpPr>
            <p:spPr>
              <a:xfrm>
                <a:off x="628650" y="1657350"/>
                <a:ext cx="7886700" cy="3059762"/>
              </a:xfrm>
            </p:spPr>
            <p:txBody>
              <a:bodyPr>
                <a:normAutofit/>
              </a:bodyPr>
              <a:lstStyle/>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Assumptions under this model are</a:t>
                </a:r>
              </a:p>
              <a:p>
                <a:pPr marL="257175" indent="-257175" eaLnBrk="1" hangingPunct="1">
                  <a:lnSpc>
                    <a:spcPct val="90000"/>
                  </a:lnSpc>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The growth rate, </a:t>
                </a:r>
                <a:r>
                  <a:rPr lang="en-US" sz="1425" b="1" dirty="0">
                    <a:solidFill>
                      <a:schemeClr val="accent1">
                        <a:lumMod val="75000"/>
                      </a:schemeClr>
                    </a:solidFill>
                    <a:latin typeface="Calibri Light" panose="020F0302020204030204" pitchFamily="34" charset="0"/>
                    <a:cs typeface="Calibri Light" panose="020F0302020204030204" pitchFamily="34" charset="0"/>
                  </a:rPr>
                  <a:t>g </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is constant over years and compounding annually.</a:t>
                </a:r>
              </a:p>
              <a:p>
                <a:pPr marL="257175" indent="-257175" eaLnBrk="1" hangingPunct="1">
                  <a:lnSpc>
                    <a:spcPct val="90000"/>
                  </a:lnSpc>
                  <a:buFont typeface="+mj-lt"/>
                  <a:buAutoNum type="arabicPeriod"/>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The growth rate</a:t>
                </a:r>
                <a:r>
                  <a:rPr lang="en-US" sz="1425" b="1" dirty="0">
                    <a:solidFill>
                      <a:schemeClr val="accent1">
                        <a:lumMod val="75000"/>
                      </a:schemeClr>
                    </a:solidFill>
                    <a:latin typeface="Calibri Light" panose="020F0302020204030204" pitchFamily="34" charset="0"/>
                    <a:cs typeface="Calibri Light" panose="020F0302020204030204" pitchFamily="34" charset="0"/>
                  </a:rPr>
                  <a:t>, g , </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is less than the required rate of return.</a:t>
                </a:r>
              </a:p>
              <a:p>
                <a:pPr marL="0" indent="0" eaLnBrk="1" hangingPunct="1">
                  <a:lnSpc>
                    <a:spcPct val="90000"/>
                  </a:lnSpc>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So if a firm pays a dividend D now, then </a:t>
                </a: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at the end of 1st year, the dividend will be 	</a:t>
                </a:r>
                <a:r>
                  <a:rPr lang="en-US" sz="1425" b="1" dirty="0">
                    <a:solidFill>
                      <a:schemeClr val="accent1">
                        <a:lumMod val="75000"/>
                      </a:schemeClr>
                    </a:solidFill>
                    <a:latin typeface="Calibri Light" panose="020F0302020204030204" pitchFamily="34" charset="0"/>
                    <a:cs typeface="Calibri Light" panose="020F0302020204030204" pitchFamily="34" charset="0"/>
                  </a:rPr>
                  <a:t>D1 = D  (1+g)</a:t>
                </a: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at the end of 2nd year, the dividend will be	</a:t>
                </a:r>
                <a:r>
                  <a:rPr lang="en-US" sz="1425" b="1" dirty="0">
                    <a:solidFill>
                      <a:schemeClr val="accent1">
                        <a:lumMod val="75000"/>
                      </a:schemeClr>
                    </a:solidFill>
                    <a:latin typeface="Calibri Light" panose="020F0302020204030204" pitchFamily="34" charset="0"/>
                    <a:cs typeface="Calibri Light" panose="020F0302020204030204" pitchFamily="34" charset="0"/>
                  </a:rPr>
                  <a:t>D2 = D1 (1+g)    or      D2 </a:t>
                </a:r>
                <a14:m>
                  <m:oMath xmlns:m="http://schemas.openxmlformats.org/officeDocument/2006/math">
                    <m:r>
                      <a:rPr lang="en-US" sz="1425" b="1">
                        <a:solidFill>
                          <a:schemeClr val="accent1">
                            <a:lumMod val="75000"/>
                          </a:schemeClr>
                        </a:solidFill>
                        <a:latin typeface="Cambria Math" panose="02040503050406030204" pitchFamily="18" charset="0"/>
                        <a:cs typeface="Calibri Light" panose="020F0302020204030204" pitchFamily="34" charset="0"/>
                      </a:rPr>
                      <m:t>=</m:t>
                    </m:r>
                    <m:sSup>
                      <m:sSupPr>
                        <m:ctrlPr>
                          <a:rPr lang="en-US" sz="1425" b="1" i="1">
                            <a:solidFill>
                              <a:schemeClr val="accent1">
                                <a:lumMod val="75000"/>
                              </a:schemeClr>
                            </a:solidFill>
                            <a:latin typeface="Cambria Math" panose="02040503050406030204" pitchFamily="18" charset="0"/>
                            <a:cs typeface="Calibri Light" panose="020F0302020204030204" pitchFamily="34" charset="0"/>
                          </a:rPr>
                        </m:ctrlPr>
                      </m:sSupPr>
                      <m:e>
                        <m:r>
                          <a:rPr lang="en-US" sz="1425" b="1">
                            <a:solidFill>
                              <a:schemeClr val="accent1">
                                <a:lumMod val="75000"/>
                              </a:schemeClr>
                            </a:solidFill>
                            <a:latin typeface="Cambria Math" panose="02040503050406030204" pitchFamily="18" charset="0"/>
                            <a:cs typeface="Calibri Light" panose="020F0302020204030204" pitchFamily="34" charset="0"/>
                          </a:rPr>
                          <m:t>𝐷</m:t>
                        </m:r>
                        <m:r>
                          <a:rPr lang="en-US" sz="1425" b="1">
                            <a:solidFill>
                              <a:schemeClr val="accent1">
                                <a:lumMod val="75000"/>
                              </a:schemeClr>
                            </a:solidFill>
                            <a:latin typeface="Cambria Math" panose="02040503050406030204" pitchFamily="18" charset="0"/>
                            <a:cs typeface="Calibri Light" panose="020F0302020204030204" pitchFamily="34" charset="0"/>
                          </a:rPr>
                          <m:t>(1+</m:t>
                        </m:r>
                        <m:r>
                          <a:rPr lang="en-US" sz="1425" b="1">
                            <a:solidFill>
                              <a:schemeClr val="accent1">
                                <a:lumMod val="75000"/>
                              </a:schemeClr>
                            </a:solidFill>
                            <a:latin typeface="Cambria Math" panose="02040503050406030204" pitchFamily="18" charset="0"/>
                            <a:cs typeface="Calibri Light" panose="020F0302020204030204" pitchFamily="34" charset="0"/>
                          </a:rPr>
                          <m:t>𝑔</m:t>
                        </m:r>
                        <m:r>
                          <a:rPr lang="en-US" sz="1425" b="1">
                            <a:solidFill>
                              <a:schemeClr val="accent1">
                                <a:lumMod val="75000"/>
                              </a:schemeClr>
                            </a:solidFill>
                            <a:latin typeface="Cambria Math" panose="02040503050406030204" pitchFamily="18" charset="0"/>
                            <a:cs typeface="Calibri Light" panose="020F0302020204030204" pitchFamily="34" charset="0"/>
                          </a:rPr>
                          <m:t>)</m:t>
                        </m:r>
                      </m:e>
                      <m:sup>
                        <m:r>
                          <a:rPr lang="en-US" sz="1425" b="1">
                            <a:solidFill>
                              <a:schemeClr val="accent1">
                                <a:lumMod val="75000"/>
                              </a:schemeClr>
                            </a:solidFill>
                            <a:latin typeface="Cambria Math" panose="02040503050406030204" pitchFamily="18" charset="0"/>
                            <a:cs typeface="Calibri Light" panose="020F0302020204030204" pitchFamily="34" charset="0"/>
                          </a:rPr>
                          <m:t>2</m:t>
                        </m:r>
                      </m:sup>
                    </m:sSup>
                  </m:oMath>
                </a14:m>
                <a:endParaRPr lang="en-US" sz="1425" b="1" dirty="0">
                  <a:solidFill>
                    <a:schemeClr val="accent1">
                      <a:lumMod val="7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at the end of 3rd year, the dividend will be	</a:t>
                </a:r>
                <a:r>
                  <a:rPr lang="en-US" sz="1425" b="1" dirty="0">
                    <a:solidFill>
                      <a:schemeClr val="accent1">
                        <a:lumMod val="75000"/>
                      </a:schemeClr>
                    </a:solidFill>
                    <a:latin typeface="Calibri Light" panose="020F0302020204030204" pitchFamily="34" charset="0"/>
                    <a:cs typeface="Calibri Light" panose="020F0302020204030204" pitchFamily="34" charset="0"/>
                  </a:rPr>
                  <a:t>D3 = D2 (1+g)    or     D3 </a:t>
                </a:r>
                <a14:m>
                  <m:oMath xmlns:m="http://schemas.openxmlformats.org/officeDocument/2006/math">
                    <m:r>
                      <a:rPr lang="en-US" sz="1425" b="1">
                        <a:solidFill>
                          <a:schemeClr val="accent1">
                            <a:lumMod val="75000"/>
                          </a:schemeClr>
                        </a:solidFill>
                        <a:latin typeface="Cambria Math" panose="02040503050406030204" pitchFamily="18" charset="0"/>
                        <a:cs typeface="Calibri Light" panose="020F0302020204030204" pitchFamily="34" charset="0"/>
                      </a:rPr>
                      <m:t>=</m:t>
                    </m:r>
                    <m:sSup>
                      <m:sSupPr>
                        <m:ctrlPr>
                          <a:rPr lang="en-US" sz="1425" b="1" i="1">
                            <a:solidFill>
                              <a:schemeClr val="accent1">
                                <a:lumMod val="75000"/>
                              </a:schemeClr>
                            </a:solidFill>
                            <a:latin typeface="Cambria Math" panose="02040503050406030204" pitchFamily="18" charset="0"/>
                            <a:cs typeface="Calibri Light" panose="020F0302020204030204" pitchFamily="34" charset="0"/>
                          </a:rPr>
                        </m:ctrlPr>
                      </m:sSupPr>
                      <m:e>
                        <m:r>
                          <a:rPr lang="en-US" sz="1425" b="1">
                            <a:solidFill>
                              <a:schemeClr val="accent1">
                                <a:lumMod val="75000"/>
                              </a:schemeClr>
                            </a:solidFill>
                            <a:latin typeface="Cambria Math" panose="02040503050406030204" pitchFamily="18" charset="0"/>
                            <a:cs typeface="Calibri Light" panose="020F0302020204030204" pitchFamily="34" charset="0"/>
                          </a:rPr>
                          <m:t>𝐷</m:t>
                        </m:r>
                        <m:r>
                          <a:rPr lang="en-US" sz="1425" b="1">
                            <a:solidFill>
                              <a:schemeClr val="accent1">
                                <a:lumMod val="75000"/>
                              </a:schemeClr>
                            </a:solidFill>
                            <a:latin typeface="Cambria Math" panose="02040503050406030204" pitchFamily="18" charset="0"/>
                            <a:cs typeface="Calibri Light" panose="020F0302020204030204" pitchFamily="34" charset="0"/>
                          </a:rPr>
                          <m:t>1+</m:t>
                        </m:r>
                        <m:r>
                          <a:rPr lang="en-US" sz="1425" b="1">
                            <a:solidFill>
                              <a:schemeClr val="accent1">
                                <a:lumMod val="75000"/>
                              </a:schemeClr>
                            </a:solidFill>
                            <a:latin typeface="Cambria Math" panose="02040503050406030204" pitchFamily="18" charset="0"/>
                            <a:cs typeface="Calibri Light" panose="020F0302020204030204" pitchFamily="34" charset="0"/>
                          </a:rPr>
                          <m:t>𝑔</m:t>
                        </m:r>
                        <m:r>
                          <a:rPr lang="en-US" sz="1425" b="1">
                            <a:solidFill>
                              <a:schemeClr val="accent1">
                                <a:lumMod val="75000"/>
                              </a:schemeClr>
                            </a:solidFill>
                            <a:latin typeface="Cambria Math" panose="02040503050406030204" pitchFamily="18" charset="0"/>
                            <a:cs typeface="Calibri Light" panose="020F0302020204030204" pitchFamily="34" charset="0"/>
                          </a:rPr>
                          <m:t>)</m:t>
                        </m:r>
                      </m:e>
                      <m:sup>
                        <m:r>
                          <a:rPr lang="en-US" sz="1425" b="1">
                            <a:solidFill>
                              <a:schemeClr val="accent1">
                                <a:lumMod val="75000"/>
                              </a:schemeClr>
                            </a:solidFill>
                            <a:latin typeface="Cambria Math" panose="02040503050406030204" pitchFamily="18" charset="0"/>
                            <a:cs typeface="Calibri Light" panose="020F0302020204030204" pitchFamily="34" charset="0"/>
                          </a:rPr>
                          <m:t>3</m:t>
                        </m:r>
                      </m:sup>
                    </m:sSup>
                  </m:oMath>
                </a14:m>
                <a:endParaRPr lang="en-US" sz="1425" b="1" dirty="0">
                  <a:solidFill>
                    <a:schemeClr val="accent1">
                      <a:lumMod val="7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endParaRPr lang="en-US" sz="1425" b="1" dirty="0">
                  <a:solidFill>
                    <a:schemeClr val="accent1">
                      <a:lumMod val="75000"/>
                    </a:schemeClr>
                  </a:solidFill>
                  <a:latin typeface="Calibri Light" panose="020F0302020204030204" pitchFamily="34" charset="0"/>
                  <a:cs typeface="Calibri Light" panose="020F0302020204030204" pitchFamily="34" charset="0"/>
                </a:endParaRPr>
              </a:p>
              <a:p>
                <a:pPr marL="0" indent="0">
                  <a:buNone/>
                </a:pPr>
                <a:endParaRPr lang="en-US" sz="1200" dirty="0"/>
              </a:p>
              <a:p>
                <a:pPr marL="0" indent="0">
                  <a:buNone/>
                </a:pPr>
                <a:endParaRPr lang="en-US" sz="1200" dirty="0"/>
              </a:p>
            </p:txBody>
          </p:sp>
        </mc:Choice>
        <mc:Fallback xmlns="">
          <p:sp>
            <p:nvSpPr>
              <p:cNvPr id="3" name="Content Placeholder 2">
                <a:extLst>
                  <a:ext uri="{FF2B5EF4-FFF2-40B4-BE49-F238E27FC236}">
                    <a16:creationId xmlns:a16="http://schemas.microsoft.com/office/drawing/2014/main" id="{0CAFA7FF-57A5-4A02-AAF0-B19E94A267F3}"/>
                  </a:ext>
                </a:extLst>
              </p:cNvPr>
              <p:cNvSpPr>
                <a:spLocks noGrp="1" noRot="1" noChangeAspect="1" noMove="1" noResize="1" noEditPoints="1" noAdjustHandles="1" noChangeArrowheads="1" noChangeShapeType="1" noTextEdit="1"/>
              </p:cNvSpPr>
              <p:nvPr>
                <p:ph idx="1"/>
              </p:nvPr>
            </p:nvSpPr>
            <p:spPr>
              <a:xfrm>
                <a:off x="628650" y="1657350"/>
                <a:ext cx="7886700" cy="3059762"/>
              </a:xfrm>
              <a:blipFill>
                <a:blip r:embed="rId2"/>
                <a:stretch>
                  <a:fillRect l="-309" t="-1195"/>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4814D7A5-7BD9-4D94-90B1-4FEB4E1F7F79}"/>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
        <p:nvSpPr>
          <p:cNvPr id="5" name="Rectangle 4">
            <a:extLst>
              <a:ext uri="{FF2B5EF4-FFF2-40B4-BE49-F238E27FC236}">
                <a16:creationId xmlns:a16="http://schemas.microsoft.com/office/drawing/2014/main" id="{FD38C657-5D53-4DB1-9443-DCB788E9F7F8}"/>
              </a:ext>
            </a:extLst>
          </p:cNvPr>
          <p:cNvSpPr/>
          <p:nvPr/>
        </p:nvSpPr>
        <p:spPr>
          <a:xfrm>
            <a:off x="7772400" y="2553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2520814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4115-2CCB-443D-87C9-0CB7CE513A39}"/>
              </a:ext>
            </a:extLst>
          </p:cNvPr>
          <p:cNvSpPr>
            <a:spLocks noGrp="1"/>
          </p:cNvSpPr>
          <p:nvPr>
            <p:ph type="title"/>
          </p:nvPr>
        </p:nvSpPr>
        <p:spPr>
          <a:xfrm>
            <a:off x="457200" y="361950"/>
            <a:ext cx="7391400" cy="857250"/>
          </a:xfrm>
        </p:spPr>
        <p:txBody>
          <a:bodyPr/>
          <a:lstStyle/>
          <a:p>
            <a:r>
              <a:rPr lang="en-US" sz="3600" b="1" dirty="0"/>
              <a:t>Constant Growth in Dividend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AFA7FF-57A5-4A02-AAF0-B19E94A267F3}"/>
                  </a:ext>
                </a:extLst>
              </p:cNvPr>
              <p:cNvSpPr>
                <a:spLocks noGrp="1"/>
              </p:cNvSpPr>
              <p:nvPr>
                <p:ph idx="1"/>
              </p:nvPr>
            </p:nvSpPr>
            <p:spPr>
              <a:xfrm>
                <a:off x="628650" y="1504950"/>
                <a:ext cx="7886700" cy="3352800"/>
              </a:xfrm>
            </p:spPr>
            <p:txBody>
              <a:bodyPr>
                <a:normAutofit/>
              </a:bodyPr>
              <a:lstStyle/>
              <a:p>
                <a:pPr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Symbolically,</a:t>
                </a:r>
              </a:p>
              <a:p>
                <a:pPr marL="0" indent="0" eaLnBrk="1" hangingPunct="1">
                  <a:lnSpc>
                    <a:spcPct val="90000"/>
                  </a:lnSpc>
                  <a:buNone/>
                </a:pPr>
                <a14:m>
                  <m:oMathPara xmlns:m="http://schemas.openxmlformats.org/officeDocument/2006/math">
                    <m:oMathParaPr>
                      <m:jc m:val="centerGroup"/>
                    </m:oMathParaPr>
                    <m:oMath xmlns:m="http://schemas.openxmlformats.org/officeDocument/2006/math">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𝑃</m:t>
                          </m:r>
                        </m:e>
                        <m:sup>
                          <m:r>
                            <a:rPr lang="en-US" sz="1425">
                              <a:solidFill>
                                <a:schemeClr val="tx1">
                                  <a:lumMod val="65000"/>
                                  <a:lumOff val="35000"/>
                                </a:schemeClr>
                              </a:solidFill>
                              <a:latin typeface="Cambria Math" panose="02040503050406030204" pitchFamily="18" charset="0"/>
                            </a:rPr>
                            <m:t>0</m:t>
                          </m:r>
                        </m:sup>
                      </m:sSup>
                      <m:r>
                        <a:rPr lang="en-US" sz="1425">
                          <a:solidFill>
                            <a:schemeClr val="tx1">
                              <a:lumMod val="65000"/>
                              <a:lumOff val="35000"/>
                            </a:schemeClr>
                          </a:solidFill>
                          <a:latin typeface="Cambria Math" panose="02040503050406030204" pitchFamily="18" charset="0"/>
                        </a:rPr>
                        <m:t>=</m:t>
                      </m:r>
                      <m:f>
                        <m:fPr>
                          <m:ctrlPr>
                            <a:rPr lang="en-US" sz="1425" i="1">
                              <a:solidFill>
                                <a:schemeClr val="tx1">
                                  <a:lumMod val="65000"/>
                                  <a:lumOff val="35000"/>
                                </a:schemeClr>
                              </a:solidFill>
                              <a:latin typeface="Cambria Math" panose="02040503050406030204" pitchFamily="18" charset="0"/>
                            </a:rPr>
                          </m:ctrlPr>
                        </m:fPr>
                        <m:num>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𝐷</m:t>
                              </m:r>
                              <m:r>
                                <a:rPr lang="en-US" sz="1425">
                                  <a:solidFill>
                                    <a:schemeClr val="tx1">
                                      <a:lumMod val="65000"/>
                                      <a:lumOff val="35000"/>
                                    </a:schemeClr>
                                  </a:solidFill>
                                  <a:latin typeface="Cambria Math" panose="02040503050406030204" pitchFamily="18" charset="0"/>
                                </a:rPr>
                                <m:t>0</m:t>
                              </m:r>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1</m:t>
                              </m:r>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𝑔</m:t>
                              </m:r>
                              <m:r>
                                <a:rPr lang="en-US" sz="1425">
                                  <a:solidFill>
                                    <a:schemeClr val="tx1">
                                      <a:lumMod val="65000"/>
                                      <a:lumOff val="35000"/>
                                    </a:schemeClr>
                                  </a:solidFill>
                                  <a:latin typeface="Cambria Math" panose="02040503050406030204" pitchFamily="18" charset="0"/>
                                </a:rPr>
                                <m:t>)</m:t>
                              </m:r>
                            </m:e>
                            <m:sup>
                              <m:r>
                                <a:rPr lang="en-US" sz="1425">
                                  <a:solidFill>
                                    <a:schemeClr val="tx1">
                                      <a:lumMod val="65000"/>
                                      <a:lumOff val="35000"/>
                                    </a:schemeClr>
                                  </a:solidFill>
                                  <a:latin typeface="Cambria Math" panose="02040503050406030204" pitchFamily="18" charset="0"/>
                                </a:rPr>
                                <m:t>1</m:t>
                              </m:r>
                            </m:sup>
                          </m:sSup>
                        </m:num>
                        <m:den>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1</m:t>
                              </m:r>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𝑘</m:t>
                              </m:r>
                              <m:r>
                                <a:rPr lang="en-US" sz="1425">
                                  <a:solidFill>
                                    <a:schemeClr val="tx1">
                                      <a:lumMod val="65000"/>
                                      <a:lumOff val="35000"/>
                                    </a:schemeClr>
                                  </a:solidFill>
                                  <a:latin typeface="Cambria Math" panose="02040503050406030204" pitchFamily="18" charset="0"/>
                                </a:rPr>
                                <m:t>)</m:t>
                              </m:r>
                            </m:e>
                            <m:sup>
                              <m:r>
                                <a:rPr lang="en-US" sz="1425">
                                  <a:solidFill>
                                    <a:schemeClr val="tx1">
                                      <a:lumMod val="65000"/>
                                      <a:lumOff val="35000"/>
                                    </a:schemeClr>
                                  </a:solidFill>
                                  <a:latin typeface="Cambria Math" panose="02040503050406030204" pitchFamily="18" charset="0"/>
                                </a:rPr>
                                <m:t>1</m:t>
                              </m:r>
                            </m:sup>
                          </m:sSup>
                        </m:den>
                      </m:f>
                      <m:r>
                        <a:rPr lang="en-US" sz="1425">
                          <a:solidFill>
                            <a:schemeClr val="tx1">
                              <a:lumMod val="65000"/>
                              <a:lumOff val="35000"/>
                            </a:schemeClr>
                          </a:solidFill>
                          <a:latin typeface="Cambria Math" panose="02040503050406030204" pitchFamily="18" charset="0"/>
                        </a:rPr>
                        <m:t>+</m:t>
                      </m:r>
                      <m:f>
                        <m:fPr>
                          <m:ctrlPr>
                            <a:rPr lang="en-US" sz="1425" i="1">
                              <a:solidFill>
                                <a:schemeClr val="tx1">
                                  <a:lumMod val="65000"/>
                                  <a:lumOff val="35000"/>
                                </a:schemeClr>
                              </a:solidFill>
                              <a:latin typeface="Cambria Math" panose="02040503050406030204" pitchFamily="18" charset="0"/>
                            </a:rPr>
                          </m:ctrlPr>
                        </m:fPr>
                        <m:num>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𝐷</m:t>
                              </m:r>
                              <m:r>
                                <a:rPr lang="en-US" sz="1425">
                                  <a:solidFill>
                                    <a:schemeClr val="tx1">
                                      <a:lumMod val="65000"/>
                                      <a:lumOff val="35000"/>
                                    </a:schemeClr>
                                  </a:solidFill>
                                  <a:latin typeface="Cambria Math" panose="02040503050406030204" pitchFamily="18" charset="0"/>
                                </a:rPr>
                                <m:t>0</m:t>
                              </m:r>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1</m:t>
                              </m:r>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𝑔</m:t>
                              </m:r>
                              <m:r>
                                <a:rPr lang="en-US" sz="1425">
                                  <a:solidFill>
                                    <a:schemeClr val="tx1">
                                      <a:lumMod val="65000"/>
                                      <a:lumOff val="35000"/>
                                    </a:schemeClr>
                                  </a:solidFill>
                                  <a:latin typeface="Cambria Math" panose="02040503050406030204" pitchFamily="18" charset="0"/>
                                </a:rPr>
                                <m:t>)</m:t>
                              </m:r>
                            </m:e>
                            <m:sup>
                              <m:r>
                                <a:rPr lang="en-US" sz="1425">
                                  <a:solidFill>
                                    <a:schemeClr val="tx1">
                                      <a:lumMod val="65000"/>
                                      <a:lumOff val="35000"/>
                                    </a:schemeClr>
                                  </a:solidFill>
                                  <a:latin typeface="Cambria Math" panose="02040503050406030204" pitchFamily="18" charset="0"/>
                                </a:rPr>
                                <m:t>2</m:t>
                              </m:r>
                            </m:sup>
                          </m:sSup>
                        </m:num>
                        <m:den>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1</m:t>
                              </m:r>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𝑘</m:t>
                              </m:r>
                              <m:r>
                                <a:rPr lang="en-US" sz="1425">
                                  <a:solidFill>
                                    <a:schemeClr val="tx1">
                                      <a:lumMod val="65000"/>
                                      <a:lumOff val="35000"/>
                                    </a:schemeClr>
                                  </a:solidFill>
                                  <a:latin typeface="Cambria Math" panose="02040503050406030204" pitchFamily="18" charset="0"/>
                                </a:rPr>
                                <m:t>)</m:t>
                              </m:r>
                            </m:e>
                            <m:sup>
                              <m:r>
                                <a:rPr lang="en-US" sz="1425">
                                  <a:solidFill>
                                    <a:schemeClr val="tx1">
                                      <a:lumMod val="65000"/>
                                      <a:lumOff val="35000"/>
                                    </a:schemeClr>
                                  </a:solidFill>
                                  <a:latin typeface="Cambria Math" panose="02040503050406030204" pitchFamily="18" charset="0"/>
                                </a:rPr>
                                <m:t>2</m:t>
                              </m:r>
                            </m:sup>
                          </m:sSup>
                        </m:den>
                      </m:f>
                      <m:r>
                        <a:rPr lang="en-US" sz="1425">
                          <a:solidFill>
                            <a:schemeClr val="tx1">
                              <a:lumMod val="65000"/>
                              <a:lumOff val="35000"/>
                            </a:schemeClr>
                          </a:solidFill>
                          <a:latin typeface="Cambria Math" panose="02040503050406030204" pitchFamily="18" charset="0"/>
                        </a:rPr>
                        <m:t>+</m:t>
                      </m:r>
                      <m:f>
                        <m:fPr>
                          <m:ctrlPr>
                            <a:rPr lang="en-US" sz="1425" i="1">
                              <a:solidFill>
                                <a:schemeClr val="tx1">
                                  <a:lumMod val="65000"/>
                                  <a:lumOff val="35000"/>
                                </a:schemeClr>
                              </a:solidFill>
                              <a:latin typeface="Cambria Math" panose="02040503050406030204" pitchFamily="18" charset="0"/>
                            </a:rPr>
                          </m:ctrlPr>
                        </m:fPr>
                        <m:num>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𝐷</m:t>
                              </m:r>
                              <m:r>
                                <a:rPr lang="en-US" sz="1425">
                                  <a:solidFill>
                                    <a:schemeClr val="tx1">
                                      <a:lumMod val="65000"/>
                                      <a:lumOff val="35000"/>
                                    </a:schemeClr>
                                  </a:solidFill>
                                  <a:latin typeface="Cambria Math" panose="02040503050406030204" pitchFamily="18" charset="0"/>
                                </a:rPr>
                                <m:t>0</m:t>
                              </m:r>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1</m:t>
                              </m:r>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𝑔</m:t>
                              </m:r>
                              <m:r>
                                <a:rPr lang="en-US" sz="1425">
                                  <a:solidFill>
                                    <a:schemeClr val="tx1">
                                      <a:lumMod val="65000"/>
                                      <a:lumOff val="35000"/>
                                    </a:schemeClr>
                                  </a:solidFill>
                                  <a:latin typeface="Cambria Math" panose="02040503050406030204" pitchFamily="18" charset="0"/>
                                </a:rPr>
                                <m:t>)</m:t>
                              </m:r>
                            </m:e>
                            <m:sup>
                              <m:r>
                                <a:rPr lang="en-US" sz="1425">
                                  <a:solidFill>
                                    <a:schemeClr val="tx1">
                                      <a:lumMod val="65000"/>
                                      <a:lumOff val="35000"/>
                                    </a:schemeClr>
                                  </a:solidFill>
                                  <a:latin typeface="Cambria Math" panose="02040503050406030204" pitchFamily="18" charset="0"/>
                                </a:rPr>
                                <m:t>3</m:t>
                              </m:r>
                            </m:sup>
                          </m:sSup>
                        </m:num>
                        <m:den>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1</m:t>
                              </m:r>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𝑘</m:t>
                              </m:r>
                              <m:r>
                                <a:rPr lang="en-US" sz="1425">
                                  <a:solidFill>
                                    <a:schemeClr val="tx1">
                                      <a:lumMod val="65000"/>
                                      <a:lumOff val="35000"/>
                                    </a:schemeClr>
                                  </a:solidFill>
                                  <a:latin typeface="Cambria Math" panose="02040503050406030204" pitchFamily="18" charset="0"/>
                                </a:rPr>
                                <m:t>)</m:t>
                              </m:r>
                            </m:e>
                            <m:sup>
                              <m:r>
                                <a:rPr lang="en-US" sz="1425">
                                  <a:solidFill>
                                    <a:schemeClr val="tx1">
                                      <a:lumMod val="65000"/>
                                      <a:lumOff val="35000"/>
                                    </a:schemeClr>
                                  </a:solidFill>
                                  <a:latin typeface="Cambria Math" panose="02040503050406030204" pitchFamily="18" charset="0"/>
                                </a:rPr>
                                <m:t>3</m:t>
                              </m:r>
                            </m:sup>
                          </m:sSup>
                        </m:den>
                      </m:f>
                      <m:r>
                        <a:rPr lang="en-US" sz="1425">
                          <a:solidFill>
                            <a:schemeClr val="tx1">
                              <a:lumMod val="65000"/>
                              <a:lumOff val="35000"/>
                            </a:schemeClr>
                          </a:solidFill>
                          <a:latin typeface="Cambria Math" panose="02040503050406030204" pitchFamily="18" charset="0"/>
                        </a:rPr>
                        <m:t>  ………………+</m:t>
                      </m:r>
                      <m:f>
                        <m:fPr>
                          <m:ctrlPr>
                            <a:rPr lang="en-US" sz="1425" i="1">
                              <a:solidFill>
                                <a:schemeClr val="tx1">
                                  <a:lumMod val="65000"/>
                                  <a:lumOff val="35000"/>
                                </a:schemeClr>
                              </a:solidFill>
                              <a:latin typeface="Cambria Math" panose="02040503050406030204" pitchFamily="18" charset="0"/>
                            </a:rPr>
                          </m:ctrlPr>
                        </m:fPr>
                        <m:num>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𝐷</m:t>
                              </m:r>
                              <m:r>
                                <a:rPr lang="en-US" sz="1425">
                                  <a:solidFill>
                                    <a:schemeClr val="tx1">
                                      <a:lumMod val="65000"/>
                                      <a:lumOff val="35000"/>
                                    </a:schemeClr>
                                  </a:solidFill>
                                  <a:latin typeface="Cambria Math" panose="02040503050406030204" pitchFamily="18" charset="0"/>
                                </a:rPr>
                                <m:t>0</m:t>
                              </m:r>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1</m:t>
                              </m:r>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𝑔</m:t>
                              </m:r>
                              <m:r>
                                <a:rPr lang="en-US" sz="1425">
                                  <a:solidFill>
                                    <a:schemeClr val="tx1">
                                      <a:lumMod val="65000"/>
                                      <a:lumOff val="35000"/>
                                    </a:schemeClr>
                                  </a:solidFill>
                                  <a:latin typeface="Cambria Math" panose="02040503050406030204" pitchFamily="18" charset="0"/>
                                </a:rPr>
                                <m:t>)</m:t>
                              </m:r>
                            </m:e>
                            <m:sup>
                              <m:r>
                                <a:rPr lang="en-US" sz="1425">
                                  <a:solidFill>
                                    <a:schemeClr val="tx1">
                                      <a:lumMod val="65000"/>
                                      <a:lumOff val="35000"/>
                                    </a:schemeClr>
                                  </a:solidFill>
                                  <a:latin typeface="Cambria Math" panose="02040503050406030204" pitchFamily="18" charset="0"/>
                                </a:rPr>
                                <m:t>𝑛</m:t>
                              </m:r>
                            </m:sup>
                          </m:sSup>
                        </m:num>
                        <m:den>
                          <m:sSup>
                            <m:sSupPr>
                              <m:ctrlPr>
                                <a:rPr lang="en-US" sz="1425" i="1">
                                  <a:solidFill>
                                    <a:schemeClr val="tx1">
                                      <a:lumMod val="65000"/>
                                      <a:lumOff val="35000"/>
                                    </a:schemeClr>
                                  </a:solidFill>
                                  <a:latin typeface="Cambria Math" panose="02040503050406030204" pitchFamily="18" charset="0"/>
                                </a:rPr>
                              </m:ctrlPr>
                            </m:sSupPr>
                            <m:e>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1</m:t>
                              </m:r>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𝑘</m:t>
                              </m:r>
                              <m:r>
                                <a:rPr lang="en-US" sz="1425">
                                  <a:solidFill>
                                    <a:schemeClr val="tx1">
                                      <a:lumMod val="65000"/>
                                      <a:lumOff val="35000"/>
                                    </a:schemeClr>
                                  </a:solidFill>
                                  <a:latin typeface="Cambria Math" panose="02040503050406030204" pitchFamily="18" charset="0"/>
                                </a:rPr>
                                <m:t>)</m:t>
                              </m:r>
                            </m:e>
                            <m:sup>
                              <m:r>
                                <a:rPr lang="en-US" sz="1425">
                                  <a:solidFill>
                                    <a:schemeClr val="tx1">
                                      <a:lumMod val="65000"/>
                                      <a:lumOff val="35000"/>
                                    </a:schemeClr>
                                  </a:solidFill>
                                  <a:latin typeface="Cambria Math" panose="02040503050406030204" pitchFamily="18" charset="0"/>
                                </a:rPr>
                                <m:t>𝑛</m:t>
                              </m:r>
                            </m:sup>
                          </m:sSup>
                        </m:den>
                      </m:f>
                    </m:oMath>
                  </m:oMathPara>
                </a14:m>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Simplifying more, we will get</a:t>
                </a:r>
              </a:p>
              <a:p>
                <a:pPr marL="0" indent="0" eaLnBrk="1" hangingPunct="1">
                  <a:lnSpc>
                    <a:spcPct val="90000"/>
                  </a:lnSpc>
                  <a:buNone/>
                </a:pPr>
                <a14:m>
                  <m:oMath xmlns:m="http://schemas.openxmlformats.org/officeDocument/2006/math">
                    <m:r>
                      <m:rPr>
                        <m:sty m:val="p"/>
                      </m:rPr>
                      <a:rPr lang="en-US" sz="1425">
                        <a:solidFill>
                          <a:schemeClr val="tx1">
                            <a:lumMod val="65000"/>
                            <a:lumOff val="35000"/>
                          </a:schemeClr>
                        </a:solidFill>
                        <a:latin typeface="Cambria Math" panose="02040503050406030204" pitchFamily="18" charset="0"/>
                      </a:rPr>
                      <m:t>P</m:t>
                    </m:r>
                    <m:r>
                      <a:rPr lang="en-US" sz="1425">
                        <a:solidFill>
                          <a:schemeClr val="tx1">
                            <a:lumMod val="65000"/>
                            <a:lumOff val="35000"/>
                          </a:schemeClr>
                        </a:solidFill>
                        <a:latin typeface="Cambria Math" panose="02040503050406030204" pitchFamily="18" charset="0"/>
                      </a:rPr>
                      <m:t>𝑜</m:t>
                    </m:r>
                    <m:r>
                      <a:rPr lang="en-US" sz="1425">
                        <a:solidFill>
                          <a:schemeClr val="tx1">
                            <a:lumMod val="65000"/>
                            <a:lumOff val="35000"/>
                          </a:schemeClr>
                        </a:solidFill>
                        <a:latin typeface="Cambria Math" panose="02040503050406030204" pitchFamily="18" charset="0"/>
                      </a:rPr>
                      <m:t> = </m:t>
                    </m:r>
                    <m:f>
                      <m:fPr>
                        <m:ctrlPr>
                          <a:rPr lang="en-US" sz="1425" i="1">
                            <a:solidFill>
                              <a:schemeClr val="tx1">
                                <a:lumMod val="65000"/>
                                <a:lumOff val="35000"/>
                              </a:schemeClr>
                            </a:solidFill>
                            <a:latin typeface="Cambria Math" panose="02040503050406030204" pitchFamily="18" charset="0"/>
                          </a:rPr>
                        </m:ctrlPr>
                      </m:fPr>
                      <m:num>
                        <m:r>
                          <a:rPr lang="en-US" sz="1425" smtClean="0">
                            <a:solidFill>
                              <a:schemeClr val="tx1">
                                <a:lumMod val="65000"/>
                                <a:lumOff val="35000"/>
                              </a:schemeClr>
                            </a:solidFill>
                            <a:latin typeface="Cambria Math" panose="02040503050406030204" pitchFamily="18" charset="0"/>
                          </a:rPr>
                          <m:t>𝐷𝑜</m:t>
                        </m:r>
                        <m:r>
                          <a:rPr lang="en-US" sz="1425" smtClean="0">
                            <a:solidFill>
                              <a:schemeClr val="tx1">
                                <a:lumMod val="65000"/>
                                <a:lumOff val="35000"/>
                              </a:schemeClr>
                            </a:solidFill>
                            <a:latin typeface="Cambria Math" panose="02040503050406030204" pitchFamily="18" charset="0"/>
                          </a:rPr>
                          <m:t>(</m:t>
                        </m:r>
                        <m:r>
                          <a:rPr lang="en-US" sz="1425" smtClean="0">
                            <a:solidFill>
                              <a:schemeClr val="tx1">
                                <a:lumMod val="65000"/>
                                <a:lumOff val="35000"/>
                              </a:schemeClr>
                            </a:solidFill>
                            <a:latin typeface="Cambria Math" panose="02040503050406030204" pitchFamily="18" charset="0"/>
                          </a:rPr>
                          <m:t>1</m:t>
                        </m:r>
                        <m:r>
                          <a:rPr lang="en-US" sz="1425" smtClean="0">
                            <a:solidFill>
                              <a:schemeClr val="tx1">
                                <a:lumMod val="65000"/>
                                <a:lumOff val="35000"/>
                              </a:schemeClr>
                            </a:solidFill>
                            <a:latin typeface="Cambria Math" panose="02040503050406030204" pitchFamily="18" charset="0"/>
                          </a:rPr>
                          <m:t>+</m:t>
                        </m:r>
                        <m:r>
                          <a:rPr lang="en-US" sz="1425" smtClean="0">
                            <a:solidFill>
                              <a:schemeClr val="tx1">
                                <a:lumMod val="65000"/>
                                <a:lumOff val="35000"/>
                              </a:schemeClr>
                            </a:solidFill>
                            <a:latin typeface="Cambria Math" panose="02040503050406030204" pitchFamily="18" charset="0"/>
                          </a:rPr>
                          <m:t>𝑔</m:t>
                        </m:r>
                        <m:r>
                          <a:rPr lang="en-US" sz="1425" smtClean="0">
                            <a:solidFill>
                              <a:schemeClr val="tx1">
                                <a:lumMod val="65000"/>
                                <a:lumOff val="35000"/>
                              </a:schemeClr>
                            </a:solidFill>
                            <a:latin typeface="Cambria Math" panose="02040503050406030204" pitchFamily="18" charset="0"/>
                          </a:rPr>
                          <m:t>)</m:t>
                        </m:r>
                      </m:num>
                      <m:den>
                        <m:r>
                          <a:rPr lang="en-US" sz="1425">
                            <a:solidFill>
                              <a:schemeClr val="tx1">
                                <a:lumMod val="65000"/>
                                <a:lumOff val="35000"/>
                              </a:schemeClr>
                            </a:solidFill>
                            <a:latin typeface="Cambria Math" panose="02040503050406030204" pitchFamily="18" charset="0"/>
                          </a:rPr>
                          <m:t>𝐾𝑒</m:t>
                        </m:r>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𝑔</m:t>
                        </m:r>
                      </m:den>
                    </m:f>
                  </m:oMath>
                </a14:m>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or                   </a:t>
                </a:r>
                <a14:m>
                  <m:oMath xmlns:m="http://schemas.openxmlformats.org/officeDocument/2006/math">
                    <m:r>
                      <m:rPr>
                        <m:sty m:val="p"/>
                      </m:rPr>
                      <a:rPr lang="en-US" sz="1425">
                        <a:solidFill>
                          <a:schemeClr val="tx1">
                            <a:lumMod val="65000"/>
                            <a:lumOff val="35000"/>
                          </a:schemeClr>
                        </a:solidFill>
                        <a:latin typeface="Cambria Math" panose="02040503050406030204" pitchFamily="18" charset="0"/>
                      </a:rPr>
                      <m:t>P</m:t>
                    </m:r>
                    <m:r>
                      <a:rPr lang="en-US" sz="1425">
                        <a:solidFill>
                          <a:schemeClr val="tx1">
                            <a:lumMod val="65000"/>
                            <a:lumOff val="35000"/>
                          </a:schemeClr>
                        </a:solidFill>
                        <a:latin typeface="Cambria Math" panose="02040503050406030204" pitchFamily="18" charset="0"/>
                      </a:rPr>
                      <m:t>𝑜</m:t>
                    </m:r>
                    <m:r>
                      <a:rPr lang="en-US" sz="1425">
                        <a:solidFill>
                          <a:schemeClr val="tx1">
                            <a:lumMod val="65000"/>
                            <a:lumOff val="35000"/>
                          </a:schemeClr>
                        </a:solidFill>
                        <a:latin typeface="Cambria Math" panose="02040503050406030204" pitchFamily="18" charset="0"/>
                      </a:rPr>
                      <m:t> = </m:t>
                    </m:r>
                    <m:f>
                      <m:fPr>
                        <m:ctrlPr>
                          <a:rPr lang="en-US" sz="1425" i="1">
                            <a:solidFill>
                              <a:schemeClr val="tx1">
                                <a:lumMod val="65000"/>
                                <a:lumOff val="35000"/>
                              </a:schemeClr>
                            </a:solidFill>
                            <a:latin typeface="Cambria Math" panose="02040503050406030204" pitchFamily="18" charset="0"/>
                          </a:rPr>
                        </m:ctrlPr>
                      </m:fPr>
                      <m:num>
                        <m:r>
                          <a:rPr lang="en-US" sz="1425">
                            <a:solidFill>
                              <a:schemeClr val="tx1">
                                <a:lumMod val="65000"/>
                                <a:lumOff val="35000"/>
                              </a:schemeClr>
                            </a:solidFill>
                            <a:latin typeface="Cambria Math" panose="02040503050406030204" pitchFamily="18" charset="0"/>
                          </a:rPr>
                          <m:t>𝐷</m:t>
                        </m:r>
                        <m:r>
                          <a:rPr lang="en-US" sz="1425">
                            <a:solidFill>
                              <a:schemeClr val="tx1">
                                <a:lumMod val="65000"/>
                                <a:lumOff val="35000"/>
                              </a:schemeClr>
                            </a:solidFill>
                            <a:latin typeface="Cambria Math" panose="02040503050406030204" pitchFamily="18" charset="0"/>
                          </a:rPr>
                          <m:t>1</m:t>
                        </m:r>
                      </m:num>
                      <m:den>
                        <m:r>
                          <a:rPr lang="en-US" sz="1425">
                            <a:solidFill>
                              <a:schemeClr val="tx1">
                                <a:lumMod val="65000"/>
                                <a:lumOff val="35000"/>
                              </a:schemeClr>
                            </a:solidFill>
                            <a:latin typeface="Cambria Math" panose="02040503050406030204" pitchFamily="18" charset="0"/>
                          </a:rPr>
                          <m:t>𝐾𝑒</m:t>
                        </m:r>
                        <m:r>
                          <a:rPr lang="en-US" sz="1425">
                            <a:solidFill>
                              <a:schemeClr val="tx1">
                                <a:lumMod val="65000"/>
                                <a:lumOff val="35000"/>
                              </a:schemeClr>
                            </a:solidFill>
                            <a:latin typeface="Cambria Math" panose="02040503050406030204" pitchFamily="18" charset="0"/>
                          </a:rPr>
                          <m:t>−</m:t>
                        </m:r>
                        <m:r>
                          <a:rPr lang="en-US" sz="1425">
                            <a:solidFill>
                              <a:schemeClr val="tx1">
                                <a:lumMod val="65000"/>
                                <a:lumOff val="35000"/>
                              </a:schemeClr>
                            </a:solidFill>
                            <a:latin typeface="Cambria Math" panose="02040503050406030204" pitchFamily="18" charset="0"/>
                          </a:rPr>
                          <m:t>𝑔</m:t>
                        </m:r>
                      </m:den>
                    </m:f>
                  </m:oMath>
                </a14:m>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Where      P0  = Value of the equity share</a:t>
                </a: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D1  = Dividend at the end of 1st year</a:t>
                </a: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K   = Required rate of return</a:t>
                </a:r>
              </a:p>
              <a:p>
                <a:pPr marL="0" indent="0" eaLnBrk="1" hangingPunct="1">
                  <a:lnSpc>
                    <a:spcPct val="90000"/>
                  </a:lnSpc>
                  <a:buNone/>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                  g  = Growth rate</a:t>
                </a:r>
              </a:p>
              <a:p>
                <a:pPr marL="0" indent="0" eaLnBrk="1" hangingPunct="1">
                  <a:lnSpc>
                    <a:spcPct val="90000"/>
                  </a:lnSpc>
                  <a:buNone/>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marL="0" indent="0">
                  <a:buNone/>
                </a:pPr>
                <a:endParaRPr lang="en-US" sz="900" dirty="0"/>
              </a:p>
            </p:txBody>
          </p:sp>
        </mc:Choice>
        <mc:Fallback xmlns="">
          <p:sp>
            <p:nvSpPr>
              <p:cNvPr id="3" name="Content Placeholder 2">
                <a:extLst>
                  <a:ext uri="{FF2B5EF4-FFF2-40B4-BE49-F238E27FC236}">
                    <a16:creationId xmlns:a16="http://schemas.microsoft.com/office/drawing/2014/main" id="{0CAFA7FF-57A5-4A02-AAF0-B19E94A267F3}"/>
                  </a:ext>
                </a:extLst>
              </p:cNvPr>
              <p:cNvSpPr>
                <a:spLocks noGrp="1" noRot="1" noChangeAspect="1" noMove="1" noResize="1" noEditPoints="1" noAdjustHandles="1" noChangeArrowheads="1" noChangeShapeType="1" noTextEdit="1"/>
              </p:cNvSpPr>
              <p:nvPr>
                <p:ph idx="1"/>
              </p:nvPr>
            </p:nvSpPr>
            <p:spPr>
              <a:xfrm>
                <a:off x="628650" y="1504950"/>
                <a:ext cx="7886700" cy="3352800"/>
              </a:xfrm>
              <a:blipFill>
                <a:blip r:embed="rId2"/>
                <a:stretch>
                  <a:fillRect l="-232" t="-1091"/>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DEF5DD-06EB-414B-9F04-D9E97B6BFCFE}"/>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10482201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4115-2CCB-443D-87C9-0CB7CE513A39}"/>
              </a:ext>
            </a:extLst>
          </p:cNvPr>
          <p:cNvSpPr>
            <a:spLocks noGrp="1"/>
          </p:cNvSpPr>
          <p:nvPr>
            <p:ph type="title"/>
          </p:nvPr>
        </p:nvSpPr>
        <p:spPr/>
        <p:txBody>
          <a:bodyPr/>
          <a:lstStyle/>
          <a:p>
            <a:r>
              <a:rPr lang="en-US" b="1" dirty="0">
                <a:solidFill>
                  <a:schemeClr val="accent1">
                    <a:lumMod val="75000"/>
                  </a:schemeClr>
                </a:solidFill>
              </a:rPr>
              <a:t>Constant Dividend Model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AFA7FF-57A5-4A02-AAF0-B19E94A267F3}"/>
                  </a:ext>
                </a:extLst>
              </p:cNvPr>
              <p:cNvSpPr>
                <a:spLocks noGrp="1"/>
              </p:cNvSpPr>
              <p:nvPr>
                <p:ph idx="1"/>
              </p:nvPr>
            </p:nvSpPr>
            <p:spPr>
              <a:xfrm>
                <a:off x="628650" y="1098612"/>
                <a:ext cx="7886700" cy="3618500"/>
              </a:xfrm>
            </p:spPr>
            <p:txBody>
              <a:bodyPr>
                <a:normAutofit lnSpcReduction="10000"/>
              </a:bodyPr>
              <a:lstStyle/>
              <a:p>
                <a:r>
                  <a:rPr lang="en-US" sz="1200" dirty="0"/>
                  <a:t>Numerical Example</a:t>
                </a:r>
              </a:p>
              <a:p>
                <a:pPr marL="0" indent="0">
                  <a:buNone/>
                </a:pPr>
                <a:r>
                  <a:rPr lang="en-US" sz="1200" dirty="0"/>
                  <a:t>	XYZ has just paid its annual dividend of </a:t>
                </a:r>
                <a:r>
                  <a:rPr lang="en-US" sz="1200" b="1" dirty="0" err="1">
                    <a:solidFill>
                      <a:schemeClr val="accent1">
                        <a:lumMod val="75000"/>
                      </a:schemeClr>
                    </a:solidFill>
                  </a:rPr>
                  <a:t>Rs</a:t>
                </a:r>
                <a:r>
                  <a:rPr lang="en-US" sz="1200" b="1" dirty="0">
                    <a:solidFill>
                      <a:schemeClr val="accent1">
                        <a:lumMod val="75000"/>
                      </a:schemeClr>
                    </a:solidFill>
                  </a:rPr>
                  <a:t>. 3 </a:t>
                </a:r>
                <a:r>
                  <a:rPr lang="en-US" sz="1200" dirty="0"/>
                  <a:t>per share on the equity share having face value of </a:t>
                </a:r>
                <a:r>
                  <a:rPr lang="en-US" sz="1200" dirty="0" err="1"/>
                  <a:t>Rs</a:t>
                </a:r>
                <a:r>
                  <a:rPr lang="en-US" sz="1200" dirty="0"/>
                  <a:t> 10. The dividend rate is expected to grow at the rate of 8% p.a. forever.  The internal rate of return is 14%. What is the intrinsic value of share?</a:t>
                </a:r>
              </a:p>
              <a:p>
                <a:pPr marL="0" indent="0">
                  <a:buNone/>
                </a:pPr>
                <a:endParaRPr lang="en-US" sz="1200" dirty="0"/>
              </a:p>
              <a:p>
                <a:pPr marL="0" indent="0">
                  <a:buNone/>
                </a:pPr>
                <a:r>
                  <a:rPr lang="en-US" sz="1200" dirty="0"/>
                  <a:t>Ans.</a:t>
                </a:r>
              </a:p>
              <a:p>
                <a:pPr marL="0" indent="0">
                  <a:buNone/>
                </a:pPr>
                <a:r>
                  <a:rPr lang="en-US" sz="1200" dirty="0"/>
                  <a:t>	K = </a:t>
                </a:r>
                <a:r>
                  <a:rPr lang="en-US" sz="1200" b="1" dirty="0">
                    <a:solidFill>
                      <a:schemeClr val="accent1">
                        <a:lumMod val="75000"/>
                      </a:schemeClr>
                    </a:solidFill>
                  </a:rPr>
                  <a:t>14% or 0.14</a:t>
                </a:r>
              </a:p>
              <a:p>
                <a:pPr marL="0" indent="0">
                  <a:buNone/>
                </a:pPr>
                <a:r>
                  <a:rPr lang="en-US" sz="1200" dirty="0"/>
                  <a:t>	g = </a:t>
                </a:r>
                <a:r>
                  <a:rPr lang="en-US" sz="1200" b="1" dirty="0">
                    <a:solidFill>
                      <a:schemeClr val="accent1">
                        <a:lumMod val="75000"/>
                      </a:schemeClr>
                    </a:solidFill>
                  </a:rPr>
                  <a:t>8% or 0.08</a:t>
                </a:r>
              </a:p>
              <a:p>
                <a:pPr marL="0" indent="0">
                  <a:buNone/>
                </a:pPr>
                <a:r>
                  <a:rPr lang="en-US" sz="1200" dirty="0"/>
                  <a:t>	D0 = </a:t>
                </a:r>
                <a:r>
                  <a:rPr lang="en-US" sz="1200" b="1" dirty="0">
                    <a:solidFill>
                      <a:schemeClr val="accent1">
                        <a:lumMod val="75000"/>
                      </a:schemeClr>
                    </a:solidFill>
                  </a:rPr>
                  <a:t>Rs. 3</a:t>
                </a:r>
              </a:p>
              <a:p>
                <a:pPr marL="0" indent="0">
                  <a:buNone/>
                </a:pPr>
                <a:r>
                  <a:rPr lang="en-US" sz="1200" dirty="0"/>
                  <a:t>	D1 = Do(1+g)  =  </a:t>
                </a:r>
                <a:r>
                  <a:rPr lang="en-US" sz="1200" b="1" dirty="0">
                    <a:solidFill>
                      <a:schemeClr val="accent1">
                        <a:lumMod val="75000"/>
                      </a:schemeClr>
                    </a:solidFill>
                  </a:rPr>
                  <a:t>3(1+0.08) </a:t>
                </a:r>
                <a:r>
                  <a:rPr lang="en-US" sz="1200" dirty="0"/>
                  <a:t>=  </a:t>
                </a:r>
                <a:r>
                  <a:rPr lang="en-US" sz="1200" b="1" dirty="0">
                    <a:solidFill>
                      <a:schemeClr val="accent1">
                        <a:lumMod val="75000"/>
                      </a:schemeClr>
                    </a:solidFill>
                  </a:rPr>
                  <a:t>3.24</a:t>
                </a:r>
              </a:p>
              <a:p>
                <a:pPr marL="0" indent="0">
                  <a:buNone/>
                </a:pPr>
                <a:endParaRPr lang="en-US" sz="1200" dirty="0"/>
              </a:p>
              <a:p>
                <a:pPr marL="0" indent="0">
                  <a:buNone/>
                </a:pPr>
                <a:r>
                  <a:rPr lang="en-US" sz="1200" dirty="0"/>
                  <a:t>	Applying the formula,                </a:t>
                </a:r>
                <a14:m>
                  <m:oMath xmlns:m="http://schemas.openxmlformats.org/officeDocument/2006/math">
                    <m:r>
                      <m:rPr>
                        <m:sty m:val="p"/>
                      </m:rPr>
                      <a:rPr lang="en-US" sz="1200">
                        <a:latin typeface="Cambria Math"/>
                      </a:rPr>
                      <m:t>P</m:t>
                    </m:r>
                    <m:r>
                      <a:rPr lang="en-US" sz="1200" i="1">
                        <a:latin typeface="Cambria Math"/>
                      </a:rPr>
                      <m:t>𝑜</m:t>
                    </m:r>
                    <m:r>
                      <a:rPr lang="en-US" sz="1200" i="1">
                        <a:latin typeface="Cambria Math"/>
                      </a:rPr>
                      <m:t> = </m:t>
                    </m:r>
                    <m:f>
                      <m:fPr>
                        <m:ctrlPr>
                          <a:rPr lang="en-US" sz="1200" i="1">
                            <a:latin typeface="Cambria Math" panose="02040503050406030204" pitchFamily="18" charset="0"/>
                          </a:rPr>
                        </m:ctrlPr>
                      </m:fPr>
                      <m:num>
                        <m:r>
                          <a:rPr lang="en-US" sz="1200" i="1">
                            <a:latin typeface="Cambria Math"/>
                          </a:rPr>
                          <m:t>𝐷</m:t>
                        </m:r>
                        <m:r>
                          <a:rPr lang="en-US" sz="1200" i="1">
                            <a:latin typeface="Cambria Math"/>
                          </a:rPr>
                          <m:t>1</m:t>
                        </m:r>
                      </m:num>
                      <m:den>
                        <m:r>
                          <a:rPr lang="en-US" sz="1200" i="1">
                            <a:latin typeface="Cambria Math"/>
                          </a:rPr>
                          <m:t>𝐾𝑒</m:t>
                        </m:r>
                        <m:r>
                          <a:rPr lang="en-US" sz="1200" i="1">
                            <a:latin typeface="Cambria Math"/>
                          </a:rPr>
                          <m:t>−</m:t>
                        </m:r>
                        <m:r>
                          <a:rPr lang="en-US" sz="1200" i="1">
                            <a:latin typeface="Cambria Math"/>
                          </a:rPr>
                          <m:t>𝑔</m:t>
                        </m:r>
                      </m:den>
                    </m:f>
                  </m:oMath>
                </a14:m>
                <a:endParaRPr lang="en-US" sz="1200" dirty="0"/>
              </a:p>
              <a:p>
                <a:pPr marL="0" indent="0">
                  <a:buNone/>
                </a:pPr>
                <a:endParaRPr lang="en-US" sz="1200" dirty="0"/>
              </a:p>
              <a:p>
                <a:pPr marL="0" indent="0">
                  <a:buNone/>
                </a:pPr>
                <a:r>
                  <a:rPr lang="en-US" sz="1200" dirty="0"/>
                  <a:t>	we will  get                   </a:t>
                </a:r>
                <a14:m>
                  <m:oMath xmlns:m="http://schemas.openxmlformats.org/officeDocument/2006/math">
                    <m:r>
                      <m:rPr>
                        <m:sty m:val="p"/>
                      </m:rPr>
                      <a:rPr lang="en-US" sz="1200">
                        <a:latin typeface="Cambria Math"/>
                      </a:rPr>
                      <m:t>P</m:t>
                    </m:r>
                    <m:r>
                      <a:rPr lang="en-US" sz="1200" i="1">
                        <a:latin typeface="Cambria Math"/>
                      </a:rPr>
                      <m:t>𝑜</m:t>
                    </m:r>
                    <m:r>
                      <a:rPr lang="en-US" sz="1200" i="1">
                        <a:latin typeface="Cambria Math"/>
                      </a:rPr>
                      <m:t> = </m:t>
                    </m:r>
                    <m:f>
                      <m:fPr>
                        <m:ctrlPr>
                          <a:rPr lang="en-US" sz="1200" i="1">
                            <a:latin typeface="Cambria Math" panose="02040503050406030204" pitchFamily="18" charset="0"/>
                          </a:rPr>
                        </m:ctrlPr>
                      </m:fPr>
                      <m:num>
                        <m:r>
                          <a:rPr lang="en-US" sz="1200" i="1">
                            <a:latin typeface="Cambria Math"/>
                          </a:rPr>
                          <m:t>3.24</m:t>
                        </m:r>
                      </m:num>
                      <m:den>
                        <m:r>
                          <a:rPr lang="en-US" sz="1200" i="1">
                            <a:latin typeface="Cambria Math"/>
                          </a:rPr>
                          <m:t>0.14−0.08</m:t>
                        </m:r>
                      </m:den>
                    </m:f>
                  </m:oMath>
                </a14:m>
                <a:r>
                  <a:rPr lang="en-US" sz="1200" dirty="0"/>
                  <a:t>   = </a:t>
                </a:r>
                <a14:m>
                  <m:oMath xmlns:m="http://schemas.openxmlformats.org/officeDocument/2006/math">
                    <m:f>
                      <m:fPr>
                        <m:ctrlPr>
                          <a:rPr lang="en-US" sz="1200" i="1">
                            <a:latin typeface="Cambria Math" panose="02040503050406030204" pitchFamily="18" charset="0"/>
                          </a:rPr>
                        </m:ctrlPr>
                      </m:fPr>
                      <m:num>
                        <m:r>
                          <a:rPr lang="en-US" sz="1200" i="1">
                            <a:latin typeface="Cambria Math"/>
                          </a:rPr>
                          <m:t>3.24</m:t>
                        </m:r>
                      </m:num>
                      <m:den>
                        <m:r>
                          <a:rPr lang="en-US" sz="1200" i="1">
                            <a:latin typeface="Cambria Math"/>
                          </a:rPr>
                          <m:t>0.06</m:t>
                        </m:r>
                      </m:den>
                    </m:f>
                    <m:r>
                      <a:rPr lang="en-US" sz="1200" i="1">
                        <a:latin typeface="Cambria Math"/>
                      </a:rPr>
                      <m:t> </m:t>
                    </m:r>
                  </m:oMath>
                </a14:m>
                <a:r>
                  <a:rPr lang="en-US" sz="1200" dirty="0"/>
                  <a:t>  = 54	</a:t>
                </a:r>
              </a:p>
              <a:p>
                <a:pPr marL="0" indent="0">
                  <a:buNone/>
                </a:pPr>
                <a:endParaRPr lang="en-US" sz="1200" dirty="0"/>
              </a:p>
              <a:p>
                <a:pPr marL="0" indent="0">
                  <a:buNone/>
                </a:pPr>
                <a:r>
                  <a:rPr lang="en-US" sz="1200" dirty="0"/>
                  <a:t>	so the value of the equity share is </a:t>
                </a:r>
                <a:r>
                  <a:rPr lang="en-US" sz="1200" b="1" dirty="0" err="1">
                    <a:solidFill>
                      <a:schemeClr val="accent1">
                        <a:lumMod val="75000"/>
                      </a:schemeClr>
                    </a:solidFill>
                  </a:rPr>
                  <a:t>Rs</a:t>
                </a:r>
                <a:r>
                  <a:rPr lang="en-US" sz="1200" b="1" dirty="0">
                    <a:solidFill>
                      <a:schemeClr val="accent1">
                        <a:lumMod val="75000"/>
                      </a:schemeClr>
                    </a:solidFill>
                  </a:rPr>
                  <a:t>. 54.</a:t>
                </a:r>
              </a:p>
            </p:txBody>
          </p:sp>
        </mc:Choice>
        <mc:Fallback xmlns="">
          <p:sp>
            <p:nvSpPr>
              <p:cNvPr id="3" name="Content Placeholder 2">
                <a:extLst>
                  <a:ext uri="{FF2B5EF4-FFF2-40B4-BE49-F238E27FC236}">
                    <a16:creationId xmlns:a16="http://schemas.microsoft.com/office/drawing/2014/main" id="{0CAFA7FF-57A5-4A02-AAF0-B19E94A267F3}"/>
                  </a:ext>
                </a:extLst>
              </p:cNvPr>
              <p:cNvSpPr>
                <a:spLocks noGrp="1" noRot="1" noChangeAspect="1" noMove="1" noResize="1" noEditPoints="1" noAdjustHandles="1" noChangeArrowheads="1" noChangeShapeType="1" noTextEdit="1"/>
              </p:cNvSpPr>
              <p:nvPr>
                <p:ph idx="1"/>
              </p:nvPr>
            </p:nvSpPr>
            <p:spPr>
              <a:xfrm>
                <a:off x="628650" y="1098612"/>
                <a:ext cx="7886700" cy="3618500"/>
              </a:xfrm>
              <a:blipFill>
                <a:blip r:embed="rId2"/>
                <a:stretch>
                  <a:fillRect t="-505"/>
                </a:stretch>
              </a:blipFill>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2223" y="2996648"/>
            <a:ext cx="4281777" cy="2140889"/>
          </a:xfrm>
          <a:prstGeom prst="rect">
            <a:avLst/>
          </a:prstGeom>
        </p:spPr>
      </p:pic>
      <p:sp>
        <p:nvSpPr>
          <p:cNvPr id="5" name="Rectangle 4">
            <a:extLst>
              <a:ext uri="{FF2B5EF4-FFF2-40B4-BE49-F238E27FC236}">
                <a16:creationId xmlns:a16="http://schemas.microsoft.com/office/drawing/2014/main" id="{52475526-233C-406C-A608-23E9F7628B22}"/>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4230501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4115-2CCB-443D-87C9-0CB7CE513A39}"/>
              </a:ext>
            </a:extLst>
          </p:cNvPr>
          <p:cNvSpPr>
            <a:spLocks noGrp="1"/>
          </p:cNvSpPr>
          <p:nvPr>
            <p:ph type="title"/>
          </p:nvPr>
        </p:nvSpPr>
        <p:spPr>
          <a:xfrm>
            <a:off x="457200" y="335446"/>
            <a:ext cx="6858000" cy="857250"/>
          </a:xfrm>
        </p:spPr>
        <p:txBody>
          <a:bodyPr/>
          <a:lstStyle/>
          <a:p>
            <a:r>
              <a:rPr lang="en-US" sz="3600" b="1" dirty="0">
                <a:solidFill>
                  <a:schemeClr val="accent1">
                    <a:lumMod val="60000"/>
                    <a:lumOff val="40000"/>
                  </a:schemeClr>
                </a:solidFill>
              </a:rPr>
              <a:t>Multi-Stage Growth Rate Model</a:t>
            </a:r>
          </a:p>
        </p:txBody>
      </p:sp>
      <p:sp>
        <p:nvSpPr>
          <p:cNvPr id="3" name="Content Placeholder 2">
            <a:extLst>
              <a:ext uri="{FF2B5EF4-FFF2-40B4-BE49-F238E27FC236}">
                <a16:creationId xmlns:a16="http://schemas.microsoft.com/office/drawing/2014/main" id="{0CAFA7FF-57A5-4A02-AAF0-B19E94A267F3}"/>
              </a:ext>
            </a:extLst>
          </p:cNvPr>
          <p:cNvSpPr>
            <a:spLocks noGrp="1"/>
          </p:cNvSpPr>
          <p:nvPr>
            <p:ph idx="1"/>
          </p:nvPr>
        </p:nvSpPr>
        <p:spPr>
          <a:xfrm>
            <a:off x="628650" y="1192696"/>
            <a:ext cx="7886700" cy="3524416"/>
          </a:xfrm>
        </p:spPr>
        <p:txBody>
          <a:bodyPr>
            <a:normAutofit/>
          </a:bodyPr>
          <a:lstStyle/>
          <a:p>
            <a:pPr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This model is also known as </a:t>
            </a:r>
            <a:r>
              <a:rPr lang="en-US" sz="1425" b="1" dirty="0">
                <a:solidFill>
                  <a:schemeClr val="accent1">
                    <a:lumMod val="60000"/>
                    <a:lumOff val="40000"/>
                  </a:schemeClr>
                </a:solidFill>
                <a:latin typeface="Calibri Light" panose="020F0302020204030204" pitchFamily="34" charset="0"/>
                <a:cs typeface="Calibri Light" panose="020F0302020204030204" pitchFamily="34" charset="0"/>
              </a:rPr>
              <a:t>variable growth </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in dividend.</a:t>
            </a:r>
          </a:p>
          <a:p>
            <a:pPr eaLnBrk="1" hangingPunct="1">
              <a:lnSpc>
                <a:spcPct val="90000"/>
              </a:lnSpc>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This is the most realistic model as it has </a:t>
            </a:r>
            <a:r>
              <a:rPr lang="en-US" sz="1425" b="1" dirty="0">
                <a:solidFill>
                  <a:schemeClr val="accent1">
                    <a:lumMod val="60000"/>
                    <a:lumOff val="40000"/>
                  </a:schemeClr>
                </a:solidFill>
                <a:latin typeface="Calibri Light" panose="020F0302020204030204" pitchFamily="34" charset="0"/>
                <a:cs typeface="Calibri Light" panose="020F0302020204030204" pitchFamily="34" charset="0"/>
              </a:rPr>
              <a:t>more than one growth rate</a:t>
            </a: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a:t>
            </a:r>
          </a:p>
          <a:p>
            <a:pPr eaLnBrk="1" hangingPunct="1">
              <a:lnSpc>
                <a:spcPct val="90000"/>
              </a:lnSpc>
            </a:pPr>
            <a:endParaRPr lang="en-US" sz="1425" dirty="0">
              <a:solidFill>
                <a:schemeClr val="tx1">
                  <a:lumMod val="65000"/>
                  <a:lumOff val="35000"/>
                </a:schemeClr>
              </a:solidFill>
              <a:latin typeface="Calibri Light" panose="020F0302020204030204" pitchFamily="34" charset="0"/>
              <a:cs typeface="Calibri Light" panose="020F0302020204030204" pitchFamily="34" charset="0"/>
            </a:endParaRPr>
          </a:p>
          <a:p>
            <a:pPr eaLnBrk="1" hangingPunct="1">
              <a:lnSpc>
                <a:spcPct val="90000"/>
              </a:lnSpc>
            </a:pPr>
            <a:r>
              <a:rPr lang="en-US" sz="1425" dirty="0">
                <a:solidFill>
                  <a:schemeClr val="tx1">
                    <a:lumMod val="65000"/>
                    <a:lumOff val="35000"/>
                  </a:schemeClr>
                </a:solidFill>
                <a:latin typeface="Calibri Light" panose="020F0302020204030204" pitchFamily="34" charset="0"/>
                <a:cs typeface="Calibri Light" panose="020F0302020204030204" pitchFamily="34" charset="0"/>
              </a:rPr>
              <a:t>For example, for first five years the growth in dividend may be 2%, then it may be 3% for next three years and finally 5% infinitely.</a:t>
            </a:r>
          </a:p>
          <a:p>
            <a:endParaRPr lang="en-US" sz="12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24400" y="2566231"/>
            <a:ext cx="4127500" cy="2215320"/>
          </a:xfrm>
          <a:prstGeom prst="rect">
            <a:avLst/>
          </a:prstGeom>
        </p:spPr>
      </p:pic>
      <p:sp>
        <p:nvSpPr>
          <p:cNvPr id="5" name="Rectangle 4">
            <a:extLst>
              <a:ext uri="{FF2B5EF4-FFF2-40B4-BE49-F238E27FC236}">
                <a16:creationId xmlns:a16="http://schemas.microsoft.com/office/drawing/2014/main" id="{AEAA2A21-A1C8-4E3D-B3D2-A3E4C2506FD4}"/>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36892813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4115-2CCB-443D-87C9-0CB7CE513A39}"/>
              </a:ext>
            </a:extLst>
          </p:cNvPr>
          <p:cNvSpPr>
            <a:spLocks noGrp="1"/>
          </p:cNvSpPr>
          <p:nvPr>
            <p:ph type="title"/>
          </p:nvPr>
        </p:nvSpPr>
        <p:spPr/>
        <p:txBody>
          <a:bodyPr/>
          <a:lstStyle/>
          <a:p>
            <a:r>
              <a:rPr lang="en-US" sz="3600" b="1" dirty="0">
                <a:solidFill>
                  <a:schemeClr val="accent1">
                    <a:lumMod val="60000"/>
                    <a:lumOff val="40000"/>
                  </a:schemeClr>
                </a:solidFill>
              </a:rPr>
              <a:t>Multi Stage Growth Rate Model</a:t>
            </a:r>
            <a:endParaRPr lang="en-US" sz="3600" dirty="0"/>
          </a:p>
        </p:txBody>
      </p:sp>
      <p:sp>
        <p:nvSpPr>
          <p:cNvPr id="3" name="Content Placeholder 2">
            <a:extLst>
              <a:ext uri="{FF2B5EF4-FFF2-40B4-BE49-F238E27FC236}">
                <a16:creationId xmlns:a16="http://schemas.microsoft.com/office/drawing/2014/main" id="{0CAFA7FF-57A5-4A02-AAF0-B19E94A267F3}"/>
              </a:ext>
            </a:extLst>
          </p:cNvPr>
          <p:cNvSpPr>
            <a:spLocks noGrp="1"/>
          </p:cNvSpPr>
          <p:nvPr>
            <p:ph idx="1"/>
          </p:nvPr>
        </p:nvSpPr>
        <p:spPr>
          <a:xfrm>
            <a:off x="628650" y="1098612"/>
            <a:ext cx="7886700" cy="3898783"/>
          </a:xfrm>
        </p:spPr>
        <p:txBody>
          <a:bodyPr>
            <a:normAutofit/>
          </a:bodyPr>
          <a:lstStyle/>
          <a:p>
            <a:r>
              <a:rPr lang="en-US" sz="1200" dirty="0"/>
              <a:t>Question-   A firm is paying a dividend of Rs 1.50 per share. The rate of dividend is expected to grow at 10% for the 	    next 3 years and then 5% infinitely. Find out the value of the share given that the required rate of return for 	    investors is 15%.</a:t>
            </a:r>
          </a:p>
          <a:p>
            <a:r>
              <a:rPr lang="en-US" sz="1200" dirty="0"/>
              <a:t>Solution:-</a:t>
            </a:r>
          </a:p>
          <a:p>
            <a:pPr marL="0" indent="0">
              <a:buNone/>
            </a:pPr>
            <a:r>
              <a:rPr lang="en-US" sz="1200" dirty="0"/>
              <a:t>	K= 15%,	D= 1.50,	g1= 10%,	g2= 5%</a:t>
            </a:r>
          </a:p>
          <a:p>
            <a:r>
              <a:rPr lang="en-US" sz="1200" dirty="0"/>
              <a:t>Calculate the value of cash dividend at the end of each year</a:t>
            </a:r>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r>
              <a:rPr lang="en-US" sz="1200" dirty="0"/>
              <a:t>Rs. 4.14 is the present value of the expected dividend for the first 3 years.</a:t>
            </a:r>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p:txBody>
      </p:sp>
      <p:graphicFrame>
        <p:nvGraphicFramePr>
          <p:cNvPr id="4" name="Table 3"/>
          <p:cNvGraphicFramePr>
            <a:graphicFrameLocks noGrp="1"/>
          </p:cNvGraphicFramePr>
          <p:nvPr>
            <p:extLst>
              <p:ext uri="{D42A27DB-BD31-4B8C-83A1-F6EECF244321}">
                <p14:modId xmlns:p14="http://schemas.microsoft.com/office/powerpoint/2010/main" val="993973175"/>
              </p:ext>
            </p:extLst>
          </p:nvPr>
        </p:nvGraphicFramePr>
        <p:xfrm>
          <a:off x="1362986" y="2394392"/>
          <a:ext cx="6096000" cy="140970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278130">
                <a:tc>
                  <a:txBody>
                    <a:bodyPr/>
                    <a:lstStyle/>
                    <a:p>
                      <a:r>
                        <a:rPr lang="en-US" sz="1400" dirty="0"/>
                        <a:t>End of year(n)</a:t>
                      </a:r>
                    </a:p>
                  </a:txBody>
                  <a:tcPr marL="68580" marR="68580" marT="34290" marB="34290"/>
                </a:tc>
                <a:tc>
                  <a:txBody>
                    <a:bodyPr/>
                    <a:lstStyle/>
                    <a:p>
                      <a:r>
                        <a:rPr lang="en-US" sz="1400" dirty="0"/>
                        <a:t>Dividend amount</a:t>
                      </a:r>
                    </a:p>
                  </a:txBody>
                  <a:tcPr marL="68580" marR="68580" marT="34290" marB="34290"/>
                </a:tc>
                <a:tc>
                  <a:txBody>
                    <a:bodyPr/>
                    <a:lstStyle/>
                    <a:p>
                      <a:r>
                        <a:rPr lang="en-US" sz="1400" dirty="0"/>
                        <a:t>PVF (15%,n)</a:t>
                      </a:r>
                    </a:p>
                  </a:txBody>
                  <a:tcPr marL="68580" marR="68580" marT="34290" marB="34290"/>
                </a:tc>
                <a:tc>
                  <a:txBody>
                    <a:bodyPr/>
                    <a:lstStyle/>
                    <a:p>
                      <a:r>
                        <a:rPr lang="en-US" sz="1400" dirty="0"/>
                        <a:t>Present value</a:t>
                      </a:r>
                    </a:p>
                  </a:txBody>
                  <a:tcPr marL="68580" marR="68580" marT="34290" marB="34290"/>
                </a:tc>
                <a:extLst>
                  <a:ext uri="{0D108BD9-81ED-4DB2-BD59-A6C34878D82A}">
                    <a16:rowId xmlns:a16="http://schemas.microsoft.com/office/drawing/2014/main" val="10000"/>
                  </a:ext>
                </a:extLst>
              </a:tr>
              <a:tr h="278130">
                <a:tc>
                  <a:txBody>
                    <a:bodyPr/>
                    <a:lstStyle/>
                    <a:p>
                      <a:r>
                        <a:rPr lang="en-US" sz="1400" dirty="0"/>
                        <a:t>1</a:t>
                      </a:r>
                    </a:p>
                  </a:txBody>
                  <a:tcPr marL="68580" marR="68580" marT="34290" marB="34290"/>
                </a:tc>
                <a:tc>
                  <a:txBody>
                    <a:bodyPr/>
                    <a:lstStyle/>
                    <a:p>
                      <a:r>
                        <a:rPr lang="en-US" sz="1400" dirty="0"/>
                        <a:t>1.65 (1.5+10%)</a:t>
                      </a:r>
                    </a:p>
                  </a:txBody>
                  <a:tcPr marL="68580" marR="68580" marT="34290" marB="34290"/>
                </a:tc>
                <a:tc>
                  <a:txBody>
                    <a:bodyPr/>
                    <a:lstStyle/>
                    <a:p>
                      <a:r>
                        <a:rPr lang="en-US" sz="1400" dirty="0"/>
                        <a:t>.870</a:t>
                      </a:r>
                    </a:p>
                  </a:txBody>
                  <a:tcPr marL="68580" marR="68580" marT="34290" marB="34290"/>
                </a:tc>
                <a:tc>
                  <a:txBody>
                    <a:bodyPr/>
                    <a:lstStyle/>
                    <a:p>
                      <a:r>
                        <a:rPr lang="en-US" sz="1400" dirty="0"/>
                        <a:t>1.44</a:t>
                      </a:r>
                    </a:p>
                  </a:txBody>
                  <a:tcPr marL="68580" marR="68580" marT="34290" marB="34290"/>
                </a:tc>
                <a:extLst>
                  <a:ext uri="{0D108BD9-81ED-4DB2-BD59-A6C34878D82A}">
                    <a16:rowId xmlns:a16="http://schemas.microsoft.com/office/drawing/2014/main" val="10001"/>
                  </a:ext>
                </a:extLst>
              </a:tr>
              <a:tr h="278130">
                <a:tc>
                  <a:txBody>
                    <a:bodyPr/>
                    <a:lstStyle/>
                    <a:p>
                      <a:r>
                        <a:rPr lang="en-US" sz="1400" dirty="0"/>
                        <a:t>2</a:t>
                      </a:r>
                    </a:p>
                  </a:txBody>
                  <a:tcPr marL="68580" marR="68580" marT="34290" marB="34290"/>
                </a:tc>
                <a:tc>
                  <a:txBody>
                    <a:bodyPr/>
                    <a:lstStyle/>
                    <a:p>
                      <a:r>
                        <a:rPr lang="en-US" sz="1400" dirty="0"/>
                        <a:t>1.82 (1.65+10%)</a:t>
                      </a:r>
                    </a:p>
                  </a:txBody>
                  <a:tcPr marL="68580" marR="68580" marT="34290" marB="34290"/>
                </a:tc>
                <a:tc>
                  <a:txBody>
                    <a:bodyPr/>
                    <a:lstStyle/>
                    <a:p>
                      <a:r>
                        <a:rPr lang="en-US" sz="1400" dirty="0"/>
                        <a:t>.765</a:t>
                      </a:r>
                    </a:p>
                  </a:txBody>
                  <a:tcPr marL="68580" marR="68580" marT="34290" marB="34290"/>
                </a:tc>
                <a:tc>
                  <a:txBody>
                    <a:bodyPr/>
                    <a:lstStyle/>
                    <a:p>
                      <a:r>
                        <a:rPr lang="en-US" sz="1400" dirty="0"/>
                        <a:t>1.38</a:t>
                      </a:r>
                    </a:p>
                  </a:txBody>
                  <a:tcPr marL="68580" marR="68580" marT="34290" marB="34290"/>
                </a:tc>
                <a:extLst>
                  <a:ext uri="{0D108BD9-81ED-4DB2-BD59-A6C34878D82A}">
                    <a16:rowId xmlns:a16="http://schemas.microsoft.com/office/drawing/2014/main" val="10002"/>
                  </a:ext>
                </a:extLst>
              </a:tr>
              <a:tr h="278130">
                <a:tc>
                  <a:txBody>
                    <a:bodyPr/>
                    <a:lstStyle/>
                    <a:p>
                      <a:r>
                        <a:rPr lang="en-US" sz="1400" dirty="0"/>
                        <a:t>3</a:t>
                      </a:r>
                    </a:p>
                  </a:txBody>
                  <a:tcPr marL="68580" marR="68580" marT="34290" marB="34290"/>
                </a:tc>
                <a:tc>
                  <a:txBody>
                    <a:bodyPr/>
                    <a:lstStyle/>
                    <a:p>
                      <a:r>
                        <a:rPr lang="en-US" sz="1400" dirty="0"/>
                        <a:t>2.00 (1.82+10%)</a:t>
                      </a:r>
                    </a:p>
                  </a:txBody>
                  <a:tcPr marL="68580" marR="68580" marT="34290" marB="34290"/>
                </a:tc>
                <a:tc>
                  <a:txBody>
                    <a:bodyPr/>
                    <a:lstStyle/>
                    <a:p>
                      <a:r>
                        <a:rPr lang="en-US" sz="1400" dirty="0"/>
                        <a:t>.658</a:t>
                      </a:r>
                    </a:p>
                  </a:txBody>
                  <a:tcPr marL="68580" marR="68580" marT="34290" marB="34290"/>
                </a:tc>
                <a:tc>
                  <a:txBody>
                    <a:bodyPr/>
                    <a:lstStyle/>
                    <a:p>
                      <a:r>
                        <a:rPr lang="en-US" sz="1400" dirty="0"/>
                        <a:t>1.32</a:t>
                      </a:r>
                    </a:p>
                  </a:txBody>
                  <a:tcPr marL="68580" marR="68580" marT="34290" marB="34290"/>
                </a:tc>
                <a:extLst>
                  <a:ext uri="{0D108BD9-81ED-4DB2-BD59-A6C34878D82A}">
                    <a16:rowId xmlns:a16="http://schemas.microsoft.com/office/drawing/2014/main" val="10003"/>
                  </a:ext>
                </a:extLst>
              </a:tr>
              <a:tr h="278130">
                <a:tc>
                  <a:txBody>
                    <a:bodyPr/>
                    <a:lstStyle/>
                    <a:p>
                      <a:r>
                        <a:rPr lang="en-US" sz="1400" dirty="0"/>
                        <a:t>Total</a:t>
                      </a:r>
                    </a:p>
                  </a:txBody>
                  <a:tcPr marL="68580" marR="68580" marT="34290" marB="34290"/>
                </a:tc>
                <a:tc>
                  <a:txBody>
                    <a:bodyPr/>
                    <a:lstStyle/>
                    <a:p>
                      <a:endParaRPr lang="en-US" sz="1400" dirty="0"/>
                    </a:p>
                  </a:txBody>
                  <a:tcPr marL="68580" marR="68580" marT="34290" marB="34290"/>
                </a:tc>
                <a:tc>
                  <a:txBody>
                    <a:bodyPr/>
                    <a:lstStyle/>
                    <a:p>
                      <a:endParaRPr lang="en-US" sz="1400" dirty="0"/>
                    </a:p>
                  </a:txBody>
                  <a:tcPr marL="68580" marR="68580" marT="34290" marB="34290"/>
                </a:tc>
                <a:tc>
                  <a:txBody>
                    <a:bodyPr/>
                    <a:lstStyle/>
                    <a:p>
                      <a:r>
                        <a:rPr lang="en-US" sz="1400" b="1" dirty="0"/>
                        <a:t>4.14</a:t>
                      </a:r>
                    </a:p>
                  </a:txBody>
                  <a:tcPr marL="68580" marR="68580" marT="34290" marB="34290"/>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81FD979F-A3FA-4968-8866-50E771DE859B}"/>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7671572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04115-2CCB-443D-87C9-0CB7CE513A39}"/>
              </a:ext>
            </a:extLst>
          </p:cNvPr>
          <p:cNvSpPr>
            <a:spLocks noGrp="1"/>
          </p:cNvSpPr>
          <p:nvPr>
            <p:ph type="title"/>
          </p:nvPr>
        </p:nvSpPr>
        <p:spPr>
          <a:xfrm>
            <a:off x="457200" y="205979"/>
            <a:ext cx="7315200" cy="857250"/>
          </a:xfrm>
        </p:spPr>
        <p:txBody>
          <a:bodyPr/>
          <a:lstStyle/>
          <a:p>
            <a:r>
              <a:rPr lang="en-US" sz="4000" b="1" dirty="0">
                <a:solidFill>
                  <a:schemeClr val="accent1">
                    <a:lumMod val="60000"/>
                    <a:lumOff val="40000"/>
                  </a:schemeClr>
                </a:solidFill>
              </a:rPr>
              <a:t>Multi Stage Growth Rate Model</a:t>
            </a:r>
            <a:endParaRPr lang="en-US" sz="4000" b="1"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AFA7FF-57A5-4A02-AAF0-B19E94A267F3}"/>
                  </a:ext>
                </a:extLst>
              </p:cNvPr>
              <p:cNvSpPr>
                <a:spLocks noGrp="1"/>
              </p:cNvSpPr>
              <p:nvPr>
                <p:ph idx="1"/>
              </p:nvPr>
            </p:nvSpPr>
            <p:spPr>
              <a:xfrm>
                <a:off x="628650" y="1098612"/>
                <a:ext cx="7886700" cy="3898783"/>
              </a:xfrm>
            </p:spPr>
            <p:txBody>
              <a:bodyPr>
                <a:normAutofit/>
              </a:bodyPr>
              <a:lstStyle/>
              <a:p>
                <a:r>
                  <a:rPr lang="en-US" sz="1200" dirty="0"/>
                  <a:t>Rs. 4.14 is the present value of the expected dividend for the first 3 years. </a:t>
                </a:r>
              </a:p>
              <a:p>
                <a:r>
                  <a:rPr lang="en-US" sz="1200" dirty="0"/>
                  <a:t>After the end of the 3</a:t>
                </a:r>
                <a:r>
                  <a:rPr lang="en-US" sz="1200" baseline="30000" dirty="0"/>
                  <a:t>rd</a:t>
                </a:r>
                <a:r>
                  <a:rPr lang="en-US" sz="1200" dirty="0"/>
                  <a:t> year the growth rate is 5%.</a:t>
                </a:r>
              </a:p>
              <a:p>
                <a:r>
                  <a:rPr lang="en-US" sz="1200" dirty="0"/>
                  <a:t>The value of equity share at the end of 3</a:t>
                </a:r>
                <a:r>
                  <a:rPr lang="en-US" sz="1200" baseline="30000" dirty="0"/>
                  <a:t>rd</a:t>
                </a:r>
                <a:r>
                  <a:rPr lang="en-US" sz="1200" dirty="0"/>
                  <a:t> year will be</a:t>
                </a:r>
              </a:p>
              <a:p>
                <a:pPr marL="0" indent="0">
                  <a:buNone/>
                </a:pPr>
                <a:r>
                  <a:rPr lang="en-US" sz="1350" dirty="0"/>
                  <a:t>	P3  </a:t>
                </a:r>
                <a14:m>
                  <m:oMath xmlns:m="http://schemas.openxmlformats.org/officeDocument/2006/math">
                    <m:r>
                      <a:rPr lang="en-US" sz="1350" i="1">
                        <a:latin typeface="Cambria Math"/>
                      </a:rPr>
                      <m:t>=  </m:t>
                    </m:r>
                    <m:f>
                      <m:fPr>
                        <m:ctrlPr>
                          <a:rPr lang="en-US" sz="1350" i="1">
                            <a:latin typeface="Cambria Math" panose="02040503050406030204" pitchFamily="18" charset="0"/>
                          </a:rPr>
                        </m:ctrlPr>
                      </m:fPr>
                      <m:num>
                        <m:r>
                          <a:rPr lang="en-US" sz="1350" i="1">
                            <a:latin typeface="Cambria Math"/>
                          </a:rPr>
                          <m:t>𝐷</m:t>
                        </m:r>
                        <m:r>
                          <a:rPr lang="en-US" sz="1350" i="1">
                            <a:latin typeface="Cambria Math"/>
                          </a:rPr>
                          <m:t>3(1+</m:t>
                        </m:r>
                        <m:r>
                          <a:rPr lang="en-US" sz="1350" i="1">
                            <a:latin typeface="Cambria Math"/>
                          </a:rPr>
                          <m:t>𝑔</m:t>
                        </m:r>
                        <m:r>
                          <a:rPr lang="en-US" sz="1350" i="1">
                            <a:latin typeface="Cambria Math"/>
                          </a:rPr>
                          <m:t>)</m:t>
                        </m:r>
                      </m:num>
                      <m:den>
                        <m:r>
                          <a:rPr lang="en-US" sz="1350" i="1">
                            <a:latin typeface="Cambria Math"/>
                          </a:rPr>
                          <m:t>(</m:t>
                        </m:r>
                        <m:r>
                          <a:rPr lang="en-US" sz="1350" i="1">
                            <a:latin typeface="Cambria Math"/>
                          </a:rPr>
                          <m:t>𝑘𝑒</m:t>
                        </m:r>
                        <m:r>
                          <a:rPr lang="en-US" sz="1350" i="1">
                            <a:latin typeface="Cambria Math"/>
                          </a:rPr>
                          <m:t>−</m:t>
                        </m:r>
                        <m:r>
                          <a:rPr lang="en-US" sz="1350" i="1">
                            <a:latin typeface="Cambria Math"/>
                          </a:rPr>
                          <m:t>𝑔</m:t>
                        </m:r>
                        <m:r>
                          <a:rPr lang="en-US" sz="1350" i="1">
                            <a:latin typeface="Cambria Math"/>
                          </a:rPr>
                          <m:t>)</m:t>
                        </m:r>
                      </m:den>
                    </m:f>
                  </m:oMath>
                </a14:m>
                <a:r>
                  <a:rPr lang="en-US" sz="1350" dirty="0"/>
                  <a:t>   =   </a:t>
                </a:r>
                <a14:m>
                  <m:oMath xmlns:m="http://schemas.openxmlformats.org/officeDocument/2006/math">
                    <m:f>
                      <m:fPr>
                        <m:ctrlPr>
                          <a:rPr lang="en-US" sz="1350" i="1">
                            <a:latin typeface="Cambria Math" panose="02040503050406030204" pitchFamily="18" charset="0"/>
                          </a:rPr>
                        </m:ctrlPr>
                      </m:fPr>
                      <m:num>
                        <m:r>
                          <a:rPr lang="en-US" sz="1350" i="1">
                            <a:latin typeface="Cambria Math"/>
                          </a:rPr>
                          <m:t>2(1+.05)</m:t>
                        </m:r>
                      </m:num>
                      <m:den>
                        <m:r>
                          <a:rPr lang="en-US" sz="1350" i="1">
                            <a:latin typeface="Cambria Math"/>
                          </a:rPr>
                          <m:t>(15−.05)</m:t>
                        </m:r>
                      </m:den>
                    </m:f>
                  </m:oMath>
                </a14:m>
                <a:r>
                  <a:rPr lang="en-US" sz="1350" dirty="0"/>
                  <a:t>   =   21</a:t>
                </a:r>
              </a:p>
              <a:p>
                <a:r>
                  <a:rPr lang="en-US" sz="1200" dirty="0"/>
                  <a:t>The value of the share at the end of year 3 will be 21. The present value of share of </a:t>
                </a:r>
                <a:r>
                  <a:rPr lang="en-US" sz="1200" dirty="0" err="1"/>
                  <a:t>Rs</a:t>
                </a:r>
                <a:r>
                  <a:rPr lang="en-US" sz="1200" dirty="0"/>
                  <a:t>. 21 is</a:t>
                </a:r>
              </a:p>
              <a:p>
                <a:endParaRPr lang="en-US" sz="1200" dirty="0"/>
              </a:p>
              <a:p>
                <a:endParaRPr lang="en-US" sz="1200" dirty="0"/>
              </a:p>
              <a:p>
                <a:endParaRPr lang="en-US" sz="1200" dirty="0"/>
              </a:p>
              <a:p>
                <a:endParaRPr lang="en-US" sz="1200" dirty="0"/>
              </a:p>
              <a:p>
                <a:endParaRPr lang="en-US" sz="1200" dirty="0"/>
              </a:p>
              <a:p>
                <a:r>
                  <a:rPr lang="en-US" sz="1200" dirty="0"/>
                  <a:t>The value of the share at the present is </a:t>
                </a:r>
              </a:p>
              <a:p>
                <a:pPr marL="0" indent="0">
                  <a:buNone/>
                </a:pPr>
                <a:r>
                  <a:rPr lang="en-US" sz="1200" dirty="0"/>
                  <a:t>	4.14   +   13.82  =   17.96</a:t>
                </a:r>
              </a:p>
            </p:txBody>
          </p:sp>
        </mc:Choice>
        <mc:Fallback xmlns="">
          <p:sp>
            <p:nvSpPr>
              <p:cNvPr id="3" name="Content Placeholder 2">
                <a:extLst>
                  <a:ext uri="{FF2B5EF4-FFF2-40B4-BE49-F238E27FC236}">
                    <a16:creationId xmlns:a16="http://schemas.microsoft.com/office/drawing/2014/main" id="{0CAFA7FF-57A5-4A02-AAF0-B19E94A267F3}"/>
                  </a:ext>
                </a:extLst>
              </p:cNvPr>
              <p:cNvSpPr>
                <a:spLocks noGrp="1" noRot="1" noChangeAspect="1" noMove="1" noResize="1" noEditPoints="1" noAdjustHandles="1" noChangeArrowheads="1" noChangeShapeType="1" noTextEdit="1"/>
              </p:cNvSpPr>
              <p:nvPr>
                <p:ph idx="1"/>
              </p:nvPr>
            </p:nvSpPr>
            <p:spPr>
              <a:xfrm>
                <a:off x="628650" y="1098612"/>
                <a:ext cx="7886700" cy="3898783"/>
              </a:xfrm>
              <a:blipFill>
                <a:blip r:embed="rId2"/>
                <a:stretch>
                  <a:fillRect/>
                </a:stretch>
              </a:blipFill>
            </p:spPr>
            <p:txBody>
              <a:bodyPr/>
              <a:lstStyle/>
              <a:p>
                <a:r>
                  <a:rPr lang="en-US">
                    <a:noFill/>
                  </a:rPr>
                  <a:t> </a:t>
                </a:r>
              </a:p>
            </p:txBody>
          </p:sp>
        </mc:Fallback>
      </mc:AlternateContent>
      <p:sp>
        <p:nvSpPr>
          <p:cNvPr id="5" name="Rectangle 4"/>
          <p:cNvSpPr/>
          <p:nvPr/>
        </p:nvSpPr>
        <p:spPr>
          <a:xfrm>
            <a:off x="978010" y="2495551"/>
            <a:ext cx="3365389" cy="9906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t>
            </a:r>
            <a:r>
              <a:rPr lang="en-US" sz="1400" dirty="0">
                <a:solidFill>
                  <a:schemeClr val="tx1"/>
                </a:solidFill>
              </a:rPr>
              <a:t>   </a:t>
            </a:r>
            <a:r>
              <a:rPr lang="en-US" sz="1400" dirty="0" err="1">
                <a:solidFill>
                  <a:schemeClr val="tx1"/>
                </a:solidFill>
              </a:rPr>
              <a:t>Rs</a:t>
            </a:r>
            <a:r>
              <a:rPr lang="en-US" sz="1400" dirty="0">
                <a:solidFill>
                  <a:schemeClr val="tx1"/>
                </a:solidFill>
              </a:rPr>
              <a:t>. 21  *  PVF(15%,3)</a:t>
            </a:r>
          </a:p>
          <a:p>
            <a:r>
              <a:rPr lang="en-US" sz="1400" dirty="0">
                <a:solidFill>
                  <a:schemeClr val="tx1"/>
                </a:solidFill>
              </a:rPr>
              <a:t>	= 21* 0.658</a:t>
            </a:r>
          </a:p>
          <a:p>
            <a:r>
              <a:rPr lang="en-US" sz="1400" dirty="0">
                <a:solidFill>
                  <a:schemeClr val="tx1"/>
                </a:solidFill>
              </a:rPr>
              <a:t>	= 13.82</a:t>
            </a:r>
          </a:p>
        </p:txBody>
      </p:sp>
      <p:sp>
        <p:nvSpPr>
          <p:cNvPr id="6" name="Rectangle 5">
            <a:extLst>
              <a:ext uri="{FF2B5EF4-FFF2-40B4-BE49-F238E27FC236}">
                <a16:creationId xmlns:a16="http://schemas.microsoft.com/office/drawing/2014/main" id="{896623DF-A365-4BCA-A925-E39E44C62A34}"/>
              </a:ext>
            </a:extLst>
          </p:cNvPr>
          <p:cNvSpPr/>
          <p:nvPr/>
        </p:nvSpPr>
        <p:spPr>
          <a:xfrm>
            <a:off x="7620000" y="102989"/>
            <a:ext cx="1447800" cy="563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1"/>
                </a:solidFill>
              </a:ln>
            </a:endParaRPr>
          </a:p>
        </p:txBody>
      </p:sp>
    </p:spTree>
    <p:extLst>
      <p:ext uri="{BB962C8B-B14F-4D97-AF65-F5344CB8AC3E}">
        <p14:creationId xmlns:p14="http://schemas.microsoft.com/office/powerpoint/2010/main" val="35729542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62150"/>
            <a:ext cx="9144000" cy="685800"/>
          </a:xfrm>
        </p:spPr>
        <p:txBody>
          <a:bodyPr/>
          <a:lstStyle/>
          <a:p>
            <a:pPr algn="ctr">
              <a:defRPr/>
            </a:pPr>
            <a:r>
              <a:rPr lang="en-US" altLang="en-US" b="0" dirty="0">
                <a:solidFill>
                  <a:schemeClr val="accent1">
                    <a:lumMod val="50000"/>
                  </a:schemeClr>
                </a:solidFill>
                <a:latin typeface="Calibri Light" panose="020F0302020204030204" pitchFamily="34" charset="0"/>
                <a:cs typeface="Calibri Light" panose="020F0302020204030204" pitchFamily="34" charset="0"/>
              </a:rPr>
              <a:t>THANK</a:t>
            </a:r>
            <a:r>
              <a:rPr lang="en-US" altLang="en-US" b="0" dirty="0">
                <a:solidFill>
                  <a:schemeClr val="accent1">
                    <a:lumMod val="50000"/>
                  </a:schemeClr>
                </a:solidFill>
                <a:latin typeface="Arial" panose="020B0604020202020204" pitchFamily="34" charset="0"/>
                <a:cs typeface="Arial" pitchFamily="34" charset="0"/>
              </a:rPr>
              <a:t> </a:t>
            </a:r>
            <a:r>
              <a:rPr lang="en-US" altLang="en-US" b="0" dirty="0">
                <a:solidFill>
                  <a:schemeClr val="accent1">
                    <a:lumMod val="50000"/>
                  </a:schemeClr>
                </a:solidFill>
                <a:latin typeface="Calibri Light" panose="020F0302020204030204" pitchFamily="34" charset="0"/>
                <a:cs typeface="Calibri Light" panose="020F0302020204030204" pitchFamily="34" charset="0"/>
              </a:rPr>
              <a:t>YOU</a:t>
            </a:r>
            <a:endParaRPr lang="en-US" b="0" dirty="0">
              <a:solidFill>
                <a:schemeClr val="accent1">
                  <a:lumMod val="50000"/>
                </a:schemeClr>
              </a:solidFill>
              <a:latin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3017708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31486</TotalTime>
  <Words>2359</Words>
  <Application>Microsoft Office PowerPoint</Application>
  <PresentationFormat>On-screen Show (16:9)</PresentationFormat>
  <Paragraphs>348</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Cambria Math</vt:lpstr>
      <vt:lpstr>Wingdings</vt:lpstr>
      <vt:lpstr>Office Theme</vt:lpstr>
      <vt:lpstr>PowerPoint Presentation</vt:lpstr>
      <vt:lpstr>Indian Securities Market - Overview</vt:lpstr>
      <vt:lpstr>Why Do We Invest?</vt:lpstr>
      <vt:lpstr>What is meant by Stock Selection?</vt:lpstr>
      <vt:lpstr>PowerPoint Presentation</vt:lpstr>
      <vt:lpstr>Fundamental Analysis</vt:lpstr>
      <vt:lpstr>Fundamental Analysis</vt:lpstr>
      <vt:lpstr>PowerPoint Presentation</vt:lpstr>
      <vt:lpstr>Economic Analysis </vt:lpstr>
      <vt:lpstr>Economic Analysis</vt:lpstr>
      <vt:lpstr>Industry Analysis </vt:lpstr>
      <vt:lpstr>Company Analysis </vt:lpstr>
      <vt:lpstr>Company Analysis </vt:lpstr>
      <vt:lpstr>Company Analysis</vt:lpstr>
      <vt:lpstr>Company Analysis </vt:lpstr>
      <vt:lpstr>Company Analysis</vt:lpstr>
      <vt:lpstr>Using Financial Ratios for Fundamental Analysis</vt:lpstr>
      <vt:lpstr>Financial Ratios</vt:lpstr>
      <vt:lpstr>Financial Ratios</vt:lpstr>
      <vt:lpstr>PowerPoint Presentation</vt:lpstr>
      <vt:lpstr>Equity Valuation Model</vt:lpstr>
      <vt:lpstr>Equity Valuation Model</vt:lpstr>
      <vt:lpstr>Dividend Discount Model</vt:lpstr>
      <vt:lpstr>Constant Dividend Model</vt:lpstr>
      <vt:lpstr>Constant Dividend Model</vt:lpstr>
      <vt:lpstr>Constant Growth in Dividend Model</vt:lpstr>
      <vt:lpstr>Constant Growth in Dividend Model</vt:lpstr>
      <vt:lpstr>Constant Dividend Model</vt:lpstr>
      <vt:lpstr>Multi-Stage Growth Rate Model</vt:lpstr>
      <vt:lpstr>Multi Stage Growth Rate Model</vt:lpstr>
      <vt:lpstr>Multi Stage Growth Rate Model</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Vikas Kumar Jain</dc:creator>
  <cp:lastModifiedBy>Mr. Abhisek Mahanta</cp:lastModifiedBy>
  <cp:revision>842</cp:revision>
  <dcterms:created xsi:type="dcterms:W3CDTF">2018-03-07T05:09:07Z</dcterms:created>
  <dcterms:modified xsi:type="dcterms:W3CDTF">2026-04-24T08:24:58Z</dcterms:modified>
</cp:coreProperties>
</file>