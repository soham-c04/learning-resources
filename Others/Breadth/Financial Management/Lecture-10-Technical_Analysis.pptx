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5" r:id="rId3"/>
    <p:sldId id="275" r:id="rId4"/>
    <p:sldId id="297" r:id="rId5"/>
    <p:sldId id="298" r:id="rId6"/>
    <p:sldId id="353" r:id="rId7"/>
    <p:sldId id="352" r:id="rId8"/>
    <p:sldId id="302" r:id="rId9"/>
    <p:sldId id="351" r:id="rId10"/>
    <p:sldId id="313" r:id="rId11"/>
    <p:sldId id="314" r:id="rId12"/>
    <p:sldId id="316" r:id="rId13"/>
    <p:sldId id="311" r:id="rId14"/>
    <p:sldId id="312" r:id="rId15"/>
    <p:sldId id="309" r:id="rId16"/>
    <p:sldId id="317" r:id="rId17"/>
    <p:sldId id="319" r:id="rId18"/>
    <p:sldId id="272" r:id="rId19"/>
    <p:sldId id="320" r:id="rId20"/>
    <p:sldId id="321" r:id="rId21"/>
    <p:sldId id="323" r:id="rId22"/>
    <p:sldId id="322" r:id="rId23"/>
    <p:sldId id="324" r:id="rId24"/>
    <p:sldId id="325" r:id="rId25"/>
    <p:sldId id="329" r:id="rId26"/>
    <p:sldId id="326" r:id="rId27"/>
    <p:sldId id="331" r:id="rId28"/>
    <p:sldId id="332" r:id="rId29"/>
    <p:sldId id="333" r:id="rId30"/>
    <p:sldId id="334" r:id="rId31"/>
    <p:sldId id="335" r:id="rId32"/>
    <p:sldId id="336" r:id="rId33"/>
    <p:sldId id="340" r:id="rId34"/>
    <p:sldId id="273" r:id="rId35"/>
    <p:sldId id="337" r:id="rId36"/>
    <p:sldId id="276" r:id="rId37"/>
    <p:sldId id="339" r:id="rId38"/>
    <p:sldId id="341" r:id="rId39"/>
    <p:sldId id="342" r:id="rId40"/>
    <p:sldId id="346" r:id="rId41"/>
    <p:sldId id="343" r:id="rId42"/>
    <p:sldId id="344" r:id="rId43"/>
    <p:sldId id="345" r:id="rId44"/>
    <p:sldId id="348" r:id="rId45"/>
    <p:sldId id="349" r:id="rId46"/>
    <p:sldId id="271" r:id="rId47"/>
    <p:sldId id="35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4" autoAdjust="0"/>
    <p:restoredTop sz="94660"/>
  </p:normalViewPr>
  <p:slideViewPr>
    <p:cSldViewPr snapToGrid="0">
      <p:cViewPr varScale="1">
        <p:scale>
          <a:sx n="87" d="100"/>
          <a:sy n="87" d="100"/>
        </p:scale>
        <p:origin x="528"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_rels/data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svg"/><Relationship Id="rId1" Type="http://schemas.openxmlformats.org/officeDocument/2006/relationships/image" Target="../media/image34.png"/><Relationship Id="rId6" Type="http://schemas.openxmlformats.org/officeDocument/2006/relationships/image" Target="../media/image39.svg"/><Relationship Id="rId5" Type="http://schemas.openxmlformats.org/officeDocument/2006/relationships/image" Target="../media/image38.png"/><Relationship Id="rId10" Type="http://schemas.openxmlformats.org/officeDocument/2006/relationships/image" Target="../media/image43.svg"/><Relationship Id="rId4" Type="http://schemas.openxmlformats.org/officeDocument/2006/relationships/image" Target="../media/image37.svg"/><Relationship Id="rId9" Type="http://schemas.openxmlformats.org/officeDocument/2006/relationships/image" Target="../media/image42.pn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4F4F6C-2EF4-4496-8F3A-2361E4449BF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3265E42-6B15-4B8A-87A0-368F6D424DC1}">
      <dgm:prSet custT="1"/>
      <dgm:spPr/>
      <dgm:t>
        <a:bodyPr/>
        <a:lstStyle/>
        <a:p>
          <a:pPr>
            <a:lnSpc>
              <a:spcPct val="100000"/>
            </a:lnSpc>
          </a:pPr>
          <a:r>
            <a:rPr lang="en-IN" sz="2000" dirty="0"/>
            <a:t>Always know when to enter and where to exit.</a:t>
          </a:r>
          <a:endParaRPr lang="en-US" sz="2000" dirty="0"/>
        </a:p>
      </dgm:t>
    </dgm:pt>
    <dgm:pt modelId="{7E740F23-D72F-4F7F-A336-E34F308E8395}" type="parTrans" cxnId="{7E3B1423-62A4-48EE-B5DC-8B0E67FCBFC1}">
      <dgm:prSet/>
      <dgm:spPr/>
      <dgm:t>
        <a:bodyPr/>
        <a:lstStyle/>
        <a:p>
          <a:endParaRPr lang="en-US"/>
        </a:p>
      </dgm:t>
    </dgm:pt>
    <dgm:pt modelId="{7B202BA0-0573-4A1F-8569-26BCD9261943}" type="sibTrans" cxnId="{7E3B1423-62A4-48EE-B5DC-8B0E67FCBFC1}">
      <dgm:prSet/>
      <dgm:spPr/>
      <dgm:t>
        <a:bodyPr/>
        <a:lstStyle/>
        <a:p>
          <a:pPr>
            <a:lnSpc>
              <a:spcPct val="100000"/>
            </a:lnSpc>
          </a:pPr>
          <a:endParaRPr lang="en-US"/>
        </a:p>
      </dgm:t>
    </dgm:pt>
    <dgm:pt modelId="{B9DB709F-622D-457C-909B-8F18697CBB35}">
      <dgm:prSet custT="1"/>
      <dgm:spPr/>
      <dgm:t>
        <a:bodyPr/>
        <a:lstStyle/>
        <a:p>
          <a:pPr>
            <a:lnSpc>
              <a:spcPct val="100000"/>
            </a:lnSpc>
          </a:pPr>
          <a:r>
            <a:rPr lang="en-IN" sz="2000" dirty="0"/>
            <a:t>Use stop loss.</a:t>
          </a:r>
          <a:endParaRPr lang="en-US" sz="2000" dirty="0"/>
        </a:p>
      </dgm:t>
    </dgm:pt>
    <dgm:pt modelId="{B9BC6BEF-2ED1-408A-A8BE-92F8B2227FD8}" type="parTrans" cxnId="{F4C69402-0509-4EA9-B73D-C8E29C7B82D5}">
      <dgm:prSet/>
      <dgm:spPr/>
      <dgm:t>
        <a:bodyPr/>
        <a:lstStyle/>
        <a:p>
          <a:endParaRPr lang="en-US"/>
        </a:p>
      </dgm:t>
    </dgm:pt>
    <dgm:pt modelId="{DFF47F76-1D97-43B0-BC34-BA4FF2A6A449}" type="sibTrans" cxnId="{F4C69402-0509-4EA9-B73D-C8E29C7B82D5}">
      <dgm:prSet/>
      <dgm:spPr/>
      <dgm:t>
        <a:bodyPr/>
        <a:lstStyle/>
        <a:p>
          <a:pPr>
            <a:lnSpc>
              <a:spcPct val="100000"/>
            </a:lnSpc>
          </a:pPr>
          <a:endParaRPr lang="en-US"/>
        </a:p>
      </dgm:t>
    </dgm:pt>
    <dgm:pt modelId="{690F50CE-259E-42CB-B46B-B13E46EBD6EC}">
      <dgm:prSet custT="1"/>
      <dgm:spPr/>
      <dgm:t>
        <a:bodyPr/>
        <a:lstStyle/>
        <a:p>
          <a:pPr>
            <a:lnSpc>
              <a:spcPct val="100000"/>
            </a:lnSpc>
          </a:pPr>
          <a:r>
            <a:rPr lang="en-IN" sz="2000"/>
            <a:t>Average only when in profit never in loss.</a:t>
          </a:r>
          <a:endParaRPr lang="en-US" sz="2000"/>
        </a:p>
      </dgm:t>
    </dgm:pt>
    <dgm:pt modelId="{864B6B82-BDCD-4C39-A566-0E631581F18B}" type="parTrans" cxnId="{138CFB6A-3B9E-4230-915B-53AAC49E5DFF}">
      <dgm:prSet/>
      <dgm:spPr/>
      <dgm:t>
        <a:bodyPr/>
        <a:lstStyle/>
        <a:p>
          <a:endParaRPr lang="en-US"/>
        </a:p>
      </dgm:t>
    </dgm:pt>
    <dgm:pt modelId="{933B28AC-14A1-4365-9BEE-762513537DC6}" type="sibTrans" cxnId="{138CFB6A-3B9E-4230-915B-53AAC49E5DFF}">
      <dgm:prSet/>
      <dgm:spPr/>
      <dgm:t>
        <a:bodyPr/>
        <a:lstStyle/>
        <a:p>
          <a:pPr>
            <a:lnSpc>
              <a:spcPct val="100000"/>
            </a:lnSpc>
          </a:pPr>
          <a:endParaRPr lang="en-US"/>
        </a:p>
      </dgm:t>
    </dgm:pt>
    <dgm:pt modelId="{96F9DDBF-4019-45D6-85EA-0A4DE399841E}">
      <dgm:prSet custT="1"/>
      <dgm:spPr/>
      <dgm:t>
        <a:bodyPr/>
        <a:lstStyle/>
        <a:p>
          <a:pPr>
            <a:lnSpc>
              <a:spcPct val="100000"/>
            </a:lnSpc>
          </a:pPr>
          <a:r>
            <a:rPr lang="en-IN" sz="2000"/>
            <a:t>Following the herd is the common reason to loss money.</a:t>
          </a:r>
          <a:endParaRPr lang="en-US" sz="2000"/>
        </a:p>
      </dgm:t>
    </dgm:pt>
    <dgm:pt modelId="{0470FB3B-42FF-4D61-AB81-43C60B3F18AC}" type="parTrans" cxnId="{B17E849B-9626-43A4-9F1C-3453EA3C1D9B}">
      <dgm:prSet/>
      <dgm:spPr/>
      <dgm:t>
        <a:bodyPr/>
        <a:lstStyle/>
        <a:p>
          <a:endParaRPr lang="en-US"/>
        </a:p>
      </dgm:t>
    </dgm:pt>
    <dgm:pt modelId="{BC01284A-A9F3-4520-BB8D-966C3F1EB704}" type="sibTrans" cxnId="{B17E849B-9626-43A4-9F1C-3453EA3C1D9B}">
      <dgm:prSet/>
      <dgm:spPr/>
      <dgm:t>
        <a:bodyPr/>
        <a:lstStyle/>
        <a:p>
          <a:pPr>
            <a:lnSpc>
              <a:spcPct val="100000"/>
            </a:lnSpc>
          </a:pPr>
          <a:endParaRPr lang="en-US"/>
        </a:p>
      </dgm:t>
    </dgm:pt>
    <dgm:pt modelId="{A754629A-B2F8-4D80-B8CB-65E80C7FB862}">
      <dgm:prSet custT="1"/>
      <dgm:spPr/>
      <dgm:t>
        <a:bodyPr/>
        <a:lstStyle/>
        <a:p>
          <a:pPr>
            <a:lnSpc>
              <a:spcPct val="100000"/>
            </a:lnSpc>
          </a:pPr>
          <a:r>
            <a:rPr lang="en-IN" sz="2000"/>
            <a:t>Don’t trade multiple market instead trade single market with diversifications.</a:t>
          </a:r>
          <a:endParaRPr lang="en-US" sz="2000"/>
        </a:p>
      </dgm:t>
    </dgm:pt>
    <dgm:pt modelId="{7C730D3E-370E-4B15-96D4-61A0093D1851}" type="parTrans" cxnId="{035550ED-833D-469B-B56A-564620D58603}">
      <dgm:prSet/>
      <dgm:spPr/>
      <dgm:t>
        <a:bodyPr/>
        <a:lstStyle/>
        <a:p>
          <a:endParaRPr lang="en-US"/>
        </a:p>
      </dgm:t>
    </dgm:pt>
    <dgm:pt modelId="{154C971F-E7C3-4844-8B70-F07E21FAF25B}" type="sibTrans" cxnId="{035550ED-833D-469B-B56A-564620D58603}">
      <dgm:prSet/>
      <dgm:spPr/>
      <dgm:t>
        <a:bodyPr/>
        <a:lstStyle/>
        <a:p>
          <a:endParaRPr lang="en-US"/>
        </a:p>
      </dgm:t>
    </dgm:pt>
    <dgm:pt modelId="{30C98FCC-2778-4F43-8432-4E4738C6510E}" type="pres">
      <dgm:prSet presAssocID="{594F4F6C-2EF4-4496-8F3A-2361E4449BF1}" presName="root" presStyleCnt="0">
        <dgm:presLayoutVars>
          <dgm:dir/>
          <dgm:resizeHandles val="exact"/>
        </dgm:presLayoutVars>
      </dgm:prSet>
      <dgm:spPr/>
    </dgm:pt>
    <dgm:pt modelId="{B6762C7E-8637-479D-88B6-2B5D11B59943}" type="pres">
      <dgm:prSet presAssocID="{594F4F6C-2EF4-4496-8F3A-2361E4449BF1}" presName="container" presStyleCnt="0">
        <dgm:presLayoutVars>
          <dgm:dir/>
          <dgm:resizeHandles val="exact"/>
        </dgm:presLayoutVars>
      </dgm:prSet>
      <dgm:spPr/>
    </dgm:pt>
    <dgm:pt modelId="{BB9DFA28-677C-4CC1-9A47-0011AFDBDB89}" type="pres">
      <dgm:prSet presAssocID="{A3265E42-6B15-4B8A-87A0-368F6D424DC1}" presName="compNode" presStyleCnt="0"/>
      <dgm:spPr/>
    </dgm:pt>
    <dgm:pt modelId="{CE7F15F9-FA56-4FF5-99D4-41217C377F00}" type="pres">
      <dgm:prSet presAssocID="{A3265E42-6B15-4B8A-87A0-368F6D424DC1}" presName="iconBgRect" presStyleLbl="bgShp" presStyleIdx="0" presStyleCnt="5"/>
      <dgm:spPr/>
    </dgm:pt>
    <dgm:pt modelId="{9086F51B-C912-435E-A1F2-EEED195410D3}" type="pres">
      <dgm:prSet presAssocID="{A3265E42-6B15-4B8A-87A0-368F6D424DC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orbidden"/>
        </a:ext>
      </dgm:extLst>
    </dgm:pt>
    <dgm:pt modelId="{A9437648-91C2-4684-9ADB-36A1F0F00800}" type="pres">
      <dgm:prSet presAssocID="{A3265E42-6B15-4B8A-87A0-368F6D424DC1}" presName="spaceRect" presStyleCnt="0"/>
      <dgm:spPr/>
    </dgm:pt>
    <dgm:pt modelId="{ABCD13F7-7975-4F2A-AD67-DBA74FE07C9A}" type="pres">
      <dgm:prSet presAssocID="{A3265E42-6B15-4B8A-87A0-368F6D424DC1}" presName="textRect" presStyleLbl="revTx" presStyleIdx="0" presStyleCnt="5">
        <dgm:presLayoutVars>
          <dgm:chMax val="1"/>
          <dgm:chPref val="1"/>
        </dgm:presLayoutVars>
      </dgm:prSet>
      <dgm:spPr/>
    </dgm:pt>
    <dgm:pt modelId="{B461C049-49A6-476F-913A-57920254CCAC}" type="pres">
      <dgm:prSet presAssocID="{7B202BA0-0573-4A1F-8569-26BCD9261943}" presName="sibTrans" presStyleLbl="sibTrans2D1" presStyleIdx="0" presStyleCnt="0"/>
      <dgm:spPr/>
    </dgm:pt>
    <dgm:pt modelId="{36D51787-6CCA-4D9B-9FE2-CD2CBB1EC69E}" type="pres">
      <dgm:prSet presAssocID="{B9DB709F-622D-457C-909B-8F18697CBB35}" presName="compNode" presStyleCnt="0"/>
      <dgm:spPr/>
    </dgm:pt>
    <dgm:pt modelId="{C52ACBF1-6DFE-4B7B-B939-18715B359557}" type="pres">
      <dgm:prSet presAssocID="{B9DB709F-622D-457C-909B-8F18697CBB35}" presName="iconBgRect" presStyleLbl="bgShp" presStyleIdx="1" presStyleCnt="5"/>
      <dgm:spPr/>
    </dgm:pt>
    <dgm:pt modelId="{95014DA0-57A6-442B-ADBA-99A899834A58}" type="pres">
      <dgm:prSet presAssocID="{B9DB709F-622D-457C-909B-8F18697CBB35}"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o sign"/>
        </a:ext>
      </dgm:extLst>
    </dgm:pt>
    <dgm:pt modelId="{D70DB881-B90C-4651-939D-06D5D20CF41C}" type="pres">
      <dgm:prSet presAssocID="{B9DB709F-622D-457C-909B-8F18697CBB35}" presName="spaceRect" presStyleCnt="0"/>
      <dgm:spPr/>
    </dgm:pt>
    <dgm:pt modelId="{1FC88D4D-D206-4F6E-ACC8-FCCDC24FC1C2}" type="pres">
      <dgm:prSet presAssocID="{B9DB709F-622D-457C-909B-8F18697CBB35}" presName="textRect" presStyleLbl="revTx" presStyleIdx="1" presStyleCnt="5">
        <dgm:presLayoutVars>
          <dgm:chMax val="1"/>
          <dgm:chPref val="1"/>
        </dgm:presLayoutVars>
      </dgm:prSet>
      <dgm:spPr/>
    </dgm:pt>
    <dgm:pt modelId="{DC1CC178-188B-48AF-8D7E-8227677C9737}" type="pres">
      <dgm:prSet presAssocID="{DFF47F76-1D97-43B0-BC34-BA4FF2A6A449}" presName="sibTrans" presStyleLbl="sibTrans2D1" presStyleIdx="0" presStyleCnt="0"/>
      <dgm:spPr/>
    </dgm:pt>
    <dgm:pt modelId="{AB62927C-FAE4-44A5-87A6-2614DF7FCA59}" type="pres">
      <dgm:prSet presAssocID="{690F50CE-259E-42CB-B46B-B13E46EBD6EC}" presName="compNode" presStyleCnt="0"/>
      <dgm:spPr/>
    </dgm:pt>
    <dgm:pt modelId="{332F3FA3-B6E5-4305-900F-EEDFDBCB6FB7}" type="pres">
      <dgm:prSet presAssocID="{690F50CE-259E-42CB-B46B-B13E46EBD6EC}" presName="iconBgRect" presStyleLbl="bgShp" presStyleIdx="2" presStyleCnt="5"/>
      <dgm:spPr/>
    </dgm:pt>
    <dgm:pt modelId="{F8856D77-CFCF-498E-89FE-5C0CA210570B}" type="pres">
      <dgm:prSet presAssocID="{690F50CE-259E-42CB-B46B-B13E46EBD6E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Graph with Downward Trend"/>
        </a:ext>
      </dgm:extLst>
    </dgm:pt>
    <dgm:pt modelId="{34A15EEF-D7AB-48BF-A1C3-581E59B96D45}" type="pres">
      <dgm:prSet presAssocID="{690F50CE-259E-42CB-B46B-B13E46EBD6EC}" presName="spaceRect" presStyleCnt="0"/>
      <dgm:spPr/>
    </dgm:pt>
    <dgm:pt modelId="{20301B60-9AFC-4079-B036-8E931EE18678}" type="pres">
      <dgm:prSet presAssocID="{690F50CE-259E-42CB-B46B-B13E46EBD6EC}" presName="textRect" presStyleLbl="revTx" presStyleIdx="2" presStyleCnt="5">
        <dgm:presLayoutVars>
          <dgm:chMax val="1"/>
          <dgm:chPref val="1"/>
        </dgm:presLayoutVars>
      </dgm:prSet>
      <dgm:spPr/>
    </dgm:pt>
    <dgm:pt modelId="{BA299AC6-DFB0-455F-937D-B0D576EAF37D}" type="pres">
      <dgm:prSet presAssocID="{933B28AC-14A1-4365-9BEE-762513537DC6}" presName="sibTrans" presStyleLbl="sibTrans2D1" presStyleIdx="0" presStyleCnt="0"/>
      <dgm:spPr/>
    </dgm:pt>
    <dgm:pt modelId="{1AB7B3C1-957C-4466-8EF9-EAA20AA2405D}" type="pres">
      <dgm:prSet presAssocID="{96F9DDBF-4019-45D6-85EA-0A4DE399841E}" presName="compNode" presStyleCnt="0"/>
      <dgm:spPr/>
    </dgm:pt>
    <dgm:pt modelId="{91A1BF8E-5286-4D68-B2C7-3C7ABB40BF28}" type="pres">
      <dgm:prSet presAssocID="{96F9DDBF-4019-45D6-85EA-0A4DE399841E}" presName="iconBgRect" presStyleLbl="bgShp" presStyleIdx="3" presStyleCnt="5"/>
      <dgm:spPr/>
    </dgm:pt>
    <dgm:pt modelId="{DDC2E016-9E2F-40C9-B283-8DBD509720AB}" type="pres">
      <dgm:prSet presAssocID="{96F9DDBF-4019-45D6-85EA-0A4DE399841E}"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itcoin"/>
        </a:ext>
      </dgm:extLst>
    </dgm:pt>
    <dgm:pt modelId="{F6D2C968-748D-459C-A1B9-BA4DE1F7D469}" type="pres">
      <dgm:prSet presAssocID="{96F9DDBF-4019-45D6-85EA-0A4DE399841E}" presName="spaceRect" presStyleCnt="0"/>
      <dgm:spPr/>
    </dgm:pt>
    <dgm:pt modelId="{05E7D272-F0D8-4EEF-95F2-24AD47A35769}" type="pres">
      <dgm:prSet presAssocID="{96F9DDBF-4019-45D6-85EA-0A4DE399841E}" presName="textRect" presStyleLbl="revTx" presStyleIdx="3" presStyleCnt="5">
        <dgm:presLayoutVars>
          <dgm:chMax val="1"/>
          <dgm:chPref val="1"/>
        </dgm:presLayoutVars>
      </dgm:prSet>
      <dgm:spPr/>
    </dgm:pt>
    <dgm:pt modelId="{17C9D011-0B0B-464E-8082-13AE2682BE15}" type="pres">
      <dgm:prSet presAssocID="{BC01284A-A9F3-4520-BB8D-966C3F1EB704}" presName="sibTrans" presStyleLbl="sibTrans2D1" presStyleIdx="0" presStyleCnt="0"/>
      <dgm:spPr/>
    </dgm:pt>
    <dgm:pt modelId="{B967B29C-8929-4D62-8A34-0E1E56B2906C}" type="pres">
      <dgm:prSet presAssocID="{A754629A-B2F8-4D80-B8CB-65E80C7FB862}" presName="compNode" presStyleCnt="0"/>
      <dgm:spPr/>
    </dgm:pt>
    <dgm:pt modelId="{B50AD77F-5C65-47D5-B97C-BD106A8F53D9}" type="pres">
      <dgm:prSet presAssocID="{A754629A-B2F8-4D80-B8CB-65E80C7FB862}" presName="iconBgRect" presStyleLbl="bgShp" presStyleIdx="4" presStyleCnt="5"/>
      <dgm:spPr/>
    </dgm:pt>
    <dgm:pt modelId="{EEF598EF-7B04-4626-A5C3-6A3B83B4CE08}" type="pres">
      <dgm:prSet presAssocID="{A754629A-B2F8-4D80-B8CB-65E80C7FB86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Close"/>
        </a:ext>
      </dgm:extLst>
    </dgm:pt>
    <dgm:pt modelId="{ADC54AB4-9025-40A3-B9D5-E471F9313644}" type="pres">
      <dgm:prSet presAssocID="{A754629A-B2F8-4D80-B8CB-65E80C7FB862}" presName="spaceRect" presStyleCnt="0"/>
      <dgm:spPr/>
    </dgm:pt>
    <dgm:pt modelId="{CA388CF7-F596-419C-8BE9-6E57400CE966}" type="pres">
      <dgm:prSet presAssocID="{A754629A-B2F8-4D80-B8CB-65E80C7FB862}" presName="textRect" presStyleLbl="revTx" presStyleIdx="4" presStyleCnt="5">
        <dgm:presLayoutVars>
          <dgm:chMax val="1"/>
          <dgm:chPref val="1"/>
        </dgm:presLayoutVars>
      </dgm:prSet>
      <dgm:spPr/>
    </dgm:pt>
  </dgm:ptLst>
  <dgm:cxnLst>
    <dgm:cxn modelId="{A7B58B02-3DC1-428F-845E-713C296CC8C7}" type="presOf" srcId="{594F4F6C-2EF4-4496-8F3A-2361E4449BF1}" destId="{30C98FCC-2778-4F43-8432-4E4738C6510E}" srcOrd="0" destOrd="0" presId="urn:microsoft.com/office/officeart/2018/2/layout/IconCircleList"/>
    <dgm:cxn modelId="{F4C69402-0509-4EA9-B73D-C8E29C7B82D5}" srcId="{594F4F6C-2EF4-4496-8F3A-2361E4449BF1}" destId="{B9DB709F-622D-457C-909B-8F18697CBB35}" srcOrd="1" destOrd="0" parTransId="{B9BC6BEF-2ED1-408A-A8BE-92F8B2227FD8}" sibTransId="{DFF47F76-1D97-43B0-BC34-BA4FF2A6A449}"/>
    <dgm:cxn modelId="{682C9E06-E369-46EF-88FF-DB436655D4EC}" type="presOf" srcId="{B9DB709F-622D-457C-909B-8F18697CBB35}" destId="{1FC88D4D-D206-4F6E-ACC8-FCCDC24FC1C2}" srcOrd="0" destOrd="0" presId="urn:microsoft.com/office/officeart/2018/2/layout/IconCircleList"/>
    <dgm:cxn modelId="{DD491020-437E-4E6E-953B-B7956CBF3C2E}" type="presOf" srcId="{BC01284A-A9F3-4520-BB8D-966C3F1EB704}" destId="{17C9D011-0B0B-464E-8082-13AE2682BE15}" srcOrd="0" destOrd="0" presId="urn:microsoft.com/office/officeart/2018/2/layout/IconCircleList"/>
    <dgm:cxn modelId="{7E3B1423-62A4-48EE-B5DC-8B0E67FCBFC1}" srcId="{594F4F6C-2EF4-4496-8F3A-2361E4449BF1}" destId="{A3265E42-6B15-4B8A-87A0-368F6D424DC1}" srcOrd="0" destOrd="0" parTransId="{7E740F23-D72F-4F7F-A336-E34F308E8395}" sibTransId="{7B202BA0-0573-4A1F-8569-26BCD9261943}"/>
    <dgm:cxn modelId="{9BC8CC39-7A3C-44E3-84FC-D6440D0D9F08}" type="presOf" srcId="{96F9DDBF-4019-45D6-85EA-0A4DE399841E}" destId="{05E7D272-F0D8-4EEF-95F2-24AD47A35769}" srcOrd="0" destOrd="0" presId="urn:microsoft.com/office/officeart/2018/2/layout/IconCircleList"/>
    <dgm:cxn modelId="{138CFB6A-3B9E-4230-915B-53AAC49E5DFF}" srcId="{594F4F6C-2EF4-4496-8F3A-2361E4449BF1}" destId="{690F50CE-259E-42CB-B46B-B13E46EBD6EC}" srcOrd="2" destOrd="0" parTransId="{864B6B82-BDCD-4C39-A566-0E631581F18B}" sibTransId="{933B28AC-14A1-4365-9BEE-762513537DC6}"/>
    <dgm:cxn modelId="{D9C59D92-50FA-4D47-A5C4-24DE2FBA378D}" type="presOf" srcId="{A3265E42-6B15-4B8A-87A0-368F6D424DC1}" destId="{ABCD13F7-7975-4F2A-AD67-DBA74FE07C9A}" srcOrd="0" destOrd="0" presId="urn:microsoft.com/office/officeart/2018/2/layout/IconCircleList"/>
    <dgm:cxn modelId="{A3D6C393-81BB-43F0-98E8-1A385093C644}" type="presOf" srcId="{DFF47F76-1D97-43B0-BC34-BA4FF2A6A449}" destId="{DC1CC178-188B-48AF-8D7E-8227677C9737}" srcOrd="0" destOrd="0" presId="urn:microsoft.com/office/officeart/2018/2/layout/IconCircleList"/>
    <dgm:cxn modelId="{B17E849B-9626-43A4-9F1C-3453EA3C1D9B}" srcId="{594F4F6C-2EF4-4496-8F3A-2361E4449BF1}" destId="{96F9DDBF-4019-45D6-85EA-0A4DE399841E}" srcOrd="3" destOrd="0" parTransId="{0470FB3B-42FF-4D61-AB81-43C60B3F18AC}" sibTransId="{BC01284A-A9F3-4520-BB8D-966C3F1EB704}"/>
    <dgm:cxn modelId="{29308DDD-ABC4-47EA-BA99-2E9C41322BD6}" type="presOf" srcId="{A754629A-B2F8-4D80-B8CB-65E80C7FB862}" destId="{CA388CF7-F596-419C-8BE9-6E57400CE966}" srcOrd="0" destOrd="0" presId="urn:microsoft.com/office/officeart/2018/2/layout/IconCircleList"/>
    <dgm:cxn modelId="{5FBF1AE3-8F8C-48E0-A84B-7EFDE0B671A7}" type="presOf" srcId="{690F50CE-259E-42CB-B46B-B13E46EBD6EC}" destId="{20301B60-9AFC-4079-B036-8E931EE18678}" srcOrd="0" destOrd="0" presId="urn:microsoft.com/office/officeart/2018/2/layout/IconCircleList"/>
    <dgm:cxn modelId="{035550ED-833D-469B-B56A-564620D58603}" srcId="{594F4F6C-2EF4-4496-8F3A-2361E4449BF1}" destId="{A754629A-B2F8-4D80-B8CB-65E80C7FB862}" srcOrd="4" destOrd="0" parTransId="{7C730D3E-370E-4B15-96D4-61A0093D1851}" sibTransId="{154C971F-E7C3-4844-8B70-F07E21FAF25B}"/>
    <dgm:cxn modelId="{F79DF5F1-60F9-44F7-93E0-5102AB7293AB}" type="presOf" srcId="{7B202BA0-0573-4A1F-8569-26BCD9261943}" destId="{B461C049-49A6-476F-913A-57920254CCAC}" srcOrd="0" destOrd="0" presId="urn:microsoft.com/office/officeart/2018/2/layout/IconCircleList"/>
    <dgm:cxn modelId="{4CF459F6-7759-4330-B805-F34512C87EA8}" type="presOf" srcId="{933B28AC-14A1-4365-9BEE-762513537DC6}" destId="{BA299AC6-DFB0-455F-937D-B0D576EAF37D}" srcOrd="0" destOrd="0" presId="urn:microsoft.com/office/officeart/2018/2/layout/IconCircleList"/>
    <dgm:cxn modelId="{09E27A31-F998-4D76-B4CE-208F2EF7945A}" type="presParOf" srcId="{30C98FCC-2778-4F43-8432-4E4738C6510E}" destId="{B6762C7E-8637-479D-88B6-2B5D11B59943}" srcOrd="0" destOrd="0" presId="urn:microsoft.com/office/officeart/2018/2/layout/IconCircleList"/>
    <dgm:cxn modelId="{5358F368-301F-44A3-8335-65ACCCBBB687}" type="presParOf" srcId="{B6762C7E-8637-479D-88B6-2B5D11B59943}" destId="{BB9DFA28-677C-4CC1-9A47-0011AFDBDB89}" srcOrd="0" destOrd="0" presId="urn:microsoft.com/office/officeart/2018/2/layout/IconCircleList"/>
    <dgm:cxn modelId="{4F11CA6C-A439-43A8-8925-75722861714E}" type="presParOf" srcId="{BB9DFA28-677C-4CC1-9A47-0011AFDBDB89}" destId="{CE7F15F9-FA56-4FF5-99D4-41217C377F00}" srcOrd="0" destOrd="0" presId="urn:microsoft.com/office/officeart/2018/2/layout/IconCircleList"/>
    <dgm:cxn modelId="{9EB89FFB-D393-453E-913E-01EA7E3768CF}" type="presParOf" srcId="{BB9DFA28-677C-4CC1-9A47-0011AFDBDB89}" destId="{9086F51B-C912-435E-A1F2-EEED195410D3}" srcOrd="1" destOrd="0" presId="urn:microsoft.com/office/officeart/2018/2/layout/IconCircleList"/>
    <dgm:cxn modelId="{7EC56D68-20D9-44AC-91AF-D350CF907305}" type="presParOf" srcId="{BB9DFA28-677C-4CC1-9A47-0011AFDBDB89}" destId="{A9437648-91C2-4684-9ADB-36A1F0F00800}" srcOrd="2" destOrd="0" presId="urn:microsoft.com/office/officeart/2018/2/layout/IconCircleList"/>
    <dgm:cxn modelId="{B3A69CB9-2CF8-4666-A9CA-07F8E2EEFC81}" type="presParOf" srcId="{BB9DFA28-677C-4CC1-9A47-0011AFDBDB89}" destId="{ABCD13F7-7975-4F2A-AD67-DBA74FE07C9A}" srcOrd="3" destOrd="0" presId="urn:microsoft.com/office/officeart/2018/2/layout/IconCircleList"/>
    <dgm:cxn modelId="{F1A5F6ED-BD10-42A1-9D4C-A1939236734A}" type="presParOf" srcId="{B6762C7E-8637-479D-88B6-2B5D11B59943}" destId="{B461C049-49A6-476F-913A-57920254CCAC}" srcOrd="1" destOrd="0" presId="urn:microsoft.com/office/officeart/2018/2/layout/IconCircleList"/>
    <dgm:cxn modelId="{CCCAA95A-A7B8-4128-9D2C-D12DBA3B3337}" type="presParOf" srcId="{B6762C7E-8637-479D-88B6-2B5D11B59943}" destId="{36D51787-6CCA-4D9B-9FE2-CD2CBB1EC69E}" srcOrd="2" destOrd="0" presId="urn:microsoft.com/office/officeart/2018/2/layout/IconCircleList"/>
    <dgm:cxn modelId="{E782D941-AD16-4C23-8FC5-F431BF5B833B}" type="presParOf" srcId="{36D51787-6CCA-4D9B-9FE2-CD2CBB1EC69E}" destId="{C52ACBF1-6DFE-4B7B-B939-18715B359557}" srcOrd="0" destOrd="0" presId="urn:microsoft.com/office/officeart/2018/2/layout/IconCircleList"/>
    <dgm:cxn modelId="{BAB92CB2-9907-49D0-BA57-F9483C83E266}" type="presParOf" srcId="{36D51787-6CCA-4D9B-9FE2-CD2CBB1EC69E}" destId="{95014DA0-57A6-442B-ADBA-99A899834A58}" srcOrd="1" destOrd="0" presId="urn:microsoft.com/office/officeart/2018/2/layout/IconCircleList"/>
    <dgm:cxn modelId="{954A7C9A-BDAA-4822-870F-FF0F14ED4F94}" type="presParOf" srcId="{36D51787-6CCA-4D9B-9FE2-CD2CBB1EC69E}" destId="{D70DB881-B90C-4651-939D-06D5D20CF41C}" srcOrd="2" destOrd="0" presId="urn:microsoft.com/office/officeart/2018/2/layout/IconCircleList"/>
    <dgm:cxn modelId="{A2817C38-AA18-4A41-B217-9FB75A0D3B93}" type="presParOf" srcId="{36D51787-6CCA-4D9B-9FE2-CD2CBB1EC69E}" destId="{1FC88D4D-D206-4F6E-ACC8-FCCDC24FC1C2}" srcOrd="3" destOrd="0" presId="urn:microsoft.com/office/officeart/2018/2/layout/IconCircleList"/>
    <dgm:cxn modelId="{5D3D1796-31B5-4AD9-871E-A0B8C834F863}" type="presParOf" srcId="{B6762C7E-8637-479D-88B6-2B5D11B59943}" destId="{DC1CC178-188B-48AF-8D7E-8227677C9737}" srcOrd="3" destOrd="0" presId="urn:microsoft.com/office/officeart/2018/2/layout/IconCircleList"/>
    <dgm:cxn modelId="{7DDFF3E1-4637-46BF-8C57-9FB6CFB61978}" type="presParOf" srcId="{B6762C7E-8637-479D-88B6-2B5D11B59943}" destId="{AB62927C-FAE4-44A5-87A6-2614DF7FCA59}" srcOrd="4" destOrd="0" presId="urn:microsoft.com/office/officeart/2018/2/layout/IconCircleList"/>
    <dgm:cxn modelId="{C3474013-ED74-4305-9DFE-CA2AF36250B9}" type="presParOf" srcId="{AB62927C-FAE4-44A5-87A6-2614DF7FCA59}" destId="{332F3FA3-B6E5-4305-900F-EEDFDBCB6FB7}" srcOrd="0" destOrd="0" presId="urn:microsoft.com/office/officeart/2018/2/layout/IconCircleList"/>
    <dgm:cxn modelId="{0B09455E-74CE-4E51-B28F-D93E642EEAD7}" type="presParOf" srcId="{AB62927C-FAE4-44A5-87A6-2614DF7FCA59}" destId="{F8856D77-CFCF-498E-89FE-5C0CA210570B}" srcOrd="1" destOrd="0" presId="urn:microsoft.com/office/officeart/2018/2/layout/IconCircleList"/>
    <dgm:cxn modelId="{4B50CB90-8414-427E-828F-251AE7A64487}" type="presParOf" srcId="{AB62927C-FAE4-44A5-87A6-2614DF7FCA59}" destId="{34A15EEF-D7AB-48BF-A1C3-581E59B96D45}" srcOrd="2" destOrd="0" presId="urn:microsoft.com/office/officeart/2018/2/layout/IconCircleList"/>
    <dgm:cxn modelId="{96CB16C3-2933-48B4-9A71-1B2DEFAA0EC9}" type="presParOf" srcId="{AB62927C-FAE4-44A5-87A6-2614DF7FCA59}" destId="{20301B60-9AFC-4079-B036-8E931EE18678}" srcOrd="3" destOrd="0" presId="urn:microsoft.com/office/officeart/2018/2/layout/IconCircleList"/>
    <dgm:cxn modelId="{7D5DA76F-BA2E-49A8-AF40-74ECDB70948E}" type="presParOf" srcId="{B6762C7E-8637-479D-88B6-2B5D11B59943}" destId="{BA299AC6-DFB0-455F-937D-B0D576EAF37D}" srcOrd="5" destOrd="0" presId="urn:microsoft.com/office/officeart/2018/2/layout/IconCircleList"/>
    <dgm:cxn modelId="{6D903F72-FB52-4B34-956D-000608069151}" type="presParOf" srcId="{B6762C7E-8637-479D-88B6-2B5D11B59943}" destId="{1AB7B3C1-957C-4466-8EF9-EAA20AA2405D}" srcOrd="6" destOrd="0" presId="urn:microsoft.com/office/officeart/2018/2/layout/IconCircleList"/>
    <dgm:cxn modelId="{55D7918E-7B93-4F4E-A9C3-CBF855ACAA5D}" type="presParOf" srcId="{1AB7B3C1-957C-4466-8EF9-EAA20AA2405D}" destId="{91A1BF8E-5286-4D68-B2C7-3C7ABB40BF28}" srcOrd="0" destOrd="0" presId="urn:microsoft.com/office/officeart/2018/2/layout/IconCircleList"/>
    <dgm:cxn modelId="{D0BCEF9F-59EC-4747-8BF0-C7DC3BDC820A}" type="presParOf" srcId="{1AB7B3C1-957C-4466-8EF9-EAA20AA2405D}" destId="{DDC2E016-9E2F-40C9-B283-8DBD509720AB}" srcOrd="1" destOrd="0" presId="urn:microsoft.com/office/officeart/2018/2/layout/IconCircleList"/>
    <dgm:cxn modelId="{DC9B8B26-0EF9-4AEE-8FAE-B616F0464D17}" type="presParOf" srcId="{1AB7B3C1-957C-4466-8EF9-EAA20AA2405D}" destId="{F6D2C968-748D-459C-A1B9-BA4DE1F7D469}" srcOrd="2" destOrd="0" presId="urn:microsoft.com/office/officeart/2018/2/layout/IconCircleList"/>
    <dgm:cxn modelId="{7330D475-E61C-4AB4-BD8A-404EADDD5662}" type="presParOf" srcId="{1AB7B3C1-957C-4466-8EF9-EAA20AA2405D}" destId="{05E7D272-F0D8-4EEF-95F2-24AD47A35769}" srcOrd="3" destOrd="0" presId="urn:microsoft.com/office/officeart/2018/2/layout/IconCircleList"/>
    <dgm:cxn modelId="{CCBEEA7E-B40F-4DD1-B3D2-245139C2F0BC}" type="presParOf" srcId="{B6762C7E-8637-479D-88B6-2B5D11B59943}" destId="{17C9D011-0B0B-464E-8082-13AE2682BE15}" srcOrd="7" destOrd="0" presId="urn:microsoft.com/office/officeart/2018/2/layout/IconCircleList"/>
    <dgm:cxn modelId="{E86D9191-1CF3-476B-9500-0E9DE0D46B3B}" type="presParOf" srcId="{B6762C7E-8637-479D-88B6-2B5D11B59943}" destId="{B967B29C-8929-4D62-8A34-0E1E56B2906C}" srcOrd="8" destOrd="0" presId="urn:microsoft.com/office/officeart/2018/2/layout/IconCircleList"/>
    <dgm:cxn modelId="{D34E873B-9681-4F6F-9E7D-F11F6143F7B6}" type="presParOf" srcId="{B967B29C-8929-4D62-8A34-0E1E56B2906C}" destId="{B50AD77F-5C65-47D5-B97C-BD106A8F53D9}" srcOrd="0" destOrd="0" presId="urn:microsoft.com/office/officeart/2018/2/layout/IconCircleList"/>
    <dgm:cxn modelId="{FBECB51E-B0B0-4640-B698-1561D77BD685}" type="presParOf" srcId="{B967B29C-8929-4D62-8A34-0E1E56B2906C}" destId="{EEF598EF-7B04-4626-A5C3-6A3B83B4CE08}" srcOrd="1" destOrd="0" presId="urn:microsoft.com/office/officeart/2018/2/layout/IconCircleList"/>
    <dgm:cxn modelId="{FA782005-F0B9-4B6C-9121-C70F04347FA2}" type="presParOf" srcId="{B967B29C-8929-4D62-8A34-0E1E56B2906C}" destId="{ADC54AB4-9025-40A3-B9D5-E471F9313644}" srcOrd="2" destOrd="0" presId="urn:microsoft.com/office/officeart/2018/2/layout/IconCircleList"/>
    <dgm:cxn modelId="{4FDAEF38-1CF3-4BCC-85CA-B961DF9CB851}" type="presParOf" srcId="{B967B29C-8929-4D62-8A34-0E1E56B2906C}" destId="{CA388CF7-F596-419C-8BE9-6E57400CE96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E7F15F9-FA56-4FF5-99D4-41217C377F00}">
      <dsp:nvSpPr>
        <dsp:cNvPr id="0" name=""/>
        <dsp:cNvSpPr/>
      </dsp:nvSpPr>
      <dsp:spPr>
        <a:xfrm>
          <a:off x="109363" y="692144"/>
          <a:ext cx="833364" cy="83336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86F51B-C912-435E-A1F2-EEED195410D3}">
      <dsp:nvSpPr>
        <dsp:cNvPr id="0" name=""/>
        <dsp:cNvSpPr/>
      </dsp:nvSpPr>
      <dsp:spPr>
        <a:xfrm>
          <a:off x="284370" y="867150"/>
          <a:ext cx="483351" cy="48335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BCD13F7-7975-4F2A-AD67-DBA74FE07C9A}">
      <dsp:nvSpPr>
        <dsp:cNvPr id="0" name=""/>
        <dsp:cNvSpPr/>
      </dsp:nvSpPr>
      <dsp:spPr>
        <a:xfrm>
          <a:off x="1121306"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Always know when to enter and where to exit.</a:t>
          </a:r>
          <a:endParaRPr lang="en-US" sz="2000" kern="1200" dirty="0"/>
        </a:p>
      </dsp:txBody>
      <dsp:txXfrm>
        <a:off x="1121306" y="692144"/>
        <a:ext cx="1964358" cy="833364"/>
      </dsp:txXfrm>
    </dsp:sp>
    <dsp:sp modelId="{C52ACBF1-6DFE-4B7B-B939-18715B359557}">
      <dsp:nvSpPr>
        <dsp:cNvPr id="0" name=""/>
        <dsp:cNvSpPr/>
      </dsp:nvSpPr>
      <dsp:spPr>
        <a:xfrm>
          <a:off x="3427939" y="692144"/>
          <a:ext cx="833364" cy="83336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5014DA0-57A6-442B-ADBA-99A899834A58}">
      <dsp:nvSpPr>
        <dsp:cNvPr id="0" name=""/>
        <dsp:cNvSpPr/>
      </dsp:nvSpPr>
      <dsp:spPr>
        <a:xfrm>
          <a:off x="3602945" y="867150"/>
          <a:ext cx="483351" cy="48335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C88D4D-D206-4F6E-ACC8-FCCDC24FC1C2}">
      <dsp:nvSpPr>
        <dsp:cNvPr id="0" name=""/>
        <dsp:cNvSpPr/>
      </dsp:nvSpPr>
      <dsp:spPr>
        <a:xfrm>
          <a:off x="4439881" y="692144"/>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dirty="0"/>
            <a:t>Use stop loss.</a:t>
          </a:r>
          <a:endParaRPr lang="en-US" sz="2000" kern="1200" dirty="0"/>
        </a:p>
      </dsp:txBody>
      <dsp:txXfrm>
        <a:off x="4439881" y="692144"/>
        <a:ext cx="1964358" cy="833364"/>
      </dsp:txXfrm>
    </dsp:sp>
    <dsp:sp modelId="{332F3FA3-B6E5-4305-900F-EEDFDBCB6FB7}">
      <dsp:nvSpPr>
        <dsp:cNvPr id="0" name=""/>
        <dsp:cNvSpPr/>
      </dsp:nvSpPr>
      <dsp:spPr>
        <a:xfrm>
          <a:off x="109363" y="2526030"/>
          <a:ext cx="833364" cy="83336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856D77-CFCF-498E-89FE-5C0CA210570B}">
      <dsp:nvSpPr>
        <dsp:cNvPr id="0" name=""/>
        <dsp:cNvSpPr/>
      </dsp:nvSpPr>
      <dsp:spPr>
        <a:xfrm>
          <a:off x="284370" y="2701037"/>
          <a:ext cx="483351" cy="48335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0301B60-9AFC-4079-B036-8E931EE18678}">
      <dsp:nvSpPr>
        <dsp:cNvPr id="0" name=""/>
        <dsp:cNvSpPr/>
      </dsp:nvSpPr>
      <dsp:spPr>
        <a:xfrm>
          <a:off x="1121306"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a:t>Average only when in profit never in loss.</a:t>
          </a:r>
          <a:endParaRPr lang="en-US" sz="2000" kern="1200"/>
        </a:p>
      </dsp:txBody>
      <dsp:txXfrm>
        <a:off x="1121306" y="2526030"/>
        <a:ext cx="1964358" cy="833364"/>
      </dsp:txXfrm>
    </dsp:sp>
    <dsp:sp modelId="{91A1BF8E-5286-4D68-B2C7-3C7ABB40BF28}">
      <dsp:nvSpPr>
        <dsp:cNvPr id="0" name=""/>
        <dsp:cNvSpPr/>
      </dsp:nvSpPr>
      <dsp:spPr>
        <a:xfrm>
          <a:off x="3427939" y="2526030"/>
          <a:ext cx="833364" cy="833364"/>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DC2E016-9E2F-40C9-B283-8DBD509720AB}">
      <dsp:nvSpPr>
        <dsp:cNvPr id="0" name=""/>
        <dsp:cNvSpPr/>
      </dsp:nvSpPr>
      <dsp:spPr>
        <a:xfrm>
          <a:off x="3602945" y="2701037"/>
          <a:ext cx="483351" cy="48335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5E7D272-F0D8-4EEF-95F2-24AD47A35769}">
      <dsp:nvSpPr>
        <dsp:cNvPr id="0" name=""/>
        <dsp:cNvSpPr/>
      </dsp:nvSpPr>
      <dsp:spPr>
        <a:xfrm>
          <a:off x="4439881" y="2526030"/>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a:t>Following the herd is the common reason to loss money.</a:t>
          </a:r>
          <a:endParaRPr lang="en-US" sz="2000" kern="1200"/>
        </a:p>
      </dsp:txBody>
      <dsp:txXfrm>
        <a:off x="4439881" y="2526030"/>
        <a:ext cx="1964358" cy="833364"/>
      </dsp:txXfrm>
    </dsp:sp>
    <dsp:sp modelId="{B50AD77F-5C65-47D5-B97C-BD106A8F53D9}">
      <dsp:nvSpPr>
        <dsp:cNvPr id="0" name=""/>
        <dsp:cNvSpPr/>
      </dsp:nvSpPr>
      <dsp:spPr>
        <a:xfrm>
          <a:off x="109363" y="4359917"/>
          <a:ext cx="833364" cy="833364"/>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F598EF-7B04-4626-A5C3-6A3B83B4CE08}">
      <dsp:nvSpPr>
        <dsp:cNvPr id="0" name=""/>
        <dsp:cNvSpPr/>
      </dsp:nvSpPr>
      <dsp:spPr>
        <a:xfrm>
          <a:off x="284370" y="4534924"/>
          <a:ext cx="483351" cy="483351"/>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388CF7-F596-419C-8BE9-6E57400CE966}">
      <dsp:nvSpPr>
        <dsp:cNvPr id="0" name=""/>
        <dsp:cNvSpPr/>
      </dsp:nvSpPr>
      <dsp:spPr>
        <a:xfrm>
          <a:off x="1121306" y="4359917"/>
          <a:ext cx="1964358" cy="833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IN" sz="2000" kern="1200"/>
            <a:t>Don’t trade multiple market instead trade single market with diversifications.</a:t>
          </a:r>
          <a:endParaRPr lang="en-US" sz="2000" kern="1200"/>
        </a:p>
      </dsp:txBody>
      <dsp:txXfrm>
        <a:off x="1121306" y="4359917"/>
        <a:ext cx="1964358" cy="833364"/>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77363-D801-4132-9FDA-93730DF7D13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C2C92A-7217-4740-9F0C-466F9D43FA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3569508-8412-4F41-934A-19CAC83192B7}"/>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5" name="Footer Placeholder 4">
            <a:extLst>
              <a:ext uri="{FF2B5EF4-FFF2-40B4-BE49-F238E27FC236}">
                <a16:creationId xmlns:a16="http://schemas.microsoft.com/office/drawing/2014/main" id="{A102D7CA-AA17-4873-B0C3-1708A2A6C0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CF903D-03B4-48D6-910B-42DCECA307A9}"/>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42223138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D77B-D022-4A0E-BD2F-80B8561A9BA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4086C65-7BB5-4F8F-B4B4-8890D50E1F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5DF638D-EB84-41B1-92A5-F32C64C9D084}"/>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5" name="Footer Placeholder 4">
            <a:extLst>
              <a:ext uri="{FF2B5EF4-FFF2-40B4-BE49-F238E27FC236}">
                <a16:creationId xmlns:a16="http://schemas.microsoft.com/office/drawing/2014/main" id="{56E0391C-4B32-47D5-AD30-4E806A2606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FBC0E80-77A5-4834-A3EC-72F4A2E68E71}"/>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164660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753A1-20B7-46ED-A68A-1ED93A6D3D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E12D481-88E4-4854-9B3C-462DA2202F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12C703-22B2-454E-A6C2-79A69B8FFC40}"/>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5" name="Footer Placeholder 4">
            <a:extLst>
              <a:ext uri="{FF2B5EF4-FFF2-40B4-BE49-F238E27FC236}">
                <a16:creationId xmlns:a16="http://schemas.microsoft.com/office/drawing/2014/main" id="{17AC65F2-AC87-4830-B863-5068907220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676CBE-944E-4595-B5F3-BBC97F1B3952}"/>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18883660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8F9FF-1D89-49D4-86C3-F4468BB36C7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8F7E0EB-80BF-46B5-AE63-445E73ABC1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A80B49-9D07-4272-91F3-A9982137B47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567E151-B88A-42FB-A3E4-78CB066CFDE7}"/>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6" name="Footer Placeholder 5">
            <a:extLst>
              <a:ext uri="{FF2B5EF4-FFF2-40B4-BE49-F238E27FC236}">
                <a16:creationId xmlns:a16="http://schemas.microsoft.com/office/drawing/2014/main" id="{2AA5C472-32B3-4664-BD11-999FDE72679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774D70-081E-4BA5-94DC-1EF809AC43AF}"/>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933325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B1A35-25EB-43F6-B702-85FE88C31FA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5EBD666-F0FB-4368-BC41-343E4B4F2F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31E7FA-DB0B-4B1D-8C49-A36E939B9D0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316A71-5EE5-48D8-9282-C75B208A87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98DA07-A66C-4EC7-8227-153A2D63DFC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03F6626-A223-4F0A-AE06-0A5582B49F26}"/>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8" name="Footer Placeholder 7">
            <a:extLst>
              <a:ext uri="{FF2B5EF4-FFF2-40B4-BE49-F238E27FC236}">
                <a16:creationId xmlns:a16="http://schemas.microsoft.com/office/drawing/2014/main" id="{D3032DC3-8FD4-4BF0-B6C4-2ABA09EBE16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FE36683-780A-4EE5-95BC-1A0A2834DC81}"/>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4705883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E87D5-2DE6-4C70-A91A-39FD275966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6612A38-A76C-46E0-A255-555D60E169A3}"/>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4" name="Footer Placeholder 3">
            <a:extLst>
              <a:ext uri="{FF2B5EF4-FFF2-40B4-BE49-F238E27FC236}">
                <a16:creationId xmlns:a16="http://schemas.microsoft.com/office/drawing/2014/main" id="{E6ACC6A4-0267-4672-8566-A471EB21959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09499C-54C8-4DDB-B148-E5969D40058A}"/>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383747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53A1BA-72AE-417C-B6EB-7F9729025899}"/>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3" name="Footer Placeholder 2">
            <a:extLst>
              <a:ext uri="{FF2B5EF4-FFF2-40B4-BE49-F238E27FC236}">
                <a16:creationId xmlns:a16="http://schemas.microsoft.com/office/drawing/2014/main" id="{2FAEE73B-1E09-4D0B-AE54-256BBADC305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AD6800A-6B0C-4A7C-B2FD-FDD07AE603D9}"/>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2024901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F5247-3390-4D7A-9E57-E1403465A1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993834-3282-4ED9-A6FB-1B3F366F4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9C44324-CC75-4B82-8AF1-4F222B1BE46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7D1EB7-3150-47C4-8290-114078CBE739}"/>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6" name="Footer Placeholder 5">
            <a:extLst>
              <a:ext uri="{FF2B5EF4-FFF2-40B4-BE49-F238E27FC236}">
                <a16:creationId xmlns:a16="http://schemas.microsoft.com/office/drawing/2014/main" id="{0A7FF944-368F-4844-A713-ED5BB49086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38876F7-9818-4ABF-B16D-DC6FA1BA17F4}"/>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008681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55F8-2E64-425A-800A-FE05983810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032D95-B621-4720-B185-0D49F02EE2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1185112-B517-4698-8F3D-CCEB3973AE1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2A3FE2-98DE-43DC-A3E9-A92B6D5DC469}"/>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6" name="Footer Placeholder 5">
            <a:extLst>
              <a:ext uri="{FF2B5EF4-FFF2-40B4-BE49-F238E27FC236}">
                <a16:creationId xmlns:a16="http://schemas.microsoft.com/office/drawing/2014/main" id="{6F28CA28-A84F-41E5-9462-81D6D895697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1286FC-23FE-4F35-94DF-E0A1AED4BC18}"/>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2422070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96C17-4FA8-480C-B700-5A04F5B8406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EC3AF58-F5B6-4577-825F-1D95764BF9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1FD2710-7092-4E6D-A4D5-CFD5C34E154C}"/>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5" name="Footer Placeholder 4">
            <a:extLst>
              <a:ext uri="{FF2B5EF4-FFF2-40B4-BE49-F238E27FC236}">
                <a16:creationId xmlns:a16="http://schemas.microsoft.com/office/drawing/2014/main" id="{C93C9D9B-0657-49D8-964D-0A415D78863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5F1DD6-56B8-4A5A-A5A8-6E04D827697A}"/>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676566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7034CCC-2BBD-4030-8A4B-77E21485A1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C1DF1B8-A19B-4E27-A613-073AD1800A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66BB37-EC6C-4059-BFB0-F10C48623F67}"/>
              </a:ext>
            </a:extLst>
          </p:cNvPr>
          <p:cNvSpPr>
            <a:spLocks noGrp="1"/>
          </p:cNvSpPr>
          <p:nvPr>
            <p:ph type="dt" sz="half" idx="10"/>
          </p:nvPr>
        </p:nvSpPr>
        <p:spPr/>
        <p:txBody>
          <a:bodyPr/>
          <a:lstStyle/>
          <a:p>
            <a:fld id="{CA98E1DF-485D-4A85-AC5A-CED808EEA0DA}" type="datetimeFigureOut">
              <a:rPr lang="en-IN" smtClean="0"/>
              <a:t>30-08-2024</a:t>
            </a:fld>
            <a:endParaRPr lang="en-IN"/>
          </a:p>
        </p:txBody>
      </p:sp>
      <p:sp>
        <p:nvSpPr>
          <p:cNvPr id="5" name="Footer Placeholder 4">
            <a:extLst>
              <a:ext uri="{FF2B5EF4-FFF2-40B4-BE49-F238E27FC236}">
                <a16:creationId xmlns:a16="http://schemas.microsoft.com/office/drawing/2014/main" id="{11251CEB-029D-4A18-8C3C-AE85A78BA2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6BF965-CEAB-4760-BE00-B0EE6C6666A4}"/>
              </a:ext>
            </a:extLst>
          </p:cNvPr>
          <p:cNvSpPr>
            <a:spLocks noGrp="1"/>
          </p:cNvSpPr>
          <p:nvPr>
            <p:ph type="sldNum" sz="quarter" idx="12"/>
          </p:nvPr>
        </p:nvSpPr>
        <p:spPr/>
        <p:txBody>
          <a:bodyPr/>
          <a:lstStyle/>
          <a:p>
            <a:fld id="{7A5BEB8D-CAB6-4DB5-97DE-01B661B51786}" type="slidenum">
              <a:rPr lang="en-IN" smtClean="0"/>
              <a:t>‹#›</a:t>
            </a:fld>
            <a:endParaRPr lang="en-IN"/>
          </a:p>
        </p:txBody>
      </p:sp>
    </p:spTree>
    <p:extLst>
      <p:ext uri="{BB962C8B-B14F-4D97-AF65-F5344CB8AC3E}">
        <p14:creationId xmlns:p14="http://schemas.microsoft.com/office/powerpoint/2010/main" val="3346914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0ABD457-3976-4315-8D3A-BD1AF5B350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5EDE12-4A39-4BF7-B5CE-420463A1BB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0C6B1E-BA38-42A4-BBDD-7DB1496932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98E1DF-485D-4A85-AC5A-CED808EEA0DA}" type="datetimeFigureOut">
              <a:rPr lang="en-IN" smtClean="0"/>
              <a:t>30-08-2024</a:t>
            </a:fld>
            <a:endParaRPr lang="en-IN"/>
          </a:p>
        </p:txBody>
      </p:sp>
      <p:sp>
        <p:nvSpPr>
          <p:cNvPr id="5" name="Footer Placeholder 4">
            <a:extLst>
              <a:ext uri="{FF2B5EF4-FFF2-40B4-BE49-F238E27FC236}">
                <a16:creationId xmlns:a16="http://schemas.microsoft.com/office/drawing/2014/main" id="{972636D4-722D-4024-BE08-BDAB313E161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9201239-E300-421F-81FB-A436130583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5BEB8D-CAB6-4DB5-97DE-01B661B51786}" type="slidenum">
              <a:rPr lang="en-IN" smtClean="0"/>
              <a:t>‹#›</a:t>
            </a:fld>
            <a:endParaRPr lang="en-IN"/>
          </a:p>
        </p:txBody>
      </p:sp>
    </p:spTree>
    <p:extLst>
      <p:ext uri="{BB962C8B-B14F-4D97-AF65-F5344CB8AC3E}">
        <p14:creationId xmlns:p14="http://schemas.microsoft.com/office/powerpoint/2010/main" val="2630540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hyperlink" Target="https://dailypriceaction.com/forex-beginners/double-bottom-pattern/" TargetMode="External"/><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1.xml"/><Relationship Id="rId4" Type="http://schemas.openxmlformats.org/officeDocument/2006/relationships/image" Target="../media/image20.jpe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ewminteractive.com/moving-averages-learning-basics" TargetMode="External"/><Relationship Id="rId2" Type="http://schemas.openxmlformats.org/officeDocument/2006/relationships/image" Target="../media/image24.jp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gif"/><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7.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318" name="Rectangle 136">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DE1DE2-2C2A-4685-BD28-5CAA79253372}"/>
              </a:ext>
            </a:extLst>
          </p:cNvPr>
          <p:cNvSpPr>
            <a:spLocks noGrp="1"/>
          </p:cNvSpPr>
          <p:nvPr>
            <p:ph type="ctrTitle"/>
          </p:nvPr>
        </p:nvSpPr>
        <p:spPr>
          <a:xfrm>
            <a:off x="6746628" y="1783959"/>
            <a:ext cx="4645250" cy="871318"/>
          </a:xfrm>
        </p:spPr>
        <p:txBody>
          <a:bodyPr anchor="b">
            <a:normAutofit/>
          </a:bodyPr>
          <a:lstStyle/>
          <a:p>
            <a:pPr algn="l"/>
            <a:r>
              <a:rPr lang="en-IN" sz="4700" dirty="0">
                <a:solidFill>
                  <a:schemeClr val="bg1"/>
                </a:solidFill>
              </a:rPr>
              <a:t>Technical Analysis</a:t>
            </a:r>
          </a:p>
        </p:txBody>
      </p:sp>
      <p:sp>
        <p:nvSpPr>
          <p:cNvPr id="3" name="Subtitle 2">
            <a:extLst>
              <a:ext uri="{FF2B5EF4-FFF2-40B4-BE49-F238E27FC236}">
                <a16:creationId xmlns:a16="http://schemas.microsoft.com/office/drawing/2014/main" id="{8D5B0A19-4945-4423-BA6A-3B8E21E239B7}"/>
              </a:ext>
            </a:extLst>
          </p:cNvPr>
          <p:cNvSpPr>
            <a:spLocks noGrp="1"/>
          </p:cNvSpPr>
          <p:nvPr>
            <p:ph type="subTitle" idx="1"/>
          </p:nvPr>
        </p:nvSpPr>
        <p:spPr>
          <a:xfrm>
            <a:off x="6746627" y="4750893"/>
            <a:ext cx="4645250" cy="1147863"/>
          </a:xfrm>
        </p:spPr>
        <p:txBody>
          <a:bodyPr anchor="t">
            <a:normAutofit lnSpcReduction="10000"/>
          </a:bodyPr>
          <a:lstStyle/>
          <a:p>
            <a:pPr algn="l"/>
            <a:r>
              <a:rPr lang="en-IN" sz="2000" dirty="0">
                <a:solidFill>
                  <a:schemeClr val="bg1"/>
                </a:solidFill>
              </a:rPr>
              <a:t>Presentation by- </a:t>
            </a:r>
            <a:r>
              <a:rPr lang="en-IN" sz="2000" dirty="0" err="1">
                <a:solidFill>
                  <a:schemeClr val="bg1"/>
                </a:solidFill>
              </a:rPr>
              <a:t>Dr.</a:t>
            </a:r>
            <a:r>
              <a:rPr lang="en-IN" sz="2000" dirty="0">
                <a:solidFill>
                  <a:schemeClr val="bg1"/>
                </a:solidFill>
              </a:rPr>
              <a:t> Naresh Chandra Sahu</a:t>
            </a:r>
          </a:p>
          <a:p>
            <a:pPr algn="l"/>
            <a:r>
              <a:rPr lang="en-IN" sz="2000" dirty="0">
                <a:solidFill>
                  <a:schemeClr val="bg1"/>
                </a:solidFill>
              </a:rPr>
              <a:t>Associate Professor of Economics</a:t>
            </a:r>
          </a:p>
          <a:p>
            <a:pPr algn="l"/>
            <a:r>
              <a:rPr lang="en-IN" sz="2000" dirty="0">
                <a:solidFill>
                  <a:schemeClr val="bg1"/>
                </a:solidFill>
              </a:rPr>
              <a:t>IIT Bhubaneswar</a:t>
            </a:r>
          </a:p>
        </p:txBody>
      </p:sp>
      <p:sp>
        <p:nvSpPr>
          <p:cNvPr id="13319" name="Freeform: Shape 138">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320" name="Freeform: Shape 140">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26" name="Picture 2" descr="7 Best Technical Analysis Courses in 2024 - Top Online Trading Courses">
            <a:extLst>
              <a:ext uri="{FF2B5EF4-FFF2-40B4-BE49-F238E27FC236}">
                <a16:creationId xmlns:a16="http://schemas.microsoft.com/office/drawing/2014/main" id="{D8CECA7B-DFE6-2A77-3E4D-B932BA2144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421" y="514450"/>
            <a:ext cx="5111558" cy="34103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92646964"/>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Technical Analysis</a:t>
            </a:r>
          </a:p>
        </p:txBody>
      </p:sp>
      <p:sp>
        <p:nvSpPr>
          <p:cNvPr id="3" name="Subtitle 2">
            <a:extLst>
              <a:ext uri="{FF2B5EF4-FFF2-40B4-BE49-F238E27FC236}">
                <a16:creationId xmlns:a16="http://schemas.microsoft.com/office/drawing/2014/main" id="{DE12AE68-78CD-0B93-CF27-626A44EFEFF8}"/>
              </a:ext>
            </a:extLst>
          </p:cNvPr>
          <p:cNvSpPr>
            <a:spLocks noGrp="1"/>
          </p:cNvSpPr>
          <p:nvPr>
            <p:ph type="subTitle" idx="1"/>
          </p:nvPr>
        </p:nvSpPr>
        <p:spPr>
          <a:xfrm>
            <a:off x="527538" y="1116623"/>
            <a:ext cx="11034347" cy="5205043"/>
          </a:xfrm>
        </p:spPr>
        <p:txBody>
          <a:bodyPr>
            <a:normAutofit/>
          </a:bodyPr>
          <a:lstStyle/>
          <a:p>
            <a:pPr marL="342900" indent="-342900" algn="just">
              <a:buFont typeface="Arial" panose="020B0604020202020204" pitchFamily="34" charset="0"/>
              <a:buChar char="•"/>
            </a:pPr>
            <a:r>
              <a:rPr lang="en-US" dirty="0"/>
              <a:t>Technical analysis is based on the premise that “history repeats itself” and hence movement in stock prices follow an established trend which can be gauged from past price and volume data. </a:t>
            </a:r>
          </a:p>
          <a:p>
            <a:pPr marL="342900" indent="-342900" algn="just">
              <a:buFont typeface="Arial" panose="020B0604020202020204" pitchFamily="34" charset="0"/>
              <a:buChar char="•"/>
            </a:pPr>
            <a:r>
              <a:rPr lang="en-US" dirty="0"/>
              <a:t>As per Technical Analysis future price </a:t>
            </a:r>
            <a:r>
              <a:rPr lang="en-US" dirty="0" err="1"/>
              <a:t>behaviour</a:t>
            </a:r>
            <a:r>
              <a:rPr lang="en-US" dirty="0"/>
              <a:t> can be predicted on the basis of past price analysis. </a:t>
            </a:r>
          </a:p>
          <a:p>
            <a:pPr marL="342900" indent="-342900" algn="just">
              <a:buFont typeface="Arial" panose="020B0604020202020204" pitchFamily="34" charset="0"/>
              <a:buChar char="•"/>
            </a:pPr>
            <a:r>
              <a:rPr lang="en-US" dirty="0"/>
              <a:t>Technical analysis involves the study of various charts, ratios and patterns to predict future direction of stock prices. </a:t>
            </a:r>
          </a:p>
          <a:p>
            <a:pPr marL="342900" indent="-342900" algn="just">
              <a:buFont typeface="Arial" panose="020B0604020202020204" pitchFamily="34" charset="0"/>
              <a:buChar char="•"/>
            </a:pPr>
            <a:r>
              <a:rPr lang="en-US" dirty="0"/>
              <a:t>It helps in answering the questions like “Is it the right time to buy a share?” or “Is it the right time to sell a share?” </a:t>
            </a:r>
          </a:p>
          <a:p>
            <a:pPr marL="342900" indent="-342900" algn="just">
              <a:buFont typeface="Arial" panose="020B0604020202020204" pitchFamily="34" charset="0"/>
              <a:buChar char="•"/>
            </a:pPr>
            <a:r>
              <a:rPr lang="en-US" dirty="0"/>
              <a:t>Hence once it is decided to invest in the shares of a particular company, the right timing of investment can be decided on the basis of technical analysis.</a:t>
            </a:r>
            <a:endParaRPr lang="en-US" sz="3200" dirty="0"/>
          </a:p>
        </p:txBody>
      </p:sp>
    </p:spTree>
    <p:extLst>
      <p:ext uri="{BB962C8B-B14F-4D97-AF65-F5344CB8AC3E}">
        <p14:creationId xmlns:p14="http://schemas.microsoft.com/office/powerpoint/2010/main" val="33979188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Introduction</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8AE138-90B1-18F6-DAC2-472B6B23704A}"/>
              </a:ext>
            </a:extLst>
          </p:cNvPr>
          <p:cNvSpPr>
            <a:spLocks noGrp="1"/>
          </p:cNvSpPr>
          <p:nvPr>
            <p:ph idx="1"/>
          </p:nvPr>
        </p:nvSpPr>
        <p:spPr>
          <a:xfrm>
            <a:off x="838200" y="2488222"/>
            <a:ext cx="10515600" cy="4255477"/>
          </a:xfrm>
        </p:spPr>
        <p:txBody>
          <a:bodyPr>
            <a:normAutofit/>
          </a:bodyPr>
          <a:lstStyle/>
          <a:p>
            <a:r>
              <a:rPr lang="en-US" dirty="0"/>
              <a:t>Market analysis is broadly categorized into two main methods, </a:t>
            </a:r>
          </a:p>
          <a:p>
            <a:pPr lvl="1"/>
            <a:r>
              <a:rPr lang="en-US" dirty="0"/>
              <a:t>Fundamental analysis</a:t>
            </a:r>
          </a:p>
          <a:p>
            <a:pPr lvl="1"/>
            <a:r>
              <a:rPr lang="en-US" dirty="0"/>
              <a:t>Technical analysis. </a:t>
            </a:r>
          </a:p>
          <a:p>
            <a:endParaRPr lang="en-US" dirty="0"/>
          </a:p>
          <a:p>
            <a:r>
              <a:rPr lang="en-US" dirty="0"/>
              <a:t>In fundamental analysis an analyst needs to look at the financial statements of a company, its business model, overall macro-economic scenarios, management capabilities and many more things for coming to a specific fair value of a company. </a:t>
            </a:r>
          </a:p>
        </p:txBody>
      </p:sp>
    </p:spTree>
    <p:extLst>
      <p:ext uri="{BB962C8B-B14F-4D97-AF65-F5344CB8AC3E}">
        <p14:creationId xmlns:p14="http://schemas.microsoft.com/office/powerpoint/2010/main" val="3385945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Introduction</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8AE138-90B1-18F6-DAC2-472B6B23704A}"/>
              </a:ext>
            </a:extLst>
          </p:cNvPr>
          <p:cNvSpPr>
            <a:spLocks noGrp="1"/>
          </p:cNvSpPr>
          <p:nvPr>
            <p:ph idx="1"/>
          </p:nvPr>
        </p:nvSpPr>
        <p:spPr>
          <a:xfrm>
            <a:off x="838200" y="2488223"/>
            <a:ext cx="10515600" cy="3688740"/>
          </a:xfrm>
        </p:spPr>
        <p:txBody>
          <a:bodyPr>
            <a:normAutofit/>
          </a:bodyPr>
          <a:lstStyle/>
          <a:p>
            <a:r>
              <a:rPr lang="en-US" dirty="0"/>
              <a:t>A technical analyst only looks at price of a stock derived as a result of supply-demand interaction. </a:t>
            </a:r>
          </a:p>
          <a:p>
            <a:r>
              <a:rPr lang="en-US" dirty="0"/>
              <a:t>For a technical analysts, price is supreme and he or she sees price as manifestation of every fundamental reality. </a:t>
            </a:r>
          </a:p>
          <a:p>
            <a:r>
              <a:rPr lang="en-US" dirty="0"/>
              <a:t>Hence, they look only at two main aspects in the market. Price -over -time and volume.</a:t>
            </a:r>
          </a:p>
          <a:p>
            <a:r>
              <a:rPr lang="en-US" dirty="0"/>
              <a:t>The entire discipline of technical analysis is based on these two data points, price over time and volume. </a:t>
            </a:r>
          </a:p>
          <a:p>
            <a:endParaRPr lang="en-US" dirty="0"/>
          </a:p>
        </p:txBody>
      </p:sp>
    </p:spTree>
    <p:extLst>
      <p:ext uri="{BB962C8B-B14F-4D97-AF65-F5344CB8AC3E}">
        <p14:creationId xmlns:p14="http://schemas.microsoft.com/office/powerpoint/2010/main" val="4104161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Introduction</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8AE138-90B1-18F6-DAC2-472B6B23704A}"/>
              </a:ext>
            </a:extLst>
          </p:cNvPr>
          <p:cNvSpPr>
            <a:spLocks noGrp="1"/>
          </p:cNvSpPr>
          <p:nvPr>
            <p:ph idx="1"/>
          </p:nvPr>
        </p:nvSpPr>
        <p:spPr>
          <a:xfrm>
            <a:off x="838200" y="2488222"/>
            <a:ext cx="10515600" cy="4308232"/>
          </a:xfrm>
        </p:spPr>
        <p:txBody>
          <a:bodyPr>
            <a:normAutofit/>
          </a:bodyPr>
          <a:lstStyle/>
          <a:p>
            <a:r>
              <a:rPr lang="en-US" dirty="0"/>
              <a:t>All patterns, indicators, concepts are derived from these two basic data points. </a:t>
            </a:r>
          </a:p>
          <a:p>
            <a:r>
              <a:rPr lang="en-US" dirty="0"/>
              <a:t>This is not a definitive science, rather a probabilistic discipline. </a:t>
            </a:r>
          </a:p>
          <a:p>
            <a:r>
              <a:rPr lang="en-US" dirty="0"/>
              <a:t>In simple terms, it is more of an art than science. </a:t>
            </a:r>
          </a:p>
          <a:p>
            <a:r>
              <a:rPr lang="en-US" dirty="0"/>
              <a:t>There are well known chart patterns or indicators in the market. </a:t>
            </a:r>
          </a:p>
          <a:p>
            <a:r>
              <a:rPr lang="en-US" dirty="0"/>
              <a:t>But nothing works 100% of time. That is why it is called an art.</a:t>
            </a:r>
          </a:p>
          <a:p>
            <a:r>
              <a:rPr lang="en-US" dirty="0"/>
              <a:t>With experience, a chartist is able to form an opinion of his or her own so that he has some extra edge on the market assessment than someone having just bookish knowledge of technical analysis.   </a:t>
            </a:r>
          </a:p>
        </p:txBody>
      </p:sp>
    </p:spTree>
    <p:extLst>
      <p:ext uri="{BB962C8B-B14F-4D97-AF65-F5344CB8AC3E}">
        <p14:creationId xmlns:p14="http://schemas.microsoft.com/office/powerpoint/2010/main" val="32378240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Fundamental Vs. Technical Analysis</a:t>
            </a:r>
          </a:p>
        </p:txBody>
      </p:sp>
      <p:graphicFrame>
        <p:nvGraphicFramePr>
          <p:cNvPr id="4" name="Table 3">
            <a:extLst>
              <a:ext uri="{FF2B5EF4-FFF2-40B4-BE49-F238E27FC236}">
                <a16:creationId xmlns:a16="http://schemas.microsoft.com/office/drawing/2014/main" id="{F65F923B-EB1B-8E64-469A-6153222FD45C}"/>
              </a:ext>
            </a:extLst>
          </p:cNvPr>
          <p:cNvGraphicFramePr>
            <a:graphicFrameLocks noGrp="1"/>
          </p:cNvGraphicFramePr>
          <p:nvPr>
            <p:extLst>
              <p:ext uri="{D42A27DB-BD31-4B8C-83A1-F6EECF244321}">
                <p14:modId xmlns:p14="http://schemas.microsoft.com/office/powerpoint/2010/main" val="3898448334"/>
              </p:ext>
            </p:extLst>
          </p:nvPr>
        </p:nvGraphicFramePr>
        <p:xfrm>
          <a:off x="474786" y="975945"/>
          <a:ext cx="11447583" cy="5556737"/>
        </p:xfrm>
        <a:graphic>
          <a:graphicData uri="http://schemas.openxmlformats.org/drawingml/2006/table">
            <a:tbl>
              <a:tblPr firstRow="1" bandRow="1">
                <a:tableStyleId>{9D7B26C5-4107-4FEC-AEDC-1716B250A1EF}</a:tableStyleId>
              </a:tblPr>
              <a:tblGrid>
                <a:gridCol w="3815861">
                  <a:extLst>
                    <a:ext uri="{9D8B030D-6E8A-4147-A177-3AD203B41FA5}">
                      <a16:colId xmlns:a16="http://schemas.microsoft.com/office/drawing/2014/main" val="3219168257"/>
                    </a:ext>
                  </a:extLst>
                </a:gridCol>
                <a:gridCol w="3815861">
                  <a:extLst>
                    <a:ext uri="{9D8B030D-6E8A-4147-A177-3AD203B41FA5}">
                      <a16:colId xmlns:a16="http://schemas.microsoft.com/office/drawing/2014/main" val="2310753240"/>
                    </a:ext>
                  </a:extLst>
                </a:gridCol>
                <a:gridCol w="3815861">
                  <a:extLst>
                    <a:ext uri="{9D8B030D-6E8A-4147-A177-3AD203B41FA5}">
                      <a16:colId xmlns:a16="http://schemas.microsoft.com/office/drawing/2014/main" val="3397281880"/>
                    </a:ext>
                  </a:extLst>
                </a:gridCol>
              </a:tblGrid>
              <a:tr h="447105">
                <a:tc>
                  <a:txBody>
                    <a:bodyPr/>
                    <a:lstStyle/>
                    <a:p>
                      <a:r>
                        <a:rPr lang="en-US" dirty="0"/>
                        <a:t>Basis</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n-US" dirty="0"/>
                        <a:t>Fundamental Analysis</a:t>
                      </a:r>
                    </a:p>
                  </a:txBody>
                  <a:tcPr>
                    <a:lnT w="12700" cap="flat" cmpd="sng" algn="ctr">
                      <a:solidFill>
                        <a:schemeClr val="tx1"/>
                      </a:solidFill>
                      <a:prstDash val="solid"/>
                      <a:round/>
                      <a:headEnd type="none" w="med" len="med"/>
                      <a:tailEnd type="none" w="med" len="med"/>
                    </a:lnT>
                  </a:tcPr>
                </a:tc>
                <a:tc>
                  <a:txBody>
                    <a:bodyPr/>
                    <a:lstStyle/>
                    <a:p>
                      <a:r>
                        <a:rPr lang="en-US" dirty="0"/>
                        <a:t>Technical Analysis</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44580537"/>
                  </a:ext>
                </a:extLst>
              </a:tr>
              <a:tr h="771715">
                <a:tc>
                  <a:txBody>
                    <a:bodyPr/>
                    <a:lstStyle/>
                    <a:p>
                      <a:r>
                        <a:rPr lang="en-US" dirty="0"/>
                        <a:t>Objective</a:t>
                      </a:r>
                    </a:p>
                  </a:txBody>
                  <a:tcPr>
                    <a:lnL w="12700" cap="flat" cmpd="sng" algn="ctr">
                      <a:solidFill>
                        <a:schemeClr val="tx1"/>
                      </a:solidFill>
                      <a:prstDash val="solid"/>
                      <a:round/>
                      <a:headEnd type="none" w="med" len="med"/>
                      <a:tailEnd type="none" w="med" len="med"/>
                    </a:lnL>
                  </a:tcPr>
                </a:tc>
                <a:tc>
                  <a:txBody>
                    <a:bodyPr/>
                    <a:lstStyle/>
                    <a:p>
                      <a:r>
                        <a:rPr lang="en-US" dirty="0"/>
                        <a:t>To determine intrinsic value</a:t>
                      </a:r>
                    </a:p>
                  </a:txBody>
                  <a:tcPr/>
                </a:tc>
                <a:tc>
                  <a:txBody>
                    <a:bodyPr/>
                    <a:lstStyle/>
                    <a:p>
                      <a:r>
                        <a:rPr lang="en-US" dirty="0"/>
                        <a:t>To determine future trend</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231116"/>
                  </a:ext>
                </a:extLst>
              </a:tr>
              <a:tr h="1102451">
                <a:tc>
                  <a:txBody>
                    <a:bodyPr/>
                    <a:lstStyle/>
                    <a:p>
                      <a:r>
                        <a:rPr lang="en-US" dirty="0"/>
                        <a:t>Source of information</a:t>
                      </a:r>
                    </a:p>
                  </a:txBody>
                  <a:tcPr>
                    <a:lnL w="12700" cap="flat" cmpd="sng" algn="ctr">
                      <a:solidFill>
                        <a:schemeClr val="tx1"/>
                      </a:solidFill>
                      <a:prstDash val="solid"/>
                      <a:round/>
                      <a:headEnd type="none" w="med" len="med"/>
                      <a:tailEnd type="none" w="med" len="med"/>
                    </a:lnL>
                  </a:tcPr>
                </a:tc>
                <a:tc>
                  <a:txBody>
                    <a:bodyPr/>
                    <a:lstStyle/>
                    <a:p>
                      <a:r>
                        <a:rPr lang="en-US" dirty="0"/>
                        <a:t>EIC Analysis, Govt reports,</a:t>
                      </a:r>
                    </a:p>
                    <a:p>
                      <a:r>
                        <a:rPr lang="en-US" dirty="0"/>
                        <a:t>Company Financial Statements</a:t>
                      </a:r>
                    </a:p>
                  </a:txBody>
                  <a:tcPr/>
                </a:tc>
                <a:tc>
                  <a:txBody>
                    <a:bodyPr/>
                    <a:lstStyle/>
                    <a:p>
                      <a:r>
                        <a:rPr lang="en-US" dirty="0"/>
                        <a:t>Past price and volume</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462718192"/>
                  </a:ext>
                </a:extLst>
              </a:tr>
              <a:tr h="1102451">
                <a:tc>
                  <a:txBody>
                    <a:bodyPr/>
                    <a:lstStyle/>
                    <a:p>
                      <a:r>
                        <a:rPr lang="en-US" dirty="0"/>
                        <a:t>Tools and techniques</a:t>
                      </a:r>
                    </a:p>
                  </a:txBody>
                  <a:tcPr>
                    <a:lnL w="12700" cap="flat" cmpd="sng" algn="ctr">
                      <a:solidFill>
                        <a:schemeClr val="tx1"/>
                      </a:solidFill>
                      <a:prstDash val="solid"/>
                      <a:round/>
                      <a:headEnd type="none" w="med" len="med"/>
                      <a:tailEnd type="none" w="med" len="med"/>
                    </a:lnL>
                  </a:tcPr>
                </a:tc>
                <a:tc>
                  <a:txBody>
                    <a:bodyPr/>
                    <a:lstStyle/>
                    <a:p>
                      <a:r>
                        <a:rPr lang="en-US" dirty="0"/>
                        <a:t>EIC analysis, ratio analysis, discounted cashflow analysis etc.</a:t>
                      </a:r>
                    </a:p>
                  </a:txBody>
                  <a:tcPr/>
                </a:tc>
                <a:tc>
                  <a:txBody>
                    <a:bodyPr/>
                    <a:lstStyle/>
                    <a:p>
                      <a:r>
                        <a:rPr lang="en-US" dirty="0"/>
                        <a:t>Trend analysis and Chart patterns</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68466235"/>
                  </a:ext>
                </a:extLst>
              </a:tr>
              <a:tr h="447105">
                <a:tc>
                  <a:txBody>
                    <a:bodyPr/>
                    <a:lstStyle/>
                    <a:p>
                      <a:r>
                        <a:rPr lang="en-US" dirty="0"/>
                        <a:t>Time horizon</a:t>
                      </a:r>
                    </a:p>
                  </a:txBody>
                  <a:tcPr>
                    <a:lnL w="12700" cap="flat" cmpd="sng" algn="ctr">
                      <a:solidFill>
                        <a:schemeClr val="tx1"/>
                      </a:solidFill>
                      <a:prstDash val="solid"/>
                      <a:round/>
                      <a:headEnd type="none" w="med" len="med"/>
                      <a:tailEnd type="none" w="med" len="med"/>
                    </a:lnL>
                  </a:tcPr>
                </a:tc>
                <a:tc>
                  <a:txBody>
                    <a:bodyPr/>
                    <a:lstStyle/>
                    <a:p>
                      <a:r>
                        <a:rPr lang="en-US" dirty="0"/>
                        <a:t>Long term</a:t>
                      </a:r>
                    </a:p>
                  </a:txBody>
                  <a:tcPr/>
                </a:tc>
                <a:tc>
                  <a:txBody>
                    <a:bodyPr/>
                    <a:lstStyle/>
                    <a:p>
                      <a:r>
                        <a:rPr lang="en-US" dirty="0"/>
                        <a:t>Short term</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206268147"/>
                  </a:ext>
                </a:extLst>
              </a:tr>
              <a:tr h="447105">
                <a:tc>
                  <a:txBody>
                    <a:bodyPr/>
                    <a:lstStyle/>
                    <a:p>
                      <a:r>
                        <a:rPr lang="en-US" dirty="0"/>
                        <a:t>Who uses</a:t>
                      </a:r>
                    </a:p>
                  </a:txBody>
                  <a:tcPr>
                    <a:lnL w="12700" cap="flat" cmpd="sng" algn="ctr">
                      <a:solidFill>
                        <a:schemeClr val="tx1"/>
                      </a:solidFill>
                      <a:prstDash val="solid"/>
                      <a:round/>
                      <a:headEnd type="none" w="med" len="med"/>
                      <a:tailEnd type="none" w="med" len="med"/>
                    </a:lnL>
                  </a:tcPr>
                </a:tc>
                <a:tc>
                  <a:txBody>
                    <a:bodyPr/>
                    <a:lstStyle/>
                    <a:p>
                      <a:r>
                        <a:rPr lang="en-US" dirty="0"/>
                        <a:t>Investors</a:t>
                      </a:r>
                    </a:p>
                  </a:txBody>
                  <a:tcPr/>
                </a:tc>
                <a:tc>
                  <a:txBody>
                    <a:bodyPr/>
                    <a:lstStyle/>
                    <a:p>
                      <a:r>
                        <a:rPr lang="en-US" dirty="0"/>
                        <a:t>Traders</a:t>
                      </a:r>
                    </a:p>
                  </a:txBody>
                  <a:tcP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535429851"/>
                  </a:ext>
                </a:extLst>
              </a:tr>
              <a:tr h="1238805">
                <a:tc>
                  <a:txBody>
                    <a:bodyPr/>
                    <a:lstStyle/>
                    <a:p>
                      <a:r>
                        <a:rPr lang="en-US" dirty="0"/>
                        <a:t>Investment Decision</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n-US" dirty="0"/>
                        <a:t>Buy: </a:t>
                      </a:r>
                    </a:p>
                    <a:p>
                      <a:r>
                        <a:rPr lang="en-US" dirty="0"/>
                        <a:t>when intrinsic value &gt; market value</a:t>
                      </a:r>
                    </a:p>
                    <a:p>
                      <a:r>
                        <a:rPr lang="en-US" dirty="0"/>
                        <a:t>Sell: </a:t>
                      </a:r>
                    </a:p>
                    <a:p>
                      <a:r>
                        <a:rPr lang="en-US" dirty="0"/>
                        <a:t>When Intrinsic value &lt; market value</a:t>
                      </a:r>
                    </a:p>
                  </a:txBody>
                  <a:tcPr>
                    <a:lnB w="12700" cap="flat" cmpd="sng" algn="ctr">
                      <a:solidFill>
                        <a:schemeClr val="tx1"/>
                      </a:solidFill>
                      <a:prstDash val="solid"/>
                      <a:round/>
                      <a:headEnd type="none" w="med" len="med"/>
                      <a:tailEnd type="none" w="med" len="med"/>
                    </a:lnB>
                  </a:tcPr>
                </a:tc>
                <a:tc>
                  <a:txBody>
                    <a:bodyPr/>
                    <a:lstStyle/>
                    <a:p>
                      <a:r>
                        <a:rPr lang="en-US" dirty="0"/>
                        <a:t>Based on price movements</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8608765"/>
                  </a:ext>
                </a:extLst>
              </a:tr>
            </a:tbl>
          </a:graphicData>
        </a:graphic>
      </p:graphicFrame>
    </p:spTree>
    <p:extLst>
      <p:ext uri="{BB962C8B-B14F-4D97-AF65-F5344CB8AC3E}">
        <p14:creationId xmlns:p14="http://schemas.microsoft.com/office/powerpoint/2010/main" val="2122873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Tools of Technical Analysis</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8AE138-90B1-18F6-DAC2-472B6B23704A}"/>
              </a:ext>
            </a:extLst>
          </p:cNvPr>
          <p:cNvSpPr>
            <a:spLocks noGrp="1"/>
          </p:cNvSpPr>
          <p:nvPr>
            <p:ph idx="1"/>
          </p:nvPr>
        </p:nvSpPr>
        <p:spPr>
          <a:xfrm>
            <a:off x="378068" y="2488222"/>
            <a:ext cx="11438792" cy="4308232"/>
          </a:xfrm>
        </p:spPr>
        <p:txBody>
          <a:bodyPr>
            <a:normAutofit/>
          </a:bodyPr>
          <a:lstStyle/>
          <a:p>
            <a:pPr marL="0" indent="0" algn="just">
              <a:buNone/>
            </a:pPr>
            <a:r>
              <a:rPr lang="en-US" dirty="0"/>
              <a:t>Technical analysis can be performed both at the market level and at individual company level using various types of charts, ratios, patterns or indicators. Some of these are:</a:t>
            </a:r>
          </a:p>
          <a:p>
            <a:pPr algn="just"/>
            <a:r>
              <a:rPr lang="en-US" dirty="0"/>
              <a:t>Charts Analysis</a:t>
            </a:r>
          </a:p>
          <a:p>
            <a:pPr algn="just"/>
            <a:r>
              <a:rPr lang="en-US" dirty="0"/>
              <a:t>Trend Analysis</a:t>
            </a:r>
          </a:p>
          <a:p>
            <a:pPr algn="just"/>
            <a:r>
              <a:rPr lang="en-US" dirty="0"/>
              <a:t>Market Indicators</a:t>
            </a:r>
          </a:p>
          <a:p>
            <a:pPr algn="just"/>
            <a:r>
              <a:rPr lang="en-US" dirty="0"/>
              <a:t>Volume Analysis</a:t>
            </a:r>
          </a:p>
          <a:p>
            <a:pPr algn="just"/>
            <a:endParaRPr lang="en-US" dirty="0"/>
          </a:p>
        </p:txBody>
      </p:sp>
    </p:spTree>
    <p:extLst>
      <p:ext uri="{BB962C8B-B14F-4D97-AF65-F5344CB8AC3E}">
        <p14:creationId xmlns:p14="http://schemas.microsoft.com/office/powerpoint/2010/main" val="4293411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Charts and Its Types</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98AE138-90B1-18F6-DAC2-472B6B23704A}"/>
              </a:ext>
            </a:extLst>
          </p:cNvPr>
          <p:cNvSpPr>
            <a:spLocks noGrp="1"/>
          </p:cNvSpPr>
          <p:nvPr>
            <p:ph idx="1"/>
          </p:nvPr>
        </p:nvSpPr>
        <p:spPr>
          <a:xfrm>
            <a:off x="838200" y="2488222"/>
            <a:ext cx="10515600" cy="4185139"/>
          </a:xfrm>
        </p:spPr>
        <p:txBody>
          <a:bodyPr>
            <a:normAutofit lnSpcReduction="10000"/>
          </a:bodyPr>
          <a:lstStyle/>
          <a:p>
            <a:r>
              <a:rPr lang="en-US" dirty="0"/>
              <a:t>Charts are two-dimensional representation of price over time. </a:t>
            </a:r>
          </a:p>
          <a:p>
            <a:r>
              <a:rPr lang="en-US" dirty="0"/>
              <a:t>There are many types of charts available. </a:t>
            </a:r>
          </a:p>
          <a:p>
            <a:r>
              <a:rPr lang="en-US" dirty="0"/>
              <a:t>Line Charts, Bar Charts and the Candlestick Charts. </a:t>
            </a:r>
          </a:p>
          <a:p>
            <a:r>
              <a:rPr lang="en-US" dirty="0"/>
              <a:t>The unit can be month, week, day, hour, 5 min or few seconds. </a:t>
            </a:r>
          </a:p>
          <a:p>
            <a:r>
              <a:rPr lang="en-US" dirty="0"/>
              <a:t>The shorter the time period, more detailed the chart becomes. </a:t>
            </a:r>
          </a:p>
          <a:p>
            <a:r>
              <a:rPr lang="en-US" dirty="0"/>
              <a:t>The beauty of time in technical analysis is that the same concepts apply to charts irrespective of time-frame of observation. </a:t>
            </a:r>
          </a:p>
          <a:p>
            <a:r>
              <a:rPr lang="en-US" dirty="0"/>
              <a:t>Generally higher the time frame of chart, relatively higher is the probability of any concept in market.</a:t>
            </a:r>
          </a:p>
        </p:txBody>
      </p:sp>
    </p:spTree>
    <p:extLst>
      <p:ext uri="{BB962C8B-B14F-4D97-AF65-F5344CB8AC3E}">
        <p14:creationId xmlns:p14="http://schemas.microsoft.com/office/powerpoint/2010/main" val="19673784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Line Chart</a:t>
            </a:r>
          </a:p>
        </p:txBody>
      </p:sp>
      <p:sp>
        <p:nvSpPr>
          <p:cNvPr id="3" name="Subtitle 2">
            <a:extLst>
              <a:ext uri="{FF2B5EF4-FFF2-40B4-BE49-F238E27FC236}">
                <a16:creationId xmlns:a16="http://schemas.microsoft.com/office/drawing/2014/main" id="{DE12AE68-78CD-0B93-CF27-626A44EFEFF8}"/>
              </a:ext>
            </a:extLst>
          </p:cNvPr>
          <p:cNvSpPr>
            <a:spLocks noGrp="1"/>
          </p:cNvSpPr>
          <p:nvPr>
            <p:ph type="subTitle" idx="1"/>
          </p:nvPr>
        </p:nvSpPr>
        <p:spPr>
          <a:xfrm>
            <a:off x="527538" y="1116623"/>
            <a:ext cx="11034347" cy="5205043"/>
          </a:xfrm>
        </p:spPr>
        <p:txBody>
          <a:bodyPr>
            <a:normAutofit/>
          </a:bodyPr>
          <a:lstStyle/>
          <a:p>
            <a:pPr marL="342900" indent="-342900" algn="just">
              <a:buFont typeface="Arial" panose="020B0604020202020204" pitchFamily="34" charset="0"/>
              <a:buChar char="•"/>
            </a:pPr>
            <a:r>
              <a:rPr lang="en-US" sz="2800" dirty="0"/>
              <a:t>In line chart each and every price point is represented as a dot. </a:t>
            </a:r>
          </a:p>
          <a:p>
            <a:pPr marL="342900" indent="-342900" algn="just">
              <a:buFont typeface="Arial" panose="020B0604020202020204" pitchFamily="34" charset="0"/>
              <a:buChar char="•"/>
            </a:pPr>
            <a:r>
              <a:rPr lang="en-US" sz="2800" dirty="0"/>
              <a:t>The X-axis represents the time scale and the Y-axis represents the price. </a:t>
            </a:r>
          </a:p>
          <a:p>
            <a:pPr marL="342900" indent="-342900" algn="just">
              <a:buFont typeface="Arial" panose="020B0604020202020204" pitchFamily="34" charset="0"/>
              <a:buChar char="•"/>
            </a:pPr>
            <a:r>
              <a:rPr lang="en-US" sz="2800" dirty="0"/>
              <a:t>Each dot or point represents the closing price at the end of a unit of time. </a:t>
            </a:r>
          </a:p>
          <a:p>
            <a:pPr marL="342900" indent="-342900" algn="just">
              <a:buFont typeface="Arial" panose="020B0604020202020204" pitchFamily="34" charset="0"/>
              <a:buChar char="•"/>
            </a:pPr>
            <a:r>
              <a:rPr lang="en-US" sz="2800" dirty="0"/>
              <a:t>These points are then joined to form a line. </a:t>
            </a:r>
          </a:p>
          <a:p>
            <a:pPr marL="342900" indent="-342900" algn="just">
              <a:buFont typeface="Arial" panose="020B0604020202020204" pitchFamily="34" charset="0"/>
              <a:buChar char="•"/>
            </a:pPr>
            <a:r>
              <a:rPr lang="en-US" sz="2800" dirty="0"/>
              <a:t>This is the simplest form of chart.</a:t>
            </a:r>
          </a:p>
          <a:p>
            <a:pPr marL="342900" indent="-342900" algn="just">
              <a:buFont typeface="Arial" panose="020B0604020202020204" pitchFamily="34" charset="0"/>
              <a:buChar char="•"/>
            </a:pPr>
            <a:r>
              <a:rPr lang="en-US" sz="2800" dirty="0"/>
              <a:t>But this is quite good if we want to plot 3-4 similarly priced stocks in a single chart and compare. </a:t>
            </a:r>
          </a:p>
          <a:p>
            <a:pPr marL="342900" indent="-342900" algn="just">
              <a:buFont typeface="Arial" panose="020B0604020202020204" pitchFamily="34" charset="0"/>
              <a:buChar char="•"/>
            </a:pPr>
            <a:r>
              <a:rPr lang="en-US" sz="2800" dirty="0"/>
              <a:t>Moreover, the line chart gives the clearest idea about price direction of a stock.</a:t>
            </a:r>
          </a:p>
          <a:p>
            <a:pPr algn="just"/>
            <a:endParaRPr lang="en-US" sz="2800" dirty="0"/>
          </a:p>
        </p:txBody>
      </p:sp>
    </p:spTree>
    <p:extLst>
      <p:ext uri="{BB962C8B-B14F-4D97-AF65-F5344CB8AC3E}">
        <p14:creationId xmlns:p14="http://schemas.microsoft.com/office/powerpoint/2010/main" val="13644416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Line Chart</a:t>
            </a:r>
          </a:p>
        </p:txBody>
      </p:sp>
      <p:pic>
        <p:nvPicPr>
          <p:cNvPr id="4" name="Picture 2">
            <a:extLst>
              <a:ext uri="{FF2B5EF4-FFF2-40B4-BE49-F238E27FC236}">
                <a16:creationId xmlns:a16="http://schemas.microsoft.com/office/drawing/2014/main" id="{51A779B5-BFA6-4B05-ECC7-DBE65A61D3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3531"/>
            <a:ext cx="12192000" cy="586446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9474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Bar Chart</a:t>
            </a:r>
          </a:p>
        </p:txBody>
      </p:sp>
      <p:sp>
        <p:nvSpPr>
          <p:cNvPr id="3" name="Subtitle 2">
            <a:extLst>
              <a:ext uri="{FF2B5EF4-FFF2-40B4-BE49-F238E27FC236}">
                <a16:creationId xmlns:a16="http://schemas.microsoft.com/office/drawing/2014/main" id="{DE12AE68-78CD-0B93-CF27-626A44EFEFF8}"/>
              </a:ext>
            </a:extLst>
          </p:cNvPr>
          <p:cNvSpPr>
            <a:spLocks noGrp="1"/>
          </p:cNvSpPr>
          <p:nvPr>
            <p:ph type="subTitle" idx="1"/>
          </p:nvPr>
        </p:nvSpPr>
        <p:spPr>
          <a:xfrm>
            <a:off x="220906" y="1406769"/>
            <a:ext cx="5362209" cy="5205043"/>
          </a:xfrm>
        </p:spPr>
        <p:txBody>
          <a:bodyPr>
            <a:normAutofit/>
          </a:bodyPr>
          <a:lstStyle/>
          <a:p>
            <a:pPr marL="342900" indent="-342900" algn="just">
              <a:buFont typeface="Arial" panose="020B0604020202020204" pitchFamily="34" charset="0"/>
              <a:buChar char="•"/>
            </a:pPr>
            <a:r>
              <a:rPr lang="en-US" dirty="0"/>
              <a:t>A bar chart is comprised of a series of bars. </a:t>
            </a:r>
          </a:p>
          <a:p>
            <a:pPr marL="342900" indent="-342900" algn="just">
              <a:buFont typeface="Arial" panose="020B0604020202020204" pitchFamily="34" charset="0"/>
              <a:buChar char="•"/>
            </a:pPr>
            <a:r>
              <a:rPr lang="en-US" dirty="0"/>
              <a:t>Every bar has four important price points - open close high and low.</a:t>
            </a:r>
          </a:p>
          <a:p>
            <a:pPr marL="342900" indent="-342900" algn="just">
              <a:buFont typeface="Arial" panose="020B0604020202020204" pitchFamily="34" charset="0"/>
              <a:buChar char="•"/>
            </a:pPr>
            <a:r>
              <a:rPr lang="en-US" dirty="0"/>
              <a:t>The bars are represented in green or blue color when close is higher than open and red color when close is lower than open. </a:t>
            </a:r>
          </a:p>
          <a:p>
            <a:pPr marL="342900" indent="-342900" algn="just">
              <a:buFont typeface="Arial" panose="020B0604020202020204" pitchFamily="34" charset="0"/>
              <a:buChar char="•"/>
            </a:pPr>
            <a:r>
              <a:rPr lang="en-US" dirty="0"/>
              <a:t>The bar charts are more detailed than the line chart and are good for demonstrating or spotting the classical price patterns. </a:t>
            </a:r>
          </a:p>
          <a:p>
            <a:endParaRPr lang="en-US" dirty="0"/>
          </a:p>
        </p:txBody>
      </p:sp>
      <p:pic>
        <p:nvPicPr>
          <p:cNvPr id="5" name="Picture 2" descr="3 Technical Analysis Chart Types | Britannica Money">
            <a:extLst>
              <a:ext uri="{FF2B5EF4-FFF2-40B4-BE49-F238E27FC236}">
                <a16:creationId xmlns:a16="http://schemas.microsoft.com/office/drawing/2014/main" id="{6BEFB071-6356-46DF-684D-3C55807A1F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3748" y="1846385"/>
            <a:ext cx="5820382" cy="335866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5045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Bar Chart</a:t>
            </a:r>
          </a:p>
        </p:txBody>
      </p:sp>
      <p:pic>
        <p:nvPicPr>
          <p:cNvPr id="3" name="Picture 2">
            <a:extLst>
              <a:ext uri="{FF2B5EF4-FFF2-40B4-BE49-F238E27FC236}">
                <a16:creationId xmlns:a16="http://schemas.microsoft.com/office/drawing/2014/main" id="{3360DE40-FBEC-8412-1807-99958E54F1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4739"/>
            <a:ext cx="12192000" cy="587326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79101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Candlestick Chart</a:t>
            </a:r>
          </a:p>
        </p:txBody>
      </p:sp>
      <p:sp>
        <p:nvSpPr>
          <p:cNvPr id="3" name="Subtitle 2">
            <a:extLst>
              <a:ext uri="{FF2B5EF4-FFF2-40B4-BE49-F238E27FC236}">
                <a16:creationId xmlns:a16="http://schemas.microsoft.com/office/drawing/2014/main" id="{DE12AE68-78CD-0B93-CF27-626A44EFEFF8}"/>
              </a:ext>
            </a:extLst>
          </p:cNvPr>
          <p:cNvSpPr>
            <a:spLocks noGrp="1"/>
          </p:cNvSpPr>
          <p:nvPr>
            <p:ph type="subTitle" idx="1"/>
          </p:nvPr>
        </p:nvSpPr>
        <p:spPr>
          <a:xfrm>
            <a:off x="220906" y="1028697"/>
            <a:ext cx="6529753" cy="5583115"/>
          </a:xfrm>
        </p:spPr>
        <p:txBody>
          <a:bodyPr>
            <a:normAutofit/>
          </a:bodyPr>
          <a:lstStyle/>
          <a:p>
            <a:pPr marL="342900" indent="-342900" algn="just">
              <a:buFont typeface="Arial" panose="020B0604020202020204" pitchFamily="34" charset="0"/>
              <a:buChar char="•"/>
            </a:pPr>
            <a:r>
              <a:rPr lang="en-US" dirty="0"/>
              <a:t>The concept of candlestick charts came from Japan. </a:t>
            </a:r>
          </a:p>
          <a:p>
            <a:pPr marL="342900" indent="-342900" algn="just">
              <a:buFont typeface="Arial" panose="020B0604020202020204" pitchFamily="34" charset="0"/>
              <a:buChar char="•"/>
            </a:pPr>
            <a:r>
              <a:rPr lang="en-US" dirty="0"/>
              <a:t>These charts are the most versatile and popular form of chart representation. Price behavior during each time unit is represented in the form of a candle. </a:t>
            </a:r>
          </a:p>
          <a:p>
            <a:pPr marL="342900" indent="-342900" algn="just">
              <a:buFont typeface="Arial" panose="020B0604020202020204" pitchFamily="34" charset="0"/>
              <a:buChar char="•"/>
            </a:pPr>
            <a:r>
              <a:rPr lang="en-US" dirty="0"/>
              <a:t>If the closing price of a stock is higher than open price during a particular time period, then the candle is green, if the close price is below the open price then the candle is red. </a:t>
            </a:r>
          </a:p>
          <a:p>
            <a:pPr marL="342900" indent="-342900" algn="just">
              <a:buFont typeface="Arial" panose="020B0604020202020204" pitchFamily="34" charset="0"/>
              <a:buChar char="•"/>
            </a:pPr>
            <a:r>
              <a:rPr lang="en-US" dirty="0"/>
              <a:t>Each candle has a body and two wicks. </a:t>
            </a:r>
          </a:p>
          <a:p>
            <a:pPr marL="342900" indent="-342900" algn="just">
              <a:buFont typeface="Arial" panose="020B0604020202020204" pitchFamily="34" charset="0"/>
              <a:buChar char="•"/>
            </a:pPr>
            <a:r>
              <a:rPr lang="en-US" dirty="0"/>
              <a:t>The distance between open to close is represented by the body of a candle and the upper and lower wicks represent the highs and lows of a candle.</a:t>
            </a:r>
          </a:p>
          <a:p>
            <a:endParaRPr lang="en-US" dirty="0"/>
          </a:p>
        </p:txBody>
      </p:sp>
      <p:pic>
        <p:nvPicPr>
          <p:cNvPr id="4" name="Picture 3">
            <a:extLst>
              <a:ext uri="{FF2B5EF4-FFF2-40B4-BE49-F238E27FC236}">
                <a16:creationId xmlns:a16="http://schemas.microsoft.com/office/drawing/2014/main" id="{E9674D0B-75D1-E660-0FC8-41E5AE6EE1B0}"/>
              </a:ext>
            </a:extLst>
          </p:cNvPr>
          <p:cNvPicPr>
            <a:picLocks noChangeAspect="1"/>
          </p:cNvPicPr>
          <p:nvPr/>
        </p:nvPicPr>
        <p:blipFill rotWithShape="1">
          <a:blip r:embed="rId2"/>
          <a:srcRect t="2086"/>
          <a:stretch/>
        </p:blipFill>
        <p:spPr>
          <a:xfrm>
            <a:off x="6919546" y="1675260"/>
            <a:ext cx="5098440" cy="4289991"/>
          </a:xfrm>
          <a:prstGeom prst="rect">
            <a:avLst/>
          </a:prstGeom>
          <a:ln>
            <a:solidFill>
              <a:schemeClr val="tx1"/>
            </a:solidFill>
          </a:ln>
        </p:spPr>
      </p:pic>
    </p:spTree>
    <p:extLst>
      <p:ext uri="{BB962C8B-B14F-4D97-AF65-F5344CB8AC3E}">
        <p14:creationId xmlns:p14="http://schemas.microsoft.com/office/powerpoint/2010/main" val="776692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Candlestick Chart</a:t>
            </a:r>
          </a:p>
        </p:txBody>
      </p:sp>
      <p:pic>
        <p:nvPicPr>
          <p:cNvPr id="7" name="Picture 4">
            <a:extLst>
              <a:ext uri="{FF2B5EF4-FFF2-40B4-BE49-F238E27FC236}">
                <a16:creationId xmlns:a16="http://schemas.microsoft.com/office/drawing/2014/main" id="{00EAF25D-7F2E-D539-56C8-F4772D4FCA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93531"/>
            <a:ext cx="12192000" cy="586447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7335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Trend</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33ACA99-24FE-CDCF-D386-B1494021296B}"/>
              </a:ext>
            </a:extLst>
          </p:cNvPr>
          <p:cNvSpPr>
            <a:spLocks noGrp="1"/>
          </p:cNvSpPr>
          <p:nvPr>
            <p:ph idx="1"/>
          </p:nvPr>
        </p:nvSpPr>
        <p:spPr>
          <a:xfrm>
            <a:off x="378068" y="2488222"/>
            <a:ext cx="11438792" cy="4369778"/>
          </a:xfrm>
        </p:spPr>
        <p:txBody>
          <a:bodyPr>
            <a:normAutofit/>
          </a:bodyPr>
          <a:lstStyle/>
          <a:p>
            <a:pPr algn="just"/>
            <a:r>
              <a:rPr lang="en-US" dirty="0"/>
              <a:t>Market movements happen in the form of trends. </a:t>
            </a:r>
          </a:p>
          <a:p>
            <a:pPr algn="just"/>
            <a:r>
              <a:rPr lang="en-US" dirty="0"/>
              <a:t>A price trend is a continuous or a directional price movement in upward or downward direction. We call them up-trend and down-trend respectively. </a:t>
            </a:r>
          </a:p>
          <a:p>
            <a:pPr algn="just"/>
            <a:r>
              <a:rPr lang="en-US" b="0" i="0" dirty="0">
                <a:solidFill>
                  <a:srgbClr val="111111"/>
                </a:solidFill>
                <a:effectLst/>
                <a:highlight>
                  <a:srgbClr val="FFFFFF"/>
                </a:highlight>
                <a:latin typeface="SourceSansPro"/>
              </a:rPr>
              <a:t>Nothing moves straight up for long, so there will always be oscillations, but the overall direction needs to be in the same direction to be considered in a trend.</a:t>
            </a:r>
          </a:p>
          <a:p>
            <a:pPr algn="just"/>
            <a:r>
              <a:rPr lang="en-US" dirty="0">
                <a:solidFill>
                  <a:srgbClr val="111111"/>
                </a:solidFill>
                <a:highlight>
                  <a:srgbClr val="FFFFFF"/>
                </a:highlight>
                <a:latin typeface="SourceSansPro"/>
              </a:rPr>
              <a:t>Types:</a:t>
            </a:r>
          </a:p>
          <a:p>
            <a:pPr lvl="1" algn="just"/>
            <a:r>
              <a:rPr lang="en-US" dirty="0">
                <a:solidFill>
                  <a:srgbClr val="111111"/>
                </a:solidFill>
                <a:highlight>
                  <a:srgbClr val="FFFFFF"/>
                </a:highlight>
                <a:latin typeface="SourceSansPro"/>
              </a:rPr>
              <a:t>Uptrend</a:t>
            </a:r>
          </a:p>
          <a:p>
            <a:pPr lvl="1" algn="just"/>
            <a:r>
              <a:rPr lang="en-US" dirty="0">
                <a:solidFill>
                  <a:srgbClr val="111111"/>
                </a:solidFill>
                <a:highlight>
                  <a:srgbClr val="FFFFFF"/>
                </a:highlight>
                <a:latin typeface="SourceSansPro"/>
              </a:rPr>
              <a:t>Downtrend</a:t>
            </a:r>
          </a:p>
          <a:p>
            <a:pPr lvl="1" algn="just"/>
            <a:r>
              <a:rPr lang="en-US" dirty="0">
                <a:solidFill>
                  <a:srgbClr val="111111"/>
                </a:solidFill>
                <a:highlight>
                  <a:srgbClr val="FFFFFF"/>
                </a:highlight>
                <a:latin typeface="SourceSansPro"/>
              </a:rPr>
              <a:t>Sideways trend</a:t>
            </a:r>
            <a:endParaRPr lang="en-US" dirty="0"/>
          </a:p>
        </p:txBody>
      </p:sp>
    </p:spTree>
    <p:extLst>
      <p:ext uri="{BB962C8B-B14F-4D97-AF65-F5344CB8AC3E}">
        <p14:creationId xmlns:p14="http://schemas.microsoft.com/office/powerpoint/2010/main" val="14728930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Uptrend</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33ACA99-24FE-CDCF-D386-B1494021296B}"/>
              </a:ext>
            </a:extLst>
          </p:cNvPr>
          <p:cNvSpPr>
            <a:spLocks noGrp="1"/>
          </p:cNvSpPr>
          <p:nvPr>
            <p:ph idx="1"/>
          </p:nvPr>
        </p:nvSpPr>
        <p:spPr>
          <a:xfrm>
            <a:off x="307730" y="2417885"/>
            <a:ext cx="6849207" cy="4176345"/>
          </a:xfrm>
        </p:spPr>
        <p:txBody>
          <a:bodyPr>
            <a:normAutofit/>
          </a:bodyPr>
          <a:lstStyle/>
          <a:p>
            <a:pPr algn="just"/>
            <a:r>
              <a:rPr lang="en-US" b="0" i="0" dirty="0">
                <a:solidFill>
                  <a:srgbClr val="111111"/>
                </a:solidFill>
                <a:effectLst/>
                <a:highlight>
                  <a:srgbClr val="FFFFFF"/>
                </a:highlight>
                <a:latin typeface="SourceSansPro"/>
              </a:rPr>
              <a:t>An uptrend is marked by an overall increase in price. </a:t>
            </a:r>
            <a:endParaRPr lang="en-US" dirty="0"/>
          </a:p>
          <a:p>
            <a:pPr algn="just"/>
            <a:r>
              <a:rPr lang="en-US" dirty="0"/>
              <a:t>Often an up-trend is represented in the form of a sequence of higher highs and higher lows. </a:t>
            </a:r>
            <a:r>
              <a:rPr lang="en-US" b="0" i="0" dirty="0">
                <a:solidFill>
                  <a:srgbClr val="111111"/>
                </a:solidFill>
                <a:effectLst/>
                <a:highlight>
                  <a:srgbClr val="FFFFFF"/>
                </a:highlight>
                <a:latin typeface="SourceSansPro"/>
              </a:rPr>
              <a:t>. </a:t>
            </a:r>
          </a:p>
          <a:p>
            <a:pPr algn="just"/>
            <a:r>
              <a:rPr lang="en-US" b="0" i="0" dirty="0">
                <a:solidFill>
                  <a:srgbClr val="111111"/>
                </a:solidFill>
                <a:effectLst/>
                <a:highlight>
                  <a:srgbClr val="FFFFFF"/>
                </a:highlight>
                <a:latin typeface="SourceSansPro"/>
              </a:rPr>
              <a:t>While the trend is up, traders focus on buying, attempting to profit from a continued price rise.</a:t>
            </a:r>
            <a:endParaRPr lang="en-US" dirty="0"/>
          </a:p>
        </p:txBody>
      </p:sp>
      <p:pic>
        <p:nvPicPr>
          <p:cNvPr id="3074" name="Picture 2" descr="What Is An Uptrend? | Definition, Recognition &amp; Example">
            <a:extLst>
              <a:ext uri="{FF2B5EF4-FFF2-40B4-BE49-F238E27FC236}">
                <a16:creationId xmlns:a16="http://schemas.microsoft.com/office/drawing/2014/main" id="{0F1F4991-FCD0-5B05-3677-4C3012E88A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1709" y="2417886"/>
            <a:ext cx="4791337" cy="40966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810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Downtrend</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33ACA99-24FE-CDCF-D386-B1494021296B}"/>
              </a:ext>
            </a:extLst>
          </p:cNvPr>
          <p:cNvSpPr>
            <a:spLocks noGrp="1"/>
          </p:cNvSpPr>
          <p:nvPr>
            <p:ph idx="1"/>
          </p:nvPr>
        </p:nvSpPr>
        <p:spPr>
          <a:xfrm>
            <a:off x="307730" y="2417885"/>
            <a:ext cx="5618285" cy="4176345"/>
          </a:xfrm>
        </p:spPr>
        <p:txBody>
          <a:bodyPr>
            <a:normAutofit lnSpcReduction="10000"/>
          </a:bodyPr>
          <a:lstStyle/>
          <a:p>
            <a:pPr algn="just"/>
            <a:r>
              <a:rPr lang="en-US" b="0" i="0" dirty="0">
                <a:solidFill>
                  <a:srgbClr val="111111"/>
                </a:solidFill>
                <a:effectLst/>
                <a:highlight>
                  <a:srgbClr val="FFFFFF"/>
                </a:highlight>
                <a:latin typeface="SourceSansPro"/>
              </a:rPr>
              <a:t>Once the upward trend starts to break down, it turns into a downtrend. </a:t>
            </a:r>
          </a:p>
          <a:p>
            <a:pPr algn="just"/>
            <a:r>
              <a:rPr lang="en-US" b="0" i="0" dirty="0">
                <a:solidFill>
                  <a:srgbClr val="111111"/>
                </a:solidFill>
                <a:effectLst/>
                <a:highlight>
                  <a:srgbClr val="FFFFFF"/>
                </a:highlight>
                <a:latin typeface="SourceSansPro"/>
              </a:rPr>
              <a:t>Downtrends are composed of lower swing lows and lower swing highs.</a:t>
            </a:r>
            <a:endParaRPr lang="en-US" dirty="0"/>
          </a:p>
          <a:p>
            <a:pPr algn="just"/>
            <a:r>
              <a:rPr lang="en-US" b="0" i="0" dirty="0">
                <a:solidFill>
                  <a:srgbClr val="111111"/>
                </a:solidFill>
                <a:effectLst/>
                <a:highlight>
                  <a:srgbClr val="FFFFFF"/>
                </a:highlight>
                <a:latin typeface="SourceSansPro"/>
              </a:rPr>
              <a:t>When the trend turns down, traders focus more on selling </a:t>
            </a:r>
            <a:r>
              <a:rPr lang="en-US" b="0" i="0" dirty="0">
                <a:effectLst/>
                <a:highlight>
                  <a:srgbClr val="FFFFFF"/>
                </a:highlight>
                <a:latin typeface="SourceSansPro"/>
              </a:rPr>
              <a:t>or shorting, attempting </a:t>
            </a:r>
            <a:r>
              <a:rPr lang="en-US" b="0" i="0" dirty="0">
                <a:solidFill>
                  <a:srgbClr val="111111"/>
                </a:solidFill>
                <a:effectLst/>
                <a:highlight>
                  <a:srgbClr val="FFFFFF"/>
                </a:highlight>
                <a:latin typeface="SourceSansPro"/>
              </a:rPr>
              <a:t>to minimize losses or profit from the price decline. </a:t>
            </a:r>
            <a:endParaRPr lang="en-US" dirty="0"/>
          </a:p>
        </p:txBody>
      </p:sp>
      <p:pic>
        <p:nvPicPr>
          <p:cNvPr id="5122" name="Picture 2" descr="Lower Highs and Lower Lows | The Complete Guide (UPDATED)">
            <a:extLst>
              <a:ext uri="{FF2B5EF4-FFF2-40B4-BE49-F238E27FC236}">
                <a16:creationId xmlns:a16="http://schemas.microsoft.com/office/drawing/2014/main" id="{21D69C7F-2E56-9D60-B0C3-C07E27114D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417885"/>
            <a:ext cx="5906965" cy="409662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8172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8203871-E463-4A80-A134-7669DB5602AE}"/>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TREND</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9218" name="Picture 2" descr="Image result for uptrend and downtrend">
            <a:extLst>
              <a:ext uri="{FF2B5EF4-FFF2-40B4-BE49-F238E27FC236}">
                <a16:creationId xmlns:a16="http://schemas.microsoft.com/office/drawing/2014/main" id="{8F4E0DE7-5B86-485D-AB63-F3351AE8A21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57540" y="2509911"/>
            <a:ext cx="11421820" cy="3997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65174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Range Bound Trend / Consolidation </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D33ACA99-24FE-CDCF-D386-B1494021296B}"/>
              </a:ext>
            </a:extLst>
          </p:cNvPr>
          <p:cNvSpPr>
            <a:spLocks noGrp="1"/>
          </p:cNvSpPr>
          <p:nvPr>
            <p:ph idx="1"/>
          </p:nvPr>
        </p:nvSpPr>
        <p:spPr>
          <a:xfrm>
            <a:off x="307730" y="2417885"/>
            <a:ext cx="4932485" cy="4176345"/>
          </a:xfrm>
        </p:spPr>
        <p:txBody>
          <a:bodyPr>
            <a:normAutofit/>
          </a:bodyPr>
          <a:lstStyle/>
          <a:p>
            <a:pPr algn="just">
              <a:buFont typeface="Arial" panose="020B0604020202020204" pitchFamily="34" charset="0"/>
              <a:buChar char="•"/>
            </a:pPr>
            <a:r>
              <a:rPr lang="en-US" b="0" i="0" dirty="0">
                <a:solidFill>
                  <a:srgbClr val="111111"/>
                </a:solidFill>
                <a:effectLst/>
                <a:highlight>
                  <a:srgbClr val="FFFFFF"/>
                </a:highlight>
                <a:latin typeface="SourceSansPro"/>
              </a:rPr>
              <a:t>It is also known as </a:t>
            </a:r>
            <a:r>
              <a:rPr lang="en-US" dirty="0">
                <a:solidFill>
                  <a:srgbClr val="111111"/>
                </a:solidFill>
                <a:highlight>
                  <a:srgbClr val="FFFFFF"/>
                </a:highlight>
                <a:latin typeface="SourceSansPro"/>
              </a:rPr>
              <a:t>s</a:t>
            </a:r>
            <a:r>
              <a:rPr lang="en-US" b="0" i="0" dirty="0">
                <a:solidFill>
                  <a:srgbClr val="111111"/>
                </a:solidFill>
                <a:effectLst/>
                <a:highlight>
                  <a:srgbClr val="FFFFFF"/>
                </a:highlight>
                <a:latin typeface="SourceSansPro"/>
              </a:rPr>
              <a:t>ideways trend.</a:t>
            </a:r>
          </a:p>
          <a:p>
            <a:pPr algn="l">
              <a:buFont typeface="Arial" panose="020B0604020202020204" pitchFamily="34" charset="0"/>
              <a:buChar char="•"/>
            </a:pPr>
            <a:endParaRPr lang="en-US" b="0" i="0" dirty="0">
              <a:solidFill>
                <a:srgbClr val="111111"/>
              </a:solidFill>
              <a:effectLst/>
              <a:highlight>
                <a:srgbClr val="FFFFFF"/>
              </a:highlight>
              <a:latin typeface="SourceSansPro"/>
            </a:endParaRPr>
          </a:p>
          <a:p>
            <a:pPr algn="just">
              <a:buFont typeface="Arial" panose="020B0604020202020204" pitchFamily="34" charset="0"/>
              <a:buChar char="•"/>
            </a:pPr>
            <a:r>
              <a:rPr lang="en-US" b="0" i="0" dirty="0">
                <a:solidFill>
                  <a:srgbClr val="111111"/>
                </a:solidFill>
                <a:effectLst/>
                <a:highlight>
                  <a:srgbClr val="FFFFFF"/>
                </a:highlight>
                <a:latin typeface="SourceSansPro"/>
              </a:rPr>
              <a:t>A sideways trend is the horizontal price movement of a stock between resistance and support levels that occurs when the forces of supply and demand are balanced.</a:t>
            </a:r>
          </a:p>
        </p:txBody>
      </p:sp>
      <p:pic>
        <p:nvPicPr>
          <p:cNvPr id="6146" name="Picture 2" descr="The Complete Guide To Trading Sideways Markets | TradingwithRayner">
            <a:extLst>
              <a:ext uri="{FF2B5EF4-FFF2-40B4-BE49-F238E27FC236}">
                <a16:creationId xmlns:a16="http://schemas.microsoft.com/office/drawing/2014/main" id="{AD53451A-70CB-AAC4-CBC2-21AFCAE949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4853" y="2417885"/>
            <a:ext cx="6670431" cy="384712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41246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4A0FE1F-D519-4F93-8D40-02AF0133756C}"/>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Example</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172" name="Picture 4" descr="What is Trend">
            <a:extLst>
              <a:ext uri="{FF2B5EF4-FFF2-40B4-BE49-F238E27FC236}">
                <a16:creationId xmlns:a16="http://schemas.microsoft.com/office/drawing/2014/main" id="{93123EF7-1047-1ADC-0DFA-B93C0FD971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0280" y="2310834"/>
            <a:ext cx="8871439" cy="446246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45578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8ADA68-0D2E-4F3D-B916-17829AE72462}"/>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Dow Theory</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67E237-9EF0-C5F9-5A9C-A0A4E58118ED}"/>
              </a:ext>
            </a:extLst>
          </p:cNvPr>
          <p:cNvSpPr>
            <a:spLocks noGrp="1"/>
          </p:cNvSpPr>
          <p:nvPr>
            <p:ph idx="1"/>
          </p:nvPr>
        </p:nvSpPr>
        <p:spPr>
          <a:xfrm>
            <a:off x="838200" y="2488223"/>
            <a:ext cx="10515600" cy="3688740"/>
          </a:xfrm>
        </p:spPr>
        <p:txBody>
          <a:bodyPr/>
          <a:lstStyle/>
          <a:p>
            <a:pPr marL="342900" indent="-342900" algn="just">
              <a:buFont typeface="Arial" panose="020B0604020202020204" pitchFamily="34" charset="0"/>
              <a:buChar char="•"/>
            </a:pPr>
            <a:r>
              <a:rPr lang="en-US" dirty="0"/>
              <a:t>Charles Dow, the grandfather of technical analysis, propounded what is popularly known as Dow theory. </a:t>
            </a:r>
          </a:p>
          <a:p>
            <a:pPr marL="342900" indent="-342900" algn="just">
              <a:buFont typeface="Arial" panose="020B0604020202020204" pitchFamily="34" charset="0"/>
              <a:buChar char="•"/>
            </a:pPr>
            <a:r>
              <a:rPr lang="en-US" dirty="0"/>
              <a:t>Dow theory is based on the assumption that stock market does not move on random basis rather there are set trends which can detect the direction of market movement. </a:t>
            </a:r>
          </a:p>
          <a:p>
            <a:pPr marL="342900" indent="-342900" algn="just">
              <a:buFont typeface="Arial" panose="020B0604020202020204" pitchFamily="34" charset="0"/>
              <a:buChar char="•"/>
            </a:pPr>
            <a:r>
              <a:rPr lang="en-US" dirty="0"/>
              <a:t>According to this theory in any type of market; whether bullish or bearish, three trends are simultaneously at work - the primary trend, the intermediate trend and the minor trend.</a:t>
            </a:r>
          </a:p>
          <a:p>
            <a:endParaRPr lang="en-US" dirty="0"/>
          </a:p>
        </p:txBody>
      </p:sp>
    </p:spTree>
    <p:extLst>
      <p:ext uri="{BB962C8B-B14F-4D97-AF65-F5344CB8AC3E}">
        <p14:creationId xmlns:p14="http://schemas.microsoft.com/office/powerpoint/2010/main" val="1538732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Dow Theory</a:t>
            </a:r>
          </a:p>
        </p:txBody>
      </p:sp>
      <p:sp>
        <p:nvSpPr>
          <p:cNvPr id="3" name="Subtitle 2">
            <a:extLst>
              <a:ext uri="{FF2B5EF4-FFF2-40B4-BE49-F238E27FC236}">
                <a16:creationId xmlns:a16="http://schemas.microsoft.com/office/drawing/2014/main" id="{DE12AE68-78CD-0B93-CF27-626A44EFEFF8}"/>
              </a:ext>
            </a:extLst>
          </p:cNvPr>
          <p:cNvSpPr>
            <a:spLocks noGrp="1"/>
          </p:cNvSpPr>
          <p:nvPr>
            <p:ph type="subTitle" idx="1"/>
          </p:nvPr>
        </p:nvSpPr>
        <p:spPr>
          <a:xfrm>
            <a:off x="220907" y="1028697"/>
            <a:ext cx="11288224" cy="5583115"/>
          </a:xfrm>
        </p:spPr>
        <p:txBody>
          <a:bodyPr>
            <a:normAutofit/>
          </a:bodyPr>
          <a:lstStyle/>
          <a:p>
            <a:pPr marL="342900" indent="-342900" algn="just">
              <a:buFont typeface="Arial" panose="020B0604020202020204" pitchFamily="34" charset="0"/>
              <a:buChar char="•"/>
            </a:pPr>
            <a:r>
              <a:rPr lang="en-US" b="1" i="1" dirty="0"/>
              <a:t>Primary trend </a:t>
            </a:r>
            <a:r>
              <a:rPr lang="en-US" dirty="0"/>
              <a:t>is the long term trend over a period lasting for more than one year. This trend sets the overall direction of the market. If primary trend is upward then bull market is in operation whereas if primary trend is downward then the market is bearish.</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b="1" i="1" dirty="0"/>
              <a:t>Intermediate trend</a:t>
            </a:r>
            <a:r>
              <a:rPr lang="en-US" dirty="0"/>
              <a:t>, on the other hand lasts for a few months and operate in the opposite direction of primary trend. If the primary trend is upward then intermediate trend will be downward movement and vice versa. Therefore intermediate trends are also known as “secondary corrections”. </a:t>
            </a:r>
          </a:p>
          <a:p>
            <a:pPr marL="342900" indent="-342900" algn="just">
              <a:buFont typeface="Arial" panose="020B0604020202020204" pitchFamily="34" charset="0"/>
              <a:buChar char="•"/>
            </a:pPr>
            <a:endParaRPr lang="en-US" dirty="0"/>
          </a:p>
          <a:p>
            <a:pPr marL="342900" indent="-342900" algn="just">
              <a:buFont typeface="Arial" panose="020B0604020202020204" pitchFamily="34" charset="0"/>
              <a:buChar char="•"/>
            </a:pPr>
            <a:r>
              <a:rPr lang="en-US" b="1" i="1" dirty="0"/>
              <a:t>Tertiary or minor trends </a:t>
            </a:r>
            <a:r>
              <a:rPr lang="en-US" dirty="0"/>
              <a:t>are day-to-day or intra-day fluctuations in stock market which do not last for long. These trends provide no meaningful conclusion regarding the overall market movement and hence are given least importance.</a:t>
            </a:r>
          </a:p>
        </p:txBody>
      </p:sp>
    </p:spTree>
    <p:extLst>
      <p:ext uri="{BB962C8B-B14F-4D97-AF65-F5344CB8AC3E}">
        <p14:creationId xmlns:p14="http://schemas.microsoft.com/office/powerpoint/2010/main" val="37319801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Primary Vs. Secondary Vs. Minor Trends</a:t>
            </a:r>
          </a:p>
        </p:txBody>
      </p:sp>
      <p:pic>
        <p:nvPicPr>
          <p:cNvPr id="8194" name="Picture 2" descr="Dow's Theory: What we do not know. | by Ayush Aggarwal | DataDrivenInvestor">
            <a:extLst>
              <a:ext uri="{FF2B5EF4-FFF2-40B4-BE49-F238E27FC236}">
                <a16:creationId xmlns:a16="http://schemas.microsoft.com/office/drawing/2014/main" id="{2185C31E-C0AE-230A-421A-AC400D5D7B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69982"/>
            <a:ext cx="12192000" cy="58880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9814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8ADA68-0D2E-4F3D-B916-17829AE72462}"/>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Chart Patterns</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67E237-9EF0-C5F9-5A9C-A0A4E58118ED}"/>
              </a:ext>
            </a:extLst>
          </p:cNvPr>
          <p:cNvSpPr>
            <a:spLocks noGrp="1"/>
          </p:cNvSpPr>
          <p:nvPr>
            <p:ph idx="1"/>
          </p:nvPr>
        </p:nvSpPr>
        <p:spPr>
          <a:xfrm>
            <a:off x="838200" y="2488223"/>
            <a:ext cx="10515600" cy="3688740"/>
          </a:xfrm>
        </p:spPr>
        <p:txBody>
          <a:bodyPr/>
          <a:lstStyle/>
          <a:p>
            <a:pPr algn="just">
              <a:buFont typeface="Arial" panose="020B0604020202020204" pitchFamily="34" charset="0"/>
              <a:buChar char="•"/>
            </a:pPr>
            <a:r>
              <a:rPr lang="en-US" b="0" i="0" dirty="0">
                <a:solidFill>
                  <a:srgbClr val="111111"/>
                </a:solidFill>
                <a:effectLst/>
                <a:highlight>
                  <a:srgbClr val="FFFFFF"/>
                </a:highlight>
                <a:latin typeface="SourceSansPro"/>
              </a:rPr>
              <a:t>Patterns are the distinctive formations created by the movements of security prices on a chart and are the foundation of technical analysis.</a:t>
            </a:r>
          </a:p>
          <a:p>
            <a:pPr algn="just">
              <a:buFont typeface="Arial" panose="020B0604020202020204" pitchFamily="34" charset="0"/>
              <a:buChar char="•"/>
            </a:pPr>
            <a:r>
              <a:rPr lang="en-US" b="0" i="0" dirty="0">
                <a:solidFill>
                  <a:srgbClr val="111111"/>
                </a:solidFill>
                <a:effectLst/>
                <a:highlight>
                  <a:srgbClr val="FFFFFF"/>
                </a:highlight>
                <a:latin typeface="SourceSansPro"/>
              </a:rPr>
              <a:t>A pattern is identified by a line connecting common price points, such as closing prices or highs or lows, during a specific period.</a:t>
            </a:r>
          </a:p>
          <a:p>
            <a:pPr algn="just">
              <a:buFont typeface="Arial" panose="020B0604020202020204" pitchFamily="34" charset="0"/>
              <a:buChar char="•"/>
            </a:pPr>
            <a:r>
              <a:rPr lang="en-US" b="0" i="0" dirty="0">
                <a:solidFill>
                  <a:srgbClr val="111111"/>
                </a:solidFill>
                <a:effectLst/>
                <a:highlight>
                  <a:srgbClr val="FFFFFF"/>
                </a:highlight>
                <a:latin typeface="SourceSansPro"/>
              </a:rPr>
              <a:t>Technical analysts and chartists seek to identify patterns to anticipate the future direction of a security’s price.</a:t>
            </a:r>
          </a:p>
          <a:p>
            <a:pPr algn="just">
              <a:buFont typeface="Arial" panose="020B0604020202020204" pitchFamily="34" charset="0"/>
              <a:buChar char="•"/>
            </a:pPr>
            <a:r>
              <a:rPr lang="en-US" b="0" i="0" dirty="0">
                <a:solidFill>
                  <a:srgbClr val="111111"/>
                </a:solidFill>
                <a:effectLst/>
                <a:highlight>
                  <a:srgbClr val="FFFFFF"/>
                </a:highlight>
                <a:latin typeface="SourceSansPro"/>
              </a:rPr>
              <a:t>These patterns can be as simple as trendlines and as complex as double head-and-shoulders formations.</a:t>
            </a:r>
          </a:p>
        </p:txBody>
      </p:sp>
    </p:spTree>
    <p:extLst>
      <p:ext uri="{BB962C8B-B14F-4D97-AF65-F5344CB8AC3E}">
        <p14:creationId xmlns:p14="http://schemas.microsoft.com/office/powerpoint/2010/main" val="902251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Support and Resistance</a:t>
            </a:r>
          </a:p>
        </p:txBody>
      </p:sp>
      <p:sp>
        <p:nvSpPr>
          <p:cNvPr id="3" name="Subtitle 2">
            <a:extLst>
              <a:ext uri="{FF2B5EF4-FFF2-40B4-BE49-F238E27FC236}">
                <a16:creationId xmlns:a16="http://schemas.microsoft.com/office/drawing/2014/main" id="{DE12AE68-78CD-0B93-CF27-626A44EFEFF8}"/>
              </a:ext>
            </a:extLst>
          </p:cNvPr>
          <p:cNvSpPr>
            <a:spLocks noGrp="1"/>
          </p:cNvSpPr>
          <p:nvPr>
            <p:ph type="subTitle" idx="1"/>
          </p:nvPr>
        </p:nvSpPr>
        <p:spPr>
          <a:xfrm>
            <a:off x="0" y="1028697"/>
            <a:ext cx="5512777" cy="5829303"/>
          </a:xfrm>
        </p:spPr>
        <p:txBody>
          <a:bodyPr>
            <a:normAutofit/>
          </a:bodyPr>
          <a:lstStyle/>
          <a:p>
            <a:pPr marL="342900" indent="-342900" algn="just">
              <a:buFont typeface="Arial" panose="020B0604020202020204" pitchFamily="34" charset="0"/>
              <a:buChar char="•"/>
            </a:pPr>
            <a:r>
              <a:rPr lang="en-US" dirty="0"/>
              <a:t>Support level is that price, below which the price is not expected to fall. </a:t>
            </a:r>
          </a:p>
          <a:p>
            <a:pPr marL="342900" indent="-342900" algn="just">
              <a:buFont typeface="Arial" panose="020B0604020202020204" pitchFamily="34" charset="0"/>
              <a:buChar char="•"/>
            </a:pPr>
            <a:r>
              <a:rPr lang="en-US" dirty="0"/>
              <a:t>Resistance level is that price, above which the price does not go. </a:t>
            </a:r>
          </a:p>
          <a:p>
            <a:pPr marL="342900" indent="-342900" algn="just">
              <a:buFont typeface="Arial" panose="020B0604020202020204" pitchFamily="34" charset="0"/>
              <a:buChar char="•"/>
            </a:pPr>
            <a:r>
              <a:rPr lang="en-US" dirty="0"/>
              <a:t>For example, if the SBI share price have been moving in the range of Rs. 2000 to Rs. 3000 for long. Then Rs 2000 may be considered as its Support level (or support price) and Rs. 3000 as its Resistance level(or resistance price). </a:t>
            </a:r>
          </a:p>
          <a:p>
            <a:pPr marL="342900" indent="-342900" algn="just">
              <a:buFont typeface="Arial" panose="020B0604020202020204" pitchFamily="34" charset="0"/>
              <a:buChar char="•"/>
            </a:pPr>
            <a:r>
              <a:rPr lang="en-US" dirty="0"/>
              <a:t>Hence if a stock’s price approaches its support level, it is a good buy opportunity. If a stock’s price reaches its resistance level, it provides a good opportunity to sell.</a:t>
            </a:r>
          </a:p>
        </p:txBody>
      </p:sp>
      <p:pic>
        <p:nvPicPr>
          <p:cNvPr id="9218" name="Picture 2" descr="Which Time Frame Is Best For Support And Resistance - Pro Trading School">
            <a:extLst>
              <a:ext uri="{FF2B5EF4-FFF2-40B4-BE49-F238E27FC236}">
                <a16:creationId xmlns:a16="http://schemas.microsoft.com/office/drawing/2014/main" id="{84F8D1EC-1AE1-5A8F-F465-5CEBDC6884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91908" y="1433145"/>
            <a:ext cx="6515100" cy="45192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802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Double Tops and Bottoms</a:t>
            </a:r>
          </a:p>
        </p:txBody>
      </p:sp>
      <p:sp>
        <p:nvSpPr>
          <p:cNvPr id="3" name="Content Placeholder 2">
            <a:extLst>
              <a:ext uri="{FF2B5EF4-FFF2-40B4-BE49-F238E27FC236}">
                <a16:creationId xmlns:a16="http://schemas.microsoft.com/office/drawing/2014/main" id="{A10AE235-389E-4329-91AC-1A58BF098F9A}"/>
              </a:ext>
            </a:extLst>
          </p:cNvPr>
          <p:cNvSpPr txBox="1">
            <a:spLocks/>
          </p:cNvSpPr>
          <p:nvPr/>
        </p:nvSpPr>
        <p:spPr>
          <a:xfrm>
            <a:off x="285750" y="999148"/>
            <a:ext cx="5181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a:t>Double Bottom</a:t>
            </a:r>
          </a:p>
          <a:p>
            <a:r>
              <a:rPr lang="en-US" sz="2000" dirty="0"/>
              <a:t>Looks like W shape</a:t>
            </a:r>
          </a:p>
          <a:p>
            <a:r>
              <a:rPr lang="en-US" sz="2000" dirty="0"/>
              <a:t>Two bottom shows the support level for the stock.</a:t>
            </a:r>
          </a:p>
          <a:p>
            <a:r>
              <a:rPr lang="en-US" sz="2000" dirty="0"/>
              <a:t>This is a sign of trend reversal from downtrend to uptrend when the price crosses the neckline.</a:t>
            </a:r>
          </a:p>
        </p:txBody>
      </p:sp>
      <p:pic>
        <p:nvPicPr>
          <p:cNvPr id="4" name="Picture 3" descr="A close up of a map&#10;&#10;Description automatically generated">
            <a:extLst>
              <a:ext uri="{FF2B5EF4-FFF2-40B4-BE49-F238E27FC236}">
                <a16:creationId xmlns:a16="http://schemas.microsoft.com/office/drawing/2014/main" id="{8656D634-FC99-0851-535B-655DCAE00C55}"/>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28954" y="3332285"/>
            <a:ext cx="5495192" cy="3288322"/>
          </a:xfrm>
          <a:prstGeom prst="rect">
            <a:avLst/>
          </a:prstGeom>
        </p:spPr>
      </p:pic>
      <p:pic>
        <p:nvPicPr>
          <p:cNvPr id="10242" name="Picture 2" descr="Fake Double Top Chart Pattern">
            <a:extLst>
              <a:ext uri="{FF2B5EF4-FFF2-40B4-BE49-F238E27FC236}">
                <a16:creationId xmlns:a16="http://schemas.microsoft.com/office/drawing/2014/main" id="{8AB0BB6F-33D7-4E46-154F-C34BDAD8F0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75537" y="3332285"/>
            <a:ext cx="5624145" cy="32883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956291C5-B1D2-67D0-DFF6-95B6ED8AA0AB}"/>
              </a:ext>
            </a:extLst>
          </p:cNvPr>
          <p:cNvSpPr txBox="1">
            <a:spLocks/>
          </p:cNvSpPr>
          <p:nvPr/>
        </p:nvSpPr>
        <p:spPr>
          <a:xfrm>
            <a:off x="6567856" y="999148"/>
            <a:ext cx="5181600" cy="43513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3200" dirty="0"/>
              <a:t>Double Top</a:t>
            </a:r>
          </a:p>
          <a:p>
            <a:r>
              <a:rPr lang="en-US" sz="2000" dirty="0"/>
              <a:t>Looks like M shape</a:t>
            </a:r>
          </a:p>
          <a:p>
            <a:r>
              <a:rPr lang="en-US" sz="2000" dirty="0"/>
              <a:t>Two Tops shows the resistance level for the stock.</a:t>
            </a:r>
          </a:p>
          <a:p>
            <a:r>
              <a:rPr lang="en-US" sz="2000" dirty="0"/>
              <a:t>This is a sign of trend reversal from uptrend to downtrend when the price crosses the neckline.</a:t>
            </a:r>
          </a:p>
          <a:p>
            <a:endParaRPr lang="en-US" sz="1600" dirty="0"/>
          </a:p>
        </p:txBody>
      </p:sp>
    </p:spTree>
    <p:extLst>
      <p:ext uri="{BB962C8B-B14F-4D97-AF65-F5344CB8AC3E}">
        <p14:creationId xmlns:p14="http://schemas.microsoft.com/office/powerpoint/2010/main" val="217605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Head and Shoulder Pattern</a:t>
            </a:r>
          </a:p>
        </p:txBody>
      </p:sp>
      <p:sp>
        <p:nvSpPr>
          <p:cNvPr id="6" name="Content Placeholder 2">
            <a:extLst>
              <a:ext uri="{FF2B5EF4-FFF2-40B4-BE49-F238E27FC236}">
                <a16:creationId xmlns:a16="http://schemas.microsoft.com/office/drawing/2014/main" id="{BB227DF2-3979-B0FC-4839-C9FA2DB2B1F1}"/>
              </a:ext>
            </a:extLst>
          </p:cNvPr>
          <p:cNvSpPr txBox="1">
            <a:spLocks/>
          </p:cNvSpPr>
          <p:nvPr/>
        </p:nvSpPr>
        <p:spPr>
          <a:xfrm>
            <a:off x="702190" y="1213338"/>
            <a:ext cx="4820574" cy="415108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b="1" dirty="0"/>
              <a:t>Head and shoulder</a:t>
            </a:r>
          </a:p>
          <a:p>
            <a:r>
              <a:rPr lang="en-US" dirty="0"/>
              <a:t>If the stock price goes below the neckline, indicates bearish phase &amp; hence sell signal</a:t>
            </a:r>
          </a:p>
        </p:txBody>
      </p:sp>
      <p:sp>
        <p:nvSpPr>
          <p:cNvPr id="8" name="TextBox 7">
            <a:extLst>
              <a:ext uri="{FF2B5EF4-FFF2-40B4-BE49-F238E27FC236}">
                <a16:creationId xmlns:a16="http://schemas.microsoft.com/office/drawing/2014/main" id="{E3ED0964-1BEB-EACD-44E6-BAAF49D450BC}"/>
              </a:ext>
            </a:extLst>
          </p:cNvPr>
          <p:cNvSpPr txBox="1"/>
          <p:nvPr/>
        </p:nvSpPr>
        <p:spPr>
          <a:xfrm>
            <a:off x="6467015" y="1213338"/>
            <a:ext cx="5542624" cy="1569660"/>
          </a:xfrm>
          <a:prstGeom prst="rect">
            <a:avLst/>
          </a:prstGeom>
          <a:noFill/>
        </p:spPr>
        <p:txBody>
          <a:bodyPr wrap="square" rtlCol="0">
            <a:spAutoFit/>
          </a:bodyPr>
          <a:lstStyle/>
          <a:p>
            <a:pPr algn="ctr"/>
            <a:r>
              <a:rPr lang="en-US" sz="2400" b="1" dirty="0"/>
              <a:t>Inverted Head and Shoulder</a:t>
            </a:r>
          </a:p>
          <a:p>
            <a:pPr algn="ctr"/>
            <a:r>
              <a:rPr lang="en-US" sz="2400" dirty="0"/>
              <a:t>If stock prices rises above the neck -line, indicates bullish phase for the stock &amp; hence buy signal</a:t>
            </a:r>
          </a:p>
        </p:txBody>
      </p:sp>
      <p:pic>
        <p:nvPicPr>
          <p:cNvPr id="11266" name="Picture 2" descr="The Head and Shoulders Pattern: A Trader’s Guide">
            <a:extLst>
              <a:ext uri="{FF2B5EF4-FFF2-40B4-BE49-F238E27FC236}">
                <a16:creationId xmlns:a16="http://schemas.microsoft.com/office/drawing/2014/main" id="{728DFAB4-0EC3-91F6-8F1D-2257370606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3132" y="3200399"/>
            <a:ext cx="4739632" cy="338760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1268" name="Picture 4" descr="The Head and Shoulders Pattern: A Trader’s Guide">
            <a:extLst>
              <a:ext uri="{FF2B5EF4-FFF2-40B4-BE49-F238E27FC236}">
                <a16:creationId xmlns:a16="http://schemas.microsoft.com/office/drawing/2014/main" id="{0C24A42E-DECD-DF87-ED73-0F86D3D407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68511" y="3200399"/>
            <a:ext cx="4739632" cy="338760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41142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Triangle Patterns</a:t>
            </a:r>
          </a:p>
        </p:txBody>
      </p:sp>
      <p:sp>
        <p:nvSpPr>
          <p:cNvPr id="3" name="TextBox 2">
            <a:extLst>
              <a:ext uri="{FF2B5EF4-FFF2-40B4-BE49-F238E27FC236}">
                <a16:creationId xmlns:a16="http://schemas.microsoft.com/office/drawing/2014/main" id="{3A5577CE-35E8-99A3-1AC3-F36263774E5B}"/>
              </a:ext>
            </a:extLst>
          </p:cNvPr>
          <p:cNvSpPr txBox="1"/>
          <p:nvPr/>
        </p:nvSpPr>
        <p:spPr>
          <a:xfrm>
            <a:off x="70170" y="838322"/>
            <a:ext cx="5407438" cy="2585323"/>
          </a:xfrm>
          <a:prstGeom prst="rect">
            <a:avLst/>
          </a:prstGeom>
          <a:noFill/>
        </p:spPr>
        <p:txBody>
          <a:bodyPr wrap="square" rtlCol="0">
            <a:spAutoFit/>
          </a:bodyPr>
          <a:lstStyle/>
          <a:p>
            <a:pPr algn="just"/>
            <a:r>
              <a:rPr lang="en-US" b="1" dirty="0"/>
              <a:t>Triangles</a:t>
            </a:r>
          </a:p>
          <a:p>
            <a:pPr algn="just"/>
            <a:endParaRPr lang="en-US" b="1" dirty="0"/>
          </a:p>
          <a:p>
            <a:pPr marL="342900" indent="-342900" algn="just">
              <a:buAutoNum type="arabicPeriod"/>
            </a:pPr>
            <a:r>
              <a:rPr lang="en-US" dirty="0"/>
              <a:t>Symmetrical Triangle – suggest a range bound market till it is complete.</a:t>
            </a:r>
          </a:p>
          <a:p>
            <a:pPr marL="342900" indent="-342900" algn="just">
              <a:buAutoNum type="arabicPeriod"/>
            </a:pPr>
            <a:r>
              <a:rPr lang="en-US" dirty="0"/>
              <a:t>Descending Triangle – if it  breaks towards below, implies price decline in near future and hence suggests a sell signal.</a:t>
            </a:r>
          </a:p>
          <a:p>
            <a:pPr marL="342900" indent="-342900" algn="just">
              <a:buAutoNum type="arabicPeriod"/>
            </a:pPr>
            <a:r>
              <a:rPr lang="en-US" dirty="0"/>
              <a:t>Ascending Triangle – if it breaks towards above, suggests a bull run in near future or buy signal</a:t>
            </a:r>
          </a:p>
        </p:txBody>
      </p:sp>
      <p:pic>
        <p:nvPicPr>
          <p:cNvPr id="12290" name="Picture 2" descr="How to Trade Triangle Chart Patterns in Forex | FBS (2023)">
            <a:extLst>
              <a:ext uri="{FF2B5EF4-FFF2-40B4-BE49-F238E27FC236}">
                <a16:creationId xmlns:a16="http://schemas.microsoft.com/office/drawing/2014/main" id="{B1E23203-7FD0-87C7-8063-12C7078A5A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291" r="3632"/>
          <a:stretch/>
        </p:blipFill>
        <p:spPr bwMode="auto">
          <a:xfrm>
            <a:off x="6538547" y="990469"/>
            <a:ext cx="5099539" cy="26847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2294" name="Picture 6" descr="How To Trade Blog: Triangle Pattern: Characteristics And How To Trade ...">
            <a:extLst>
              <a:ext uri="{FF2B5EF4-FFF2-40B4-BE49-F238E27FC236}">
                <a16:creationId xmlns:a16="http://schemas.microsoft.com/office/drawing/2014/main" id="{0BA7B972-9E9D-AB25-3A12-9A333D0CEC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8547" y="3798278"/>
            <a:ext cx="5099539" cy="28896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2296" name="Picture 8" descr="How To Trade Blog: Triangle Pattern: Characteristics And How To Trade ...">
            <a:extLst>
              <a:ext uri="{FF2B5EF4-FFF2-40B4-BE49-F238E27FC236}">
                <a16:creationId xmlns:a16="http://schemas.microsoft.com/office/drawing/2014/main" id="{C841BCA9-9B4D-ECDE-BBA7-7BD2675E3B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577" y="3818209"/>
            <a:ext cx="5099539" cy="2869685"/>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70399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Flag Patterns</a:t>
            </a:r>
          </a:p>
        </p:txBody>
      </p:sp>
      <p:sp>
        <p:nvSpPr>
          <p:cNvPr id="3" name="TextBox 2">
            <a:extLst>
              <a:ext uri="{FF2B5EF4-FFF2-40B4-BE49-F238E27FC236}">
                <a16:creationId xmlns:a16="http://schemas.microsoft.com/office/drawing/2014/main" id="{3A5577CE-35E8-99A3-1AC3-F36263774E5B}"/>
              </a:ext>
            </a:extLst>
          </p:cNvPr>
          <p:cNvSpPr txBox="1"/>
          <p:nvPr/>
        </p:nvSpPr>
        <p:spPr>
          <a:xfrm>
            <a:off x="0" y="958363"/>
            <a:ext cx="5407438" cy="5632311"/>
          </a:xfrm>
          <a:prstGeom prst="rect">
            <a:avLst/>
          </a:prstGeom>
          <a:noFill/>
        </p:spPr>
        <p:txBody>
          <a:bodyPr wrap="square" rtlCol="0">
            <a:spAutoFit/>
          </a:bodyPr>
          <a:lstStyle/>
          <a:p>
            <a:pPr algn="just"/>
            <a:r>
              <a:rPr lang="en-US" sz="2400" b="1" dirty="0"/>
              <a:t>Triangles</a:t>
            </a:r>
          </a:p>
          <a:p>
            <a:pPr algn="just"/>
            <a:endParaRPr lang="en-US" sz="2400" b="1" dirty="0"/>
          </a:p>
          <a:p>
            <a:pPr marL="285750" indent="-285750" algn="just">
              <a:buFont typeface="Arial" panose="020B0604020202020204" pitchFamily="34" charset="0"/>
              <a:buChar char="•"/>
            </a:pPr>
            <a:r>
              <a:rPr lang="en-US" sz="2400" dirty="0"/>
              <a:t>A flag chart pattern is detected when a bull rally or bear phase enters into a consolidation pattern which appears as a rectangle or parallelogram. </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The consolidation phase forms the ‘flag’ for a continuing trend. </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It is predicted that after the consolidation phase is over, the stock price will move in the same direction in which they were moving before the formation of flag pattern.</a:t>
            </a:r>
          </a:p>
        </p:txBody>
      </p:sp>
      <p:pic>
        <p:nvPicPr>
          <p:cNvPr id="13314" name="Picture 2" descr="Flag Pattern | Full Trading Guide with Examples - AskTraders.com">
            <a:extLst>
              <a:ext uri="{FF2B5EF4-FFF2-40B4-BE49-F238E27FC236}">
                <a16:creationId xmlns:a16="http://schemas.microsoft.com/office/drawing/2014/main" id="{064F0863-4FDB-2026-CE74-EE4EA7C5AB2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71" t="7853" r="811" b="5761"/>
          <a:stretch/>
        </p:blipFill>
        <p:spPr bwMode="auto">
          <a:xfrm>
            <a:off x="5653455" y="958363"/>
            <a:ext cx="6404689" cy="288961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3316" name="Picture 4" descr="How To Trade The Bearish Flag Pattern In Crypto - Delta Exchange">
            <a:extLst>
              <a:ext uri="{FF2B5EF4-FFF2-40B4-BE49-F238E27FC236}">
                <a16:creationId xmlns:a16="http://schemas.microsoft.com/office/drawing/2014/main" id="{1D8BD01C-1020-A075-A25D-E8F70F05A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3455" y="3847979"/>
            <a:ext cx="6404690" cy="2889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27296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Cup and Handle Patterns</a:t>
            </a:r>
          </a:p>
        </p:txBody>
      </p:sp>
      <p:sp>
        <p:nvSpPr>
          <p:cNvPr id="3" name="TextBox 2">
            <a:extLst>
              <a:ext uri="{FF2B5EF4-FFF2-40B4-BE49-F238E27FC236}">
                <a16:creationId xmlns:a16="http://schemas.microsoft.com/office/drawing/2014/main" id="{3A5577CE-35E8-99A3-1AC3-F36263774E5B}"/>
              </a:ext>
            </a:extLst>
          </p:cNvPr>
          <p:cNvSpPr txBox="1"/>
          <p:nvPr/>
        </p:nvSpPr>
        <p:spPr>
          <a:xfrm>
            <a:off x="0" y="838322"/>
            <a:ext cx="11969261" cy="2308324"/>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It is similar to the actual shape of the cup and handle, and traders use it as a reliable breakout trading strategy. </a:t>
            </a:r>
          </a:p>
          <a:p>
            <a:pPr marL="285750" indent="-285750" algn="just">
              <a:buFont typeface="Arial" panose="020B0604020202020204" pitchFamily="34" charset="0"/>
              <a:buChar char="•"/>
            </a:pPr>
            <a:r>
              <a:rPr lang="en-US" sz="2400" dirty="0"/>
              <a:t>Traders anticipate the pattern completion with a strong up-move and trade accordingly at the breakout point. </a:t>
            </a:r>
          </a:p>
          <a:p>
            <a:pPr marL="285750" indent="-285750" algn="just">
              <a:buFont typeface="Arial" panose="020B0604020202020204" pitchFamily="34" charset="0"/>
              <a:buChar char="•"/>
            </a:pPr>
            <a:r>
              <a:rPr lang="en-US" sz="2400" dirty="0"/>
              <a:t>It is considered an excellent bullish signal when used in accordance with demand and supply pattern.</a:t>
            </a:r>
          </a:p>
        </p:txBody>
      </p:sp>
      <p:pic>
        <p:nvPicPr>
          <p:cNvPr id="14338" name="Picture 2" descr="Cup and Handle Pattern: A Chart Pattern for Technical Analysis">
            <a:extLst>
              <a:ext uri="{FF2B5EF4-FFF2-40B4-BE49-F238E27FC236}">
                <a16:creationId xmlns:a16="http://schemas.microsoft.com/office/drawing/2014/main" id="{052A1C0C-FE03-F80C-D3B4-60977217E7E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667" t="33648" r="3641" b="10703"/>
          <a:stretch/>
        </p:blipFill>
        <p:spPr bwMode="auto">
          <a:xfrm>
            <a:off x="222738" y="3146646"/>
            <a:ext cx="11746523" cy="371035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06229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8ADA68-0D2E-4F3D-B916-17829AE72462}"/>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dirty="0">
                <a:solidFill>
                  <a:srgbClr val="FFFFFF"/>
                </a:solidFill>
              </a:rPr>
              <a:t>Market Indicators</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367E237-9EF0-C5F9-5A9C-A0A4E58118ED}"/>
              </a:ext>
            </a:extLst>
          </p:cNvPr>
          <p:cNvSpPr>
            <a:spLocks noGrp="1"/>
          </p:cNvSpPr>
          <p:nvPr>
            <p:ph idx="1"/>
          </p:nvPr>
        </p:nvSpPr>
        <p:spPr>
          <a:xfrm>
            <a:off x="838200" y="2488223"/>
            <a:ext cx="10515600" cy="3688740"/>
          </a:xfrm>
        </p:spPr>
        <p:txBody>
          <a:bodyPr/>
          <a:lstStyle/>
          <a:p>
            <a:pPr algn="just"/>
            <a:r>
              <a:rPr lang="en-US" dirty="0"/>
              <a:t>Market Indicators are tools to aid decision making in the market. </a:t>
            </a:r>
          </a:p>
          <a:p>
            <a:pPr algn="just"/>
            <a:r>
              <a:rPr lang="en-US" dirty="0"/>
              <a:t>There are various types of indicators which measures or indicate the trend, the momentum, the volatility and various other aspects in the market. </a:t>
            </a:r>
          </a:p>
          <a:p>
            <a:pPr algn="just"/>
            <a:r>
              <a:rPr lang="en-US" dirty="0"/>
              <a:t>There are thousands of indicators which are derived out of the price and volume data over time. </a:t>
            </a:r>
          </a:p>
          <a:p>
            <a:pPr algn="just"/>
            <a:r>
              <a:rPr lang="en-US" dirty="0"/>
              <a:t>Here we introduce you with four very useful indicators.</a:t>
            </a:r>
          </a:p>
        </p:txBody>
      </p:sp>
    </p:spTree>
    <p:extLst>
      <p:ext uri="{BB962C8B-B14F-4D97-AF65-F5344CB8AC3E}">
        <p14:creationId xmlns:p14="http://schemas.microsoft.com/office/powerpoint/2010/main" val="7426829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Moving Averages</a:t>
            </a:r>
          </a:p>
        </p:txBody>
      </p:sp>
      <p:sp>
        <p:nvSpPr>
          <p:cNvPr id="3" name="TextBox 2">
            <a:extLst>
              <a:ext uri="{FF2B5EF4-FFF2-40B4-BE49-F238E27FC236}">
                <a16:creationId xmlns:a16="http://schemas.microsoft.com/office/drawing/2014/main" id="{3A5577CE-35E8-99A3-1AC3-F36263774E5B}"/>
              </a:ext>
            </a:extLst>
          </p:cNvPr>
          <p:cNvSpPr txBox="1"/>
          <p:nvPr/>
        </p:nvSpPr>
        <p:spPr>
          <a:xfrm>
            <a:off x="272562" y="1444991"/>
            <a:ext cx="6409592" cy="4524315"/>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t>Moving average (MA) is a statistical technique to find out average of a series on rolling basis. </a:t>
            </a:r>
          </a:p>
          <a:p>
            <a:pPr marL="285750" indent="-285750" algn="just">
              <a:buFont typeface="Arial" panose="020B0604020202020204" pitchFamily="34" charset="0"/>
              <a:buChar char="•"/>
            </a:pPr>
            <a:r>
              <a:rPr lang="en-US" sz="2400" dirty="0"/>
              <a:t>MA can be used to </a:t>
            </a:r>
            <a:r>
              <a:rPr lang="en-US" sz="2400" dirty="0" err="1"/>
              <a:t>analyse</a:t>
            </a:r>
            <a:r>
              <a:rPr lang="en-US" sz="2400" dirty="0"/>
              <a:t> the movement of the entire market as well as individual stock prices. </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200 days or 52 weeks MA are most popular in the analysis of overall market trend. </a:t>
            </a:r>
          </a:p>
          <a:p>
            <a:pPr marL="285750" indent="-285750" algn="just">
              <a:buFont typeface="Arial" panose="020B0604020202020204" pitchFamily="34" charset="0"/>
              <a:buChar char="•"/>
            </a:pPr>
            <a:endParaRPr lang="en-US" sz="2400" dirty="0"/>
          </a:p>
          <a:p>
            <a:pPr marL="285750" indent="-285750" algn="just">
              <a:buFont typeface="Arial" panose="020B0604020202020204" pitchFamily="34" charset="0"/>
              <a:buChar char="•"/>
            </a:pPr>
            <a:r>
              <a:rPr lang="en-US" sz="2400" dirty="0"/>
              <a:t>The 200 days MA is one of the most reliable and easily understandable technical indicators available to technical analysts and investors.</a:t>
            </a:r>
          </a:p>
        </p:txBody>
      </p:sp>
      <p:pic>
        <p:nvPicPr>
          <p:cNvPr id="7" name="Content Placeholder 4" descr="A picture containing drawing&#10;&#10;Description automatically generated">
            <a:extLst>
              <a:ext uri="{FF2B5EF4-FFF2-40B4-BE49-F238E27FC236}">
                <a16:creationId xmlns:a16="http://schemas.microsoft.com/office/drawing/2014/main" id="{D6AA96B3-50EA-8597-5D3C-61D422170ED3}"/>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928338" y="2080737"/>
            <a:ext cx="4858989" cy="3376997"/>
          </a:xfrm>
          <a:prstGeom prst="rect">
            <a:avLst/>
          </a:prstGeom>
          <a:ln>
            <a:solidFill>
              <a:schemeClr val="tx1"/>
            </a:solidFill>
          </a:ln>
        </p:spPr>
      </p:pic>
    </p:spTree>
    <p:extLst>
      <p:ext uri="{BB962C8B-B14F-4D97-AF65-F5344CB8AC3E}">
        <p14:creationId xmlns:p14="http://schemas.microsoft.com/office/powerpoint/2010/main" val="37415805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Moving Averages</a:t>
            </a:r>
          </a:p>
        </p:txBody>
      </p:sp>
      <p:pic>
        <p:nvPicPr>
          <p:cNvPr id="6" name="Picture 5">
            <a:extLst>
              <a:ext uri="{FF2B5EF4-FFF2-40B4-BE49-F238E27FC236}">
                <a16:creationId xmlns:a16="http://schemas.microsoft.com/office/drawing/2014/main" id="{A84D6720-B9DA-7FA9-31EF-576DF718E882}"/>
              </a:ext>
            </a:extLst>
          </p:cNvPr>
          <p:cNvPicPr>
            <a:picLocks noChangeAspect="1"/>
          </p:cNvPicPr>
          <p:nvPr/>
        </p:nvPicPr>
        <p:blipFill rotWithShape="1">
          <a:blip r:embed="rId2"/>
          <a:srcRect l="705" t="796"/>
          <a:stretch/>
        </p:blipFill>
        <p:spPr>
          <a:xfrm>
            <a:off x="79131" y="975946"/>
            <a:ext cx="12051325" cy="5741377"/>
          </a:xfrm>
          <a:prstGeom prst="rect">
            <a:avLst/>
          </a:prstGeom>
          <a:ln>
            <a:solidFill>
              <a:schemeClr val="tx1"/>
            </a:solidFill>
          </a:ln>
        </p:spPr>
      </p:pic>
    </p:spTree>
    <p:extLst>
      <p:ext uri="{BB962C8B-B14F-4D97-AF65-F5344CB8AC3E}">
        <p14:creationId xmlns:p14="http://schemas.microsoft.com/office/powerpoint/2010/main" val="10247855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A5CA52-DEF6-4BE7-AF8E-C643DE0403C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Relative Strength Index (RSI)</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5FD77F-69DF-F796-BC18-88D8E73FBF77}"/>
              </a:ext>
            </a:extLst>
          </p:cNvPr>
          <p:cNvSpPr>
            <a:spLocks noGrp="1"/>
          </p:cNvSpPr>
          <p:nvPr>
            <p:ph idx="1"/>
          </p:nvPr>
        </p:nvSpPr>
        <p:spPr>
          <a:xfrm>
            <a:off x="378067" y="2385995"/>
            <a:ext cx="11438793" cy="4472005"/>
          </a:xfrm>
        </p:spPr>
        <p:txBody>
          <a:bodyPr>
            <a:normAutofit lnSpcReduction="10000"/>
          </a:bodyPr>
          <a:lstStyle/>
          <a:p>
            <a:pPr algn="just"/>
            <a:r>
              <a:rPr lang="en-US" dirty="0"/>
              <a:t>Relative Strength Index (RSI) is a momentum oscillator, developed by J. Welles Wilder, which measures the speed and velocity of price movement of trading instruments (stocks, commodity futures, bonds, forex etc.) over a specified period of time. </a:t>
            </a:r>
          </a:p>
          <a:p>
            <a:pPr algn="just"/>
            <a:r>
              <a:rPr lang="en-US" dirty="0"/>
              <a:t>The objective of RSI indicator is to measure the change in price momentum. </a:t>
            </a:r>
          </a:p>
          <a:p>
            <a:pPr algn="just"/>
            <a:r>
              <a:rPr lang="en-US" dirty="0"/>
              <a:t>It is a leading indicator and is widely used by Technical Analysts.</a:t>
            </a:r>
          </a:p>
          <a:p>
            <a:pPr algn="just"/>
            <a:r>
              <a:rPr lang="en-US" dirty="0"/>
              <a:t>RSI can be used to spot a general trend. </a:t>
            </a:r>
          </a:p>
          <a:p>
            <a:pPr algn="just"/>
            <a:r>
              <a:rPr lang="en-US" dirty="0"/>
              <a:t>It is considered overbought when it goes above 70 and oversold when it goes below 30. </a:t>
            </a:r>
          </a:p>
          <a:p>
            <a:pPr algn="just"/>
            <a:r>
              <a:rPr lang="en-US" dirty="0"/>
              <a:t>30-70 region of RSI is considered to be normal zone. </a:t>
            </a:r>
          </a:p>
        </p:txBody>
      </p:sp>
    </p:spTree>
    <p:extLst>
      <p:ext uri="{BB962C8B-B14F-4D97-AF65-F5344CB8AC3E}">
        <p14:creationId xmlns:p14="http://schemas.microsoft.com/office/powerpoint/2010/main" val="34097773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Relative Strength Index</a:t>
            </a:r>
          </a:p>
        </p:txBody>
      </p:sp>
      <p:pic>
        <p:nvPicPr>
          <p:cNvPr id="16386" name="Picture 2" descr="Chart 1: Relative Strength Indicator ">
            <a:extLst>
              <a:ext uri="{FF2B5EF4-FFF2-40B4-BE49-F238E27FC236}">
                <a16:creationId xmlns:a16="http://schemas.microsoft.com/office/drawing/2014/main" id="{61817598-0915-FD9A-B3B1-0FC9E87AD2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7669" y="1070662"/>
            <a:ext cx="10216662" cy="55476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2325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FDAA2F-A60A-49DE-ACAA-3B029C90D16E}"/>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kern="1200">
                <a:solidFill>
                  <a:srgbClr val="FFFFFF"/>
                </a:solidFill>
                <a:latin typeface="+mj-lt"/>
                <a:ea typeface="+mj-ea"/>
                <a:cs typeface="+mj-cs"/>
              </a:rPr>
              <a:t>Indicators</a:t>
            </a:r>
            <a:br>
              <a:rPr lang="en-US" sz="4800" kern="1200">
                <a:solidFill>
                  <a:srgbClr val="FFFFFF"/>
                </a:solidFill>
                <a:latin typeface="+mj-lt"/>
                <a:ea typeface="+mj-ea"/>
                <a:cs typeface="+mj-cs"/>
              </a:rPr>
            </a:br>
            <a:endParaRPr lang="en-US" sz="4800" kern="1200">
              <a:solidFill>
                <a:srgbClr val="FFFFFF"/>
              </a:solidFill>
              <a:latin typeface="+mj-lt"/>
              <a:ea typeface="+mj-ea"/>
              <a:cs typeface="+mj-cs"/>
            </a:endParaRPr>
          </a:p>
        </p:txBody>
      </p:sp>
      <p:sp>
        <p:nvSpPr>
          <p:cNvPr id="3" name="Content Placeholder 2">
            <a:extLst>
              <a:ext uri="{FF2B5EF4-FFF2-40B4-BE49-F238E27FC236}">
                <a16:creationId xmlns:a16="http://schemas.microsoft.com/office/drawing/2014/main" id="{81ED780C-FBB4-4970-98F6-40495734E9DB}"/>
              </a:ext>
            </a:extLst>
          </p:cNvPr>
          <p:cNvSpPr>
            <a:spLocks noGrp="1"/>
          </p:cNvSpPr>
          <p:nvPr>
            <p:ph idx="1"/>
          </p:nvPr>
        </p:nvSpPr>
        <p:spPr>
          <a:xfrm>
            <a:off x="674237" y="4170501"/>
            <a:ext cx="3657600" cy="1525597"/>
          </a:xfrm>
        </p:spPr>
        <p:txBody>
          <a:bodyPr vert="horz" lIns="91440" tIns="45720" rIns="91440" bIns="45720" rtlCol="0">
            <a:normAutofit/>
          </a:bodyPr>
          <a:lstStyle/>
          <a:p>
            <a:pPr marL="0" indent="0" algn="ctr">
              <a:buNone/>
            </a:pPr>
            <a:r>
              <a:rPr lang="en-US" sz="2000" kern="1200">
                <a:solidFill>
                  <a:srgbClr val="FFFFFF"/>
                </a:solidFill>
                <a:latin typeface="+mn-lt"/>
                <a:ea typeface="+mn-ea"/>
                <a:cs typeface="+mn-cs"/>
              </a:rPr>
              <a:t>RSI</a:t>
            </a:r>
          </a:p>
        </p:txBody>
      </p:sp>
      <p:cxnSp>
        <p:nvCxnSpPr>
          <p:cNvPr id="75" name="Straight Connector 74">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15364" name="Picture 4" descr="Image result for rsi">
            <a:extLst>
              <a:ext uri="{FF2B5EF4-FFF2-40B4-BE49-F238E27FC236}">
                <a16:creationId xmlns:a16="http://schemas.microsoft.com/office/drawing/2014/main" id="{6CC1A2C7-0603-4B2E-BE75-20EBF3AE5F76}"/>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53822" y="636608"/>
            <a:ext cx="6553545" cy="53938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0526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A5CA52-DEF6-4BE7-AF8E-C643DE0403C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Relative Strength Index (RSI)</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0E83258F-7556-BE13-D596-E407A29683C0}"/>
              </a:ext>
            </a:extLst>
          </p:cNvPr>
          <p:cNvPicPr>
            <a:picLocks noChangeAspect="1"/>
          </p:cNvPicPr>
          <p:nvPr/>
        </p:nvPicPr>
        <p:blipFill>
          <a:blip r:embed="rId2"/>
          <a:stretch>
            <a:fillRect/>
          </a:stretch>
        </p:blipFill>
        <p:spPr>
          <a:xfrm>
            <a:off x="5416062" y="2389305"/>
            <a:ext cx="6472604" cy="4125209"/>
          </a:xfrm>
          <a:prstGeom prst="rect">
            <a:avLst/>
          </a:prstGeom>
          <a:ln>
            <a:solidFill>
              <a:schemeClr val="tx1"/>
            </a:solidFill>
          </a:ln>
        </p:spPr>
      </p:pic>
      <p:sp>
        <p:nvSpPr>
          <p:cNvPr id="9" name="TextBox 8">
            <a:extLst>
              <a:ext uri="{FF2B5EF4-FFF2-40B4-BE49-F238E27FC236}">
                <a16:creationId xmlns:a16="http://schemas.microsoft.com/office/drawing/2014/main" id="{85B466F0-221B-1BBA-8E01-8ED078291279}"/>
              </a:ext>
            </a:extLst>
          </p:cNvPr>
          <p:cNvSpPr txBox="1"/>
          <p:nvPr/>
        </p:nvSpPr>
        <p:spPr>
          <a:xfrm>
            <a:off x="303334" y="2429940"/>
            <a:ext cx="4963258" cy="4154984"/>
          </a:xfrm>
          <a:prstGeom prst="rect">
            <a:avLst/>
          </a:prstGeom>
          <a:noFill/>
        </p:spPr>
        <p:txBody>
          <a:bodyPr wrap="square">
            <a:spAutoFit/>
          </a:bodyPr>
          <a:lstStyle/>
          <a:p>
            <a:pPr algn="just"/>
            <a:r>
              <a:rPr lang="en-US" sz="2400" b="1" dirty="0"/>
              <a:t>Usage:</a:t>
            </a:r>
          </a:p>
          <a:p>
            <a:pPr algn="just"/>
            <a:r>
              <a:rPr lang="en-US" sz="2400" dirty="0"/>
              <a:t>There are many kinds of usage of RSI. However most popularly, if we find that, RSI breaching the 70 level and at the same time we spot a bearish reversal pattern, then there is opportunity to take short trade with stop loss. Similarly if RSI breaches 30 from below and we observe a bullish reversal pattern, there is opportunity to take long trade with stop loss.</a:t>
            </a:r>
          </a:p>
        </p:txBody>
      </p:sp>
    </p:spTree>
    <p:extLst>
      <p:ext uri="{BB962C8B-B14F-4D97-AF65-F5344CB8AC3E}">
        <p14:creationId xmlns:p14="http://schemas.microsoft.com/office/powerpoint/2010/main" val="26738922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A5CA52-DEF6-4BE7-AF8E-C643DE0403C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Bollinger Band</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5FD77F-69DF-F796-BC18-88D8E73FBF77}"/>
              </a:ext>
            </a:extLst>
          </p:cNvPr>
          <p:cNvSpPr>
            <a:spLocks noGrp="1"/>
          </p:cNvSpPr>
          <p:nvPr>
            <p:ph idx="1"/>
          </p:nvPr>
        </p:nvSpPr>
        <p:spPr>
          <a:xfrm>
            <a:off x="378067" y="2385995"/>
            <a:ext cx="11438793" cy="4472005"/>
          </a:xfrm>
        </p:spPr>
        <p:txBody>
          <a:bodyPr>
            <a:normAutofit/>
          </a:bodyPr>
          <a:lstStyle/>
          <a:p>
            <a:pPr algn="just">
              <a:buFont typeface="Arial" panose="020B0604020202020204" pitchFamily="34" charset="0"/>
              <a:buChar char="•"/>
            </a:pPr>
            <a:r>
              <a:rPr lang="en-US" b="0" i="0" dirty="0">
                <a:solidFill>
                  <a:srgbClr val="111111"/>
                </a:solidFill>
                <a:effectLst/>
                <a:highlight>
                  <a:srgbClr val="FFFFFF"/>
                </a:highlight>
                <a:latin typeface="SourceSansPro"/>
              </a:rPr>
              <a:t>Bollinger Bands is a technical analysis tool used to determine where prices are high and low relative to each other.</a:t>
            </a:r>
          </a:p>
          <a:p>
            <a:pPr algn="just">
              <a:buFont typeface="Arial" panose="020B0604020202020204" pitchFamily="34" charset="0"/>
              <a:buChar char="•"/>
            </a:pPr>
            <a:r>
              <a:rPr lang="en-US" b="0" i="0" dirty="0">
                <a:solidFill>
                  <a:srgbClr val="111111"/>
                </a:solidFill>
                <a:effectLst/>
                <a:highlight>
                  <a:srgbClr val="FFFFFF"/>
                </a:highlight>
                <a:latin typeface="SourceSansPro"/>
              </a:rPr>
              <a:t>These bands are composed of three lines: a simple moving average (the middle band) and an upper and lower band.</a:t>
            </a:r>
          </a:p>
          <a:p>
            <a:pPr algn="just">
              <a:buFont typeface="Arial" panose="020B0604020202020204" pitchFamily="34" charset="0"/>
              <a:buChar char="•"/>
            </a:pPr>
            <a:r>
              <a:rPr lang="en-US" b="0" i="0" dirty="0">
                <a:solidFill>
                  <a:srgbClr val="111111"/>
                </a:solidFill>
                <a:effectLst/>
                <a:highlight>
                  <a:srgbClr val="FFFFFF"/>
                </a:highlight>
                <a:latin typeface="SourceSansPro"/>
              </a:rPr>
              <a:t>The upper and lower bands are typically two standard deviations above or below a 20-period simple moving average (SMA).</a:t>
            </a:r>
          </a:p>
          <a:p>
            <a:pPr algn="just">
              <a:buFont typeface="Arial" panose="020B0604020202020204" pitchFamily="34" charset="0"/>
              <a:buChar char="•"/>
            </a:pPr>
            <a:r>
              <a:rPr lang="en-US" b="0" i="0" dirty="0">
                <a:solidFill>
                  <a:srgbClr val="111111"/>
                </a:solidFill>
                <a:effectLst/>
                <a:highlight>
                  <a:srgbClr val="FFFFFF"/>
                </a:highlight>
                <a:latin typeface="SourceSansPro"/>
              </a:rPr>
              <a:t>The bands widen and narrow as the volatility of the underlying asset changes.</a:t>
            </a:r>
          </a:p>
        </p:txBody>
      </p:sp>
    </p:spTree>
    <p:extLst>
      <p:ext uri="{BB962C8B-B14F-4D97-AF65-F5344CB8AC3E}">
        <p14:creationId xmlns:p14="http://schemas.microsoft.com/office/powerpoint/2010/main" val="116444709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Bollinger Band</a:t>
            </a:r>
          </a:p>
        </p:txBody>
      </p:sp>
      <p:pic>
        <p:nvPicPr>
          <p:cNvPr id="17410" name="Picture 2" descr="Day trading Bollinger Bands with EUR/GBP">
            <a:extLst>
              <a:ext uri="{FF2B5EF4-FFF2-40B4-BE49-F238E27FC236}">
                <a16:creationId xmlns:a16="http://schemas.microsoft.com/office/drawing/2014/main" id="{4560DA9F-8C36-7795-9D65-2D2854F1B6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5233" y="1037922"/>
            <a:ext cx="10021534" cy="560026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86729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A5CA52-DEF6-4BE7-AF8E-C643DE0403C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Moving Average </a:t>
            </a:r>
            <a:r>
              <a:rPr lang="en-US" sz="5400" dirty="0">
                <a:solidFill>
                  <a:srgbClr val="FFFFFF"/>
                </a:solidFill>
              </a:rPr>
              <a:t>Crossover</a:t>
            </a:r>
            <a:endParaRPr lang="en-US" sz="5400" kern="1200" dirty="0">
              <a:solidFill>
                <a:srgbClr val="FFFFFF"/>
              </a:solidFill>
              <a:latin typeface="+mj-lt"/>
              <a:ea typeface="+mj-ea"/>
              <a:cs typeface="+mj-cs"/>
            </a:endParaRP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5B466F0-221B-1BBA-8E01-8ED078291279}"/>
              </a:ext>
            </a:extLst>
          </p:cNvPr>
          <p:cNvSpPr txBox="1"/>
          <p:nvPr/>
        </p:nvSpPr>
        <p:spPr>
          <a:xfrm>
            <a:off x="294541" y="2310834"/>
            <a:ext cx="4796205" cy="4524315"/>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srgbClr val="000000"/>
                </a:solidFill>
              </a:rPr>
              <a:t>Moving average crossovers are a common way traders can use Moving Averages. </a:t>
            </a:r>
          </a:p>
          <a:p>
            <a:pPr marL="342900" indent="-342900" algn="just">
              <a:buFont typeface="Arial" panose="020B0604020202020204" pitchFamily="34" charset="0"/>
              <a:buChar char="•"/>
            </a:pPr>
            <a:r>
              <a:rPr lang="en-US" sz="2400" dirty="0">
                <a:solidFill>
                  <a:srgbClr val="000000"/>
                </a:solidFill>
              </a:rPr>
              <a:t>A crossover occurs when a faster Moving Average (i.e. a shorter period Moving Average) crosses either above a slower Moving Average (i.e. a longer period Moving Average) which is considered a bullish crossover or below which is considered a bearish crossover.</a:t>
            </a:r>
            <a:endParaRPr lang="en-US" sz="2400" b="0" i="0" dirty="0">
              <a:solidFill>
                <a:srgbClr val="111111"/>
              </a:solidFill>
              <a:effectLst/>
              <a:highlight>
                <a:srgbClr val="FFFFFF"/>
              </a:highlight>
              <a:latin typeface="SourceSansPro"/>
            </a:endParaRPr>
          </a:p>
        </p:txBody>
      </p:sp>
      <p:pic>
        <p:nvPicPr>
          <p:cNvPr id="19458" name="Picture 2" descr="How to Use Moving Average Crossovers to Enter Trades - Babypips.com">
            <a:extLst>
              <a:ext uri="{FF2B5EF4-FFF2-40B4-BE49-F238E27FC236}">
                <a16:creationId xmlns:a16="http://schemas.microsoft.com/office/drawing/2014/main" id="{E23B9D5E-5314-E2AD-BC27-9843BDFCA5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97397" y="2455676"/>
            <a:ext cx="6871316" cy="423462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516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A5CA52-DEF6-4BE7-AF8E-C643DE0403C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Volume Indicator</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5FD77F-69DF-F796-BC18-88D8E73FBF77}"/>
              </a:ext>
            </a:extLst>
          </p:cNvPr>
          <p:cNvSpPr>
            <a:spLocks noGrp="1"/>
          </p:cNvSpPr>
          <p:nvPr>
            <p:ph idx="1"/>
          </p:nvPr>
        </p:nvSpPr>
        <p:spPr>
          <a:xfrm>
            <a:off x="378068" y="2385995"/>
            <a:ext cx="6550270" cy="4472005"/>
          </a:xfrm>
        </p:spPr>
        <p:txBody>
          <a:bodyPr>
            <a:normAutofit fontScale="92500"/>
          </a:bodyPr>
          <a:lstStyle/>
          <a:p>
            <a:pPr algn="just">
              <a:buFont typeface="Arial" panose="020B0604020202020204" pitchFamily="34" charset="0"/>
              <a:buChar char="•"/>
            </a:pPr>
            <a:r>
              <a:rPr lang="en-US" dirty="0"/>
              <a:t>All the chart patterns and indicators discussed so far, used only past price data for stocks. </a:t>
            </a:r>
          </a:p>
          <a:p>
            <a:pPr algn="just">
              <a:buFont typeface="Arial" panose="020B0604020202020204" pitchFamily="34" charset="0"/>
              <a:buChar char="•"/>
            </a:pPr>
            <a:r>
              <a:rPr lang="en-US" dirty="0"/>
              <a:t>However stock’s past volume data also provides useful insights into and hence can be used in predicting stock prices. </a:t>
            </a:r>
          </a:p>
          <a:p>
            <a:pPr algn="just"/>
            <a:r>
              <a:rPr lang="en-US" dirty="0"/>
              <a:t>In technical analysis, volume measures the number of a stock's shares that are traded on a stock exchange in a day or a period of time. </a:t>
            </a:r>
          </a:p>
          <a:p>
            <a:pPr algn="just"/>
            <a:r>
              <a:rPr lang="en-US" dirty="0"/>
              <a:t>Volume is important because it confirms trend directions. </a:t>
            </a:r>
          </a:p>
          <a:p>
            <a:pPr marL="0" indent="0" algn="just">
              <a:buNone/>
            </a:pPr>
            <a:endParaRPr lang="en-US" dirty="0"/>
          </a:p>
        </p:txBody>
      </p:sp>
      <p:pic>
        <p:nvPicPr>
          <p:cNvPr id="4" name="Content Placeholder 3">
            <a:extLst>
              <a:ext uri="{FF2B5EF4-FFF2-40B4-BE49-F238E27FC236}">
                <a16:creationId xmlns:a16="http://schemas.microsoft.com/office/drawing/2014/main" id="{AD380F7B-E5D6-5FA7-62BB-FC73DBA5F905}"/>
              </a:ext>
            </a:extLst>
          </p:cNvPr>
          <p:cNvPicPr>
            <a:picLocks noChangeAspect="1"/>
          </p:cNvPicPr>
          <p:nvPr/>
        </p:nvPicPr>
        <p:blipFill rotWithShape="1">
          <a:blip r:embed="rId2"/>
          <a:srcRect l="31047" t="22949" r="1022" b="10284"/>
          <a:stretch/>
        </p:blipFill>
        <p:spPr>
          <a:xfrm>
            <a:off x="7231545" y="2681654"/>
            <a:ext cx="4582387" cy="3832860"/>
          </a:xfrm>
          <a:prstGeom prst="rect">
            <a:avLst/>
          </a:prstGeom>
          <a:ln>
            <a:solidFill>
              <a:schemeClr val="tx1"/>
            </a:solidFill>
          </a:ln>
        </p:spPr>
      </p:pic>
    </p:spTree>
    <p:extLst>
      <p:ext uri="{BB962C8B-B14F-4D97-AF65-F5344CB8AC3E}">
        <p14:creationId xmlns:p14="http://schemas.microsoft.com/office/powerpoint/2010/main" val="37099096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BA5CA52-DEF6-4BE7-AF8E-C643DE0403C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Volume Indicator</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55FD77F-69DF-F796-BC18-88D8E73FBF77}"/>
              </a:ext>
            </a:extLst>
          </p:cNvPr>
          <p:cNvSpPr>
            <a:spLocks noGrp="1"/>
          </p:cNvSpPr>
          <p:nvPr>
            <p:ph idx="1"/>
          </p:nvPr>
        </p:nvSpPr>
        <p:spPr>
          <a:xfrm>
            <a:off x="378067" y="2385995"/>
            <a:ext cx="11438793" cy="4472005"/>
          </a:xfrm>
        </p:spPr>
        <p:txBody>
          <a:bodyPr>
            <a:normAutofit/>
          </a:bodyPr>
          <a:lstStyle/>
          <a:p>
            <a:pPr lvl="0"/>
            <a:r>
              <a:rPr lang="en-US" dirty="0"/>
              <a:t>Most trading platforms, print each volume bar as either green or red. </a:t>
            </a:r>
          </a:p>
          <a:p>
            <a:pPr lvl="0"/>
            <a:r>
              <a:rPr lang="en-US" dirty="0"/>
              <a:t>Green bars are printed if the stock closes up for a period and red bars indicate a stock closed lower for a given period. </a:t>
            </a:r>
          </a:p>
          <a:p>
            <a:pPr lvl="0"/>
            <a:r>
              <a:rPr lang="en-US" dirty="0"/>
              <a:t>Researchers have observed that – </a:t>
            </a:r>
          </a:p>
          <a:p>
            <a:pPr lvl="1"/>
            <a:r>
              <a:rPr lang="en-US" dirty="0"/>
              <a:t>Rising volume in bullish market is further bullish. </a:t>
            </a:r>
          </a:p>
          <a:p>
            <a:pPr lvl="1"/>
            <a:r>
              <a:rPr lang="en-US" dirty="0"/>
              <a:t>Declining volume in bullish market suggests that market will turn bearish in near future. </a:t>
            </a:r>
          </a:p>
          <a:p>
            <a:pPr lvl="1"/>
            <a:r>
              <a:rPr lang="en-US" dirty="0"/>
              <a:t>Rising volume in bearish market farther strengthens the bearish trend. </a:t>
            </a:r>
          </a:p>
          <a:p>
            <a:pPr lvl="1"/>
            <a:r>
              <a:rPr lang="en-US" dirty="0"/>
              <a:t>Declining volume in bearish market suggests that market will turn bullish in near future.</a:t>
            </a:r>
          </a:p>
        </p:txBody>
      </p:sp>
    </p:spTree>
    <p:extLst>
      <p:ext uri="{BB962C8B-B14F-4D97-AF65-F5344CB8AC3E}">
        <p14:creationId xmlns:p14="http://schemas.microsoft.com/office/powerpoint/2010/main" val="19797013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Volume Indicator</a:t>
            </a:r>
          </a:p>
        </p:txBody>
      </p:sp>
      <p:pic>
        <p:nvPicPr>
          <p:cNvPr id="18434" name="Picture 2" descr="How to Use Volume to Analyze Price Movements When Planning Trading  Strategies - Commodity.com">
            <a:extLst>
              <a:ext uri="{FF2B5EF4-FFF2-40B4-BE49-F238E27FC236}">
                <a16:creationId xmlns:a16="http://schemas.microsoft.com/office/drawing/2014/main" id="{81F7D2F8-AFD3-275D-6182-12A94DBA93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546" y="1740826"/>
            <a:ext cx="5565531" cy="4176396"/>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3" name="Content Placeholder 3">
            <a:extLst>
              <a:ext uri="{FF2B5EF4-FFF2-40B4-BE49-F238E27FC236}">
                <a16:creationId xmlns:a16="http://schemas.microsoft.com/office/drawing/2014/main" id="{ACB8A620-171B-9A82-DD30-69736CAD0956}"/>
              </a:ext>
            </a:extLst>
          </p:cNvPr>
          <p:cNvPicPr>
            <a:picLocks noChangeAspect="1"/>
          </p:cNvPicPr>
          <p:nvPr/>
        </p:nvPicPr>
        <p:blipFill rotWithShape="1">
          <a:blip r:embed="rId3"/>
          <a:srcRect l="6958" t="16565" r="33790" b="33426"/>
          <a:stretch/>
        </p:blipFill>
        <p:spPr>
          <a:xfrm>
            <a:off x="5794131" y="1740826"/>
            <a:ext cx="6251331" cy="4176396"/>
          </a:xfrm>
          <a:prstGeom prst="rect">
            <a:avLst/>
          </a:prstGeom>
          <a:ln>
            <a:solidFill>
              <a:schemeClr val="tx1"/>
            </a:solidFill>
          </a:ln>
        </p:spPr>
      </p:pic>
    </p:spTree>
    <p:extLst>
      <p:ext uri="{BB962C8B-B14F-4D97-AF65-F5344CB8AC3E}">
        <p14:creationId xmlns:p14="http://schemas.microsoft.com/office/powerpoint/2010/main" val="13493981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Limitations of Technical Analysis</a:t>
            </a:r>
          </a:p>
        </p:txBody>
      </p:sp>
      <p:sp>
        <p:nvSpPr>
          <p:cNvPr id="3" name="TextBox 2">
            <a:extLst>
              <a:ext uri="{FF2B5EF4-FFF2-40B4-BE49-F238E27FC236}">
                <a16:creationId xmlns:a16="http://schemas.microsoft.com/office/drawing/2014/main" id="{3A5577CE-35E8-99A3-1AC3-F36263774E5B}"/>
              </a:ext>
            </a:extLst>
          </p:cNvPr>
          <p:cNvSpPr txBox="1"/>
          <p:nvPr/>
        </p:nvSpPr>
        <p:spPr>
          <a:xfrm>
            <a:off x="0" y="1128468"/>
            <a:ext cx="11843237" cy="5262979"/>
          </a:xfrm>
          <a:prstGeom prst="rect">
            <a:avLst/>
          </a:prstGeom>
          <a:noFill/>
        </p:spPr>
        <p:txBody>
          <a:bodyPr wrap="square" rtlCol="0">
            <a:spAutoFit/>
          </a:bodyPr>
          <a:lstStyle/>
          <a:p>
            <a:pPr marL="742950" lvl="1" indent="-285750" algn="just">
              <a:buFont typeface="Arial" panose="020B0604020202020204" pitchFamily="34" charset="0"/>
              <a:buChar char="•"/>
            </a:pPr>
            <a:r>
              <a:rPr lang="en-US" sz="2400" b="1" dirty="0"/>
              <a:t>Requirement of Interpretational skills : </a:t>
            </a:r>
            <a:r>
              <a:rPr lang="en-US" sz="2400" dirty="0"/>
              <a:t>Various charts and patterns of technical analysis requires careful interpretation by skilled analysts. Hence technical tools and indicators may not be used widely by common investors. </a:t>
            </a:r>
          </a:p>
          <a:p>
            <a:pPr marL="742950" lvl="1" indent="-285750" algn="just">
              <a:buFont typeface="Arial" panose="020B0604020202020204" pitchFamily="34" charset="0"/>
              <a:buChar char="•"/>
            </a:pPr>
            <a:r>
              <a:rPr lang="en-US" sz="2400" b="1" dirty="0"/>
              <a:t>Subjective analysis and </a:t>
            </a:r>
            <a:r>
              <a:rPr lang="en-US" sz="2400" b="1" dirty="0" err="1"/>
              <a:t>Behavioural</a:t>
            </a:r>
            <a:r>
              <a:rPr lang="en-US" sz="2400" b="1" dirty="0"/>
              <a:t> biases : </a:t>
            </a:r>
            <a:r>
              <a:rPr lang="en-US" sz="2400" dirty="0"/>
              <a:t>Technical analysts, are subject to many </a:t>
            </a:r>
            <a:r>
              <a:rPr lang="en-US" sz="2400" dirty="0" err="1"/>
              <a:t>behavioural</a:t>
            </a:r>
            <a:r>
              <a:rPr lang="en-US" sz="2400" dirty="0"/>
              <a:t> biases while interpreting various chart patterns and predicting future stock prices based on the analysis of past price data. Some of these </a:t>
            </a:r>
            <a:r>
              <a:rPr lang="en-US" sz="2400" dirty="0" err="1"/>
              <a:t>behavioural</a:t>
            </a:r>
            <a:r>
              <a:rPr lang="en-US" sz="2400" dirty="0"/>
              <a:t> biases are- over-confidence, framing, regret avoidance and so on. </a:t>
            </a:r>
          </a:p>
          <a:p>
            <a:pPr marL="742950" lvl="1" indent="-285750" algn="just">
              <a:buFont typeface="Arial" panose="020B0604020202020204" pitchFamily="34" charset="0"/>
              <a:buChar char="•"/>
            </a:pPr>
            <a:r>
              <a:rPr lang="en-US" sz="2400" b="1" dirty="0"/>
              <a:t>Late response to a chart pattern : </a:t>
            </a:r>
            <a:r>
              <a:rPr lang="en-US" sz="2400" dirty="0"/>
              <a:t>Once a chart pattern is detected, it needs to be acted upon immediately. Hence the technical analyst must be a quick identifier of a chart pattern to make gains out of it. In practice, such a quickness or promptness is rarely observed. </a:t>
            </a:r>
          </a:p>
          <a:p>
            <a:pPr marL="742950" lvl="1" indent="-285750" algn="just">
              <a:buFont typeface="Arial" panose="020B0604020202020204" pitchFamily="34" charset="0"/>
              <a:buChar char="•"/>
            </a:pPr>
            <a:r>
              <a:rPr lang="en-US" sz="2400" b="1" dirty="0"/>
              <a:t>Short term perspective : </a:t>
            </a:r>
            <a:r>
              <a:rPr lang="en-US" sz="2400" dirty="0"/>
              <a:t>The perspective of a chartist is short term and hence long term predictions are generally not based on technical tools and techniques. For long term analysis, fundamental analysis is a better approach to find out the real worth of a share</a:t>
            </a:r>
          </a:p>
        </p:txBody>
      </p:sp>
    </p:spTree>
    <p:extLst>
      <p:ext uri="{BB962C8B-B14F-4D97-AF65-F5344CB8AC3E}">
        <p14:creationId xmlns:p14="http://schemas.microsoft.com/office/powerpoint/2010/main" val="409717252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75CBD-536E-B998-3A37-60FC7C8DD1D4}"/>
              </a:ext>
            </a:extLst>
          </p:cNvPr>
          <p:cNvSpPr>
            <a:spLocks noGrp="1"/>
          </p:cNvSpPr>
          <p:nvPr>
            <p:ph type="ctrTitle"/>
          </p:nvPr>
        </p:nvSpPr>
        <p:spPr>
          <a:xfrm>
            <a:off x="0" y="0"/>
            <a:ext cx="12192000" cy="838322"/>
          </a:xfrm>
          <a:solidFill>
            <a:schemeClr val="tx2">
              <a:lumMod val="75000"/>
            </a:schemeClr>
          </a:solidFill>
        </p:spPr>
        <p:txBody>
          <a:bodyPr>
            <a:normAutofit fontScale="90000"/>
          </a:bodyPr>
          <a:lstStyle/>
          <a:p>
            <a:r>
              <a:rPr lang="en-US" dirty="0">
                <a:solidFill>
                  <a:schemeClr val="bg1"/>
                </a:solidFill>
              </a:rPr>
              <a:t>Technical Analysis Vs. Fundamental Analysis</a:t>
            </a:r>
          </a:p>
        </p:txBody>
      </p:sp>
      <p:sp>
        <p:nvSpPr>
          <p:cNvPr id="3" name="TextBox 2">
            <a:extLst>
              <a:ext uri="{FF2B5EF4-FFF2-40B4-BE49-F238E27FC236}">
                <a16:creationId xmlns:a16="http://schemas.microsoft.com/office/drawing/2014/main" id="{3A5577CE-35E8-99A3-1AC3-F36263774E5B}"/>
              </a:ext>
            </a:extLst>
          </p:cNvPr>
          <p:cNvSpPr txBox="1"/>
          <p:nvPr/>
        </p:nvSpPr>
        <p:spPr>
          <a:xfrm>
            <a:off x="87923" y="979468"/>
            <a:ext cx="11843237" cy="5878532"/>
          </a:xfrm>
          <a:prstGeom prst="rect">
            <a:avLst/>
          </a:prstGeom>
          <a:noFill/>
        </p:spPr>
        <p:txBody>
          <a:bodyPr wrap="square" rtlCol="0">
            <a:spAutoFit/>
          </a:bodyPr>
          <a:lstStyle/>
          <a:p>
            <a:pPr marL="0" lvl="0" indent="0">
              <a:buNone/>
            </a:pPr>
            <a:r>
              <a:rPr lang="en-US" sz="2400" dirty="0"/>
              <a:t>Which is superior? - Technical analysis or Fundamental analysis</a:t>
            </a:r>
          </a:p>
          <a:p>
            <a:pPr marL="0" lvl="0" indent="0">
              <a:buNone/>
            </a:pPr>
            <a:endParaRPr lang="en-US" sz="2400" dirty="0"/>
          </a:p>
          <a:p>
            <a:pPr marL="342900" indent="-342900" algn="just">
              <a:buFont typeface="Arial" panose="020B0604020202020204" pitchFamily="34" charset="0"/>
              <a:buChar char="•"/>
            </a:pPr>
            <a:r>
              <a:rPr lang="en-US" sz="2400" dirty="0"/>
              <a:t>There has always been a debate between fundamental analysts and technical analysts to show their supremacy. </a:t>
            </a:r>
          </a:p>
          <a:p>
            <a:pPr marL="342900" indent="-342900" algn="just">
              <a:buFont typeface="Arial" panose="020B0604020202020204" pitchFamily="34" charset="0"/>
              <a:buChar char="•"/>
            </a:pPr>
            <a:r>
              <a:rPr lang="en-US" sz="2400" dirty="0"/>
              <a:t>It must be noted that Fundamental analysis and Technical analysis are not mutually exclusive. They are complementary. </a:t>
            </a:r>
          </a:p>
          <a:p>
            <a:pPr marL="342900" indent="-342900" algn="just">
              <a:buFont typeface="Arial" panose="020B0604020202020204" pitchFamily="34" charset="0"/>
              <a:buChar char="•"/>
            </a:pPr>
            <a:r>
              <a:rPr lang="en-US" sz="2400" dirty="0"/>
              <a:t>Technical analysis complements fundamental analysis to identify the right time to buy or sell the security which is suggested by fundamental analysis. </a:t>
            </a:r>
          </a:p>
          <a:p>
            <a:pPr marL="342900" indent="-342900" algn="just">
              <a:buFont typeface="Arial" panose="020B0604020202020204" pitchFamily="34" charset="0"/>
              <a:buChar char="•"/>
            </a:pPr>
            <a:r>
              <a:rPr lang="en-US" sz="2400" dirty="0"/>
              <a:t>While fundamental analysis calculates the intrinsic value of a share using EIC framework, technical analysis predicts future price movements using past price and volume data. </a:t>
            </a:r>
          </a:p>
          <a:p>
            <a:pPr marL="342900" indent="-342900" algn="just">
              <a:buFont typeface="Arial" panose="020B0604020202020204" pitchFamily="34" charset="0"/>
              <a:buChar char="•"/>
            </a:pPr>
            <a:r>
              <a:rPr lang="en-US" sz="2400" dirty="0"/>
              <a:t>The perspective in case of Fundamental analysis is long term while in case of Technical analysis, short term. </a:t>
            </a:r>
          </a:p>
          <a:p>
            <a:pPr marL="342900" indent="-342900" algn="just">
              <a:buFont typeface="Arial" panose="020B0604020202020204" pitchFamily="34" charset="0"/>
              <a:buChar char="•"/>
            </a:pPr>
            <a:r>
              <a:rPr lang="en-US" sz="2400" dirty="0"/>
              <a:t>Hence Fundamental analysis is considered superior to Technical analysis when an investor has a long term investment horizon. </a:t>
            </a:r>
          </a:p>
          <a:p>
            <a:pPr marL="342900" indent="-342900" algn="just">
              <a:buFont typeface="Arial" panose="020B0604020202020204" pitchFamily="34" charset="0"/>
              <a:buChar char="•"/>
            </a:pPr>
            <a:r>
              <a:rPr lang="en-US" sz="2400" dirty="0"/>
              <a:t>Technical analysis on the other hand is preferred by short term traders and speculators. </a:t>
            </a:r>
          </a:p>
          <a:p>
            <a:pPr lvl="1" algn="just"/>
            <a:endParaRPr lang="en-US" sz="1600" dirty="0"/>
          </a:p>
        </p:txBody>
      </p:sp>
    </p:spTree>
    <p:extLst>
      <p:ext uri="{BB962C8B-B14F-4D97-AF65-F5344CB8AC3E}">
        <p14:creationId xmlns:p14="http://schemas.microsoft.com/office/powerpoint/2010/main" val="26622246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Freeform: Shape 14">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FEBD56-0EB8-4CCC-A140-2665F173CD6C}"/>
              </a:ext>
            </a:extLst>
          </p:cNvPr>
          <p:cNvSpPr>
            <a:spLocks noGrp="1"/>
          </p:cNvSpPr>
          <p:nvPr>
            <p:ph type="title"/>
          </p:nvPr>
        </p:nvSpPr>
        <p:spPr>
          <a:xfrm>
            <a:off x="863029" y="1012004"/>
            <a:ext cx="3416158" cy="4795408"/>
          </a:xfrm>
        </p:spPr>
        <p:txBody>
          <a:bodyPr>
            <a:normAutofit/>
          </a:bodyPr>
          <a:lstStyle/>
          <a:p>
            <a:r>
              <a:rPr lang="en-IN" sz="4100" dirty="0">
                <a:solidFill>
                  <a:srgbClr val="FFFFFF"/>
                </a:solidFill>
              </a:rPr>
              <a:t>RISK MANAGEMENT Some key principles to trade stock market</a:t>
            </a:r>
          </a:p>
        </p:txBody>
      </p:sp>
      <p:graphicFrame>
        <p:nvGraphicFramePr>
          <p:cNvPr id="5" name="Content Placeholder 2">
            <a:extLst>
              <a:ext uri="{FF2B5EF4-FFF2-40B4-BE49-F238E27FC236}">
                <a16:creationId xmlns:a16="http://schemas.microsoft.com/office/drawing/2014/main" id="{F125B70D-C3CF-441B-BEF9-6415A6DE7FFE}"/>
              </a:ext>
            </a:extLst>
          </p:cNvPr>
          <p:cNvGraphicFramePr>
            <a:graphicFrameLocks noGrp="1"/>
          </p:cNvGraphicFramePr>
          <p:nvPr>
            <p:ph idx="1"/>
            <p:extLst>
              <p:ext uri="{D42A27DB-BD31-4B8C-83A1-F6EECF244321}">
                <p14:modId xmlns:p14="http://schemas.microsoft.com/office/powerpoint/2010/main" val="2188156843"/>
              </p:ext>
            </p:extLst>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296577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F8ADA68-0D2E-4F3D-B916-17829AE72462}"/>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Namaskar &amp; Thank You</a:t>
            </a:r>
          </a:p>
        </p:txBody>
      </p:sp>
      <p:cxnSp>
        <p:nvCxnSpPr>
          <p:cNvPr id="73" name="Straight Connector 72">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20482" name="Picture 2" descr="Namaste India Clip Art - Namaskar Png - Free Transparent PNG Clipart ...">
            <a:extLst>
              <a:ext uri="{FF2B5EF4-FFF2-40B4-BE49-F238E27FC236}">
                <a16:creationId xmlns:a16="http://schemas.microsoft.com/office/drawing/2014/main" id="{11EE1380-3393-AFDA-5919-925DC12ED0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38575" y="2926740"/>
            <a:ext cx="4514850" cy="3114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08759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TotalTime>
  <Words>2975</Words>
  <Application>Microsoft Office PowerPoint</Application>
  <PresentationFormat>Widescreen</PresentationFormat>
  <Paragraphs>236</Paragraphs>
  <Slides>47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47</vt:i4>
      </vt:variant>
    </vt:vector>
  </HeadingPairs>
  <TitlesOfParts>
    <vt:vector size="52" baseType="lpstr">
      <vt:lpstr>Arial</vt:lpstr>
      <vt:lpstr>Calibri</vt:lpstr>
      <vt:lpstr>Calibri Light</vt:lpstr>
      <vt:lpstr>SourceSansPro</vt:lpstr>
      <vt:lpstr>Office Theme</vt:lpstr>
      <vt:lpstr>Technical Analysis</vt:lpstr>
      <vt:lpstr>Technical Analysis</vt:lpstr>
      <vt:lpstr>Introduction</vt:lpstr>
      <vt:lpstr>Introduction</vt:lpstr>
      <vt:lpstr>Introduction</vt:lpstr>
      <vt:lpstr>Fundamental Vs. Technical Analysis</vt:lpstr>
      <vt:lpstr>Tools of Technical Analysis</vt:lpstr>
      <vt:lpstr>Charts and Its Types</vt:lpstr>
      <vt:lpstr>Line Chart</vt:lpstr>
      <vt:lpstr>Line Chart</vt:lpstr>
      <vt:lpstr>Bar Chart</vt:lpstr>
      <vt:lpstr>Bar Chart</vt:lpstr>
      <vt:lpstr>Candlestick Chart</vt:lpstr>
      <vt:lpstr>Candlestick Chart</vt:lpstr>
      <vt:lpstr>Trend</vt:lpstr>
      <vt:lpstr>Uptrend</vt:lpstr>
      <vt:lpstr>Downtrend</vt:lpstr>
      <vt:lpstr>TREND</vt:lpstr>
      <vt:lpstr>Range Bound Trend / Consolidation </vt:lpstr>
      <vt:lpstr>Example</vt:lpstr>
      <vt:lpstr>Dow Theory</vt:lpstr>
      <vt:lpstr>Dow Theory</vt:lpstr>
      <vt:lpstr>Primary Vs. Secondary Vs. Minor Trends</vt:lpstr>
      <vt:lpstr>Chart Patterns</vt:lpstr>
      <vt:lpstr>Support and Resistance</vt:lpstr>
      <vt:lpstr>Double Tops and Bottoms</vt:lpstr>
      <vt:lpstr>Head and Shoulder Pattern</vt:lpstr>
      <vt:lpstr>Triangle Patterns</vt:lpstr>
      <vt:lpstr>Flag Patterns</vt:lpstr>
      <vt:lpstr>Cup and Handle Patterns</vt:lpstr>
      <vt:lpstr>Market Indicators</vt:lpstr>
      <vt:lpstr>Moving Averages</vt:lpstr>
      <vt:lpstr>Moving Averages</vt:lpstr>
      <vt:lpstr>Relative Strength Index (RSI)</vt:lpstr>
      <vt:lpstr>Relative Strength Index</vt:lpstr>
      <vt:lpstr>Indicators </vt:lpstr>
      <vt:lpstr>Relative Strength Index (RSI)</vt:lpstr>
      <vt:lpstr>Bollinger Band</vt:lpstr>
      <vt:lpstr>Bollinger Band</vt:lpstr>
      <vt:lpstr>Moving Average Crossover</vt:lpstr>
      <vt:lpstr>Volume Indicator</vt:lpstr>
      <vt:lpstr>Volume Indicator</vt:lpstr>
      <vt:lpstr>Volume Indicator</vt:lpstr>
      <vt:lpstr>Limitations of Technical Analysis</vt:lpstr>
      <vt:lpstr>Technical Analysis Vs. Fundamental Analysis</vt:lpstr>
      <vt:lpstr>RISK MANAGEMENT Some key principles to trade stock market</vt:lpstr>
      <vt:lpstr>Namaskar &amp;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 learning of Technical Analysis</dc:title>
  <dc:creator>Kunal Shah</dc:creator>
  <cp:lastModifiedBy>Abhisek Mahanta</cp:lastModifiedBy>
  <cp:revision>10</cp:revision>
  <dcterms:created xsi:type="dcterms:W3CDTF">2019-07-31T14:40:10Z</dcterms:created>
  <dcterms:modified xsi:type="dcterms:W3CDTF">2024-08-30T06:53:38Z</dcterms:modified>
</cp:coreProperties>
</file>