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34" r:id="rId2"/>
    <p:sldId id="268" r:id="rId3"/>
    <p:sldId id="339" r:id="rId4"/>
    <p:sldId id="345" r:id="rId5"/>
    <p:sldId id="275" r:id="rId6"/>
    <p:sldId id="274" r:id="rId7"/>
    <p:sldId id="279" r:id="rId8"/>
    <p:sldId id="342" r:id="rId9"/>
    <p:sldId id="281" r:id="rId10"/>
    <p:sldId id="315" r:id="rId11"/>
    <p:sldId id="341" r:id="rId12"/>
    <p:sldId id="302" r:id="rId13"/>
    <p:sldId id="34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>
      <p:cViewPr varScale="1">
        <p:scale>
          <a:sx n="82" d="100"/>
          <a:sy n="82" d="100"/>
        </p:scale>
        <p:origin x="87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A6CB8-41B0-49C9-8AB8-79BADB8BF34C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Gross Working capital</a:t>
          </a:r>
        </a:p>
      </dgm:t>
    </dgm:pt>
    <dgm:pt modelId="{C83051E2-B82E-4122-AB37-D707C717F9E6}" type="parTrans" cxnId="{3637DF5A-A2D2-4567-B674-57164AB36E8F}">
      <dgm:prSet/>
      <dgm:spPr/>
      <dgm:t>
        <a:bodyPr/>
        <a:lstStyle/>
        <a:p>
          <a:endParaRPr lang="en-IN"/>
        </a:p>
      </dgm:t>
    </dgm:pt>
    <dgm:pt modelId="{7F22F512-02A1-4C1B-BD4D-92ED8B159081}" type="sibTrans" cxnId="{3637DF5A-A2D2-4567-B674-57164AB36E8F}">
      <dgm:prSet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Permanent Working Capital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DF3C090E-2B8D-404C-8F2C-8D1C31B665EA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Temporary Working Capital</a:t>
          </a: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/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Net Working Capital 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/>
        </a:p>
      </dgm:t>
    </dgm:pt>
    <dgm:pt modelId="{77E4DCA2-1437-4F2B-A083-0BFF5CD7AB93}">
      <dgm:prSet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Minimum amount needed always</a:t>
          </a:r>
          <a:endParaRPr lang="en-IN" sz="21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8579BB-078C-4DAD-BF0B-1B1AFF2D3630}" type="parTrans" cxnId="{350DB5DA-CADB-4470-99E4-3E2773515BC0}">
      <dgm:prSet/>
      <dgm:spPr/>
      <dgm:t>
        <a:bodyPr/>
        <a:lstStyle/>
        <a:p>
          <a:endParaRPr lang="en-IN"/>
        </a:p>
      </dgm:t>
    </dgm:pt>
    <dgm:pt modelId="{0B77137E-2350-4557-933C-A62C85568D9B}" type="sibTrans" cxnId="{350DB5DA-CADB-4470-99E4-3E2773515BC0}">
      <dgm:prSet/>
      <dgm:spPr/>
      <dgm:t>
        <a:bodyPr/>
        <a:lstStyle/>
        <a:p>
          <a:endParaRPr lang="en-IN"/>
        </a:p>
      </dgm:t>
    </dgm:pt>
    <dgm:pt modelId="{F5C82453-D4D2-4465-BFE5-553C307D0BC8}">
      <dgm:prSet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Current Assets(CA) –Current Liabilities(CL)</a:t>
          </a:r>
          <a:endParaRPr lang="en-IN" sz="21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19F424-DB72-4EC8-8740-D266A4385FBE}" type="parTrans" cxnId="{04131363-49AC-403A-85C9-4D55B3C615FF}">
      <dgm:prSet/>
      <dgm:spPr/>
      <dgm:t>
        <a:bodyPr/>
        <a:lstStyle/>
        <a:p>
          <a:endParaRPr lang="en-IN"/>
        </a:p>
      </dgm:t>
    </dgm:pt>
    <dgm:pt modelId="{D79AAC45-2390-4609-9585-89621C53447D}" type="sibTrans" cxnId="{04131363-49AC-403A-85C9-4D55B3C615FF}">
      <dgm:prSet/>
      <dgm:spPr/>
      <dgm:t>
        <a:bodyPr/>
        <a:lstStyle/>
        <a:p>
          <a:endParaRPr lang="en-IN"/>
        </a:p>
      </dgm:t>
    </dgm:pt>
    <dgm:pt modelId="{F33CC601-7BB6-4D95-AFB6-8F190C00202B}">
      <dgm:prSet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in assets other than cash Seasonal or cyclical needs</a:t>
          </a:r>
          <a:endParaRPr lang="en-IN" sz="21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14146C-CDB7-4EA4-AC59-8689A331E35D}" type="parTrans" cxnId="{E4A8084C-0056-49E8-A1A7-52005DC00B56}">
      <dgm:prSet/>
      <dgm:spPr/>
      <dgm:t>
        <a:bodyPr/>
        <a:lstStyle/>
        <a:p>
          <a:endParaRPr lang="en-IN"/>
        </a:p>
      </dgm:t>
    </dgm:pt>
    <dgm:pt modelId="{86732862-FCA2-4B95-9553-26EC607DECE6}" type="sibTrans" cxnId="{E4A8084C-0056-49E8-A1A7-52005DC00B56}">
      <dgm:prSet/>
      <dgm:spPr/>
      <dgm:t>
        <a:bodyPr/>
        <a:lstStyle/>
        <a:p>
          <a:endParaRPr lang="en-IN"/>
        </a:p>
      </dgm:t>
    </dgm:pt>
    <dgm:pt modelId="{25238AFA-BE49-4568-A8A0-172B18711BC9}">
      <dgm:prSet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Total Current Assets  </a:t>
          </a:r>
          <a:endParaRPr lang="en-IN" sz="21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1EE8AB-D6CF-41C1-99FE-9293260AEE36}" type="parTrans" cxnId="{11077B99-3A40-4A99-B4F6-1F939D5F4363}">
      <dgm:prSet/>
      <dgm:spPr/>
      <dgm:t>
        <a:bodyPr/>
        <a:lstStyle/>
        <a:p>
          <a:endParaRPr lang="en-IN"/>
        </a:p>
      </dgm:t>
    </dgm:pt>
    <dgm:pt modelId="{6B43A161-1B54-45CC-934C-4D66CDC190EE}" type="sibTrans" cxnId="{11077B99-3A40-4A99-B4F6-1F939D5F4363}">
      <dgm:prSet/>
      <dgm:spPr/>
      <dgm:t>
        <a:bodyPr/>
        <a:lstStyle/>
        <a:p>
          <a:endParaRPr lang="en-IN"/>
        </a:p>
      </dgm:t>
    </dgm:pt>
    <dgm:pt modelId="{000706A2-E1A0-400D-B2DF-2AE239B8EA72}" type="pres">
      <dgm:prSet presAssocID="{974A1F31-436E-4C59-9D1F-2293138613C2}" presName="linear" presStyleCnt="0">
        <dgm:presLayoutVars>
          <dgm:dir/>
          <dgm:animLvl val="lvl"/>
          <dgm:resizeHandles val="exact"/>
        </dgm:presLayoutVars>
      </dgm:prSet>
      <dgm:spPr/>
    </dgm:pt>
    <dgm:pt modelId="{AADF6621-E9AB-4EE2-90B4-12E6F970EAD1}" type="pres">
      <dgm:prSet presAssocID="{895A6CB8-41B0-49C9-8AB8-79BADB8BF34C}" presName="parentLin" presStyleCnt="0"/>
      <dgm:spPr/>
    </dgm:pt>
    <dgm:pt modelId="{01ABBD61-723C-4DDB-8E3C-930B2D6CCCE9}" type="pres">
      <dgm:prSet presAssocID="{895A6CB8-41B0-49C9-8AB8-79BADB8BF34C}" presName="parentLeftMargin" presStyleLbl="node1" presStyleIdx="0" presStyleCnt="4"/>
      <dgm:spPr/>
    </dgm:pt>
    <dgm:pt modelId="{0079F849-3DFC-4012-A8CD-10EBE408EA39}" type="pres">
      <dgm:prSet presAssocID="{895A6CB8-41B0-49C9-8AB8-79BADB8BF34C}" presName="parentText" presStyleLbl="node1" presStyleIdx="0" presStyleCnt="4" custScaleY="284369">
        <dgm:presLayoutVars>
          <dgm:chMax val="0"/>
          <dgm:bulletEnabled val="1"/>
        </dgm:presLayoutVars>
      </dgm:prSet>
      <dgm:spPr/>
    </dgm:pt>
    <dgm:pt modelId="{B6D58F81-7399-4CF5-9BC2-AB1C88FFC678}" type="pres">
      <dgm:prSet presAssocID="{895A6CB8-41B0-49C9-8AB8-79BADB8BF34C}" presName="negativeSpace" presStyleCnt="0"/>
      <dgm:spPr/>
    </dgm:pt>
    <dgm:pt modelId="{87C9E9F4-E2CA-4532-825B-C4C4BBDFAF9D}" type="pres">
      <dgm:prSet presAssocID="{895A6CB8-41B0-49C9-8AB8-79BADB8BF34C}" presName="childText" presStyleLbl="conFgAcc1" presStyleIdx="0" presStyleCnt="4">
        <dgm:presLayoutVars>
          <dgm:bulletEnabled val="1"/>
        </dgm:presLayoutVars>
      </dgm:prSet>
      <dgm:spPr/>
    </dgm:pt>
    <dgm:pt modelId="{30A305B5-B987-4412-8E66-A28EC534AB60}" type="pres">
      <dgm:prSet presAssocID="{7F22F512-02A1-4C1B-BD4D-92ED8B159081}" presName="spaceBetweenRectangles" presStyleCnt="0"/>
      <dgm:spPr/>
    </dgm:pt>
    <dgm:pt modelId="{5D38A113-C883-427F-8C19-AA0E62313571}" type="pres">
      <dgm:prSet presAssocID="{2A1319B4-B7D2-48CB-BDCC-3182B42EFEDA}" presName="parentLin" presStyleCnt="0"/>
      <dgm:spPr/>
    </dgm:pt>
    <dgm:pt modelId="{69D8EB3A-AD0A-4CED-B284-9B28B9FA9BF2}" type="pres">
      <dgm:prSet presAssocID="{2A1319B4-B7D2-48CB-BDCC-3182B42EFEDA}" presName="parentLeftMargin" presStyleLbl="node1" presStyleIdx="0" presStyleCnt="4"/>
      <dgm:spPr/>
    </dgm:pt>
    <dgm:pt modelId="{AE597EEF-E2B1-4B2B-9953-E3E2415F49E3}" type="pres">
      <dgm:prSet presAssocID="{2A1319B4-B7D2-48CB-BDCC-3182B42EFEDA}" presName="parentText" presStyleLbl="node1" presStyleIdx="1" presStyleCnt="4" custScaleY="209532">
        <dgm:presLayoutVars>
          <dgm:chMax val="0"/>
          <dgm:bulletEnabled val="1"/>
        </dgm:presLayoutVars>
      </dgm:prSet>
      <dgm:spPr/>
    </dgm:pt>
    <dgm:pt modelId="{49796F32-8CCA-4964-A03C-3A87A88D4898}" type="pres">
      <dgm:prSet presAssocID="{2A1319B4-B7D2-48CB-BDCC-3182B42EFEDA}" presName="negativeSpace" presStyleCnt="0"/>
      <dgm:spPr/>
    </dgm:pt>
    <dgm:pt modelId="{BB12F7D8-357B-4B47-892E-E6BB9D00DB48}" type="pres">
      <dgm:prSet presAssocID="{2A1319B4-B7D2-48CB-BDCC-3182B42EFEDA}" presName="childText" presStyleLbl="conFgAcc1" presStyleIdx="1" presStyleCnt="4" custScaleY="121401">
        <dgm:presLayoutVars>
          <dgm:bulletEnabled val="1"/>
        </dgm:presLayoutVars>
      </dgm:prSet>
      <dgm:spPr/>
    </dgm:pt>
    <dgm:pt modelId="{80E92F8D-9ED1-4DC4-BD88-A9752D3F4061}" type="pres">
      <dgm:prSet presAssocID="{04D05047-B543-4F04-B137-E16CBE5DEA00}" presName="spaceBetweenRectangles" presStyleCnt="0"/>
      <dgm:spPr/>
    </dgm:pt>
    <dgm:pt modelId="{4275AADA-107F-4EE1-BC20-F41FD0B45BF9}" type="pres">
      <dgm:prSet presAssocID="{E79C2263-D73C-437E-8689-ED9AEA31BCCF}" presName="parentLin" presStyleCnt="0"/>
      <dgm:spPr/>
    </dgm:pt>
    <dgm:pt modelId="{E3D0391D-025B-46DD-9280-AC5A4F56E929}" type="pres">
      <dgm:prSet presAssocID="{E79C2263-D73C-437E-8689-ED9AEA31BCCF}" presName="parentLeftMargin" presStyleLbl="node1" presStyleIdx="1" presStyleCnt="4"/>
      <dgm:spPr/>
    </dgm:pt>
    <dgm:pt modelId="{F921BB11-9037-4493-94E2-DAA24381B7F3}" type="pres">
      <dgm:prSet presAssocID="{E79C2263-D73C-437E-8689-ED9AEA31BCCF}" presName="parentText" presStyleLbl="node1" presStyleIdx="2" presStyleCnt="4" custScaleY="230688">
        <dgm:presLayoutVars>
          <dgm:chMax val="0"/>
          <dgm:bulletEnabled val="1"/>
        </dgm:presLayoutVars>
      </dgm:prSet>
      <dgm:spPr/>
    </dgm:pt>
    <dgm:pt modelId="{B8AA4A6D-ADCF-4BC3-BD4E-207FD7C1CF4B}" type="pres">
      <dgm:prSet presAssocID="{E79C2263-D73C-437E-8689-ED9AEA31BCCF}" presName="negativeSpace" presStyleCnt="0"/>
      <dgm:spPr/>
    </dgm:pt>
    <dgm:pt modelId="{0231D71B-8709-4427-823B-7C0D395121EC}" type="pres">
      <dgm:prSet presAssocID="{E79C2263-D73C-437E-8689-ED9AEA31BCCF}" presName="childText" presStyleLbl="conFgAcc1" presStyleIdx="2" presStyleCnt="4">
        <dgm:presLayoutVars>
          <dgm:bulletEnabled val="1"/>
        </dgm:presLayoutVars>
      </dgm:prSet>
      <dgm:spPr/>
    </dgm:pt>
    <dgm:pt modelId="{9FFEE5C3-4E51-432F-88C4-220D6C866D63}" type="pres">
      <dgm:prSet presAssocID="{EC6AB96C-F159-4AC8-8700-168AB3D071C1}" presName="spaceBetweenRectangles" presStyleCnt="0"/>
      <dgm:spPr/>
    </dgm:pt>
    <dgm:pt modelId="{6A457D57-719B-4E93-8612-64E6722E6F78}" type="pres">
      <dgm:prSet presAssocID="{DF3C090E-2B8D-404C-8F2C-8D1C31B665EA}" presName="parentLin" presStyleCnt="0"/>
      <dgm:spPr/>
    </dgm:pt>
    <dgm:pt modelId="{2B09CD82-E9BA-40BB-9696-39AB86123FD3}" type="pres">
      <dgm:prSet presAssocID="{DF3C090E-2B8D-404C-8F2C-8D1C31B665EA}" presName="parentLeftMargin" presStyleLbl="node1" presStyleIdx="2" presStyleCnt="4"/>
      <dgm:spPr/>
    </dgm:pt>
    <dgm:pt modelId="{D1279F6D-3856-49B9-88EF-88338F5AB041}" type="pres">
      <dgm:prSet presAssocID="{DF3C090E-2B8D-404C-8F2C-8D1C31B665EA}" presName="parentText" presStyleLbl="node1" presStyleIdx="3" presStyleCnt="4" custScaleY="267394">
        <dgm:presLayoutVars>
          <dgm:chMax val="0"/>
          <dgm:bulletEnabled val="1"/>
        </dgm:presLayoutVars>
      </dgm:prSet>
      <dgm:spPr/>
    </dgm:pt>
    <dgm:pt modelId="{BC5A357D-4741-4BFD-B0BB-B2AF6AC0330E}" type="pres">
      <dgm:prSet presAssocID="{DF3C090E-2B8D-404C-8F2C-8D1C31B665EA}" presName="negativeSpace" presStyleCnt="0"/>
      <dgm:spPr/>
    </dgm:pt>
    <dgm:pt modelId="{636F4102-08A6-4F05-9499-64E64A06AE30}" type="pres">
      <dgm:prSet presAssocID="{DF3C090E-2B8D-404C-8F2C-8D1C31B665E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251F907-D1AD-4AB8-BB16-47BA14BDCFCC}" type="presOf" srcId="{E79C2263-D73C-437E-8689-ED9AEA31BCCF}" destId="{F921BB11-9037-4493-94E2-DAA24381B7F3}" srcOrd="1" destOrd="0" presId="urn:microsoft.com/office/officeart/2005/8/layout/list1"/>
    <dgm:cxn modelId="{67D9F30F-55B0-4C7C-B0D0-D917D6516595}" type="presOf" srcId="{2A1319B4-B7D2-48CB-BDCC-3182B42EFEDA}" destId="{AE597EEF-E2B1-4B2B-9953-E3E2415F49E3}" srcOrd="1" destOrd="0" presId="urn:microsoft.com/office/officeart/2005/8/layout/list1"/>
    <dgm:cxn modelId="{9D85085D-E4A8-418C-BF24-F12B8BE7F391}" type="presOf" srcId="{974A1F31-436E-4C59-9D1F-2293138613C2}" destId="{000706A2-E1A0-400D-B2DF-2AE239B8EA72}" srcOrd="0" destOrd="0" presId="urn:microsoft.com/office/officeart/2005/8/layout/list1"/>
    <dgm:cxn modelId="{9E45AD61-0011-4ECF-80DC-8C4C3957F620}" type="presOf" srcId="{895A6CB8-41B0-49C9-8AB8-79BADB8BF34C}" destId="{01ABBD61-723C-4DDB-8E3C-930B2D6CCCE9}" srcOrd="0" destOrd="0" presId="urn:microsoft.com/office/officeart/2005/8/layout/list1"/>
    <dgm:cxn modelId="{04131363-49AC-403A-85C9-4D55B3C615FF}" srcId="{2A1319B4-B7D2-48CB-BDCC-3182B42EFEDA}" destId="{F5C82453-D4D2-4465-BFE5-553C307D0BC8}" srcOrd="0" destOrd="0" parTransId="{3A19F424-DB72-4EC8-8740-D266A4385FBE}" sibTransId="{D79AAC45-2390-4609-9585-89621C53447D}"/>
    <dgm:cxn modelId="{E4A8084C-0056-49E8-A1A7-52005DC00B56}" srcId="{DF3C090E-2B8D-404C-8F2C-8D1C31B665EA}" destId="{F33CC601-7BB6-4D95-AFB6-8F190C00202B}" srcOrd="0" destOrd="0" parTransId="{8714146C-CDB7-4EA4-AC59-8689A331E35D}" sibTransId="{86732862-FCA2-4B95-9553-26EC607DECE6}"/>
    <dgm:cxn modelId="{B3F9C459-D0D9-4C5A-A4BF-DCCA7210FC7E}" type="presOf" srcId="{895A6CB8-41B0-49C9-8AB8-79BADB8BF34C}" destId="{0079F849-3DFC-4012-A8CD-10EBE408EA39}" srcOrd="1" destOrd="0" presId="urn:microsoft.com/office/officeart/2005/8/layout/list1"/>
    <dgm:cxn modelId="{3637DF5A-A2D2-4567-B674-57164AB36E8F}" srcId="{974A1F31-436E-4C59-9D1F-2293138613C2}" destId="{895A6CB8-41B0-49C9-8AB8-79BADB8BF34C}" srcOrd="0" destOrd="0" parTransId="{C83051E2-B82E-4122-AB37-D707C717F9E6}" sibTransId="{7F22F512-02A1-4C1B-BD4D-92ED8B159081}"/>
    <dgm:cxn modelId="{11077B99-3A40-4A99-B4F6-1F939D5F4363}" srcId="{895A6CB8-41B0-49C9-8AB8-79BADB8BF34C}" destId="{25238AFA-BE49-4568-A8A0-172B18711BC9}" srcOrd="0" destOrd="0" parTransId="{141EE8AB-D6CF-41C1-99FE-9293260AEE36}" sibTransId="{6B43A161-1B54-45CC-934C-4D66CDC190EE}"/>
    <dgm:cxn modelId="{C5AF219B-0898-4703-BB86-7BEF6F0EC3D6}" srcId="{974A1F31-436E-4C59-9D1F-2293138613C2}" destId="{DF3C090E-2B8D-404C-8F2C-8D1C31B665EA}" srcOrd="3" destOrd="0" parTransId="{868A5F93-25AF-40A6-A794-EA909B2C2435}" sibTransId="{469FFE9D-169A-4AE2-8953-BD868E7E0688}"/>
    <dgm:cxn modelId="{8CB6C0A2-91AE-4939-BB39-7CE1BF568240}" type="presOf" srcId="{E79C2263-D73C-437E-8689-ED9AEA31BCCF}" destId="{E3D0391D-025B-46DD-9280-AC5A4F56E929}" srcOrd="0" destOrd="0" presId="urn:microsoft.com/office/officeart/2005/8/layout/list1"/>
    <dgm:cxn modelId="{7F2409B8-A231-4608-A951-CAD7114215FF}" type="presOf" srcId="{2A1319B4-B7D2-48CB-BDCC-3182B42EFEDA}" destId="{69D8EB3A-AD0A-4CED-B284-9B28B9FA9BF2}" srcOrd="0" destOrd="0" presId="urn:microsoft.com/office/officeart/2005/8/layout/list1"/>
    <dgm:cxn modelId="{168CEDB9-0866-4262-8B1E-30BB06F56367}" type="presOf" srcId="{77E4DCA2-1437-4F2B-A083-0BFF5CD7AB93}" destId="{0231D71B-8709-4427-823B-7C0D395121EC}" srcOrd="0" destOrd="0" presId="urn:microsoft.com/office/officeart/2005/8/layout/list1"/>
    <dgm:cxn modelId="{330ABBC5-6A2F-4DD3-8349-BC7FC1370069}" srcId="{974A1F31-436E-4C59-9D1F-2293138613C2}" destId="{E79C2263-D73C-437E-8689-ED9AEA31BCCF}" srcOrd="2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1" destOrd="0" parTransId="{437E0F37-252F-46DE-A768-A0F7293CB2CC}" sibTransId="{04D05047-B543-4F04-B137-E16CBE5DEA00}"/>
    <dgm:cxn modelId="{47CC65D5-B6A5-49EB-8B08-452023E27857}" type="presOf" srcId="{DF3C090E-2B8D-404C-8F2C-8D1C31B665EA}" destId="{2B09CD82-E9BA-40BB-9696-39AB86123FD3}" srcOrd="0" destOrd="0" presId="urn:microsoft.com/office/officeart/2005/8/layout/list1"/>
    <dgm:cxn modelId="{CAF648D6-02A3-4B19-B97A-296FFDC849B6}" type="presOf" srcId="{F5C82453-D4D2-4465-BFE5-553C307D0BC8}" destId="{BB12F7D8-357B-4B47-892E-E6BB9D00DB48}" srcOrd="0" destOrd="0" presId="urn:microsoft.com/office/officeart/2005/8/layout/list1"/>
    <dgm:cxn modelId="{350DB5DA-CADB-4470-99E4-3E2773515BC0}" srcId="{E79C2263-D73C-437E-8689-ED9AEA31BCCF}" destId="{77E4DCA2-1437-4F2B-A083-0BFF5CD7AB93}" srcOrd="0" destOrd="0" parTransId="{958579BB-078C-4DAD-BF0B-1B1AFF2D3630}" sibTransId="{0B77137E-2350-4557-933C-A62C85568D9B}"/>
    <dgm:cxn modelId="{3EF6A5DF-959B-4A85-BD85-5719A9A130CD}" type="presOf" srcId="{25238AFA-BE49-4568-A8A0-172B18711BC9}" destId="{87C9E9F4-E2CA-4532-825B-C4C4BBDFAF9D}" srcOrd="0" destOrd="0" presId="urn:microsoft.com/office/officeart/2005/8/layout/list1"/>
    <dgm:cxn modelId="{6BDF9AFC-9AB1-45C0-9054-7345C911018E}" type="presOf" srcId="{DF3C090E-2B8D-404C-8F2C-8D1C31B665EA}" destId="{D1279F6D-3856-49B9-88EF-88338F5AB041}" srcOrd="1" destOrd="0" presId="urn:microsoft.com/office/officeart/2005/8/layout/list1"/>
    <dgm:cxn modelId="{04E8F4FD-18C8-4A59-9A6A-E1AEC17BAA13}" type="presOf" srcId="{F33CC601-7BB6-4D95-AFB6-8F190C00202B}" destId="{636F4102-08A6-4F05-9499-64E64A06AE30}" srcOrd="0" destOrd="0" presId="urn:microsoft.com/office/officeart/2005/8/layout/list1"/>
    <dgm:cxn modelId="{DF6D71FA-FD77-4A5F-A885-13E0476BD41B}" type="presParOf" srcId="{000706A2-E1A0-400D-B2DF-2AE239B8EA72}" destId="{AADF6621-E9AB-4EE2-90B4-12E6F970EAD1}" srcOrd="0" destOrd="0" presId="urn:microsoft.com/office/officeart/2005/8/layout/list1"/>
    <dgm:cxn modelId="{87FB7555-C832-4FD8-AC27-ACC31B5BA382}" type="presParOf" srcId="{AADF6621-E9AB-4EE2-90B4-12E6F970EAD1}" destId="{01ABBD61-723C-4DDB-8E3C-930B2D6CCCE9}" srcOrd="0" destOrd="0" presId="urn:microsoft.com/office/officeart/2005/8/layout/list1"/>
    <dgm:cxn modelId="{3A6C69DB-111F-4908-8800-683B1E6EEC92}" type="presParOf" srcId="{AADF6621-E9AB-4EE2-90B4-12E6F970EAD1}" destId="{0079F849-3DFC-4012-A8CD-10EBE408EA39}" srcOrd="1" destOrd="0" presId="urn:microsoft.com/office/officeart/2005/8/layout/list1"/>
    <dgm:cxn modelId="{0B1F75F7-1A5E-43B4-BB37-260B466D5AD5}" type="presParOf" srcId="{000706A2-E1A0-400D-B2DF-2AE239B8EA72}" destId="{B6D58F81-7399-4CF5-9BC2-AB1C88FFC678}" srcOrd="1" destOrd="0" presId="urn:microsoft.com/office/officeart/2005/8/layout/list1"/>
    <dgm:cxn modelId="{BEACFF4E-CFDC-4A61-AFC5-8C705EB8CEC5}" type="presParOf" srcId="{000706A2-E1A0-400D-B2DF-2AE239B8EA72}" destId="{87C9E9F4-E2CA-4532-825B-C4C4BBDFAF9D}" srcOrd="2" destOrd="0" presId="urn:microsoft.com/office/officeart/2005/8/layout/list1"/>
    <dgm:cxn modelId="{7455CC07-A335-4053-A529-C6BE909B5842}" type="presParOf" srcId="{000706A2-E1A0-400D-B2DF-2AE239B8EA72}" destId="{30A305B5-B987-4412-8E66-A28EC534AB60}" srcOrd="3" destOrd="0" presId="urn:microsoft.com/office/officeart/2005/8/layout/list1"/>
    <dgm:cxn modelId="{AFBC63EF-A2DF-4122-AB67-B3F5932D9F9C}" type="presParOf" srcId="{000706A2-E1A0-400D-B2DF-2AE239B8EA72}" destId="{5D38A113-C883-427F-8C19-AA0E62313571}" srcOrd="4" destOrd="0" presId="urn:microsoft.com/office/officeart/2005/8/layout/list1"/>
    <dgm:cxn modelId="{1169BF24-652D-40AD-ACC2-7C0948FAAB0E}" type="presParOf" srcId="{5D38A113-C883-427F-8C19-AA0E62313571}" destId="{69D8EB3A-AD0A-4CED-B284-9B28B9FA9BF2}" srcOrd="0" destOrd="0" presId="urn:microsoft.com/office/officeart/2005/8/layout/list1"/>
    <dgm:cxn modelId="{7C629457-793C-4D0E-B166-13E0AD85D959}" type="presParOf" srcId="{5D38A113-C883-427F-8C19-AA0E62313571}" destId="{AE597EEF-E2B1-4B2B-9953-E3E2415F49E3}" srcOrd="1" destOrd="0" presId="urn:microsoft.com/office/officeart/2005/8/layout/list1"/>
    <dgm:cxn modelId="{4D2F74C2-9DFB-496F-B0E4-7E35A1C620EE}" type="presParOf" srcId="{000706A2-E1A0-400D-B2DF-2AE239B8EA72}" destId="{49796F32-8CCA-4964-A03C-3A87A88D4898}" srcOrd="5" destOrd="0" presId="urn:microsoft.com/office/officeart/2005/8/layout/list1"/>
    <dgm:cxn modelId="{374E95BE-6EF5-4140-8C7D-1FFD45EE2390}" type="presParOf" srcId="{000706A2-E1A0-400D-B2DF-2AE239B8EA72}" destId="{BB12F7D8-357B-4B47-892E-E6BB9D00DB48}" srcOrd="6" destOrd="0" presId="urn:microsoft.com/office/officeart/2005/8/layout/list1"/>
    <dgm:cxn modelId="{9D84629F-917D-49ED-AC7A-746CC36325B7}" type="presParOf" srcId="{000706A2-E1A0-400D-B2DF-2AE239B8EA72}" destId="{80E92F8D-9ED1-4DC4-BD88-A9752D3F4061}" srcOrd="7" destOrd="0" presId="urn:microsoft.com/office/officeart/2005/8/layout/list1"/>
    <dgm:cxn modelId="{06741872-7460-437F-81B3-71E24BF362CD}" type="presParOf" srcId="{000706A2-E1A0-400D-B2DF-2AE239B8EA72}" destId="{4275AADA-107F-4EE1-BC20-F41FD0B45BF9}" srcOrd="8" destOrd="0" presId="urn:microsoft.com/office/officeart/2005/8/layout/list1"/>
    <dgm:cxn modelId="{5352041D-21C1-4E31-A7DD-251A32F1DDA7}" type="presParOf" srcId="{4275AADA-107F-4EE1-BC20-F41FD0B45BF9}" destId="{E3D0391D-025B-46DD-9280-AC5A4F56E929}" srcOrd="0" destOrd="0" presId="urn:microsoft.com/office/officeart/2005/8/layout/list1"/>
    <dgm:cxn modelId="{EBB065F9-DE3B-4496-BFF1-E90CE1F197BD}" type="presParOf" srcId="{4275AADA-107F-4EE1-BC20-F41FD0B45BF9}" destId="{F921BB11-9037-4493-94E2-DAA24381B7F3}" srcOrd="1" destOrd="0" presId="urn:microsoft.com/office/officeart/2005/8/layout/list1"/>
    <dgm:cxn modelId="{CE67DB1F-0139-4600-9624-5B3CF50D72BD}" type="presParOf" srcId="{000706A2-E1A0-400D-B2DF-2AE239B8EA72}" destId="{B8AA4A6D-ADCF-4BC3-BD4E-207FD7C1CF4B}" srcOrd="9" destOrd="0" presId="urn:microsoft.com/office/officeart/2005/8/layout/list1"/>
    <dgm:cxn modelId="{C75DF8E8-29FD-4113-9E76-27B4526F67D2}" type="presParOf" srcId="{000706A2-E1A0-400D-B2DF-2AE239B8EA72}" destId="{0231D71B-8709-4427-823B-7C0D395121EC}" srcOrd="10" destOrd="0" presId="urn:microsoft.com/office/officeart/2005/8/layout/list1"/>
    <dgm:cxn modelId="{B32E6812-EF7B-4CE5-B1AB-8452C469A117}" type="presParOf" srcId="{000706A2-E1A0-400D-B2DF-2AE239B8EA72}" destId="{9FFEE5C3-4E51-432F-88C4-220D6C866D63}" srcOrd="11" destOrd="0" presId="urn:microsoft.com/office/officeart/2005/8/layout/list1"/>
    <dgm:cxn modelId="{0D463969-6942-459B-B78D-199B20B5AF1A}" type="presParOf" srcId="{000706A2-E1A0-400D-B2DF-2AE239B8EA72}" destId="{6A457D57-719B-4E93-8612-64E6722E6F78}" srcOrd="12" destOrd="0" presId="urn:microsoft.com/office/officeart/2005/8/layout/list1"/>
    <dgm:cxn modelId="{12817283-C75B-4FFC-BC8E-CF89B1C16401}" type="presParOf" srcId="{6A457D57-719B-4E93-8612-64E6722E6F78}" destId="{2B09CD82-E9BA-40BB-9696-39AB86123FD3}" srcOrd="0" destOrd="0" presId="urn:microsoft.com/office/officeart/2005/8/layout/list1"/>
    <dgm:cxn modelId="{5BFC837F-6119-45BC-82C9-7B332256FA6F}" type="presParOf" srcId="{6A457D57-719B-4E93-8612-64E6722E6F78}" destId="{D1279F6D-3856-49B9-88EF-88338F5AB041}" srcOrd="1" destOrd="0" presId="urn:microsoft.com/office/officeart/2005/8/layout/list1"/>
    <dgm:cxn modelId="{93FC3487-5C5B-45DF-96FF-07C3E205995E}" type="presParOf" srcId="{000706A2-E1A0-400D-B2DF-2AE239B8EA72}" destId="{BC5A357D-4741-4BFD-B0BB-B2AF6AC0330E}" srcOrd="13" destOrd="0" presId="urn:microsoft.com/office/officeart/2005/8/layout/list1"/>
    <dgm:cxn modelId="{001D26E4-897D-40F0-A679-47DA3D5A2695}" type="presParOf" srcId="{000706A2-E1A0-400D-B2DF-2AE239B8EA72}" destId="{636F4102-08A6-4F05-9499-64E64A06AE3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cycle2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A6CB8-41B0-49C9-8AB8-79BADB8BF34C}">
      <dgm:prSet phldrT="[Text]" custT="1"/>
      <dgm:spPr>
        <a:solidFill>
          <a:schemeClr val="bg2"/>
        </a:solidFill>
      </dgm:spPr>
      <dgm:t>
        <a:bodyPr/>
        <a:lstStyle/>
        <a:p>
          <a:pPr algn="ctr"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Cash</a:t>
          </a:r>
        </a:p>
      </dgm:t>
    </dgm:pt>
    <dgm:pt modelId="{C83051E2-B82E-4122-AB37-D707C717F9E6}" type="parTrans" cxnId="{3637DF5A-A2D2-4567-B674-57164AB36E8F}">
      <dgm:prSet/>
      <dgm:spPr/>
      <dgm:t>
        <a:bodyPr/>
        <a:lstStyle/>
        <a:p>
          <a:pPr algn="ctr"/>
          <a:endParaRPr lang="en-IN"/>
        </a:p>
      </dgm:t>
    </dgm:pt>
    <dgm:pt modelId="{7F22F512-02A1-4C1B-BD4D-92ED8B159081}" type="sibTrans" cxnId="{3637DF5A-A2D2-4567-B674-57164AB36E8F}">
      <dgm:prSet custT="1"/>
      <dgm:spPr/>
      <dgm:t>
        <a:bodyPr/>
        <a:lstStyle/>
        <a:p>
          <a:pPr algn="ctr"/>
          <a:endParaRPr lang="en-IN" sz="2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 algn="ctr"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Work in progress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pPr algn="ctr"/>
          <a:endParaRPr lang="en-IN"/>
        </a:p>
      </dgm:t>
    </dgm:pt>
    <dgm:pt modelId="{EC6AB96C-F159-4AC8-8700-168AB3D071C1}" type="sibTrans" cxnId="{330ABBC5-6A2F-4DD3-8349-BC7FC1370069}">
      <dgm:prSet custT="1"/>
      <dgm:spPr/>
      <dgm:t>
        <a:bodyPr/>
        <a:lstStyle/>
        <a:p>
          <a:pPr algn="ctr"/>
          <a:endParaRPr lang="en-IN" sz="2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3C090E-2B8D-404C-8F2C-8D1C31B665EA}">
      <dgm:prSet phldrT="[Text]" custT="1"/>
      <dgm:spPr>
        <a:solidFill>
          <a:schemeClr val="bg2"/>
        </a:solidFill>
      </dgm:spPr>
      <dgm:t>
        <a:bodyPr/>
        <a:lstStyle/>
        <a:p>
          <a:pPr algn="ctr"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Finished Goods</a:t>
          </a: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pPr algn="ctr"/>
          <a:endParaRPr lang="en-IN"/>
        </a:p>
      </dgm:t>
    </dgm:pt>
    <dgm:pt modelId="{469FFE9D-169A-4AE2-8953-BD868E7E0688}" type="sibTrans" cxnId="{C5AF219B-0898-4703-BB86-7BEF6F0EC3D6}">
      <dgm:prSet custT="1"/>
      <dgm:spPr/>
      <dgm:t>
        <a:bodyPr/>
        <a:lstStyle/>
        <a:p>
          <a:pPr algn="ctr"/>
          <a:endParaRPr lang="en-IN" sz="2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 algn="ctr"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Raw Materials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pPr algn="ctr"/>
          <a:endParaRPr lang="en-IN"/>
        </a:p>
      </dgm:t>
    </dgm:pt>
    <dgm:pt modelId="{04D05047-B543-4F04-B137-E16CBE5DEA00}" type="sibTrans" cxnId="{C4140ED0-D197-4461-8045-876DDB7077B1}">
      <dgm:prSet custT="1"/>
      <dgm:spPr/>
      <dgm:t>
        <a:bodyPr/>
        <a:lstStyle/>
        <a:p>
          <a:pPr algn="ctr"/>
          <a:endParaRPr lang="en-IN" sz="2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533DBE-1A76-4534-979C-B5AE44EC85FA}">
      <dgm:prSet phldrT="[Text]" custT="1"/>
      <dgm:spPr>
        <a:solidFill>
          <a:schemeClr val="bg2"/>
        </a:solidFill>
      </dgm:spPr>
      <dgm:t>
        <a:bodyPr/>
        <a:lstStyle/>
        <a:p>
          <a:pPr algn="ctr"/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Sales</a:t>
          </a:r>
        </a:p>
      </dgm:t>
    </dgm:pt>
    <dgm:pt modelId="{4FA4B2AE-D469-48B8-A02C-33DA218B7C91}" type="parTrans" cxnId="{24920728-5DE9-4CDB-95E0-D7110FC03735}">
      <dgm:prSet/>
      <dgm:spPr/>
      <dgm:t>
        <a:bodyPr/>
        <a:lstStyle/>
        <a:p>
          <a:pPr algn="ctr"/>
          <a:endParaRPr lang="en-IN"/>
        </a:p>
      </dgm:t>
    </dgm:pt>
    <dgm:pt modelId="{2C7EFB10-4457-4F27-9B77-9C285279FB6D}" type="sibTrans" cxnId="{24920728-5DE9-4CDB-95E0-D7110FC03735}">
      <dgm:prSet custT="1"/>
      <dgm:spPr/>
      <dgm:t>
        <a:bodyPr/>
        <a:lstStyle/>
        <a:p>
          <a:pPr algn="ctr"/>
          <a:endParaRPr lang="en-IN" sz="2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F3346-6747-4CE1-9442-2B2882E61255}">
      <dgm:prSet phldrT="[Text]" custT="1"/>
      <dgm:spPr>
        <a:solidFill>
          <a:schemeClr val="bg2"/>
        </a:solidFill>
      </dgm:spPr>
      <dgm:t>
        <a:bodyPr/>
        <a:lstStyle/>
        <a:p>
          <a:pPr algn="ctr"/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Receivables</a:t>
          </a:r>
        </a:p>
      </dgm:t>
    </dgm:pt>
    <dgm:pt modelId="{A33C92A2-595A-4A0B-8D4D-CF9BCE2AE6F3}" type="parTrans" cxnId="{2D3BD9D1-C998-4ADE-B95B-2623FB6F4CAC}">
      <dgm:prSet/>
      <dgm:spPr/>
      <dgm:t>
        <a:bodyPr/>
        <a:lstStyle/>
        <a:p>
          <a:pPr algn="ctr"/>
          <a:endParaRPr lang="en-IN"/>
        </a:p>
      </dgm:t>
    </dgm:pt>
    <dgm:pt modelId="{FE180878-1D4D-4AE5-9ECC-F2DF16790D6D}" type="sibTrans" cxnId="{2D3BD9D1-C998-4ADE-B95B-2623FB6F4CAC}">
      <dgm:prSet custT="1"/>
      <dgm:spPr/>
      <dgm:t>
        <a:bodyPr/>
        <a:lstStyle/>
        <a:p>
          <a:pPr algn="ctr"/>
          <a:endParaRPr lang="en-IN" sz="2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72D7C1-E49D-4E86-ADFC-F7B9ABA86547}" type="pres">
      <dgm:prSet presAssocID="{974A1F31-436E-4C59-9D1F-2293138613C2}" presName="cycle" presStyleCnt="0">
        <dgm:presLayoutVars>
          <dgm:dir/>
          <dgm:resizeHandles val="exact"/>
        </dgm:presLayoutVars>
      </dgm:prSet>
      <dgm:spPr/>
    </dgm:pt>
    <dgm:pt modelId="{87819D95-C177-4551-A2CD-4BFB6ACCB778}" type="pres">
      <dgm:prSet presAssocID="{895A6CB8-41B0-49C9-8AB8-79BADB8BF34C}" presName="node" presStyleLbl="node1" presStyleIdx="0" presStyleCnt="6" custScaleX="147961">
        <dgm:presLayoutVars>
          <dgm:bulletEnabled val="1"/>
        </dgm:presLayoutVars>
      </dgm:prSet>
      <dgm:spPr/>
    </dgm:pt>
    <dgm:pt modelId="{B0DB1E1F-F504-481B-A91D-9D62C5E15F74}" type="pres">
      <dgm:prSet presAssocID="{7F22F512-02A1-4C1B-BD4D-92ED8B159081}" presName="sibTrans" presStyleLbl="sibTrans2D1" presStyleIdx="0" presStyleCnt="6"/>
      <dgm:spPr/>
    </dgm:pt>
    <dgm:pt modelId="{2ED7DFD4-1D4F-4B2D-9BD0-709D7076F1C4}" type="pres">
      <dgm:prSet presAssocID="{7F22F512-02A1-4C1B-BD4D-92ED8B159081}" presName="connectorText" presStyleLbl="sibTrans2D1" presStyleIdx="0" presStyleCnt="6"/>
      <dgm:spPr/>
    </dgm:pt>
    <dgm:pt modelId="{A5FDE84E-6C94-43EB-9F37-0E977B39A34D}" type="pres">
      <dgm:prSet presAssocID="{2A1319B4-B7D2-48CB-BDCC-3182B42EFEDA}" presName="node" presStyleLbl="node1" presStyleIdx="1" presStyleCnt="6" custScaleX="133608">
        <dgm:presLayoutVars>
          <dgm:bulletEnabled val="1"/>
        </dgm:presLayoutVars>
      </dgm:prSet>
      <dgm:spPr/>
    </dgm:pt>
    <dgm:pt modelId="{A40FD692-F563-49BA-B718-C0321CF6A243}" type="pres">
      <dgm:prSet presAssocID="{04D05047-B543-4F04-B137-E16CBE5DEA00}" presName="sibTrans" presStyleLbl="sibTrans2D1" presStyleIdx="1" presStyleCnt="6"/>
      <dgm:spPr/>
    </dgm:pt>
    <dgm:pt modelId="{153DA6D8-4317-4907-9F2B-8E2995F4E4AD}" type="pres">
      <dgm:prSet presAssocID="{04D05047-B543-4F04-B137-E16CBE5DEA00}" presName="connectorText" presStyleLbl="sibTrans2D1" presStyleIdx="1" presStyleCnt="6"/>
      <dgm:spPr/>
    </dgm:pt>
    <dgm:pt modelId="{8F848E57-6648-44A3-AF21-67FF77F5841E}" type="pres">
      <dgm:prSet presAssocID="{E79C2263-D73C-437E-8689-ED9AEA31BCCF}" presName="node" presStyleLbl="node1" presStyleIdx="2" presStyleCnt="6" custScaleX="142106" custRadScaleRad="98946" custRadScaleInc="-15849">
        <dgm:presLayoutVars>
          <dgm:bulletEnabled val="1"/>
        </dgm:presLayoutVars>
      </dgm:prSet>
      <dgm:spPr/>
    </dgm:pt>
    <dgm:pt modelId="{A524A964-B026-49F6-A34A-3BC44E604C73}" type="pres">
      <dgm:prSet presAssocID="{EC6AB96C-F159-4AC8-8700-168AB3D071C1}" presName="sibTrans" presStyleLbl="sibTrans2D1" presStyleIdx="2" presStyleCnt="6"/>
      <dgm:spPr/>
    </dgm:pt>
    <dgm:pt modelId="{AF97344D-029D-4148-AC9C-9A2147607691}" type="pres">
      <dgm:prSet presAssocID="{EC6AB96C-F159-4AC8-8700-168AB3D071C1}" presName="connectorText" presStyleLbl="sibTrans2D1" presStyleIdx="2" presStyleCnt="6"/>
      <dgm:spPr/>
    </dgm:pt>
    <dgm:pt modelId="{FF9B52E9-ED4E-4950-9612-B931DC9E1287}" type="pres">
      <dgm:prSet presAssocID="{DF3C090E-2B8D-404C-8F2C-8D1C31B665EA}" presName="node" presStyleLbl="node1" presStyleIdx="3" presStyleCnt="6" custScaleX="129748" custRadScaleRad="99375" custRadScaleInc="-13686">
        <dgm:presLayoutVars>
          <dgm:bulletEnabled val="1"/>
        </dgm:presLayoutVars>
      </dgm:prSet>
      <dgm:spPr/>
    </dgm:pt>
    <dgm:pt modelId="{89CF7C16-D898-4C65-8BAC-34E13F8E8129}" type="pres">
      <dgm:prSet presAssocID="{469FFE9D-169A-4AE2-8953-BD868E7E0688}" presName="sibTrans" presStyleLbl="sibTrans2D1" presStyleIdx="3" presStyleCnt="6"/>
      <dgm:spPr/>
    </dgm:pt>
    <dgm:pt modelId="{DD87DD8D-871C-4004-85D9-B8553A9F2CE4}" type="pres">
      <dgm:prSet presAssocID="{469FFE9D-169A-4AE2-8953-BD868E7E0688}" presName="connectorText" presStyleLbl="sibTrans2D1" presStyleIdx="3" presStyleCnt="6"/>
      <dgm:spPr/>
    </dgm:pt>
    <dgm:pt modelId="{BB3F6957-8F3F-4CAE-B525-178BACFF8003}" type="pres">
      <dgm:prSet presAssocID="{93533DBE-1A76-4534-979C-B5AE44EC85FA}" presName="node" presStyleLbl="node1" presStyleIdx="4" presStyleCnt="6" custScaleX="138682">
        <dgm:presLayoutVars>
          <dgm:bulletEnabled val="1"/>
        </dgm:presLayoutVars>
      </dgm:prSet>
      <dgm:spPr/>
    </dgm:pt>
    <dgm:pt modelId="{9ED87E6D-DB85-4CA1-BE8E-F4ECF8706907}" type="pres">
      <dgm:prSet presAssocID="{2C7EFB10-4457-4F27-9B77-9C285279FB6D}" presName="sibTrans" presStyleLbl="sibTrans2D1" presStyleIdx="4" presStyleCnt="6"/>
      <dgm:spPr/>
    </dgm:pt>
    <dgm:pt modelId="{B9D59B47-70D9-4F94-97DC-3C581D7C2E38}" type="pres">
      <dgm:prSet presAssocID="{2C7EFB10-4457-4F27-9B77-9C285279FB6D}" presName="connectorText" presStyleLbl="sibTrans2D1" presStyleIdx="4" presStyleCnt="6"/>
      <dgm:spPr/>
    </dgm:pt>
    <dgm:pt modelId="{B96F0116-3B1B-4380-8218-6B6A05013878}" type="pres">
      <dgm:prSet presAssocID="{8B2F3346-6747-4CE1-9442-2B2882E61255}" presName="node" presStyleLbl="node1" presStyleIdx="5" presStyleCnt="6" custScaleX="126076" custRadScaleRad="96770" custRadScaleInc="-11665">
        <dgm:presLayoutVars>
          <dgm:bulletEnabled val="1"/>
        </dgm:presLayoutVars>
      </dgm:prSet>
      <dgm:spPr/>
    </dgm:pt>
    <dgm:pt modelId="{04E405D8-3A5E-4409-A54A-FDB2BC2E4631}" type="pres">
      <dgm:prSet presAssocID="{FE180878-1D4D-4AE5-9ECC-F2DF16790D6D}" presName="sibTrans" presStyleLbl="sibTrans2D1" presStyleIdx="5" presStyleCnt="6"/>
      <dgm:spPr/>
    </dgm:pt>
    <dgm:pt modelId="{3CC9B783-AA16-4787-869C-92D516804BF0}" type="pres">
      <dgm:prSet presAssocID="{FE180878-1D4D-4AE5-9ECC-F2DF16790D6D}" presName="connectorText" presStyleLbl="sibTrans2D1" presStyleIdx="5" presStyleCnt="6"/>
      <dgm:spPr/>
    </dgm:pt>
  </dgm:ptLst>
  <dgm:cxnLst>
    <dgm:cxn modelId="{CCCBFE00-5277-4304-90E3-6F620C385028}" type="presOf" srcId="{EC6AB96C-F159-4AC8-8700-168AB3D071C1}" destId="{A524A964-B026-49F6-A34A-3BC44E604C73}" srcOrd="0" destOrd="0" presId="urn:microsoft.com/office/officeart/2005/8/layout/cycle2"/>
    <dgm:cxn modelId="{24920728-5DE9-4CDB-95E0-D7110FC03735}" srcId="{974A1F31-436E-4C59-9D1F-2293138613C2}" destId="{93533DBE-1A76-4534-979C-B5AE44EC85FA}" srcOrd="4" destOrd="0" parTransId="{4FA4B2AE-D469-48B8-A02C-33DA218B7C91}" sibTransId="{2C7EFB10-4457-4F27-9B77-9C285279FB6D}"/>
    <dgm:cxn modelId="{4A011F2F-3BDD-4F01-BA45-F82B1DE2AEA2}" type="presOf" srcId="{974A1F31-436E-4C59-9D1F-2293138613C2}" destId="{F172D7C1-E49D-4E86-ADFC-F7B9ABA86547}" srcOrd="0" destOrd="0" presId="urn:microsoft.com/office/officeart/2005/8/layout/cycle2"/>
    <dgm:cxn modelId="{C1A29E31-886C-4EC9-BFFA-987224C68972}" type="presOf" srcId="{2C7EFB10-4457-4F27-9B77-9C285279FB6D}" destId="{9ED87E6D-DB85-4CA1-BE8E-F4ECF8706907}" srcOrd="0" destOrd="0" presId="urn:microsoft.com/office/officeart/2005/8/layout/cycle2"/>
    <dgm:cxn modelId="{FE310366-C9C7-4122-90EB-2CFB4904175A}" type="presOf" srcId="{04D05047-B543-4F04-B137-E16CBE5DEA00}" destId="{153DA6D8-4317-4907-9F2B-8E2995F4E4AD}" srcOrd="1" destOrd="0" presId="urn:microsoft.com/office/officeart/2005/8/layout/cycle2"/>
    <dgm:cxn modelId="{7658FC48-0F17-4512-B39F-82562AA3752B}" type="presOf" srcId="{DF3C090E-2B8D-404C-8F2C-8D1C31B665EA}" destId="{FF9B52E9-ED4E-4950-9612-B931DC9E1287}" srcOrd="0" destOrd="0" presId="urn:microsoft.com/office/officeart/2005/8/layout/cycle2"/>
    <dgm:cxn modelId="{C488F44F-00C4-481D-AFF1-E1BC31751BE0}" type="presOf" srcId="{8B2F3346-6747-4CE1-9442-2B2882E61255}" destId="{B96F0116-3B1B-4380-8218-6B6A05013878}" srcOrd="0" destOrd="0" presId="urn:microsoft.com/office/officeart/2005/8/layout/cycle2"/>
    <dgm:cxn modelId="{00690873-290F-464B-AF9B-5B274A02B7BE}" type="presOf" srcId="{FE180878-1D4D-4AE5-9ECC-F2DF16790D6D}" destId="{3CC9B783-AA16-4787-869C-92D516804BF0}" srcOrd="1" destOrd="0" presId="urn:microsoft.com/office/officeart/2005/8/layout/cycle2"/>
    <dgm:cxn modelId="{495BA574-9983-45F7-A1FB-F20AFF33335B}" type="presOf" srcId="{895A6CB8-41B0-49C9-8AB8-79BADB8BF34C}" destId="{87819D95-C177-4551-A2CD-4BFB6ACCB778}" srcOrd="0" destOrd="0" presId="urn:microsoft.com/office/officeart/2005/8/layout/cycle2"/>
    <dgm:cxn modelId="{2FBFA97A-24FB-4771-B124-2A967ED8942C}" type="presOf" srcId="{7F22F512-02A1-4C1B-BD4D-92ED8B159081}" destId="{2ED7DFD4-1D4F-4B2D-9BD0-709D7076F1C4}" srcOrd="1" destOrd="0" presId="urn:microsoft.com/office/officeart/2005/8/layout/cycle2"/>
    <dgm:cxn modelId="{3637DF5A-A2D2-4567-B674-57164AB36E8F}" srcId="{974A1F31-436E-4C59-9D1F-2293138613C2}" destId="{895A6CB8-41B0-49C9-8AB8-79BADB8BF34C}" srcOrd="0" destOrd="0" parTransId="{C83051E2-B82E-4122-AB37-D707C717F9E6}" sibTransId="{7F22F512-02A1-4C1B-BD4D-92ED8B159081}"/>
    <dgm:cxn modelId="{F49D8C7E-AABC-4330-9DAE-F9715445FE26}" type="presOf" srcId="{04D05047-B543-4F04-B137-E16CBE5DEA00}" destId="{A40FD692-F563-49BA-B718-C0321CF6A243}" srcOrd="0" destOrd="0" presId="urn:microsoft.com/office/officeart/2005/8/layout/cycle2"/>
    <dgm:cxn modelId="{C5AF219B-0898-4703-BB86-7BEF6F0EC3D6}" srcId="{974A1F31-436E-4C59-9D1F-2293138613C2}" destId="{DF3C090E-2B8D-404C-8F2C-8D1C31B665EA}" srcOrd="3" destOrd="0" parTransId="{868A5F93-25AF-40A6-A794-EA909B2C2435}" sibTransId="{469FFE9D-169A-4AE2-8953-BD868E7E0688}"/>
    <dgm:cxn modelId="{57AC04A5-1A4D-4320-AA0B-E24B5D1527F8}" type="presOf" srcId="{93533DBE-1A76-4534-979C-B5AE44EC85FA}" destId="{BB3F6957-8F3F-4CAE-B525-178BACFF8003}" srcOrd="0" destOrd="0" presId="urn:microsoft.com/office/officeart/2005/8/layout/cycle2"/>
    <dgm:cxn modelId="{3DB4C3A8-550F-4B78-AB6B-1180C1D5D0BC}" type="presOf" srcId="{E79C2263-D73C-437E-8689-ED9AEA31BCCF}" destId="{8F848E57-6648-44A3-AF21-67FF77F5841E}" srcOrd="0" destOrd="0" presId="urn:microsoft.com/office/officeart/2005/8/layout/cycle2"/>
    <dgm:cxn modelId="{089262B0-37F1-4B06-80CE-050813743AEC}" type="presOf" srcId="{2C7EFB10-4457-4F27-9B77-9C285279FB6D}" destId="{B9D59B47-70D9-4F94-97DC-3C581D7C2E38}" srcOrd="1" destOrd="0" presId="urn:microsoft.com/office/officeart/2005/8/layout/cycle2"/>
    <dgm:cxn modelId="{812688B0-A354-423D-AD8F-90E9C00B2A55}" type="presOf" srcId="{7F22F512-02A1-4C1B-BD4D-92ED8B159081}" destId="{B0DB1E1F-F504-481B-A91D-9D62C5E15F74}" srcOrd="0" destOrd="0" presId="urn:microsoft.com/office/officeart/2005/8/layout/cycle2"/>
    <dgm:cxn modelId="{997E91B2-0EDA-4B77-AF77-5AD9D537821D}" type="presOf" srcId="{2A1319B4-B7D2-48CB-BDCC-3182B42EFEDA}" destId="{A5FDE84E-6C94-43EB-9F37-0E977B39A34D}" srcOrd="0" destOrd="0" presId="urn:microsoft.com/office/officeart/2005/8/layout/cycle2"/>
    <dgm:cxn modelId="{330ABBC5-6A2F-4DD3-8349-BC7FC1370069}" srcId="{974A1F31-436E-4C59-9D1F-2293138613C2}" destId="{E79C2263-D73C-437E-8689-ED9AEA31BCCF}" srcOrd="2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1" destOrd="0" parTransId="{437E0F37-252F-46DE-A768-A0F7293CB2CC}" sibTransId="{04D05047-B543-4F04-B137-E16CBE5DEA00}"/>
    <dgm:cxn modelId="{2D3BD9D1-C998-4ADE-B95B-2623FB6F4CAC}" srcId="{974A1F31-436E-4C59-9D1F-2293138613C2}" destId="{8B2F3346-6747-4CE1-9442-2B2882E61255}" srcOrd="5" destOrd="0" parTransId="{A33C92A2-595A-4A0B-8D4D-CF9BCE2AE6F3}" sibTransId="{FE180878-1D4D-4AE5-9ECC-F2DF16790D6D}"/>
    <dgm:cxn modelId="{FFF2C1D2-1CA2-424F-A8FE-43D3BB3F0817}" type="presOf" srcId="{FE180878-1D4D-4AE5-9ECC-F2DF16790D6D}" destId="{04E405D8-3A5E-4409-A54A-FDB2BC2E4631}" srcOrd="0" destOrd="0" presId="urn:microsoft.com/office/officeart/2005/8/layout/cycle2"/>
    <dgm:cxn modelId="{1F064FE1-E735-4E31-8924-FF961C982BD6}" type="presOf" srcId="{469FFE9D-169A-4AE2-8953-BD868E7E0688}" destId="{89CF7C16-D898-4C65-8BAC-34E13F8E8129}" srcOrd="0" destOrd="0" presId="urn:microsoft.com/office/officeart/2005/8/layout/cycle2"/>
    <dgm:cxn modelId="{E73D70E2-6734-4A0B-984A-7AC1039D3947}" type="presOf" srcId="{469FFE9D-169A-4AE2-8953-BD868E7E0688}" destId="{DD87DD8D-871C-4004-85D9-B8553A9F2CE4}" srcOrd="1" destOrd="0" presId="urn:microsoft.com/office/officeart/2005/8/layout/cycle2"/>
    <dgm:cxn modelId="{53A4C5E8-73FC-4452-8293-C6167AA3046E}" type="presOf" srcId="{EC6AB96C-F159-4AC8-8700-168AB3D071C1}" destId="{AF97344D-029D-4148-AC9C-9A2147607691}" srcOrd="1" destOrd="0" presId="urn:microsoft.com/office/officeart/2005/8/layout/cycle2"/>
    <dgm:cxn modelId="{C0E31A16-EAAB-48CE-95E8-EE07878AF461}" type="presParOf" srcId="{F172D7C1-E49D-4E86-ADFC-F7B9ABA86547}" destId="{87819D95-C177-4551-A2CD-4BFB6ACCB778}" srcOrd="0" destOrd="0" presId="urn:microsoft.com/office/officeart/2005/8/layout/cycle2"/>
    <dgm:cxn modelId="{4436514D-67E9-405C-B5A5-B55328CC6A0A}" type="presParOf" srcId="{F172D7C1-E49D-4E86-ADFC-F7B9ABA86547}" destId="{B0DB1E1F-F504-481B-A91D-9D62C5E15F74}" srcOrd="1" destOrd="0" presId="urn:microsoft.com/office/officeart/2005/8/layout/cycle2"/>
    <dgm:cxn modelId="{74F7B81E-5087-40F3-81C6-FF8D70A4CC89}" type="presParOf" srcId="{B0DB1E1F-F504-481B-A91D-9D62C5E15F74}" destId="{2ED7DFD4-1D4F-4B2D-9BD0-709D7076F1C4}" srcOrd="0" destOrd="0" presId="urn:microsoft.com/office/officeart/2005/8/layout/cycle2"/>
    <dgm:cxn modelId="{40153314-461C-4F1F-9B96-8D8581C1712C}" type="presParOf" srcId="{F172D7C1-E49D-4E86-ADFC-F7B9ABA86547}" destId="{A5FDE84E-6C94-43EB-9F37-0E977B39A34D}" srcOrd="2" destOrd="0" presId="urn:microsoft.com/office/officeart/2005/8/layout/cycle2"/>
    <dgm:cxn modelId="{A028F1A0-1587-48D2-868E-4CE152A2027F}" type="presParOf" srcId="{F172D7C1-E49D-4E86-ADFC-F7B9ABA86547}" destId="{A40FD692-F563-49BA-B718-C0321CF6A243}" srcOrd="3" destOrd="0" presId="urn:microsoft.com/office/officeart/2005/8/layout/cycle2"/>
    <dgm:cxn modelId="{FCCC57F9-14C5-470C-9516-33DCE42A7161}" type="presParOf" srcId="{A40FD692-F563-49BA-B718-C0321CF6A243}" destId="{153DA6D8-4317-4907-9F2B-8E2995F4E4AD}" srcOrd="0" destOrd="0" presId="urn:microsoft.com/office/officeart/2005/8/layout/cycle2"/>
    <dgm:cxn modelId="{9A2C17C0-979A-40B8-BD0C-0B3722A32527}" type="presParOf" srcId="{F172D7C1-E49D-4E86-ADFC-F7B9ABA86547}" destId="{8F848E57-6648-44A3-AF21-67FF77F5841E}" srcOrd="4" destOrd="0" presId="urn:microsoft.com/office/officeart/2005/8/layout/cycle2"/>
    <dgm:cxn modelId="{F08B09CF-0009-4FA7-B98A-CCD5686D8653}" type="presParOf" srcId="{F172D7C1-E49D-4E86-ADFC-F7B9ABA86547}" destId="{A524A964-B026-49F6-A34A-3BC44E604C73}" srcOrd="5" destOrd="0" presId="urn:microsoft.com/office/officeart/2005/8/layout/cycle2"/>
    <dgm:cxn modelId="{FE271F0E-14B3-4D5E-95AE-FE083EF5C31C}" type="presParOf" srcId="{A524A964-B026-49F6-A34A-3BC44E604C73}" destId="{AF97344D-029D-4148-AC9C-9A2147607691}" srcOrd="0" destOrd="0" presId="urn:microsoft.com/office/officeart/2005/8/layout/cycle2"/>
    <dgm:cxn modelId="{DD2C8FF8-425B-4161-AE8C-B01CD15CA9CC}" type="presParOf" srcId="{F172D7C1-E49D-4E86-ADFC-F7B9ABA86547}" destId="{FF9B52E9-ED4E-4950-9612-B931DC9E1287}" srcOrd="6" destOrd="0" presId="urn:microsoft.com/office/officeart/2005/8/layout/cycle2"/>
    <dgm:cxn modelId="{848866B6-29FC-4163-A2A0-34427295A1F5}" type="presParOf" srcId="{F172D7C1-E49D-4E86-ADFC-F7B9ABA86547}" destId="{89CF7C16-D898-4C65-8BAC-34E13F8E8129}" srcOrd="7" destOrd="0" presId="urn:microsoft.com/office/officeart/2005/8/layout/cycle2"/>
    <dgm:cxn modelId="{9B938631-19F5-45A4-82B2-51EB9772CC72}" type="presParOf" srcId="{89CF7C16-D898-4C65-8BAC-34E13F8E8129}" destId="{DD87DD8D-871C-4004-85D9-B8553A9F2CE4}" srcOrd="0" destOrd="0" presId="urn:microsoft.com/office/officeart/2005/8/layout/cycle2"/>
    <dgm:cxn modelId="{CED66AD1-1CD0-4283-8B5A-2F537EC4550E}" type="presParOf" srcId="{F172D7C1-E49D-4E86-ADFC-F7B9ABA86547}" destId="{BB3F6957-8F3F-4CAE-B525-178BACFF8003}" srcOrd="8" destOrd="0" presId="urn:microsoft.com/office/officeart/2005/8/layout/cycle2"/>
    <dgm:cxn modelId="{6A0FA450-65F5-40F1-861A-0EDC6FB7ED61}" type="presParOf" srcId="{F172D7C1-E49D-4E86-ADFC-F7B9ABA86547}" destId="{9ED87E6D-DB85-4CA1-BE8E-F4ECF8706907}" srcOrd="9" destOrd="0" presId="urn:microsoft.com/office/officeart/2005/8/layout/cycle2"/>
    <dgm:cxn modelId="{3E561392-757A-4A7F-924A-9500E54069CD}" type="presParOf" srcId="{9ED87E6D-DB85-4CA1-BE8E-F4ECF8706907}" destId="{B9D59B47-70D9-4F94-97DC-3C581D7C2E38}" srcOrd="0" destOrd="0" presId="urn:microsoft.com/office/officeart/2005/8/layout/cycle2"/>
    <dgm:cxn modelId="{9496EA70-7C66-47DE-9F99-99EC91117A7E}" type="presParOf" srcId="{F172D7C1-E49D-4E86-ADFC-F7B9ABA86547}" destId="{B96F0116-3B1B-4380-8218-6B6A05013878}" srcOrd="10" destOrd="0" presId="urn:microsoft.com/office/officeart/2005/8/layout/cycle2"/>
    <dgm:cxn modelId="{206AD36E-EEA6-4135-A766-1D746861085B}" type="presParOf" srcId="{F172D7C1-E49D-4E86-ADFC-F7B9ABA86547}" destId="{04E405D8-3A5E-4409-A54A-FDB2BC2E4631}" srcOrd="11" destOrd="0" presId="urn:microsoft.com/office/officeart/2005/8/layout/cycle2"/>
    <dgm:cxn modelId="{E728BFEF-ABDD-48DD-88E2-951F143AA0F4}" type="presParOf" srcId="{04E405D8-3A5E-4409-A54A-FDB2BC2E4631}" destId="{3CC9B783-AA16-4787-869C-92D516804BF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A6CB8-41B0-49C9-8AB8-79BADB8BF34C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rPr>
            <a:t>Conservative </a:t>
          </a:r>
        </a:p>
        <a:p>
          <a:pPr>
            <a:lnSpc>
              <a:spcPct val="150000"/>
            </a:lnSpc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Long-term funds for both permanent and temporary working capital</a:t>
          </a:r>
        </a:p>
      </dgm:t>
    </dgm:pt>
    <dgm:pt modelId="{C83051E2-B82E-4122-AB37-D707C717F9E6}" type="parTrans" cxnId="{3637DF5A-A2D2-4567-B674-57164AB36E8F}">
      <dgm:prSet/>
      <dgm:spPr/>
      <dgm:t>
        <a:bodyPr/>
        <a:lstStyle/>
        <a:p>
          <a:endParaRPr lang="en-IN"/>
        </a:p>
      </dgm:t>
    </dgm:pt>
    <dgm:pt modelId="{7F22F512-02A1-4C1B-BD4D-92ED8B159081}" type="sibTrans" cxnId="{3637DF5A-A2D2-4567-B674-57164AB36E8F}">
      <dgm:prSet custT="1"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rPr>
            <a:t>Moderate</a:t>
          </a:r>
        </a:p>
        <a:p>
          <a:pPr>
            <a:lnSpc>
              <a:spcPct val="150000"/>
            </a:lnSpc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Long-term for permanent , short-term for temporary  working capital 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rPr>
            <a:t>Aggressive</a:t>
          </a:r>
        </a:p>
        <a:p>
          <a:pPr>
            <a:lnSpc>
              <a:spcPct val="150000"/>
            </a:lnSpc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Short-term funds even for permanent working capital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 custT="1"/>
      <dgm:spPr/>
      <dgm:t>
        <a:bodyPr/>
        <a:lstStyle/>
        <a:p>
          <a:endParaRPr lang="en-IN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CADA9A-DEEA-4EE8-8FA5-F199BE2EBAB7}" type="pres">
      <dgm:prSet presAssocID="{974A1F31-436E-4C59-9D1F-2293138613C2}" presName="outerComposite" presStyleCnt="0">
        <dgm:presLayoutVars>
          <dgm:chMax val="5"/>
          <dgm:dir/>
          <dgm:resizeHandles val="exact"/>
        </dgm:presLayoutVars>
      </dgm:prSet>
      <dgm:spPr/>
    </dgm:pt>
    <dgm:pt modelId="{296CBAD6-9B91-4A28-BABE-4541A0960F11}" type="pres">
      <dgm:prSet presAssocID="{974A1F31-436E-4C59-9D1F-2293138613C2}" presName="dummyMaxCanvas" presStyleCnt="0">
        <dgm:presLayoutVars/>
      </dgm:prSet>
      <dgm:spPr/>
    </dgm:pt>
    <dgm:pt modelId="{B7CBABFD-06B2-4406-A02A-763F9BB0AE09}" type="pres">
      <dgm:prSet presAssocID="{974A1F31-436E-4C59-9D1F-2293138613C2}" presName="ThreeNodes_1" presStyleLbl="node1" presStyleIdx="0" presStyleCnt="3" custScaleY="105537" custLinFactNeighborX="2364" custLinFactNeighborY="3297">
        <dgm:presLayoutVars>
          <dgm:bulletEnabled val="1"/>
        </dgm:presLayoutVars>
      </dgm:prSet>
      <dgm:spPr/>
    </dgm:pt>
    <dgm:pt modelId="{EF0CAC88-B855-4261-B9B3-3D9ECA91E113}" type="pres">
      <dgm:prSet presAssocID="{974A1F31-436E-4C59-9D1F-2293138613C2}" presName="ThreeNodes_2" presStyleLbl="node1" presStyleIdx="1" presStyleCnt="3" custScaleX="94037" custScaleY="95487" custLinFactNeighborX="-11" custLinFactNeighborY="5495">
        <dgm:presLayoutVars>
          <dgm:bulletEnabled val="1"/>
        </dgm:presLayoutVars>
      </dgm:prSet>
      <dgm:spPr/>
    </dgm:pt>
    <dgm:pt modelId="{EE97AB0D-54ED-45FB-9A58-FC5FDE3CB666}" type="pres">
      <dgm:prSet presAssocID="{974A1F31-436E-4C59-9D1F-2293138613C2}" presName="ThreeNodes_3" presStyleLbl="node1" presStyleIdx="2" presStyleCnt="3" custScaleX="92300" custScaleY="101905" custLinFactNeighborX="-910" custLinFactNeighborY="7278">
        <dgm:presLayoutVars>
          <dgm:bulletEnabled val="1"/>
        </dgm:presLayoutVars>
      </dgm:prSet>
      <dgm:spPr/>
    </dgm:pt>
    <dgm:pt modelId="{A1931478-8665-46E4-B6EA-4A79D8761278}" type="pres">
      <dgm:prSet presAssocID="{974A1F31-436E-4C59-9D1F-2293138613C2}" presName="ThreeConn_1-2" presStyleLbl="fgAccFollowNode1" presStyleIdx="0" presStyleCnt="2">
        <dgm:presLayoutVars>
          <dgm:bulletEnabled val="1"/>
        </dgm:presLayoutVars>
      </dgm:prSet>
      <dgm:spPr/>
    </dgm:pt>
    <dgm:pt modelId="{2EE723CE-2260-44CB-8978-19316735F7EA}" type="pres">
      <dgm:prSet presAssocID="{974A1F31-436E-4C59-9D1F-2293138613C2}" presName="ThreeConn_2-3" presStyleLbl="fgAccFollowNode1" presStyleIdx="1" presStyleCnt="2">
        <dgm:presLayoutVars>
          <dgm:bulletEnabled val="1"/>
        </dgm:presLayoutVars>
      </dgm:prSet>
      <dgm:spPr/>
    </dgm:pt>
    <dgm:pt modelId="{534DAF13-CEBA-4504-B29B-BB69A69FE1B9}" type="pres">
      <dgm:prSet presAssocID="{974A1F31-436E-4C59-9D1F-2293138613C2}" presName="ThreeNodes_1_text" presStyleLbl="node1" presStyleIdx="2" presStyleCnt="3">
        <dgm:presLayoutVars>
          <dgm:bulletEnabled val="1"/>
        </dgm:presLayoutVars>
      </dgm:prSet>
      <dgm:spPr/>
    </dgm:pt>
    <dgm:pt modelId="{38023885-28EC-42B9-AA40-E293F2171F89}" type="pres">
      <dgm:prSet presAssocID="{974A1F31-436E-4C59-9D1F-2293138613C2}" presName="ThreeNodes_2_text" presStyleLbl="node1" presStyleIdx="2" presStyleCnt="3">
        <dgm:presLayoutVars>
          <dgm:bulletEnabled val="1"/>
        </dgm:presLayoutVars>
      </dgm:prSet>
      <dgm:spPr/>
    </dgm:pt>
    <dgm:pt modelId="{C71F4B0D-BBAE-45B2-A687-5C174F9CFBE4}" type="pres">
      <dgm:prSet presAssocID="{974A1F31-436E-4C59-9D1F-2293138613C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476B623-CF93-424F-A88C-901CFED4BB08}" type="presOf" srcId="{895A6CB8-41B0-49C9-8AB8-79BADB8BF34C}" destId="{B7CBABFD-06B2-4406-A02A-763F9BB0AE09}" srcOrd="0" destOrd="0" presId="urn:microsoft.com/office/officeart/2005/8/layout/vProcess5"/>
    <dgm:cxn modelId="{EE7E4A38-5B7F-4F65-8F22-4017D9501E7C}" type="presOf" srcId="{E79C2263-D73C-437E-8689-ED9AEA31BCCF}" destId="{C71F4B0D-BBAE-45B2-A687-5C174F9CFBE4}" srcOrd="1" destOrd="0" presId="urn:microsoft.com/office/officeart/2005/8/layout/vProcess5"/>
    <dgm:cxn modelId="{B83FC647-FE34-4071-B600-6C2F273F5A19}" type="presOf" srcId="{7F22F512-02A1-4C1B-BD4D-92ED8B159081}" destId="{A1931478-8665-46E4-B6EA-4A79D8761278}" srcOrd="0" destOrd="0" presId="urn:microsoft.com/office/officeart/2005/8/layout/vProcess5"/>
    <dgm:cxn modelId="{38451F4C-6B37-45F4-9818-4039057E1A4F}" type="presOf" srcId="{974A1F31-436E-4C59-9D1F-2293138613C2}" destId="{BACADA9A-DEEA-4EE8-8FA5-F199BE2EBAB7}" srcOrd="0" destOrd="0" presId="urn:microsoft.com/office/officeart/2005/8/layout/vProcess5"/>
    <dgm:cxn modelId="{D3644173-FAC7-410D-B2EF-3B904E484F45}" type="presOf" srcId="{2A1319B4-B7D2-48CB-BDCC-3182B42EFEDA}" destId="{EF0CAC88-B855-4261-B9B3-3D9ECA91E113}" srcOrd="0" destOrd="0" presId="urn:microsoft.com/office/officeart/2005/8/layout/vProcess5"/>
    <dgm:cxn modelId="{3637DF5A-A2D2-4567-B674-57164AB36E8F}" srcId="{974A1F31-436E-4C59-9D1F-2293138613C2}" destId="{895A6CB8-41B0-49C9-8AB8-79BADB8BF34C}" srcOrd="0" destOrd="0" parTransId="{C83051E2-B82E-4122-AB37-D707C717F9E6}" sibTransId="{7F22F512-02A1-4C1B-BD4D-92ED8B159081}"/>
    <dgm:cxn modelId="{6FE31EA2-5C36-4AF5-A90B-F1031AECAB14}" type="presOf" srcId="{2A1319B4-B7D2-48CB-BDCC-3182B42EFEDA}" destId="{38023885-28EC-42B9-AA40-E293F2171F89}" srcOrd="1" destOrd="0" presId="urn:microsoft.com/office/officeart/2005/8/layout/vProcess5"/>
    <dgm:cxn modelId="{493C8EB7-4019-4420-B914-5B52658DF182}" type="presOf" srcId="{04D05047-B543-4F04-B137-E16CBE5DEA00}" destId="{2EE723CE-2260-44CB-8978-19316735F7EA}" srcOrd="0" destOrd="0" presId="urn:microsoft.com/office/officeart/2005/8/layout/vProcess5"/>
    <dgm:cxn modelId="{114612C3-FED0-4B2A-B839-9795725D546C}" type="presOf" srcId="{E79C2263-D73C-437E-8689-ED9AEA31BCCF}" destId="{EE97AB0D-54ED-45FB-9A58-FC5FDE3CB666}" srcOrd="0" destOrd="0" presId="urn:microsoft.com/office/officeart/2005/8/layout/vProcess5"/>
    <dgm:cxn modelId="{330ABBC5-6A2F-4DD3-8349-BC7FC1370069}" srcId="{974A1F31-436E-4C59-9D1F-2293138613C2}" destId="{E79C2263-D73C-437E-8689-ED9AEA31BCCF}" srcOrd="2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1" destOrd="0" parTransId="{437E0F37-252F-46DE-A768-A0F7293CB2CC}" sibTransId="{04D05047-B543-4F04-B137-E16CBE5DEA00}"/>
    <dgm:cxn modelId="{492934F9-6BC2-4D89-B4F9-351D3DE4C828}" type="presOf" srcId="{895A6CB8-41B0-49C9-8AB8-79BADB8BF34C}" destId="{534DAF13-CEBA-4504-B29B-BB69A69FE1B9}" srcOrd="1" destOrd="0" presId="urn:microsoft.com/office/officeart/2005/8/layout/vProcess5"/>
    <dgm:cxn modelId="{C9071E76-575E-48E4-B1DD-238DEB42BC07}" type="presParOf" srcId="{BACADA9A-DEEA-4EE8-8FA5-F199BE2EBAB7}" destId="{296CBAD6-9B91-4A28-BABE-4541A0960F11}" srcOrd="0" destOrd="0" presId="urn:microsoft.com/office/officeart/2005/8/layout/vProcess5"/>
    <dgm:cxn modelId="{0D5750D3-7496-41ED-9542-52504CA1388B}" type="presParOf" srcId="{BACADA9A-DEEA-4EE8-8FA5-F199BE2EBAB7}" destId="{B7CBABFD-06B2-4406-A02A-763F9BB0AE09}" srcOrd="1" destOrd="0" presId="urn:microsoft.com/office/officeart/2005/8/layout/vProcess5"/>
    <dgm:cxn modelId="{0442EC4A-5E2B-4017-98E6-F713073A8F1F}" type="presParOf" srcId="{BACADA9A-DEEA-4EE8-8FA5-F199BE2EBAB7}" destId="{EF0CAC88-B855-4261-B9B3-3D9ECA91E113}" srcOrd="2" destOrd="0" presId="urn:microsoft.com/office/officeart/2005/8/layout/vProcess5"/>
    <dgm:cxn modelId="{270CBDED-F5EA-4459-81BE-2BA16EC227FD}" type="presParOf" srcId="{BACADA9A-DEEA-4EE8-8FA5-F199BE2EBAB7}" destId="{EE97AB0D-54ED-45FB-9A58-FC5FDE3CB666}" srcOrd="3" destOrd="0" presId="urn:microsoft.com/office/officeart/2005/8/layout/vProcess5"/>
    <dgm:cxn modelId="{32506622-B4D8-4ECC-8CD1-5AE5E5AAF934}" type="presParOf" srcId="{BACADA9A-DEEA-4EE8-8FA5-F199BE2EBAB7}" destId="{A1931478-8665-46E4-B6EA-4A79D8761278}" srcOrd="4" destOrd="0" presId="urn:microsoft.com/office/officeart/2005/8/layout/vProcess5"/>
    <dgm:cxn modelId="{D4854536-B339-4008-BF7C-5AAEA1DE0252}" type="presParOf" srcId="{BACADA9A-DEEA-4EE8-8FA5-F199BE2EBAB7}" destId="{2EE723CE-2260-44CB-8978-19316735F7EA}" srcOrd="5" destOrd="0" presId="urn:microsoft.com/office/officeart/2005/8/layout/vProcess5"/>
    <dgm:cxn modelId="{E9F4FF0B-B2BE-43FC-AAF1-9FA8C62494C7}" type="presParOf" srcId="{BACADA9A-DEEA-4EE8-8FA5-F199BE2EBAB7}" destId="{534DAF13-CEBA-4504-B29B-BB69A69FE1B9}" srcOrd="6" destOrd="0" presId="urn:microsoft.com/office/officeart/2005/8/layout/vProcess5"/>
    <dgm:cxn modelId="{DAA727EA-593C-479A-85AF-083B66BDAA28}" type="presParOf" srcId="{BACADA9A-DEEA-4EE8-8FA5-F199BE2EBAB7}" destId="{38023885-28EC-42B9-AA40-E293F2171F89}" srcOrd="7" destOrd="0" presId="urn:microsoft.com/office/officeart/2005/8/layout/vProcess5"/>
    <dgm:cxn modelId="{0C6D7C74-39F6-4B67-B4F8-BFCF4F573CD5}" type="presParOf" srcId="{BACADA9A-DEEA-4EE8-8FA5-F199BE2EBAB7}" destId="{C71F4B0D-BBAE-45B2-A687-5C174F9CFBE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9E9F4-E2CA-4532-825B-C4C4BBDFAF9D}">
      <dsp:nvSpPr>
        <dsp:cNvPr id="0" name=""/>
        <dsp:cNvSpPr/>
      </dsp:nvSpPr>
      <dsp:spPr>
        <a:xfrm>
          <a:off x="0" y="627798"/>
          <a:ext cx="10328031" cy="751275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1570" tIns="187452" rIns="80157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Total Current Assets  </a:t>
          </a:r>
          <a:endParaRPr lang="en-IN" sz="21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627798"/>
        <a:ext cx="10328031" cy="751275"/>
      </dsp:txXfrm>
    </dsp:sp>
    <dsp:sp modelId="{0079F849-3DFC-4012-A8CD-10EBE408EA39}">
      <dsp:nvSpPr>
        <dsp:cNvPr id="0" name=""/>
        <dsp:cNvSpPr/>
      </dsp:nvSpPr>
      <dsp:spPr>
        <a:xfrm>
          <a:off x="515897" y="5127"/>
          <a:ext cx="7222561" cy="755511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262" tIns="0" rIns="273262" bIns="0" numCol="1" spcCol="1270" anchor="ctr" anchorCtr="0">
          <a:noAutofit/>
        </a:bodyPr>
        <a:lstStyle/>
        <a:p>
          <a:pPr marL="0" lvl="0" indent="0" algn="l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Gross Working capital</a:t>
          </a:r>
        </a:p>
      </dsp:txBody>
      <dsp:txXfrm>
        <a:off x="552778" y="42008"/>
        <a:ext cx="7148799" cy="681749"/>
      </dsp:txXfrm>
    </dsp:sp>
    <dsp:sp modelId="{BB12F7D8-357B-4B47-892E-E6BB9D00DB48}">
      <dsp:nvSpPr>
        <dsp:cNvPr id="0" name=""/>
        <dsp:cNvSpPr/>
      </dsp:nvSpPr>
      <dsp:spPr>
        <a:xfrm>
          <a:off x="0" y="1851518"/>
          <a:ext cx="10328031" cy="912055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1570" tIns="187452" rIns="80157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Current Assets(CA) –Current Liabilities(CL)</a:t>
          </a:r>
          <a:endParaRPr lang="en-IN" sz="21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851518"/>
        <a:ext cx="10328031" cy="912055"/>
      </dsp:txXfrm>
    </dsp:sp>
    <dsp:sp modelId="{AE597EEF-E2B1-4B2B-9953-E3E2415F49E3}">
      <dsp:nvSpPr>
        <dsp:cNvPr id="0" name=""/>
        <dsp:cNvSpPr/>
      </dsp:nvSpPr>
      <dsp:spPr>
        <a:xfrm>
          <a:off x="516401" y="1427673"/>
          <a:ext cx="7229621" cy="556684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262" tIns="0" rIns="273262" bIns="0" numCol="1" spcCol="1270" anchor="ctr" anchorCtr="0">
          <a:noAutofit/>
        </a:bodyPr>
        <a:lstStyle/>
        <a:p>
          <a:pPr marL="0" lvl="0" indent="0" algn="l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Net Working Capital </a:t>
          </a:r>
        </a:p>
      </dsp:txBody>
      <dsp:txXfrm>
        <a:off x="543576" y="1454848"/>
        <a:ext cx="7175271" cy="502334"/>
      </dsp:txXfrm>
    </dsp:sp>
    <dsp:sp modelId="{0231D71B-8709-4427-823B-7C0D395121EC}">
      <dsp:nvSpPr>
        <dsp:cNvPr id="0" name=""/>
        <dsp:cNvSpPr/>
      </dsp:nvSpPr>
      <dsp:spPr>
        <a:xfrm>
          <a:off x="0" y="3292225"/>
          <a:ext cx="10328031" cy="751275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1570" tIns="187452" rIns="80157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Minimum amount needed always</a:t>
          </a:r>
          <a:endParaRPr lang="en-IN" sz="21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292225"/>
        <a:ext cx="10328031" cy="751275"/>
      </dsp:txXfrm>
    </dsp:sp>
    <dsp:sp modelId="{F921BB11-9037-4493-94E2-DAA24381B7F3}">
      <dsp:nvSpPr>
        <dsp:cNvPr id="0" name=""/>
        <dsp:cNvSpPr/>
      </dsp:nvSpPr>
      <dsp:spPr>
        <a:xfrm>
          <a:off x="516401" y="2812173"/>
          <a:ext cx="7229621" cy="612891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262" tIns="0" rIns="273262" bIns="0" numCol="1" spcCol="1270" anchor="ctr" anchorCtr="0">
          <a:noAutofit/>
        </a:bodyPr>
        <a:lstStyle/>
        <a:p>
          <a:pPr marL="0" lvl="0" indent="0" algn="l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Permanent Working Capital</a:t>
          </a:r>
        </a:p>
      </dsp:txBody>
      <dsp:txXfrm>
        <a:off x="546320" y="2842092"/>
        <a:ext cx="7169783" cy="553053"/>
      </dsp:txXfrm>
    </dsp:sp>
    <dsp:sp modelId="{636F4102-08A6-4F05-9499-64E64A06AE30}">
      <dsp:nvSpPr>
        <dsp:cNvPr id="0" name=""/>
        <dsp:cNvSpPr/>
      </dsp:nvSpPr>
      <dsp:spPr>
        <a:xfrm>
          <a:off x="0" y="4669672"/>
          <a:ext cx="10328031" cy="751275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1570" tIns="187452" rIns="80157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in assets other than cash Seasonal or cyclical needs</a:t>
          </a:r>
          <a:endParaRPr lang="en-IN" sz="21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4669672"/>
        <a:ext cx="10328031" cy="751275"/>
      </dsp:txXfrm>
    </dsp:sp>
    <dsp:sp modelId="{D1279F6D-3856-49B9-88EF-88338F5AB041}">
      <dsp:nvSpPr>
        <dsp:cNvPr id="0" name=""/>
        <dsp:cNvSpPr/>
      </dsp:nvSpPr>
      <dsp:spPr>
        <a:xfrm>
          <a:off x="516401" y="4092100"/>
          <a:ext cx="7229621" cy="710412"/>
        </a:xfrm>
        <a:prstGeom prst="roundRect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3262" tIns="0" rIns="273262" bIns="0" numCol="1" spcCol="1270" anchor="ctr" anchorCtr="0">
          <a:noAutofit/>
        </a:bodyPr>
        <a:lstStyle/>
        <a:p>
          <a:pPr marL="0" lvl="0" indent="0" algn="l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Temporary Working Capital</a:t>
          </a:r>
        </a:p>
      </dsp:txBody>
      <dsp:txXfrm>
        <a:off x="551080" y="4126779"/>
        <a:ext cx="7160263" cy="6410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19D95-C177-4551-A2CD-4BFB6ACCB778}">
      <dsp:nvSpPr>
        <dsp:cNvPr id="0" name=""/>
        <dsp:cNvSpPr/>
      </dsp:nvSpPr>
      <dsp:spPr>
        <a:xfrm>
          <a:off x="4014173" y="2124"/>
          <a:ext cx="2111134" cy="1426818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Cash</a:t>
          </a:r>
        </a:p>
      </dsp:txBody>
      <dsp:txXfrm>
        <a:off x="4323341" y="211077"/>
        <a:ext cx="1492798" cy="1008912"/>
      </dsp:txXfrm>
    </dsp:sp>
    <dsp:sp modelId="{B0DB1E1F-F504-481B-A91D-9D62C5E15F74}">
      <dsp:nvSpPr>
        <dsp:cNvPr id="0" name=""/>
        <dsp:cNvSpPr/>
      </dsp:nvSpPr>
      <dsp:spPr>
        <a:xfrm rot="1800000">
          <a:off x="5925618" y="1021490"/>
          <a:ext cx="182181" cy="4815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29279" y="1104137"/>
        <a:ext cx="127527" cy="288931"/>
      </dsp:txXfrm>
    </dsp:sp>
    <dsp:sp modelId="{A5FDE84E-6C94-43EB-9F37-0E977B39A34D}">
      <dsp:nvSpPr>
        <dsp:cNvPr id="0" name=""/>
        <dsp:cNvSpPr/>
      </dsp:nvSpPr>
      <dsp:spPr>
        <a:xfrm>
          <a:off x="5971566" y="1073107"/>
          <a:ext cx="1906343" cy="1426818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Raw Materials</a:t>
          </a:r>
        </a:p>
      </dsp:txBody>
      <dsp:txXfrm>
        <a:off x="6250743" y="1282060"/>
        <a:ext cx="1347989" cy="1008912"/>
      </dsp:txXfrm>
    </dsp:sp>
    <dsp:sp modelId="{A40FD692-F563-49BA-B718-C0321CF6A243}">
      <dsp:nvSpPr>
        <dsp:cNvPr id="0" name=""/>
        <dsp:cNvSpPr/>
      </dsp:nvSpPr>
      <dsp:spPr>
        <a:xfrm rot="5292162">
          <a:off x="6810055" y="2524948"/>
          <a:ext cx="290818" cy="4815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852309" y="2577657"/>
        <a:ext cx="203573" cy="288931"/>
      </dsp:txXfrm>
    </dsp:sp>
    <dsp:sp modelId="{8F848E57-6648-44A3-AF21-67FF77F5841E}">
      <dsp:nvSpPr>
        <dsp:cNvPr id="0" name=""/>
        <dsp:cNvSpPr/>
      </dsp:nvSpPr>
      <dsp:spPr>
        <a:xfrm>
          <a:off x="5972911" y="3047999"/>
          <a:ext cx="2027594" cy="1426818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Work in progress</a:t>
          </a:r>
        </a:p>
      </dsp:txBody>
      <dsp:txXfrm>
        <a:off x="6269845" y="3256952"/>
        <a:ext cx="1433726" cy="1008912"/>
      </dsp:txXfrm>
    </dsp:sp>
    <dsp:sp modelId="{A524A964-B026-49F6-A34A-3BC44E604C73}">
      <dsp:nvSpPr>
        <dsp:cNvPr id="0" name=""/>
        <dsp:cNvSpPr/>
      </dsp:nvSpPr>
      <dsp:spPr>
        <a:xfrm rot="8721472">
          <a:off x="5979256" y="4138393"/>
          <a:ext cx="226728" cy="4815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6041245" y="4215371"/>
        <a:ext cx="158710" cy="288931"/>
      </dsp:txXfrm>
    </dsp:sp>
    <dsp:sp modelId="{FF9B52E9-ED4E-4950-9612-B931DC9E1287}">
      <dsp:nvSpPr>
        <dsp:cNvPr id="0" name=""/>
        <dsp:cNvSpPr/>
      </dsp:nvSpPr>
      <dsp:spPr>
        <a:xfrm>
          <a:off x="4296509" y="4267207"/>
          <a:ext cx="1851267" cy="1426818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Finished Goods</a:t>
          </a:r>
        </a:p>
      </dsp:txBody>
      <dsp:txXfrm>
        <a:off x="4567621" y="4476160"/>
        <a:ext cx="1309043" cy="1008912"/>
      </dsp:txXfrm>
    </dsp:sp>
    <dsp:sp modelId="{89CF7C16-D898-4C65-8BAC-34E13F8E8129}">
      <dsp:nvSpPr>
        <dsp:cNvPr id="0" name=""/>
        <dsp:cNvSpPr/>
      </dsp:nvSpPr>
      <dsp:spPr>
        <a:xfrm rot="12459615">
          <a:off x="4110355" y="4226386"/>
          <a:ext cx="264302" cy="4815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4185115" y="4341101"/>
        <a:ext cx="185011" cy="288931"/>
      </dsp:txXfrm>
    </dsp:sp>
    <dsp:sp modelId="{BB3F6957-8F3F-4CAE-B525-178BACFF8003}">
      <dsp:nvSpPr>
        <dsp:cNvPr id="0" name=""/>
        <dsp:cNvSpPr/>
      </dsp:nvSpPr>
      <dsp:spPr>
        <a:xfrm>
          <a:off x="2225372" y="3215074"/>
          <a:ext cx="1978739" cy="1426818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Sales</a:t>
          </a:r>
        </a:p>
      </dsp:txBody>
      <dsp:txXfrm>
        <a:off x="2515152" y="3424027"/>
        <a:ext cx="1399179" cy="1008912"/>
      </dsp:txXfrm>
    </dsp:sp>
    <dsp:sp modelId="{9ED87E6D-DB85-4CA1-BE8E-F4ECF8706907}">
      <dsp:nvSpPr>
        <dsp:cNvPr id="0" name=""/>
        <dsp:cNvSpPr/>
      </dsp:nvSpPr>
      <dsp:spPr>
        <a:xfrm rot="16200004">
          <a:off x="3063945" y="2698308"/>
          <a:ext cx="301597" cy="4815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09184" y="2839857"/>
        <a:ext cx="211118" cy="288931"/>
      </dsp:txXfrm>
    </dsp:sp>
    <dsp:sp modelId="{B96F0116-3B1B-4380-8218-6B6A05013878}">
      <dsp:nvSpPr>
        <dsp:cNvPr id="0" name=""/>
        <dsp:cNvSpPr/>
      </dsp:nvSpPr>
      <dsp:spPr>
        <a:xfrm>
          <a:off x="2315307" y="1219204"/>
          <a:ext cx="1798875" cy="1426818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Receivables</a:t>
          </a:r>
        </a:p>
      </dsp:txBody>
      <dsp:txXfrm>
        <a:off x="2578746" y="1428157"/>
        <a:ext cx="1271997" cy="1008912"/>
      </dsp:txXfrm>
    </dsp:sp>
    <dsp:sp modelId="{04E405D8-3A5E-4409-A54A-FDB2BC2E4631}">
      <dsp:nvSpPr>
        <dsp:cNvPr id="0" name=""/>
        <dsp:cNvSpPr/>
      </dsp:nvSpPr>
      <dsp:spPr>
        <a:xfrm rot="19603844">
          <a:off x="3975787" y="1108381"/>
          <a:ext cx="256449" cy="4815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2092" y="1225793"/>
        <a:ext cx="179514" cy="288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BABFD-06B2-4406-A02A-763F9BB0AE09}">
      <dsp:nvSpPr>
        <dsp:cNvPr id="0" name=""/>
        <dsp:cNvSpPr/>
      </dsp:nvSpPr>
      <dsp:spPr>
        <a:xfrm>
          <a:off x="204233" y="20522"/>
          <a:ext cx="8639321" cy="1507742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rPr>
            <a:t>Conservative </a:t>
          </a:r>
        </a:p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Long-term funds for both permanent and temporary working capital</a:t>
          </a:r>
        </a:p>
      </dsp:txBody>
      <dsp:txXfrm>
        <a:off x="248393" y="64682"/>
        <a:ext cx="7093076" cy="1419422"/>
      </dsp:txXfrm>
    </dsp:sp>
    <dsp:sp modelId="{EF0CAC88-B855-4261-B9B3-3D9ECA91E113}">
      <dsp:nvSpPr>
        <dsp:cNvPr id="0" name=""/>
        <dsp:cNvSpPr/>
      </dsp:nvSpPr>
      <dsp:spPr>
        <a:xfrm>
          <a:off x="1018924" y="1790457"/>
          <a:ext cx="8124159" cy="136416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rPr>
            <a:t>Aggressive</a:t>
          </a:r>
        </a:p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Short-term funds even for permanent working capital</a:t>
          </a:r>
        </a:p>
      </dsp:txBody>
      <dsp:txXfrm>
        <a:off x="1058879" y="1830412"/>
        <a:ext cx="6454169" cy="1284253"/>
      </dsp:txXfrm>
    </dsp:sp>
    <dsp:sp modelId="{EE97AB0D-54ED-45FB-9A58-FC5FDE3CB666}">
      <dsp:nvSpPr>
        <dsp:cNvPr id="0" name=""/>
        <dsp:cNvSpPr/>
      </dsp:nvSpPr>
      <dsp:spPr>
        <a:xfrm>
          <a:off x="1778582" y="3332853"/>
          <a:ext cx="7974094" cy="145585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rPr>
            <a:t>Moderate</a:t>
          </a:r>
        </a:p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Long-term for permanent , short-term for temporary  working capital </a:t>
          </a:r>
        </a:p>
      </dsp:txBody>
      <dsp:txXfrm>
        <a:off x="1821222" y="3375493"/>
        <a:ext cx="6328105" cy="1370573"/>
      </dsp:txXfrm>
    </dsp:sp>
    <dsp:sp modelId="{A1931478-8665-46E4-B6EA-4A79D8761278}">
      <dsp:nvSpPr>
        <dsp:cNvPr id="0" name=""/>
        <dsp:cNvSpPr/>
      </dsp:nvSpPr>
      <dsp:spPr>
        <a:xfrm>
          <a:off x="7710706" y="1096356"/>
          <a:ext cx="928614" cy="9286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19644" y="1096356"/>
        <a:ext cx="510738" cy="698782"/>
      </dsp:txXfrm>
    </dsp:sp>
    <dsp:sp modelId="{2EE723CE-2260-44CB-8978-19316735F7EA}">
      <dsp:nvSpPr>
        <dsp:cNvPr id="0" name=""/>
        <dsp:cNvSpPr/>
      </dsp:nvSpPr>
      <dsp:spPr>
        <a:xfrm>
          <a:off x="8472999" y="2753576"/>
          <a:ext cx="928614" cy="9286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81937" y="2753576"/>
        <a:ext cx="510738" cy="698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812A7-2DB0-4800-A4C0-62338CE3C59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13D4D-DEE3-4C26-A5DA-F8A062A138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0531-8866-CE69-F123-804AC88D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43305-ABC4-3342-1E6B-9E24418F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340C6-E978-C93F-2687-66D3FC3F0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74BBC-24BB-03ED-BBA9-E315ADDC2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32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91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87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10CD-A0F0-09CD-BBE6-8D15328E2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783B2-531C-CDE2-6952-C252D1047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58DC-6E5F-1542-A43C-2B91A576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B80B2-8C73-4DB0-9AC8-6BE77DB225A4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97FC-3831-7D25-7F8A-0258B905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69787-7EDE-FD60-E3C1-94829A62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8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E9F9-5BD0-96B0-7CCE-769A2A29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6D7C-9240-99BA-B2D9-A58DA37DC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F8AFF-7195-2DDD-C6E4-2E832E92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A245-0A24-42B7-AC98-5C0910331C67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5CAC-9A6E-E3BD-071F-B9BBC493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75F1-1524-C633-F996-83A54C22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5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7463-C703-7C83-F481-1F171FB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36398-278B-0F26-46A0-95420D8CC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8462-9FFE-F8F6-EA9F-591033F3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0460-FCB1-4A66-B1C5-F99C9900571F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C924-A29B-9DF0-F868-B0313557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76B4-7422-96F0-DFC8-D253C4D8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2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4E2-87CF-C6A9-6D22-21D65F99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3030-C431-D324-6B64-ABE6FB98F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2BC34-48F4-64AE-5FA5-AEE5DFB80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09FFF-5147-EDBC-06F4-00D91C30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E424-6349-4C35-83BA-02357475D75C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DB33B-DA34-5D13-C42E-4BD5B3D7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1B73-74C6-C1C4-FC05-8234EDFB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6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6A89-BF0D-7430-91CA-747F7C2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BAAD-BD01-55C3-A235-3DE3049E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3780C-C28E-071E-1B4A-3CA931C6C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11E7E-6EC7-CFC8-B292-40455F435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37407-9096-86EA-F62B-5AF86FA93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419E2-5D13-EEEB-F5B3-847DCDD3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A23C-AC1E-4836-A247-C36FFD9E7D7C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38642-616F-E4CD-69E4-7AAA6C4B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6FDD8-800E-D321-AD32-14759278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7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6973-3FF6-660F-4B74-9F301B0C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AE959-4ED9-3441-FC1B-CB015658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596C-2F88-4B75-BD73-77E0F3EF6697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624C2-DA63-3CF5-8593-64106150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58DC-B137-653D-B384-3AAE3EF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0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FCC27-F82D-D1CE-8D8A-1A61E801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DEAD2-1CE0-473C-95A8-B1691D116D90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D78C5-01D5-DB3E-064C-4B9306C6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69BA7-0F1C-2E72-BA03-1AB9DD1B4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5C3B-1B07-3630-9F64-40C15BA0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C3DB-BEE1-32ED-635C-1F5F4553A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65A6-B998-1C39-DA15-179140828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054EE-623B-CF4E-27BF-E4F28D74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4703-5572-40DE-8F00-2218DE09E7E9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C2D1A-A6DE-CC3E-FCCD-AAC339C4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EB9BD-46D3-134D-C3BA-622E110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1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C86D-63EE-0EE0-3A4C-D8EAF50D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5B702-F0EE-B99A-7A25-CBCE0F077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F97A-26E7-46B6-6C00-84A6493E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B1FB1-65B9-B799-FCF5-D8F3FAD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9B29-F3DC-49F7-869F-BBC659A30D27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B8E7F-9C69-61A4-D1B8-2306C329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20F87-3D4A-282E-D1D0-9F4C108B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8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2F3A-2D15-A9C1-2C21-1EC89EF9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5E360-0AA0-37C7-EF1C-61453E85A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38BC-DBCF-5F7F-CC6C-96AB8DCD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3DE1-FFAE-4A89-B43E-730C7815724B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BC9B-1978-64FE-3CA7-BC9A6C78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8A51-331A-0747-ED55-E8DE41F8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45994-8980-647E-96D8-EBCAE473D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471C7-7D50-10A6-01E7-A63913B2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380BA-CC99-792A-A7C9-044813B8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1C152-DDED-4C10-83F0-7BEBCD6D9DBC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7CA8-573C-65A3-AE67-9F945F0F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A430-28A1-E712-6DEA-39F66D94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9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81D37-64A1-8A98-531B-F5EF21E8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D2F2-B811-EA45-86FE-D4332858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82D5-169D-B173-CEFC-E1C1AEA8A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5F7A-78B4-4CD1-BD12-0496D47A31A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8FE4-4BA6-B9F0-D929-A503F58C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83DF-99E1-9B8D-6A08-5367ABB8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9815" y="-606817"/>
            <a:ext cx="7784123" cy="16848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Working Capital Management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085" y="3338184"/>
            <a:ext cx="9144000" cy="2864545"/>
          </a:xfrm>
        </p:spPr>
        <p:txBody>
          <a:bodyPr>
            <a:normAutofit/>
          </a:bodyPr>
          <a:lstStyle/>
          <a:p>
            <a:r>
              <a:rPr lang="en-IN" dirty="0"/>
              <a:t> 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277163"/>
            <a:ext cx="2139370" cy="20375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27F5-9875-DA9B-4973-E3F89ADD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6DDAA2-16F8-C6A3-784A-287B97C75DC4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4DA31-E815-11D7-048D-635554B68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A24E59-54B3-358A-6632-BE2CB0249812}"/>
              </a:ext>
            </a:extLst>
          </p:cNvPr>
          <p:cNvSpPr txBox="1"/>
          <p:nvPr/>
        </p:nvSpPr>
        <p:spPr>
          <a:xfrm>
            <a:off x="838200" y="897346"/>
            <a:ext cx="10169769" cy="4516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Understand the concept and importance of working capital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Differentiate between gross and net working capital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Explain the working capital cycle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Identify factors affecting working capital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Evaluate financing approaches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Apply working capital management techniques in business decisions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68341-66DE-161D-04BB-FA13C7F4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9C80-647B-2B59-4F92-E3DACD8A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FF32C3-8FA8-1E8A-1874-A94D2C742981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Capital Management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74F07-70EF-8578-2DA1-AE322FAF9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7C247-A3B4-C316-756B-4EC9B6F63895}"/>
              </a:ext>
            </a:extLst>
          </p:cNvPr>
          <p:cNvSpPr txBox="1"/>
          <p:nvPr/>
        </p:nvSpPr>
        <p:spPr>
          <a:xfrm>
            <a:off x="679938" y="939068"/>
            <a:ext cx="10328030" cy="49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Working Capital Management (WCM) involves the administration of the firm’s current assets and current liabilities to ensure sufficient liquidity for day-to-day operations while maintaining profitability.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Formula: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Working Capital = Current Assets - Current Liabilities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 firm has ₹10 lakh in current assets and ₹7 lakh in current liabilities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WC = ₹3 lakh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it healthy liquidity?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A9EF-BE45-1A2A-7CAB-BF88C38F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3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8AB8-D0A5-A308-2C50-9F399837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2E89959-13DE-8F22-E2E9-01686CA2E581}"/>
              </a:ext>
            </a:extLst>
          </p:cNvPr>
          <p:cNvSpPr/>
          <p:nvPr/>
        </p:nvSpPr>
        <p:spPr>
          <a:xfrm>
            <a:off x="679938" y="15240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of Working Capital 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9C156-EAB6-DA9B-6D4B-495B68634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D5FA4-7FA9-868E-993B-67F9B7C3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55739-A511-3F3E-DEB3-F4B53D81A699}"/>
              </a:ext>
            </a:extLst>
          </p:cNvPr>
          <p:cNvSpPr txBox="1"/>
          <p:nvPr/>
        </p:nvSpPr>
        <p:spPr>
          <a:xfrm>
            <a:off x="507556" y="1066800"/>
            <a:ext cx="5402022" cy="5944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1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Assets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Cash and Bank Balance: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Most liquid asset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Accounts Receivable: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Credit sales yet to be collected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Inventory: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Raw materials, WIP, Finished goods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Prepaid Expenses: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Rent or insurance paid in advance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Short-term Investments: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Treasury bills, commercial paper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5412E-2082-2E44-7DF7-1A84149A0889}"/>
              </a:ext>
            </a:extLst>
          </p:cNvPr>
          <p:cNvSpPr txBox="1"/>
          <p:nvPr/>
        </p:nvSpPr>
        <p:spPr>
          <a:xfrm>
            <a:off x="6096000" y="933206"/>
            <a:ext cx="4906107" cy="510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1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 Liabilities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Accounts Payable: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Suppliers awaiting payment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Outstanding Expenses: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Salaries, utilities due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Short-term Borrowings: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Bank overdraft or working capital loan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Bills Payable: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Obligations under promissory notes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54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E169DF-CBCC-DC60-4D52-9F0F9DCA61B3}"/>
              </a:ext>
            </a:extLst>
          </p:cNvPr>
          <p:cNvSpPr txBox="1"/>
          <p:nvPr/>
        </p:nvSpPr>
        <p:spPr>
          <a:xfrm>
            <a:off x="1524000" y="1194433"/>
            <a:ext cx="7998600" cy="245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Cash = ₹50,000</a:t>
            </a:r>
          </a:p>
          <a:p>
            <a:pPr algn="ctr">
              <a:lnSpc>
                <a:spcPct val="150000"/>
              </a:lnSpc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Inventory = ₹1,50,000</a:t>
            </a:r>
          </a:p>
          <a:p>
            <a:pPr algn="ctr">
              <a:lnSpc>
                <a:spcPct val="150000"/>
              </a:lnSpc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Debtors = ₹1,00,000</a:t>
            </a:r>
          </a:p>
          <a:p>
            <a:pPr algn="ctr">
              <a:lnSpc>
                <a:spcPct val="150000"/>
              </a:lnSpc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Creditors = ₹80,000</a:t>
            </a:r>
          </a:p>
          <a:p>
            <a:pPr algn="ctr">
              <a:lnSpc>
                <a:spcPct val="150000"/>
              </a:lnSpc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Short-term Loan = ₹70,000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3F0A4-2B1D-8CB5-E47F-0EF0BDB1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12CA04-762F-3106-EBAA-4994465B0802}"/>
                  </a:ext>
                </a:extLst>
              </p:cNvPr>
              <p:cNvSpPr txBox="1"/>
              <p:nvPr/>
            </p:nvSpPr>
            <p:spPr>
              <a:xfrm>
                <a:off x="1828800" y="3733800"/>
                <a:ext cx="7998600" cy="3910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Current Assets=Cash + Inventory + Debtors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>
                          <a:latin typeface="Cambria Math" panose="02040503050406030204" pitchFamily="18" charset="0"/>
                        </a:rPr>
                        <m:t>=50,000+1,50,000+1,00,000=3,00,000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Current Liabilities = Creditors + Short-term Loan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>
                          <a:latin typeface="Cambria Math" panose="02040503050406030204" pitchFamily="18" charset="0"/>
                        </a:rPr>
                        <m:t>=80,000+70,000=1,50,000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Working Capital = Current Assets−Current Liabilities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>
                          <a:latin typeface="Cambria Math" panose="02040503050406030204" pitchFamily="18" charset="0"/>
                        </a:rPr>
                        <m:t>=3,00,000−1,50,000=1,50,000</m:t>
                      </m:r>
                    </m:oMath>
                  </m:oMathPara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12CA04-762F-3106-EBAA-4994465B0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733800"/>
                <a:ext cx="7998600" cy="3910429"/>
              </a:xfrm>
              <a:prstGeom prst="rect">
                <a:avLst/>
              </a:prstGeom>
              <a:blipFill>
                <a:blip r:embed="rId2"/>
                <a:stretch>
                  <a:fillRect l="-9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142C461-A49B-3883-4552-4C1DE3380337}"/>
              </a:ext>
            </a:extLst>
          </p:cNvPr>
          <p:cNvSpPr txBox="1"/>
          <p:nvPr/>
        </p:nvSpPr>
        <p:spPr>
          <a:xfrm>
            <a:off x="914400" y="191869"/>
            <a:ext cx="10439400" cy="100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From the following information, calculate Net Working Capital and the Current Ratio of the firm.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D5A2A-B1FC-1581-4076-D0EF053C4B6B}"/>
              </a:ext>
            </a:extLst>
          </p:cNvPr>
          <p:cNvSpPr/>
          <p:nvPr/>
        </p:nvSpPr>
        <p:spPr>
          <a:xfrm>
            <a:off x="679938" y="15240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Working Capital 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46821D-1659-1BF4-E3DB-46DB9A10D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A09F3-BDAA-926A-17AB-E01384EB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BF1DB-1E9F-AF9C-617D-DDD18B6DE197}"/>
              </a:ext>
            </a:extLst>
          </p:cNvPr>
          <p:cNvSpPr txBox="1"/>
          <p:nvPr/>
        </p:nvSpPr>
        <p:spPr>
          <a:xfrm>
            <a:off x="679938" y="1066800"/>
            <a:ext cx="10328032" cy="451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Key Importance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Ensures uninterrupted production &amp; sales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Maintains adequate liquidity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Enhances creditworthiness with suppliers &amp; banks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Helps achieve operational efficiency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Reduces risk of financial distress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Improves stakeholder confidence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BC9671-C1FF-9966-1588-EEFCD983E1D0}"/>
              </a:ext>
            </a:extLst>
          </p:cNvPr>
          <p:cNvSpPr/>
          <p:nvPr/>
        </p:nvSpPr>
        <p:spPr>
          <a:xfrm>
            <a:off x="762000" y="15240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Working Capital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09700-7755-74D4-7681-C7D00A5A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01095-894C-6F9E-0253-1ADB0C4B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C0AC090-92C9-8DAF-08EB-98E55BDA57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512395"/>
              </p:ext>
            </p:extLst>
          </p:nvPr>
        </p:nvGraphicFramePr>
        <p:xfrm>
          <a:off x="761999" y="1050924"/>
          <a:ext cx="10328031" cy="5426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255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D4133-785D-7C3E-E7F0-921EC79A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38D62C-69DD-0087-D2D8-A14CB8A1DBE1}"/>
              </a:ext>
            </a:extLst>
          </p:cNvPr>
          <p:cNvSpPr/>
          <p:nvPr/>
        </p:nvSpPr>
        <p:spPr>
          <a:xfrm>
            <a:off x="873369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Capital Cycle(WCC)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48B3C-8E64-0E73-D9B6-7264E43A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789F0-6D89-4CAC-6CAB-AFA1364B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F59BEF-49D9-3E1A-1673-7D64F7203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2217053"/>
              </p:ext>
            </p:extLst>
          </p:nvPr>
        </p:nvGraphicFramePr>
        <p:xfrm>
          <a:off x="533400" y="1006475"/>
          <a:ext cx="10163908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6756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938" y="652379"/>
            <a:ext cx="9530862" cy="5105400"/>
          </a:xfrm>
        </p:spPr>
        <p:txBody>
          <a:bodyPr>
            <a:noAutofit/>
          </a:bodyPr>
          <a:lstStyle/>
          <a:p>
            <a:pPr marL="619125" indent="-619125" algn="just" eaLnBrk="1" hangingPunct="1">
              <a:lnSpc>
                <a:spcPct val="150000"/>
              </a:lnSpc>
              <a:buSzPct val="85000"/>
              <a:buFont typeface="Wingdings" panose="05000000000000000000" pitchFamily="2" charset="2"/>
              <a:buAutoNum type="romanLcPeriod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16498-8536-B8A1-9D9E-F3DC2DAA8DCD}"/>
              </a:ext>
            </a:extLst>
          </p:cNvPr>
          <p:cNvSpPr/>
          <p:nvPr/>
        </p:nvSpPr>
        <p:spPr>
          <a:xfrm>
            <a:off x="611729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Affecting Working Capital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CBD7D-2930-198A-D205-D84A0606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DEBF-6ECF-AD44-42FA-25769A38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19D1DB-9A81-4B88-0633-C40A698FE727}"/>
              </a:ext>
            </a:extLst>
          </p:cNvPr>
          <p:cNvSpPr txBox="1">
            <a:spLocks/>
          </p:cNvSpPr>
          <p:nvPr/>
        </p:nvSpPr>
        <p:spPr>
          <a:xfrm>
            <a:off x="794769" y="996949"/>
            <a:ext cx="10328031" cy="5137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Nature of Business: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Manufacturing needs more WC than service firms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Production Cycle: 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Longer cycles → higher WC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Business Seasonality: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Seasonal firms  need variable WC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Credit Policy: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More credit to customers → higher WC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Inventory Policy: 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High stock → more WC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Operating Efficiency: 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Efficient operations → less WC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Inflation: 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Increases WC needs</a:t>
            </a: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734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9F35DC-216D-D108-A264-6D99E9A0E0A0}"/>
              </a:ext>
            </a:extLst>
          </p:cNvPr>
          <p:cNvSpPr/>
          <p:nvPr/>
        </p:nvSpPr>
        <p:spPr>
          <a:xfrm>
            <a:off x="582422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Approaches to Financing Working Capital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0F88E7-CFE1-8138-C32E-E5690CE98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22666-1702-6692-8A5A-84951659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D9A706B-F3A4-8B0D-8BCE-0CF17B8CB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42995"/>
              </p:ext>
            </p:extLst>
          </p:nvPr>
        </p:nvGraphicFramePr>
        <p:xfrm>
          <a:off x="1014046" y="1066800"/>
          <a:ext cx="10163908" cy="4762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453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7C42-FA46-899A-4B1F-7B686942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E5202E-5813-DED9-A806-71411E46EABD}"/>
              </a:ext>
            </a:extLst>
          </p:cNvPr>
          <p:cNvSpPr/>
          <p:nvPr/>
        </p:nvSpPr>
        <p:spPr>
          <a:xfrm>
            <a:off x="794769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 Due to Poor WCM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F56B1E-3521-F3DF-C1E5-A67946C0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B683A-C660-3E4E-34F8-EEAE68F93F78}"/>
              </a:ext>
            </a:extLst>
          </p:cNvPr>
          <p:cNvSpPr txBox="1"/>
          <p:nvPr/>
        </p:nvSpPr>
        <p:spPr>
          <a:xfrm>
            <a:off x="1447800" y="1371600"/>
            <a:ext cx="6092456" cy="2577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Stock-outs or overstocking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Delayed payments or credit losses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Low profitability or idle funds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Financial instability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0B6A-76BC-EBCE-77D3-2A211C40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7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62E726-6FF5-CC66-3F62-58D46BC7C9C4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to Improve Working Capital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14190A-FA61-61FC-FAC9-BFC99784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59EBD1-FB42-DF9A-B1A3-329CB7FB8C9F}"/>
              </a:ext>
            </a:extLst>
          </p:cNvPr>
          <p:cNvSpPr txBox="1"/>
          <p:nvPr/>
        </p:nvSpPr>
        <p:spPr>
          <a:xfrm>
            <a:off x="762000" y="1219200"/>
            <a:ext cx="6092456" cy="3223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Speed up receivables collection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Optimise inventory levels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Negotiate better credit terms with suppliers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Improve cash flow forecasting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 short-term financing wisely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4D078-D5EB-03FD-82C3-605E9F4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24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4A02-F311-9F7C-3133-31AD8381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4157F-4F04-5CA9-BAE6-F31EDB71362B}"/>
              </a:ext>
            </a:extLst>
          </p:cNvPr>
          <p:cNvSpPr txBox="1"/>
          <p:nvPr/>
        </p:nvSpPr>
        <p:spPr>
          <a:xfrm>
            <a:off x="1943100" y="2667000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5B88A-821C-A2A7-9A0B-3BF0DE7B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6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2405</TotalTime>
  <Words>545</Words>
  <Application>Microsoft Office PowerPoint</Application>
  <PresentationFormat>Widescreen</PresentationFormat>
  <Paragraphs>114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Working Capital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 .C .Sahu</dc:creator>
  <cp:lastModifiedBy>alivaparida2024@gmail.com</cp:lastModifiedBy>
  <cp:revision>154</cp:revision>
  <dcterms:created xsi:type="dcterms:W3CDTF">2006-08-16T00:00:00Z</dcterms:created>
  <dcterms:modified xsi:type="dcterms:W3CDTF">2025-10-21T08:40:46Z</dcterms:modified>
</cp:coreProperties>
</file>