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80" r:id="rId4"/>
  </p:sldMasterIdLst>
  <p:notesMasterIdLst>
    <p:notesMasterId r:id="rId10"/>
  </p:notesMasterIdLst>
  <p:sldIdLst>
    <p:sldId id="1007" r:id="rId5"/>
    <p:sldId id="904" r:id="rId6"/>
    <p:sldId id="902" r:id="rId7"/>
    <p:sldId id="903" r:id="rId8"/>
    <p:sldId id="966" r:id="rId9"/>
    <p:sldId id="861" r:id="rId11"/>
    <p:sldId id="862" r:id="rId12"/>
    <p:sldId id="863" r:id="rId13"/>
    <p:sldId id="864" r:id="rId14"/>
    <p:sldId id="865" r:id="rId15"/>
    <p:sldId id="941" r:id="rId16"/>
    <p:sldId id="901" r:id="rId17"/>
    <p:sldId id="866" r:id="rId18"/>
    <p:sldId id="942" r:id="rId19"/>
    <p:sldId id="854" r:id="rId20"/>
    <p:sldId id="837" r:id="rId21"/>
    <p:sldId id="838" r:id="rId22"/>
    <p:sldId id="839" r:id="rId23"/>
    <p:sldId id="840" r:id="rId24"/>
    <p:sldId id="841" r:id="rId25"/>
    <p:sldId id="842" r:id="rId26"/>
    <p:sldId id="843" r:id="rId27"/>
    <p:sldId id="845" r:id="rId28"/>
    <p:sldId id="846" r:id="rId29"/>
    <p:sldId id="844" r:id="rId30"/>
    <p:sldId id="847" r:id="rId31"/>
    <p:sldId id="848" r:id="rId32"/>
    <p:sldId id="849" r:id="rId33"/>
    <p:sldId id="1000" r:id="rId34"/>
    <p:sldId id="850" r:id="rId35"/>
    <p:sldId id="1001" r:id="rId36"/>
    <p:sldId id="836" r:id="rId37"/>
    <p:sldId id="700" r:id="rId38"/>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99"/>
    <a:srgbClr val="000000"/>
    <a:srgbClr val="003399"/>
    <a:srgbClr val="1DCB05"/>
    <a:srgbClr val="0066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41"/>
    <p:restoredTop sz="91218"/>
  </p:normalViewPr>
  <p:slideViewPr>
    <p:cSldViewPr showGuides="1">
      <p:cViewPr varScale="1">
        <p:scale>
          <a:sx n="62" d="100"/>
          <a:sy n="62" d="100"/>
        </p:scale>
        <p:origin x="1548" y="78"/>
      </p:cViewPr>
      <p:guideLst>
        <p:guide orient="horz" pos="2160"/>
        <p:guide pos="2880"/>
      </p:guideLst>
    </p:cSldViewPr>
  </p:slideViewPr>
  <p:outlineViewPr>
    <p:cViewPr>
      <p:scale>
        <a:sx n="33" d="100"/>
        <a:sy n="33" d="100"/>
      </p:scale>
      <p:origin x="0" y="6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523E301E-0CDC-4FBE-995D-63A9F448B894}"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en-IN" altLang="en-US" sz="1200" dirty="0">
                <a:latin typeface="Calibri" panose="020F0502020204030204" pitchFamily="34" charset="0"/>
              </a:rPr>
            </a:fld>
            <a:endParaRPr lang="en-IN"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Slide Image Placeholder 1"/>
          <p:cNvSpPr>
            <a:spLocks noGrp="1" noRot="1" noChangeAspect="1" noTextEdit="1"/>
          </p:cNvSpPr>
          <p:nvPr>
            <p:ph type="sldImg"/>
          </p:nvPr>
        </p:nvSpPr>
        <p:spPr>
          <a:ln>
            <a:solidFill>
              <a:srgbClr val="000000">
                <a:alpha val="100000"/>
              </a:srgbClr>
            </a:solidFill>
            <a:miter lim="800000"/>
          </a:ln>
        </p:spPr>
      </p:sp>
      <p:sp>
        <p:nvSpPr>
          <p:cNvPr id="32771" name="Notes Placeholder 2"/>
          <p:cNvSpPr>
            <a:spLocks noGrp="1"/>
          </p:cNvSpPr>
          <p:nvPr>
            <p:ph type="body" idx="1"/>
          </p:nvPr>
        </p:nvSpPr>
        <p:spPr bwMode="auto"/>
        <p:txBody>
          <a:bodyPr wrap="square" lIns="91440" tIns="45720" rIns="91440" bIns="45720" numCol="1" rtlCol="0"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IN" sz="1100" b="0" i="0" u="none" strike="noStrike" kern="1200" cap="none" spc="0" normalizeH="0" baseline="0" noProof="0" dirty="0">
                <a:ln>
                  <a:noFill/>
                </a:ln>
                <a:solidFill>
                  <a:schemeClr val="tx1"/>
                </a:solidFill>
                <a:effectLst/>
                <a:uLnTx/>
                <a:uFillTx/>
                <a:latin typeface="+mn-lt"/>
                <a:ea typeface="+mn-ea"/>
                <a:cs typeface="+mn-cs"/>
              </a:rPr>
              <a:t>Economists therefore study </a:t>
            </a:r>
            <a:r>
              <a:rPr kumimoji="0" lang="en-IN" sz="1100" b="1" i="0" u="none" strike="noStrike" kern="1200" cap="none" spc="0" normalizeH="0" baseline="0" noProof="0" dirty="0">
                <a:ln>
                  <a:noFill/>
                </a:ln>
                <a:solidFill>
                  <a:schemeClr val="tx1"/>
                </a:solidFill>
                <a:effectLst/>
                <a:uLnTx/>
                <a:uFillTx/>
                <a:latin typeface="+mn-lt"/>
                <a:ea typeface="+mn-ea"/>
                <a:cs typeface="+mn-cs"/>
              </a:rPr>
              <a:t>how people make decisions</a:t>
            </a:r>
            <a:r>
              <a:rPr kumimoji="0" lang="en-IN" sz="1100" b="0" i="0" u="none" strike="noStrike" kern="1200" cap="none" spc="0" normalizeH="0" baseline="0" noProof="0" dirty="0">
                <a:ln>
                  <a:noFill/>
                </a:ln>
                <a:solidFill>
                  <a:schemeClr val="tx1"/>
                </a:solidFill>
                <a:effectLst/>
                <a:uLnTx/>
                <a:uFillTx/>
                <a:latin typeface="+mn-lt"/>
                <a:ea typeface="+mn-ea"/>
                <a:cs typeface="+mn-cs"/>
              </a:rPr>
              <a:t>: how much they work, what they buy, how much they save, and how they invest their savings.</a:t>
            </a:r>
            <a:endParaRPr kumimoji="0" lang="en-IN" sz="11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en-IN" sz="1200" b="0" i="0" u="none" strike="noStrike" kern="1200" cap="none" spc="0" normalizeH="0" baseline="0" noProof="0" dirty="0">
                <a:ln>
                  <a:noFill/>
                </a:ln>
                <a:solidFill>
                  <a:schemeClr val="tx1"/>
                </a:solidFill>
                <a:effectLst/>
                <a:uLnTx/>
                <a:uFillTx/>
                <a:latin typeface="+mn-lt"/>
                <a:ea typeface="+mn-ea"/>
                <a:cs typeface="+mn-cs"/>
              </a:rPr>
              <a:t>Economists also study </a:t>
            </a:r>
            <a:r>
              <a:rPr kumimoji="0" lang="en-IN" sz="1200" b="1" i="0" u="none" strike="noStrike" kern="1200" cap="none" spc="0" normalizeH="0" baseline="0" noProof="0" dirty="0">
                <a:ln>
                  <a:noFill/>
                </a:ln>
                <a:solidFill>
                  <a:schemeClr val="tx1"/>
                </a:solidFill>
                <a:effectLst/>
                <a:uLnTx/>
                <a:uFillTx/>
                <a:latin typeface="+mn-lt"/>
                <a:ea typeface="+mn-ea"/>
                <a:cs typeface="+mn-cs"/>
              </a:rPr>
              <a:t>how people interact with one another</a:t>
            </a:r>
            <a:r>
              <a:rPr kumimoji="0" lang="en-IN" sz="1200" b="0" i="0" u="none" strike="noStrike" kern="1200" cap="none" spc="0" normalizeH="0" baseline="0" noProof="0" dirty="0">
                <a:ln>
                  <a:noFill/>
                </a:ln>
                <a:solidFill>
                  <a:schemeClr val="tx1"/>
                </a:solidFill>
                <a:effectLst/>
                <a:uLnTx/>
                <a:uFillTx/>
                <a:latin typeface="+mn-lt"/>
                <a:ea typeface="+mn-ea"/>
                <a:cs typeface="+mn-cs"/>
              </a:rPr>
              <a:t>. For instance, they examine how the multitude of buyers and sellers of a good together determine the price at which the good is sold and the quantity that is sold. Finally, economists analyze </a:t>
            </a:r>
            <a:r>
              <a:rPr kumimoji="0" lang="en-IN" sz="1200" b="1" i="0" u="none" strike="noStrike" kern="1200" cap="none" spc="0" normalizeH="0" baseline="0" noProof="0" dirty="0">
                <a:ln>
                  <a:noFill/>
                </a:ln>
                <a:solidFill>
                  <a:schemeClr val="tx1"/>
                </a:solidFill>
                <a:effectLst/>
                <a:uLnTx/>
                <a:uFillTx/>
                <a:latin typeface="+mn-lt"/>
                <a:ea typeface="+mn-ea"/>
                <a:cs typeface="+mn-cs"/>
              </a:rPr>
              <a:t>forces and trends that affect the economy </a:t>
            </a:r>
            <a:r>
              <a:rPr kumimoji="0" lang="en-IN" sz="1200" b="0" i="0" u="none" strike="noStrike" kern="1200" cap="none" spc="0" normalizeH="0" baseline="0" noProof="0" dirty="0">
                <a:ln>
                  <a:noFill/>
                </a:ln>
                <a:solidFill>
                  <a:schemeClr val="tx1"/>
                </a:solidFill>
                <a:effectLst/>
                <a:uLnTx/>
                <a:uFillTx/>
                <a:latin typeface="+mn-lt"/>
                <a:ea typeface="+mn-ea"/>
                <a:cs typeface="+mn-cs"/>
              </a:rPr>
              <a:t>as a whole, including the </a:t>
            </a:r>
            <a:r>
              <a:rPr kumimoji="0" lang="en-IN" sz="1200" b="1" i="0" u="none" strike="noStrike" kern="1200" cap="none" spc="0" normalizeH="0" baseline="0" noProof="0" dirty="0">
                <a:ln>
                  <a:noFill/>
                </a:ln>
                <a:solidFill>
                  <a:schemeClr val="tx1"/>
                </a:solidFill>
                <a:effectLst/>
                <a:uLnTx/>
                <a:uFillTx/>
                <a:latin typeface="+mn-lt"/>
                <a:ea typeface="+mn-ea"/>
                <a:cs typeface="+mn-cs"/>
              </a:rPr>
              <a:t>growth in average income</a:t>
            </a:r>
            <a:r>
              <a:rPr kumimoji="0" lang="en-IN" sz="1200" b="0" i="0" u="none" strike="noStrike" kern="1200" cap="none" spc="0" normalizeH="0" baseline="0" noProof="0" dirty="0">
                <a:ln>
                  <a:noFill/>
                </a:ln>
                <a:solidFill>
                  <a:schemeClr val="tx1"/>
                </a:solidFill>
                <a:effectLst/>
                <a:uLnTx/>
                <a:uFillTx/>
                <a:latin typeface="+mn-lt"/>
                <a:ea typeface="+mn-ea"/>
                <a:cs typeface="+mn-cs"/>
              </a:rPr>
              <a:t>, the </a:t>
            </a:r>
            <a:r>
              <a:rPr kumimoji="0" lang="en-IN" sz="1200" b="1" i="0" u="none" strike="noStrike" kern="1200" cap="none" spc="0" normalizeH="0" baseline="0" noProof="0" dirty="0">
                <a:ln>
                  <a:noFill/>
                </a:ln>
                <a:solidFill>
                  <a:schemeClr val="tx1"/>
                </a:solidFill>
                <a:effectLst/>
                <a:uLnTx/>
                <a:uFillTx/>
                <a:latin typeface="+mn-lt"/>
                <a:ea typeface="+mn-ea"/>
                <a:cs typeface="+mn-cs"/>
              </a:rPr>
              <a:t>fraction of the population that cannot find work</a:t>
            </a:r>
            <a:r>
              <a:rPr kumimoji="0" lang="en-IN" sz="1200" b="0" i="0" u="none" strike="noStrike" kern="1200" cap="none" spc="0" normalizeH="0" baseline="0" noProof="0" dirty="0">
                <a:ln>
                  <a:noFill/>
                </a:ln>
                <a:solidFill>
                  <a:schemeClr val="tx1"/>
                </a:solidFill>
                <a:effectLst/>
                <a:uLnTx/>
                <a:uFillTx/>
                <a:latin typeface="+mn-lt"/>
                <a:ea typeface="+mn-ea"/>
                <a:cs typeface="+mn-cs"/>
              </a:rPr>
              <a:t>, and the </a:t>
            </a:r>
            <a:r>
              <a:rPr kumimoji="0" lang="en-IN" sz="1200" b="1" i="0" u="none" strike="noStrike" kern="1200" cap="none" spc="0" normalizeH="0" baseline="0" noProof="0" dirty="0">
                <a:ln>
                  <a:noFill/>
                </a:ln>
                <a:solidFill>
                  <a:schemeClr val="tx1"/>
                </a:solidFill>
                <a:effectLst/>
                <a:uLnTx/>
                <a:uFillTx/>
                <a:latin typeface="+mn-lt"/>
                <a:ea typeface="+mn-ea"/>
                <a:cs typeface="+mn-cs"/>
              </a:rPr>
              <a:t>rate at which prices are rising</a:t>
            </a:r>
            <a:r>
              <a:rPr kumimoji="0" lang="en-IN" sz="1200" b="0" i="0" u="none" strike="noStrike" kern="1200" cap="none" spc="0" normalizeH="0" baseline="0" noProof="0" dirty="0">
                <a:ln>
                  <a:noFill/>
                </a:ln>
                <a:solidFill>
                  <a:schemeClr val="tx1"/>
                </a:solidFill>
                <a:effectLst/>
                <a:uLnTx/>
                <a:uFillTx/>
                <a:latin typeface="+mn-lt"/>
                <a:ea typeface="+mn-ea"/>
                <a:cs typeface="+mn-cs"/>
              </a:rPr>
              <a:t>. </a:t>
            </a:r>
            <a:endParaRPr kumimoji="0" lang="en-IN" sz="1050" b="0" i="0" u="none" strike="noStrike" kern="1200" cap="none" spc="0" normalizeH="0" baseline="0" noProof="0" dirty="0">
              <a:ln>
                <a:noFill/>
              </a:ln>
              <a:solidFill>
                <a:schemeClr val="tx1"/>
              </a:solidFill>
              <a:effectLst/>
              <a:uLnTx/>
              <a:uFillTx/>
              <a:latin typeface="+mn-lt"/>
              <a:ea typeface="+mn-ea"/>
              <a:cs typeface="+mn-cs"/>
            </a:endParaRPr>
          </a:p>
        </p:txBody>
      </p:sp>
      <p:sp>
        <p:nvSpPr>
          <p:cNvPr id="3686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Slide Image Placeholder 1"/>
          <p:cNvSpPr>
            <a:spLocks noGrp="1" noRot="1" noChangeAspect="1" noTextEdit="1"/>
          </p:cNvSpPr>
          <p:nvPr>
            <p:ph type="sldImg"/>
          </p:nvPr>
        </p:nvSpPr>
        <p:spPr>
          <a:ln>
            <a:solidFill>
              <a:srgbClr val="000000">
                <a:alpha val="100000"/>
              </a:srgbClr>
            </a:solidFill>
            <a:miter lim="800000"/>
          </a:ln>
        </p:spPr>
      </p:sp>
      <p:sp>
        <p:nvSpPr>
          <p:cNvPr id="40963" name="Notes Placeholder 2"/>
          <p:cNvSpPr>
            <a:spLocks noGrp="1"/>
          </p:cNvSpPr>
          <p:nvPr>
            <p:ph type="body" idx="1"/>
          </p:nvPr>
        </p:nvSpPr>
        <p:spPr>
          <a:noFill/>
          <a:ln>
            <a:noFill/>
          </a:ln>
        </p:spPr>
        <p:txBody>
          <a:bodyPr wrap="square" lIns="91440" tIns="45720" rIns="91440" bIns="45720" anchor="t"/>
          <a:p>
            <a:pPr lvl="0"/>
            <a:r>
              <a:rPr lang="en-IN" altLang="en-US" dirty="0"/>
              <a:t>The study of economics has many facets, but it is unified by several central ideas. Don't worry if you don't understand them all at first or if you aren’t completely convinced. We will explore these ideas more fully in later chapters. Consider these central ideas as “preview of coming attractions”. </a:t>
            </a:r>
            <a:endParaRPr lang="en-IN" altLang="en-US" sz="1100" dirty="0"/>
          </a:p>
        </p:txBody>
      </p:sp>
      <p:sp>
        <p:nvSpPr>
          <p:cNvPr id="4096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Grp="1" noRot="1" noChangeAspect="1" noTextEdit="1"/>
          </p:cNvSpPr>
          <p:nvPr>
            <p:ph type="sldImg"/>
          </p:nvPr>
        </p:nvSpPr>
        <p:spPr>
          <a:ln>
            <a:solidFill>
              <a:srgbClr val="000000">
                <a:alpha val="100000"/>
              </a:srgbClr>
            </a:solidFill>
            <a:miter lim="800000"/>
          </a:ln>
        </p:spPr>
      </p:sp>
      <p:sp>
        <p:nvSpPr>
          <p:cNvPr id="43011"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4301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Slide Image Placeholder 1"/>
          <p:cNvSpPr>
            <a:spLocks noGrp="1" noRot="1" noChangeAspect="1" noTextEdit="1"/>
          </p:cNvSpPr>
          <p:nvPr>
            <p:ph type="sldImg"/>
          </p:nvPr>
        </p:nvSpPr>
        <p:spPr>
          <a:ln>
            <a:solidFill>
              <a:srgbClr val="000000">
                <a:alpha val="100000"/>
              </a:srgbClr>
            </a:solidFill>
            <a:miter lim="800000"/>
          </a:ln>
        </p:spPr>
      </p:sp>
      <p:sp>
        <p:nvSpPr>
          <p:cNvPr id="45059" name="Notes Placeholder 2"/>
          <p:cNvSpPr>
            <a:spLocks noGrp="1"/>
          </p:cNvSpPr>
          <p:nvPr>
            <p:ph type="body" idx="1"/>
          </p:nvPr>
        </p:nvSpPr>
        <p:spPr>
          <a:noFill/>
          <a:ln>
            <a:noFill/>
          </a:ln>
        </p:spPr>
        <p:txBody>
          <a:bodyPr wrap="square" lIns="91440" tIns="45720" rIns="91440" bIns="45720" anchor="t"/>
          <a:p>
            <a:pPr lvl="0"/>
            <a:r>
              <a:rPr lang="en-IN" altLang="en-US" sz="1100" dirty="0"/>
              <a:t>Telangana CM K. Chandrashekhar Rao has announced a new scheme for unemployed youth of the state named TS Nirudyoga Bruthi.  Under this scheme, he announced to provide an amount of </a:t>
            </a:r>
            <a:r>
              <a:rPr lang="en-IN" altLang="en-US" sz="1100" b="1" dirty="0"/>
              <a:t>Rs.3016/- per month </a:t>
            </a:r>
            <a:r>
              <a:rPr lang="en-IN" altLang="en-US" sz="1100" dirty="0"/>
              <a:t>as an unemployment allowance to the unemployed youth of the state. The same scheme is already running in the state of Andhra Pradesh by the name of </a:t>
            </a:r>
            <a:r>
              <a:rPr lang="en-IN" altLang="en-US" sz="1100" b="1" dirty="0"/>
              <a:t>AP Yuva Neshtam Scheme</a:t>
            </a:r>
            <a:r>
              <a:rPr lang="en-IN" altLang="en-US" sz="1100" dirty="0"/>
              <a:t>. </a:t>
            </a:r>
            <a:endParaRPr lang="en-IN" altLang="en-US" sz="1100" dirty="0"/>
          </a:p>
        </p:txBody>
      </p:sp>
      <p:sp>
        <p:nvSpPr>
          <p:cNvPr id="45060"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4710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Slide Image Placeholder 1"/>
          <p:cNvSpPr>
            <a:spLocks noGrp="1" noRot="1" noChangeAspect="1" noTextEdit="1"/>
          </p:cNvSpPr>
          <p:nvPr>
            <p:ph type="sldImg"/>
          </p:nvPr>
        </p:nvSpPr>
        <p:spPr>
          <a:ln>
            <a:solidFill>
              <a:srgbClr val="000000">
                <a:alpha val="100000"/>
              </a:srgbClr>
            </a:solidFill>
            <a:miter lim="800000"/>
          </a:ln>
        </p:spPr>
      </p:sp>
      <p:sp>
        <p:nvSpPr>
          <p:cNvPr id="32771" name="Notes Placeholder 2"/>
          <p:cNvSpPr>
            <a:spLocks noGrp="1"/>
          </p:cNvSpPr>
          <p:nvPr>
            <p:ph type="body" idx="1"/>
          </p:nvPr>
        </p:nvSpPr>
        <p:spPr bwMode="auto"/>
        <p:txBody>
          <a:bodyPr wrap="square" lIns="91440" tIns="45720" rIns="91440" bIns="45720" numCol="1" rtlCol="0"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IN" sz="1100" b="0" i="0" u="none" strike="noStrike" kern="1200" cap="none" spc="0" normalizeH="0" baseline="0" noProof="0" dirty="0">
                <a:ln>
                  <a:noFill/>
                </a:ln>
                <a:solidFill>
                  <a:schemeClr val="tx1"/>
                </a:solidFill>
                <a:effectLst/>
                <a:uLnTx/>
                <a:uFillTx/>
                <a:latin typeface="+mn-lt"/>
                <a:ea typeface="+mn-ea"/>
                <a:cs typeface="+mn-cs"/>
              </a:rPr>
              <a:t>College athletes who can earn millions if they drop out of school and play professional sports are well aware that their opportunity cost of college is very high. It is not surprising that they often decide that the benefit of a college education is not worth the cost.</a:t>
            </a:r>
            <a:endParaRPr kumimoji="0" lang="en-IN" sz="1050" b="0" i="0" u="none" strike="noStrike" kern="1200" cap="none" spc="0" normalizeH="0" baseline="0" noProof="0" dirty="0">
              <a:ln>
                <a:noFill/>
              </a:ln>
              <a:solidFill>
                <a:schemeClr val="tx1"/>
              </a:solidFill>
              <a:effectLst/>
              <a:uLnTx/>
              <a:uFillTx/>
              <a:latin typeface="+mn-lt"/>
              <a:ea typeface="+mn-ea"/>
              <a:cs typeface="+mn-cs"/>
            </a:endParaRPr>
          </a:p>
        </p:txBody>
      </p:sp>
      <p:sp>
        <p:nvSpPr>
          <p:cNvPr id="4915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Slide Image Placeholder 1"/>
          <p:cNvSpPr>
            <a:spLocks noGrp="1" noRot="1" noChangeAspect="1" noTextEdit="1"/>
          </p:cNvSpPr>
          <p:nvPr>
            <p:ph type="sldImg"/>
          </p:nvPr>
        </p:nvSpPr>
        <p:spPr>
          <a:ln>
            <a:solidFill>
              <a:srgbClr val="000000">
                <a:alpha val="100000"/>
              </a:srgbClr>
            </a:solidFill>
            <a:miter lim="800000"/>
          </a:ln>
        </p:spPr>
      </p:sp>
      <p:sp>
        <p:nvSpPr>
          <p:cNvPr id="32771" name="Notes Placeholder 2"/>
          <p:cNvSpPr>
            <a:spLocks noGrp="1"/>
          </p:cNvSpPr>
          <p:nvPr>
            <p:ph type="body" idx="1"/>
          </p:nvPr>
        </p:nvSpPr>
        <p:spPr bwMode="auto"/>
        <p:txBody>
          <a:bodyPr wrap="square" lIns="91440" tIns="45720" rIns="91440" bIns="45720" numCol="1" rtlCol="0"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050" b="0" i="0" u="none" strike="noStrike" kern="1200" cap="none" spc="0" normalizeH="0" baseline="0" noProof="0" dirty="0">
              <a:ln>
                <a:noFill/>
              </a:ln>
              <a:solidFill>
                <a:schemeClr val="tx1"/>
              </a:solidFill>
              <a:effectLst/>
              <a:uLnTx/>
              <a:uFillTx/>
              <a:latin typeface="+mn-lt"/>
              <a:ea typeface="+mn-ea"/>
              <a:cs typeface="+mn-cs"/>
            </a:endParaRPr>
          </a:p>
        </p:txBody>
      </p:sp>
      <p:sp>
        <p:nvSpPr>
          <p:cNvPr id="4915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Slide Image Placeholder 1"/>
          <p:cNvSpPr>
            <a:spLocks noGrp="1" noRot="1" noChangeAspect="1" noTextEdit="1"/>
          </p:cNvSpPr>
          <p:nvPr>
            <p:ph type="sldImg"/>
          </p:nvPr>
        </p:nvSpPr>
        <p:spPr>
          <a:ln>
            <a:solidFill>
              <a:srgbClr val="000000">
                <a:alpha val="100000"/>
              </a:srgbClr>
            </a:solidFill>
            <a:miter lim="800000"/>
          </a:ln>
        </p:spPr>
      </p:sp>
      <p:sp>
        <p:nvSpPr>
          <p:cNvPr id="55299"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55300"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Slide Image Placeholder 1"/>
          <p:cNvSpPr>
            <a:spLocks noGrp="1" noRot="1" noChangeAspect="1" noTextEdit="1"/>
          </p:cNvSpPr>
          <p:nvPr>
            <p:ph type="sldImg"/>
          </p:nvPr>
        </p:nvSpPr>
        <p:spPr>
          <a:ln>
            <a:solidFill>
              <a:srgbClr val="000000">
                <a:alpha val="100000"/>
              </a:srgbClr>
            </a:solidFill>
            <a:miter lim="800000"/>
          </a:ln>
        </p:spPr>
      </p:sp>
      <p:sp>
        <p:nvSpPr>
          <p:cNvPr id="51203" name="Notes Placeholder 2"/>
          <p:cNvSpPr>
            <a:spLocks noGrp="1"/>
          </p:cNvSpPr>
          <p:nvPr>
            <p:ph type="body" idx="1"/>
          </p:nvPr>
        </p:nvSpPr>
        <p:spPr>
          <a:noFill/>
          <a:ln>
            <a:noFill/>
          </a:ln>
        </p:spPr>
        <p:txBody>
          <a:bodyPr wrap="square" lIns="91440" tIns="45720" rIns="91440" bIns="45720" anchor="t"/>
          <a:p>
            <a:pPr lvl="0"/>
            <a:r>
              <a:rPr lang="en-IN" altLang="en-US" sz="1100" dirty="0"/>
              <a:t>Economists normally assume that people are rational. </a:t>
            </a:r>
            <a:r>
              <a:rPr lang="en-IN" altLang="en-US" sz="1100" b="1" dirty="0"/>
              <a:t>Rational people </a:t>
            </a:r>
            <a:r>
              <a:rPr lang="en-IN" altLang="en-US" sz="1100" dirty="0"/>
              <a:t>systematically and purposefully do the best they can to achieve their objectives, given the available opportunities. </a:t>
            </a:r>
            <a:r>
              <a:rPr lang="en-IN" altLang="en-US" dirty="0"/>
              <a:t>Keep in mind that Margin means “edge,” so marginal changes are adjustments around the edges of what you are doing.  Rational people often make decisions by comparing marginal benefits and marginal costs. </a:t>
            </a:r>
            <a:r>
              <a:rPr lang="en-US" altLang="en-US" dirty="0"/>
              <a:t>Water-Diamond paradox.</a:t>
            </a:r>
            <a:endParaRPr lang="en-IN" altLang="en-US" sz="1100" dirty="0"/>
          </a:p>
        </p:txBody>
      </p:sp>
      <p:sp>
        <p:nvSpPr>
          <p:cNvPr id="5120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Slide Image Placeholder 1"/>
          <p:cNvSpPr>
            <a:spLocks noGrp="1" noRot="1" noChangeAspect="1" noTextEdit="1"/>
          </p:cNvSpPr>
          <p:nvPr>
            <p:ph type="sldImg"/>
          </p:nvPr>
        </p:nvSpPr>
        <p:spPr>
          <a:ln>
            <a:solidFill>
              <a:srgbClr val="000000">
                <a:alpha val="100000"/>
              </a:srgbClr>
            </a:solidFill>
            <a:miter lim="800000"/>
          </a:ln>
        </p:spPr>
      </p:sp>
      <p:sp>
        <p:nvSpPr>
          <p:cNvPr id="51203" name="Notes Placeholder 2"/>
          <p:cNvSpPr>
            <a:spLocks noGrp="1"/>
          </p:cNvSpPr>
          <p:nvPr>
            <p:ph type="body" idx="1"/>
          </p:nvPr>
        </p:nvSpPr>
        <p:spPr>
          <a:noFill/>
          <a:ln>
            <a:noFill/>
          </a:ln>
        </p:spPr>
        <p:txBody>
          <a:bodyPr wrap="square" lIns="91440" tIns="45720" rIns="91440" bIns="45720" anchor="t"/>
          <a:p>
            <a:pPr lvl="0"/>
            <a:r>
              <a:rPr lang="en-IN" altLang="en-US" sz="1100" dirty="0"/>
              <a:t>Economists normally assume that people are rational. </a:t>
            </a:r>
            <a:r>
              <a:rPr lang="en-IN" altLang="en-US" sz="1100" b="1" dirty="0"/>
              <a:t>Rational people </a:t>
            </a:r>
            <a:r>
              <a:rPr lang="en-IN" altLang="en-US" sz="1100" dirty="0"/>
              <a:t>systematically and purposefully do the best they can to achieve their objectives, given the available opportunities. </a:t>
            </a:r>
            <a:r>
              <a:rPr lang="en-IN" altLang="en-US" dirty="0"/>
              <a:t>Keep in mind that Margin means “edge,” so marginal changes are adjustments around the edges of what you are doing.  Rational people often make decisions by comparing marginal benefits and marginal costs. </a:t>
            </a:r>
            <a:r>
              <a:rPr lang="en-US" altLang="en-US" dirty="0"/>
              <a:t>Water-Diamond paradox.</a:t>
            </a:r>
            <a:endParaRPr lang="en-IN" altLang="en-US" sz="1100" dirty="0"/>
          </a:p>
        </p:txBody>
      </p:sp>
      <p:sp>
        <p:nvSpPr>
          <p:cNvPr id="5120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Slide Image Placeholder 1"/>
          <p:cNvSpPr>
            <a:spLocks noGrp="1" noRot="1" noChangeAspect="1" noTextEdit="1"/>
          </p:cNvSpPr>
          <p:nvPr>
            <p:ph type="sldImg"/>
          </p:nvPr>
        </p:nvSpPr>
        <p:spPr>
          <a:ln>
            <a:solidFill>
              <a:srgbClr val="000000">
                <a:alpha val="100000"/>
              </a:srgbClr>
            </a:solidFill>
            <a:miter lim="800000"/>
          </a:ln>
        </p:spPr>
      </p:sp>
      <p:sp>
        <p:nvSpPr>
          <p:cNvPr id="53251" name="Notes Placeholder 2"/>
          <p:cNvSpPr>
            <a:spLocks noGrp="1"/>
          </p:cNvSpPr>
          <p:nvPr>
            <p:ph type="body" idx="1"/>
          </p:nvPr>
        </p:nvSpPr>
        <p:spPr>
          <a:noFill/>
          <a:ln>
            <a:noFill/>
          </a:ln>
        </p:spPr>
        <p:txBody>
          <a:bodyPr wrap="square" lIns="91440" tIns="45720" rIns="91440" bIns="45720" anchor="t"/>
          <a:p>
            <a:pPr lvl="0"/>
            <a:r>
              <a:rPr lang="en-US" altLang="en-US" dirty="0"/>
              <a:t>An </a:t>
            </a:r>
            <a:r>
              <a:rPr lang="en-US" altLang="en-US" b="1" dirty="0"/>
              <a:t>incentive </a:t>
            </a:r>
            <a:r>
              <a:rPr lang="en-US" altLang="en-US" dirty="0"/>
              <a:t>is something that induces a person to act, such as the prospect of a punishment or a reward. </a:t>
            </a:r>
            <a:r>
              <a:rPr lang="en-IN" altLang="x-none" dirty="0"/>
              <a:t>Incentives are crucial to analysing how markets work.</a:t>
            </a:r>
            <a:endParaRPr lang="en-IN" altLang="en-US" sz="1100" dirty="0"/>
          </a:p>
        </p:txBody>
      </p:sp>
      <p:sp>
        <p:nvSpPr>
          <p:cNvPr id="5325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Slide Image Placeholder 1"/>
          <p:cNvSpPr>
            <a:spLocks noGrp="1" noRot="1" noChangeAspect="1" noTextEdit="1"/>
          </p:cNvSpPr>
          <p:nvPr>
            <p:ph type="sldImg"/>
          </p:nvPr>
        </p:nvSpPr>
        <p:spPr>
          <a:ln>
            <a:solidFill>
              <a:srgbClr val="000000">
                <a:alpha val="100000"/>
              </a:srgbClr>
            </a:solidFill>
            <a:miter lim="800000"/>
          </a:ln>
        </p:spPr>
      </p:sp>
      <p:sp>
        <p:nvSpPr>
          <p:cNvPr id="57347"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5734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Slide Image Placeholder 1"/>
          <p:cNvSpPr>
            <a:spLocks noGrp="1" noRot="1" noChangeAspect="1" noTextEdit="1"/>
          </p:cNvSpPr>
          <p:nvPr>
            <p:ph type="sldImg"/>
          </p:nvPr>
        </p:nvSpPr>
        <p:spPr>
          <a:ln>
            <a:solidFill>
              <a:srgbClr val="000000">
                <a:alpha val="100000"/>
              </a:srgbClr>
            </a:solidFill>
            <a:miter lim="800000"/>
          </a:ln>
        </p:spPr>
      </p:sp>
      <p:sp>
        <p:nvSpPr>
          <p:cNvPr id="59395" name="Notes Placeholder 2"/>
          <p:cNvSpPr>
            <a:spLocks noGrp="1"/>
          </p:cNvSpPr>
          <p:nvPr>
            <p:ph type="body" idx="1"/>
          </p:nvPr>
        </p:nvSpPr>
        <p:spPr>
          <a:noFill/>
          <a:ln>
            <a:noFill/>
          </a:ln>
        </p:spPr>
        <p:txBody>
          <a:bodyPr wrap="square" lIns="91440" tIns="45720" rIns="91440" bIns="45720" anchor="t"/>
          <a:p>
            <a:pPr lvl="0"/>
            <a:r>
              <a:rPr lang="en-IN" altLang="en-US" b="1" dirty="0"/>
              <a:t>Trade</a:t>
            </a:r>
            <a:r>
              <a:rPr lang="en-IN" altLang="en-US" dirty="0"/>
              <a:t> allows countries to specialize in what they do best and to enjoy a greater variety of goods and services.</a:t>
            </a:r>
            <a:endParaRPr lang="en-IN" altLang="en-US" sz="1100" dirty="0"/>
          </a:p>
        </p:txBody>
      </p:sp>
      <p:sp>
        <p:nvSpPr>
          <p:cNvPr id="593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Slide Image Placeholder 1"/>
          <p:cNvSpPr>
            <a:spLocks noGrp="1" noRot="1" noChangeAspect="1" noTextEdit="1"/>
          </p:cNvSpPr>
          <p:nvPr>
            <p:ph type="sldImg"/>
          </p:nvPr>
        </p:nvSpPr>
        <p:spPr>
          <a:ln>
            <a:solidFill>
              <a:srgbClr val="000000">
                <a:alpha val="100000"/>
              </a:srgbClr>
            </a:solidFill>
            <a:miter lim="800000"/>
          </a:ln>
        </p:spPr>
      </p:sp>
      <p:sp>
        <p:nvSpPr>
          <p:cNvPr id="61443" name="Notes Placeholder 2"/>
          <p:cNvSpPr>
            <a:spLocks noGrp="1"/>
          </p:cNvSpPr>
          <p:nvPr>
            <p:ph type="body" idx="1"/>
          </p:nvPr>
        </p:nvSpPr>
        <p:spPr>
          <a:noFill/>
          <a:ln>
            <a:noFill/>
          </a:ln>
        </p:spPr>
        <p:txBody>
          <a:bodyPr wrap="square" lIns="91440" tIns="45720" rIns="91440" bIns="45720" anchor="t"/>
          <a:p>
            <a:pPr lvl="0"/>
            <a:r>
              <a:rPr lang="en-IN" altLang="en-US" b="1" dirty="0"/>
              <a:t>Market Economy - </a:t>
            </a:r>
            <a:r>
              <a:rPr lang="en-IN" altLang="en-US" dirty="0"/>
              <a:t>an economy that allocates resources through the decentralized decisions of many firms and households as they interact in markets for goods and services. Here, firms </a:t>
            </a:r>
            <a:r>
              <a:rPr lang="en-US" altLang="en-US" dirty="0"/>
              <a:t>decide whom to hire and what to make. Households decide which firms to work for and what to buy with their incomes. These firms and households interact in the marketplace, where </a:t>
            </a:r>
            <a:r>
              <a:rPr lang="en-US" altLang="en-US" b="1" dirty="0"/>
              <a:t>prices</a:t>
            </a:r>
            <a:r>
              <a:rPr lang="en-US" altLang="en-US" dirty="0"/>
              <a:t> and </a:t>
            </a:r>
            <a:r>
              <a:rPr lang="en-US" altLang="en-US" b="1" dirty="0"/>
              <a:t>self-interes</a:t>
            </a:r>
            <a:r>
              <a:rPr lang="en-US" altLang="en-US" dirty="0"/>
              <a:t>t guide their decisions.</a:t>
            </a:r>
            <a:endParaRPr lang="en-IN" altLang="en-US" sz="1100" dirty="0"/>
          </a:p>
        </p:txBody>
      </p:sp>
      <p:sp>
        <p:nvSpPr>
          <p:cNvPr id="6144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Slide Image Placeholder 1"/>
          <p:cNvSpPr>
            <a:spLocks noGrp="1" noRot="1" noChangeAspect="1" noTextEdit="1"/>
          </p:cNvSpPr>
          <p:nvPr>
            <p:ph type="sldImg"/>
          </p:nvPr>
        </p:nvSpPr>
        <p:spPr>
          <a:ln>
            <a:solidFill>
              <a:srgbClr val="000000">
                <a:alpha val="100000"/>
              </a:srgbClr>
            </a:solidFill>
            <a:miter lim="800000"/>
          </a:ln>
        </p:spPr>
      </p:sp>
      <p:sp>
        <p:nvSpPr>
          <p:cNvPr id="63491" name="Notes Placeholder 2"/>
          <p:cNvSpPr>
            <a:spLocks noGrp="1"/>
          </p:cNvSpPr>
          <p:nvPr>
            <p:ph type="body" idx="1"/>
          </p:nvPr>
        </p:nvSpPr>
        <p:spPr>
          <a:noFill/>
          <a:ln>
            <a:noFill/>
          </a:ln>
        </p:spPr>
        <p:txBody>
          <a:bodyPr wrap="square" lIns="91440" tIns="45720" rIns="91440" bIns="45720" anchor="t"/>
          <a:p>
            <a:pPr lvl="0"/>
            <a:r>
              <a:rPr lang="en-US" altLang="en-US" dirty="0"/>
              <a:t>In his 1776 book </a:t>
            </a:r>
            <a:r>
              <a:rPr lang="en-US" altLang="en-US" i="1" dirty="0"/>
              <a:t>An Inquiry into the Nature and Causes of the Wealth of Nations, </a:t>
            </a:r>
            <a:r>
              <a:rPr lang="en-US" altLang="en-US" dirty="0"/>
              <a:t>economist Adam Smith made the most famous observation in all of economics: Households and firms interacting in markets act as if they are guided by an “invisible hand” that leads them to desirable market outcomes. Smith’s great insight was that prices adjust to guide these individual buyers and sellers to reach outcomes that, in many cases, maximize the well-being of society as a whole. </a:t>
            </a:r>
            <a:endParaRPr lang="en-IN" altLang="en-US" sz="1100" dirty="0"/>
          </a:p>
        </p:txBody>
      </p:sp>
      <p:sp>
        <p:nvSpPr>
          <p:cNvPr id="6349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Slide Image Placeholder 1"/>
          <p:cNvSpPr>
            <a:spLocks noGrp="1" noRot="1" noChangeAspect="1" noTextEdit="1"/>
          </p:cNvSpPr>
          <p:nvPr>
            <p:ph type="sldImg"/>
          </p:nvPr>
        </p:nvSpPr>
        <p:spPr>
          <a:ln>
            <a:solidFill>
              <a:srgbClr val="000000">
                <a:alpha val="100000"/>
              </a:srgbClr>
            </a:solidFill>
            <a:miter lim="800000"/>
          </a:ln>
        </p:spPr>
      </p:sp>
      <p:sp>
        <p:nvSpPr>
          <p:cNvPr id="65539" name="Notes Placeholder 2"/>
          <p:cNvSpPr>
            <a:spLocks noGrp="1"/>
          </p:cNvSpPr>
          <p:nvPr>
            <p:ph type="body" idx="1"/>
          </p:nvPr>
        </p:nvSpPr>
        <p:spPr>
          <a:noFill/>
          <a:ln>
            <a:noFill/>
          </a:ln>
        </p:spPr>
        <p:txBody>
          <a:bodyPr wrap="square" lIns="91440" tIns="45720" rIns="91440" bIns="45720" anchor="t"/>
          <a:p>
            <a:pPr lvl="0"/>
            <a:r>
              <a:rPr lang="en-US" altLang="en-US" sz="1100" dirty="0"/>
              <a:t>As per Smith, when the government prevents prices from adjusting naturally to supply and demand, it impedes the invisible hand’s ability to coordinate the decisions of the households and firms that make up the economy.</a:t>
            </a:r>
            <a:endParaRPr lang="en-IN" altLang="en-US" sz="1100" dirty="0"/>
          </a:p>
        </p:txBody>
      </p:sp>
      <p:sp>
        <p:nvSpPr>
          <p:cNvPr id="65540"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Slide Image Placeholder 1"/>
          <p:cNvSpPr>
            <a:spLocks noGrp="1" noRot="1" noChangeAspect="1" noTextEdit="1"/>
          </p:cNvSpPr>
          <p:nvPr>
            <p:ph type="sldImg"/>
          </p:nvPr>
        </p:nvSpPr>
        <p:spPr>
          <a:ln>
            <a:solidFill>
              <a:srgbClr val="000000">
                <a:alpha val="100000"/>
              </a:srgbClr>
            </a:solidFill>
            <a:miter lim="800000"/>
          </a:ln>
        </p:spPr>
      </p:sp>
      <p:sp>
        <p:nvSpPr>
          <p:cNvPr id="67587" name="Notes Placeholder 2"/>
          <p:cNvSpPr>
            <a:spLocks noGrp="1"/>
          </p:cNvSpPr>
          <p:nvPr>
            <p:ph type="body" idx="1"/>
          </p:nvPr>
        </p:nvSpPr>
        <p:spPr>
          <a:noFill/>
          <a:ln>
            <a:noFill/>
          </a:ln>
        </p:spPr>
        <p:txBody>
          <a:bodyPr wrap="square" lIns="91440" tIns="45720" rIns="91440" bIns="45720" anchor="t"/>
          <a:p>
            <a:pPr lvl="0"/>
            <a:r>
              <a:rPr lang="en-US" altLang="en-US" b="1" dirty="0"/>
              <a:t>Property rights </a:t>
            </a:r>
            <a:r>
              <a:rPr lang="en-US" altLang="en-US" dirty="0"/>
              <a:t>is the ability of an individual to own and exercise control over scarce resources. Market economies need institutions to enforce property rights so individuals can own and control scarce resources.</a:t>
            </a:r>
            <a:endParaRPr lang="en-IN" altLang="en-US" sz="1100" dirty="0"/>
          </a:p>
        </p:txBody>
      </p:sp>
      <p:sp>
        <p:nvSpPr>
          <p:cNvPr id="6758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Slide Image Placeholder 1"/>
          <p:cNvSpPr>
            <a:spLocks noGrp="1" noRot="1" noChangeAspect="1" noTextEdit="1"/>
          </p:cNvSpPr>
          <p:nvPr>
            <p:ph type="sldImg"/>
          </p:nvPr>
        </p:nvSpPr>
        <p:spPr>
          <a:ln>
            <a:solidFill>
              <a:srgbClr val="000000">
                <a:alpha val="100000"/>
              </a:srgbClr>
            </a:solidFill>
            <a:miter lim="800000"/>
          </a:ln>
        </p:spPr>
      </p:sp>
      <p:sp>
        <p:nvSpPr>
          <p:cNvPr id="69635"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6963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Slide Image Placeholder 1"/>
          <p:cNvSpPr>
            <a:spLocks noGrp="1" noRot="1" noChangeAspect="1" noTextEdit="1"/>
          </p:cNvSpPr>
          <p:nvPr>
            <p:ph type="sldImg"/>
          </p:nvPr>
        </p:nvSpPr>
        <p:spPr>
          <a:ln>
            <a:solidFill>
              <a:srgbClr val="000000">
                <a:alpha val="100000"/>
              </a:srgbClr>
            </a:solidFill>
            <a:miter lim="800000"/>
          </a:ln>
        </p:spPr>
      </p:sp>
      <p:sp>
        <p:nvSpPr>
          <p:cNvPr id="71683" name="Notes Placeholder 2"/>
          <p:cNvSpPr>
            <a:spLocks noGrp="1"/>
          </p:cNvSpPr>
          <p:nvPr>
            <p:ph type="body" idx="1"/>
          </p:nvPr>
        </p:nvSpPr>
        <p:spPr>
          <a:noFill/>
          <a:ln>
            <a:noFill/>
          </a:ln>
        </p:spPr>
        <p:txBody>
          <a:bodyPr wrap="square" lIns="91440" tIns="45720" rIns="91440" bIns="45720" anchor="t"/>
          <a:p>
            <a:pPr lvl="0"/>
            <a:r>
              <a:rPr lang="en-US" altLang="en-US" sz="1100" b="1" dirty="0"/>
              <a:t>Externalities</a:t>
            </a:r>
            <a:r>
              <a:rPr lang="en-US" altLang="en-US" sz="1100" dirty="0"/>
              <a:t> are a form of market failure. Externalities are defined as the spillover effects of the consumption or production of a good that is not reflected in the price of the good. For example, the production of steel results in pollution being released into the air, but the cost of the pollution to the environment is not reflected in the price of steel.</a:t>
            </a:r>
            <a:endParaRPr lang="en-IN" altLang="en-US" sz="1100" dirty="0"/>
          </a:p>
        </p:txBody>
      </p:sp>
      <p:sp>
        <p:nvSpPr>
          <p:cNvPr id="7168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Slide Image Placeholder 1"/>
          <p:cNvSpPr>
            <a:spLocks noGrp="1" noRot="1" noChangeAspect="1" noTextEdit="1"/>
          </p:cNvSpPr>
          <p:nvPr>
            <p:ph type="sldImg"/>
          </p:nvPr>
        </p:nvSpPr>
        <p:spPr>
          <a:ln>
            <a:solidFill>
              <a:srgbClr val="000000">
                <a:alpha val="100000"/>
              </a:srgbClr>
            </a:solidFill>
            <a:miter lim="800000"/>
          </a:ln>
        </p:spPr>
      </p:sp>
      <p:sp>
        <p:nvSpPr>
          <p:cNvPr id="73731" name="Notes Placeholder 2"/>
          <p:cNvSpPr>
            <a:spLocks noGrp="1"/>
          </p:cNvSpPr>
          <p:nvPr>
            <p:ph type="body" idx="1"/>
          </p:nvPr>
        </p:nvSpPr>
        <p:spPr>
          <a:noFill/>
          <a:ln>
            <a:noFill/>
          </a:ln>
        </p:spPr>
        <p:txBody>
          <a:bodyPr wrap="square" lIns="91440" tIns="45720" rIns="91440" bIns="45720" anchor="t"/>
          <a:p>
            <a:pPr lvl="0"/>
            <a:r>
              <a:rPr lang="en-US" altLang="en-US" dirty="0"/>
              <a:t>For example, if everyone in town needs water but there is only one well, the owner of the well is not subject to the rigorous competition with which the invisible hand normally keeps self-interest in check. In the presence of externalities or market power, well-designed public policy can enhance economic efficiency.</a:t>
            </a:r>
            <a:endParaRPr lang="en-IN" altLang="en-US" sz="1100" dirty="0"/>
          </a:p>
        </p:txBody>
      </p:sp>
      <p:sp>
        <p:nvSpPr>
          <p:cNvPr id="7373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Slide Image Placeholder 1"/>
          <p:cNvSpPr>
            <a:spLocks noGrp="1" noRot="1" noChangeAspect="1" noTextEdit="1"/>
          </p:cNvSpPr>
          <p:nvPr>
            <p:ph type="sldImg"/>
          </p:nvPr>
        </p:nvSpPr>
        <p:spPr>
          <a:ln>
            <a:solidFill>
              <a:srgbClr val="000000">
                <a:alpha val="100000"/>
              </a:srgbClr>
            </a:solidFill>
            <a:miter lim="800000"/>
          </a:ln>
        </p:spPr>
      </p:sp>
      <p:sp>
        <p:nvSpPr>
          <p:cNvPr id="75779"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75780"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Slide Image Placeholder 1"/>
          <p:cNvSpPr>
            <a:spLocks noGrp="1" noRot="1" noChangeAspect="1" noTextEdit="1"/>
          </p:cNvSpPr>
          <p:nvPr>
            <p:ph type="sldImg"/>
          </p:nvPr>
        </p:nvSpPr>
        <p:spPr>
          <a:ln>
            <a:solidFill>
              <a:srgbClr val="000000">
                <a:alpha val="100000"/>
              </a:srgbClr>
            </a:solidFill>
            <a:miter lim="800000"/>
          </a:ln>
        </p:spPr>
      </p:sp>
      <p:sp>
        <p:nvSpPr>
          <p:cNvPr id="77827"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7782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Slide Image Placeholder 1"/>
          <p:cNvSpPr>
            <a:spLocks noGrp="1" noRot="1" noChangeAspect="1" noTextEdit="1"/>
          </p:cNvSpPr>
          <p:nvPr>
            <p:ph type="sldImg"/>
          </p:nvPr>
        </p:nvSpPr>
        <p:spPr>
          <a:ln>
            <a:solidFill>
              <a:srgbClr val="000000">
                <a:alpha val="100000"/>
              </a:srgbClr>
            </a:solidFill>
            <a:miter lim="800000"/>
          </a:ln>
        </p:spPr>
      </p:sp>
      <p:sp>
        <p:nvSpPr>
          <p:cNvPr id="79875"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7987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Slide Image Placeholder 1"/>
          <p:cNvSpPr>
            <a:spLocks noGrp="1" noRot="1" noChangeAspect="1" noTextEdit="1"/>
          </p:cNvSpPr>
          <p:nvPr>
            <p:ph type="sldImg"/>
          </p:nvPr>
        </p:nvSpPr>
        <p:spPr>
          <a:ln>
            <a:solidFill>
              <a:srgbClr val="000000">
                <a:alpha val="100000"/>
              </a:srgbClr>
            </a:solidFill>
            <a:miter lim="800000"/>
          </a:ln>
        </p:spPr>
      </p:sp>
      <p:sp>
        <p:nvSpPr>
          <p:cNvPr id="81923"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8192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Slide Image Placeholder 1"/>
          <p:cNvSpPr>
            <a:spLocks noGrp="1" noRot="1" noChangeAspect="1" noTextEdit="1"/>
          </p:cNvSpPr>
          <p:nvPr>
            <p:ph type="sldImg"/>
          </p:nvPr>
        </p:nvSpPr>
        <p:spPr>
          <a:ln>
            <a:solidFill>
              <a:srgbClr val="000000">
                <a:alpha val="100000"/>
              </a:srgbClr>
            </a:solidFill>
            <a:miter lim="800000"/>
          </a:ln>
        </p:spPr>
      </p:sp>
      <p:sp>
        <p:nvSpPr>
          <p:cNvPr id="81923"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8192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Slide Image Placeholder 1"/>
          <p:cNvSpPr>
            <a:spLocks noGrp="1" noRot="1" noChangeAspect="1" noTextEdit="1"/>
          </p:cNvSpPr>
          <p:nvPr>
            <p:ph type="sldImg"/>
          </p:nvPr>
        </p:nvSpPr>
        <p:spPr>
          <a:ln>
            <a:solidFill>
              <a:srgbClr val="000000">
                <a:alpha val="100000"/>
              </a:srgbClr>
            </a:solidFill>
            <a:miter lim="800000"/>
          </a:ln>
        </p:spPr>
      </p:sp>
      <p:sp>
        <p:nvSpPr>
          <p:cNvPr id="83971" name="Notes Placeholder 2"/>
          <p:cNvSpPr>
            <a:spLocks noGrp="1"/>
          </p:cNvSpPr>
          <p:nvPr>
            <p:ph type="body" idx="1"/>
          </p:nvPr>
        </p:nvSpPr>
        <p:spPr>
          <a:noFill/>
          <a:ln>
            <a:noFill/>
          </a:ln>
        </p:spPr>
        <p:txBody>
          <a:bodyPr wrap="square" lIns="91440" tIns="45720" rIns="91440" bIns="45720" anchor="t"/>
          <a:p>
            <a:pPr lvl="0"/>
            <a:r>
              <a:rPr lang="en-US" altLang="en-US" b="1" dirty="0"/>
              <a:t>Business cycle </a:t>
            </a:r>
            <a:r>
              <a:rPr lang="en-US" altLang="en-US" dirty="0"/>
              <a:t>are</a:t>
            </a:r>
            <a:r>
              <a:rPr lang="en-US" altLang="en-US" b="1" dirty="0"/>
              <a:t> </a:t>
            </a:r>
            <a:r>
              <a:rPr lang="en-US" altLang="en-US" dirty="0"/>
              <a:t>fluctuations in economic activity, such as employment and production.</a:t>
            </a:r>
            <a:endParaRPr lang="en-IN" altLang="en-US" sz="1100" dirty="0"/>
          </a:p>
        </p:txBody>
      </p:sp>
      <p:sp>
        <p:nvSpPr>
          <p:cNvPr id="8397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Slide Image Placeholder 1"/>
          <p:cNvSpPr>
            <a:spLocks noGrp="1" noRot="1" noChangeAspect="1" noTextEdit="1"/>
          </p:cNvSpPr>
          <p:nvPr>
            <p:ph type="sldImg"/>
          </p:nvPr>
        </p:nvSpPr>
        <p:spPr>
          <a:ln>
            <a:solidFill>
              <a:srgbClr val="000000">
                <a:alpha val="100000"/>
              </a:srgbClr>
            </a:solidFill>
            <a:miter lim="800000"/>
          </a:ln>
        </p:spPr>
      </p:sp>
      <p:sp>
        <p:nvSpPr>
          <p:cNvPr id="83971" name="Notes Placeholder 2"/>
          <p:cNvSpPr>
            <a:spLocks noGrp="1"/>
          </p:cNvSpPr>
          <p:nvPr>
            <p:ph type="body" idx="1"/>
          </p:nvPr>
        </p:nvSpPr>
        <p:spPr>
          <a:noFill/>
          <a:ln>
            <a:noFill/>
          </a:ln>
        </p:spPr>
        <p:txBody>
          <a:bodyPr wrap="square" lIns="91440" tIns="45720" rIns="91440" bIns="45720" anchor="t"/>
          <a:p>
            <a:pPr lvl="0"/>
            <a:r>
              <a:rPr lang="en-US" altLang="en-US" b="1" dirty="0"/>
              <a:t>Business cycle </a:t>
            </a:r>
            <a:r>
              <a:rPr lang="en-US" altLang="en-US" dirty="0"/>
              <a:t>are</a:t>
            </a:r>
            <a:r>
              <a:rPr lang="en-US" altLang="en-US" b="1" dirty="0"/>
              <a:t> </a:t>
            </a:r>
            <a:r>
              <a:rPr lang="en-US" altLang="en-US" dirty="0"/>
              <a:t>fluctuations in economic activity, such as employment and production.</a:t>
            </a:r>
            <a:endParaRPr lang="en-IN" altLang="en-US" sz="1100" dirty="0"/>
          </a:p>
        </p:txBody>
      </p:sp>
      <p:sp>
        <p:nvSpPr>
          <p:cNvPr id="8397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Slide Image Placeholder 1"/>
          <p:cNvSpPr>
            <a:spLocks noGrp="1" noRot="1" noChangeAspect="1" noTextEdit="1"/>
          </p:cNvSpPr>
          <p:nvPr>
            <p:ph type="sldImg"/>
          </p:nvPr>
        </p:nvSpPr>
        <p:spPr>
          <a:ln>
            <a:solidFill>
              <a:srgbClr val="000000">
                <a:alpha val="100000"/>
              </a:srgbClr>
            </a:solidFill>
            <a:miter lim="800000"/>
          </a:ln>
        </p:spPr>
      </p:sp>
      <p:sp>
        <p:nvSpPr>
          <p:cNvPr id="90115" name="Notes Placeholder 2"/>
          <p:cNvSpPr>
            <a:spLocks noGrp="1"/>
          </p:cNvSpPr>
          <p:nvPr>
            <p:ph type="body" idx="1"/>
          </p:nvPr>
        </p:nvSpPr>
        <p:spPr>
          <a:noFill/>
          <a:ln>
            <a:noFill/>
          </a:ln>
        </p:spPr>
        <p:txBody>
          <a:bodyPr wrap="square" lIns="91440" tIns="45720" rIns="91440" bIns="45720" anchor="t"/>
          <a:p>
            <a:pPr lvl="0"/>
            <a:endParaRPr lang="en-IN" altLang="en-US" sz="1100" dirty="0"/>
          </a:p>
        </p:txBody>
      </p:sp>
      <p:sp>
        <p:nvSpPr>
          <p:cNvPr id="9011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IN" altLang="en-US" dirty="0">
                <a:cs typeface="Arial" panose="020B0604020202020204" pitchFamily="34" charset="0"/>
              </a:rPr>
            </a:fld>
            <a:endParaRPr lang="en-IN" altLang="en-US" dirty="0">
              <a:ea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rgbClr val="CCFFCC"/>
        </a:solidFill>
        <a:effectLst/>
      </p:bgPr>
    </p:bg>
    <p:spTree>
      <p:nvGrpSpPr>
        <p:cNvPr id="1" name=""/>
        <p:cNvGrpSpPr/>
        <p:nvPr/>
      </p:nvGrpSpPr>
      <p:grpSpPr>
        <a:xfrm>
          <a:off x="0" y="0"/>
          <a:ext cx="0" cy="0"/>
          <a:chOff x="0" y="0"/>
          <a:chExt cx="0" cy="0"/>
        </a:xfrm>
      </p:grpSpPr>
      <p:grpSp>
        <p:nvGrpSpPr>
          <p:cNvPr id="3074" name="Group 4"/>
          <p:cNvGrpSpPr/>
          <p:nvPr/>
        </p:nvGrpSpPr>
        <p:grpSpPr>
          <a:xfrm>
            <a:off x="134938" y="2438400"/>
            <a:ext cx="9009062" cy="1181100"/>
            <a:chOff x="0" y="1536"/>
            <a:chExt cx="5675" cy="744"/>
          </a:xfrm>
        </p:grpSpPr>
        <p:grpSp>
          <p:nvGrpSpPr>
            <p:cNvPr id="3079" name="Group 5"/>
            <p:cNvGrpSpPr/>
            <p:nvPr userDrawn="1"/>
          </p:nvGrpSpPr>
          <p:grpSpPr>
            <a:xfrm>
              <a:off x="185" y="1604"/>
              <a:ext cx="449" cy="297"/>
              <a:chOff x="720" y="336"/>
              <a:chExt cx="624" cy="432"/>
            </a:xfrm>
          </p:grpSpPr>
          <p:sp>
            <p:nvSpPr>
              <p:cNvPr id="24" name="Rectangle 6"/>
              <p:cNvSpPr>
                <a:spLocks noChangeArrowheads="1"/>
              </p:cNvSpPr>
              <p:nvPr/>
            </p:nvSpPr>
            <p:spPr bwMode="auto">
              <a:xfrm>
                <a:off x="720" y="336"/>
                <a:ext cx="384" cy="432"/>
              </a:xfrm>
              <a:prstGeom prst="rect">
                <a:avLst/>
              </a:prstGeom>
              <a:solidFill>
                <a:srgbClr val="FF0000"/>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5" name="Rectangle 7"/>
              <p:cNvSpPr>
                <a:spLocks noChangeArrowheads="1"/>
              </p:cNvSpPr>
              <p:nvPr/>
            </p:nvSpPr>
            <p:spPr bwMode="auto">
              <a:xfrm>
                <a:off x="1056" y="336"/>
                <a:ext cx="288" cy="432"/>
              </a:xfrm>
              <a:prstGeom prst="rect">
                <a:avLst/>
              </a:prstGeom>
              <a:gradFill rotWithShape="1">
                <a:gsLst>
                  <a:gs pos="0">
                    <a:srgbClr val="FF0000"/>
                  </a:gs>
                  <a:gs pos="100000">
                    <a:srgbClr val="FFFFFF"/>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
          <p:nvSpPr>
            <p:cNvPr id="18" name="Rectangle 8"/>
            <p:cNvSpPr>
              <a:spLocks noChangeArrowheads="1"/>
            </p:cNvSpPr>
            <p:nvPr/>
          </p:nvSpPr>
          <p:spPr bwMode="auto">
            <a:xfrm>
              <a:off x="432" y="1868"/>
              <a:ext cx="294" cy="298"/>
            </a:xfrm>
            <a:prstGeom prst="rect">
              <a:avLst/>
            </a:prstGeom>
            <a:gradFill rotWithShape="1">
              <a:gsLst>
                <a:gs pos="0">
                  <a:srgbClr val="339966"/>
                </a:gs>
                <a:gs pos="100000">
                  <a:schemeClr val="bg1"/>
                </a:gs>
              </a:gsLst>
              <a:lin ang="27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9" name="Rectangle 9"/>
            <p:cNvSpPr>
              <a:spLocks noChangeArrowheads="1"/>
            </p:cNvSpPr>
            <p:nvPr/>
          </p:nvSpPr>
          <p:spPr bwMode="auto">
            <a:xfrm>
              <a:off x="245" y="1868"/>
              <a:ext cx="187" cy="298"/>
            </a:xfrm>
            <a:prstGeom prst="rect">
              <a:avLst/>
            </a:prstGeom>
            <a:solidFill>
              <a:srgbClr val="339966"/>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 name="Rectangle 10"/>
            <p:cNvSpPr>
              <a:spLocks noChangeArrowheads="1"/>
            </p:cNvSpPr>
            <p:nvPr/>
          </p:nvSpPr>
          <p:spPr bwMode="auto">
            <a:xfrm>
              <a:off x="144" y="2016"/>
              <a:ext cx="353" cy="264"/>
            </a:xfrm>
            <a:prstGeom prst="rect">
              <a:avLst/>
            </a:prstGeom>
            <a:gradFill rotWithShape="1">
              <a:gsLst>
                <a:gs pos="0">
                  <a:srgbClr val="FFFF00"/>
                </a:gs>
                <a:gs pos="100000">
                  <a:srgbClr val="FFFFCC"/>
                </a:gs>
              </a:gsLst>
              <a:lin ang="54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1" name="Rectangle 11"/>
            <p:cNvSpPr>
              <a:spLocks noChangeArrowheads="1"/>
            </p:cNvSpPr>
            <p:nvPr/>
          </p:nvSpPr>
          <p:spPr bwMode="auto">
            <a:xfrm>
              <a:off x="0" y="1823"/>
              <a:ext cx="353" cy="264"/>
            </a:xfrm>
            <a:prstGeom prst="rect">
              <a:avLst/>
            </a:prstGeom>
            <a:gradFill rotWithShape="1">
              <a:gsLst>
                <a:gs pos="0">
                  <a:schemeClr val="bg1"/>
                </a:gs>
                <a:gs pos="100000">
                  <a:srgbClr val="0000FF"/>
                </a:gs>
              </a:gsLst>
              <a:lin ang="189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2" name="Rectangle 12"/>
            <p:cNvSpPr>
              <a:spLocks noChangeArrowheads="1"/>
            </p:cNvSpPr>
            <p:nvPr/>
          </p:nvSpPr>
          <p:spPr bwMode="auto">
            <a:xfrm>
              <a:off x="400" y="1536"/>
              <a:ext cx="20" cy="660"/>
            </a:xfrm>
            <a:prstGeom prst="rect">
              <a:avLst/>
            </a:prstGeom>
            <a:solidFill>
              <a:schemeClr val="bg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3" name="Rectangle 13"/>
            <p:cNvSpPr>
              <a:spLocks noChangeArrowheads="1"/>
            </p:cNvSpPr>
            <p:nvPr/>
          </p:nvSpPr>
          <p:spPr bwMode="auto">
            <a:xfrm flipV="1">
              <a:off x="199" y="2052"/>
              <a:ext cx="5476" cy="34"/>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
        <p:nvSpPr>
          <p:cNvPr id="167938" name="Rectangle 2"/>
          <p:cNvSpPr>
            <a:spLocks noGrp="1" noChangeArrowheads="1"/>
          </p:cNvSpPr>
          <p:nvPr>
            <p:ph type="ctrTitle"/>
          </p:nvPr>
        </p:nvSpPr>
        <p:spPr>
          <a:xfrm>
            <a:off x="990600" y="1833563"/>
            <a:ext cx="7772400" cy="1143000"/>
          </a:xfrm>
        </p:spPr>
        <p:txBody>
          <a:bodyPr/>
          <a:lstStyle>
            <a:lvl1pPr>
              <a:defRPr/>
            </a:lvl1pPr>
          </a:lstStyle>
          <a:p>
            <a:r>
              <a:rPr lang="en-US"/>
              <a:t>Click to edit Master title style</a:t>
            </a:r>
            <a:endParaRPr lang="en-US"/>
          </a:p>
        </p:txBody>
      </p:sp>
      <p:sp>
        <p:nvSpPr>
          <p:cNvPr id="167939" name="Rectangle 3"/>
          <p:cNvSpPr>
            <a:spLocks noGrp="1" noChangeArrowheads="1"/>
          </p:cNvSpPr>
          <p:nvPr>
            <p:ph type="subTitle" idx="1"/>
          </p:nvPr>
        </p:nvSpPr>
        <p:spPr>
          <a:xfrm>
            <a:off x="1371600" y="3881438"/>
            <a:ext cx="6400800" cy="1762125"/>
          </a:xfrm>
        </p:spPr>
        <p:txBody>
          <a:bodyPr/>
          <a:lstStyle>
            <a:lvl1pPr marL="0" indent="0" algn="ctr">
              <a:buFont typeface="Wingdings" panose="05000000000000000000" pitchFamily="2" charset="2"/>
              <a:buNone/>
              <a:defRPr/>
            </a:lvl1pPr>
          </a:lstStyle>
          <a:p>
            <a:r>
              <a:rPr lang="en-US"/>
              <a:t>Click to edit Master subtitle style</a:t>
            </a:r>
            <a:endParaRPr lang="en-US"/>
          </a:p>
        </p:txBody>
      </p:sp>
      <p:sp>
        <p:nvSpPr>
          <p:cNvPr id="26" name="Rectangle 1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7" name="Rectangle 1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828800"/>
            <a:ext cx="3962400" cy="4532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4400" y="1828800"/>
            <a:ext cx="3962400" cy="4532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6" name="Rectangle 4"/>
          <p:cNvSpPr>
            <a:spLocks noGrp="1" noChangeArrowheads="1"/>
          </p:cNvSpPr>
          <p:nvPr>
            <p:ph type="ftr" sz="quarter" idx="1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1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CCFFCC"/>
        </a:solidFill>
        <a:effectLst/>
      </p:bgPr>
    </p:bg>
    <p:spTree>
      <p:nvGrpSpPr>
        <p:cNvPr id="1" name=""/>
        <p:cNvGrpSpPr/>
        <p:nvPr/>
      </p:nvGrpSpPr>
      <p:grpSpPr>
        <a:xfrm>
          <a:off x="0" y="0"/>
          <a:ext cx="0" cy="0"/>
          <a:chOff x="0" y="0"/>
          <a:chExt cx="0" cy="0"/>
        </a:xfrm>
      </p:grpSpPr>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85342" tIns="42672" rIns="85342" bIns="42672"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85280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CCFFCC"/>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228600"/>
            <a:ext cx="2019300" cy="6132513"/>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28600"/>
            <a:ext cx="5905500" cy="6132513"/>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609600" y="1828800"/>
            <a:ext cx="3962400" cy="45323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4724400" y="1828800"/>
            <a:ext cx="3962400" cy="21891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4724400" y="4170363"/>
            <a:ext cx="3962400" cy="219075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6" name="Rectangle 4"/>
          <p:cNvSpPr>
            <a:spLocks noGrp="1" noChangeArrowheads="1"/>
          </p:cNvSpPr>
          <p:nvPr>
            <p:ph type="ftr" sz="quarter" idx="1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endParaRPr lang="en-US"/>
          </a:p>
        </p:txBody>
      </p:sp>
      <p:sp>
        <p:nvSpPr>
          <p:cNvPr id="3" name="Table Placeholder 2"/>
          <p:cNvSpPr>
            <a:spLocks noGrp="1"/>
          </p:cNvSpPr>
          <p:nvPr>
            <p:ph type="tbl" idx="1"/>
          </p:nvPr>
        </p:nvSpPr>
        <p:spPr>
          <a:xfrm>
            <a:off x="609600" y="1828800"/>
            <a:ext cx="8077200" cy="4532313"/>
          </a:xfrm>
        </p:spPr>
        <p:txBody>
          <a:bodyPr vert="horz" wrap="square" lIns="85342" tIns="42672" rIns="85342" bIns="42672" numCol="1" anchor="t" anchorCtr="0" compatLnSpc="1"/>
          <a:lstStyle/>
          <a:p>
            <a:pPr marL="320675" marR="0" lvl="0" indent="-320675" algn="l" defTabSz="85280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609600" y="1828800"/>
            <a:ext cx="3962400" cy="45323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4400" y="1828800"/>
            <a:ext cx="3962400" cy="45323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clipArtAndTx" preserve="1">
  <p:cSld name="Title, Clip Art and Tex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endParaRPr lang="en-GB"/>
          </a:p>
        </p:txBody>
      </p:sp>
      <p:sp>
        <p:nvSpPr>
          <p:cNvPr id="3" name="ClipArt Placeholder 2"/>
          <p:cNvSpPr>
            <a:spLocks noGrp="1"/>
          </p:cNvSpPr>
          <p:nvPr>
            <p:ph type="clipArt" sz="half" idx="1"/>
          </p:nvPr>
        </p:nvSpPr>
        <p:spPr>
          <a:xfrm>
            <a:off x="609600" y="1828800"/>
            <a:ext cx="3962400" cy="4532313"/>
          </a:xfrm>
        </p:spPr>
        <p:txBody>
          <a:bodyPr vert="horz" wrap="square" lIns="85342" tIns="42672" rIns="85342" bIns="42672" numCol="1" anchor="t" anchorCtr="0" compatLnSpc="1"/>
          <a:lstStyle/>
          <a:p>
            <a:pPr marL="320675" marR="0" lvl="0" indent="-320675" algn="l" defTabSz="85280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GB" sz="2800" b="0" i="0" u="none" strike="noStrike" kern="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4724400" y="1828800"/>
            <a:ext cx="3962400" cy="45323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OverTx" preserve="1">
  <p:cSld name="Title and Content over Tex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endParaRPr lang="en-GB"/>
          </a:p>
        </p:txBody>
      </p:sp>
      <p:sp>
        <p:nvSpPr>
          <p:cNvPr id="3" name="Content Placeholder 2"/>
          <p:cNvSpPr>
            <a:spLocks noGrp="1"/>
          </p:cNvSpPr>
          <p:nvPr>
            <p:ph sz="half" idx="1"/>
          </p:nvPr>
        </p:nvSpPr>
        <p:spPr>
          <a:xfrm>
            <a:off x="609600" y="1828800"/>
            <a:ext cx="8077200" cy="21891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609600" y="4170363"/>
            <a:ext cx="8077200" cy="219075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xOverObj" preserve="1">
  <p:cSld name="Title and Text over Conten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828800"/>
            <a:ext cx="8077200" cy="21891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09600" y="4170363"/>
            <a:ext cx="8077200" cy="219075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xAndClipArt" preserve="1">
  <p:cSld name="Title, Text and Clip Art">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828800"/>
            <a:ext cx="3962400" cy="45323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lipArt Placeholder 3"/>
          <p:cNvSpPr>
            <a:spLocks noGrp="1"/>
          </p:cNvSpPr>
          <p:nvPr>
            <p:ph type="clipArt" sz="half" idx="2"/>
          </p:nvPr>
        </p:nvSpPr>
        <p:spPr>
          <a:xfrm>
            <a:off x="4724400" y="1828800"/>
            <a:ext cx="3962400" cy="4532313"/>
          </a:xfrm>
        </p:spPr>
        <p:txBody>
          <a:bodyPr vert="horz" wrap="square" lIns="85342" tIns="42672" rIns="85342" bIns="42672" numCol="1" anchor="t" anchorCtr="0" compatLnSpc="1"/>
          <a:lstStyle/>
          <a:p>
            <a:pPr marL="320675" marR="0" lvl="0" indent="-320675" algn="l" defTabSz="85280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GB" sz="2800" b="0" i="0" u="none" strike="noStrike" kern="0" cap="none" spc="0" normalizeH="0" baseline="0" noProof="0" dirty="0">
              <a:ln>
                <a:noFill/>
              </a:ln>
              <a:solidFill>
                <a:schemeClr val="tx1"/>
              </a:solidFill>
              <a:effectLst/>
              <a:uLnTx/>
              <a:uFillTx/>
              <a:latin typeface="+mn-lt"/>
              <a:ea typeface="+mn-ea"/>
              <a:cs typeface="+mn-cs"/>
            </a:endParaRPr>
          </a:p>
        </p:txBody>
      </p:sp>
      <p:sp>
        <p:nvSpPr>
          <p:cNvPr id="16" name="Footer Placeholder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Slide Number Placeholder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CCFFCC"/>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16" name="Rectangle 4"/>
          <p:cNvSpPr>
            <a:spLocks noGrp="1" noChangeArrowheads="1"/>
          </p:cNvSpPr>
          <p:nvPr>
            <p:ph type="ftr" sz="quarter" idx="3"/>
          </p:nvPr>
        </p:nvSpPr>
        <p:spPr bwMode="auto">
          <a:xfrm>
            <a:off x="152400" y="6534150"/>
            <a:ext cx="4648200" cy="323850"/>
          </a:xfrm>
          <a:prstGeom prst="rect">
            <a:avLst/>
          </a:prstGeom>
          <a:ln>
            <a:miter lim="800000"/>
          </a:ln>
        </p:spPr>
        <p:txBody>
          <a:bodyPr vert="horz" wrap="square" lIns="85342" tIns="42672" rIns="85342" bIns="42672" numCol="1" anchor="b" anchorCtr="0" compatLnSpc="1"/>
          <a:lstStyle>
            <a:lvl1pPr>
              <a:defRPr>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7" name="Rectangle 5"/>
          <p:cNvSpPr>
            <a:spLocks noGrp="1" noChangeArrowheads="1"/>
          </p:cNvSpPr>
          <p:nvPr>
            <p:ph type="sldNum" sz="quarter" idx="4"/>
          </p:nvPr>
        </p:nvSpPr>
        <p:spPr bwMode="auto">
          <a:xfrm>
            <a:off x="6858000" y="6534150"/>
            <a:ext cx="2133600" cy="320675"/>
          </a:xfrm>
          <a:prstGeom prst="rect">
            <a:avLst/>
          </a:prstGeom>
          <a:ln>
            <a:miter lim="800000"/>
          </a:ln>
        </p:spPr>
        <p:txBody>
          <a:bodyPr vert="horz" wrap="square" lIns="85342" tIns="42672" rIns="85342" bIns="42672" numCol="1" anchor="b" anchorCtr="0" compatLnSpc="1"/>
          <a:p>
            <a:pPr algn="r" eaLnBrk="1" hangingPunct="1">
              <a:buNone/>
            </a:pPr>
            <a:r>
              <a:rPr lang="en-US" altLang="en-US" dirty="0"/>
              <a:t>Chap 3-</a:t>
            </a:r>
            <a:fld id="{9A0DB2DC-4C9A-4742-B13C-FB6460FD3503}" type="slidenum">
              <a:rPr lang="en-US" altLang="en-US" dirty="0"/>
            </a:fld>
            <a:endParaRPr lang="en-US" altLang="en-US" dirty="0"/>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9.xml"/><Relationship Id="rId8" Type="http://schemas.openxmlformats.org/officeDocument/2006/relationships/slideLayout" Target="../slideLayouts/slideLayout38.xml"/><Relationship Id="rId7" Type="http://schemas.openxmlformats.org/officeDocument/2006/relationships/slideLayout" Target="../slideLayouts/slideLayout37.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2" Type="http://schemas.openxmlformats.org/officeDocument/2006/relationships/theme" Target="../theme/theme3.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d"/>
  </p:transition>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CCFFCC"/>
        </a:solidFill>
        <a:effectLst/>
      </p:bgPr>
    </p:bg>
    <p:spTree>
      <p:nvGrpSpPr>
        <p:cNvPr id="1" name=""/>
        <p:cNvGrpSpPr/>
        <p:nvPr/>
      </p:nvGrpSpPr>
      <p:grpSpPr/>
      <p:sp>
        <p:nvSpPr>
          <p:cNvPr id="2050" name="Rectangle 2"/>
          <p:cNvSpPr>
            <a:spLocks noGrp="1"/>
          </p:cNvSpPr>
          <p:nvPr>
            <p:ph type="title"/>
          </p:nvPr>
        </p:nvSpPr>
        <p:spPr>
          <a:xfrm>
            <a:off x="1150938" y="228600"/>
            <a:ext cx="7383462" cy="990600"/>
          </a:xfrm>
          <a:prstGeom prst="rect">
            <a:avLst/>
          </a:prstGeom>
          <a:noFill/>
          <a:ln w="9525">
            <a:noFill/>
          </a:ln>
        </p:spPr>
        <p:txBody>
          <a:bodyPr lIns="85342" tIns="42672" rIns="85342" bIns="42672" anchor="b"/>
          <a:p>
            <a:pPr lvl="0"/>
            <a:r>
              <a:rPr lang="en-US" altLang="en-US" dirty="0"/>
              <a:t>Click to edit Master title style</a:t>
            </a:r>
            <a:endParaRPr lang="en-US" altLang="en-US" dirty="0"/>
          </a:p>
        </p:txBody>
      </p:sp>
      <p:sp>
        <p:nvSpPr>
          <p:cNvPr id="2051" name="Rectangle 3"/>
          <p:cNvSpPr>
            <a:spLocks noGrp="1"/>
          </p:cNvSpPr>
          <p:nvPr>
            <p:ph type="body" idx="1"/>
          </p:nvPr>
        </p:nvSpPr>
        <p:spPr>
          <a:xfrm>
            <a:off x="609600" y="1828800"/>
            <a:ext cx="8077200" cy="4532313"/>
          </a:xfrm>
          <a:prstGeom prst="rect">
            <a:avLst/>
          </a:prstGeom>
          <a:noFill/>
          <a:ln w="9525">
            <a:noFill/>
          </a:ln>
        </p:spPr>
        <p:txBody>
          <a:bodyPr lIns="85342" tIns="42672" rIns="85342" bIns="42672"/>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66916" name="Rectangle 4"/>
          <p:cNvSpPr>
            <a:spLocks noGrp="1" noChangeArrowheads="1"/>
          </p:cNvSpPr>
          <p:nvPr>
            <p:ph type="ftr" sz="quarter" idx="3"/>
          </p:nvPr>
        </p:nvSpPr>
        <p:spPr bwMode="auto">
          <a:xfrm>
            <a:off x="152400" y="6534150"/>
            <a:ext cx="4648200" cy="323850"/>
          </a:xfrm>
          <a:prstGeom prst="rect">
            <a:avLst/>
          </a:prstGeom>
          <a:noFill/>
          <a:ln w="9525">
            <a:noFill/>
            <a:miter lim="800000"/>
          </a:ln>
          <a:effectLst/>
        </p:spPr>
        <p:txBody>
          <a:bodyPr vert="horz" wrap="square" lIns="85342" tIns="42672" rIns="85342" bIns="42672" numCol="1" anchor="b" anchorCtr="0" compatLnSpc="1"/>
          <a:lstStyle>
            <a:lvl1pPr eaLnBrk="1" hangingPunct="1">
              <a:defRPr sz="1000">
                <a:solidFill>
                  <a:srgbClr val="000000"/>
                </a:solidFill>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Basic Business Statistics, 11e © 2009 Prentice-Hall, Inc..</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6917" name="Rectangle 5"/>
          <p:cNvSpPr>
            <a:spLocks noGrp="1" noChangeArrowheads="1"/>
          </p:cNvSpPr>
          <p:nvPr>
            <p:ph type="sldNum" sz="quarter" idx="4"/>
          </p:nvPr>
        </p:nvSpPr>
        <p:spPr bwMode="auto">
          <a:xfrm>
            <a:off x="6858000" y="6534150"/>
            <a:ext cx="2133600" cy="320675"/>
          </a:xfrm>
          <a:prstGeom prst="rect">
            <a:avLst/>
          </a:prstGeom>
          <a:noFill/>
          <a:ln w="9525">
            <a:noFill/>
            <a:miter lim="800000"/>
          </a:ln>
          <a:effectLst/>
        </p:spPr>
        <p:txBody>
          <a:bodyPr vert="horz" wrap="square" lIns="85342" tIns="42672" rIns="85342" bIns="42672" numCol="1" anchor="b" anchorCtr="0" compatLnSpc="1"/>
          <a:lstStyle>
            <a:lvl1pPr algn="r">
              <a:defRPr sz="1000">
                <a:solidFill>
                  <a:srgbClr val="000000"/>
                </a:solidFill>
              </a:defRPr>
            </a:lvl1pPr>
          </a:lstStyle>
          <a:p>
            <a:pPr lvl="0" eaLnBrk="1" hangingPunct="1">
              <a:buNone/>
            </a:pPr>
            <a:r>
              <a:rPr lang="en-US" altLang="en-US" dirty="0">
                <a:latin typeface="Arial" panose="020B0604020202020204" pitchFamily="34" charset="0"/>
              </a:rPr>
              <a:t>Chap 3-</a:t>
            </a:r>
            <a:fld id="{9A0DB2DC-4C9A-4742-B13C-FB6460FD3503}" type="slidenum">
              <a:rPr lang="en-US" altLang="en-US" sz="1000" dirty="0">
                <a:solidFill>
                  <a:srgbClr val="000000"/>
                </a:solidFill>
                <a:latin typeface="Arial" panose="020B0604020202020204" pitchFamily="34" charset="0"/>
              </a:rPr>
            </a:fld>
            <a:endParaRPr lang="en-US" altLang="en-US" sz="1000" dirty="0">
              <a:solidFill>
                <a:srgbClr val="000000"/>
              </a:solidFill>
              <a:latin typeface="Arial" panose="020B0604020202020204" pitchFamily="34" charset="0"/>
            </a:endParaRPr>
          </a:p>
        </p:txBody>
      </p:sp>
      <p:grpSp>
        <p:nvGrpSpPr>
          <p:cNvPr id="2054" name="Group 6"/>
          <p:cNvGrpSpPr/>
          <p:nvPr/>
        </p:nvGrpSpPr>
        <p:grpSpPr>
          <a:xfrm>
            <a:off x="0" y="609600"/>
            <a:ext cx="9009063" cy="1181100"/>
            <a:chOff x="0" y="1536"/>
            <a:chExt cx="5675" cy="744"/>
          </a:xfrm>
        </p:grpSpPr>
        <p:grpSp>
          <p:nvGrpSpPr>
            <p:cNvPr id="2055" name="Group 7"/>
            <p:cNvGrpSpPr/>
            <p:nvPr userDrawn="1"/>
          </p:nvGrpSpPr>
          <p:grpSpPr>
            <a:xfrm>
              <a:off x="183" y="1604"/>
              <a:ext cx="448" cy="297"/>
              <a:chOff x="720" y="336"/>
              <a:chExt cx="624" cy="432"/>
            </a:xfrm>
          </p:grpSpPr>
          <p:sp>
            <p:nvSpPr>
              <p:cNvPr id="2062" name="Rectangle 8"/>
              <p:cNvSpPr>
                <a:spLocks noChangeArrowheads="1"/>
              </p:cNvSpPr>
              <p:nvPr/>
            </p:nvSpPr>
            <p:spPr bwMode="auto">
              <a:xfrm>
                <a:off x="720" y="336"/>
                <a:ext cx="384" cy="432"/>
              </a:xfrm>
              <a:prstGeom prst="rect">
                <a:avLst/>
              </a:prstGeom>
              <a:solidFill>
                <a:srgbClr val="FF0000"/>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63" name="Rectangle 9"/>
              <p:cNvSpPr>
                <a:spLocks noChangeArrowheads="1"/>
              </p:cNvSpPr>
              <p:nvPr/>
            </p:nvSpPr>
            <p:spPr bwMode="auto">
              <a:xfrm>
                <a:off x="1056" y="336"/>
                <a:ext cx="288" cy="432"/>
              </a:xfrm>
              <a:prstGeom prst="rect">
                <a:avLst/>
              </a:prstGeom>
              <a:gradFill rotWithShape="1">
                <a:gsLst>
                  <a:gs pos="0">
                    <a:srgbClr val="FF0000"/>
                  </a:gs>
                  <a:gs pos="100000">
                    <a:srgbClr val="FFFFFF"/>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
          <p:nvSpPr>
            <p:cNvPr id="2056" name="Rectangle 10"/>
            <p:cNvSpPr>
              <a:spLocks noChangeArrowheads="1"/>
            </p:cNvSpPr>
            <p:nvPr/>
          </p:nvSpPr>
          <p:spPr bwMode="auto">
            <a:xfrm>
              <a:off x="432" y="1868"/>
              <a:ext cx="294" cy="298"/>
            </a:xfrm>
            <a:prstGeom prst="rect">
              <a:avLst/>
            </a:prstGeom>
            <a:gradFill rotWithShape="1">
              <a:gsLst>
                <a:gs pos="0">
                  <a:srgbClr val="339966"/>
                </a:gs>
                <a:gs pos="100000">
                  <a:schemeClr val="bg1"/>
                </a:gs>
              </a:gsLst>
              <a:lin ang="27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57" name="Rectangle 11"/>
            <p:cNvSpPr>
              <a:spLocks noChangeArrowheads="1"/>
            </p:cNvSpPr>
            <p:nvPr/>
          </p:nvSpPr>
          <p:spPr bwMode="auto">
            <a:xfrm>
              <a:off x="245" y="1868"/>
              <a:ext cx="187" cy="298"/>
            </a:xfrm>
            <a:prstGeom prst="rect">
              <a:avLst/>
            </a:prstGeom>
            <a:solidFill>
              <a:srgbClr val="339966"/>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58" name="Rectangle 12"/>
            <p:cNvSpPr>
              <a:spLocks noChangeArrowheads="1"/>
            </p:cNvSpPr>
            <p:nvPr/>
          </p:nvSpPr>
          <p:spPr bwMode="auto">
            <a:xfrm>
              <a:off x="144" y="2016"/>
              <a:ext cx="353" cy="264"/>
            </a:xfrm>
            <a:prstGeom prst="rect">
              <a:avLst/>
            </a:prstGeom>
            <a:gradFill rotWithShape="1">
              <a:gsLst>
                <a:gs pos="0">
                  <a:srgbClr val="FFFF00"/>
                </a:gs>
                <a:gs pos="100000">
                  <a:srgbClr val="FFFFCC"/>
                </a:gs>
              </a:gsLst>
              <a:lin ang="54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59" name="Rectangle 13"/>
            <p:cNvSpPr>
              <a:spLocks noChangeArrowheads="1"/>
            </p:cNvSpPr>
            <p:nvPr/>
          </p:nvSpPr>
          <p:spPr bwMode="auto">
            <a:xfrm>
              <a:off x="0" y="1823"/>
              <a:ext cx="353" cy="264"/>
            </a:xfrm>
            <a:prstGeom prst="rect">
              <a:avLst/>
            </a:prstGeom>
            <a:gradFill rotWithShape="1">
              <a:gsLst>
                <a:gs pos="0">
                  <a:schemeClr val="bg1"/>
                </a:gs>
                <a:gs pos="100000">
                  <a:srgbClr val="0000FF"/>
                </a:gs>
              </a:gsLst>
              <a:lin ang="189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60" name="Rectangle 14"/>
            <p:cNvSpPr>
              <a:spLocks noChangeArrowheads="1"/>
            </p:cNvSpPr>
            <p:nvPr/>
          </p:nvSpPr>
          <p:spPr bwMode="auto">
            <a:xfrm>
              <a:off x="400" y="1536"/>
              <a:ext cx="20" cy="660"/>
            </a:xfrm>
            <a:prstGeom prst="rect">
              <a:avLst/>
            </a:prstGeom>
            <a:solidFill>
              <a:schemeClr val="bg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061" name="Rectangle 15"/>
            <p:cNvSpPr>
              <a:spLocks noChangeArrowheads="1"/>
            </p:cNvSpPr>
            <p:nvPr/>
          </p:nvSpPr>
          <p:spPr bwMode="auto">
            <a:xfrm flipV="1">
              <a:off x="199" y="2052"/>
              <a:ext cx="5476" cy="34"/>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hf sldNum="0" hdr="0" ftr="0" dt="0"/>
  <p:txStyles>
    <p:titleStyle>
      <a:lvl1pPr algn="l" defTabSz="852805" rtl="0" eaLnBrk="0" fontAlgn="base" hangingPunct="0">
        <a:spcBef>
          <a:spcPct val="0"/>
        </a:spcBef>
        <a:spcAft>
          <a:spcPct val="0"/>
        </a:spcAft>
        <a:defRPr sz="4000">
          <a:solidFill>
            <a:schemeClr val="tx2"/>
          </a:solidFill>
          <a:latin typeface="+mj-lt"/>
          <a:ea typeface="+mj-ea"/>
          <a:cs typeface="+mj-cs"/>
        </a:defRPr>
      </a:lvl1pPr>
      <a:lvl2pPr algn="l" defTabSz="852805" rtl="0" eaLnBrk="0" fontAlgn="base" hangingPunct="0">
        <a:spcBef>
          <a:spcPct val="0"/>
        </a:spcBef>
        <a:spcAft>
          <a:spcPct val="0"/>
        </a:spcAft>
        <a:defRPr sz="4000">
          <a:solidFill>
            <a:schemeClr val="tx2"/>
          </a:solidFill>
          <a:latin typeface="Arial" panose="020B0604020202020204" pitchFamily="34" charset="0"/>
        </a:defRPr>
      </a:lvl2pPr>
      <a:lvl3pPr algn="l" defTabSz="852805" rtl="0" eaLnBrk="0" fontAlgn="base" hangingPunct="0">
        <a:spcBef>
          <a:spcPct val="0"/>
        </a:spcBef>
        <a:spcAft>
          <a:spcPct val="0"/>
        </a:spcAft>
        <a:defRPr sz="4000">
          <a:solidFill>
            <a:schemeClr val="tx2"/>
          </a:solidFill>
          <a:latin typeface="Arial" panose="020B0604020202020204" pitchFamily="34" charset="0"/>
        </a:defRPr>
      </a:lvl3pPr>
      <a:lvl4pPr algn="l" defTabSz="852805" rtl="0" eaLnBrk="0" fontAlgn="base" hangingPunct="0">
        <a:spcBef>
          <a:spcPct val="0"/>
        </a:spcBef>
        <a:spcAft>
          <a:spcPct val="0"/>
        </a:spcAft>
        <a:defRPr sz="4000">
          <a:solidFill>
            <a:schemeClr val="tx2"/>
          </a:solidFill>
          <a:latin typeface="Arial" panose="020B0604020202020204" pitchFamily="34" charset="0"/>
        </a:defRPr>
      </a:lvl4pPr>
      <a:lvl5pPr algn="l" defTabSz="852805" rtl="0" eaLnBrk="0" fontAlgn="base" hangingPunct="0">
        <a:spcBef>
          <a:spcPct val="0"/>
        </a:spcBef>
        <a:spcAft>
          <a:spcPct val="0"/>
        </a:spcAft>
        <a:defRPr sz="4000">
          <a:solidFill>
            <a:schemeClr val="tx2"/>
          </a:solidFill>
          <a:latin typeface="Arial" panose="020B0604020202020204" pitchFamily="34" charset="0"/>
        </a:defRPr>
      </a:lvl5pPr>
      <a:lvl6pPr marL="457200" algn="l" defTabSz="852805" rtl="0" fontAlgn="base">
        <a:spcBef>
          <a:spcPct val="0"/>
        </a:spcBef>
        <a:spcAft>
          <a:spcPct val="0"/>
        </a:spcAft>
        <a:defRPr sz="4000">
          <a:solidFill>
            <a:schemeClr val="tx2"/>
          </a:solidFill>
          <a:latin typeface="Arial" panose="020B0604020202020204" pitchFamily="34" charset="0"/>
        </a:defRPr>
      </a:lvl6pPr>
      <a:lvl7pPr marL="914400" algn="l" defTabSz="852805" rtl="0" fontAlgn="base">
        <a:spcBef>
          <a:spcPct val="0"/>
        </a:spcBef>
        <a:spcAft>
          <a:spcPct val="0"/>
        </a:spcAft>
        <a:defRPr sz="4000">
          <a:solidFill>
            <a:schemeClr val="tx2"/>
          </a:solidFill>
          <a:latin typeface="Arial" panose="020B0604020202020204" pitchFamily="34" charset="0"/>
        </a:defRPr>
      </a:lvl7pPr>
      <a:lvl8pPr marL="1371600" algn="l" defTabSz="852805" rtl="0" fontAlgn="base">
        <a:spcBef>
          <a:spcPct val="0"/>
        </a:spcBef>
        <a:spcAft>
          <a:spcPct val="0"/>
        </a:spcAft>
        <a:defRPr sz="4000">
          <a:solidFill>
            <a:schemeClr val="tx2"/>
          </a:solidFill>
          <a:latin typeface="Arial" panose="020B0604020202020204" pitchFamily="34" charset="0"/>
        </a:defRPr>
      </a:lvl8pPr>
      <a:lvl9pPr marL="1828800" algn="l" defTabSz="852805" rtl="0" fontAlgn="base">
        <a:spcBef>
          <a:spcPct val="0"/>
        </a:spcBef>
        <a:spcAft>
          <a:spcPct val="0"/>
        </a:spcAft>
        <a:defRPr sz="4000">
          <a:solidFill>
            <a:schemeClr val="tx2"/>
          </a:solidFill>
          <a:latin typeface="Arial" panose="020B0604020202020204" pitchFamily="34" charset="0"/>
        </a:defRPr>
      </a:lvl9pPr>
    </p:titleStyle>
    <p:bodyStyle>
      <a:lvl1pPr marL="320675" indent="-320675" algn="l" defTabSz="852805"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694055" indent="-268605" algn="l" defTabSz="852805"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defRPr>
      </a:lvl2pPr>
      <a:lvl3pPr marL="1068705" indent="-215900" algn="l" defTabSz="852805" rtl="0" eaLnBrk="0" fontAlgn="base" hangingPunct="0">
        <a:spcBef>
          <a:spcPct val="20000"/>
        </a:spcBef>
        <a:spcAft>
          <a:spcPct val="0"/>
        </a:spcAft>
        <a:buClr>
          <a:schemeClr val="accent2"/>
        </a:buClr>
        <a:buSzPct val="50000"/>
        <a:buFont typeface="Wingdings" panose="05000000000000000000" pitchFamily="2" charset="2"/>
        <a:buChar char="n"/>
        <a:defRPr sz="2000">
          <a:solidFill>
            <a:schemeClr val="tx1"/>
          </a:solidFill>
          <a:latin typeface="+mn-lt"/>
        </a:defRPr>
      </a:lvl3pPr>
      <a:lvl4pPr marL="1494155" indent="-212725" algn="l" defTabSz="852805" rtl="0" eaLnBrk="0" fontAlgn="base" hangingPunct="0">
        <a:spcBef>
          <a:spcPct val="20000"/>
        </a:spcBef>
        <a:spcAft>
          <a:spcPct val="0"/>
        </a:spcAft>
        <a:buClr>
          <a:schemeClr val="folHlink"/>
        </a:buClr>
        <a:buSzPct val="55000"/>
        <a:buFont typeface="Wingdings" panose="05000000000000000000" pitchFamily="2" charset="2"/>
        <a:buChar char="n"/>
        <a:defRPr sz="2000">
          <a:solidFill>
            <a:schemeClr val="tx1"/>
          </a:solidFill>
          <a:latin typeface="+mn-lt"/>
        </a:defRPr>
      </a:lvl4pPr>
      <a:lvl5pPr marL="1919605" indent="-212725" algn="l" defTabSz="852805" rtl="0" eaLnBrk="0" fontAlgn="base" hangingPunct="0">
        <a:spcBef>
          <a:spcPct val="20000"/>
        </a:spcBef>
        <a:spcAft>
          <a:spcPct val="0"/>
        </a:spcAft>
        <a:buClr>
          <a:srgbClr val="FD2B4E"/>
        </a:buClr>
        <a:buSzPct val="50000"/>
        <a:buFont typeface="Wingdings" panose="05000000000000000000" pitchFamily="2" charset="2"/>
        <a:buChar char="n"/>
        <a:defRPr sz="2000">
          <a:solidFill>
            <a:schemeClr val="tx1"/>
          </a:solidFill>
          <a:latin typeface="+mn-lt"/>
        </a:defRPr>
      </a:lvl5pPr>
      <a:lvl6pPr marL="2376805" indent="-212725" algn="l" defTabSz="852805" rtl="0" fontAlgn="base">
        <a:spcBef>
          <a:spcPct val="20000"/>
        </a:spcBef>
        <a:spcAft>
          <a:spcPct val="0"/>
        </a:spcAft>
        <a:buClr>
          <a:srgbClr val="FD2B4E"/>
        </a:buClr>
        <a:buSzPct val="50000"/>
        <a:buFont typeface="Wingdings" panose="05000000000000000000" pitchFamily="2" charset="2"/>
        <a:buChar char="n"/>
        <a:defRPr sz="2000">
          <a:solidFill>
            <a:schemeClr val="tx1"/>
          </a:solidFill>
          <a:latin typeface="+mn-lt"/>
        </a:defRPr>
      </a:lvl6pPr>
      <a:lvl7pPr marL="2834005" indent="-212725" algn="l" defTabSz="852805" rtl="0" fontAlgn="base">
        <a:spcBef>
          <a:spcPct val="20000"/>
        </a:spcBef>
        <a:spcAft>
          <a:spcPct val="0"/>
        </a:spcAft>
        <a:buClr>
          <a:srgbClr val="FD2B4E"/>
        </a:buClr>
        <a:buSzPct val="50000"/>
        <a:buFont typeface="Wingdings" panose="05000000000000000000" pitchFamily="2" charset="2"/>
        <a:buChar char="n"/>
        <a:defRPr sz="2000">
          <a:solidFill>
            <a:schemeClr val="tx1"/>
          </a:solidFill>
          <a:latin typeface="+mn-lt"/>
        </a:defRPr>
      </a:lvl7pPr>
      <a:lvl8pPr marL="3291205" indent="-212725" algn="l" defTabSz="852805" rtl="0" fontAlgn="base">
        <a:spcBef>
          <a:spcPct val="20000"/>
        </a:spcBef>
        <a:spcAft>
          <a:spcPct val="0"/>
        </a:spcAft>
        <a:buClr>
          <a:srgbClr val="FD2B4E"/>
        </a:buClr>
        <a:buSzPct val="50000"/>
        <a:buFont typeface="Wingdings" panose="05000000000000000000" pitchFamily="2" charset="2"/>
        <a:buChar char="n"/>
        <a:defRPr sz="2000">
          <a:solidFill>
            <a:schemeClr val="tx1"/>
          </a:solidFill>
          <a:latin typeface="+mn-lt"/>
        </a:defRPr>
      </a:lvl8pPr>
      <a:lvl9pPr marL="3748405" indent="-212725" algn="l" defTabSz="852805" rtl="0" fontAlgn="base">
        <a:spcBef>
          <a:spcPct val="20000"/>
        </a:spcBef>
        <a:spcAft>
          <a:spcPct val="0"/>
        </a:spcAft>
        <a:buClr>
          <a:srgbClr val="FD2B4E"/>
        </a:buClr>
        <a:buSzPct val="50000"/>
        <a:buFont typeface="Wingdings" panose="05000000000000000000"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B9AEEE4-CC63-4094-BA61-3B380039EC98}" type="datetime1">
              <a:rPr kumimoji="0" 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pPr lvl="0" eaLnBrk="1" hangingPunct="1">
              <a:buNone/>
            </a:pPr>
            <a:fld id="{9A0DB2DC-4C9A-4742-B13C-FB6460FD3503}" type="slidenum">
              <a:rPr lang="en-IN" altLang="en-US" dirty="0"/>
            </a:fld>
            <a:endParaRPr lang="en-I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ransition spd="med">
    <p:wipe dir="d"/>
  </p:transition>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1.xml"/><Relationship Id="rId2" Type="http://schemas.openxmlformats.org/officeDocument/2006/relationships/image" Target="../media/image11.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85725" y="121285"/>
            <a:ext cx="8958580" cy="6610350"/>
          </a:xfrm>
          <a:prstGeom prst="rect">
            <a:avLst/>
          </a:prstGeom>
        </p:spPr>
      </p:pic>
    </p:spTree>
  </p:cSld>
  <p:clrMapOvr>
    <a:masterClrMapping/>
  </p:clrMapOvr>
  <p:transition spd="med">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ctrTitle"/>
          </p:nvPr>
        </p:nvSpPr>
        <p:spPr>
          <a:xfrm>
            <a:off x="0" y="0"/>
            <a:ext cx="9143365" cy="1085850"/>
          </a:xfrm>
          <a:solidFill>
            <a:srgbClr val="00B0F0"/>
          </a:solidFill>
        </p:spPr>
        <p:style>
          <a:lnRef idx="0">
            <a:schemeClr val="accent5"/>
          </a:lnRef>
          <a:fillRef idx="3">
            <a:schemeClr val="accent5"/>
          </a:fillRef>
          <a:effectRef idx="3">
            <a:schemeClr val="accent5"/>
          </a:effectRef>
          <a:fontRef idx="minor">
            <a:schemeClr val="lt1"/>
          </a:fontRef>
        </p:style>
        <p:txBody>
          <a:bodyPr vert="horz" wrap="square" lIns="91440" tIns="45720" rIns="91440" bIns="45720" anchor="ctr"/>
          <a:p>
            <a:pPr eaLnBrk="1" hangingPunct="1">
              <a:buClrTx/>
              <a:buSzTx/>
              <a:buFontTx/>
            </a:pPr>
            <a:r>
              <a:rPr lang="en-IN" altLang="en-US" sz="40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INTRODUCTION TO</a:t>
            </a:r>
            <a:br>
              <a:rPr lang="en-IN" altLang="en-US" sz="4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r>
              <a:rPr lang="en-US" altLang="en-US" sz="4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altLang="en-US" sz="40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ECONOMICS</a:t>
            </a:r>
            <a:endParaRPr lang="en-US" altLang="en-US" sz="40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051" name="Rectangle 3"/>
          <p:cNvSpPr>
            <a:spLocks noGrp="1" noChangeArrowheads="1"/>
          </p:cNvSpPr>
          <p:nvPr>
            <p:ph type="subTitle" idx="1"/>
          </p:nvPr>
        </p:nvSpPr>
        <p:spPr>
          <a:xfrm>
            <a:off x="3056890" y="1089660"/>
            <a:ext cx="6087110" cy="609600"/>
          </a:xfrm>
          <a:solidFill>
            <a:schemeClr val="bg1">
              <a:lumMod val="75000"/>
            </a:schemeClr>
          </a:solidFill>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Choices, Choices, Choices, . . .</a:t>
            </a:r>
            <a:endParaRPr kumimoji="0" 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pic>
        <p:nvPicPr>
          <p:cNvPr id="4100" name="Picture 4" descr="Title slide"/>
          <p:cNvPicPr>
            <a:picLocks noChangeAspect="1"/>
          </p:cNvPicPr>
          <p:nvPr/>
        </p:nvPicPr>
        <p:blipFill>
          <a:blip r:embed="rId1"/>
          <a:stretch>
            <a:fillRect/>
          </a:stretch>
        </p:blipFill>
        <p:spPr>
          <a:xfrm>
            <a:off x="0" y="4239895"/>
            <a:ext cx="3056255" cy="2618105"/>
          </a:xfrm>
          <a:prstGeom prst="rect">
            <a:avLst/>
          </a:prstGeom>
          <a:noFill/>
          <a:ln w="9525">
            <a:noFill/>
          </a:ln>
        </p:spPr>
      </p:pic>
      <p:pic>
        <p:nvPicPr>
          <p:cNvPr id="2" name="Picture 1"/>
          <p:cNvPicPr>
            <a:picLocks noChangeAspect="1"/>
          </p:cNvPicPr>
          <p:nvPr/>
        </p:nvPicPr>
        <p:blipFill>
          <a:blip r:embed="rId2"/>
          <a:stretch>
            <a:fillRect/>
          </a:stretch>
        </p:blipFill>
        <p:spPr>
          <a:xfrm>
            <a:off x="3056890" y="1698625"/>
            <a:ext cx="2953385" cy="3131185"/>
          </a:xfrm>
          <a:prstGeom prst="rect">
            <a:avLst/>
          </a:prstGeom>
        </p:spPr>
      </p:pic>
      <p:pic>
        <p:nvPicPr>
          <p:cNvPr id="3" name="Picture 2"/>
          <p:cNvPicPr>
            <a:picLocks noChangeAspect="1"/>
          </p:cNvPicPr>
          <p:nvPr/>
        </p:nvPicPr>
        <p:blipFill>
          <a:blip r:embed="rId3"/>
          <a:stretch>
            <a:fillRect/>
          </a:stretch>
        </p:blipFill>
        <p:spPr>
          <a:xfrm>
            <a:off x="6128385" y="1699260"/>
            <a:ext cx="3015615" cy="2862580"/>
          </a:xfrm>
          <a:prstGeom prst="rect">
            <a:avLst/>
          </a:prstGeom>
        </p:spPr>
      </p:pic>
      <p:pic>
        <p:nvPicPr>
          <p:cNvPr id="4" name="Picture 3"/>
          <p:cNvPicPr>
            <a:picLocks noChangeAspect="1"/>
          </p:cNvPicPr>
          <p:nvPr/>
        </p:nvPicPr>
        <p:blipFill>
          <a:blip r:embed="rId4"/>
          <a:stretch>
            <a:fillRect/>
          </a:stretch>
        </p:blipFill>
        <p:spPr>
          <a:xfrm>
            <a:off x="0" y="1089660"/>
            <a:ext cx="2966720" cy="2995295"/>
          </a:xfrm>
          <a:prstGeom prst="rect">
            <a:avLst/>
          </a:prstGeom>
        </p:spPr>
      </p:pic>
      <p:pic>
        <p:nvPicPr>
          <p:cNvPr id="5" name="Picture 4"/>
          <p:cNvPicPr>
            <a:picLocks noChangeAspect="1"/>
          </p:cNvPicPr>
          <p:nvPr/>
        </p:nvPicPr>
        <p:blipFill>
          <a:blip r:embed="rId5"/>
          <a:stretch>
            <a:fillRect/>
          </a:stretch>
        </p:blipFill>
        <p:spPr>
          <a:xfrm>
            <a:off x="3057525" y="4690745"/>
            <a:ext cx="6096000" cy="216662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457200" y="274955"/>
            <a:ext cx="8229600" cy="942340"/>
          </a:xfrm>
          <a:solidFill>
            <a:srgbClr val="00B0F0"/>
          </a:solidFill>
        </p:spPr>
        <p:txBody>
          <a:bodyPr vert="horz" wrap="square" lIns="91440" tIns="45720" rIns="91440" bIns="45720" anchor="ctr"/>
          <a:p>
            <a:pPr eaLnBrk="1" hangingPunct="1"/>
            <a:r>
              <a:rPr lang="en-US" altLang="en-US" dirty="0">
                <a:latin typeface="Times New Roman" panose="02020603050405020304" pitchFamily="18" charset="0"/>
                <a:cs typeface="Times New Roman" panose="02020603050405020304" pitchFamily="18" charset="0"/>
              </a:rPr>
              <a:t>Basic Branches of Economics?</a:t>
            </a:r>
            <a:endParaRPr lang="en-US" altLang="en-US" dirty="0">
              <a:latin typeface="Times New Roman" panose="02020603050405020304" pitchFamily="18" charset="0"/>
              <a:ea typeface="Times New Roman" panose="02020603050405020304" pitchFamily="18" charset="0"/>
            </a:endParaRPr>
          </a:p>
        </p:txBody>
      </p:sp>
      <p:sp>
        <p:nvSpPr>
          <p:cNvPr id="24579" name="Rectangle 3"/>
          <p:cNvSpPr>
            <a:spLocks noGrp="1"/>
          </p:cNvSpPr>
          <p:nvPr>
            <p:ph idx="1"/>
          </p:nvPr>
        </p:nvSpPr>
        <p:spPr>
          <a:xfrm>
            <a:off x="395288" y="1217613"/>
            <a:ext cx="4724400" cy="5451475"/>
          </a:xfrm>
        </p:spPr>
        <p:txBody>
          <a:bodyPr vert="horz" wrap="square" lIns="91440" tIns="45720" rIns="91440" bIns="45720" anchor="t"/>
          <a:p>
            <a:pPr eaLnBrk="1" hangingPunct="1"/>
            <a:r>
              <a:rPr lang="en-US" altLang="en-US" sz="2800" b="1" dirty="0">
                <a:latin typeface="Times New Roman" panose="02020603050405020304" pitchFamily="18" charset="0"/>
                <a:cs typeface="Times New Roman" panose="02020603050405020304" pitchFamily="18" charset="0"/>
              </a:rPr>
              <a:t>Microeconomics</a:t>
            </a:r>
            <a:endParaRPr lang="en-US" altLang="en-US" sz="2800" b="1" dirty="0">
              <a:latin typeface="Times New Roman" panose="02020603050405020304" pitchFamily="18" charset="0"/>
              <a:cs typeface="Times New Roman" panose="02020603050405020304" pitchFamily="18" charset="0"/>
            </a:endParaRPr>
          </a:p>
          <a:p>
            <a:pPr lvl="1" eaLnBrk="1" hangingPunct="1"/>
            <a:r>
              <a:rPr lang="en-US" altLang="en-US" sz="2400" dirty="0">
                <a:latin typeface="Times New Roman" panose="02020603050405020304" pitchFamily="18" charset="0"/>
                <a:cs typeface="Times New Roman" panose="02020603050405020304" pitchFamily="18" charset="0"/>
              </a:rPr>
              <a:t>Study of small economic units</a:t>
            </a:r>
            <a:endParaRPr lang="en-US" altLang="en-US" sz="2400" dirty="0">
              <a:latin typeface="Times New Roman" panose="02020603050405020304" pitchFamily="18" charset="0"/>
              <a:cs typeface="Times New Roman" panose="02020603050405020304" pitchFamily="18" charset="0"/>
            </a:endParaRPr>
          </a:p>
          <a:p>
            <a:pPr lvl="1" eaLnBrk="1" hangingPunct="1"/>
            <a:r>
              <a:rPr lang="en-US" altLang="en-US" sz="2400" dirty="0">
                <a:latin typeface="Times New Roman" panose="02020603050405020304" pitchFamily="18" charset="0"/>
                <a:cs typeface="Times New Roman" panose="02020603050405020304" pitchFamily="18" charset="0"/>
              </a:rPr>
              <a:t>How do individuals/ households/firms etc. make economic decisions</a:t>
            </a:r>
            <a:endParaRPr lang="en-US" altLang="en-US" sz="2400" dirty="0">
              <a:latin typeface="Times New Roman" panose="02020603050405020304" pitchFamily="18" charset="0"/>
              <a:cs typeface="Times New Roman" panose="02020603050405020304" pitchFamily="18" charset="0"/>
            </a:endParaRPr>
          </a:p>
          <a:p>
            <a:pPr eaLnBrk="1" hangingPunct="1"/>
            <a:endParaRPr lang="en-US" altLang="en-US" sz="2800" dirty="0">
              <a:latin typeface="Times New Roman" panose="02020603050405020304" pitchFamily="18" charset="0"/>
              <a:cs typeface="Times New Roman" panose="02020603050405020304" pitchFamily="18" charset="0"/>
            </a:endParaRPr>
          </a:p>
          <a:p>
            <a:pPr eaLnBrk="1" hangingPunct="1"/>
            <a:r>
              <a:rPr lang="en-US" altLang="en-US" sz="2800" b="1" dirty="0">
                <a:latin typeface="Times New Roman" panose="02020603050405020304" pitchFamily="18" charset="0"/>
                <a:cs typeface="Times New Roman" panose="02020603050405020304" pitchFamily="18" charset="0"/>
              </a:rPr>
              <a:t>Macroeconomics</a:t>
            </a:r>
            <a:endParaRPr lang="en-US" altLang="en-US" sz="2800" b="1" dirty="0">
              <a:latin typeface="Times New Roman" panose="02020603050405020304" pitchFamily="18" charset="0"/>
              <a:cs typeface="Times New Roman" panose="02020603050405020304" pitchFamily="18" charset="0"/>
            </a:endParaRPr>
          </a:p>
          <a:p>
            <a:pPr lvl="1" eaLnBrk="1" hangingPunct="1"/>
            <a:r>
              <a:rPr lang="en-US" altLang="en-US" sz="2400" dirty="0">
                <a:latin typeface="Times New Roman" panose="02020603050405020304" pitchFamily="18" charset="0"/>
                <a:cs typeface="Times New Roman" panose="02020603050405020304" pitchFamily="18" charset="0"/>
              </a:rPr>
              <a:t>Study of the large economy as a whole (Choices made by large groups )</a:t>
            </a:r>
            <a:endParaRPr lang="en-US" altLang="en-US" sz="2400" dirty="0">
              <a:latin typeface="Times New Roman" panose="02020603050405020304" pitchFamily="18" charset="0"/>
              <a:cs typeface="Times New Roman" panose="02020603050405020304" pitchFamily="18" charset="0"/>
            </a:endParaRPr>
          </a:p>
          <a:p>
            <a:pPr lvl="1" eaLnBrk="1" hangingPunct="1"/>
            <a:r>
              <a:rPr lang="en-US" altLang="en-US" sz="2400" dirty="0">
                <a:latin typeface="Times New Roman" panose="02020603050405020304" pitchFamily="18" charset="0"/>
                <a:cs typeface="Times New Roman" panose="02020603050405020304" pitchFamily="18" charset="0"/>
              </a:rPr>
              <a:t>The big picture: National Income, growth, employment, etc.</a:t>
            </a:r>
            <a:endParaRPr lang="en-US" altLang="en-US" sz="2400" dirty="0">
              <a:latin typeface="Times New Roman" panose="02020603050405020304" pitchFamily="18" charset="0"/>
              <a:cs typeface="Times New Roman" panose="02020603050405020304" pitchFamily="18" charset="0"/>
            </a:endParaRPr>
          </a:p>
          <a:p>
            <a:pPr lvl="1" eaLnBrk="1" hangingPunct="1">
              <a:buFontTx/>
              <a:buNone/>
            </a:pPr>
            <a:endParaRPr lang="en-US" altLang="en-US" sz="2400" dirty="0">
              <a:latin typeface="Times New Roman" panose="02020603050405020304" pitchFamily="18" charset="0"/>
              <a:ea typeface="Times New Roman" panose="02020603050405020304" pitchFamily="18" charset="0"/>
            </a:endParaRPr>
          </a:p>
        </p:txBody>
      </p:sp>
      <p:pic>
        <p:nvPicPr>
          <p:cNvPr id="24580" name="Picture 4" descr="macroecon"/>
          <p:cNvPicPr>
            <a:picLocks noChangeAspect="1"/>
          </p:cNvPicPr>
          <p:nvPr/>
        </p:nvPicPr>
        <p:blipFill>
          <a:blip r:embed="rId1"/>
          <a:stretch>
            <a:fillRect/>
          </a:stretch>
        </p:blipFill>
        <p:spPr>
          <a:xfrm>
            <a:off x="5715000" y="1371600"/>
            <a:ext cx="2438400" cy="2416175"/>
          </a:xfrm>
          <a:prstGeom prst="rect">
            <a:avLst/>
          </a:prstGeom>
          <a:noFill/>
          <a:ln w="9525">
            <a:noFill/>
          </a:ln>
        </p:spPr>
      </p:pic>
      <p:pic>
        <p:nvPicPr>
          <p:cNvPr id="24581" name="Picture 5" descr="microeconomics"/>
          <p:cNvPicPr>
            <a:picLocks noChangeAspect="1"/>
          </p:cNvPicPr>
          <p:nvPr/>
        </p:nvPicPr>
        <p:blipFill>
          <a:blip r:embed="rId2"/>
          <a:stretch>
            <a:fillRect/>
          </a:stretch>
        </p:blipFill>
        <p:spPr>
          <a:xfrm>
            <a:off x="5715000" y="4038600"/>
            <a:ext cx="2438400" cy="2235200"/>
          </a:xfrm>
          <a:prstGeom prst="rect">
            <a:avLst/>
          </a:prstGeom>
          <a:noFill/>
          <a:ln w="9525">
            <a:noFill/>
          </a:ln>
        </p:spPr>
      </p:pic>
    </p:spTree>
  </p:cSld>
  <p:clrMapOvr>
    <a:masterClrMapping/>
  </p:clrMapOvr>
  <p:transition spd="med">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p:nvPr/>
        </p:nvSpPr>
        <p:spPr>
          <a:xfrm>
            <a:off x="1258888" y="476250"/>
            <a:ext cx="6553200" cy="708025"/>
          </a:xfrm>
          <a:prstGeom prst="rect">
            <a:avLst/>
          </a:prstGeom>
          <a:solidFill>
            <a:srgbClr val="00B0F0"/>
          </a:solid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4000" dirty="0">
                <a:latin typeface="Times New Roman" panose="02020603050405020304" pitchFamily="18" charset="0"/>
                <a:cs typeface="Arial" panose="020B0604020202020204" pitchFamily="34" charset="0"/>
              </a:rPr>
              <a:t>Basic Branches of Economics?</a:t>
            </a:r>
            <a:endParaRPr lang="en-IN" altLang="en-US" sz="4000" dirty="0">
              <a:latin typeface="Times New Roman" panose="02020603050405020304" pitchFamily="18" charset="0"/>
              <a:ea typeface="Arial" panose="020B0604020202020204" pitchFamily="34" charset="0"/>
            </a:endParaRPr>
          </a:p>
        </p:txBody>
      </p:sp>
      <p:sp>
        <p:nvSpPr>
          <p:cNvPr id="25603" name="Subtitle 4"/>
          <p:cNvSpPr>
            <a:spLocks noGrp="1"/>
          </p:cNvSpPr>
          <p:nvPr>
            <p:ph type="subTitle" idx="1"/>
          </p:nvPr>
        </p:nvSpPr>
        <p:spPr>
          <a:xfrm>
            <a:off x="500063" y="1928813"/>
            <a:ext cx="8072437" cy="4524375"/>
          </a:xfrm>
        </p:spPr>
        <p:txBody>
          <a:bodyPr vert="horz" wrap="square" lIns="91440" tIns="45720" rIns="91440" bIns="45720" anchor="t"/>
          <a:p>
            <a:pPr algn="l" eaLnBrk="1" hangingPunct="1">
              <a:spcBef>
                <a:spcPts val="600"/>
              </a:spcBef>
              <a:spcAft>
                <a:spcPts val="600"/>
              </a:spcAft>
              <a:buClrTx/>
              <a:buSzTx/>
            </a:pPr>
            <a:r>
              <a:rPr lang="en-US" altLang="en-US" b="1" kern="1200" dirty="0">
                <a:solidFill>
                  <a:schemeClr val="tx1"/>
                </a:solidFill>
                <a:latin typeface="Times New Roman" panose="02020603050405020304" pitchFamily="18" charset="0"/>
                <a:ea typeface="+mn-ea"/>
                <a:cs typeface="Times New Roman" panose="02020603050405020304" pitchFamily="18" charset="0"/>
              </a:rPr>
              <a:t>Positive Economics- </a:t>
            </a:r>
            <a:r>
              <a:rPr lang="en-US" altLang="en-US" kern="1200" dirty="0">
                <a:solidFill>
                  <a:schemeClr val="tx1"/>
                </a:solidFill>
                <a:latin typeface="Times New Roman" panose="02020603050405020304" pitchFamily="18" charset="0"/>
                <a:ea typeface="+mn-ea"/>
                <a:cs typeface="Times New Roman" panose="02020603050405020304" pitchFamily="18" charset="0"/>
              </a:rPr>
              <a:t>Based on facts </a:t>
            </a:r>
            <a:endParaRPr lang="en-US" altLang="en-US" kern="1200" dirty="0">
              <a:solidFill>
                <a:schemeClr val="tx1"/>
              </a:solidFill>
              <a:latin typeface="Times New Roman" panose="02020603050405020304" pitchFamily="18" charset="0"/>
              <a:ea typeface="+mn-ea"/>
              <a:cs typeface="Times New Roman" panose="02020603050405020304" pitchFamily="18" charset="0"/>
            </a:endParaRPr>
          </a:p>
          <a:p>
            <a:pPr algn="l" eaLnBrk="1" hangingPunct="1">
              <a:spcBef>
                <a:spcPts val="600"/>
              </a:spcBef>
              <a:spcAft>
                <a:spcPts val="600"/>
              </a:spcAft>
              <a:buClrTx/>
              <a:buSzTx/>
            </a:pPr>
            <a:r>
              <a:rPr lang="en-US" altLang="en-US" kern="1200" dirty="0">
                <a:solidFill>
                  <a:schemeClr val="tx1"/>
                </a:solidFill>
                <a:latin typeface="Times New Roman" panose="02020603050405020304" pitchFamily="18" charset="0"/>
                <a:ea typeface="+mn-ea"/>
                <a:cs typeface="Times New Roman" panose="02020603050405020304" pitchFamily="18" charset="0"/>
              </a:rPr>
              <a:t>Avoids value judgments (what is)</a:t>
            </a:r>
            <a:endParaRPr lang="en-US" altLang="en-US" kern="1200" dirty="0">
              <a:solidFill>
                <a:schemeClr val="tx1"/>
              </a:solidFill>
              <a:latin typeface="Times New Roman" panose="02020603050405020304" pitchFamily="18" charset="0"/>
              <a:ea typeface="+mn-ea"/>
              <a:cs typeface="Times New Roman" panose="02020603050405020304" pitchFamily="18" charset="0"/>
            </a:endParaRPr>
          </a:p>
          <a:p>
            <a:pPr algn="l" eaLnBrk="1" hangingPunct="1">
              <a:spcBef>
                <a:spcPts val="600"/>
              </a:spcBef>
              <a:spcAft>
                <a:spcPts val="600"/>
              </a:spcAft>
              <a:buClrTx/>
              <a:buSzTx/>
            </a:pPr>
            <a:endParaRPr lang="en-US" altLang="en-US" kern="1200" dirty="0">
              <a:solidFill>
                <a:schemeClr val="tx1"/>
              </a:solidFill>
              <a:latin typeface="Times New Roman" panose="02020603050405020304" pitchFamily="18" charset="0"/>
              <a:ea typeface="+mn-ea"/>
              <a:cs typeface="Times New Roman" panose="02020603050405020304" pitchFamily="18" charset="0"/>
            </a:endParaRPr>
          </a:p>
          <a:p>
            <a:pPr algn="l" eaLnBrk="1" hangingPunct="1">
              <a:spcBef>
                <a:spcPts val="600"/>
              </a:spcBef>
              <a:spcAft>
                <a:spcPts val="600"/>
              </a:spcAft>
              <a:buClrTx/>
              <a:buSzTx/>
            </a:pPr>
            <a:r>
              <a:rPr lang="en-US" altLang="en-US" b="1" kern="1200" dirty="0">
                <a:solidFill>
                  <a:schemeClr val="tx1"/>
                </a:solidFill>
                <a:latin typeface="Times New Roman" panose="02020603050405020304" pitchFamily="18" charset="0"/>
                <a:ea typeface="+mn-ea"/>
                <a:cs typeface="Times New Roman" panose="02020603050405020304" pitchFamily="18" charset="0"/>
              </a:rPr>
              <a:t>Normative Economics- </a:t>
            </a:r>
            <a:r>
              <a:rPr lang="en-US" altLang="en-US" kern="1200" dirty="0">
                <a:solidFill>
                  <a:schemeClr val="tx1"/>
                </a:solidFill>
                <a:latin typeface="Times New Roman" panose="02020603050405020304" pitchFamily="18" charset="0"/>
                <a:ea typeface="+mn-ea"/>
                <a:cs typeface="Times New Roman" panose="02020603050405020304" pitchFamily="18" charset="0"/>
              </a:rPr>
              <a:t>Includes value judgments (what ought to be)</a:t>
            </a:r>
            <a:endParaRPr lang="en-US" altLang="en-US" kern="1200" dirty="0">
              <a:solidFill>
                <a:schemeClr val="tx1"/>
              </a:solidFill>
              <a:latin typeface="Times New Roman" panose="02020603050405020304" pitchFamily="18" charset="0"/>
              <a:ea typeface="+mn-ea"/>
              <a:cs typeface="Times New Roman" panose="02020603050405020304" pitchFamily="18" charset="0"/>
            </a:endParaRPr>
          </a:p>
          <a:p>
            <a:pPr algn="l" eaLnBrk="1" hangingPunct="1">
              <a:lnSpc>
                <a:spcPct val="150000"/>
              </a:lnSpc>
              <a:spcBef>
                <a:spcPts val="1200"/>
              </a:spcBef>
              <a:spcAft>
                <a:spcPts val="1200"/>
              </a:spcAft>
              <a:buClrTx/>
              <a:buSzTx/>
            </a:pPr>
            <a:endParaRPr lang="en-US" altLang="en-US" kern="1200" dirty="0">
              <a:solidFill>
                <a:schemeClr val="tx1"/>
              </a:solidFill>
              <a:latin typeface="Times New Roman" panose="02020603050405020304" pitchFamily="18" charset="0"/>
              <a:ea typeface="Times New Roman" panose="02020603050405020304" pitchFamily="18" charset="0"/>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2" name="Picture 2"/>
          <p:cNvPicPr>
            <a:picLocks noChangeAspect="1"/>
          </p:cNvPicPr>
          <p:nvPr/>
        </p:nvPicPr>
        <p:blipFill>
          <a:blip r:embed="rId1"/>
          <a:srcRect l="40810" t="14648" r="19337" b="78516"/>
          <a:stretch>
            <a:fillRect/>
          </a:stretch>
        </p:blipFill>
        <p:spPr>
          <a:xfrm>
            <a:off x="0" y="0"/>
            <a:ext cx="9144000" cy="1013460"/>
          </a:xfrm>
          <a:prstGeom prst="rect">
            <a:avLst/>
          </a:prstGeom>
          <a:noFill/>
          <a:ln w="9525">
            <a:noFill/>
          </a:ln>
        </p:spPr>
      </p:pic>
      <p:sp>
        <p:nvSpPr>
          <p:cNvPr id="35843" name="Rectangle 2"/>
          <p:cNvSpPr/>
          <p:nvPr/>
        </p:nvSpPr>
        <p:spPr>
          <a:xfrm>
            <a:off x="69850" y="44450"/>
            <a:ext cx="7670800" cy="70675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THREE PRINCIPLES OF ECONOMICS</a:t>
            </a:r>
            <a:endParaRPr lang="en-IN" altLang="en-US" sz="4000" b="1" dirty="0">
              <a:solidFill>
                <a:schemeClr val="bg1"/>
              </a:solidFill>
              <a:latin typeface="Perpetua" pitchFamily="18" charset="0"/>
              <a:ea typeface="Arial" panose="020B0604020202020204" pitchFamily="34" charset="0"/>
            </a:endParaRPr>
          </a:p>
        </p:txBody>
      </p:sp>
      <p:sp>
        <p:nvSpPr>
          <p:cNvPr id="35844"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29702" name="Subtitle 4"/>
          <p:cNvSpPr>
            <a:spLocks noGrp="1"/>
          </p:cNvSpPr>
          <p:nvPr>
            <p:ph type="subTitle" idx="1"/>
          </p:nvPr>
        </p:nvSpPr>
        <p:spPr>
          <a:xfrm>
            <a:off x="172085" y="1157605"/>
            <a:ext cx="8631555" cy="5478145"/>
          </a:xfrm>
        </p:spPr>
        <p:txBody>
          <a:bodyPr vert="horz" wrap="square" lIns="91440" tIns="45720" rIns="91440" bIns="45720" numCol="1" anchor="t" anchorCtr="0" compatLnSpc="1"/>
          <a:lstStyle/>
          <a:p>
            <a:pPr marL="457200" lvl="0" indent="-457200" algn="just">
              <a:buFont typeface="Arial" panose="020B0604020202020204" pitchFamily="34" charset="0"/>
              <a:buChar char="•"/>
            </a:pPr>
            <a:r>
              <a:rPr lang="en-IN" altLang="en-US" sz="3400" dirty="0">
                <a:solidFill>
                  <a:schemeClr val="tx1"/>
                </a:solidFill>
                <a:latin typeface="Times New Roman" panose="02020603050405020304" pitchFamily="18" charset="0"/>
                <a:cs typeface="Times New Roman" panose="02020603050405020304" pitchFamily="18" charset="0"/>
                <a:sym typeface="+mn-ea"/>
              </a:rPr>
              <a:t>The study of economics has many facets, but it is unified by several central ideas</a:t>
            </a:r>
            <a:endParaRPr lang="en-IN" altLang="en-US" sz="3400" dirty="0">
              <a:solidFill>
                <a:schemeClr val="tx1"/>
              </a:solidFill>
              <a:latin typeface="Times New Roman" panose="02020603050405020304" pitchFamily="18" charset="0"/>
              <a:cs typeface="Times New Roman" panose="02020603050405020304" pitchFamily="18" charset="0"/>
              <a:sym typeface="+mn-ea"/>
            </a:endParaRPr>
          </a:p>
          <a:p>
            <a:pPr marL="457200" lvl="0" indent="-457200" algn="just">
              <a:buFont typeface="Arial" panose="020B0604020202020204" pitchFamily="34" charset="0"/>
              <a:buChar char="•"/>
            </a:pPr>
            <a:endParaRPr lang="en-IN" altLang="en-US" sz="3400" dirty="0">
              <a:solidFill>
                <a:schemeClr val="tx1"/>
              </a:solidFill>
              <a:latin typeface="Times New Roman" panose="02020603050405020304" pitchFamily="18" charset="0"/>
              <a:cs typeface="Times New Roman" panose="02020603050405020304" pitchFamily="18" charset="0"/>
              <a:sym typeface="+mn-ea"/>
            </a:endParaRPr>
          </a:p>
          <a:p>
            <a:pPr marL="457200" lvl="0" indent="-457200" algn="just">
              <a:buFont typeface="Arial" panose="020B0604020202020204" pitchFamily="34" charset="0"/>
              <a:buChar char="•"/>
            </a:pPr>
            <a:r>
              <a:rPr lang="en-IN" altLang="en-US" sz="3400" dirty="0">
                <a:solidFill>
                  <a:schemeClr val="tx1"/>
                </a:solidFill>
                <a:latin typeface="Times New Roman" panose="02020603050405020304" pitchFamily="18" charset="0"/>
                <a:cs typeface="Times New Roman" panose="02020603050405020304" pitchFamily="18" charset="0"/>
                <a:sym typeface="+mn-ea"/>
              </a:rPr>
              <a:t>Don't worry if you don't understand them all at first or if you aren’t completely convinced </a:t>
            </a:r>
            <a:endParaRPr lang="en-IN" altLang="en-US" sz="3400" dirty="0">
              <a:solidFill>
                <a:schemeClr val="tx1"/>
              </a:solidFill>
              <a:latin typeface="Times New Roman" panose="02020603050405020304" pitchFamily="18" charset="0"/>
              <a:cs typeface="Times New Roman" panose="02020603050405020304" pitchFamily="18" charset="0"/>
              <a:sym typeface="+mn-ea"/>
            </a:endParaRPr>
          </a:p>
          <a:p>
            <a:pPr marL="457200" lvl="0" indent="-457200" algn="just">
              <a:buFont typeface="Arial" panose="020B0604020202020204" pitchFamily="34" charset="0"/>
              <a:buChar char="•"/>
            </a:pPr>
            <a:endParaRPr lang="en-IN" altLang="en-US" sz="3400" dirty="0">
              <a:solidFill>
                <a:schemeClr val="tx1"/>
              </a:solidFill>
              <a:latin typeface="Times New Roman" panose="02020603050405020304" pitchFamily="18" charset="0"/>
              <a:cs typeface="Times New Roman" panose="02020603050405020304" pitchFamily="18" charset="0"/>
              <a:sym typeface="+mn-ea"/>
            </a:endParaRPr>
          </a:p>
          <a:p>
            <a:pPr marL="457200" lvl="0" indent="-457200" algn="just">
              <a:buFont typeface="Arial" panose="020B0604020202020204" pitchFamily="34" charset="0"/>
              <a:buChar char="•"/>
            </a:pPr>
            <a:r>
              <a:rPr lang="en-IN" altLang="en-US" sz="3400" dirty="0">
                <a:solidFill>
                  <a:schemeClr val="tx1"/>
                </a:solidFill>
                <a:latin typeface="Times New Roman" panose="02020603050405020304" pitchFamily="18" charset="0"/>
                <a:cs typeface="Times New Roman" panose="02020603050405020304" pitchFamily="18" charset="0"/>
                <a:sym typeface="+mn-ea"/>
              </a:rPr>
              <a:t>We will explore these ideas more fully in later chapters. Consider these central ideas as </a:t>
            </a:r>
            <a:r>
              <a:rPr lang="en-IN" altLang="en-US" sz="3400" b="1" i="1" dirty="0">
                <a:solidFill>
                  <a:srgbClr val="FF0000"/>
                </a:solidFill>
                <a:latin typeface="Times New Roman" panose="02020603050405020304" pitchFamily="18" charset="0"/>
                <a:cs typeface="Times New Roman" panose="02020603050405020304" pitchFamily="18" charset="0"/>
                <a:sym typeface="+mn-ea"/>
              </a:rPr>
              <a:t>“preview of coming attractions”</a:t>
            </a:r>
            <a:endParaRPr kumimoji="0" lang="en-IN" altLang="en-US" sz="3400" b="1"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endParaRP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702">
                                            <p:txEl>
                                              <p:charRg st="0" end="23"/>
                                            </p:txEl>
                                          </p:spTgt>
                                        </p:tgtEl>
                                        <p:attrNameLst>
                                          <p:attrName>style.visibility</p:attrName>
                                        </p:attrNameLst>
                                      </p:cBhvr>
                                      <p:to>
                                        <p:strVal val="visible"/>
                                      </p:to>
                                    </p:set>
                                    <p:anim calcmode="lin" valueType="num">
                                      <p:cBhvr additive="base">
                                        <p:cTn id="7" dur="500" fill="hold"/>
                                        <p:tgtEl>
                                          <p:spTgt spid="29702">
                                            <p:txEl>
                                              <p:charRg st="0" end="2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702">
                                            <p:txEl>
                                              <p:charRg st="0" end="2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702">
                                            <p:txEl>
                                              <p:charRg st="1" end="1"/>
                                            </p:txEl>
                                          </p:spTgt>
                                        </p:tgtEl>
                                        <p:attrNameLst>
                                          <p:attrName>style.visibility</p:attrName>
                                        </p:attrNameLst>
                                      </p:cBhvr>
                                      <p:to>
                                        <p:strVal val="visible"/>
                                      </p:to>
                                    </p:set>
                                    <p:anim calcmode="lin" valueType="num">
                                      <p:cBhvr additive="base">
                                        <p:cTn id="13" dur="500" fill="hold"/>
                                        <p:tgtEl>
                                          <p:spTgt spid="29702">
                                            <p:txEl>
                                              <p:char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702">
                                            <p:txEl>
                                              <p:char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702">
                                            <p:txEl>
                                              <p:charRg st="2" end="2"/>
                                            </p:txEl>
                                          </p:spTgt>
                                        </p:tgtEl>
                                        <p:attrNameLst>
                                          <p:attrName>style.visibility</p:attrName>
                                        </p:attrNameLst>
                                      </p:cBhvr>
                                      <p:to>
                                        <p:strVal val="visible"/>
                                      </p:to>
                                    </p:set>
                                    <p:anim calcmode="lin" valueType="num">
                                      <p:cBhvr additive="base">
                                        <p:cTn id="19" dur="500" fill="hold"/>
                                        <p:tgtEl>
                                          <p:spTgt spid="29702">
                                            <p:txEl>
                                              <p:char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702">
                                            <p:txEl>
                                              <p:char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8"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39939" name="Rectangle 2"/>
          <p:cNvSpPr/>
          <p:nvPr/>
        </p:nvSpPr>
        <p:spPr>
          <a:xfrm>
            <a:off x="69850" y="44450"/>
            <a:ext cx="7670800" cy="13239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Principles of Economics: Some Central Ideas</a:t>
            </a:r>
            <a:endParaRPr lang="en-IN" altLang="en-US" sz="4000" b="1" dirty="0">
              <a:solidFill>
                <a:schemeClr val="bg1"/>
              </a:solidFill>
              <a:latin typeface="Perpetua" pitchFamily="18" charset="0"/>
              <a:ea typeface="Arial" panose="020B0604020202020204" pitchFamily="34" charset="0"/>
            </a:endParaRPr>
          </a:p>
        </p:txBody>
      </p:sp>
      <p:sp>
        <p:nvSpPr>
          <p:cNvPr id="39940"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25606" name="Subtitle 4"/>
          <p:cNvSpPr>
            <a:spLocks noGrp="1"/>
          </p:cNvSpPr>
          <p:nvPr>
            <p:ph type="subTitle" idx="1"/>
          </p:nvPr>
        </p:nvSpPr>
        <p:spPr>
          <a:xfrm>
            <a:off x="571500" y="1628775"/>
            <a:ext cx="8032750" cy="4679950"/>
          </a:xfrm>
        </p:spPr>
        <p:txBody>
          <a:bodyPr vert="horz" wrap="square" lIns="91440" tIns="45720" rIns="91440" bIns="45720" anchor="t"/>
          <a:p>
            <a:pPr marL="742950" indent="-742950" algn="just" eaLnBrk="1" hangingPunct="1">
              <a:spcBef>
                <a:spcPts val="1200"/>
              </a:spcBef>
              <a:spcAft>
                <a:spcPts val="1200"/>
              </a:spcAft>
              <a:buClrTx/>
              <a:buSzTx/>
              <a:buFont typeface="Calibri" panose="020F0502020204030204" pitchFamily="34" charset="0"/>
              <a:buAutoNum type="arabicParenR"/>
            </a:pPr>
            <a:r>
              <a:rPr lang="en-IN" altLang="en-US" sz="4000" b="1" kern="1200" dirty="0">
                <a:solidFill>
                  <a:srgbClr val="000099"/>
                </a:solidFill>
                <a:latin typeface="Perpetua" pitchFamily="18" charset="0"/>
                <a:ea typeface="+mn-ea"/>
                <a:cs typeface="Times New Roman" panose="02020603050405020304" pitchFamily="18" charset="0"/>
              </a:rPr>
              <a:t>People face trade-offs</a:t>
            </a:r>
            <a:endParaRPr lang="en-IN" altLang="en-US" sz="4000" b="1" kern="1200" dirty="0">
              <a:solidFill>
                <a:srgbClr val="000099"/>
              </a:solidFill>
              <a:latin typeface="Perpetua" pitchFamily="18" charset="0"/>
              <a:ea typeface="+mn-ea"/>
              <a:cs typeface="Times New Roman" panose="02020603050405020304" pitchFamily="18" charset="0"/>
            </a:endParaRPr>
          </a:p>
          <a:p>
            <a:pPr marL="742950" indent="-742950" eaLnBrk="1" hangingPunct="1">
              <a:spcBef>
                <a:spcPts val="1200"/>
              </a:spcBef>
              <a:spcAft>
                <a:spcPts val="1200"/>
              </a:spcAft>
              <a:buClrTx/>
              <a:buSzTx/>
            </a:pPr>
            <a:r>
              <a:rPr lang="en-IN" altLang="en-US" sz="3600" b="1" kern="1200" dirty="0">
                <a:solidFill>
                  <a:schemeClr val="tx1"/>
                </a:solidFill>
                <a:latin typeface="Perpetua" pitchFamily="18" charset="0"/>
                <a:ea typeface="+mn-ea"/>
                <a:cs typeface="Times New Roman" panose="02020603050405020304" pitchFamily="18" charset="0"/>
              </a:rPr>
              <a:t>“There is no such thing as a free lunch!”</a:t>
            </a:r>
            <a:endParaRPr lang="en-IN" altLang="en-US" sz="3600" b="1" kern="1200" dirty="0">
              <a:solidFill>
                <a:schemeClr val="tx1"/>
              </a:solidFill>
              <a:latin typeface="Perpetua" pitchFamily="18" charset="0"/>
              <a:ea typeface="Times New Roman" panose="02020603050405020304" pitchFamily="18" charset="0"/>
              <a:cs typeface="+mn-cs"/>
            </a:endParaRPr>
          </a:p>
        </p:txBody>
      </p:sp>
      <p:pic>
        <p:nvPicPr>
          <p:cNvPr id="67586" name="Picture 2"/>
          <p:cNvPicPr>
            <a:picLocks noChangeAspect="1"/>
          </p:cNvPicPr>
          <p:nvPr/>
        </p:nvPicPr>
        <p:blipFill>
          <a:blip r:embed="rId2"/>
          <a:stretch>
            <a:fillRect/>
          </a:stretch>
        </p:blipFill>
        <p:spPr>
          <a:xfrm>
            <a:off x="571183" y="3644900"/>
            <a:ext cx="2886075" cy="2009775"/>
          </a:xfrm>
          <a:prstGeom prst="rect">
            <a:avLst/>
          </a:prstGeom>
          <a:noFill/>
          <a:ln w="9525">
            <a:noFill/>
          </a:ln>
        </p:spPr>
      </p:pic>
      <p:sp>
        <p:nvSpPr>
          <p:cNvPr id="8" name="Rectangle 7"/>
          <p:cNvSpPr/>
          <p:nvPr/>
        </p:nvSpPr>
        <p:spPr>
          <a:xfrm>
            <a:off x="5735320" y="3444875"/>
            <a:ext cx="2951480" cy="31203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sz="3000" b="1" i="0" u="none" strike="noStrike" kern="1200" cap="none" spc="0" normalizeH="0" baseline="0" noProof="0" dirty="0">
                <a:ln>
                  <a:noFill/>
                </a:ln>
                <a:solidFill>
                  <a:schemeClr val="lt1"/>
                </a:solidFill>
                <a:effectLst/>
                <a:uLnTx/>
                <a:uFillTx/>
                <a:latin typeface="Perpetua" pitchFamily="18" charset="0"/>
                <a:ea typeface="+mn-ea"/>
                <a:cs typeface="+mn-cs"/>
              </a:rPr>
              <a:t>Making decisions requires trading </a:t>
            </a:r>
            <a:endParaRPr kumimoji="0" lang="en-IN" sz="3000" b="1" i="0" u="none" strike="noStrike" kern="1200" cap="none" spc="0" normalizeH="0" baseline="0" noProof="0" dirty="0">
              <a:ln>
                <a:noFill/>
              </a:ln>
              <a:solidFill>
                <a:schemeClr val="lt1"/>
              </a:solidFill>
              <a:effectLst/>
              <a:uLnTx/>
              <a:uFillTx/>
              <a:latin typeface="Perpetua"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IN" sz="3000" b="1" i="0" u="none" strike="noStrike" kern="1200" cap="none" spc="0" normalizeH="0" baseline="0" noProof="0" dirty="0">
                <a:ln>
                  <a:noFill/>
                </a:ln>
                <a:solidFill>
                  <a:schemeClr val="lt1"/>
                </a:solidFill>
                <a:effectLst/>
                <a:uLnTx/>
                <a:uFillTx/>
                <a:latin typeface="Perpetua" pitchFamily="18" charset="0"/>
                <a:ea typeface="+mn-ea"/>
                <a:cs typeface="+mn-cs"/>
              </a:rPr>
              <a:t>off one goal against another</a:t>
            </a:r>
            <a:endParaRPr kumimoji="0" lang="en-IN" sz="3000" b="1" i="0" u="none" strike="noStrike" kern="1200" cap="none" spc="0" normalizeH="0" baseline="0" noProof="0" dirty="0">
              <a:ln>
                <a:noFill/>
              </a:ln>
              <a:solidFill>
                <a:schemeClr val="lt1"/>
              </a:solidFill>
              <a:effectLst/>
              <a:uLnTx/>
              <a:uFillTx/>
              <a:latin typeface="Perpetua" pitchFamily="18" charset="0"/>
              <a:ea typeface="+mn-ea"/>
              <a:cs typeface="+mn-cs"/>
            </a:endParaRP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6">
                                            <p:txEl>
                                              <p:charRg st="0" end="23"/>
                                            </p:txEl>
                                          </p:spTgt>
                                        </p:tgtEl>
                                        <p:attrNameLst>
                                          <p:attrName>style.visibility</p:attrName>
                                        </p:attrNameLst>
                                      </p:cBhvr>
                                      <p:to>
                                        <p:strVal val="visible"/>
                                      </p:to>
                                    </p:set>
                                    <p:anim calcmode="lin" valueType="num">
                                      <p:cBhvr additive="base">
                                        <p:cTn id="7" dur="500" fill="hold"/>
                                        <p:tgtEl>
                                          <p:spTgt spid="25606">
                                            <p:txEl>
                                              <p:charRg st="0" end="2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6">
                                            <p:txEl>
                                              <p:charRg st="0" end="2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606">
                                            <p:txEl>
                                              <p:charRg st="23" end="65"/>
                                            </p:txEl>
                                          </p:spTgt>
                                        </p:tgtEl>
                                        <p:attrNameLst>
                                          <p:attrName>style.visibility</p:attrName>
                                        </p:attrNameLst>
                                      </p:cBhvr>
                                      <p:to>
                                        <p:strVal val="visible"/>
                                      </p:to>
                                    </p:set>
                                    <p:anim calcmode="lin" valueType="num">
                                      <p:cBhvr additive="base">
                                        <p:cTn id="13" dur="500" fill="hold"/>
                                        <p:tgtEl>
                                          <p:spTgt spid="25606">
                                            <p:txEl>
                                              <p:charRg st="23" end="6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6">
                                            <p:txEl>
                                              <p:charRg st="23" end="6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586"/>
                                        </p:tgtEl>
                                        <p:attrNameLst>
                                          <p:attrName>style.visibility</p:attrName>
                                        </p:attrNameLst>
                                      </p:cBhvr>
                                      <p:to>
                                        <p:strVal val="visible"/>
                                      </p:to>
                                    </p:set>
                                    <p:anim calcmode="lin" valueType="num">
                                      <p:cBhvr additive="base">
                                        <p:cTn id="19" dur="500" fill="hold"/>
                                        <p:tgtEl>
                                          <p:spTgt spid="67586"/>
                                        </p:tgtEl>
                                        <p:attrNameLst>
                                          <p:attrName>ppt_x</p:attrName>
                                        </p:attrNameLst>
                                      </p:cBhvr>
                                      <p:tavLst>
                                        <p:tav tm="0">
                                          <p:val>
                                            <p:strVal val="#ppt_x"/>
                                          </p:val>
                                        </p:tav>
                                        <p:tav tm="100000">
                                          <p:val>
                                            <p:strVal val="#ppt_x"/>
                                          </p:val>
                                        </p:tav>
                                      </p:tavLst>
                                    </p:anim>
                                    <p:anim calcmode="lin" valueType="num">
                                      <p:cBhvr additive="base">
                                        <p:cTn id="20" dur="500" fill="hold"/>
                                        <p:tgtEl>
                                          <p:spTgt spid="6758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6"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41987"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41988"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25606" name="Subtitle 4"/>
          <p:cNvSpPr>
            <a:spLocks noGrp="1"/>
          </p:cNvSpPr>
          <p:nvPr>
            <p:ph type="subTitle" idx="1"/>
          </p:nvPr>
        </p:nvSpPr>
        <p:spPr>
          <a:xfrm>
            <a:off x="323850" y="1484630"/>
            <a:ext cx="8032750" cy="5161915"/>
          </a:xfrm>
        </p:spPr>
        <p:txBody>
          <a:bodyPr vert="horz" wrap="square" lIns="91440" tIns="45720" rIns="91440" bIns="45720" anchor="t"/>
          <a:p>
            <a:pPr marL="514350" indent="-514350" algn="just" eaLnBrk="1" hangingPunct="1">
              <a:spcBef>
                <a:spcPts val="600"/>
              </a:spcBef>
              <a:spcAft>
                <a:spcPts val="1000"/>
              </a:spcAft>
              <a:buClrTx/>
              <a:buSzTx/>
            </a:pPr>
            <a:r>
              <a:rPr lang="en-IN" altLang="en-US" sz="4000" b="1" kern="1200" dirty="0">
                <a:solidFill>
                  <a:schemeClr val="tx1"/>
                </a:solidFill>
                <a:latin typeface="Perpetua" pitchFamily="18" charset="0"/>
                <a:ea typeface="+mn-ea"/>
                <a:cs typeface="Times New Roman" panose="02020603050405020304" pitchFamily="18" charset="0"/>
              </a:rPr>
              <a:t>To get one thing, we usually have to give up another thing</a:t>
            </a:r>
            <a:endParaRPr lang="en-IN" altLang="en-US" sz="40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4000" b="1" kern="1200" dirty="0">
                <a:solidFill>
                  <a:srgbClr val="000099"/>
                </a:solidFill>
                <a:latin typeface="Perpetua" pitchFamily="18" charset="0"/>
                <a:ea typeface="+mn-ea"/>
                <a:cs typeface="Times New Roman" panose="02020603050405020304" pitchFamily="18" charset="0"/>
              </a:rPr>
              <a:t>Leisure time vs. work</a:t>
            </a:r>
            <a:endParaRPr lang="en-IN" altLang="en-US" sz="40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4000" b="1" kern="1200" dirty="0">
                <a:solidFill>
                  <a:srgbClr val="000099"/>
                </a:solidFill>
                <a:latin typeface="Perpetua" pitchFamily="18" charset="0"/>
                <a:ea typeface="+mn-ea"/>
                <a:cs typeface="Times New Roman" panose="02020603050405020304" pitchFamily="18" charset="0"/>
              </a:rPr>
              <a:t>Guns vs. butter</a:t>
            </a:r>
            <a:endParaRPr lang="en-IN" altLang="en-US" sz="40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US" altLang="en-US" sz="4000" b="1" kern="1200" dirty="0">
                <a:solidFill>
                  <a:srgbClr val="000099"/>
                </a:solidFill>
                <a:latin typeface="Perpetua" pitchFamily="18" charset="0"/>
                <a:ea typeface="+mn-ea"/>
                <a:cs typeface="Times New Roman" panose="02020603050405020304" pitchFamily="18" charset="0"/>
              </a:rPr>
              <a:t>Clean Environment vs. Income</a:t>
            </a:r>
            <a:endParaRPr lang="en-IN" altLang="en-US" sz="40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4000" b="1" kern="1200" dirty="0">
                <a:solidFill>
                  <a:srgbClr val="000099"/>
                </a:solidFill>
                <a:latin typeface="Perpetua" pitchFamily="18" charset="0"/>
                <a:ea typeface="+mn-ea"/>
                <a:cs typeface="Times New Roman" panose="02020603050405020304" pitchFamily="18" charset="0"/>
              </a:rPr>
              <a:t>Efficiency vs. equality</a:t>
            </a:r>
            <a:endParaRPr lang="en-IN" altLang="en-US" sz="4000" b="1" kern="1200" dirty="0">
              <a:solidFill>
                <a:srgbClr val="000099"/>
              </a:solidFill>
              <a:latin typeface="Perpetua" pitchFamily="18" charset="0"/>
              <a:ea typeface="Times New Roman" panose="02020603050405020304" pitchFamily="18" charset="0"/>
              <a:cs typeface="+mn-cs"/>
            </a:endParaRP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6">
                                            <p:txEl>
                                              <p:charRg st="0" end="59"/>
                                            </p:txEl>
                                          </p:spTgt>
                                        </p:tgtEl>
                                        <p:attrNameLst>
                                          <p:attrName>style.visibility</p:attrName>
                                        </p:attrNameLst>
                                      </p:cBhvr>
                                      <p:to>
                                        <p:strVal val="visible"/>
                                      </p:to>
                                    </p:set>
                                    <p:anim calcmode="lin" valueType="num">
                                      <p:cBhvr additive="base">
                                        <p:cTn id="7" dur="500" fill="hold"/>
                                        <p:tgtEl>
                                          <p:spTgt spid="25606">
                                            <p:txEl>
                                              <p:charRg st="0" end="5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6">
                                            <p:txEl>
                                              <p:charRg st="0" end="5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606">
                                            <p:txEl>
                                              <p:charRg st="59" end="81"/>
                                            </p:txEl>
                                          </p:spTgt>
                                        </p:tgtEl>
                                        <p:attrNameLst>
                                          <p:attrName>style.visibility</p:attrName>
                                        </p:attrNameLst>
                                      </p:cBhvr>
                                      <p:to>
                                        <p:strVal val="visible"/>
                                      </p:to>
                                    </p:set>
                                    <p:anim calcmode="lin" valueType="num">
                                      <p:cBhvr additive="base">
                                        <p:cTn id="13" dur="500" fill="hold"/>
                                        <p:tgtEl>
                                          <p:spTgt spid="25606">
                                            <p:txEl>
                                              <p:charRg st="59" end="8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6">
                                            <p:txEl>
                                              <p:charRg st="59" end="8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606">
                                            <p:txEl>
                                              <p:charRg st="81" end="97"/>
                                            </p:txEl>
                                          </p:spTgt>
                                        </p:tgtEl>
                                        <p:attrNameLst>
                                          <p:attrName>style.visibility</p:attrName>
                                        </p:attrNameLst>
                                      </p:cBhvr>
                                      <p:to>
                                        <p:strVal val="visible"/>
                                      </p:to>
                                    </p:set>
                                    <p:anim calcmode="lin" valueType="num">
                                      <p:cBhvr additive="base">
                                        <p:cTn id="19" dur="500" fill="hold"/>
                                        <p:tgtEl>
                                          <p:spTgt spid="25606">
                                            <p:txEl>
                                              <p:charRg st="81" end="9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6">
                                            <p:txEl>
                                              <p:charRg st="81" end="9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5606">
                                            <p:txEl>
                                              <p:charRg st="97" end="126"/>
                                            </p:txEl>
                                          </p:spTgt>
                                        </p:tgtEl>
                                        <p:attrNameLst>
                                          <p:attrName>style.visibility</p:attrName>
                                        </p:attrNameLst>
                                      </p:cBhvr>
                                      <p:to>
                                        <p:strVal val="visible"/>
                                      </p:to>
                                    </p:set>
                                    <p:anim calcmode="lin" valueType="num">
                                      <p:cBhvr additive="base">
                                        <p:cTn id="25" dur="500" fill="hold"/>
                                        <p:tgtEl>
                                          <p:spTgt spid="25606">
                                            <p:txEl>
                                              <p:charRg st="97" end="12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606">
                                            <p:txEl>
                                              <p:charRg st="97" end="12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606">
                                            <p:txEl>
                                              <p:charRg st="126" end="150"/>
                                            </p:txEl>
                                          </p:spTgt>
                                        </p:tgtEl>
                                        <p:attrNameLst>
                                          <p:attrName>style.visibility</p:attrName>
                                        </p:attrNameLst>
                                      </p:cBhvr>
                                      <p:to>
                                        <p:strVal val="visible"/>
                                      </p:to>
                                    </p:set>
                                    <p:anim calcmode="lin" valueType="num">
                                      <p:cBhvr additive="base">
                                        <p:cTn id="31" dur="500" fill="hold"/>
                                        <p:tgtEl>
                                          <p:spTgt spid="25606">
                                            <p:txEl>
                                              <p:charRg st="126" end="15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606">
                                            <p:txEl>
                                              <p:charRg st="126" end="15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4"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44035"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44036"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44038"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l" eaLnBrk="1" hangingPunct="1">
              <a:spcBef>
                <a:spcPts val="600"/>
              </a:spcBef>
              <a:spcAft>
                <a:spcPts val="1000"/>
              </a:spcAft>
              <a:buClrTx/>
              <a:buSzTx/>
            </a:pPr>
            <a:r>
              <a:rPr lang="en-IN" altLang="en-US" sz="4000" b="1" kern="1200" dirty="0">
                <a:solidFill>
                  <a:schemeClr val="tx1"/>
                </a:solidFill>
                <a:latin typeface="Perpetua" pitchFamily="18" charset="0"/>
                <a:ea typeface="+mn-ea"/>
                <a:cs typeface="Times New Roman" panose="02020603050405020304" pitchFamily="18" charset="0"/>
              </a:rPr>
              <a:t>Efficiency v. Equality</a:t>
            </a:r>
            <a:endParaRPr lang="en-IN" altLang="en-US" sz="40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3600" b="1" kern="1200" dirty="0">
                <a:solidFill>
                  <a:srgbClr val="FF0000"/>
                </a:solidFill>
                <a:latin typeface="Perpetua" pitchFamily="18" charset="0"/>
                <a:ea typeface="+mn-ea"/>
                <a:cs typeface="Times New Roman" panose="02020603050405020304" pitchFamily="18" charset="0"/>
              </a:rPr>
              <a:t>Efficiency</a:t>
            </a:r>
            <a:r>
              <a:rPr lang="en-IN" altLang="en-US" sz="3600" b="1" kern="1200" dirty="0">
                <a:solidFill>
                  <a:schemeClr val="tx1"/>
                </a:solidFill>
                <a:latin typeface="Perpetua" pitchFamily="18" charset="0"/>
                <a:ea typeface="+mn-ea"/>
                <a:cs typeface="Times New Roman" panose="02020603050405020304" pitchFamily="18" charset="0"/>
              </a:rPr>
              <a:t> means society gets the most that it can from its scarce resources</a:t>
            </a: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3600" b="1" kern="1200" dirty="0">
                <a:solidFill>
                  <a:srgbClr val="FF0000"/>
                </a:solidFill>
                <a:latin typeface="Perpetua" pitchFamily="18" charset="0"/>
                <a:ea typeface="+mn-ea"/>
                <a:cs typeface="Times New Roman" panose="02020603050405020304" pitchFamily="18" charset="0"/>
              </a:rPr>
              <a:t>Equality</a:t>
            </a:r>
            <a:r>
              <a:rPr lang="en-IN" altLang="en-US" sz="3600" b="1" kern="1200" dirty="0">
                <a:solidFill>
                  <a:schemeClr val="tx1"/>
                </a:solidFill>
                <a:latin typeface="Perpetua" pitchFamily="18" charset="0"/>
                <a:ea typeface="+mn-ea"/>
                <a:cs typeface="Times New Roman" panose="02020603050405020304" pitchFamily="18" charset="0"/>
              </a:rPr>
              <a:t> means the benefits of those resources are distributed fairly among the members of society</a:t>
            </a:r>
            <a:endParaRPr lang="en-IN" altLang="en-US" sz="36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2"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46083"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46084"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46086" name="Subtitle 4"/>
          <p:cNvSpPr>
            <a:spLocks noGrp="1"/>
          </p:cNvSpPr>
          <p:nvPr>
            <p:ph type="subTitle" idx="1"/>
          </p:nvPr>
        </p:nvSpPr>
        <p:spPr>
          <a:xfrm>
            <a:off x="332105" y="1412875"/>
            <a:ext cx="8032750" cy="4942840"/>
          </a:xfrm>
        </p:spPr>
        <p:txBody>
          <a:bodyPr vert="horz" wrap="square" lIns="91440" tIns="45720" rIns="91440" bIns="45720" anchor="t"/>
          <a:p>
            <a:pPr marL="514350" indent="-514350" algn="just" eaLnBrk="1" hangingPunct="1">
              <a:spcBef>
                <a:spcPts val="600"/>
              </a:spcBef>
              <a:spcAft>
                <a:spcPts val="600"/>
              </a:spcAft>
              <a:buClrTx/>
              <a:buSzTx/>
            </a:pPr>
            <a:r>
              <a:rPr lang="en-IN" altLang="en-US" sz="4200" b="1" kern="1200" dirty="0">
                <a:solidFill>
                  <a:srgbClr val="000099"/>
                </a:solidFill>
                <a:latin typeface="Perpetua" pitchFamily="18" charset="0"/>
                <a:ea typeface="+mn-ea"/>
                <a:cs typeface="Times New Roman" panose="02020603050405020304" pitchFamily="18" charset="0"/>
              </a:rPr>
              <a:t>2. The cost of something is what you give up to get it</a:t>
            </a:r>
            <a:endParaRPr lang="en-IN" altLang="en-US" sz="42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2900" b="1" kern="1200" dirty="0">
                <a:solidFill>
                  <a:schemeClr val="tx1"/>
                </a:solidFill>
                <a:latin typeface="Perpetua" pitchFamily="18" charset="0"/>
                <a:ea typeface="+mn-ea"/>
                <a:cs typeface="Times New Roman" panose="02020603050405020304" pitchFamily="18" charset="0"/>
              </a:rPr>
              <a:t>Decisions require comparing costs and benefits of alternatives</a:t>
            </a:r>
            <a:endParaRPr lang="en-IN" altLang="en-US" sz="2900" b="1" kern="1200" dirty="0">
              <a:solidFill>
                <a:schemeClr val="tx1"/>
              </a:solidFill>
              <a:latin typeface="Perpetua" pitchFamily="18" charset="0"/>
              <a:ea typeface="+mn-ea"/>
              <a:cs typeface="Times New Roman" panose="02020603050405020304" pitchFamily="18" charset="0"/>
            </a:endParaRPr>
          </a:p>
          <a:p>
            <a:pPr marL="971550" lvl="1" indent="-514350" algn="just" eaLnBrk="1" hangingPunct="1">
              <a:spcBef>
                <a:spcPts val="600"/>
              </a:spcBef>
              <a:spcAft>
                <a:spcPts val="600"/>
              </a:spcAft>
              <a:buChar char="•"/>
            </a:pPr>
            <a:r>
              <a:rPr lang="en-IN" altLang="en-US" sz="2900" b="1" kern="1200" dirty="0">
                <a:solidFill>
                  <a:schemeClr val="tx1"/>
                </a:solidFill>
                <a:latin typeface="Perpetua" pitchFamily="18" charset="0"/>
                <a:ea typeface="+mn-ea"/>
                <a:cs typeface="Times New Roman" panose="02020603050405020304" pitchFamily="18" charset="0"/>
              </a:rPr>
              <a:t>Whether to go to college or to work?</a:t>
            </a:r>
            <a:endParaRPr lang="en-IN" altLang="en-US" sz="2900" b="1" kern="1200" dirty="0">
              <a:solidFill>
                <a:schemeClr val="tx1"/>
              </a:solidFill>
              <a:latin typeface="Perpetua" pitchFamily="18" charset="0"/>
              <a:ea typeface="+mn-ea"/>
              <a:cs typeface="Times New Roman" panose="02020603050405020304" pitchFamily="18" charset="0"/>
            </a:endParaRPr>
          </a:p>
          <a:p>
            <a:pPr marL="971550" lvl="1" indent="-514350" algn="just" eaLnBrk="1" hangingPunct="1">
              <a:spcBef>
                <a:spcPts val="600"/>
              </a:spcBef>
              <a:spcAft>
                <a:spcPts val="600"/>
              </a:spcAft>
              <a:buChar char="•"/>
            </a:pPr>
            <a:r>
              <a:rPr lang="en-IN" altLang="en-US" sz="2900" b="1" kern="1200" dirty="0">
                <a:solidFill>
                  <a:schemeClr val="tx1"/>
                </a:solidFill>
                <a:latin typeface="Perpetua" pitchFamily="18" charset="0"/>
                <a:ea typeface="+mn-ea"/>
                <a:cs typeface="Times New Roman" panose="02020603050405020304" pitchFamily="18" charset="0"/>
              </a:rPr>
              <a:t>Whether to study or go out on a date?</a:t>
            </a:r>
            <a:endParaRPr lang="en-IN" altLang="en-US" sz="2900" b="1" kern="1200" dirty="0">
              <a:solidFill>
                <a:schemeClr val="tx1"/>
              </a:solidFill>
              <a:latin typeface="Perpetua" pitchFamily="18" charset="0"/>
              <a:ea typeface="+mn-ea"/>
              <a:cs typeface="Times New Roman" panose="02020603050405020304" pitchFamily="18" charset="0"/>
            </a:endParaRPr>
          </a:p>
          <a:p>
            <a:pPr marL="971550" lvl="1" indent="-514350" algn="just" eaLnBrk="1" hangingPunct="1">
              <a:spcBef>
                <a:spcPts val="600"/>
              </a:spcBef>
              <a:spcAft>
                <a:spcPts val="600"/>
              </a:spcAft>
              <a:buChar char="•"/>
            </a:pPr>
            <a:r>
              <a:rPr lang="en-IN" altLang="en-US" sz="2900" b="1" kern="1200" dirty="0">
                <a:solidFill>
                  <a:schemeClr val="tx1"/>
                </a:solidFill>
                <a:latin typeface="Perpetua" pitchFamily="18" charset="0"/>
                <a:ea typeface="+mn-ea"/>
                <a:cs typeface="Times New Roman" panose="02020603050405020304" pitchFamily="18" charset="0"/>
              </a:rPr>
              <a:t>Whether to go to class or sleep in?</a:t>
            </a:r>
            <a:endParaRPr lang="en-IN" altLang="en-US" sz="29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48131"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48132"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48134"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eaLnBrk="1" hangingPunct="1">
              <a:spcBef>
                <a:spcPts val="600"/>
              </a:spcBef>
              <a:spcAft>
                <a:spcPts val="1000"/>
              </a:spcAft>
              <a:buClrTx/>
              <a:buSzTx/>
            </a:pPr>
            <a:r>
              <a:rPr lang="en-IN" altLang="en-US" sz="3600" b="1" kern="1200" dirty="0">
                <a:solidFill>
                  <a:schemeClr val="tx1"/>
                </a:solidFill>
                <a:latin typeface="Perpetua" pitchFamily="18" charset="0"/>
                <a:ea typeface="+mn-ea"/>
                <a:cs typeface="Times New Roman" panose="02020603050405020304" pitchFamily="18" charset="0"/>
              </a:rPr>
              <a:t>The next-highest-valued alternative foregone</a:t>
            </a: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Times New Roman" panose="02020603050405020304" pitchFamily="18" charset="0"/>
              <a:cs typeface="+mn-cs"/>
            </a:endParaRPr>
          </a:p>
        </p:txBody>
      </p:sp>
      <p:sp>
        <p:nvSpPr>
          <p:cNvPr id="7" name="Rectangle 6"/>
          <p:cNvSpPr/>
          <p:nvPr/>
        </p:nvSpPr>
        <p:spPr>
          <a:xfrm>
            <a:off x="827405" y="1804035"/>
            <a:ext cx="7632700" cy="2417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sz="4000" b="1" i="0" u="none" strike="noStrike" kern="1200" cap="none" spc="0" normalizeH="0" baseline="0" noProof="0" dirty="0">
                <a:ln>
                  <a:noFill/>
                </a:ln>
                <a:solidFill>
                  <a:schemeClr val="lt1"/>
                </a:solidFill>
                <a:effectLst/>
                <a:uLnTx/>
                <a:uFillTx/>
                <a:latin typeface="Perpetua" pitchFamily="18" charset="0"/>
                <a:ea typeface="+mn-ea"/>
                <a:cs typeface="+mn-cs"/>
              </a:rPr>
              <a:t>The </a:t>
            </a:r>
            <a:r>
              <a:rPr kumimoji="0" lang="en-IN" sz="4000" b="1" i="0" u="sng" strike="noStrike" kern="1200" cap="none" spc="0" normalizeH="0" baseline="0" noProof="0" dirty="0">
                <a:ln>
                  <a:noFill/>
                </a:ln>
                <a:solidFill>
                  <a:schemeClr val="accent6">
                    <a:lumMod val="40000"/>
                    <a:lumOff val="60000"/>
                  </a:schemeClr>
                </a:solidFill>
                <a:effectLst/>
                <a:uLnTx/>
                <a:uFillTx/>
                <a:latin typeface="Perpetua" pitchFamily="18" charset="0"/>
                <a:ea typeface="+mn-ea"/>
                <a:cs typeface="+mn-cs"/>
              </a:rPr>
              <a:t>opportunity cost </a:t>
            </a:r>
            <a:r>
              <a:rPr kumimoji="0" lang="en-IN" sz="4000" b="1" i="0" u="none" strike="noStrike" kern="1200" cap="none" spc="0" normalizeH="0" baseline="0" noProof="0" dirty="0">
                <a:ln>
                  <a:noFill/>
                </a:ln>
                <a:solidFill>
                  <a:schemeClr val="lt1"/>
                </a:solidFill>
                <a:effectLst/>
                <a:uLnTx/>
                <a:uFillTx/>
                <a:latin typeface="Perpetua" pitchFamily="18" charset="0"/>
                <a:ea typeface="+mn-ea"/>
                <a:cs typeface="+mn-cs"/>
              </a:rPr>
              <a:t>of an item is what you give up to get that item</a:t>
            </a:r>
            <a:endParaRPr kumimoji="0" lang="en-IN" sz="4000" b="1" i="0" u="none" strike="noStrike" kern="1200" cap="none" spc="0" normalizeH="0" baseline="0" noProof="0" dirty="0">
              <a:ln>
                <a:noFill/>
              </a:ln>
              <a:solidFill>
                <a:schemeClr val="lt1"/>
              </a:solidFill>
              <a:effectLst/>
              <a:uLnTx/>
              <a:uFillTx/>
              <a:latin typeface="Perpetua" pitchFamily="18"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4000" b="1" i="0" u="none" strike="noStrike" kern="1200" cap="none" spc="0" normalizeH="0" baseline="0" noProof="0" dirty="0">
              <a:ln>
                <a:noFill/>
              </a:ln>
              <a:solidFill>
                <a:schemeClr val="lt1"/>
              </a:solidFill>
              <a:effectLst/>
              <a:uLnTx/>
              <a:uFillTx/>
              <a:latin typeface="Perpetua" pitchFamily="18" charset="0"/>
              <a:ea typeface="+mn-ea"/>
              <a:cs typeface="+mn-cs"/>
            </a:endParaRPr>
          </a:p>
        </p:txBody>
      </p:sp>
    </p:spTree>
  </p:cSld>
  <p:clrMapOvr>
    <a:masterClrMapping/>
  </p:clrMapOvr>
  <p:transition spd="med">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48131"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48132"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48134" name="Subtitle 4"/>
          <p:cNvSpPr>
            <a:spLocks noGrp="1"/>
          </p:cNvSpPr>
          <p:nvPr>
            <p:ph type="subTitle" idx="1"/>
          </p:nvPr>
        </p:nvSpPr>
        <p:spPr>
          <a:xfrm>
            <a:off x="304165" y="1628775"/>
            <a:ext cx="8489315" cy="4679950"/>
          </a:xfrm>
        </p:spPr>
        <p:txBody>
          <a:bodyPr vert="horz" wrap="square" lIns="91440" tIns="45720" rIns="91440" bIns="45720" anchor="t"/>
          <a:p>
            <a:pPr marL="571500" indent="-571500" algn="just" eaLnBrk="1" hangingPunct="1">
              <a:spcBef>
                <a:spcPts val="600"/>
              </a:spcBef>
              <a:spcAft>
                <a:spcPts val="1000"/>
              </a:spcAft>
              <a:buClrTx/>
              <a:buSzTx/>
              <a:buFont typeface="Arial" panose="020B0604020202020204" pitchFamily="34" charset="0"/>
              <a:buChar char="•"/>
            </a:pPr>
            <a:r>
              <a:rPr lang="en-IN" sz="3600" noProof="0" dirty="0">
                <a:ln>
                  <a:noFill/>
                </a:ln>
                <a:solidFill>
                  <a:schemeClr val="tx1"/>
                </a:solidFill>
                <a:effectLst/>
                <a:uLnTx/>
                <a:uFillTx/>
                <a:latin typeface="Times New Roman" panose="02020603050405020304" pitchFamily="18" charset="0"/>
                <a:cs typeface="Times New Roman" panose="02020603050405020304" pitchFamily="18" charset="0"/>
                <a:sym typeface="+mn-ea"/>
              </a:rPr>
              <a:t>College athletes who can earn millions if they drop out of school and play professional sports are well aware that their opportunity cost of college is very high. It is not surprising that they often decide that the benefit of a college education is not worth the cost</a:t>
            </a:r>
            <a:endParaRPr kumimoji="0" lang="en-IN" sz="3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4274"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54275"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54276"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54278"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Times New Roman" panose="02020603050405020304" pitchFamily="18" charset="0"/>
              <a:cs typeface="+mn-cs"/>
            </a:endParaRPr>
          </a:p>
        </p:txBody>
      </p:sp>
      <p:pic>
        <p:nvPicPr>
          <p:cNvPr id="54279" name="Picture 2"/>
          <p:cNvPicPr>
            <a:picLocks noChangeAspect="1"/>
          </p:cNvPicPr>
          <p:nvPr/>
        </p:nvPicPr>
        <p:blipFill>
          <a:blip r:embed="rId2"/>
          <a:stretch>
            <a:fillRect/>
          </a:stretch>
        </p:blipFill>
        <p:spPr>
          <a:xfrm>
            <a:off x="611188" y="1690688"/>
            <a:ext cx="7921625" cy="4475162"/>
          </a:xfrm>
          <a:prstGeom prst="rect">
            <a:avLst/>
          </a:prstGeom>
          <a:noFill/>
          <a:ln w="9525">
            <a:noFill/>
          </a:ln>
        </p:spPr>
      </p:pic>
    </p:spTree>
  </p:cSld>
  <p:clrMapOvr>
    <a:masterClrMapping/>
  </p:clrMapOvr>
  <p:transition spd="med">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8"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50179"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50180"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50182"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1000"/>
              </a:spcAft>
              <a:buClrTx/>
              <a:buSzTx/>
            </a:pPr>
            <a:r>
              <a:rPr lang="en-IN" altLang="en-US" sz="3700" b="1" kern="1200" dirty="0">
                <a:solidFill>
                  <a:srgbClr val="000099"/>
                </a:solidFill>
                <a:latin typeface="Perpetua" pitchFamily="18" charset="0"/>
                <a:ea typeface="+mn-ea"/>
                <a:cs typeface="Times New Roman" panose="02020603050405020304" pitchFamily="18" charset="0"/>
              </a:rPr>
              <a:t>3. Rational people think at the margin</a:t>
            </a:r>
            <a:endParaRPr lang="en-IN" altLang="en-US" sz="37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3400" b="1" kern="1200" dirty="0">
                <a:solidFill>
                  <a:schemeClr val="tx1"/>
                </a:solidFill>
                <a:latin typeface="Perpetua" pitchFamily="18" charset="0"/>
                <a:ea typeface="+mn-ea"/>
                <a:cs typeface="Times New Roman" panose="02020603050405020304" pitchFamily="18" charset="0"/>
              </a:rPr>
              <a:t>Marginal changes are small, incremental adjustments to an existing plan of action</a:t>
            </a:r>
            <a:endParaRPr lang="en-IN" altLang="en-US" sz="34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Times New Roman" panose="02020603050405020304" pitchFamily="18" charset="0"/>
              <a:cs typeface="+mn-cs"/>
            </a:endParaRPr>
          </a:p>
        </p:txBody>
      </p:sp>
      <p:sp>
        <p:nvSpPr>
          <p:cNvPr id="7" name="Rectangle 6"/>
          <p:cNvSpPr/>
          <p:nvPr/>
        </p:nvSpPr>
        <p:spPr>
          <a:xfrm>
            <a:off x="971550" y="4892040"/>
            <a:ext cx="7200900" cy="1008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IN" sz="3000" b="1" i="0" u="none" strike="noStrike" kern="1200" cap="none" spc="0" normalizeH="0" baseline="0" noProof="0" dirty="0">
                <a:ln>
                  <a:noFill/>
                </a:ln>
                <a:solidFill>
                  <a:schemeClr val="lt1"/>
                </a:solidFill>
                <a:effectLst/>
                <a:uLnTx/>
                <a:uFillTx/>
                <a:latin typeface="Perpetua" pitchFamily="18" charset="0"/>
                <a:ea typeface="+mn-ea"/>
                <a:cs typeface="+mn-cs"/>
              </a:rPr>
              <a:t>People make decisions by comparing costs and benefits </a:t>
            </a:r>
            <a:r>
              <a:rPr kumimoji="0" lang="en-IN" sz="3000" b="1" i="1" u="none" strike="noStrike" kern="1200" cap="none" spc="0" normalizeH="0" baseline="0" noProof="0" dirty="0">
                <a:ln>
                  <a:noFill/>
                </a:ln>
                <a:solidFill>
                  <a:schemeClr val="lt1"/>
                </a:solidFill>
                <a:effectLst/>
                <a:uLnTx/>
                <a:uFillTx/>
                <a:latin typeface="Perpetua" pitchFamily="18" charset="0"/>
                <a:ea typeface="+mn-ea"/>
                <a:cs typeface="+mn-cs"/>
              </a:rPr>
              <a:t>at the margin</a:t>
            </a:r>
            <a:r>
              <a:rPr kumimoji="0" lang="en-IN" sz="3000" b="1" i="0" u="none" strike="noStrike" kern="1200" cap="none" spc="0" normalizeH="0" baseline="0" noProof="0" dirty="0">
                <a:ln>
                  <a:noFill/>
                </a:ln>
                <a:solidFill>
                  <a:schemeClr val="lt1"/>
                </a:solidFill>
                <a:effectLst/>
                <a:uLnTx/>
                <a:uFillTx/>
                <a:latin typeface="Perpetua" pitchFamily="18" charset="0"/>
                <a:ea typeface="+mn-ea"/>
                <a:cs typeface="+mn-cs"/>
              </a:rPr>
              <a:t>.</a:t>
            </a:r>
            <a:endParaRPr kumimoji="0" lang="en-IN" sz="3000" b="1" i="0" u="none" strike="noStrike" kern="1200" cap="none" spc="0" normalizeH="0" baseline="0" noProof="0" dirty="0">
              <a:ln>
                <a:noFill/>
              </a:ln>
              <a:solidFill>
                <a:schemeClr val="lt1"/>
              </a:solidFill>
              <a:effectLst/>
              <a:uLnTx/>
              <a:uFillTx/>
              <a:latin typeface="Perpetua" pitchFamily="18" charset="0"/>
              <a:ea typeface="+mn-ea"/>
              <a:cs typeface="+mn-cs"/>
            </a:endParaRPr>
          </a:p>
        </p:txBody>
      </p:sp>
    </p:spTree>
  </p:cSld>
  <p:clrMapOvr>
    <a:masterClrMapping/>
  </p:clrMapOvr>
  <p:transition spd="med">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8" name="Picture 2"/>
          <p:cNvPicPr>
            <a:picLocks noChangeAspect="1"/>
          </p:cNvPicPr>
          <p:nvPr/>
        </p:nvPicPr>
        <p:blipFill>
          <a:blip r:embed="rId1"/>
          <a:srcRect l="40810" t="14648" r="19337" b="78516"/>
          <a:stretch>
            <a:fillRect/>
          </a:stretch>
        </p:blipFill>
        <p:spPr>
          <a:xfrm>
            <a:off x="0" y="0"/>
            <a:ext cx="9144000" cy="908050"/>
          </a:xfrm>
          <a:prstGeom prst="rect">
            <a:avLst/>
          </a:prstGeom>
          <a:noFill/>
          <a:ln w="9525">
            <a:noFill/>
          </a:ln>
        </p:spPr>
      </p:pic>
      <p:sp>
        <p:nvSpPr>
          <p:cNvPr id="50179"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50180"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50182" name="Subtitle 4"/>
          <p:cNvSpPr>
            <a:spLocks noGrp="1"/>
          </p:cNvSpPr>
          <p:nvPr>
            <p:ph type="subTitle" idx="1"/>
          </p:nvPr>
        </p:nvSpPr>
        <p:spPr>
          <a:xfrm>
            <a:off x="70485" y="752475"/>
            <a:ext cx="8912225" cy="5968365"/>
          </a:xfrm>
        </p:spPr>
        <p:txBody>
          <a:bodyPr vert="horz" wrap="square" lIns="91440" tIns="45720" rIns="91440" bIns="45720" anchor="t"/>
          <a:p>
            <a:pPr marL="514350" indent="-514350" algn="just" eaLnBrk="1" hangingPunct="1">
              <a:spcBef>
                <a:spcPts val="600"/>
              </a:spcBef>
              <a:spcAft>
                <a:spcPts val="1000"/>
              </a:spcAft>
              <a:buClrTx/>
              <a:buSzTx/>
            </a:pPr>
            <a:r>
              <a:rPr lang="en-IN" altLang="en-US" sz="3600" dirty="0">
                <a:solidFill>
                  <a:schemeClr val="tx1"/>
                </a:solidFill>
                <a:sym typeface="+mn-ea"/>
              </a:rPr>
              <a:t>Economists normally assume that people are rational. </a:t>
            </a:r>
            <a:endParaRPr lang="en-IN" altLang="en-US" sz="3600" dirty="0">
              <a:solidFill>
                <a:schemeClr val="tx1"/>
              </a:solidFill>
              <a:sym typeface="+mn-ea"/>
            </a:endParaRPr>
          </a:p>
          <a:p>
            <a:pPr marL="514350" indent="-514350" algn="just" eaLnBrk="1" hangingPunct="1">
              <a:spcBef>
                <a:spcPts val="600"/>
              </a:spcBef>
              <a:spcAft>
                <a:spcPts val="1000"/>
              </a:spcAft>
              <a:buClrTx/>
              <a:buSzTx/>
            </a:pPr>
            <a:r>
              <a:rPr lang="en-IN" altLang="en-US" sz="3600" b="1" dirty="0">
                <a:solidFill>
                  <a:schemeClr val="tx1"/>
                </a:solidFill>
                <a:sym typeface="+mn-ea"/>
              </a:rPr>
              <a:t>Rational people </a:t>
            </a:r>
            <a:r>
              <a:rPr lang="en-IN" altLang="en-US" sz="3600" dirty="0">
                <a:solidFill>
                  <a:schemeClr val="tx1"/>
                </a:solidFill>
                <a:sym typeface="+mn-ea"/>
              </a:rPr>
              <a:t>systematically and purposefully do the best they can to achieve their objectives, given the available opportunities. </a:t>
            </a:r>
            <a:endParaRPr lang="en-IN" altLang="en-US" sz="3600" dirty="0">
              <a:solidFill>
                <a:schemeClr val="tx1"/>
              </a:solidFill>
              <a:sym typeface="+mn-ea"/>
            </a:endParaRPr>
          </a:p>
          <a:p>
            <a:pPr marL="514350" indent="-514350" algn="just" eaLnBrk="1" hangingPunct="1">
              <a:spcBef>
                <a:spcPts val="600"/>
              </a:spcBef>
              <a:spcAft>
                <a:spcPts val="1000"/>
              </a:spcAft>
              <a:buClrTx/>
              <a:buSzTx/>
            </a:pPr>
            <a:r>
              <a:rPr lang="en-IN" altLang="en-US" sz="3600" dirty="0">
                <a:solidFill>
                  <a:schemeClr val="tx1"/>
                </a:solidFill>
                <a:sym typeface="+mn-ea"/>
              </a:rPr>
              <a:t> Rational people often make decisions by comparing marginal benefits and marginal costs. </a:t>
            </a:r>
            <a:endParaRPr lang="en-IN" altLang="en-US" sz="3600" dirty="0">
              <a:solidFill>
                <a:schemeClr val="tx1"/>
              </a:solidFill>
              <a:sym typeface="+mn-ea"/>
            </a:endParaRPr>
          </a:p>
          <a:p>
            <a:pPr marL="514350" indent="-514350" algn="just" eaLnBrk="1" hangingPunct="1">
              <a:spcBef>
                <a:spcPts val="600"/>
              </a:spcBef>
              <a:spcAft>
                <a:spcPts val="1000"/>
              </a:spcAft>
              <a:buClrTx/>
              <a:buSzTx/>
            </a:pPr>
            <a:r>
              <a:rPr lang="en-US" altLang="en-US" sz="3600" dirty="0">
                <a:solidFill>
                  <a:srgbClr val="FF0000"/>
                </a:solidFill>
                <a:sym typeface="+mn-ea"/>
              </a:rPr>
              <a:t>Water-Diamond paradox</a:t>
            </a:r>
            <a:r>
              <a:rPr lang="en-US" altLang="en-US" sz="3600" dirty="0">
                <a:solidFill>
                  <a:schemeClr val="tx1"/>
                </a:solidFill>
                <a:sym typeface="+mn-ea"/>
              </a:rPr>
              <a:t>.</a:t>
            </a:r>
            <a:endParaRPr lang="en-IN" altLang="en-US" sz="3600" dirty="0">
              <a:solidFill>
                <a:schemeClr val="tx1"/>
              </a:solidFill>
            </a:endParaRPr>
          </a:p>
          <a:p>
            <a:pPr marL="514350" indent="-514350" algn="just" eaLnBrk="1" hangingPunct="1">
              <a:spcBef>
                <a:spcPts val="600"/>
              </a:spcBef>
              <a:spcAft>
                <a:spcPts val="1000"/>
              </a:spcAft>
              <a:buClrTx/>
              <a:buSzTx/>
            </a:pPr>
            <a:endParaRPr lang="en-IN" altLang="en-US" sz="36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6"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52227"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52228"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52230" name="Subtitle 4"/>
          <p:cNvSpPr>
            <a:spLocks noGrp="1"/>
          </p:cNvSpPr>
          <p:nvPr>
            <p:ph type="subTitle" idx="1"/>
          </p:nvPr>
        </p:nvSpPr>
        <p:spPr>
          <a:xfrm>
            <a:off x="555625" y="1412875"/>
            <a:ext cx="8032750" cy="5308600"/>
          </a:xfrm>
        </p:spPr>
        <p:txBody>
          <a:bodyPr vert="horz" wrap="square" lIns="91440" tIns="45720" rIns="91440" bIns="45720" anchor="t"/>
          <a:p>
            <a:pPr marL="514350" indent="-514350" algn="just" eaLnBrk="1" hangingPunct="1">
              <a:spcBef>
                <a:spcPts val="600"/>
              </a:spcBef>
              <a:spcAft>
                <a:spcPts val="1000"/>
              </a:spcAft>
              <a:buClrTx/>
              <a:buSzTx/>
            </a:pPr>
            <a:r>
              <a:rPr lang="en-IN" altLang="en-US" sz="4200" b="1" kern="1200" dirty="0">
                <a:solidFill>
                  <a:srgbClr val="000099"/>
                </a:solidFill>
                <a:latin typeface="Perpetua" pitchFamily="18" charset="0"/>
                <a:ea typeface="+mn-ea"/>
                <a:cs typeface="Times New Roman" panose="02020603050405020304" pitchFamily="18" charset="0"/>
              </a:rPr>
              <a:t>4. People respond to incentives</a:t>
            </a:r>
            <a:endParaRPr lang="en-IN" altLang="en-US" sz="42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US" altLang="en-US" sz="2600" dirty="0">
                <a:solidFill>
                  <a:schemeClr val="tx1"/>
                </a:solidFill>
                <a:latin typeface="Times New Roman" panose="02020603050405020304" pitchFamily="18" charset="0"/>
                <a:cs typeface="Times New Roman" panose="02020603050405020304" pitchFamily="18" charset="0"/>
                <a:sym typeface="+mn-ea"/>
              </a:rPr>
              <a:t>An </a:t>
            </a:r>
            <a:r>
              <a:rPr lang="en-US" altLang="en-US" sz="2600" b="1" dirty="0">
                <a:solidFill>
                  <a:schemeClr val="tx1"/>
                </a:solidFill>
                <a:latin typeface="Times New Roman" panose="02020603050405020304" pitchFamily="18" charset="0"/>
                <a:cs typeface="Times New Roman" panose="02020603050405020304" pitchFamily="18" charset="0"/>
                <a:sym typeface="+mn-ea"/>
              </a:rPr>
              <a:t>incentive </a:t>
            </a:r>
            <a:r>
              <a:rPr lang="en-US" altLang="en-US" sz="2600" dirty="0">
                <a:solidFill>
                  <a:schemeClr val="tx1"/>
                </a:solidFill>
                <a:latin typeface="Times New Roman" panose="02020603050405020304" pitchFamily="18" charset="0"/>
                <a:cs typeface="Times New Roman" panose="02020603050405020304" pitchFamily="18" charset="0"/>
                <a:sym typeface="+mn-ea"/>
              </a:rPr>
              <a:t>is something that induces a person to act, such as the prospect of a punishment or a reward. </a:t>
            </a:r>
            <a:r>
              <a:rPr lang="en-IN" altLang="x-none" sz="2600" dirty="0">
                <a:solidFill>
                  <a:schemeClr val="tx1"/>
                </a:solidFill>
                <a:latin typeface="Times New Roman" panose="02020603050405020304" pitchFamily="18" charset="0"/>
                <a:cs typeface="Times New Roman" panose="02020603050405020304" pitchFamily="18" charset="0"/>
                <a:sym typeface="+mn-ea"/>
              </a:rPr>
              <a:t>Incentives are crucial to analysing how markets work.</a:t>
            </a:r>
            <a:endParaRPr lang="en-IN" altLang="en-US" sz="2600" dirty="0">
              <a:solidFill>
                <a:schemeClr val="tx1"/>
              </a:solidFill>
              <a:latin typeface="Times New Roman" panose="02020603050405020304" pitchFamily="18" charset="0"/>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2600" b="1" kern="1200" dirty="0">
                <a:solidFill>
                  <a:schemeClr val="tx1"/>
                </a:solidFill>
                <a:latin typeface="Times New Roman" panose="02020603050405020304" pitchFamily="18" charset="0"/>
                <a:ea typeface="+mn-ea"/>
                <a:cs typeface="Times New Roman" panose="02020603050405020304" pitchFamily="18" charset="0"/>
              </a:rPr>
              <a:t>Marginal changes in costs or benefits motivate people to respond</a:t>
            </a:r>
            <a:endParaRPr lang="en-IN" altLang="en-US" sz="2600" b="1" kern="1200" dirty="0">
              <a:solidFill>
                <a:schemeClr val="tx1"/>
              </a:solidFill>
              <a:latin typeface="Times New Roman" panose="02020603050405020304" pitchFamily="18" charset="0"/>
              <a:ea typeface="+mn-ea"/>
              <a:cs typeface="Times New Roman" panose="02020603050405020304" pitchFamily="18" charset="0"/>
            </a:endParaRPr>
          </a:p>
          <a:p>
            <a:pPr marL="514350" indent="-514350" algn="just" eaLnBrk="1" hangingPunct="1">
              <a:spcBef>
                <a:spcPts val="600"/>
              </a:spcBef>
              <a:spcAft>
                <a:spcPts val="1000"/>
              </a:spcAft>
              <a:buClrTx/>
              <a:buSzTx/>
              <a:buFont typeface="Courier New" panose="02070309020205020404" pitchFamily="49" charset="0"/>
              <a:buChar char="o"/>
            </a:pPr>
            <a:r>
              <a:rPr lang="en-IN" altLang="en-US" sz="2600" b="1" kern="1200" dirty="0">
                <a:solidFill>
                  <a:schemeClr val="tx1"/>
                </a:solidFill>
                <a:latin typeface="Times New Roman" panose="02020603050405020304" pitchFamily="18" charset="0"/>
                <a:ea typeface="+mn-ea"/>
                <a:cs typeface="Times New Roman" panose="02020603050405020304" pitchFamily="18" charset="0"/>
              </a:rPr>
              <a:t>The decision to choose one alternative over another occurs when that alternative’s marginal benefits exceed its marginal costs!</a:t>
            </a:r>
            <a:endParaRPr lang="en-IN" altLang="en-US" sz="2600" b="1" kern="120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transition spd="med">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6322"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56323"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Quiz</a:t>
            </a:r>
            <a:endParaRPr lang="en-IN" altLang="en-US" sz="4000" b="1" dirty="0">
              <a:solidFill>
                <a:schemeClr val="bg1"/>
              </a:solidFill>
              <a:latin typeface="Perpetua" pitchFamily="18" charset="0"/>
              <a:ea typeface="Arial" panose="020B0604020202020204" pitchFamily="34" charset="0"/>
            </a:endParaRPr>
          </a:p>
        </p:txBody>
      </p:sp>
      <p:sp>
        <p:nvSpPr>
          <p:cNvPr id="56324"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36870"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600"/>
              </a:spcAft>
              <a:buClrTx/>
              <a:buSzTx/>
              <a:buFont typeface="Calibri" panose="020F0502020204030204" pitchFamily="34" charset="0"/>
              <a:buAutoNum type="arabicParenR"/>
            </a:pPr>
            <a:r>
              <a:rPr lang="en-IN" altLang="en-US" sz="3400" b="1" kern="1200" dirty="0">
                <a:solidFill>
                  <a:srgbClr val="002060"/>
                </a:solidFill>
                <a:latin typeface="Perpetua" pitchFamily="18" charset="0"/>
                <a:ea typeface="+mn-ea"/>
                <a:cs typeface="Times New Roman" panose="02020603050405020304" pitchFamily="18" charset="0"/>
              </a:rPr>
              <a:t>Describe an important trade-off you recently faced</a:t>
            </a:r>
            <a:endParaRPr lang="en-IN" altLang="en-US" sz="3400" b="1" kern="1200" dirty="0">
              <a:solidFill>
                <a:srgbClr val="002060"/>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alibri" panose="020F0502020204030204" pitchFamily="34" charset="0"/>
              <a:buAutoNum type="arabicParenR"/>
            </a:pPr>
            <a:r>
              <a:rPr lang="en-IN" altLang="en-US" sz="3400" b="1" kern="1200" dirty="0">
                <a:solidFill>
                  <a:srgbClr val="002060"/>
                </a:solidFill>
                <a:latin typeface="Perpetua" pitchFamily="18" charset="0"/>
                <a:ea typeface="+mn-ea"/>
                <a:cs typeface="Times New Roman" panose="02020603050405020304" pitchFamily="18" charset="0"/>
              </a:rPr>
              <a:t>Give an example of some action that has both a monetary and nonmonetary opportunity cost</a:t>
            </a:r>
            <a:endParaRPr lang="en-IN" altLang="en-US" sz="3400" b="1" kern="1200" dirty="0">
              <a:solidFill>
                <a:srgbClr val="002060"/>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alibri" panose="020F0502020204030204" pitchFamily="34" charset="0"/>
              <a:buAutoNum type="arabicParenR"/>
            </a:pPr>
            <a:r>
              <a:rPr lang="en-IN" altLang="en-US" sz="3400" b="1" kern="1200" dirty="0">
                <a:solidFill>
                  <a:srgbClr val="002060"/>
                </a:solidFill>
                <a:latin typeface="Perpetua" pitchFamily="18" charset="0"/>
                <a:ea typeface="+mn-ea"/>
                <a:cs typeface="Times New Roman" panose="02020603050405020304" pitchFamily="18" charset="0"/>
              </a:rPr>
              <a:t>Describe an incentive your parents offered to you in an effort to influence your behavior</a:t>
            </a:r>
            <a:endParaRPr lang="en-IN" altLang="en-US" sz="3400" b="1" kern="1200" dirty="0">
              <a:solidFill>
                <a:srgbClr val="002060"/>
              </a:solidFill>
              <a:latin typeface="Perpetua" pitchFamily="18" charset="0"/>
              <a:ea typeface="Times New Roman" panose="02020603050405020304" pitchFamily="18" charset="0"/>
              <a:cs typeface="+mn-cs"/>
            </a:endParaRP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70">
                                            <p:txEl>
                                              <p:charRg st="0" end="51"/>
                                            </p:txEl>
                                          </p:spTgt>
                                        </p:tgtEl>
                                        <p:attrNameLst>
                                          <p:attrName>style.visibility</p:attrName>
                                        </p:attrNameLst>
                                      </p:cBhvr>
                                      <p:to>
                                        <p:strVal val="visible"/>
                                      </p:to>
                                    </p:set>
                                    <p:anim calcmode="lin" valueType="num">
                                      <p:cBhvr additive="base">
                                        <p:cTn id="7" dur="500" fill="hold"/>
                                        <p:tgtEl>
                                          <p:spTgt spid="36870">
                                            <p:txEl>
                                              <p:charRg st="0" end="5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70">
                                            <p:txEl>
                                              <p:charRg st="0" end="5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70">
                                            <p:txEl>
                                              <p:charRg st="51" end="140"/>
                                            </p:txEl>
                                          </p:spTgt>
                                        </p:tgtEl>
                                        <p:attrNameLst>
                                          <p:attrName>style.visibility</p:attrName>
                                        </p:attrNameLst>
                                      </p:cBhvr>
                                      <p:to>
                                        <p:strVal val="visible"/>
                                      </p:to>
                                    </p:set>
                                    <p:anim calcmode="lin" valueType="num">
                                      <p:cBhvr additive="base">
                                        <p:cTn id="13" dur="500" fill="hold"/>
                                        <p:tgtEl>
                                          <p:spTgt spid="36870">
                                            <p:txEl>
                                              <p:charRg st="51" end="14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70">
                                            <p:txEl>
                                              <p:charRg st="51" end="14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870">
                                            <p:txEl>
                                              <p:charRg st="140" end="230"/>
                                            </p:txEl>
                                          </p:spTgt>
                                        </p:tgtEl>
                                        <p:attrNameLst>
                                          <p:attrName>style.visibility</p:attrName>
                                        </p:attrNameLst>
                                      </p:cBhvr>
                                      <p:to>
                                        <p:strVal val="visible"/>
                                      </p:to>
                                    </p:set>
                                    <p:anim calcmode="lin" valueType="num">
                                      <p:cBhvr additive="base">
                                        <p:cTn id="19" dur="500" fill="hold"/>
                                        <p:tgtEl>
                                          <p:spTgt spid="36870">
                                            <p:txEl>
                                              <p:charRg st="140" end="23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70">
                                            <p:txEl>
                                              <p:charRg st="140" end="23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70"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58371"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58372"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58374"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600"/>
              </a:spcAft>
              <a:buClrTx/>
              <a:buSzTx/>
            </a:pPr>
            <a:r>
              <a:rPr lang="en-IN" altLang="en-US" sz="4200" b="1" kern="1200" dirty="0">
                <a:solidFill>
                  <a:srgbClr val="000099"/>
                </a:solidFill>
                <a:latin typeface="Perpetua" pitchFamily="18" charset="0"/>
                <a:ea typeface="+mn-ea"/>
                <a:cs typeface="Times New Roman" panose="02020603050405020304" pitchFamily="18" charset="0"/>
              </a:rPr>
              <a:t>5. Trade can make everyone better off</a:t>
            </a:r>
            <a:endParaRPr lang="en-IN" altLang="en-US" sz="42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3300" b="1" kern="1200" dirty="0">
                <a:solidFill>
                  <a:schemeClr val="tx1"/>
                </a:solidFill>
                <a:latin typeface="Perpetua" pitchFamily="18" charset="0"/>
                <a:ea typeface="+mn-ea"/>
                <a:cs typeface="Times New Roman" panose="02020603050405020304" pitchFamily="18" charset="0"/>
              </a:rPr>
              <a:t>People gain from their ability to trade with one another</a:t>
            </a:r>
            <a:endParaRPr lang="en-IN" altLang="en-US" sz="33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3300" b="1" kern="1200" dirty="0">
                <a:solidFill>
                  <a:schemeClr val="tx1"/>
                </a:solidFill>
                <a:latin typeface="Perpetua" pitchFamily="18" charset="0"/>
                <a:ea typeface="+mn-ea"/>
                <a:cs typeface="Times New Roman" panose="02020603050405020304" pitchFamily="18" charset="0"/>
              </a:rPr>
              <a:t>Competition results in gains from trading</a:t>
            </a:r>
            <a:endParaRPr lang="en-IN" altLang="en-US" sz="33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3300" b="1" kern="1200" dirty="0">
                <a:solidFill>
                  <a:schemeClr val="tx1"/>
                </a:solidFill>
                <a:latin typeface="Perpetua" pitchFamily="18" charset="0"/>
                <a:ea typeface="+mn-ea"/>
                <a:cs typeface="Times New Roman" panose="02020603050405020304" pitchFamily="18" charset="0"/>
              </a:rPr>
              <a:t>Trade allows people to specialize in what they do best</a:t>
            </a:r>
            <a:endParaRPr lang="en-IN" altLang="en-US" sz="33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0418"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60419"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60420"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60422"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600"/>
              </a:spcAft>
              <a:buClrTx/>
              <a:buSzTx/>
            </a:pPr>
            <a:r>
              <a:rPr lang="en-IN" altLang="en-US" sz="4000" b="1" kern="1200" dirty="0">
                <a:solidFill>
                  <a:srgbClr val="000099"/>
                </a:solidFill>
                <a:latin typeface="Perpetua" pitchFamily="18" charset="0"/>
                <a:ea typeface="+mn-ea"/>
                <a:cs typeface="Times New Roman" panose="02020603050405020304" pitchFamily="18" charset="0"/>
              </a:rPr>
              <a:t>6. Markets are usually a good way to organize economic activity</a:t>
            </a:r>
            <a:endParaRPr lang="en-IN" altLang="en-US" sz="40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3400" b="1" kern="1200" dirty="0">
                <a:solidFill>
                  <a:schemeClr val="tx1"/>
                </a:solidFill>
                <a:latin typeface="Perpetua" pitchFamily="18" charset="0"/>
                <a:ea typeface="+mn-ea"/>
                <a:cs typeface="Times New Roman" panose="02020603050405020304" pitchFamily="18" charset="0"/>
              </a:rPr>
              <a:t>In a market economy, households decide what to buy and who to work for</a:t>
            </a:r>
            <a:endParaRPr lang="en-IN" altLang="en-US" sz="34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3400" b="1" kern="1200" dirty="0">
                <a:solidFill>
                  <a:schemeClr val="tx1"/>
                </a:solidFill>
                <a:latin typeface="Perpetua" pitchFamily="18" charset="0"/>
                <a:ea typeface="+mn-ea"/>
                <a:cs typeface="Times New Roman" panose="02020603050405020304" pitchFamily="18" charset="0"/>
              </a:rPr>
              <a:t>Firms decide who to hire and what to produce</a:t>
            </a:r>
            <a:endParaRPr lang="en-IN" altLang="en-US" sz="34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2466"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62467"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62468"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36870" name="Subtitle 4"/>
          <p:cNvSpPr>
            <a:spLocks noGrp="1"/>
          </p:cNvSpPr>
          <p:nvPr>
            <p:ph type="subTitle" idx="1"/>
          </p:nvPr>
        </p:nvSpPr>
        <p:spPr>
          <a:xfrm>
            <a:off x="571500" y="1628775"/>
            <a:ext cx="8032750" cy="4679950"/>
          </a:xfrm>
        </p:spPr>
        <p:txBody>
          <a:bodyPr vert="horz" wrap="square" lIns="91440" tIns="45720" rIns="91440" bIns="45720" numCol="1" anchor="t" anchorCtr="0" compatLnSpc="1"/>
          <a:lstStyle/>
          <a:p>
            <a:pPr marL="514350" marR="0" lvl="0" indent="-514350" algn="just" defTabSz="914400" rtl="0" eaLnBrk="1" fontAlgn="base" latinLnBrk="0" hangingPunct="1">
              <a:lnSpc>
                <a:spcPct val="100000"/>
              </a:lnSpc>
              <a:spcBef>
                <a:spcPts val="600"/>
              </a:spcBef>
              <a:spcAft>
                <a:spcPts val="600"/>
              </a:spcAft>
              <a:buClrTx/>
              <a:buSzTx/>
              <a:buFont typeface="Arial" panose="020B0604020202020204" pitchFamily="34" charset="0"/>
              <a:buNone/>
              <a:defRPr/>
            </a:pPr>
            <a:endParaRPr kumimoji="0" lang="en-IN" sz="40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endParaRPr>
          </a:p>
          <a:p>
            <a:pPr marL="532130" marR="0" lvl="0" indent="0" algn="ctr" defTabSz="914400" rtl="0" eaLnBrk="1" fontAlgn="base" latinLnBrk="0" hangingPunct="1">
              <a:lnSpc>
                <a:spcPct val="100000"/>
              </a:lnSpc>
              <a:spcBef>
                <a:spcPts val="600"/>
              </a:spcBef>
              <a:spcAft>
                <a:spcPts val="600"/>
              </a:spcAft>
              <a:buClrTx/>
              <a:buSzTx/>
              <a:buFont typeface="Arial" panose="020B0604020202020204" pitchFamily="34" charset="0"/>
              <a:buNone/>
              <a:defRPr/>
            </a:pPr>
            <a:r>
              <a:rPr kumimoji="0" lang="en-IN" sz="40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rPr>
              <a:t>Adam Smith made the observation that households and firms interacting in markets act as if guided by an “</a:t>
            </a:r>
            <a:r>
              <a:rPr kumimoji="0" lang="en-IN" sz="4000" b="1" i="0" u="none"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rPr>
              <a:t>invisible</a:t>
            </a:r>
            <a:r>
              <a:rPr kumimoji="0" lang="en-IN" sz="40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rPr>
              <a:t> </a:t>
            </a:r>
            <a:r>
              <a:rPr kumimoji="0" lang="en-IN" sz="4000" b="1" i="0" u="none"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rPr>
              <a:t>hand</a:t>
            </a:r>
            <a:r>
              <a:rPr kumimoji="0" lang="en-IN" sz="40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rPr>
              <a:t>.”</a:t>
            </a:r>
            <a:endParaRPr kumimoji="0" lang="en-IN" sz="40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endParaRPr>
          </a:p>
        </p:txBody>
      </p:sp>
    </p:spTree>
  </p:cSld>
  <p:clrMapOvr>
    <a:masterClrMapping/>
  </p:clrMapOvr>
  <p:transition spd="med">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4514"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64515"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64516"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64518"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600"/>
              </a:spcAft>
              <a:buClrTx/>
              <a:buSzTx/>
              <a:buFont typeface="Courier New" panose="02070309020205020404" pitchFamily="49" charset="0"/>
              <a:buChar char="o"/>
            </a:pPr>
            <a:r>
              <a:rPr lang="en-IN" altLang="en-US" sz="3400" b="1" kern="1200" dirty="0">
                <a:solidFill>
                  <a:schemeClr val="tx1"/>
                </a:solidFill>
                <a:latin typeface="Perpetua" pitchFamily="18" charset="0"/>
                <a:ea typeface="+mn-ea"/>
                <a:cs typeface="Times New Roman" panose="02020603050405020304" pitchFamily="18" charset="0"/>
              </a:rPr>
              <a:t>Because households and firms look at prices when deciding what to buy and sell, they unknowingly take into account the social costs of their actions</a:t>
            </a:r>
            <a:endParaRPr lang="en-IN" altLang="en-US" sz="34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3400" b="1" kern="1200" dirty="0">
                <a:solidFill>
                  <a:schemeClr val="tx1"/>
                </a:solidFill>
                <a:latin typeface="Perpetua" pitchFamily="18" charset="0"/>
                <a:ea typeface="+mn-ea"/>
                <a:cs typeface="Times New Roman" panose="02020603050405020304" pitchFamily="18" charset="0"/>
              </a:rPr>
              <a:t>As a result, prices guide decision makers to reach outcomes that tend to maximize the welfare of society as a whole</a:t>
            </a:r>
            <a:endParaRPr lang="en-IN" altLang="en-US" sz="34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6562"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66563"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66564"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66566" name="Subtitle 4"/>
          <p:cNvSpPr>
            <a:spLocks noGrp="1"/>
          </p:cNvSpPr>
          <p:nvPr>
            <p:ph type="subTitle" idx="1"/>
          </p:nvPr>
        </p:nvSpPr>
        <p:spPr>
          <a:xfrm>
            <a:off x="571500" y="1628775"/>
            <a:ext cx="8032750" cy="4679950"/>
          </a:xfrm>
        </p:spPr>
        <p:txBody>
          <a:bodyPr vert="horz" wrap="square" lIns="91440" tIns="45720" rIns="91440" bIns="45720" numCol="1" anchor="t" anchorCtr="0" compatLnSpc="1"/>
          <a:lstStyle/>
          <a:p>
            <a:pPr marL="898525" marR="0" lvl="0" indent="-898525" algn="just" defTabSz="914400" rtl="0" eaLnBrk="1" fontAlgn="base" latinLnBrk="0" hangingPunct="1">
              <a:lnSpc>
                <a:spcPct val="100000"/>
              </a:lnSpc>
              <a:spcBef>
                <a:spcPts val="1200"/>
              </a:spcBef>
              <a:spcAft>
                <a:spcPts val="1200"/>
              </a:spcAft>
              <a:buClrTx/>
              <a:buSzTx/>
              <a:buFont typeface="Arial" panose="020B0604020202020204" pitchFamily="34" charset="0"/>
              <a:buNone/>
              <a:defRPr/>
            </a:pPr>
            <a:r>
              <a:rPr kumimoji="0" lang="en-IN" altLang="en-US" sz="4000" b="1" i="0" u="none" strike="noStrike" kern="1200" cap="none" spc="0" normalizeH="0" baseline="0" noProof="0" dirty="0">
                <a:ln>
                  <a:noFill/>
                </a:ln>
                <a:solidFill>
                  <a:srgbClr val="000099"/>
                </a:solidFill>
                <a:effectLst/>
                <a:uLnTx/>
                <a:uFillTx/>
                <a:latin typeface="Perpetua" pitchFamily="18" charset="0"/>
                <a:ea typeface="+mn-ea"/>
                <a:cs typeface="Times New Roman" panose="02020603050405020304" pitchFamily="18" charset="0"/>
              </a:rPr>
              <a:t>7. Governments can sometimes improve market outcomes</a:t>
            </a:r>
            <a:endParaRPr kumimoji="0" lang="en-IN" altLang="en-US" sz="4000" b="1" i="0" u="none" strike="noStrike" kern="1200" cap="none" spc="0" normalizeH="0" baseline="0" noProof="0" dirty="0">
              <a:ln>
                <a:noFill/>
              </a:ln>
              <a:solidFill>
                <a:srgbClr val="000099"/>
              </a:solidFill>
              <a:effectLst/>
              <a:uLnTx/>
              <a:uFillTx/>
              <a:latin typeface="Perpetua" pitchFamily="18" charset="0"/>
              <a:ea typeface="+mn-ea"/>
              <a:cs typeface="Times New Roman" panose="02020603050405020304" pitchFamily="18" charset="0"/>
            </a:endParaRPr>
          </a:p>
          <a:p>
            <a:pPr marL="514350" marR="0" lvl="0" indent="-514350" algn="just" defTabSz="914400" rtl="0" eaLnBrk="1" fontAlgn="base" latinLnBrk="0" hangingPunct="1">
              <a:lnSpc>
                <a:spcPct val="100000"/>
              </a:lnSpc>
              <a:spcBef>
                <a:spcPts val="1200"/>
              </a:spcBef>
              <a:spcAft>
                <a:spcPts val="1200"/>
              </a:spcAft>
              <a:buClrTx/>
              <a:buSzTx/>
              <a:buFont typeface="Courier New" panose="02070309020205020404" pitchFamily="49" charset="0"/>
              <a:buChar char="o"/>
              <a:defRPr/>
            </a:pPr>
            <a:r>
              <a:rPr kumimoji="0" lang="en-IN" altLang="en-US" sz="34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rPr>
              <a:t>Needed to enforce </a:t>
            </a:r>
            <a:r>
              <a:rPr kumimoji="0" lang="en-IN" altLang="en-US" sz="3400" b="1" i="0" u="sng"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rPr>
              <a:t>property rights</a:t>
            </a:r>
            <a:endParaRPr kumimoji="0" lang="en-IN" altLang="en-US" sz="3400" b="1" i="0" u="sng"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endParaRPr>
          </a:p>
          <a:p>
            <a:pPr marL="514350" marR="0" lvl="0" indent="-514350" algn="just" defTabSz="914400" rtl="0" eaLnBrk="1" fontAlgn="base" latinLnBrk="0" hangingPunct="1">
              <a:lnSpc>
                <a:spcPct val="100000"/>
              </a:lnSpc>
              <a:spcBef>
                <a:spcPts val="1200"/>
              </a:spcBef>
              <a:spcAft>
                <a:spcPts val="1200"/>
              </a:spcAft>
              <a:buClrTx/>
              <a:buSzTx/>
              <a:buFont typeface="Courier New" panose="02070309020205020404" pitchFamily="49" charset="0"/>
              <a:buChar char="o"/>
              <a:defRPr/>
            </a:pPr>
            <a:r>
              <a:rPr kumimoji="0" lang="en-IN" altLang="en-US" sz="34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rPr>
              <a:t>When the market fails (breaks down) government can intervene to promote </a:t>
            </a:r>
            <a:r>
              <a:rPr kumimoji="0" lang="en-IN" altLang="en-US" sz="3400" b="1" i="0" u="none"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rPr>
              <a:t>efficiency</a:t>
            </a:r>
            <a:r>
              <a:rPr kumimoji="0" lang="en-IN" altLang="en-US" sz="34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rPr>
              <a:t> and </a:t>
            </a:r>
            <a:r>
              <a:rPr kumimoji="0" lang="en-IN" altLang="en-US" sz="3400" b="1" i="0" u="none"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rPr>
              <a:t>equity</a:t>
            </a:r>
            <a:endParaRPr kumimoji="0" lang="en-IN" altLang="en-US" sz="3400" b="1" i="0" u="none"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endParaRPr>
          </a:p>
        </p:txBody>
      </p:sp>
    </p:spTree>
  </p:cSld>
  <p:clrMapOvr>
    <a:masterClrMapping/>
  </p:clrMapOvr>
  <p:transition spd="med">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10"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68611"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68612"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36870" name="Subtitle 4"/>
          <p:cNvSpPr>
            <a:spLocks noGrp="1"/>
          </p:cNvSpPr>
          <p:nvPr>
            <p:ph type="subTitle" idx="1"/>
          </p:nvPr>
        </p:nvSpPr>
        <p:spPr>
          <a:xfrm>
            <a:off x="571500" y="1628775"/>
            <a:ext cx="8032750" cy="4679950"/>
          </a:xfrm>
        </p:spPr>
        <p:txBody>
          <a:bodyPr vert="horz" wrap="square" lIns="91440" tIns="45720" rIns="91440" bIns="45720" numCol="1" anchor="t" anchorCtr="0" compatLnSpc="1"/>
          <a:lstStyle/>
          <a:p>
            <a:pPr marL="514350" marR="0" lvl="0" indent="-514350" algn="just" defTabSz="914400" rtl="0" eaLnBrk="1" fontAlgn="base" latinLnBrk="0" hangingPunct="1">
              <a:lnSpc>
                <a:spcPct val="100000"/>
              </a:lnSpc>
              <a:spcBef>
                <a:spcPts val="600"/>
              </a:spcBef>
              <a:spcAft>
                <a:spcPts val="600"/>
              </a:spcAft>
              <a:buClrTx/>
              <a:buSzTx/>
              <a:buFont typeface="Arial" panose="020B0604020202020204" pitchFamily="34" charset="0"/>
              <a:buNone/>
              <a:defRPr/>
            </a:pPr>
            <a:endParaRPr kumimoji="0" lang="en-IN" sz="44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endParaRPr>
          </a:p>
          <a:p>
            <a:pPr marL="514350" marR="0" lvl="0" indent="17780" algn="ctr" defTabSz="914400" rtl="0" eaLnBrk="1" fontAlgn="base" latinLnBrk="0" hangingPunct="1">
              <a:lnSpc>
                <a:spcPct val="100000"/>
              </a:lnSpc>
              <a:spcBef>
                <a:spcPts val="600"/>
              </a:spcBef>
              <a:spcAft>
                <a:spcPts val="600"/>
              </a:spcAft>
              <a:buClrTx/>
              <a:buSzTx/>
              <a:buFont typeface="Arial" panose="020B0604020202020204" pitchFamily="34" charset="0"/>
              <a:buNone/>
              <a:defRPr/>
            </a:pPr>
            <a:r>
              <a:rPr kumimoji="0" lang="en-IN" sz="4400" b="1" i="0" u="sng" strike="noStrike" kern="1200" cap="none" spc="0" normalizeH="0" baseline="0" noProof="0" dirty="0">
                <a:ln>
                  <a:noFill/>
                </a:ln>
                <a:solidFill>
                  <a:srgbClr val="FF0000"/>
                </a:solidFill>
                <a:effectLst/>
                <a:uLnTx/>
                <a:uFillTx/>
                <a:latin typeface="Perpetua" pitchFamily="18" charset="0"/>
                <a:ea typeface="+mn-ea"/>
                <a:cs typeface="Times New Roman" panose="02020603050405020304" pitchFamily="18" charset="0"/>
              </a:rPr>
              <a:t>Market Failure </a:t>
            </a:r>
            <a:r>
              <a:rPr kumimoji="0" lang="en-IN" sz="44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rPr>
              <a:t>occurs when the market fails to allocate resources efficiently</a:t>
            </a:r>
            <a:endParaRPr kumimoji="0" lang="en-IN" sz="4400" b="1" i="0" u="none" strike="noStrike" kern="1200" cap="none" spc="0" normalizeH="0" baseline="0" noProof="0" dirty="0">
              <a:ln>
                <a:noFill/>
              </a:ln>
              <a:solidFill>
                <a:schemeClr val="tx1"/>
              </a:solidFill>
              <a:effectLst/>
              <a:uLnTx/>
              <a:uFillTx/>
              <a:latin typeface="Perpetua" pitchFamily="18" charset="0"/>
              <a:ea typeface="+mn-ea"/>
              <a:cs typeface="Times New Roman" panose="02020603050405020304" pitchFamily="18" charset="0"/>
            </a:endParaRPr>
          </a:p>
        </p:txBody>
      </p:sp>
    </p:spTree>
  </p:cSld>
  <p:clrMapOvr>
    <a:masterClrMapping/>
  </p:clrMapOvr>
  <p:transition spd="med">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0658"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70659"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70660"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70662" name="Subtitle 4"/>
          <p:cNvSpPr>
            <a:spLocks noGrp="1"/>
          </p:cNvSpPr>
          <p:nvPr>
            <p:ph type="subTitle" idx="1"/>
          </p:nvPr>
        </p:nvSpPr>
        <p:spPr>
          <a:xfrm>
            <a:off x="571500" y="1628775"/>
            <a:ext cx="8032750" cy="5093335"/>
          </a:xfrm>
        </p:spPr>
        <p:txBody>
          <a:bodyPr vert="horz" wrap="square" lIns="91440" tIns="45720" rIns="91440" bIns="45720" anchor="t"/>
          <a:p>
            <a:pPr marL="514350" indent="-514350" algn="just" eaLnBrk="1" hangingPunct="1">
              <a:spcBef>
                <a:spcPts val="600"/>
              </a:spcBef>
              <a:spcAft>
                <a:spcPts val="600"/>
              </a:spcAft>
              <a:buClrTx/>
              <a:buSzTx/>
            </a:pPr>
            <a:endParaRPr lang="en-IN" altLang="en-US" sz="4400" b="1" kern="1200" dirty="0">
              <a:solidFill>
                <a:schemeClr val="tx1"/>
              </a:solidFill>
              <a:latin typeface="Perpetua" pitchFamily="18" charset="0"/>
              <a:ea typeface="+mn-ea"/>
              <a:cs typeface="Times New Roman" panose="02020603050405020304" pitchFamily="18" charset="0"/>
            </a:endParaRPr>
          </a:p>
          <a:p>
            <a:pPr marL="514350" indent="-514350" eaLnBrk="1" hangingPunct="1">
              <a:spcBef>
                <a:spcPts val="600"/>
              </a:spcBef>
              <a:spcAft>
                <a:spcPts val="600"/>
              </a:spcAft>
              <a:buClrTx/>
              <a:buSzTx/>
            </a:pPr>
            <a:r>
              <a:rPr lang="en-IN" altLang="en-US" sz="4400" b="1" kern="1200" dirty="0">
                <a:solidFill>
                  <a:schemeClr val="tx1"/>
                </a:solidFill>
                <a:latin typeface="Perpetua" pitchFamily="18" charset="0"/>
                <a:ea typeface="+mn-ea"/>
                <a:cs typeface="Times New Roman" panose="02020603050405020304" pitchFamily="18" charset="0"/>
              </a:rPr>
              <a:t>Market failure may be caused by an </a:t>
            </a:r>
            <a:r>
              <a:rPr lang="en-IN" altLang="en-US" sz="4400" b="1" u="sng" kern="1200" dirty="0">
                <a:solidFill>
                  <a:srgbClr val="FF0000"/>
                </a:solidFill>
                <a:latin typeface="Perpetua" pitchFamily="18" charset="0"/>
                <a:ea typeface="+mn-ea"/>
                <a:cs typeface="Times New Roman" panose="02020603050405020304" pitchFamily="18" charset="0"/>
              </a:rPr>
              <a:t>externality</a:t>
            </a:r>
            <a:r>
              <a:rPr lang="en-IN" altLang="en-US" sz="4400" b="1" kern="1200" dirty="0">
                <a:solidFill>
                  <a:schemeClr val="tx1"/>
                </a:solidFill>
                <a:latin typeface="Perpetua" pitchFamily="18" charset="0"/>
                <a:ea typeface="+mn-ea"/>
                <a:cs typeface="Times New Roman" panose="02020603050405020304" pitchFamily="18" charset="0"/>
              </a:rPr>
              <a:t>, which is the impact of one person or firm’s actions on the well-being of a bystander</a:t>
            </a:r>
            <a:endParaRPr lang="en-IN" altLang="en-US" sz="44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2706"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72707"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72708"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72710" name="Subtitle 4"/>
          <p:cNvSpPr>
            <a:spLocks noGrp="1"/>
          </p:cNvSpPr>
          <p:nvPr>
            <p:ph type="subTitle" idx="1"/>
          </p:nvPr>
        </p:nvSpPr>
        <p:spPr>
          <a:xfrm>
            <a:off x="611188" y="1914525"/>
            <a:ext cx="7889875" cy="3300413"/>
          </a:xfrm>
        </p:spPr>
        <p:txBody>
          <a:bodyPr vert="horz" wrap="square" lIns="91440" tIns="45720" rIns="91440" bIns="45720" anchor="t"/>
          <a:p>
            <a:pPr marL="514350" indent="17780" eaLnBrk="1" hangingPunct="1">
              <a:spcBef>
                <a:spcPts val="600"/>
              </a:spcBef>
              <a:spcAft>
                <a:spcPts val="600"/>
              </a:spcAft>
              <a:buClrTx/>
              <a:buSzTx/>
            </a:pPr>
            <a:r>
              <a:rPr lang="en-IN" altLang="en-US" sz="4200" b="1" kern="1200" dirty="0">
                <a:solidFill>
                  <a:schemeClr val="tx1"/>
                </a:solidFill>
                <a:latin typeface="Perpetua" pitchFamily="18" charset="0"/>
                <a:ea typeface="+mn-ea"/>
                <a:cs typeface="Times New Roman" panose="02020603050405020304" pitchFamily="18" charset="0"/>
              </a:rPr>
              <a:t>Market failure may also be caused by </a:t>
            </a:r>
            <a:r>
              <a:rPr lang="en-IN" altLang="en-US" sz="4200" b="1" u="sng" kern="1200" dirty="0">
                <a:solidFill>
                  <a:srgbClr val="FF0000"/>
                </a:solidFill>
                <a:latin typeface="Perpetua" pitchFamily="18" charset="0"/>
                <a:ea typeface="+mn-ea"/>
                <a:cs typeface="Times New Roman" panose="02020603050405020304" pitchFamily="18" charset="0"/>
              </a:rPr>
              <a:t>market power</a:t>
            </a:r>
            <a:r>
              <a:rPr lang="en-IN" altLang="en-US" sz="4200" b="1" kern="1200" dirty="0">
                <a:solidFill>
                  <a:schemeClr val="tx1"/>
                </a:solidFill>
                <a:latin typeface="Perpetua" pitchFamily="18" charset="0"/>
                <a:ea typeface="+mn-ea"/>
                <a:cs typeface="Times New Roman" panose="02020603050405020304" pitchFamily="18" charset="0"/>
              </a:rPr>
              <a:t>, which is the ability of a single person or firm to unduly influence market prices. </a:t>
            </a:r>
            <a:endParaRPr lang="en-IN" altLang="en-US" sz="42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4754"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74755"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74756"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74758"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600"/>
              </a:spcAft>
              <a:buClrTx/>
              <a:buSzTx/>
            </a:pPr>
            <a:r>
              <a:rPr lang="en-IN" altLang="en-US" sz="4000" b="1" kern="1200" dirty="0">
                <a:solidFill>
                  <a:srgbClr val="000099"/>
                </a:solidFill>
                <a:latin typeface="Perpetua" pitchFamily="18" charset="0"/>
                <a:ea typeface="+mn-ea"/>
                <a:cs typeface="Times New Roman" panose="02020603050405020304" pitchFamily="18" charset="0"/>
              </a:rPr>
              <a:t>8. The standard of living depends on a country’s production</a:t>
            </a:r>
            <a:endParaRPr lang="en-IN" altLang="en-US" sz="40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spcAft>
                <a:spcPts val="600"/>
              </a:spcAft>
              <a:buClrTx/>
              <a:buSzTx/>
              <a:buFont typeface="Courier New" panose="02070309020205020404" pitchFamily="49" charset="0"/>
              <a:buChar char="o"/>
            </a:pPr>
            <a:r>
              <a:rPr lang="en-IN" altLang="en-US" sz="3400" b="1" kern="1200" dirty="0">
                <a:solidFill>
                  <a:schemeClr val="tx1"/>
                </a:solidFill>
                <a:latin typeface="Perpetua" pitchFamily="18" charset="0"/>
                <a:ea typeface="+mn-ea"/>
                <a:cs typeface="Times New Roman" panose="02020603050405020304" pitchFamily="18" charset="0"/>
              </a:rPr>
              <a:t>Standard of living may be measured in different ways:</a:t>
            </a:r>
            <a:endParaRPr lang="en-IN" altLang="en-US" sz="3400" b="1" kern="1200" dirty="0">
              <a:solidFill>
                <a:schemeClr val="tx1"/>
              </a:solidFill>
              <a:latin typeface="Perpetua" pitchFamily="18" charset="0"/>
              <a:ea typeface="+mn-ea"/>
              <a:cs typeface="Times New Roman" panose="02020603050405020304" pitchFamily="18" charset="0"/>
            </a:endParaRPr>
          </a:p>
          <a:p>
            <a:pPr marL="971550" lvl="1" indent="-514350" algn="just" eaLnBrk="1" hangingPunct="1">
              <a:spcBef>
                <a:spcPts val="600"/>
              </a:spcBef>
              <a:spcAft>
                <a:spcPts val="600"/>
              </a:spcAft>
              <a:buChar char="•"/>
            </a:pPr>
            <a:r>
              <a:rPr lang="en-IN" altLang="en-US" sz="3000" b="1" kern="1200" dirty="0">
                <a:solidFill>
                  <a:schemeClr val="tx1"/>
                </a:solidFill>
                <a:latin typeface="Perpetua" pitchFamily="18" charset="0"/>
                <a:ea typeface="+mn-ea"/>
                <a:cs typeface="Times New Roman" panose="02020603050405020304" pitchFamily="18" charset="0"/>
              </a:rPr>
              <a:t>By comparing personal incomes</a:t>
            </a:r>
            <a:endParaRPr lang="en-IN" altLang="en-US" sz="3000" b="1" kern="1200" dirty="0">
              <a:solidFill>
                <a:schemeClr val="tx1"/>
              </a:solidFill>
              <a:latin typeface="Perpetua" pitchFamily="18" charset="0"/>
              <a:ea typeface="+mn-ea"/>
              <a:cs typeface="Times New Roman" panose="02020603050405020304" pitchFamily="18" charset="0"/>
            </a:endParaRPr>
          </a:p>
          <a:p>
            <a:pPr marL="971550" lvl="1" indent="-514350" algn="just" eaLnBrk="1" hangingPunct="1">
              <a:spcBef>
                <a:spcPts val="600"/>
              </a:spcBef>
              <a:spcAft>
                <a:spcPts val="600"/>
              </a:spcAft>
              <a:buChar char="•"/>
            </a:pPr>
            <a:r>
              <a:rPr lang="en-IN" altLang="en-US" sz="3000" b="1" kern="1200" dirty="0">
                <a:solidFill>
                  <a:schemeClr val="tx1"/>
                </a:solidFill>
                <a:latin typeface="Perpetua" pitchFamily="18" charset="0"/>
                <a:ea typeface="+mn-ea"/>
                <a:cs typeface="Times New Roman" panose="02020603050405020304" pitchFamily="18" charset="0"/>
              </a:rPr>
              <a:t>By comparing the total market value of a nation’s production</a:t>
            </a:r>
            <a:endParaRPr lang="en-IN" altLang="en-US" sz="30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2"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76803"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76804"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76806" name="Subtitle 4"/>
          <p:cNvSpPr>
            <a:spLocks noGrp="1"/>
          </p:cNvSpPr>
          <p:nvPr>
            <p:ph type="subTitle" idx="1"/>
          </p:nvPr>
        </p:nvSpPr>
        <p:spPr>
          <a:xfrm>
            <a:off x="571500" y="1628775"/>
            <a:ext cx="8032750" cy="4679950"/>
          </a:xfrm>
        </p:spPr>
        <p:txBody>
          <a:bodyPr vert="horz" wrap="square" lIns="91440" tIns="45720" rIns="91440" bIns="45720" anchor="t"/>
          <a:p>
            <a:pPr marL="514350" indent="-514350" algn="just" eaLnBrk="1" hangingPunct="1">
              <a:spcBef>
                <a:spcPts val="600"/>
              </a:spcBef>
              <a:spcAft>
                <a:spcPts val="600"/>
              </a:spcAft>
              <a:buClrTx/>
              <a:buSzTx/>
            </a:pPr>
            <a:endParaRPr lang="en-IN" altLang="en-US" sz="4400" b="1" kern="1200" dirty="0">
              <a:solidFill>
                <a:schemeClr val="tx1"/>
              </a:solidFill>
              <a:latin typeface="Perpetua" pitchFamily="18" charset="0"/>
              <a:ea typeface="+mn-ea"/>
              <a:cs typeface="Times New Roman" panose="02020603050405020304" pitchFamily="18" charset="0"/>
            </a:endParaRPr>
          </a:p>
          <a:p>
            <a:pPr marL="514350" indent="-514350" eaLnBrk="1" hangingPunct="1">
              <a:spcBef>
                <a:spcPts val="600"/>
              </a:spcBef>
              <a:spcAft>
                <a:spcPts val="600"/>
              </a:spcAft>
              <a:buClrTx/>
              <a:buSzTx/>
            </a:pPr>
            <a:r>
              <a:rPr lang="en-IN" altLang="en-US" sz="4400" b="1" kern="1200" dirty="0">
                <a:solidFill>
                  <a:schemeClr val="tx1"/>
                </a:solidFill>
                <a:latin typeface="Perpetua" pitchFamily="18" charset="0"/>
                <a:ea typeface="+mn-ea"/>
                <a:cs typeface="Times New Roman" panose="02020603050405020304" pitchFamily="18" charset="0"/>
              </a:rPr>
              <a:t>Almost all variations in living standards are explained by differences in countries’ </a:t>
            </a:r>
            <a:r>
              <a:rPr lang="en-IN" altLang="en-US" sz="4400" b="1" u="sng" kern="1200" dirty="0">
                <a:solidFill>
                  <a:srgbClr val="FF0000"/>
                </a:solidFill>
                <a:latin typeface="Perpetua" pitchFamily="18" charset="0"/>
                <a:ea typeface="+mn-ea"/>
                <a:cs typeface="Times New Roman" panose="02020603050405020304" pitchFamily="18" charset="0"/>
              </a:rPr>
              <a:t>productivities</a:t>
            </a:r>
            <a:endParaRPr lang="en-IN" altLang="en-US" sz="4400" b="1" u="sng" kern="1200" dirty="0">
              <a:solidFill>
                <a:srgbClr val="FF0000"/>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8850"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78851"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78852"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78854" name="Subtitle 4"/>
          <p:cNvSpPr>
            <a:spLocks noGrp="1"/>
          </p:cNvSpPr>
          <p:nvPr>
            <p:ph type="subTitle" idx="1"/>
          </p:nvPr>
        </p:nvSpPr>
        <p:spPr>
          <a:xfrm>
            <a:off x="571500" y="1628775"/>
            <a:ext cx="8032750" cy="4679950"/>
          </a:xfrm>
        </p:spPr>
        <p:txBody>
          <a:bodyPr vert="horz" wrap="square" lIns="91440" tIns="45720" rIns="91440" bIns="45720" anchor="t"/>
          <a:p>
            <a:pPr marL="514350" indent="-514350" eaLnBrk="1" hangingPunct="1">
              <a:spcBef>
                <a:spcPts val="600"/>
              </a:spcBef>
              <a:spcAft>
                <a:spcPts val="600"/>
              </a:spcAft>
              <a:buClrTx/>
              <a:buSzTx/>
            </a:pPr>
            <a:r>
              <a:rPr lang="en-IN" altLang="en-US" sz="4400" b="1" u="sng" kern="1200" dirty="0">
                <a:solidFill>
                  <a:srgbClr val="FF0000"/>
                </a:solidFill>
                <a:latin typeface="Perpetua" pitchFamily="18" charset="0"/>
                <a:ea typeface="+mn-ea"/>
                <a:cs typeface="Times New Roman" panose="02020603050405020304" pitchFamily="18" charset="0"/>
              </a:rPr>
              <a:t>Productivity</a:t>
            </a:r>
            <a:r>
              <a:rPr lang="en-IN" altLang="en-US" sz="4400" b="1" kern="1200" dirty="0">
                <a:solidFill>
                  <a:schemeClr val="tx1"/>
                </a:solidFill>
                <a:latin typeface="Perpetua" pitchFamily="18" charset="0"/>
                <a:ea typeface="+mn-ea"/>
                <a:cs typeface="Times New Roman" panose="02020603050405020304" pitchFamily="18" charset="0"/>
              </a:rPr>
              <a:t> is the amount of goods and services produced from each hour of a worker’s time</a:t>
            </a:r>
            <a:endParaRPr lang="en-IN" altLang="en-US" sz="4400" b="1" kern="1200" dirty="0">
              <a:solidFill>
                <a:schemeClr val="tx1"/>
              </a:solidFill>
              <a:latin typeface="Perpetua" pitchFamily="18" charset="0"/>
              <a:ea typeface="+mn-ea"/>
              <a:cs typeface="Times New Roman" panose="02020603050405020304" pitchFamily="18" charset="0"/>
            </a:endParaRPr>
          </a:p>
          <a:p>
            <a:pPr marL="514350" indent="-514350" algn="l" eaLnBrk="1" hangingPunct="1">
              <a:spcBef>
                <a:spcPts val="600"/>
              </a:spcBef>
              <a:spcAft>
                <a:spcPts val="600"/>
              </a:spcAft>
              <a:buClrTx/>
              <a:buSzTx/>
            </a:pPr>
            <a:r>
              <a:rPr lang="en-IN" altLang="en-US" sz="4000" b="1" kern="1200" dirty="0">
                <a:solidFill>
                  <a:schemeClr val="tx1"/>
                </a:solidFill>
                <a:latin typeface="Perpetua" pitchFamily="18" charset="0"/>
                <a:ea typeface="+mn-ea"/>
                <a:cs typeface="Times New Roman" panose="02020603050405020304" pitchFamily="18" charset="0"/>
              </a:rPr>
              <a:t>Higher productivity </a:t>
            </a:r>
            <a:endParaRPr lang="en-IN" altLang="en-US" sz="4000" b="1" kern="1200" dirty="0">
              <a:solidFill>
                <a:schemeClr val="tx1"/>
              </a:solidFill>
              <a:latin typeface="Perpetua" pitchFamily="18" charset="0"/>
              <a:ea typeface="+mn-ea"/>
              <a:cs typeface="Times New Roman" panose="02020603050405020304" pitchFamily="18" charset="0"/>
            </a:endParaRPr>
          </a:p>
          <a:p>
            <a:pPr marL="514350" indent="-514350" algn="r" eaLnBrk="1" hangingPunct="1">
              <a:spcBef>
                <a:spcPts val="600"/>
              </a:spcBef>
              <a:spcAft>
                <a:spcPts val="600"/>
              </a:spcAft>
              <a:buClrTx/>
              <a:buSzTx/>
            </a:pPr>
            <a:r>
              <a:rPr lang="en-IN" altLang="en-US" sz="4000" b="1" kern="1200" dirty="0">
                <a:solidFill>
                  <a:schemeClr val="tx1"/>
                </a:solidFill>
                <a:latin typeface="Perpetua" pitchFamily="18" charset="0"/>
                <a:ea typeface="+mn-ea"/>
                <a:cs typeface="Times New Roman" panose="02020603050405020304" pitchFamily="18" charset="0"/>
              </a:rPr>
              <a:t>Higher standard of living</a:t>
            </a:r>
            <a:endParaRPr lang="en-IN" altLang="en-US" sz="4000" b="1" kern="1200" dirty="0">
              <a:solidFill>
                <a:schemeClr val="tx1"/>
              </a:solidFill>
              <a:latin typeface="Perpetua" pitchFamily="18" charset="0"/>
              <a:ea typeface="Times New Roman" panose="02020603050405020304" pitchFamily="18" charset="0"/>
              <a:cs typeface="+mn-cs"/>
            </a:endParaRPr>
          </a:p>
        </p:txBody>
      </p:sp>
      <p:sp>
        <p:nvSpPr>
          <p:cNvPr id="7" name="Right Arrow 6"/>
          <p:cNvSpPr/>
          <p:nvPr/>
        </p:nvSpPr>
        <p:spPr>
          <a:xfrm>
            <a:off x="790258" y="5300663"/>
            <a:ext cx="792163" cy="576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0898"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80899"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80900"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80902" name="Subtitle 4"/>
          <p:cNvSpPr>
            <a:spLocks noGrp="1"/>
          </p:cNvSpPr>
          <p:nvPr>
            <p:ph type="subTitle" idx="1"/>
          </p:nvPr>
        </p:nvSpPr>
        <p:spPr>
          <a:xfrm>
            <a:off x="457200" y="1412875"/>
            <a:ext cx="8032750" cy="5347970"/>
          </a:xfrm>
        </p:spPr>
        <p:txBody>
          <a:bodyPr vert="horz" wrap="square" lIns="91440" tIns="45720" rIns="91440" bIns="45720" anchor="t"/>
          <a:p>
            <a:pPr marL="514350" indent="-514350" algn="just" eaLnBrk="1" hangingPunct="1">
              <a:spcBef>
                <a:spcPts val="600"/>
              </a:spcBef>
              <a:spcAft>
                <a:spcPts val="600"/>
              </a:spcAft>
              <a:buClrTx/>
              <a:buSzTx/>
            </a:pPr>
            <a:r>
              <a:rPr lang="en-IN" altLang="en-US" sz="4000" b="1" kern="1200" dirty="0">
                <a:solidFill>
                  <a:srgbClr val="000099"/>
                </a:solidFill>
                <a:latin typeface="Perpetua" pitchFamily="18" charset="0"/>
                <a:ea typeface="+mn-ea"/>
                <a:cs typeface="Times New Roman" panose="02020603050405020304" pitchFamily="18" charset="0"/>
              </a:rPr>
              <a:t>9. Prices rise when the government prints too much money</a:t>
            </a:r>
            <a:endParaRPr lang="en-IN" altLang="en-US" sz="40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600"/>
              </a:spcBef>
              <a:buClrTx/>
              <a:buSzTx/>
              <a:buFont typeface="Courier New" panose="02070309020205020404" pitchFamily="49" charset="0"/>
              <a:buChar char="o"/>
            </a:pPr>
            <a:r>
              <a:rPr lang="en-IN" altLang="en-US" sz="3000" b="1" u="sng" kern="1200" dirty="0">
                <a:solidFill>
                  <a:srgbClr val="FF0000"/>
                </a:solidFill>
                <a:latin typeface="Perpetua" pitchFamily="18" charset="0"/>
                <a:ea typeface="+mn-ea"/>
                <a:cs typeface="Times New Roman" panose="02020603050405020304" pitchFamily="18" charset="0"/>
              </a:rPr>
              <a:t>Inflation</a:t>
            </a:r>
            <a:r>
              <a:rPr lang="en-IN" altLang="en-US" sz="3000" b="1" kern="1200" dirty="0">
                <a:solidFill>
                  <a:schemeClr val="tx1"/>
                </a:solidFill>
                <a:latin typeface="Perpetua" pitchFamily="18" charset="0"/>
                <a:ea typeface="+mn-ea"/>
                <a:cs typeface="Times New Roman" panose="02020603050405020304" pitchFamily="18" charset="0"/>
              </a:rPr>
              <a:t> is an increase in the overall level of prices in the economy</a:t>
            </a:r>
            <a:endParaRPr lang="en-IN" altLang="en-US" sz="30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buClrTx/>
              <a:buSzTx/>
              <a:buFont typeface="Courier New" panose="02070309020205020404" pitchFamily="49" charset="0"/>
              <a:buChar char="o"/>
            </a:pPr>
            <a:r>
              <a:rPr lang="en-IN" altLang="en-US" sz="3000" b="1" kern="1200" dirty="0">
                <a:solidFill>
                  <a:schemeClr val="tx1"/>
                </a:solidFill>
                <a:latin typeface="Perpetua" pitchFamily="18" charset="0"/>
                <a:ea typeface="+mn-ea"/>
                <a:cs typeface="Times New Roman" panose="02020603050405020304" pitchFamily="18" charset="0"/>
              </a:rPr>
              <a:t>One cause of inflation is the growth in the quantity of money</a:t>
            </a:r>
            <a:endParaRPr lang="en-IN" altLang="en-US" sz="3000" b="1" kern="1200" dirty="0">
              <a:solidFill>
                <a:schemeClr val="tx1"/>
              </a:solidFill>
              <a:latin typeface="Perpetua" pitchFamily="18" charset="0"/>
              <a:ea typeface="+mn-ea"/>
              <a:cs typeface="Times New Roman" panose="02020603050405020304" pitchFamily="18" charset="0"/>
            </a:endParaRPr>
          </a:p>
          <a:p>
            <a:pPr marL="514350" indent="-514350" algn="just" eaLnBrk="1" hangingPunct="1">
              <a:spcBef>
                <a:spcPts val="600"/>
              </a:spcBef>
              <a:buClrTx/>
              <a:buSzTx/>
              <a:buFont typeface="Courier New" panose="02070309020205020404" pitchFamily="49" charset="0"/>
              <a:buChar char="o"/>
            </a:pPr>
            <a:r>
              <a:rPr lang="en-IN" altLang="en-US" sz="3000" b="1" kern="1200" dirty="0">
                <a:solidFill>
                  <a:schemeClr val="tx1"/>
                </a:solidFill>
                <a:latin typeface="Perpetua" pitchFamily="18" charset="0"/>
                <a:ea typeface="+mn-ea"/>
                <a:cs typeface="Times New Roman" panose="02020603050405020304" pitchFamily="18" charset="0"/>
              </a:rPr>
              <a:t>When the government creates large quantities of money, the value of the money falls</a:t>
            </a:r>
            <a:endParaRPr lang="en-IN" altLang="en-US" sz="3000" b="1" kern="1200" dirty="0">
              <a:solidFill>
                <a:schemeClr val="tx1"/>
              </a:solidFill>
              <a:latin typeface="Perpetua" pitchFamily="18" charset="0"/>
              <a:ea typeface="Times New Roman" panose="02020603050405020304" pitchFamily="18" charset="0"/>
              <a:cs typeface="+mn-cs"/>
            </a:endParaRPr>
          </a:p>
        </p:txBody>
      </p:sp>
    </p:spTree>
  </p:cSld>
  <p:clrMapOvr>
    <a:masterClrMapping/>
  </p:clrMapOvr>
  <p:transition spd="med">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0898"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80899"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80900"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2" name="Subtitle 1"/>
          <p:cNvSpPr/>
          <p:nvPr>
            <p:ph type="subTitle" idx="1"/>
          </p:nvPr>
        </p:nvSpPr>
        <p:spPr/>
        <p:txBody>
          <a:bodyPr/>
          <a:p>
            <a:endParaRPr lang="en-US"/>
          </a:p>
        </p:txBody>
      </p:sp>
      <p:pic>
        <p:nvPicPr>
          <p:cNvPr id="3" name="Picture 2"/>
          <p:cNvPicPr>
            <a:picLocks noChangeAspect="1"/>
          </p:cNvPicPr>
          <p:nvPr/>
        </p:nvPicPr>
        <p:blipFill>
          <a:blip r:embed="rId2"/>
          <a:stretch>
            <a:fillRect/>
          </a:stretch>
        </p:blipFill>
        <p:spPr>
          <a:xfrm>
            <a:off x="69850" y="1412875"/>
            <a:ext cx="8925560" cy="5308600"/>
          </a:xfrm>
          <a:prstGeom prst="rect">
            <a:avLst/>
          </a:prstGeom>
        </p:spPr>
      </p:pic>
    </p:spTree>
  </p:cSld>
  <p:clrMapOvr>
    <a:masterClrMapping/>
  </p:clrMapOvr>
  <p:transition spd="med">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2946"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82947"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82948"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82950" name="Subtitle 4"/>
          <p:cNvSpPr>
            <a:spLocks noGrp="1"/>
          </p:cNvSpPr>
          <p:nvPr>
            <p:ph type="subTitle" idx="1"/>
          </p:nvPr>
        </p:nvSpPr>
        <p:spPr>
          <a:xfrm>
            <a:off x="167005" y="1363345"/>
            <a:ext cx="8790940" cy="5462905"/>
          </a:xfrm>
        </p:spPr>
        <p:txBody>
          <a:bodyPr vert="horz" wrap="square" lIns="91440" tIns="45720" rIns="91440" bIns="45720" anchor="t"/>
          <a:p>
            <a:pPr marL="514350" indent="-514350" algn="just" eaLnBrk="1" hangingPunct="1">
              <a:spcBef>
                <a:spcPts val="1800"/>
              </a:spcBef>
              <a:spcAft>
                <a:spcPts val="1800"/>
              </a:spcAft>
              <a:buClrTx/>
              <a:buSzTx/>
            </a:pPr>
            <a:r>
              <a:rPr lang="en-IN" altLang="en-US" sz="3600" b="1" kern="1200" dirty="0">
                <a:solidFill>
                  <a:srgbClr val="000099"/>
                </a:solidFill>
                <a:latin typeface="Perpetua" pitchFamily="18" charset="0"/>
                <a:ea typeface="+mn-ea"/>
                <a:cs typeface="Times New Roman" panose="02020603050405020304" pitchFamily="18" charset="0"/>
              </a:rPr>
              <a:t>10. Society faces a short-run trade-off between inflation and unemployment</a:t>
            </a:r>
            <a:endParaRPr lang="en-IN" altLang="en-US" sz="3600" b="1" kern="1200" dirty="0">
              <a:solidFill>
                <a:srgbClr val="000099"/>
              </a:solidFill>
              <a:latin typeface="Perpetua" pitchFamily="18" charset="0"/>
              <a:ea typeface="+mn-ea"/>
              <a:cs typeface="Times New Roman" panose="02020603050405020304" pitchFamily="18" charset="0"/>
            </a:endParaRPr>
          </a:p>
          <a:p>
            <a:pPr marL="514350" indent="-514350" algn="just" eaLnBrk="1" hangingPunct="1">
              <a:spcBef>
                <a:spcPts val="1800"/>
              </a:spcBef>
              <a:spcAft>
                <a:spcPts val="1800"/>
              </a:spcAft>
              <a:buClrTx/>
              <a:buSzTx/>
              <a:buFont typeface="Courier New" panose="02070309020205020404" pitchFamily="49" charset="0"/>
              <a:buChar char="o"/>
            </a:pPr>
            <a:r>
              <a:rPr lang="en-IN" altLang="en-US" b="1" kern="1200" dirty="0">
                <a:solidFill>
                  <a:schemeClr val="tx1"/>
                </a:solidFill>
                <a:latin typeface="Perpetua" pitchFamily="18" charset="0"/>
                <a:ea typeface="+mn-ea"/>
                <a:cs typeface="Times New Roman" panose="02020603050405020304" pitchFamily="18" charset="0"/>
              </a:rPr>
              <a:t>The Phillips Curve illustrates the trade-off between inflation and unemployment:</a:t>
            </a:r>
            <a:endParaRPr lang="en-IN" altLang="en-US" b="1" kern="1200" dirty="0">
              <a:solidFill>
                <a:schemeClr val="tx1"/>
              </a:solidFill>
              <a:latin typeface="Perpetua" pitchFamily="18" charset="0"/>
              <a:ea typeface="+mn-ea"/>
              <a:cs typeface="Times New Roman" panose="02020603050405020304" pitchFamily="18" charset="0"/>
            </a:endParaRPr>
          </a:p>
          <a:p>
            <a:pPr marL="1256030" lvl="1" indent="-798830" algn="just" eaLnBrk="1" hangingPunct="1">
              <a:spcBef>
                <a:spcPts val="1800"/>
              </a:spcBef>
              <a:spcAft>
                <a:spcPts val="1800"/>
              </a:spcAft>
              <a:buChar char="•"/>
            </a:pPr>
            <a:r>
              <a:rPr lang="en-IN" altLang="en-US" sz="3000" b="1" kern="1200" dirty="0">
                <a:solidFill>
                  <a:schemeClr val="tx1"/>
                </a:solidFill>
                <a:latin typeface="Perpetua" pitchFamily="18" charset="0"/>
                <a:ea typeface="+mn-ea"/>
                <a:cs typeface="Times New Roman" panose="02020603050405020304" pitchFamily="18" charset="0"/>
              </a:rPr>
              <a:t>Inflation 	   Unemployment</a:t>
            </a:r>
            <a:endParaRPr lang="en-IN" altLang="en-US" sz="3000" b="1" kern="1200" dirty="0">
              <a:solidFill>
                <a:schemeClr val="tx1"/>
              </a:solidFill>
              <a:latin typeface="Perpetua" pitchFamily="18" charset="0"/>
              <a:ea typeface="+mn-ea"/>
              <a:cs typeface="Times New Roman" panose="02020603050405020304" pitchFamily="18" charset="0"/>
            </a:endParaRPr>
          </a:p>
          <a:p>
            <a:pPr marL="1256030" lvl="1" indent="-798830" algn="just" eaLnBrk="1" hangingPunct="1">
              <a:spcBef>
                <a:spcPts val="1800"/>
              </a:spcBef>
              <a:spcAft>
                <a:spcPts val="1800"/>
              </a:spcAft>
              <a:buChar char="•"/>
            </a:pPr>
            <a:r>
              <a:rPr lang="en-IN" altLang="en-US" sz="3000" b="1" kern="1200" dirty="0">
                <a:solidFill>
                  <a:schemeClr val="tx1"/>
                </a:solidFill>
                <a:latin typeface="Perpetua" pitchFamily="18" charset="0"/>
                <a:ea typeface="+mn-ea"/>
                <a:cs typeface="Times New Roman" panose="02020603050405020304" pitchFamily="18" charset="0"/>
              </a:rPr>
              <a:t>It’s a short-run trade-off!</a:t>
            </a:r>
            <a:endParaRPr lang="en-IN" altLang="en-US" sz="3000" b="1" kern="1200" dirty="0">
              <a:solidFill>
                <a:schemeClr val="tx1"/>
              </a:solidFill>
              <a:latin typeface="Perpetua" pitchFamily="18" charset="0"/>
              <a:ea typeface="Times New Roman" panose="02020603050405020304" pitchFamily="18" charset="0"/>
              <a:cs typeface="+mn-cs"/>
            </a:endParaRPr>
          </a:p>
        </p:txBody>
      </p:sp>
      <p:sp>
        <p:nvSpPr>
          <p:cNvPr id="7" name="Down Arrow 6"/>
          <p:cNvSpPr/>
          <p:nvPr/>
        </p:nvSpPr>
        <p:spPr>
          <a:xfrm>
            <a:off x="1115060" y="5516880"/>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ight Arrow 7"/>
          <p:cNvSpPr/>
          <p:nvPr/>
        </p:nvSpPr>
        <p:spPr>
          <a:xfrm>
            <a:off x="3508693" y="5516880"/>
            <a:ext cx="792163" cy="360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9" name="Up Arrow 8"/>
          <p:cNvSpPr/>
          <p:nvPr/>
        </p:nvSpPr>
        <p:spPr>
          <a:xfrm>
            <a:off x="7518718" y="5505768"/>
            <a:ext cx="503238" cy="3603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2946" name="Picture 2"/>
          <p:cNvPicPr>
            <a:picLocks noChangeAspect="1"/>
          </p:cNvPicPr>
          <p:nvPr/>
        </p:nvPicPr>
        <p:blipFill>
          <a:blip r:embed="rId1"/>
          <a:srcRect l="40810" t="14648" r="19337" b="78516"/>
          <a:stretch>
            <a:fillRect/>
          </a:stretch>
        </p:blipFill>
        <p:spPr>
          <a:xfrm>
            <a:off x="0" y="0"/>
            <a:ext cx="9144000" cy="1412875"/>
          </a:xfrm>
          <a:prstGeom prst="rect">
            <a:avLst/>
          </a:prstGeom>
          <a:noFill/>
          <a:ln w="9525">
            <a:noFill/>
          </a:ln>
        </p:spPr>
      </p:pic>
      <p:sp>
        <p:nvSpPr>
          <p:cNvPr id="82947"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82948"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7" name="Down Arrow 6"/>
          <p:cNvSpPr/>
          <p:nvPr/>
        </p:nvSpPr>
        <p:spPr>
          <a:xfrm>
            <a:off x="1257300" y="5506085"/>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ight Arrow 7"/>
          <p:cNvSpPr/>
          <p:nvPr/>
        </p:nvSpPr>
        <p:spPr>
          <a:xfrm>
            <a:off x="3759518" y="5506085"/>
            <a:ext cx="792163" cy="360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9" name="Up Arrow 8"/>
          <p:cNvSpPr/>
          <p:nvPr/>
        </p:nvSpPr>
        <p:spPr>
          <a:xfrm>
            <a:off x="7518718" y="5505768"/>
            <a:ext cx="503238" cy="3603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2" name="Subtitle 1"/>
          <p:cNvSpPr/>
          <p:nvPr>
            <p:ph type="subTitle" idx="1"/>
          </p:nvPr>
        </p:nvSpPr>
        <p:spPr/>
        <p:txBody>
          <a:bodyPr/>
          <a:p>
            <a:endParaRPr lang="en-US"/>
          </a:p>
        </p:txBody>
      </p:sp>
      <p:pic>
        <p:nvPicPr>
          <p:cNvPr id="3" name="Picture 2"/>
          <p:cNvPicPr>
            <a:picLocks noChangeAspect="1"/>
          </p:cNvPicPr>
          <p:nvPr/>
        </p:nvPicPr>
        <p:blipFill>
          <a:blip r:embed="rId2"/>
          <a:stretch>
            <a:fillRect/>
          </a:stretch>
        </p:blipFill>
        <p:spPr>
          <a:xfrm>
            <a:off x="69850" y="1051560"/>
            <a:ext cx="8973185" cy="5669915"/>
          </a:xfrm>
          <a:prstGeom prst="rect">
            <a:avLst/>
          </a:prstGeom>
        </p:spPr>
      </p:pic>
    </p:spTree>
  </p:cSld>
  <p:clrMapOvr>
    <a:masterClrMapping/>
  </p:clrMapOvr>
  <p:transition spd="med">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1" name="Rectangle 2"/>
          <p:cNvSpPr/>
          <p:nvPr/>
        </p:nvSpPr>
        <p:spPr>
          <a:xfrm>
            <a:off x="69850" y="44450"/>
            <a:ext cx="7670800" cy="70802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55600" lvl="0" indent="-355600" eaLnBrk="1" hangingPunct="1">
              <a:spcBef>
                <a:spcPct val="0"/>
              </a:spcBef>
              <a:buFontTx/>
              <a:buNone/>
            </a:pPr>
            <a:r>
              <a:rPr lang="en-IN" altLang="en-US" sz="4000" b="1" dirty="0">
                <a:solidFill>
                  <a:schemeClr val="bg1"/>
                </a:solidFill>
                <a:latin typeface="Perpetua" pitchFamily="18" charset="0"/>
                <a:cs typeface="Arial" panose="020B0604020202020204" pitchFamily="34" charset="0"/>
              </a:rPr>
              <a:t>Cont.</a:t>
            </a:r>
            <a:endParaRPr lang="en-IN" altLang="en-US" sz="4000" b="1" dirty="0">
              <a:solidFill>
                <a:schemeClr val="bg1"/>
              </a:solidFill>
              <a:latin typeface="Perpetua" pitchFamily="18" charset="0"/>
              <a:ea typeface="Arial" panose="020B0604020202020204" pitchFamily="34" charset="0"/>
            </a:endParaRPr>
          </a:p>
        </p:txBody>
      </p:sp>
      <p:sp>
        <p:nvSpPr>
          <p:cNvPr id="89092"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89094" name="Subtitle 4"/>
          <p:cNvSpPr>
            <a:spLocks noGrp="1"/>
          </p:cNvSpPr>
          <p:nvPr>
            <p:ph type="subTitle" idx="1"/>
          </p:nvPr>
        </p:nvSpPr>
        <p:spPr>
          <a:xfrm>
            <a:off x="222250" y="192405"/>
            <a:ext cx="8688705" cy="6580505"/>
          </a:xfrm>
        </p:spPr>
        <p:txBody>
          <a:bodyPr vert="horz" wrap="square" lIns="91440" tIns="45720" rIns="91440" bIns="45720" anchor="t"/>
          <a:p>
            <a:pPr marL="514350" indent="-514350" algn="just" eaLnBrk="1" hangingPunct="1">
              <a:spcBef>
                <a:spcPts val="600"/>
              </a:spcBef>
              <a:spcAft>
                <a:spcPts val="1000"/>
              </a:spcAft>
              <a:buClrTx/>
              <a:buSzTx/>
            </a:pPr>
            <a:endParaRPr lang="en-US" altLang="en-US" sz="4800" b="1" kern="1200" dirty="0">
              <a:solidFill>
                <a:schemeClr val="tx1"/>
              </a:solidFill>
              <a:latin typeface="Perpetua" pitchFamily="18" charset="0"/>
              <a:ea typeface="Times New Roman" panose="02020603050405020304" pitchFamily="18" charset="0"/>
              <a:cs typeface="+mn-cs"/>
            </a:endParaRPr>
          </a:p>
          <a:p>
            <a:pPr marL="514350" indent="-514350" algn="just" eaLnBrk="1" hangingPunct="1">
              <a:spcBef>
                <a:spcPts val="600"/>
              </a:spcBef>
              <a:spcAft>
                <a:spcPts val="1000"/>
              </a:spcAft>
              <a:buClrTx/>
              <a:buSzTx/>
            </a:pPr>
            <a:endParaRPr lang="en-US" altLang="en-US" sz="4800" b="1" kern="1200" dirty="0">
              <a:solidFill>
                <a:schemeClr val="tx1"/>
              </a:solidFill>
              <a:latin typeface="Perpetua" pitchFamily="18" charset="0"/>
              <a:ea typeface="Times New Roman" panose="02020603050405020304" pitchFamily="18" charset="0"/>
              <a:cs typeface="+mn-cs"/>
            </a:endParaRPr>
          </a:p>
          <a:p>
            <a:pPr marL="514350" indent="-514350" algn="just" eaLnBrk="1" hangingPunct="1">
              <a:spcBef>
                <a:spcPts val="600"/>
              </a:spcBef>
              <a:spcAft>
                <a:spcPts val="1000"/>
              </a:spcAft>
              <a:buClrTx/>
              <a:buSzTx/>
            </a:pPr>
            <a:endParaRPr lang="en-US" altLang="en-US" sz="4800" b="1" kern="1200" dirty="0">
              <a:solidFill>
                <a:schemeClr val="tx1"/>
              </a:solidFill>
              <a:latin typeface="Perpetua" pitchFamily="18" charset="0"/>
              <a:ea typeface="Times New Roman" panose="02020603050405020304" pitchFamily="18" charset="0"/>
              <a:cs typeface="+mn-cs"/>
            </a:endParaRPr>
          </a:p>
          <a:p>
            <a:pPr marL="514350" indent="-514350" algn="just" eaLnBrk="1" hangingPunct="1">
              <a:spcBef>
                <a:spcPts val="600"/>
              </a:spcBef>
              <a:spcAft>
                <a:spcPts val="1000"/>
              </a:spcAft>
              <a:buClrTx/>
              <a:buSzTx/>
            </a:pPr>
            <a:endParaRPr lang="en-IN" altLang="en-US" sz="4800" b="1" kern="1200" dirty="0">
              <a:solidFill>
                <a:schemeClr val="tx1"/>
              </a:solidFill>
              <a:latin typeface="Perpetua" pitchFamily="18" charset="0"/>
              <a:ea typeface="Times New Roman" panose="02020603050405020304" pitchFamily="18" charset="0"/>
              <a:cs typeface="+mn-cs"/>
            </a:endParaRPr>
          </a:p>
          <a:p>
            <a:pPr marL="514350" indent="-514350" algn="just" eaLnBrk="1" hangingPunct="1">
              <a:spcBef>
                <a:spcPts val="600"/>
              </a:spcBef>
              <a:spcAft>
                <a:spcPts val="1000"/>
              </a:spcAft>
              <a:buClrTx/>
              <a:buSzTx/>
            </a:pPr>
            <a:endParaRPr lang="en-IN" altLang="en-US" sz="4800" b="1" kern="1200" dirty="0">
              <a:solidFill>
                <a:schemeClr val="tx1"/>
              </a:solidFill>
              <a:latin typeface="Perpetua" pitchFamily="18" charset="0"/>
              <a:ea typeface="Times New Roman" panose="02020603050405020304" pitchFamily="18" charset="0"/>
              <a:cs typeface="+mn-cs"/>
            </a:endParaRPr>
          </a:p>
          <a:p>
            <a:pPr marL="514350" indent="-514350" algn="just" eaLnBrk="1" hangingPunct="1">
              <a:spcBef>
                <a:spcPts val="600"/>
              </a:spcBef>
              <a:spcAft>
                <a:spcPts val="1000"/>
              </a:spcAft>
              <a:buClrTx/>
              <a:buSzTx/>
            </a:pPr>
            <a:endParaRPr lang="en-IN" altLang="en-US" sz="4800" b="1" kern="1200" dirty="0">
              <a:solidFill>
                <a:schemeClr val="tx1"/>
              </a:solidFill>
              <a:latin typeface="Perpetua" pitchFamily="18" charset="0"/>
              <a:ea typeface="Times New Roman" panose="02020603050405020304" pitchFamily="18" charset="0"/>
              <a:cs typeface="+mn-cs"/>
            </a:endParaRPr>
          </a:p>
          <a:p>
            <a:pPr marL="514350" indent="-514350" algn="r" eaLnBrk="1" hangingPunct="1">
              <a:spcBef>
                <a:spcPts val="600"/>
              </a:spcBef>
              <a:spcAft>
                <a:spcPts val="1000"/>
              </a:spcAft>
              <a:buClrTx/>
              <a:buSzTx/>
            </a:pPr>
            <a:r>
              <a:rPr lang="en-IN" altLang="en-US" sz="4800" b="1" i="1" kern="1200" dirty="0">
                <a:ln/>
                <a:solidFill>
                  <a:srgbClr val="000099"/>
                </a:solidFill>
                <a:effectLst>
                  <a:outerShdw blurRad="38100" dist="25400" dir="5400000" algn="ctr" rotWithShape="0">
                    <a:srgbClr val="6E747A">
                      <a:alpha val="43000"/>
                    </a:srgbClr>
                  </a:outerShdw>
                </a:effectLst>
                <a:latin typeface="Perpetua" pitchFamily="18" charset="0"/>
                <a:ea typeface="Times New Roman" panose="02020603050405020304" pitchFamily="18" charset="0"/>
                <a:cs typeface="+mn-cs"/>
              </a:rPr>
              <a:t>...</a:t>
            </a:r>
            <a:r>
              <a:rPr lang="en-US" altLang="en-US" sz="4800" b="1" i="1" kern="1200" dirty="0">
                <a:ln/>
                <a:solidFill>
                  <a:srgbClr val="000099"/>
                </a:solidFill>
                <a:effectLst>
                  <a:outerShdw blurRad="38100" dist="25400" dir="5400000" algn="ctr" rotWithShape="0">
                    <a:srgbClr val="6E747A">
                      <a:alpha val="43000"/>
                    </a:srgbClr>
                  </a:outerShdw>
                </a:effectLst>
                <a:latin typeface="Perpetua" pitchFamily="18" charset="0"/>
                <a:ea typeface="+mn-ea"/>
                <a:cs typeface="Times New Roman" panose="02020603050405020304" pitchFamily="18" charset="0"/>
              </a:rPr>
              <a:t>to be continued!!!</a:t>
            </a:r>
            <a:endParaRPr lang="en-US" altLang="en-US" sz="4800" b="1" i="1" kern="1200" dirty="0">
              <a:ln/>
              <a:solidFill>
                <a:srgbClr val="000099"/>
              </a:solidFill>
              <a:effectLst>
                <a:outerShdw blurRad="38100" dist="25400" dir="5400000" algn="ctr" rotWithShape="0">
                  <a:srgbClr val="6E747A">
                    <a:alpha val="43000"/>
                  </a:srgbClr>
                </a:outerShdw>
              </a:effectLst>
              <a:latin typeface="Perpetua" pitchFamily="18" charset="0"/>
              <a:ea typeface="+mn-ea"/>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139065" y="276860"/>
            <a:ext cx="8840470" cy="5522595"/>
          </a:xfrm>
          <a:prstGeom prst="rect">
            <a:avLst/>
          </a:prstGeom>
        </p:spPr>
      </p:pic>
    </p:spTree>
  </p:cSld>
  <p:clrMapOvr>
    <a:masterClrMapping/>
  </p:clrMapOvr>
  <p:transition spd="med">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9" name="Slide Number Placeholder 4"/>
          <p:cNvSpPr txBox="1">
            <a:spLocks noGrp="1"/>
          </p:cNvSpPr>
          <p:nvPr>
            <p:ph type="sldNum" sz="quarter" idx="12"/>
          </p:nvPr>
        </p:nvSpPr>
        <p:spPr>
          <a:noFill/>
          <a:ln>
            <a:noFill/>
          </a:ln>
        </p:spPr>
        <p:txBody>
          <a:bodyPr anchor="ctr"/>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fld>
            <a:endParaRPr lang="en-IN" altLang="en-US" sz="1200" dirty="0">
              <a:solidFill>
                <a:srgbClr val="898989"/>
              </a:solidFill>
              <a:ea typeface="Arial" panose="020B0604020202020204" pitchFamily="34" charset="0"/>
              <a:cs typeface="Arial" panose="020B0604020202020204" pitchFamily="34" charset="0"/>
            </a:endParaRPr>
          </a:p>
        </p:txBody>
      </p:sp>
      <p:sp>
        <p:nvSpPr>
          <p:cNvPr id="7" name="Rectangle 2"/>
          <p:cNvSpPr>
            <a:spLocks noChangeArrowheads="1"/>
          </p:cNvSpPr>
          <p:nvPr/>
        </p:nvSpPr>
        <p:spPr bwMode="auto">
          <a:xfrm>
            <a:off x="1036320" y="1426845"/>
            <a:ext cx="4733290" cy="922020"/>
          </a:xfrm>
          <a:prstGeom prst="rect">
            <a:avLst/>
          </a:prstGeom>
          <a:solidFill>
            <a:srgbClr val="92D050"/>
          </a:solidFill>
          <a:ln w="9525">
            <a:noFill/>
            <a:miter lim="800000"/>
          </a:ln>
        </p:spPr>
        <p:txBody>
          <a:bodyPr wrap="square">
            <a:spAutoFit/>
          </a:bodyPr>
          <a:lstStyle/>
          <a:p>
            <a:pPr marL="355600" marR="0" lvl="0" indent="-355600" algn="l" defTabSz="914400" rtl="0" eaLnBrk="1" fontAlgn="base" latinLnBrk="0" hangingPunct="1">
              <a:lnSpc>
                <a:spcPct val="100000"/>
              </a:lnSpc>
              <a:spcBef>
                <a:spcPct val="0"/>
              </a:spcBef>
              <a:spcAft>
                <a:spcPct val="0"/>
              </a:spcAft>
              <a:buClrTx/>
              <a:buSzTx/>
              <a:buFontTx/>
              <a:buNone/>
              <a:defRPr/>
            </a:pPr>
            <a:r>
              <a:rPr kumimoji="0" lang="en-US" sz="5400" b="1" i="0" u="none" strike="noStrike" kern="1200" cap="all" spc="0" normalizeH="0" baseline="0" noProof="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uLnTx/>
                <a:uFillTx/>
                <a:latin typeface="Perpetua" pitchFamily="18" charset="0"/>
                <a:ea typeface="+mn-ea"/>
                <a:cs typeface="Arial" panose="020B0604020202020204" pitchFamily="34" charset="0"/>
              </a:rPr>
              <a:t>THANK YOU</a:t>
            </a:r>
            <a:endParaRPr kumimoji="0" lang="en-IN" sz="5400" b="1" i="0" u="none" strike="noStrike" kern="1200" cap="all" spc="0" normalizeH="0" baseline="0" noProof="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uLnTx/>
              <a:uFillTx/>
              <a:latin typeface="Perpetua" pitchFamily="18" charset="0"/>
              <a:ea typeface="+mn-ea"/>
              <a:cs typeface="Arial" panose="020B0604020202020204" pitchFamily="34" charset="0"/>
            </a:endParaRPr>
          </a:p>
        </p:txBody>
      </p:sp>
      <p:sp>
        <p:nvSpPr>
          <p:cNvPr id="8" name="Rectangle 2"/>
          <p:cNvSpPr>
            <a:spLocks noChangeArrowheads="1"/>
          </p:cNvSpPr>
          <p:nvPr/>
        </p:nvSpPr>
        <p:spPr bwMode="auto">
          <a:xfrm>
            <a:off x="4649098" y="4053399"/>
            <a:ext cx="3816425" cy="1754326"/>
          </a:xfrm>
          <a:prstGeom prst="rect">
            <a:avLst/>
          </a:prstGeom>
          <a:solidFill>
            <a:schemeClr val="accent2">
              <a:lumMod val="40000"/>
              <a:lumOff val="60000"/>
            </a:schemeClr>
          </a:solidFill>
          <a:ln w="9525">
            <a:noFill/>
            <a:miter lim="800000"/>
          </a:ln>
        </p:spPr>
        <p:txBody>
          <a:bodyPr>
            <a:spAutoFit/>
          </a:bodyPr>
          <a:lstStyle/>
          <a:p>
            <a:pPr marL="355600" marR="0" lvl="0" indent="-355600" algn="r" defTabSz="914400" rtl="0" eaLnBrk="1" fontAlgn="base" latinLnBrk="0" hangingPunct="1">
              <a:lnSpc>
                <a:spcPct val="100000"/>
              </a:lnSpc>
              <a:spcBef>
                <a:spcPct val="0"/>
              </a:spcBef>
              <a:spcAft>
                <a:spcPct val="0"/>
              </a:spcAft>
              <a:buClrTx/>
              <a:buSzTx/>
              <a:buFontTx/>
              <a:buNone/>
              <a:defRPr/>
            </a:pPr>
            <a:r>
              <a:rPr kumimoji="0" lang="en-US" sz="5400" b="1" i="0" u="none" strike="noStrike" kern="1200" cap="all" spc="0" normalizeH="0" baseline="0" noProof="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uLnTx/>
                <a:uFillTx/>
                <a:latin typeface="Perpetua" pitchFamily="18" charset="0"/>
                <a:ea typeface="+mn-ea"/>
                <a:cs typeface="Arial" panose="020B0604020202020204" pitchFamily="34" charset="0"/>
              </a:rPr>
              <a:t>HAPPY LEARNING</a:t>
            </a:r>
            <a:endParaRPr kumimoji="0" lang="en-IN" sz="5400" b="1" i="0" u="none" strike="noStrike" kern="1200" cap="all" spc="0" normalizeH="0" baseline="0" noProof="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uLnTx/>
              <a:uFillTx/>
              <a:latin typeface="Perpetua" pitchFamily="18" charset="0"/>
              <a:ea typeface="+mn-ea"/>
              <a:cs typeface="Arial" panose="020B0604020202020204" pitchFamily="34" charset="0"/>
            </a:endParaRPr>
          </a:p>
        </p:txBody>
      </p:sp>
    </p:spTree>
  </p:cSld>
  <p:clrMapOvr>
    <a:masterClrMapping/>
  </p:clrMapOvr>
  <p:transition spd="med">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enHall1">
  <a:themeElements>
    <a:clrScheme name="PrenHall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PrenHall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renHall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PrenHall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PrenHall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PrenHall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PrenHall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PrenHall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PrenHall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Extension Seminar ppt_MADHUSMITA</Template>
  <TotalTime>0</TotalTime>
  <Words>5414</Words>
  <Application>WPS Presentation</Application>
  <PresentationFormat>On-screen Show (4:3)</PresentationFormat>
  <Paragraphs>259</Paragraphs>
  <Slides>33</Slides>
  <Notes>32</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33</vt:i4>
      </vt:variant>
    </vt:vector>
  </HeadingPairs>
  <TitlesOfParts>
    <vt:vector size="45" baseType="lpstr">
      <vt:lpstr>Arial</vt:lpstr>
      <vt:lpstr>SimSun</vt:lpstr>
      <vt:lpstr>Wingdings</vt:lpstr>
      <vt:lpstr>Calibri</vt:lpstr>
      <vt:lpstr>Times New Roman</vt:lpstr>
      <vt:lpstr>Perpetua</vt:lpstr>
      <vt:lpstr>Courier New</vt:lpstr>
      <vt:lpstr>Microsoft YaHei</vt:lpstr>
      <vt:lpstr>Arial Unicode MS</vt:lpstr>
      <vt:lpstr>Office Theme</vt:lpstr>
      <vt:lpstr>PrenHall1</vt:lpstr>
      <vt:lpstr>1_Office Theme</vt:lpstr>
      <vt:lpstr>PowerPoint 演示文稿</vt:lpstr>
      <vt:lpstr>INTRODUCTION TO  ECONOMICS</vt:lpstr>
      <vt:lpstr>Basic Branches of Economics?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c:creator>
  <cp:lastModifiedBy>Madhu</cp:lastModifiedBy>
  <cp:revision>3335</cp:revision>
  <dcterms:created xsi:type="dcterms:W3CDTF">2010-12-16T20:12:00Z</dcterms:created>
  <dcterms:modified xsi:type="dcterms:W3CDTF">2021-02-14T20:12:25Z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1033-11.2.0.9984</vt:lpwstr>
  </property>
</Properties>
</file>